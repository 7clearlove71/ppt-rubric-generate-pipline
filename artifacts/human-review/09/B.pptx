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WenYuan Sans SC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317897"/>
            <a:ext cx="228600" cy="21431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97000"/>
            <a:ext cx="42863" cy="4000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5485" y="3117800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197" y="3117800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0910" y="3117800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089" y="257175"/>
            <a:ext cx="72151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年会开场汇报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473590" y="267891"/>
            <a:ext cx="145732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ANNUAL MEETING OPENING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1475" y="1025575"/>
            <a:ext cx="180022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走过寒冬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1475" y="1216670"/>
            <a:ext cx="18002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这一年我们走得不容易（老板致辞原话）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313" y="1538474"/>
            <a:ext cx="8715375" cy="5286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走过寒冬，脱胎换骨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313" y="2178844"/>
            <a:ext cx="9238298" cy="4071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年会开场汇报 · </a:t>
            </a:r>
            <a:pPr algn="l" indent="0" marL="0">
              <a:buNone/>
            </a:pPr>
            <a:r>
              <a:rPr lang="en-US" sz="2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全年经营数据 × 老板致辞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14313" y="2697770"/>
            <a:ext cx="9238298" cy="2214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本汇报全部数据来自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公司全年经营数据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老板年会致辞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派生指标测算口径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，未引用任何外部来源，派生数字均标注"测算"。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2545" y="3239244"/>
            <a:ext cx="528638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46547" y="3360688"/>
            <a:ext cx="3429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亿元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503" y="3675013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全年营收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503" y="3875038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同比增长 26%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18551" y="3239244"/>
            <a:ext cx="364331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3741706" y="3360688"/>
            <a:ext cx="16430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8216" y="3675013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研发投入占比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8216" y="3875038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由 9% 提升，+5 个百分点（测算）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70538" y="3239244"/>
            <a:ext cx="578644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907113" y="3360688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0929" y="3675013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团队规模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0929" y="3875038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净增 90 人，裁员 0 人（测算）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4368" y="4743450"/>
            <a:ext cx="1393031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汇报对象：公司全体员工与管理层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836111" y="4743450"/>
            <a:ext cx="650081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场合：年会开场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963873" y="4750594"/>
            <a:ext cx="196453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年会当日 · 数据来源：全年经营数据与老板年会致辞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84300"/>
            <a:ext cx="8715375" cy="428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1184300"/>
            <a:ext cx="8715375" cy="428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93545" y="1270025"/>
            <a:ext cx="2421731" cy="2571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313" y="1754014"/>
            <a:ext cx="42863" cy="1714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7" name="Shape 4"/>
          <p:cNvSpPr/>
          <p:nvPr/>
        </p:nvSpPr>
        <p:spPr>
          <a:xfrm>
            <a:off x="214982" y="2067223"/>
            <a:ext cx="1650206" cy="1550194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80884" y="2067223"/>
            <a:ext cx="1650206" cy="15501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6841" y="2067223"/>
            <a:ext cx="1650206" cy="15501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12798" y="2067223"/>
            <a:ext cx="1650206" cy="1550194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78700" y="2067223"/>
            <a:ext cx="1650206" cy="15501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732386"/>
            <a:ext cx="8715375" cy="428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313" y="3732386"/>
            <a:ext cx="8715375" cy="4286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不容易的一年，交出了脱胎换骨的答卷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00776" y="1295028"/>
            <a:ext cx="395278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这一年我们走得不容易，年初行业寒冬。</a:t>
            </a:r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”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——老板年会致辞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86358" y="1348606"/>
            <a:ext cx="11144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最难那个月，账上现金只够发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7645375" y="1320031"/>
            <a:ext cx="378619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 个月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066912" y="1348606"/>
            <a:ext cx="6572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工资（约 60 天）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42900" y="1725439"/>
            <a:ext cx="9001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全年经营总览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328793" y="1736154"/>
            <a:ext cx="6107906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这一年外部是行业寒冬，内部是咬牙坚守，结果是全面向好——五项指标一屏看清“寒冬里的成绩单”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07237" y="2159422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全年营收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05395" y="2388691"/>
            <a:ext cx="528638" cy="4786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60878" y="2638053"/>
            <a:ext cx="2286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亿元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07851" y="2953717"/>
            <a:ext cx="14644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 +26%，寒冬里长出来的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增长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06902" y="3353767"/>
            <a:ext cx="1128713" cy="171450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36433" tIns="12144" rIns="36433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增量 ≈8,667 万元（测算）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073083" y="2159422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研发投入占比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074534" y="2388691"/>
            <a:ext cx="364331" cy="4786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14</a:t>
            </a:r>
            <a:endParaRPr lang="en-US" sz="2700" dirty="0"/>
          </a:p>
        </p:txBody>
      </p:sp>
      <p:sp>
        <p:nvSpPr>
          <p:cNvPr id="28" name="Text 24"/>
          <p:cNvSpPr/>
          <p:nvPr/>
        </p:nvSpPr>
        <p:spPr>
          <a:xfrm>
            <a:off x="2467942" y="2638053"/>
            <a:ext cx="1071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%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073752" y="2953717"/>
            <a:ext cx="14644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上年 9%，+5 个百分点，逆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势加出来的（测算）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073976" y="3353767"/>
            <a:ext cx="514350" cy="1714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36433" tIns="12144" rIns="36433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9% → 14%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3839040" y="2159422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新增专利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839263" y="2388691"/>
            <a:ext cx="364331" cy="4786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18</a:t>
            </a:r>
            <a:endParaRPr lang="en-US" sz="2700" dirty="0"/>
          </a:p>
        </p:txBody>
      </p:sp>
      <p:sp>
        <p:nvSpPr>
          <p:cNvPr id="33" name="Text 29"/>
          <p:cNvSpPr/>
          <p:nvPr/>
        </p:nvSpPr>
        <p:spPr>
          <a:xfrm>
            <a:off x="4232504" y="2638053"/>
            <a:ext cx="1143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项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839710" y="2953717"/>
            <a:ext cx="14644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研发投入实打实投出来的技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术资产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840324" y="3353767"/>
            <a:ext cx="1078706" cy="1714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36433" tIns="12144" rIns="36433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平均每 20 天 1 项（测算）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5604997" y="2159422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员工规模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605723" y="2388691"/>
            <a:ext cx="578644" cy="4786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</a:t>
            </a:r>
            <a:endParaRPr lang="en-US" sz="2700" dirty="0"/>
          </a:p>
        </p:txBody>
      </p:sp>
      <p:sp>
        <p:nvSpPr>
          <p:cNvPr id="38" name="Text 34"/>
          <p:cNvSpPr/>
          <p:nvPr/>
        </p:nvSpPr>
        <p:spPr>
          <a:xfrm>
            <a:off x="6213779" y="2638053"/>
            <a:ext cx="1143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605667" y="2953717"/>
            <a:ext cx="14644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净增 90 人、裁员 0 人，团队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没散反增（测算）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605053" y="3353767"/>
            <a:ext cx="607219" cy="171450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36433" tIns="12144" rIns="36433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320 → 410 人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7370955" y="2159422"/>
            <a:ext cx="5715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客户续约率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369113" y="2388691"/>
            <a:ext cx="364331" cy="4786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</a:t>
            </a:r>
            <a:endParaRPr lang="en-US" sz="2700" dirty="0"/>
          </a:p>
        </p:txBody>
      </p:sp>
      <p:sp>
        <p:nvSpPr>
          <p:cNvPr id="43" name="Text 39"/>
          <p:cNvSpPr/>
          <p:nvPr/>
        </p:nvSpPr>
        <p:spPr>
          <a:xfrm>
            <a:off x="7759229" y="2638053"/>
            <a:ext cx="1071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%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7371569" y="2953717"/>
            <a:ext cx="14644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老客户留下来复购，流失率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9%（测算）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372238" y="3353767"/>
            <a:ext cx="535781" cy="1714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36433" tIns="12144" rIns="36433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基本盘 91%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399380" y="3853830"/>
            <a:ext cx="3945207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如今回头看，正是那段日子让我们脱胎换骨。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”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——老板年会致辞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636376" y="3803824"/>
            <a:ext cx="217884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人效未被摊薄：人均营收 ≈104 → ≈102 万元/人（测算）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6072132" y="3960986"/>
            <a:ext cx="27432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接下来用四页，把“不容易”和“脱胎换骨”分别拆到可核对的数字上。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数据来源：公司全年经营数据与老板年会致辞；标注“测算”者为派生指标，如上年营收 ≈3.33 亿元（4.2 ÷ 1.26）、净增 90 人（410 − 320）。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72468"/>
            <a:ext cx="3071812" cy="234315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506" y="2934742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506" y="2698998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506" y="2470398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506" y="2241798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506" y="2006054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506" y="1777454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047" y="158171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亿元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621506" y="2934742"/>
            <a:ext cx="24431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457" y="287116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231457" y="263970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231457" y="240824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231457" y="217679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231457" y="194533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31457" y="171387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90801" y="2978318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上年（测算）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137410" y="297831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本年度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1000196" y="2160416"/>
            <a:ext cx="464201" cy="770753"/>
          </a:xfrm>
          <a:custGeom>
            <a:avLst/>
            <a:gdLst/>
            <a:ahLst/>
            <a:cxnLst/>
            <a:rect l="l" t="t" r="r" b="b"/>
            <a:pathLst>
              <a:path w="464201" h="770753">
                <a:moveTo>
                  <a:pt x="0" y="770753"/>
                </a:moveTo>
                <a:lnTo>
                  <a:pt x="464201" y="770753"/>
                </a:lnTo>
                <a:lnTo>
                  <a:pt x="464201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1778" y="1959048"/>
            <a:ext cx="464201" cy="972122"/>
          </a:xfrm>
          <a:custGeom>
            <a:avLst/>
            <a:gdLst/>
            <a:ahLst/>
            <a:cxnLst/>
            <a:rect l="l" t="t" r="r" b="b"/>
            <a:pathLst>
              <a:path w="464201" h="972122">
                <a:moveTo>
                  <a:pt x="0" y="972122"/>
                </a:moveTo>
                <a:lnTo>
                  <a:pt x="464201" y="972122"/>
                </a:lnTo>
                <a:lnTo>
                  <a:pt x="4642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2" name="Text 20"/>
          <p:cNvSpPr/>
          <p:nvPr/>
        </p:nvSpPr>
        <p:spPr>
          <a:xfrm>
            <a:off x="626507" y="1998968"/>
            <a:ext cx="12115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≈ 3.33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5263" y="1797600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</a:t>
            </a:r>
            <a:endParaRPr lang="en-US" sz="9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894" y="3201293"/>
            <a:ext cx="2914650" cy="23574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3514725" y="1858268"/>
            <a:ext cx="2114550" cy="1228725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4725" y="1858268"/>
            <a:ext cx="2114550" cy="122872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857875" y="1172468"/>
            <a:ext cx="3071812" cy="234315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550992" y="2857932"/>
            <a:ext cx="87382" cy="54880"/>
          </a:xfrm>
          <a:custGeom>
            <a:avLst/>
            <a:gdLst/>
            <a:ahLst/>
            <a:cxnLst/>
            <a:rect l="l" t="t" r="r" b="b"/>
            <a:pathLst>
              <a:path w="87382" h="54880">
                <a:moveTo>
                  <a:pt x="0" y="0"/>
                </a:moveTo>
                <a:lnTo>
                  <a:pt x="15944" y="54880"/>
                </a:lnTo>
                <a:lnTo>
                  <a:pt x="87382" y="54880"/>
                </a:lnTo>
              </a:path>
            </a:pathLst>
          </a:cu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49189" y="1720802"/>
            <a:ext cx="87382" cy="54880"/>
          </a:xfrm>
          <a:custGeom>
            <a:avLst/>
            <a:gdLst/>
            <a:ahLst/>
            <a:cxnLst/>
            <a:rect l="l" t="t" r="r" b="b"/>
            <a:pathLst>
              <a:path w="87382" h="54880">
                <a:moveTo>
                  <a:pt x="87382" y="54880"/>
                </a:moveTo>
                <a:lnTo>
                  <a:pt x="71438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830521" y="1753308"/>
            <a:ext cx="1126453" cy="1126994"/>
          </a:xfrm>
          <a:custGeom>
            <a:avLst/>
            <a:gdLst/>
            <a:ahLst/>
            <a:cxnLst/>
            <a:rect l="l" t="t" r="r" b="b"/>
            <a:pathLst>
              <a:path w="1126453" h="1126994">
                <a:moveTo>
                  <a:pt x="563260" y="0"/>
                </a:moveTo>
                <a:lnTo>
                  <a:pt x="602520" y="1369"/>
                </a:lnTo>
                <a:lnTo>
                  <a:pt x="641589" y="5471"/>
                </a:lnTo>
                <a:lnTo>
                  <a:pt x="680277" y="12284"/>
                </a:lnTo>
                <a:lnTo>
                  <a:pt x="718397" y="21776"/>
                </a:lnTo>
                <a:lnTo>
                  <a:pt x="755763" y="33901"/>
                </a:lnTo>
                <a:lnTo>
                  <a:pt x="792193" y="48600"/>
                </a:lnTo>
                <a:lnTo>
                  <a:pt x="827510" y="65801"/>
                </a:lnTo>
                <a:lnTo>
                  <a:pt x="861544" y="85421"/>
                </a:lnTo>
                <a:lnTo>
                  <a:pt x="894127" y="107365"/>
                </a:lnTo>
                <a:lnTo>
                  <a:pt x="925103" y="131526"/>
                </a:lnTo>
                <a:lnTo>
                  <a:pt x="954320" y="157785"/>
                </a:lnTo>
                <a:lnTo>
                  <a:pt x="981636" y="186017"/>
                </a:lnTo>
                <a:lnTo>
                  <a:pt x="1006919" y="216083"/>
                </a:lnTo>
                <a:lnTo>
                  <a:pt x="1030046" y="247838"/>
                </a:lnTo>
                <a:lnTo>
                  <a:pt x="1050904" y="281127"/>
                </a:lnTo>
                <a:lnTo>
                  <a:pt x="1069393" y="315788"/>
                </a:lnTo>
                <a:lnTo>
                  <a:pt x="1085421" y="351653"/>
                </a:lnTo>
                <a:lnTo>
                  <a:pt x="1098912" y="388547"/>
                </a:lnTo>
                <a:lnTo>
                  <a:pt x="1109800" y="426292"/>
                </a:lnTo>
                <a:lnTo>
                  <a:pt x="1118031" y="464704"/>
                </a:lnTo>
                <a:lnTo>
                  <a:pt x="1123566" y="503596"/>
                </a:lnTo>
                <a:lnTo>
                  <a:pt x="1126378" y="542778"/>
                </a:lnTo>
                <a:lnTo>
                  <a:pt x="1126453" y="582062"/>
                </a:lnTo>
                <a:lnTo>
                  <a:pt x="1123791" y="621256"/>
                </a:lnTo>
                <a:lnTo>
                  <a:pt x="1118405" y="660168"/>
                </a:lnTo>
                <a:lnTo>
                  <a:pt x="1110321" y="698611"/>
                </a:lnTo>
                <a:lnTo>
                  <a:pt x="1099578" y="736397"/>
                </a:lnTo>
                <a:lnTo>
                  <a:pt x="1086229" y="773343"/>
                </a:lnTo>
                <a:lnTo>
                  <a:pt x="1070338" y="809270"/>
                </a:lnTo>
                <a:lnTo>
                  <a:pt x="1051983" y="844001"/>
                </a:lnTo>
                <a:lnTo>
                  <a:pt x="1031252" y="877370"/>
                </a:lnTo>
                <a:lnTo>
                  <a:pt x="1008247" y="909213"/>
                </a:lnTo>
                <a:lnTo>
                  <a:pt x="983079" y="939375"/>
                </a:lnTo>
                <a:lnTo>
                  <a:pt x="955871" y="967712"/>
                </a:lnTo>
                <a:lnTo>
                  <a:pt x="926755" y="994083"/>
                </a:lnTo>
                <a:lnTo>
                  <a:pt x="895872" y="1018362"/>
                </a:lnTo>
                <a:lnTo>
                  <a:pt x="863373" y="1040430"/>
                </a:lnTo>
                <a:lnTo>
                  <a:pt x="829415" y="1060181"/>
                </a:lnTo>
                <a:lnTo>
                  <a:pt x="794164" y="1077517"/>
                </a:lnTo>
                <a:lnTo>
                  <a:pt x="757790" y="1092355"/>
                </a:lnTo>
                <a:lnTo>
                  <a:pt x="720471" y="1104624"/>
                </a:lnTo>
                <a:lnTo>
                  <a:pt x="682388" y="1114262"/>
                </a:lnTo>
                <a:lnTo>
                  <a:pt x="643726" y="1121223"/>
                </a:lnTo>
                <a:lnTo>
                  <a:pt x="604673" y="1125474"/>
                </a:lnTo>
                <a:lnTo>
                  <a:pt x="565419" y="1126994"/>
                </a:lnTo>
                <a:lnTo>
                  <a:pt x="526154" y="1125775"/>
                </a:lnTo>
                <a:lnTo>
                  <a:pt x="487070" y="1121823"/>
                </a:lnTo>
                <a:lnTo>
                  <a:pt x="448355" y="1115158"/>
                </a:lnTo>
                <a:lnTo>
                  <a:pt x="410200" y="1105812"/>
                </a:lnTo>
                <a:lnTo>
                  <a:pt x="372788" y="1093830"/>
                </a:lnTo>
                <a:lnTo>
                  <a:pt x="336302" y="1079271"/>
                </a:lnTo>
                <a:lnTo>
                  <a:pt x="300919" y="1062205"/>
                </a:lnTo>
                <a:lnTo>
                  <a:pt x="266810" y="1042716"/>
                </a:lnTo>
                <a:lnTo>
                  <a:pt x="234143" y="1020897"/>
                </a:lnTo>
                <a:lnTo>
                  <a:pt x="203075" y="996856"/>
                </a:lnTo>
                <a:lnTo>
                  <a:pt x="173758" y="970708"/>
                </a:lnTo>
                <a:lnTo>
                  <a:pt x="146333" y="942581"/>
                </a:lnTo>
                <a:lnTo>
                  <a:pt x="120935" y="912612"/>
                </a:lnTo>
                <a:lnTo>
                  <a:pt x="97687" y="880946"/>
                </a:lnTo>
                <a:lnTo>
                  <a:pt x="76701" y="847738"/>
                </a:lnTo>
                <a:lnTo>
                  <a:pt x="58080" y="813148"/>
                </a:lnTo>
                <a:lnTo>
                  <a:pt x="41914" y="777344"/>
                </a:lnTo>
                <a:lnTo>
                  <a:pt x="28282" y="740502"/>
                </a:lnTo>
                <a:lnTo>
                  <a:pt x="17250" y="702799"/>
                </a:lnTo>
                <a:lnTo>
                  <a:pt x="8872" y="664419"/>
                </a:lnTo>
                <a:lnTo>
                  <a:pt x="3188" y="625549"/>
                </a:lnTo>
                <a:lnTo>
                  <a:pt x="226" y="586377"/>
                </a:lnTo>
                <a:lnTo>
                  <a:pt x="0" y="547094"/>
                </a:lnTo>
                <a:lnTo>
                  <a:pt x="2512" y="507890"/>
                </a:lnTo>
                <a:lnTo>
                  <a:pt x="7749" y="468957"/>
                </a:lnTo>
                <a:lnTo>
                  <a:pt x="15685" y="430484"/>
                </a:lnTo>
                <a:lnTo>
                  <a:pt x="26283" y="392656"/>
                </a:lnTo>
                <a:lnTo>
                  <a:pt x="39491" y="355660"/>
                </a:lnTo>
                <a:lnTo>
                  <a:pt x="55244" y="319673"/>
                </a:lnTo>
                <a:lnTo>
                  <a:pt x="73467" y="284871"/>
                </a:lnTo>
                <a:lnTo>
                  <a:pt x="94069" y="251424"/>
                </a:lnTo>
                <a:lnTo>
                  <a:pt x="116952" y="219493"/>
                </a:lnTo>
                <a:lnTo>
                  <a:pt x="142004" y="189234"/>
                </a:lnTo>
                <a:lnTo>
                  <a:pt x="169104" y="160794"/>
                </a:lnTo>
                <a:lnTo>
                  <a:pt x="198118" y="134311"/>
                </a:lnTo>
                <a:lnTo>
                  <a:pt x="228908" y="109914"/>
                </a:lnTo>
                <a:lnTo>
                  <a:pt x="261322" y="87721"/>
                </a:lnTo>
                <a:lnTo>
                  <a:pt x="350128" y="227656"/>
                </a:lnTo>
                <a:lnTo>
                  <a:pt x="327247" y="243321"/>
                </a:lnTo>
                <a:lnTo>
                  <a:pt x="305513" y="260542"/>
                </a:lnTo>
                <a:lnTo>
                  <a:pt x="285032" y="279236"/>
                </a:lnTo>
                <a:lnTo>
                  <a:pt x="265903" y="299312"/>
                </a:lnTo>
                <a:lnTo>
                  <a:pt x="248219" y="320671"/>
                </a:lnTo>
                <a:lnTo>
                  <a:pt x="232067" y="343210"/>
                </a:lnTo>
                <a:lnTo>
                  <a:pt x="217524" y="366820"/>
                </a:lnTo>
                <a:lnTo>
                  <a:pt x="204661" y="391386"/>
                </a:lnTo>
                <a:lnTo>
                  <a:pt x="193541" y="416789"/>
                </a:lnTo>
                <a:lnTo>
                  <a:pt x="184218" y="442904"/>
                </a:lnTo>
                <a:lnTo>
                  <a:pt x="176737" y="469606"/>
                </a:lnTo>
                <a:lnTo>
                  <a:pt x="171134" y="496764"/>
                </a:lnTo>
                <a:lnTo>
                  <a:pt x="167438" y="524246"/>
                </a:lnTo>
                <a:lnTo>
                  <a:pt x="165665" y="551919"/>
                </a:lnTo>
                <a:lnTo>
                  <a:pt x="165824" y="579648"/>
                </a:lnTo>
                <a:lnTo>
                  <a:pt x="167915" y="607299"/>
                </a:lnTo>
                <a:lnTo>
                  <a:pt x="171927" y="634736"/>
                </a:lnTo>
                <a:lnTo>
                  <a:pt x="177841" y="661828"/>
                </a:lnTo>
                <a:lnTo>
                  <a:pt x="185629" y="688442"/>
                </a:lnTo>
                <a:lnTo>
                  <a:pt x="195251" y="714448"/>
                </a:lnTo>
                <a:lnTo>
                  <a:pt x="206663" y="739721"/>
                </a:lnTo>
                <a:lnTo>
                  <a:pt x="219807" y="764138"/>
                </a:lnTo>
                <a:lnTo>
                  <a:pt x="234620" y="787579"/>
                </a:lnTo>
                <a:lnTo>
                  <a:pt x="251031" y="809932"/>
                </a:lnTo>
                <a:lnTo>
                  <a:pt x="268959" y="831086"/>
                </a:lnTo>
                <a:lnTo>
                  <a:pt x="288317" y="850940"/>
                </a:lnTo>
                <a:lnTo>
                  <a:pt x="309012" y="869398"/>
                </a:lnTo>
                <a:lnTo>
                  <a:pt x="330942" y="886368"/>
                </a:lnTo>
                <a:lnTo>
                  <a:pt x="354001" y="901770"/>
                </a:lnTo>
                <a:lnTo>
                  <a:pt x="378078" y="915527"/>
                </a:lnTo>
                <a:lnTo>
                  <a:pt x="403054" y="927573"/>
                </a:lnTo>
                <a:lnTo>
                  <a:pt x="428809" y="937851"/>
                </a:lnTo>
                <a:lnTo>
                  <a:pt x="455217" y="946308"/>
                </a:lnTo>
                <a:lnTo>
                  <a:pt x="482151" y="952906"/>
                </a:lnTo>
                <a:lnTo>
                  <a:pt x="509479" y="957610"/>
                </a:lnTo>
                <a:lnTo>
                  <a:pt x="537068" y="960400"/>
                </a:lnTo>
                <a:lnTo>
                  <a:pt x="564784" y="961260"/>
                </a:lnTo>
                <a:lnTo>
                  <a:pt x="592493" y="960187"/>
                </a:lnTo>
                <a:lnTo>
                  <a:pt x="620060" y="957187"/>
                </a:lnTo>
                <a:lnTo>
                  <a:pt x="647351" y="952273"/>
                </a:lnTo>
                <a:lnTo>
                  <a:pt x="674233" y="945469"/>
                </a:lnTo>
                <a:lnTo>
                  <a:pt x="700575" y="936809"/>
                </a:lnTo>
                <a:lnTo>
                  <a:pt x="726251" y="926335"/>
                </a:lnTo>
                <a:lnTo>
                  <a:pt x="751134" y="914098"/>
                </a:lnTo>
                <a:lnTo>
                  <a:pt x="775104" y="900156"/>
                </a:lnTo>
                <a:lnTo>
                  <a:pt x="798045" y="884579"/>
                </a:lnTo>
                <a:lnTo>
                  <a:pt x="819845" y="867441"/>
                </a:lnTo>
                <a:lnTo>
                  <a:pt x="840397" y="848826"/>
                </a:lnTo>
                <a:lnTo>
                  <a:pt x="859603" y="828824"/>
                </a:lnTo>
                <a:lnTo>
                  <a:pt x="877368" y="807532"/>
                </a:lnTo>
                <a:lnTo>
                  <a:pt x="893607" y="785055"/>
                </a:lnTo>
                <a:lnTo>
                  <a:pt x="908241" y="761501"/>
                </a:lnTo>
                <a:lnTo>
                  <a:pt x="921197" y="736984"/>
                </a:lnTo>
                <a:lnTo>
                  <a:pt x="932415" y="711625"/>
                </a:lnTo>
                <a:lnTo>
                  <a:pt x="941838" y="685545"/>
                </a:lnTo>
                <a:lnTo>
                  <a:pt x="949421" y="658872"/>
                </a:lnTo>
                <a:lnTo>
                  <a:pt x="955127" y="631736"/>
                </a:lnTo>
                <a:lnTo>
                  <a:pt x="958929" y="604268"/>
                </a:lnTo>
                <a:lnTo>
                  <a:pt x="960808" y="576602"/>
                </a:lnTo>
                <a:lnTo>
                  <a:pt x="960755" y="548873"/>
                </a:lnTo>
                <a:lnTo>
                  <a:pt x="958770" y="521214"/>
                </a:lnTo>
                <a:lnTo>
                  <a:pt x="954863" y="493761"/>
                </a:lnTo>
                <a:lnTo>
                  <a:pt x="949053" y="466647"/>
                </a:lnTo>
                <a:lnTo>
                  <a:pt x="941367" y="440004"/>
                </a:lnTo>
                <a:lnTo>
                  <a:pt x="931845" y="413960"/>
                </a:lnTo>
                <a:lnTo>
                  <a:pt x="920530" y="388644"/>
                </a:lnTo>
                <a:lnTo>
                  <a:pt x="907480" y="364177"/>
                </a:lnTo>
                <a:lnTo>
                  <a:pt x="892756" y="340679"/>
                </a:lnTo>
                <a:lnTo>
                  <a:pt x="876431" y="318264"/>
                </a:lnTo>
                <a:lnTo>
                  <a:pt x="858584" y="297041"/>
                </a:lnTo>
                <a:lnTo>
                  <a:pt x="839302" y="277113"/>
                </a:lnTo>
                <a:lnTo>
                  <a:pt x="818678" y="258577"/>
                </a:lnTo>
                <a:lnTo>
                  <a:pt x="796813" y="241522"/>
                </a:lnTo>
                <a:lnTo>
                  <a:pt x="773813" y="226033"/>
                </a:lnTo>
                <a:lnTo>
                  <a:pt x="749790" y="212183"/>
                </a:lnTo>
                <a:lnTo>
                  <a:pt x="724860" y="200041"/>
                </a:lnTo>
                <a:lnTo>
                  <a:pt x="699144" y="189665"/>
                </a:lnTo>
                <a:lnTo>
                  <a:pt x="672769" y="181106"/>
                </a:lnTo>
                <a:lnTo>
                  <a:pt x="645861" y="174406"/>
                </a:lnTo>
                <a:lnTo>
                  <a:pt x="618551" y="169597"/>
                </a:lnTo>
                <a:lnTo>
                  <a:pt x="590973" y="166702"/>
                </a:lnTo>
                <a:lnTo>
                  <a:pt x="563260" y="165735"/>
                </a:lnTo>
                <a:close/>
              </a:path>
            </a:pathLst>
          </a:custGeom>
          <a:solidFill>
            <a:srgbClr val="D339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091844" y="1753308"/>
            <a:ext cx="301938" cy="227656"/>
          </a:xfrm>
          <a:custGeom>
            <a:avLst/>
            <a:gdLst/>
            <a:ahLst/>
            <a:cxnLst/>
            <a:rect l="l" t="t" r="r" b="b"/>
            <a:pathLst>
              <a:path w="301938" h="227656">
                <a:moveTo>
                  <a:pt x="0" y="87721"/>
                </a:moveTo>
                <a:lnTo>
                  <a:pt x="8454" y="82460"/>
                </a:lnTo>
                <a:lnTo>
                  <a:pt x="17000" y="77349"/>
                </a:lnTo>
                <a:lnTo>
                  <a:pt x="25635" y="72390"/>
                </a:lnTo>
                <a:lnTo>
                  <a:pt x="34357" y="67584"/>
                </a:lnTo>
                <a:lnTo>
                  <a:pt x="43162" y="62933"/>
                </a:lnTo>
                <a:lnTo>
                  <a:pt x="52047" y="58439"/>
                </a:lnTo>
                <a:lnTo>
                  <a:pt x="61011" y="54102"/>
                </a:lnTo>
                <a:lnTo>
                  <a:pt x="70050" y="49924"/>
                </a:lnTo>
                <a:lnTo>
                  <a:pt x="79161" y="45907"/>
                </a:lnTo>
                <a:lnTo>
                  <a:pt x="88342" y="42051"/>
                </a:lnTo>
                <a:lnTo>
                  <a:pt x="97590" y="38358"/>
                </a:lnTo>
                <a:lnTo>
                  <a:pt x="106901" y="34829"/>
                </a:lnTo>
                <a:lnTo>
                  <a:pt x="116274" y="31465"/>
                </a:lnTo>
                <a:lnTo>
                  <a:pt x="125704" y="28268"/>
                </a:lnTo>
                <a:lnTo>
                  <a:pt x="135189" y="25237"/>
                </a:lnTo>
                <a:lnTo>
                  <a:pt x="144727" y="22374"/>
                </a:lnTo>
                <a:lnTo>
                  <a:pt x="154313" y="19681"/>
                </a:lnTo>
                <a:lnTo>
                  <a:pt x="163946" y="17157"/>
                </a:lnTo>
                <a:lnTo>
                  <a:pt x="173621" y="14804"/>
                </a:lnTo>
                <a:lnTo>
                  <a:pt x="183337" y="12622"/>
                </a:lnTo>
                <a:lnTo>
                  <a:pt x="193090" y="10613"/>
                </a:lnTo>
                <a:lnTo>
                  <a:pt x="202877" y="8776"/>
                </a:lnTo>
                <a:lnTo>
                  <a:pt x="212694" y="7112"/>
                </a:lnTo>
                <a:lnTo>
                  <a:pt x="222540" y="5622"/>
                </a:lnTo>
                <a:lnTo>
                  <a:pt x="232410" y="4306"/>
                </a:lnTo>
                <a:lnTo>
                  <a:pt x="242303" y="3164"/>
                </a:lnTo>
                <a:lnTo>
                  <a:pt x="252213" y="2198"/>
                </a:lnTo>
                <a:lnTo>
                  <a:pt x="262140" y="1407"/>
                </a:lnTo>
                <a:lnTo>
                  <a:pt x="272078" y="792"/>
                </a:lnTo>
                <a:lnTo>
                  <a:pt x="282026" y="352"/>
                </a:lnTo>
                <a:lnTo>
                  <a:pt x="291980" y="88"/>
                </a:lnTo>
                <a:lnTo>
                  <a:pt x="301938" y="0"/>
                </a:lnTo>
                <a:lnTo>
                  <a:pt x="301938" y="165735"/>
                </a:lnTo>
                <a:lnTo>
                  <a:pt x="294909" y="165797"/>
                </a:lnTo>
                <a:lnTo>
                  <a:pt x="287883" y="165983"/>
                </a:lnTo>
                <a:lnTo>
                  <a:pt x="280860" y="166294"/>
                </a:lnTo>
                <a:lnTo>
                  <a:pt x="273845" y="166728"/>
                </a:lnTo>
                <a:lnTo>
                  <a:pt x="266838" y="167287"/>
                </a:lnTo>
                <a:lnTo>
                  <a:pt x="259842" y="167969"/>
                </a:lnTo>
                <a:lnTo>
                  <a:pt x="252860" y="168774"/>
                </a:lnTo>
                <a:lnTo>
                  <a:pt x="245892" y="169703"/>
                </a:lnTo>
                <a:lnTo>
                  <a:pt x="238943" y="170755"/>
                </a:lnTo>
                <a:lnTo>
                  <a:pt x="232012" y="171930"/>
                </a:lnTo>
                <a:lnTo>
                  <a:pt x="225104" y="173226"/>
                </a:lnTo>
                <a:lnTo>
                  <a:pt x="218220" y="174645"/>
                </a:lnTo>
                <a:lnTo>
                  <a:pt x="211362" y="176185"/>
                </a:lnTo>
                <a:lnTo>
                  <a:pt x="204532" y="177846"/>
                </a:lnTo>
                <a:lnTo>
                  <a:pt x="197732" y="179627"/>
                </a:lnTo>
                <a:lnTo>
                  <a:pt x="190965" y="181529"/>
                </a:lnTo>
                <a:lnTo>
                  <a:pt x="184233" y="183549"/>
                </a:lnTo>
                <a:lnTo>
                  <a:pt x="177537" y="185689"/>
                </a:lnTo>
                <a:lnTo>
                  <a:pt x="170881" y="187946"/>
                </a:lnTo>
                <a:lnTo>
                  <a:pt x="164265" y="190320"/>
                </a:lnTo>
                <a:lnTo>
                  <a:pt x="157692" y="192811"/>
                </a:lnTo>
                <a:lnTo>
                  <a:pt x="151165" y="195418"/>
                </a:lnTo>
                <a:lnTo>
                  <a:pt x="144684" y="198140"/>
                </a:lnTo>
                <a:lnTo>
                  <a:pt x="138252" y="200976"/>
                </a:lnTo>
                <a:lnTo>
                  <a:pt x="131872" y="203925"/>
                </a:lnTo>
                <a:lnTo>
                  <a:pt x="125545" y="206986"/>
                </a:lnTo>
                <a:lnTo>
                  <a:pt x="119272" y="210158"/>
                </a:lnTo>
                <a:lnTo>
                  <a:pt x="113057" y="213441"/>
                </a:lnTo>
                <a:lnTo>
                  <a:pt x="106901" y="216834"/>
                </a:lnTo>
                <a:lnTo>
                  <a:pt x="100806" y="220334"/>
                </a:lnTo>
                <a:lnTo>
                  <a:pt x="94773" y="223942"/>
                </a:lnTo>
                <a:lnTo>
                  <a:pt x="88805" y="227656"/>
                </a:lnTo>
                <a:close/>
              </a:path>
            </a:pathLst>
          </a:custGeom>
          <a:solidFill>
            <a:srgbClr val="555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674093" y="2777081"/>
            <a:ext cx="400049" cy="271463"/>
          </a:xfrm>
          <a:custGeom>
            <a:avLst/>
            <a:gdLst/>
            <a:ahLst/>
            <a:cxnLst/>
            <a:rect l="l" t="t" r="r" b="b"/>
            <a:pathLst>
              <a:path w="400049" h="271463">
                <a:moveTo>
                  <a:pt x="0" y="0"/>
                </a:moveTo>
                <a:lnTo>
                  <a:pt x="400049" y="0"/>
                </a:lnTo>
                <a:lnTo>
                  <a:pt x="400049" y="271463"/>
                </a:lnTo>
                <a:lnTo>
                  <a:pt x="0" y="271463"/>
                </a:lnTo>
                <a:close/>
              </a:path>
            </a:pathLst>
          </a:custGeom>
          <a:noFill/>
          <a:ln/>
        </p:spPr>
      </p:sp>
      <p:sp>
        <p:nvSpPr>
          <p:cNvPr id="33" name="Text 29"/>
          <p:cNvSpPr/>
          <p:nvPr/>
        </p:nvSpPr>
        <p:spPr>
          <a:xfrm>
            <a:off x="7674093" y="278494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续约客户</a:t>
            </a:r>
            <a:endParaRPr lang="en-US" sz="788" dirty="0"/>
          </a:p>
        </p:txBody>
      </p:sp>
      <p:sp>
        <p:nvSpPr>
          <p:cNvPr id="34" name="Text 30"/>
          <p:cNvSpPr/>
          <p:nvPr/>
        </p:nvSpPr>
        <p:spPr>
          <a:xfrm>
            <a:off x="7674093" y="292067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endParaRPr lang="en-US" sz="788" dirty="0"/>
          </a:p>
        </p:txBody>
      </p:sp>
      <p:sp>
        <p:nvSpPr>
          <p:cNvPr id="35" name="Shape 31"/>
          <p:cNvSpPr/>
          <p:nvPr/>
        </p:nvSpPr>
        <p:spPr>
          <a:xfrm>
            <a:off x="6313373" y="1585071"/>
            <a:ext cx="0" cy="271463"/>
          </a:xfrm>
          <a:custGeom>
            <a:avLst/>
            <a:gdLst/>
            <a:ahLst/>
            <a:cxnLst/>
            <a:rect l="l" t="t" r="r" b="b"/>
            <a:pathLst>
              <a:path w="0" h="271463">
                <a:moveTo>
                  <a:pt x="0" y="0"/>
                </a:moveTo>
                <a:lnTo>
                  <a:pt x="800096" y="0"/>
                </a:lnTo>
                <a:lnTo>
                  <a:pt x="800096" y="271463"/>
                </a:lnTo>
                <a:lnTo>
                  <a:pt x="0" y="271463"/>
                </a:lnTo>
                <a:close/>
              </a:path>
            </a:pathLst>
          </a:custGeom>
          <a:noFill/>
          <a:ln/>
        </p:spPr>
      </p:sp>
      <p:sp>
        <p:nvSpPr>
          <p:cNvPr id="36" name="Text 32"/>
          <p:cNvSpPr/>
          <p:nvPr/>
        </p:nvSpPr>
        <p:spPr>
          <a:xfrm>
            <a:off x="5730440" y="1592929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流失客户（测算）</a:t>
            </a:r>
            <a:endParaRPr lang="en-US" sz="788" dirty="0"/>
          </a:p>
        </p:txBody>
      </p:sp>
      <p:sp>
        <p:nvSpPr>
          <p:cNvPr id="37" name="Text 33"/>
          <p:cNvSpPr/>
          <p:nvPr/>
        </p:nvSpPr>
        <p:spPr>
          <a:xfrm>
            <a:off x="6630552" y="172866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9%</a:t>
            </a:r>
            <a:endParaRPr lang="en-US" sz="788" dirty="0"/>
          </a:p>
        </p:txBody>
      </p:sp>
      <p:sp>
        <p:nvSpPr>
          <p:cNvPr id="38" name="Shape 34"/>
          <p:cNvSpPr/>
          <p:nvPr/>
        </p:nvSpPr>
        <p:spPr>
          <a:xfrm>
            <a:off x="7072103" y="2138214"/>
            <a:ext cx="643356" cy="357188"/>
          </a:xfrm>
          <a:custGeom>
            <a:avLst/>
            <a:gdLst/>
            <a:ahLst/>
            <a:cxnLst/>
            <a:rect l="l" t="t" r="r" b="b"/>
            <a:pathLst>
              <a:path w="643356" h="357188">
                <a:moveTo>
                  <a:pt x="0" y="0"/>
                </a:moveTo>
                <a:lnTo>
                  <a:pt x="643356" y="0"/>
                </a:lnTo>
                <a:lnTo>
                  <a:pt x="643356" y="357188"/>
                </a:lnTo>
                <a:lnTo>
                  <a:pt x="0" y="357188"/>
                </a:lnTo>
                <a:close/>
              </a:path>
            </a:pathLst>
          </a:custGeom>
          <a:noFill/>
          <a:ln/>
        </p:spPr>
      </p:sp>
      <p:sp>
        <p:nvSpPr>
          <p:cNvPr id="39" name="Text 35"/>
          <p:cNvSpPr/>
          <p:nvPr/>
        </p:nvSpPr>
        <p:spPr>
          <a:xfrm>
            <a:off x="6659404" y="2145357"/>
            <a:ext cx="1468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endParaRPr lang="en-US" sz="225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6456" y="3201293"/>
            <a:ext cx="2914650" cy="235744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214313" y="3629918"/>
            <a:ext cx="8715375" cy="5429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4313" y="3629918"/>
            <a:ext cx="8715375" cy="542925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26% 的增长不是靠拉新堆量，而是靠 91% 的老客户续约</a:t>
            </a:r>
            <a:endParaRPr lang="en-US" sz="2000" dirty="0"/>
          </a:p>
        </p:txBody>
      </p:sp>
      <p:sp>
        <p:nvSpPr>
          <p:cNvPr id="44" name="Text 38"/>
          <p:cNvSpPr/>
          <p:nvPr/>
        </p:nvSpPr>
        <p:spPr>
          <a:xfrm>
            <a:off x="292894" y="1251719"/>
            <a:ext cx="1793081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增长了多少 · 营收规模对比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2528497" y="1251719"/>
            <a:ext cx="678656" cy="178594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 +26%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292894" y="3201293"/>
            <a:ext cx="2914650" cy="235744"/>
          </a:xfrm>
          <a:prstGeom prst="rect">
            <a:avLst/>
          </a:prstGeom>
          <a:ln/>
        </p:spPr>
        <p:txBody>
          <a:bodyPr wrap="square" lIns="0" tIns="48578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营收增量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≈ 8,667 万元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（测算：4.2 − 3.33 亿）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3514725" y="1172468"/>
            <a:ext cx="21145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增长的来处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3514725" y="1429643"/>
            <a:ext cx="211455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左图回答"增长了多少"，右图回答"增长从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哪里来"。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3629025" y="1983284"/>
            <a:ext cx="1914525" cy="4071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「这一年我们走得不容易，年初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行业寒冬」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3629025" y="2433340"/>
            <a:ext cx="19145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 老板年会致辞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3629025" y="2619077"/>
            <a:ext cx="1914525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不容易之处：增长必须是高质量增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长，而不是靠短期冲量。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3514725" y="3172718"/>
            <a:ext cx="211455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高增速与高续约率同时成立：若靠透支式拉新堆量，续约率不会守在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。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5936456" y="1251719"/>
            <a:ext cx="2914650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增长从哪里来 · 客户续约结构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5936456" y="3201293"/>
            <a:ext cx="2914650" cy="235744"/>
          </a:xfrm>
          <a:prstGeom prst="rect">
            <a:avLst/>
          </a:prstGeom>
          <a:ln/>
        </p:spPr>
        <p:txBody>
          <a:bodyPr wrap="square" lIns="0" tIns="48578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客户流失率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9%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（测算：100% − 91%）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400106" y="3815655"/>
            <a:ext cx="2286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结论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741555" y="3697784"/>
            <a:ext cx="7837408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增长答卷的关键不在"卖得多"，而在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"留得住"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 亿元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营收、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+26%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同比的背后，是 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的客户续约率在支撑增长质量。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741555" y="3931741"/>
            <a:ext cx="7393781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寒冬里没有用透支式拉新换规模，而是靠交付质量守住老客户，才有下一程加注的底气。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数据来源：公司全年经营数据与老板年会致辞｜测算口径：上年营收 ≈ 3.33 亿元（4.2 ÷ 1.26）、营收增量 ≈ 8,667 万元（4.2 亿 − 3.33 亿）、客户流失率 9%（100% − 91%）。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01018"/>
            <a:ext cx="2857500" cy="71437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1001018"/>
            <a:ext cx="2857500" cy="714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00413" y="1001018"/>
            <a:ext cx="5629275" cy="714375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313" y="1829693"/>
            <a:ext cx="4243388" cy="20859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6923" y="3640634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6923" y="3397746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6923" y="3162002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6923" y="2919115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6923" y="2676227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6923" y="2440484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6923" y="222688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单位：人</a:t>
            </a:r>
            <a:endParaRPr lang="en-US" sz="788" dirty="0"/>
          </a:p>
        </p:txBody>
      </p:sp>
      <p:sp>
        <p:nvSpPr>
          <p:cNvPr id="14" name="Shape 11"/>
          <p:cNvSpPr/>
          <p:nvPr/>
        </p:nvSpPr>
        <p:spPr>
          <a:xfrm>
            <a:off x="616923" y="3640634"/>
            <a:ext cx="3576458" cy="0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6874" y="35770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-73163" y="333702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-73163" y="309699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200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-73163" y="285696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300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-73163" y="261693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400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-73163" y="237690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500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1269579" y="368421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上年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2982799" y="368421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本年度</a:t>
            </a:r>
            <a:endParaRPr lang="en-US" sz="788" dirty="0"/>
          </a:p>
        </p:txBody>
      </p:sp>
      <p:sp>
        <p:nvSpPr>
          <p:cNvPr id="23" name="Shape 20"/>
          <p:cNvSpPr/>
          <p:nvPr/>
        </p:nvSpPr>
        <p:spPr>
          <a:xfrm>
            <a:off x="1135509" y="2868966"/>
            <a:ext cx="751056" cy="768096"/>
          </a:xfrm>
          <a:custGeom>
            <a:avLst/>
            <a:gdLst/>
            <a:ahLst/>
            <a:cxnLst/>
            <a:rect l="l" t="t" r="r" b="b"/>
            <a:pathLst>
              <a:path w="751056" h="768096">
                <a:moveTo>
                  <a:pt x="0" y="768096"/>
                </a:moveTo>
                <a:lnTo>
                  <a:pt x="751056" y="768096"/>
                </a:lnTo>
                <a:lnTo>
                  <a:pt x="751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24" name="Shape 21"/>
          <p:cNvSpPr/>
          <p:nvPr/>
        </p:nvSpPr>
        <p:spPr>
          <a:xfrm>
            <a:off x="2923738" y="2652939"/>
            <a:ext cx="751056" cy="984124"/>
          </a:xfrm>
          <a:custGeom>
            <a:avLst/>
            <a:gdLst/>
            <a:ahLst/>
            <a:cxnLst/>
            <a:rect l="l" t="t" r="r" b="b"/>
            <a:pathLst>
              <a:path w="751056" h="984124">
                <a:moveTo>
                  <a:pt x="0" y="984124"/>
                </a:moveTo>
                <a:lnTo>
                  <a:pt x="751056" y="984124"/>
                </a:lnTo>
                <a:lnTo>
                  <a:pt x="751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5" name="Text 22"/>
          <p:cNvSpPr/>
          <p:nvPr/>
        </p:nvSpPr>
        <p:spPr>
          <a:xfrm>
            <a:off x="910605" y="2683942"/>
            <a:ext cx="1200864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320 人</a:t>
            </a:r>
            <a:endParaRPr lang="en-US" sz="1069" dirty="0"/>
          </a:p>
        </p:txBody>
      </p:sp>
      <p:sp>
        <p:nvSpPr>
          <p:cNvPr id="26" name="Text 23"/>
          <p:cNvSpPr/>
          <p:nvPr/>
        </p:nvSpPr>
        <p:spPr>
          <a:xfrm>
            <a:off x="2698834" y="2467915"/>
            <a:ext cx="1200864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 人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4686300" y="1829693"/>
            <a:ext cx="4243388" cy="20859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88910" y="3640634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88910" y="3340596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88910" y="3040559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88910" y="2740521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88910" y="2440484"/>
            <a:ext cx="35764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88910" y="2226886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单位：万元/人</a:t>
            </a:r>
            <a:endParaRPr lang="en-US" sz="788" dirty="0"/>
          </a:p>
        </p:txBody>
      </p:sp>
      <p:sp>
        <p:nvSpPr>
          <p:cNvPr id="34" name="Shape 31"/>
          <p:cNvSpPr/>
          <p:nvPr/>
        </p:nvSpPr>
        <p:spPr>
          <a:xfrm>
            <a:off x="5088910" y="3640634"/>
            <a:ext cx="3576458" cy="0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98862" y="35770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4548843" y="327701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30</a:t>
            </a:r>
            <a:endParaRPr lang="en-US" sz="788" dirty="0"/>
          </a:p>
        </p:txBody>
      </p:sp>
      <p:sp>
        <p:nvSpPr>
          <p:cNvPr id="37" name="Text 34"/>
          <p:cNvSpPr/>
          <p:nvPr/>
        </p:nvSpPr>
        <p:spPr>
          <a:xfrm>
            <a:off x="4548843" y="297697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</a:t>
            </a:r>
            <a:endParaRPr lang="en-US" sz="788" dirty="0"/>
          </a:p>
        </p:txBody>
      </p:sp>
      <p:sp>
        <p:nvSpPr>
          <p:cNvPr id="38" name="Text 35"/>
          <p:cNvSpPr/>
          <p:nvPr/>
        </p:nvSpPr>
        <p:spPr>
          <a:xfrm>
            <a:off x="4548843" y="267694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90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4398824" y="237690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120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5741566" y="368421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上年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7454786" y="368421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本年度</a:t>
            </a:r>
            <a:endParaRPr lang="en-US" sz="788" dirty="0"/>
          </a:p>
        </p:txBody>
      </p:sp>
      <p:sp>
        <p:nvSpPr>
          <p:cNvPr id="42" name="Shape 39"/>
          <p:cNvSpPr/>
          <p:nvPr/>
        </p:nvSpPr>
        <p:spPr>
          <a:xfrm>
            <a:off x="5607497" y="2596932"/>
            <a:ext cx="751056" cy="1040131"/>
          </a:xfrm>
          <a:custGeom>
            <a:avLst/>
            <a:gdLst/>
            <a:ahLst/>
            <a:cxnLst/>
            <a:rect l="l" t="t" r="r" b="b"/>
            <a:pathLst>
              <a:path w="751056" h="1040131">
                <a:moveTo>
                  <a:pt x="0" y="1040131"/>
                </a:moveTo>
                <a:lnTo>
                  <a:pt x="751056" y="1040131"/>
                </a:lnTo>
                <a:lnTo>
                  <a:pt x="751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43" name="Shape 40"/>
          <p:cNvSpPr/>
          <p:nvPr/>
        </p:nvSpPr>
        <p:spPr>
          <a:xfrm>
            <a:off x="7395726" y="2616934"/>
            <a:ext cx="751056" cy="1020128"/>
          </a:xfrm>
          <a:custGeom>
            <a:avLst/>
            <a:gdLst/>
            <a:ahLst/>
            <a:cxnLst/>
            <a:rect l="l" t="t" r="r" b="b"/>
            <a:pathLst>
              <a:path w="751056" h="1020128">
                <a:moveTo>
                  <a:pt x="0" y="1020128"/>
                </a:moveTo>
                <a:lnTo>
                  <a:pt x="751056" y="1020128"/>
                </a:lnTo>
                <a:lnTo>
                  <a:pt x="751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44" name="Text 41"/>
          <p:cNvSpPr/>
          <p:nvPr/>
        </p:nvSpPr>
        <p:spPr>
          <a:xfrm>
            <a:off x="5280794" y="2411908"/>
            <a:ext cx="1404461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104 万元</a:t>
            </a:r>
            <a:endParaRPr lang="en-US" sz="1069" dirty="0"/>
          </a:p>
        </p:txBody>
      </p:sp>
      <p:sp>
        <p:nvSpPr>
          <p:cNvPr id="45" name="Text 42"/>
          <p:cNvSpPr/>
          <p:nvPr/>
        </p:nvSpPr>
        <p:spPr>
          <a:xfrm>
            <a:off x="7069024" y="2431911"/>
            <a:ext cx="1404461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102 万元</a:t>
            </a:r>
            <a:endParaRPr lang="en-US" sz="1069" dirty="0"/>
          </a:p>
        </p:txBody>
      </p:sp>
      <p:sp>
        <p:nvSpPr>
          <p:cNvPr id="46" name="Shape 43"/>
          <p:cNvSpPr/>
          <p:nvPr/>
        </p:nvSpPr>
        <p:spPr>
          <a:xfrm>
            <a:off x="214313" y="4029968"/>
            <a:ext cx="8715375" cy="314325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313" y="4029968"/>
            <a:ext cx="8715375" cy="314325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行业寒冬里我们裁了 0 个人，反而多了 90 个人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371475" y="1078148"/>
            <a:ext cx="2700338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裁员 0 人</a:t>
            </a:r>
            <a:endParaRPr lang="en-US" sz="2700" dirty="0"/>
          </a:p>
        </p:txBody>
      </p:sp>
      <p:sp>
        <p:nvSpPr>
          <p:cNvPr id="50" name="Text 46"/>
          <p:cNvSpPr/>
          <p:nvPr/>
        </p:nvSpPr>
        <p:spPr>
          <a:xfrm>
            <a:off x="371475" y="1479593"/>
            <a:ext cx="2700338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核心队伍完整保留，为研发加注提供人的基础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3421856" y="1068884"/>
            <a:ext cx="538638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老板讲话：“咬牙没有裁员”“但团队没有一个人退缩”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3421856" y="1288554"/>
            <a:ext cx="5386388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年初行业寒冬，行业普遍在减人，我们在加人：员工 320 人 → 410 人（净增 90 人，测算）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3421856" y="1474291"/>
            <a:ext cx="5386388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人员增幅 ≈ +28.1%（测算）与营收同比 +26% 几乎同频，扩张没有失控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307237" y="1943993"/>
            <a:ext cx="8001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员工人数（人）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2182862" y="1922562"/>
            <a:ext cx="592931" cy="21431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裁员 0 人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2830432" y="1922562"/>
            <a:ext cx="1535906" cy="21431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+90 人 / ≈ +28.1%（测算）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4780062" y="1943993"/>
            <a:ext cx="1071563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人均营收（万元/人）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7000373" y="1922562"/>
            <a:ext cx="1835944" cy="214313"/>
          </a:xfrm>
          <a:prstGeom prst="rect">
            <a:avLst/>
          </a:prstGeom>
          <a:solidFill>
            <a:srgbClr val="F5F5F5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基本持平 · 人效未被摊薄（测算）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370247" y="4119265"/>
            <a:ext cx="3736181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净增 28% 人员的同时人均产出基本持平，扩张没有摊薄人效。</a:t>
            </a:r>
            <a:endParaRPr lang="en-US" sz="1000" dirty="0"/>
          </a:p>
        </p:txBody>
      </p:sp>
      <p:sp>
        <p:nvSpPr>
          <p:cNvPr id="60" name="Text 56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数据来源：公司全年经营数据与老板年会致辞；标注“测算”者为派生指标：净增 90 人（410 − 320）、+28.1%（90 ÷ 320）、人均营收 ≈104 → ≈102 万元/人。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2530"/>
            <a:ext cx="4772025" cy="435769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530"/>
            <a:ext cx="4772025" cy="4357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4938" y="772530"/>
            <a:ext cx="3714750" cy="43576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313" y="1320310"/>
            <a:ext cx="5486400" cy="21645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1120" y="3111326"/>
            <a:ext cx="447795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1120" y="2832720"/>
            <a:ext cx="447795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1120" y="2561258"/>
            <a:ext cx="447795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1120" y="2289795"/>
            <a:ext cx="447795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1120" y="2018333"/>
            <a:ext cx="447795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1120" y="3111326"/>
            <a:ext cx="447795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1071" y="304774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-138985" y="277449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2000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-138985" y="250125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4000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-138985" y="222800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6000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-138985" y="195475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8000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5236222" y="304774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0%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5236222" y="277449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4%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5236222" y="250125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8%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5236222" y="222800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12%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5236222" y="195475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16%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1557718" y="3182050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上年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10970" y="3182050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本年度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520571" y="2697882"/>
            <a:ext cx="600075" cy="409873"/>
          </a:xfrm>
          <a:custGeom>
            <a:avLst/>
            <a:gdLst/>
            <a:ahLst/>
            <a:cxnLst/>
            <a:rect l="l" t="t" r="r" b="b"/>
            <a:pathLst>
              <a:path w="600075" h="409873">
                <a:moveTo>
                  <a:pt x="0" y="409873"/>
                </a:moveTo>
                <a:lnTo>
                  <a:pt x="600075" y="409873"/>
                </a:lnTo>
                <a:lnTo>
                  <a:pt x="600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6" name="Shape 23"/>
          <p:cNvSpPr/>
          <p:nvPr/>
        </p:nvSpPr>
        <p:spPr>
          <a:xfrm>
            <a:off x="3759547" y="2304404"/>
            <a:ext cx="600075" cy="803350"/>
          </a:xfrm>
          <a:custGeom>
            <a:avLst/>
            <a:gdLst/>
            <a:ahLst/>
            <a:cxnLst/>
            <a:rect l="l" t="t" r="r" b="b"/>
            <a:pathLst>
              <a:path w="600075" h="803350">
                <a:moveTo>
                  <a:pt x="0" y="803350"/>
                </a:moveTo>
                <a:lnTo>
                  <a:pt x="600075" y="803350"/>
                </a:lnTo>
                <a:lnTo>
                  <a:pt x="600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7" name="Text 24"/>
          <p:cNvSpPr/>
          <p:nvPr/>
        </p:nvSpPr>
        <p:spPr>
          <a:xfrm>
            <a:off x="614743" y="2529289"/>
            <a:ext cx="2411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≈3,000 万元（测算）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82345" y="2135811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5,880 万元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 flipV="1">
            <a:off x="1820608" y="2151385"/>
            <a:ext cx="2238976" cy="341561"/>
          </a:xfrm>
          <a:prstGeom prst="line">
            <a:avLst/>
          </a:prstGeom>
          <a:noFill/>
          <a:ln w="19050">
            <a:solidFill>
              <a:srgbClr val="5557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777746" y="2450083"/>
            <a:ext cx="85725" cy="85725"/>
          </a:xfrm>
          <a:prstGeom prst="ellipse">
            <a:avLst/>
          </a:prstGeom>
          <a:solidFill>
            <a:srgbClr val="555757"/>
          </a:solidFill>
          <a:ln/>
        </p:spPr>
      </p:sp>
      <p:sp>
        <p:nvSpPr>
          <p:cNvPr id="31" name="Shape 28"/>
          <p:cNvSpPr/>
          <p:nvPr/>
        </p:nvSpPr>
        <p:spPr>
          <a:xfrm>
            <a:off x="4016722" y="2108522"/>
            <a:ext cx="85725" cy="85725"/>
          </a:xfrm>
          <a:prstGeom prst="ellipse">
            <a:avLst/>
          </a:prstGeom>
          <a:solidFill>
            <a:srgbClr val="555757"/>
          </a:solidFill>
          <a:ln/>
        </p:spPr>
      </p:sp>
      <p:sp>
        <p:nvSpPr>
          <p:cNvPr id="32" name="Text 29"/>
          <p:cNvSpPr/>
          <p:nvPr/>
        </p:nvSpPr>
        <p:spPr>
          <a:xfrm>
            <a:off x="1557718" y="2252915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710970" y="1911355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14%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702974" y="1743298"/>
            <a:ext cx="2509079" cy="185738"/>
          </a:xfrm>
          <a:custGeom>
            <a:avLst/>
            <a:gdLst/>
            <a:ahLst/>
            <a:cxnLst/>
            <a:rect l="l" t="t" r="r" b="b"/>
            <a:pathLst>
              <a:path w="2509079" h="185738">
                <a:moveTo>
                  <a:pt x="0" y="0"/>
                </a:moveTo>
                <a:lnTo>
                  <a:pt x="2509079" y="0"/>
                </a:lnTo>
                <a:lnTo>
                  <a:pt x="2509079" y="185738"/>
                </a:lnTo>
                <a:lnTo>
                  <a:pt x="0" y="185738"/>
                </a:lnTo>
                <a:close/>
              </a:path>
            </a:pathLst>
          </a:custGeom>
          <a:noFill/>
          <a:ln/>
        </p:spPr>
      </p:sp>
      <p:sp>
        <p:nvSpPr>
          <p:cNvPr id="35" name="Shape 32"/>
          <p:cNvSpPr/>
          <p:nvPr/>
        </p:nvSpPr>
        <p:spPr>
          <a:xfrm>
            <a:off x="1738692" y="1800448"/>
            <a:ext cx="128588" cy="71438"/>
          </a:xfrm>
          <a:custGeom>
            <a:avLst/>
            <a:gdLst/>
            <a:ahLst/>
            <a:cxnLst/>
            <a:rect l="l" t="t" r="r" b="b"/>
            <a:pathLst>
              <a:path w="128588" h="71438">
                <a:moveTo>
                  <a:pt x="17859" y="0"/>
                </a:moveTo>
                <a:lnTo>
                  <a:pt x="110728" y="0"/>
                </a:lnTo>
                <a:lnTo>
                  <a:pt x="111604" y="22"/>
                </a:lnTo>
                <a:lnTo>
                  <a:pt x="112479" y="86"/>
                </a:lnTo>
                <a:lnTo>
                  <a:pt x="113349" y="193"/>
                </a:lnTo>
                <a:lnTo>
                  <a:pt x="114212" y="343"/>
                </a:lnTo>
                <a:lnTo>
                  <a:pt x="115068" y="535"/>
                </a:lnTo>
                <a:lnTo>
                  <a:pt x="115912" y="769"/>
                </a:lnTo>
                <a:lnTo>
                  <a:pt x="116745" y="1044"/>
                </a:lnTo>
                <a:lnTo>
                  <a:pt x="117563" y="1359"/>
                </a:lnTo>
                <a:lnTo>
                  <a:pt x="118364" y="1715"/>
                </a:lnTo>
                <a:lnTo>
                  <a:pt x="119147" y="2109"/>
                </a:lnTo>
                <a:lnTo>
                  <a:pt x="119910" y="2541"/>
                </a:lnTo>
                <a:lnTo>
                  <a:pt x="120650" y="3010"/>
                </a:lnTo>
                <a:lnTo>
                  <a:pt x="121367" y="3515"/>
                </a:lnTo>
                <a:lnTo>
                  <a:pt x="122058" y="4054"/>
                </a:lnTo>
                <a:lnTo>
                  <a:pt x="122722" y="4626"/>
                </a:lnTo>
                <a:lnTo>
                  <a:pt x="123357" y="5231"/>
                </a:lnTo>
                <a:lnTo>
                  <a:pt x="123961" y="5866"/>
                </a:lnTo>
                <a:lnTo>
                  <a:pt x="124534" y="6530"/>
                </a:lnTo>
                <a:lnTo>
                  <a:pt x="125073" y="7221"/>
                </a:lnTo>
                <a:lnTo>
                  <a:pt x="125578" y="7937"/>
                </a:lnTo>
                <a:lnTo>
                  <a:pt x="126047" y="8678"/>
                </a:lnTo>
                <a:lnTo>
                  <a:pt x="126479" y="9441"/>
                </a:lnTo>
                <a:lnTo>
                  <a:pt x="126873" y="10224"/>
                </a:lnTo>
                <a:lnTo>
                  <a:pt x="127228" y="11025"/>
                </a:lnTo>
                <a:lnTo>
                  <a:pt x="127544" y="11843"/>
                </a:lnTo>
                <a:lnTo>
                  <a:pt x="127818" y="12675"/>
                </a:lnTo>
                <a:lnTo>
                  <a:pt x="128052" y="13520"/>
                </a:lnTo>
                <a:lnTo>
                  <a:pt x="128244" y="14375"/>
                </a:lnTo>
                <a:lnTo>
                  <a:pt x="128394" y="15239"/>
                </a:lnTo>
                <a:lnTo>
                  <a:pt x="128502" y="16109"/>
                </a:lnTo>
                <a:lnTo>
                  <a:pt x="128566" y="16983"/>
                </a:lnTo>
                <a:lnTo>
                  <a:pt x="128588" y="17859"/>
                </a:lnTo>
                <a:lnTo>
                  <a:pt x="128588" y="53578"/>
                </a:lnTo>
                <a:lnTo>
                  <a:pt x="128566" y="54454"/>
                </a:lnTo>
                <a:lnTo>
                  <a:pt x="128502" y="55329"/>
                </a:lnTo>
                <a:lnTo>
                  <a:pt x="128394" y="56199"/>
                </a:lnTo>
                <a:lnTo>
                  <a:pt x="128244" y="57062"/>
                </a:lnTo>
                <a:lnTo>
                  <a:pt x="128052" y="57918"/>
                </a:lnTo>
                <a:lnTo>
                  <a:pt x="127818" y="58762"/>
                </a:lnTo>
                <a:lnTo>
                  <a:pt x="127544" y="59595"/>
                </a:lnTo>
                <a:lnTo>
                  <a:pt x="127228" y="60413"/>
                </a:lnTo>
                <a:lnTo>
                  <a:pt x="126873" y="61214"/>
                </a:lnTo>
                <a:lnTo>
                  <a:pt x="126479" y="61997"/>
                </a:lnTo>
                <a:lnTo>
                  <a:pt x="126047" y="62760"/>
                </a:lnTo>
                <a:lnTo>
                  <a:pt x="125578" y="63500"/>
                </a:lnTo>
                <a:lnTo>
                  <a:pt x="125073" y="64217"/>
                </a:lnTo>
                <a:lnTo>
                  <a:pt x="124534" y="64908"/>
                </a:lnTo>
                <a:lnTo>
                  <a:pt x="123961" y="65572"/>
                </a:lnTo>
                <a:lnTo>
                  <a:pt x="123357" y="66207"/>
                </a:lnTo>
                <a:lnTo>
                  <a:pt x="122722" y="66811"/>
                </a:lnTo>
                <a:lnTo>
                  <a:pt x="122058" y="67384"/>
                </a:lnTo>
                <a:lnTo>
                  <a:pt x="121367" y="67923"/>
                </a:lnTo>
                <a:lnTo>
                  <a:pt x="120650" y="68428"/>
                </a:lnTo>
                <a:lnTo>
                  <a:pt x="119910" y="68897"/>
                </a:lnTo>
                <a:lnTo>
                  <a:pt x="119147" y="69329"/>
                </a:lnTo>
                <a:lnTo>
                  <a:pt x="118364" y="69723"/>
                </a:lnTo>
                <a:lnTo>
                  <a:pt x="117563" y="70078"/>
                </a:lnTo>
                <a:lnTo>
                  <a:pt x="116745" y="70394"/>
                </a:lnTo>
                <a:lnTo>
                  <a:pt x="115912" y="70668"/>
                </a:lnTo>
                <a:lnTo>
                  <a:pt x="115068" y="70902"/>
                </a:lnTo>
                <a:lnTo>
                  <a:pt x="114212" y="71094"/>
                </a:lnTo>
                <a:lnTo>
                  <a:pt x="113349" y="71244"/>
                </a:lnTo>
                <a:lnTo>
                  <a:pt x="112479" y="71352"/>
                </a:lnTo>
                <a:lnTo>
                  <a:pt x="111604" y="71416"/>
                </a:lnTo>
                <a:lnTo>
                  <a:pt x="110728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D33941"/>
          </a:solidFill>
          <a:ln/>
        </p:spPr>
      </p:sp>
      <p:sp>
        <p:nvSpPr>
          <p:cNvPr id="36" name="Text 33"/>
          <p:cNvSpPr/>
          <p:nvPr/>
        </p:nvSpPr>
        <p:spPr>
          <a:xfrm>
            <a:off x="1902999" y="1767587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研发投入（万元）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738692" y="1779017"/>
            <a:ext cx="1078708" cy="114300"/>
          </a:xfrm>
          <a:custGeom>
            <a:avLst/>
            <a:gdLst/>
            <a:ahLst/>
            <a:cxnLst/>
            <a:rect l="l" t="t" r="r" b="b"/>
            <a:pathLst>
              <a:path w="1078708" h="114300">
                <a:moveTo>
                  <a:pt x="0" y="0"/>
                </a:moveTo>
                <a:lnTo>
                  <a:pt x="1078708" y="0"/>
                </a:lnTo>
                <a:lnTo>
                  <a:pt x="1078708" y="114300"/>
                </a:lnTo>
                <a:lnTo>
                  <a:pt x="0" y="114300"/>
                </a:lnTo>
                <a:close/>
              </a:path>
            </a:pathLst>
          </a:custGeom>
          <a:noFill/>
          <a:ln/>
        </p:spPr>
      </p:sp>
      <p:sp>
        <p:nvSpPr>
          <p:cNvPr id="38" name="Shape 35"/>
          <p:cNvSpPr/>
          <p:nvPr/>
        </p:nvSpPr>
        <p:spPr>
          <a:xfrm>
            <a:off x="2995994" y="1836167"/>
            <a:ext cx="128588" cy="0"/>
          </a:xfrm>
          <a:prstGeom prst="line">
            <a:avLst/>
          </a:prstGeom>
          <a:noFill/>
          <a:ln w="12700">
            <a:solidFill>
              <a:srgbClr val="55575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031712" y="1807592"/>
            <a:ext cx="57150" cy="57150"/>
          </a:xfrm>
          <a:prstGeom prst="ellipse">
            <a:avLst/>
          </a:prstGeom>
          <a:solidFill>
            <a:srgbClr val="555757"/>
          </a:solidFill>
          <a:ln/>
        </p:spPr>
      </p:sp>
      <p:sp>
        <p:nvSpPr>
          <p:cNvPr id="40" name="Text 37"/>
          <p:cNvSpPr/>
          <p:nvPr/>
        </p:nvSpPr>
        <p:spPr>
          <a:xfrm>
            <a:off x="3160300" y="1767587"/>
            <a:ext cx="1725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研发投入占比（%）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988850" y="1779017"/>
            <a:ext cx="1187483" cy="114300"/>
          </a:xfrm>
          <a:custGeom>
            <a:avLst/>
            <a:gdLst/>
            <a:ahLst/>
            <a:cxnLst/>
            <a:rect l="l" t="t" r="r" b="b"/>
            <a:pathLst>
              <a:path w="1187483" h="114300">
                <a:moveTo>
                  <a:pt x="0" y="0"/>
                </a:moveTo>
                <a:lnTo>
                  <a:pt x="1187483" y="0"/>
                </a:lnTo>
                <a:lnTo>
                  <a:pt x="1187483" y="114300"/>
                </a:lnTo>
                <a:lnTo>
                  <a:pt x="0" y="114300"/>
                </a:lnTo>
                <a:close/>
              </a:path>
            </a:pathLst>
          </a:custGeom>
          <a:noFill/>
          <a:ln/>
        </p:spPr>
      </p:sp>
      <p:sp>
        <p:nvSpPr>
          <p:cNvPr id="42" name="Shape 39"/>
          <p:cNvSpPr/>
          <p:nvPr/>
        </p:nvSpPr>
        <p:spPr>
          <a:xfrm>
            <a:off x="5929313" y="1322487"/>
            <a:ext cx="3000375" cy="6429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29313" y="2081064"/>
            <a:ext cx="3000375" cy="6429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29313" y="2839696"/>
            <a:ext cx="3000375" cy="6429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14313" y="3599055"/>
            <a:ext cx="2093119" cy="8429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421731" y="3599055"/>
            <a:ext cx="2093119" cy="8429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29150" y="3599055"/>
            <a:ext cx="2093119" cy="8429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36569" y="3599055"/>
            <a:ext cx="2093119" cy="8429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研发投入占比从 9% 提到 14%，投入额接近翻倍，换来 18 项专利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371531" y="914288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老板致辞原话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43112" y="893918"/>
            <a:ext cx="2550319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「咬牙没有裁员反而加大了研发投入」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336381" y="824712"/>
            <a:ext cx="347186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「正是那段日子让我们脱胎换骨」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336381" y="998953"/>
            <a:ext cx="347186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脱胎换骨的形态：研发强度 14% + 新增专利 18 项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305730" y="1436117"/>
            <a:ext cx="20859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研发投入金额（柱）× 占营收比重（线）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879000" y="1414686"/>
            <a:ext cx="1728787" cy="21431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核心观点：寒冬中逆势加注研发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020674" y="1407542"/>
            <a:ext cx="707231" cy="2928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3.7 倍</a:t>
            </a:r>
            <a:endParaRPr lang="en-US" sz="2000" dirty="0"/>
          </a:p>
        </p:txBody>
      </p:sp>
      <p:sp>
        <p:nvSpPr>
          <p:cNvPr id="57" name="Text 54"/>
          <p:cNvSpPr/>
          <p:nvPr/>
        </p:nvSpPr>
        <p:spPr>
          <a:xfrm>
            <a:off x="6784386" y="1538641"/>
            <a:ext cx="1078706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研发增速 ÷ 营收增速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022181" y="1714277"/>
            <a:ext cx="2814637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≈+96% ÷ +26%，钱先投给未来（测算）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023409" y="2166119"/>
            <a:ext cx="821531" cy="2928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≈33%</a:t>
            </a:r>
            <a:endParaRPr lang="en-US" sz="2000" dirty="0"/>
          </a:p>
        </p:txBody>
      </p:sp>
      <p:sp>
        <p:nvSpPr>
          <p:cNvPr id="60" name="Text 57"/>
          <p:cNvSpPr/>
          <p:nvPr/>
        </p:nvSpPr>
        <p:spPr>
          <a:xfrm>
            <a:off x="6903597" y="2297218"/>
            <a:ext cx="1250156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 3 元营收投回 1 元研发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022181" y="2472854"/>
            <a:ext cx="2814637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研发增量 2,880 万 ÷ 营收增量 ≈8,667 万（测算）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021735" y="2924696"/>
            <a:ext cx="728663" cy="2928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+5pct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6806040" y="3055795"/>
            <a:ext cx="106441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研发强度 9% → 14%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022181" y="3231431"/>
            <a:ext cx="2814637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相对提升 ≈55.6%，寒冬中的主动选择（测算）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307181" y="3649061"/>
            <a:ext cx="1907381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本年度新增专利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07460" y="3821906"/>
            <a:ext cx="364331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18</a:t>
            </a:r>
            <a:endParaRPr lang="en-US" sz="2700" dirty="0"/>
          </a:p>
        </p:txBody>
      </p:sp>
      <p:sp>
        <p:nvSpPr>
          <p:cNvPr id="67" name="Text 64"/>
          <p:cNvSpPr/>
          <p:nvPr/>
        </p:nvSpPr>
        <p:spPr>
          <a:xfrm>
            <a:off x="714989" y="4034768"/>
            <a:ext cx="135731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项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307181" y="4264819"/>
            <a:ext cx="190738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全年经营数据原始值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2514600" y="3649061"/>
            <a:ext cx="1907381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 1 项专利所需研发投入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2513037" y="3821906"/>
            <a:ext cx="585788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327</a:t>
            </a:r>
            <a:endParaRPr lang="en-US" sz="2700" dirty="0"/>
          </a:p>
        </p:txBody>
      </p:sp>
      <p:sp>
        <p:nvSpPr>
          <p:cNvPr id="71" name="Text 68"/>
          <p:cNvSpPr/>
          <p:nvPr/>
        </p:nvSpPr>
        <p:spPr>
          <a:xfrm>
            <a:off x="3141743" y="4034768"/>
            <a:ext cx="457200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万元/项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2514600" y="4264819"/>
            <a:ext cx="190738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5,880 万 ÷ 18（测算）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4722019" y="3649061"/>
            <a:ext cx="1907381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 1 项专利产出节奏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4720456" y="3821906"/>
            <a:ext cx="421481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</a:t>
            </a:r>
            <a:endParaRPr lang="en-US" sz="2700" dirty="0"/>
          </a:p>
        </p:txBody>
      </p:sp>
      <p:sp>
        <p:nvSpPr>
          <p:cNvPr id="75" name="Text 72"/>
          <p:cNvSpPr/>
          <p:nvPr/>
        </p:nvSpPr>
        <p:spPr>
          <a:xfrm>
            <a:off x="5184856" y="4034768"/>
            <a:ext cx="321469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天/项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4722019" y="4264819"/>
            <a:ext cx="190738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365 ÷ 18（测算）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6929438" y="3649061"/>
            <a:ext cx="1907381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专利人力密度 · 全员口径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6929158" y="3821906"/>
            <a:ext cx="400050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23</a:t>
            </a:r>
            <a:endParaRPr lang="en-US" sz="2700" dirty="0"/>
          </a:p>
        </p:txBody>
      </p:sp>
      <p:sp>
        <p:nvSpPr>
          <p:cNvPr id="79" name="Text 76"/>
          <p:cNvSpPr/>
          <p:nvPr/>
        </p:nvSpPr>
        <p:spPr>
          <a:xfrm>
            <a:off x="7373410" y="4034768"/>
            <a:ext cx="321469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人/项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6929438" y="4264819"/>
            <a:ext cx="190738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 ÷ 18（测算）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214313" y="4557713"/>
            <a:ext cx="8715375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数据来源：公司全年经营数据与老板年会致辞；标注「测算」者按统一口径推算：上年营收 ≈3.33 亿元（4.2 ÷ 1.26）、上年研发投入 ≈3,000 万元（3.33 亿 × 9%）、本年度研发投入 5,880 万元（4.2 亿 × 14%）、增量 2,880 万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元、增幅 ≈+96%。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87648"/>
            <a:ext cx="8715375" cy="371475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456" y="1194792"/>
            <a:ext cx="35719" cy="357187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4313" y="1919883"/>
            <a:ext cx="8715375" cy="171450"/>
          </a:xfrm>
          <a:prstGeom prst="rect">
            <a:avLst/>
          </a:prstGeom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456" y="1927027"/>
            <a:ext cx="4350544" cy="157163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56" y="1927027"/>
            <a:ext cx="4350544" cy="1571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927027"/>
            <a:ext cx="4350544" cy="157163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9" name="Shape 6"/>
          <p:cNvSpPr/>
          <p:nvPr/>
        </p:nvSpPr>
        <p:spPr>
          <a:xfrm>
            <a:off x="215485" y="2373511"/>
            <a:ext cx="2750344" cy="14573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85" y="2373511"/>
            <a:ext cx="2750344" cy="14573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96772" y="2373511"/>
            <a:ext cx="2750344" cy="14573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772" y="2373511"/>
            <a:ext cx="2750344" cy="145732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78116" y="2373511"/>
            <a:ext cx="2750344" cy="14573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116" y="2373511"/>
            <a:ext cx="2750344" cy="145732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14313" y="3945136"/>
            <a:ext cx="8715375" cy="4000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21456" y="3952280"/>
            <a:ext cx="1571625" cy="385763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17" name="Text 11"/>
          <p:cNvSpPr/>
          <p:nvPr/>
        </p:nvSpPr>
        <p:spPr>
          <a:xfrm>
            <a:off x="214313" y="326827"/>
            <a:ext cx="8715375" cy="6643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现金只够发 2 个月工资的那 60 天，我们没有裁员、没有砍研发、没有一个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人退缩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369801" y="1269802"/>
            <a:ext cx="537210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「最难那个月账上现金只够发两个月工资，但团队没有一个人退缩。」</a:t>
            </a:r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——老板年会致辞原话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036538" y="1287661"/>
            <a:ext cx="177165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「三个没有」，每一个都有数字为证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14480" y="1671638"/>
            <a:ext cx="4429125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现金跑道最短时点：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 个月 ≈ 60 天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（老板致辞原话，不换算为具体金额）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307429" y="1694855"/>
            <a:ext cx="26217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全年唯一一次接近极限的时刻 · 对应「最难那个月」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807313" y="1919883"/>
            <a:ext cx="11715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1 个月工资 · 0–30 天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129282" y="1919883"/>
            <a:ext cx="123586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2 个月工资 · 31–60 天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213810" y="2119908"/>
            <a:ext cx="15716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 天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4145607" y="2119908"/>
            <a:ext cx="2071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30 天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8128695" y="2119908"/>
            <a:ext cx="8001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 天 · 跑道最短时点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336928" y="2465487"/>
            <a:ext cx="250745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没有裁员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35310" y="2700338"/>
            <a:ext cx="221456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2700" dirty="0"/>
          </a:p>
        </p:txBody>
      </p:sp>
      <p:sp>
        <p:nvSpPr>
          <p:cNvPr id="29" name="Text 23"/>
          <p:cNvSpPr/>
          <p:nvPr/>
        </p:nvSpPr>
        <p:spPr>
          <a:xfrm>
            <a:off x="613972" y="2928938"/>
            <a:ext cx="6786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 · 全年裁员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36928" y="3171825"/>
            <a:ext cx="250745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跑道只剩 2 个月时仍保留全部岗位：员工 320 →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410 人，净增 90 人、+28.1%（测算）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36928" y="3580805"/>
            <a:ext cx="265790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老板原话：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「咬牙没有裁员」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3318216" y="2465487"/>
            <a:ext cx="250745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没有砍研发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315258" y="2700338"/>
            <a:ext cx="700088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14%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4070765" y="2928938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研发投入占比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3318216" y="3171825"/>
            <a:ext cx="250745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占比 9% → 14%、+5pct（测算）；投入额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≈3,000 万 → 5,880 万元、+96%（测算）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3318216" y="3580805"/>
            <a:ext cx="265790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老板原话：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「反而加大了研发投入」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299560" y="2465487"/>
            <a:ext cx="250745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没有一个人退缩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299113" y="2700338"/>
            <a:ext cx="578644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</a:t>
            </a:r>
            <a:endParaRPr lang="en-US" sz="2700" dirty="0"/>
          </a:p>
        </p:txBody>
      </p:sp>
      <p:sp>
        <p:nvSpPr>
          <p:cNvPr id="39" name="Text 33"/>
          <p:cNvSpPr/>
          <p:nvPr/>
        </p:nvSpPr>
        <p:spPr>
          <a:xfrm>
            <a:off x="6936191" y="2928938"/>
            <a:ext cx="6786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 · 团队规模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299560" y="3171825"/>
            <a:ext cx="250745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320 → 410 人，队伍没有散；人均营收 ≈104 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→ ≈102 万元/人（测算，基本持平）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299560" y="3580805"/>
            <a:ext cx="265790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老板原话：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「团队没有一个人退缩」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307181" y="3987998"/>
            <a:ext cx="14859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熬过这 60 天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307181" y="4172843"/>
            <a:ext cx="1485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坚守不是代价，而是结果的前置条件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2278019" y="4020145"/>
            <a:ext cx="614363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 亿元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2951094" y="4079081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全年营收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4147226" y="4020145"/>
            <a:ext cx="450056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+26%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4655102" y="4079081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同比增长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849448" y="4020145"/>
            <a:ext cx="378619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18 项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284100" y="4079081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新增专利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7480622" y="4020145"/>
            <a:ext cx="328613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7867445" y="4079081"/>
            <a:ext cx="5715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客户续约率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数据来源：公司全年经营数据与老板年会致辞；现金跑道按老板致辞原话呈现为 2 个月 ≈ 60 天；标注「测算」者为派生指标。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993874"/>
            <a:ext cx="8715375" cy="32861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456" y="1001018"/>
            <a:ext cx="35719" cy="314325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4313" y="1435950"/>
            <a:ext cx="1543050" cy="7786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1435950"/>
            <a:ext cx="1543050" cy="7786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43112" y="1435950"/>
            <a:ext cx="1543050" cy="7786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3112" y="1435950"/>
            <a:ext cx="1543050" cy="77866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871913" y="1435950"/>
            <a:ext cx="1543050" cy="7786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1913" y="1435950"/>
            <a:ext cx="1543050" cy="77866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4313" y="2944955"/>
            <a:ext cx="1543050" cy="7786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4313" y="2944955"/>
            <a:ext cx="1543050" cy="77866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71913" y="2944955"/>
            <a:ext cx="1543050" cy="7786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1913" y="2944955"/>
            <a:ext cx="1543050" cy="778669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643563" y="1709700"/>
            <a:ext cx="3286125" cy="6143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43563" y="1709700"/>
            <a:ext cx="3286125" cy="614363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643563" y="2409174"/>
            <a:ext cx="3286125" cy="6143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43563" y="2409174"/>
            <a:ext cx="3286125" cy="614363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643563" y="3108647"/>
            <a:ext cx="3286125" cy="6143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43563" y="3108647"/>
            <a:ext cx="3286125" cy="614363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214313" y="3837087"/>
            <a:ext cx="8715375" cy="4000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221456" y="3844230"/>
            <a:ext cx="1428750" cy="385763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23" name="Text 13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正是那段日子让我们脱胎换骨：五项指标共同验证了这条路</a:t>
            </a:r>
            <a:endParaRPr lang="en-US" sz="2000" dirty="0"/>
          </a:p>
        </p:txBody>
      </p:sp>
      <p:sp>
        <p:nvSpPr>
          <p:cNvPr id="24" name="Text 14"/>
          <p:cNvSpPr/>
          <p:nvPr/>
        </p:nvSpPr>
        <p:spPr>
          <a:xfrm>
            <a:off x="371587" y="1054596"/>
            <a:ext cx="40790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「如今回头看，正是那段日子让我们脱胎换骨」</a:t>
            </a:r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——老板年会致辞原话</a:t>
            </a:r>
            <a:endParaRPr lang="en-US" sz="1000" dirty="0"/>
          </a:p>
        </p:txBody>
      </p:sp>
      <p:sp>
        <p:nvSpPr>
          <p:cNvPr id="25" name="Text 15"/>
          <p:cNvSpPr/>
          <p:nvPr/>
        </p:nvSpPr>
        <p:spPr>
          <a:xfrm>
            <a:off x="5923285" y="1072455"/>
            <a:ext cx="28860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闭环：投入 → 技术资产 → 团队 → 客户 → 营收 → 再投入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307181" y="1516763"/>
            <a:ext cx="135731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307181" y="1688157"/>
            <a:ext cx="1357313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9% → 14%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307181" y="1900238"/>
            <a:ext cx="1357313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投入额 ≈3,000 万元 → 5,880 万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元，+96%（测算）</a:t>
            </a:r>
            <a:endParaRPr lang="en-US" sz="700" dirty="0"/>
          </a:p>
        </p:txBody>
      </p:sp>
      <p:sp>
        <p:nvSpPr>
          <p:cNvPr id="29" name="Text 19"/>
          <p:cNvSpPr/>
          <p:nvPr/>
        </p:nvSpPr>
        <p:spPr>
          <a:xfrm>
            <a:off x="1818084" y="1743075"/>
            <a:ext cx="16430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2135981" y="1516763"/>
            <a:ext cx="135731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新增专利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2135981" y="1688157"/>
            <a:ext cx="1357313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18 项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2135981" y="1900238"/>
            <a:ext cx="1357313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平均每 327 万元研发投入产出 1 项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（测算）</a:t>
            </a:r>
            <a:endParaRPr lang="en-US" sz="700" dirty="0"/>
          </a:p>
        </p:txBody>
      </p:sp>
      <p:sp>
        <p:nvSpPr>
          <p:cNvPr id="33" name="Text 23"/>
          <p:cNvSpPr/>
          <p:nvPr/>
        </p:nvSpPr>
        <p:spPr>
          <a:xfrm>
            <a:off x="3646884" y="1743075"/>
            <a:ext cx="16430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3964781" y="1516763"/>
            <a:ext cx="135731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团队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3964781" y="1688157"/>
            <a:ext cx="1357313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 人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3964781" y="1900238"/>
            <a:ext cx="1357313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裁员 0 人、净增 90 人、+28.1%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（测算）</a:t>
            </a:r>
            <a:endParaRPr lang="en-US" sz="700" dirty="0"/>
          </a:p>
        </p:txBody>
      </p:sp>
      <p:sp>
        <p:nvSpPr>
          <p:cNvPr id="37" name="Text 27"/>
          <p:cNvSpPr/>
          <p:nvPr/>
        </p:nvSpPr>
        <p:spPr>
          <a:xfrm>
            <a:off x="903684" y="2497634"/>
            <a:ext cx="16430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↑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2486025" y="2243361"/>
            <a:ext cx="657225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脱胎换骨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2300232" y="2479607"/>
            <a:ext cx="1028700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五项指标，互为因果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1814512" y="2665958"/>
            <a:ext cx="2000250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每新增 3 元营收，就有 1 元投回研发（≈33%，测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算）</a:t>
            </a: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4561284" y="2497634"/>
            <a:ext cx="16430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↓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307181" y="3025769"/>
            <a:ext cx="135731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营收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307181" y="3197163"/>
            <a:ext cx="1357313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 亿元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307181" y="3409243"/>
            <a:ext cx="1357313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 +26%；上年 ≈3.33 亿元（测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算）</a:t>
            </a:r>
            <a:endParaRPr lang="en-US" sz="700" dirty="0"/>
          </a:p>
        </p:txBody>
      </p:sp>
      <p:sp>
        <p:nvSpPr>
          <p:cNvPr id="45" name="Text 35"/>
          <p:cNvSpPr/>
          <p:nvPr/>
        </p:nvSpPr>
        <p:spPr>
          <a:xfrm>
            <a:off x="2732484" y="3252081"/>
            <a:ext cx="16430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←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3964781" y="3025769"/>
            <a:ext cx="1357313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客户续约率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3964781" y="3197163"/>
            <a:ext cx="1357313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3964781" y="3409243"/>
            <a:ext cx="1357313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流失率 9%（测算），客户以续约投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票确认</a:t>
            </a:r>
            <a:endParaRPr lang="en-US" sz="700" dirty="0"/>
          </a:p>
        </p:txBody>
      </p:sp>
      <p:sp>
        <p:nvSpPr>
          <p:cNvPr id="49" name="Text 39"/>
          <p:cNvSpPr/>
          <p:nvPr/>
        </p:nvSpPr>
        <p:spPr>
          <a:xfrm>
            <a:off x="5643563" y="1437680"/>
            <a:ext cx="1650206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下一程：三个方向性抓手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7900932" y="1493937"/>
            <a:ext cx="10287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只给方向，不立数字军令状</a:t>
            </a:r>
            <a:endParaRPr lang="en-US" sz="700" dirty="0"/>
          </a:p>
        </p:txBody>
      </p:sp>
      <p:sp>
        <p:nvSpPr>
          <p:cNvPr id="51" name="Text 41"/>
          <p:cNvSpPr/>
          <p:nvPr/>
        </p:nvSpPr>
        <p:spPr>
          <a:xfrm>
            <a:off x="5750775" y="1861840"/>
            <a:ext cx="3429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抓手一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6152276" y="1846269"/>
            <a:ext cx="222885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把 18 项专利转化为可交付的产品能力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5750719" y="2063260"/>
            <a:ext cx="30861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18 项为本年度既成事实，不承诺具体产品数量与收入目标</a:t>
            </a:r>
            <a:endParaRPr lang="en-US" sz="700" dirty="0"/>
          </a:p>
        </p:txBody>
      </p:sp>
      <p:sp>
        <p:nvSpPr>
          <p:cNvPr id="54" name="Text 44"/>
          <p:cNvSpPr/>
          <p:nvPr/>
        </p:nvSpPr>
        <p:spPr>
          <a:xfrm>
            <a:off x="5750775" y="2561369"/>
            <a:ext cx="3429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抓手二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6152331" y="2545798"/>
            <a:ext cx="194310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守住 91% 客户续约率这一基本盘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5750719" y="2762790"/>
            <a:ext cx="30861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 为本年度既成事实，不承诺更高百分比</a:t>
            </a:r>
            <a:endParaRPr lang="en-US" sz="700" dirty="0"/>
          </a:p>
        </p:txBody>
      </p:sp>
      <p:sp>
        <p:nvSpPr>
          <p:cNvPr id="57" name="Text 47"/>
          <p:cNvSpPr/>
          <p:nvPr/>
        </p:nvSpPr>
        <p:spPr>
          <a:xfrm>
            <a:off x="5750775" y="3260787"/>
            <a:ext cx="3429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抓手三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6150936" y="3245216"/>
            <a:ext cx="2035969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让研发投入增速继续跑赢营收增速</a:t>
            </a:r>
            <a:endParaRPr lang="en-US" sz="1000" dirty="0"/>
          </a:p>
        </p:txBody>
      </p:sp>
      <p:sp>
        <p:nvSpPr>
          <p:cNvPr id="59" name="Text 49"/>
          <p:cNvSpPr/>
          <p:nvPr/>
        </p:nvSpPr>
        <p:spPr>
          <a:xfrm>
            <a:off x="5750719" y="3462207"/>
            <a:ext cx="30861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参照本年度研发增速约为营收增速 3.7 倍（测算），不给倍数目标</a:t>
            </a:r>
            <a:endParaRPr lang="en-US" sz="700" dirty="0"/>
          </a:p>
        </p:txBody>
      </p:sp>
      <p:sp>
        <p:nvSpPr>
          <p:cNvPr id="60" name="Text 50"/>
          <p:cNvSpPr/>
          <p:nvPr/>
        </p:nvSpPr>
        <p:spPr>
          <a:xfrm>
            <a:off x="307181" y="3879949"/>
            <a:ext cx="134302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下一程</a:t>
            </a:r>
            <a:endParaRPr lang="en-US" sz="1000" dirty="0"/>
          </a:p>
        </p:txBody>
      </p:sp>
      <p:sp>
        <p:nvSpPr>
          <p:cNvPr id="61" name="Text 51"/>
          <p:cNvSpPr/>
          <p:nvPr/>
        </p:nvSpPr>
        <p:spPr>
          <a:xfrm>
            <a:off x="307181" y="4064794"/>
            <a:ext cx="13430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沿这条路继续走</a:t>
            </a:r>
            <a:endParaRPr lang="en-US" sz="700" dirty="0"/>
          </a:p>
        </p:txBody>
      </p:sp>
      <p:sp>
        <p:nvSpPr>
          <p:cNvPr id="62" name="Text 52"/>
          <p:cNvSpPr/>
          <p:nvPr/>
        </p:nvSpPr>
        <p:spPr>
          <a:xfrm>
            <a:off x="1764562" y="3933527"/>
            <a:ext cx="2850356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「如今回头看，正是那段日子让我们脱胎换骨」</a:t>
            </a:r>
            <a:endParaRPr lang="en-US" sz="1000" dirty="0"/>
          </a:p>
        </p:txBody>
      </p:sp>
      <p:sp>
        <p:nvSpPr>
          <p:cNvPr id="63" name="Text 53"/>
          <p:cNvSpPr/>
          <p:nvPr/>
        </p:nvSpPr>
        <p:spPr>
          <a:xfrm>
            <a:off x="6064988" y="3951387"/>
            <a:ext cx="2743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任一项单独看都不足以说明脱胎换骨，五项互证才成立</a:t>
            </a:r>
            <a:endParaRPr lang="en-US" sz="900" dirty="0"/>
          </a:p>
        </p:txBody>
      </p:sp>
      <p:sp>
        <p:nvSpPr>
          <p:cNvPr id="64" name="Text 54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数据来源：公司全年经营数据与老板年会致辞；标注「测算」者为派生指标；本页只给方向，不含下一年度目标数字。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271462"/>
            <a:ext cx="42863" cy="1714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32185"/>
            <a:ext cx="71438" cy="6286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4312" y="2312343"/>
            <a:ext cx="285750" cy="1428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3" y="3886200"/>
            <a:ext cx="8715375" cy="857250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3886200"/>
            <a:ext cx="8715375" cy="857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56" y="253603"/>
            <a:ext cx="81438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年会开场汇报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88387" y="282178"/>
            <a:ext cx="40005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走过寒冬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444750" y="282178"/>
            <a:ext cx="285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B5B5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|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529638" y="282178"/>
            <a:ext cx="40005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脱胎换骨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1067935"/>
            <a:ext cx="7429500" cy="9572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谢谢，没有退缩的你们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85843" y="2169468"/>
            <a:ext cx="3000375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一起走过寒冬，一起走向下一程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313" y="2669530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4.2亿元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4313" y="2983855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全年营收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14313" y="3191024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同比增长 26%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36019" y="2669530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14%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436019" y="2983855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研发投入占比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436019" y="3191024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由 9% 提升，+5 个百分点（测算）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57725" y="2669530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410人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57725" y="2983855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团队规模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657725" y="3191024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净增 90 人，裁员 0 人（测算）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879431" y="2669530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91%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79431" y="2983855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客户续约率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879431" y="3191024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客户流失率 9%（测算）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15485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REPORTER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15485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全体同仁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15485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谢谢每一个没有退缩的人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96772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196772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年度经营回顾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196772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营收 · 研发 · 团队 · 客户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78116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DATE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78116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年会当日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78116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年会开场汇报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214368" y="4772025"/>
            <a:ext cx="17145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数据来源：公司全年经营数据与老板年会致辞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564171" y="4772025"/>
            <a:ext cx="136445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派生指标均标注"测算"，无外部来源</a:t>
            </a:r>
            <a:endParaRPr lang="en-US" sz="700" dirty="0"/>
          </a:p>
        </p:txBody>
      </p:sp>
      <p:sp>
        <p:nvSpPr>
          <p:cNvPr id="65535" name="wm:hwcld:2026-09-22T19:16:24:5f25d66a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2026-09-22T19:16:38Z</dcterms:created>
  <dcterms:modified xsi:type="dcterms:W3CDTF">2026-09-22T19:16:38Z</dcterms:modified>
</cp:coreProperties>
</file>