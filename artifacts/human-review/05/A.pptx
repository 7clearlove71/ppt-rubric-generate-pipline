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4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  <Relationship Id="rId14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份汇报来自明清老宅村的四日田野初察。我想先给一个总体印象：老宅还立在村子里，但日常生活、文化记忆和社会关系正在退场。这里的判断只是初步观察，所有存疑材料都会单独标出来。四天的路径大致围绕空间、记忆和治理三条线索展开，我们会从田野观察慢慢走向研究问题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四天的记录不是流水账。第一天进村，看到约四十栋明清老宅，但住人不到一半；第二天访谈老人，发现祠堂祭祖从以前每年一次变成现在三年一次，族谱说法也存在疑问；第三天看民居，注意到多数是天井院落式，另有一些木雕风格明显不同；第四天看到旅游开发和保护投入的矛盾。把四天放在一起，初步感受是空心化、文化记忆断层、保护与开发错位。它们是后续方向，不是结论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层是空心化。村里现存明清老宅约四十栋，这是一个很可观的建筑存量，但仍在居住的不到一半。年轻人外出打工，留守者多为老人，老宅虽然还在，日常生活却明显收缩。这里的“约”和“不到一半”来自田野口述观察，后面还需要核对户数和居住情况。所以我把这一层概括为：建筑存量仍在，生活连续性与代际在场减弱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二层是文化记忆断层。祠堂祭祖过去每年清明举行一次，现在三年一次，仪式没有完全消失，但节奏明显拉长。老人们说，族谱在文革中烧了一部分，现在的版本是后来凭记忆补写的。这条材料非常关键，但必须待考，要多问几位老人，核对不同口述之间的差别。记忆断层可以理解为仪式频率下降、谱系文本重写和口述可信度待验三件事的叠加。现在先不下结论，只把谁记得、谁转写、谁核验列入后续访谈问题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三层是建筑线索。多数民居是天井院落式，这是村落的共性形制；但有几栋木雕风格明显不同。村民说那可能是“外姓人”建的，来历说不清。这个差异可能指向工匠来源、家族关系或外来定居历史，但还没有足够证据。我们暂不认定“外姓人建造”，而要比对建筑细部、老人口述和地方文献，把它作为一个待考问题保留下来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四天的观察引出保护与开发的错位。村里在搞旅游开发，也新修了仿古街；但老宅本体保护反而没有钱投入。也就是说，旅游场景先起来了，真实的老宅本体却滞后。这在乡土遗产旅游里是一个很典型的矛盾：形象被更新，真实遗产的保护没有跟上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把田野片段收敛成三个方向。第一是空心化，包括老宅存量、居住不足一半和代际外出；第二是记忆断层，包括祭祀频率下降、族谱重写和口述需核验；第三是开发错位，包括仿古街投入、本体缺资金和治理问题。当前待考的重点有两项：族谱焚毁与重写细节，以及“外姓人建造”的来源。下一步应多访谈几位老人，交叉比对不同说法，再谈结论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fieldnotes_villag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fieldnotes_villag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frame"/>
          <p:cNvSpPr/>
          <p:nvPr/>
        </p:nvSpPr>
        <p:spPr>
          <a:xfrm>
            <a:off x="438150" y="438150"/>
            <a:ext cx="11315700" cy="5981700"/>
          </a:xfrm>
          <a:prstGeom prst="rect">
            <a:avLst/>
          </a:prstGeom>
          <a:noFill/>
          <a:ln w="14288">
            <a:solidFill>
              <a:schemeClr val="accent2"/>
            </a:solidFill>
          </a:ln>
        </p:spPr>
      </p:sp>
      <p:sp>
        <p:nvSpPr>
          <p:cNvPr id="3" name="cover-frame-inner"/>
          <p:cNvSpPr/>
          <p:nvPr/>
        </p:nvSpPr>
        <p:spPr>
          <a:xfrm>
            <a:off x="552450" y="552450"/>
            <a:ext cx="11087100" cy="5753100"/>
          </a:xfrm>
          <a:prstGeom prst="rect">
            <a:avLst/>
          </a:prstGeom>
          <a:noFill/>
          <a:ln w="9525">
            <a:solidFill>
              <a:schemeClr val="accent2">
                <a:alpha val="42000"/>
              </a:schemeClr>
            </a:solidFill>
          </a:ln>
        </p:spPr>
      </p:sp>
      <p:grpSp>
        <p:nvGrpSpPr>
          <p:cNvPr id="6" name="cover-kicker"/>
          <p:cNvGrpSpPr/>
          <p:nvPr/>
        </p:nvGrpSpPr>
        <p:grpSpPr>
          <a:xfrm>
            <a:off x="830580" y="1206818"/>
            <a:ext cx="3212744" cy="581977"/>
            <a:chOff x="830580" y="1206818"/>
            <a:chExt cx="3212744" cy="581977"/>
          </a:xfrm>
        </p:grpSpPr>
        <p:sp>
          <p:nvSpPr>
            <p:cNvPr id="4" name="TextBox 4"/>
            <p:cNvSpPr txBox="1"/>
            <p:nvPr/>
          </p:nvSpPr>
          <p:spPr>
            <a:xfrm>
              <a:off x="831342" y="1206818"/>
              <a:ext cx="3211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spc="6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FIELD NOTES · 2026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830580" y="1495425"/>
              <a:ext cx="24686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3EBDC"/>
                  </a:solidFill>
                  <a:latin typeface="+mn-lt"/>
                  <a:ea typeface="+mn-ea"/>
                  <a:cs typeface="+mn-cs"/>
                </a:rPr>
                <a:t>明清老宅村 · 四日田野初察</a:t>
              </a:r>
            </a:p>
          </p:txBody>
        </p:sp>
      </p:grpSp>
      <p:grpSp>
        <p:nvGrpSpPr>
          <p:cNvPr id="9" name="cover-title"/>
          <p:cNvGrpSpPr/>
          <p:nvPr/>
        </p:nvGrpSpPr>
        <p:grpSpPr>
          <a:xfrm>
            <a:off x="800100" y="2293620"/>
            <a:ext cx="4646676" cy="1924050"/>
            <a:chOff x="800100" y="2293620"/>
            <a:chExt cx="4646676" cy="1924050"/>
          </a:xfrm>
        </p:grpSpPr>
        <p:sp>
          <p:nvSpPr>
            <p:cNvPr id="7" name="TextBox 7"/>
            <p:cNvSpPr txBox="1"/>
            <p:nvPr/>
          </p:nvSpPr>
          <p:spPr>
            <a:xfrm>
              <a:off x="800100" y="2293620"/>
              <a:ext cx="3878580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rgbClr val="F3EBDC"/>
                  </a:solidFill>
                  <a:latin typeface="+mj-lt"/>
                  <a:ea typeface="+mj-ea"/>
                  <a:cs typeface="+mj-cs"/>
                </a:rPr>
                <a:t>老宅还在，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00100" y="3169920"/>
              <a:ext cx="4646676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rgbClr val="F3EBDC"/>
                  </a:solidFill>
                  <a:latin typeface="+mj-lt"/>
                  <a:ea typeface="+mj-ea"/>
                  <a:cs typeface="+mj-cs"/>
                </a:rPr>
                <a:t>村子正在走远</a:t>
              </a:r>
            </a:p>
          </p:txBody>
        </p:sp>
      </p:grpSp>
      <p:grpSp>
        <p:nvGrpSpPr>
          <p:cNvPr id="13" name="cover-claim"/>
          <p:cNvGrpSpPr/>
          <p:nvPr/>
        </p:nvGrpSpPr>
        <p:grpSpPr>
          <a:xfrm>
            <a:off x="829056" y="4152900"/>
            <a:ext cx="4866894" cy="956501"/>
            <a:chOff x="829056" y="4152900"/>
            <a:chExt cx="4866894" cy="956501"/>
          </a:xfrm>
        </p:grpSpPr>
        <p:sp>
          <p:nvSpPr>
            <p:cNvPr id="10" name="Rectangle 10"/>
            <p:cNvSpPr/>
            <p:nvPr/>
          </p:nvSpPr>
          <p:spPr>
            <a:xfrm>
              <a:off x="838200" y="4152900"/>
              <a:ext cx="4857750" cy="285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29056" y="4434840"/>
              <a:ext cx="46222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D9CDBA"/>
                  </a:solidFill>
                  <a:latin typeface="+mn-lt"/>
                  <a:ea typeface="+mn-ea"/>
                  <a:cs typeface="+mn-cs"/>
                </a:rPr>
                <a:t>遗产本体仍在，村落社会与记忆正在弱化。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1342" y="4845368"/>
              <a:ext cx="26125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D8271"/>
                  </a:solidFill>
                  <a:latin typeface="+mn-lt"/>
                  <a:ea typeface="+mn-ea"/>
                  <a:cs typeface="+mn-cs"/>
                </a:rPr>
                <a:t>沙龙汇报 · 初步观察 · 存疑待证</a:t>
              </a:r>
            </a:p>
          </p:txBody>
        </p:sp>
      </p:grpSp>
      <p:grpSp>
        <p:nvGrpSpPr>
          <p:cNvPr id="17" name="cover-route"/>
          <p:cNvGrpSpPr/>
          <p:nvPr/>
        </p:nvGrpSpPr>
        <p:grpSpPr>
          <a:xfrm>
            <a:off x="7648956" y="4940618"/>
            <a:ext cx="2029511" cy="968883"/>
            <a:chOff x="7648956" y="4940618"/>
            <a:chExt cx="2029511" cy="968883"/>
          </a:xfrm>
        </p:grpSpPr>
        <p:sp>
          <p:nvSpPr>
            <p:cNvPr id="14" name="TextBox 14"/>
            <p:cNvSpPr txBox="1"/>
            <p:nvPr/>
          </p:nvSpPr>
          <p:spPr>
            <a:xfrm>
              <a:off x="7651242" y="4940618"/>
              <a:ext cx="1194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DAY 1 — DAY 4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48956" y="5273040"/>
              <a:ext cx="20295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3EBDC"/>
                  </a:solidFill>
                  <a:latin typeface="+mn-lt"/>
                  <a:ea typeface="+mn-ea"/>
                  <a:cs typeface="+mn-cs"/>
                </a:rPr>
                <a:t>空间 · 记忆 · 治理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51242" y="56454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D8271"/>
                  </a:solidFill>
                  <a:latin typeface="+mn-lt"/>
                  <a:ea typeface="+mn-ea"/>
                  <a:cs typeface="+mn-cs"/>
                </a:rPr>
                <a:t>田野观察走向研究问题</a:t>
              </a:r>
            </a:p>
          </p:txBody>
        </p:sp>
      </p:grpSp>
      <p:grpSp>
        <p:nvGrpSpPr>
          <p:cNvPr id="23" name="cover-motif"/>
          <p:cNvGrpSpPr/>
          <p:nvPr/>
        </p:nvGrpSpPr>
        <p:grpSpPr>
          <a:xfrm>
            <a:off x="7391400" y="1123950"/>
            <a:ext cx="3771900" cy="3143250"/>
            <a:chOff x="7391400" y="1123950"/>
            <a:chExt cx="3771900" cy="3143250"/>
          </a:xfrm>
        </p:grpSpPr>
        <p:sp>
          <p:nvSpPr>
            <p:cNvPr id="18" name="Rectangle 18"/>
            <p:cNvSpPr/>
            <p:nvPr/>
          </p:nvSpPr>
          <p:spPr>
            <a:xfrm>
              <a:off x="7391400" y="1123950"/>
              <a:ext cx="3771900" cy="3143250"/>
            </a:xfrm>
            <a:prstGeom prst="rect">
              <a:avLst/>
            </a:prstGeom>
            <a:noFill/>
            <a:ln w="9525">
              <a:solidFill>
                <a:srgbClr val="C7B898">
                  <a:alpha val="55000"/>
                </a:srgbClr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8077200" y="1714500"/>
              <a:ext cx="2400300" cy="1962150"/>
            </a:xfrm>
            <a:prstGeom prst="rect">
              <a:avLst/>
            </a:prstGeom>
            <a:noFill/>
            <a:ln w="14288">
              <a:solidFill>
                <a:schemeClr val="accent2">
                  <a:alpha val="72000"/>
                </a:schemeClr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8572500" y="2114550"/>
              <a:ext cx="1409700" cy="1162050"/>
            </a:xfrm>
            <a:prstGeom prst="rect">
              <a:avLst/>
            </a:prstGeom>
            <a:noFill/>
            <a:ln w="9525">
              <a:solidFill>
                <a:srgbClr val="F3EBDC">
                  <a:alpha val="45000"/>
                </a:srgbClr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9277350" y="2114550"/>
              <a:ext cx="9525" cy="1162050"/>
            </a:xfrm>
            <a:custGeom>
              <a:avLst/>
              <a:gdLst/>
              <a:ahLst/>
              <a:cxnLst/>
              <a:rect l="l" t="t" r="r" b="b"/>
              <a:pathLst>
                <a:path w="9525" h="1162050">
                  <a:moveTo>
                    <a:pt x="0" y="0"/>
                  </a:moveTo>
                  <a:lnTo>
                    <a:pt x="0" y="1162050"/>
                  </a:lnTo>
                </a:path>
              </a:pathLst>
            </a:custGeom>
            <a:noFill/>
            <a:ln w="9525">
              <a:solidFill>
                <a:schemeClr val="accent2">
                  <a:alpha val="48000"/>
                </a:schemeClr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8572500" y="2695575"/>
              <a:ext cx="1409700" cy="9525"/>
            </a:xfrm>
            <a:custGeom>
              <a:avLst/>
              <a:gdLst/>
              <a:ahLst/>
              <a:cxnLst/>
              <a:rect l="l" t="t" r="r" b="b"/>
              <a:pathLst>
                <a:path w="1409700" h="9525">
                  <a:moveTo>
                    <a:pt x="0" y="0"/>
                  </a:moveTo>
                  <a:lnTo>
                    <a:pt x="1409700" y="0"/>
                  </a:lnTo>
                </a:path>
              </a:pathLst>
            </a:custGeom>
            <a:noFill/>
            <a:ln w="9525">
              <a:solidFill>
                <a:schemeClr val="accent2">
                  <a:alpha val="48000"/>
                </a:schemeClr>
              </a:solidFill>
            </a:ln>
          </p:spPr>
        </p:sp>
      </p:grpSp>
      <p:sp>
        <p:nvSpPr>
          <p:cNvPr id="24" name="TextBox 24"/>
          <p:cNvSpPr txBox="1"/>
          <p:nvPr/>
        </p:nvSpPr>
        <p:spPr>
          <a:xfrm>
            <a:off x="832866" y="6001702"/>
            <a:ext cx="157966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田野初察 · 第 01 / 07 页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th-title"/>
          <p:cNvGrpSpPr/>
          <p:nvPr/>
        </p:nvGrpSpPr>
        <p:grpSpPr>
          <a:xfrm>
            <a:off x="593598" y="479108"/>
            <a:ext cx="4668012" cy="833437"/>
            <a:chOff x="593598" y="479108"/>
            <a:chExt cx="4668012" cy="83343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479108"/>
              <a:ext cx="406450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3EBDC"/>
                  </a:solidFill>
                  <a:latin typeface="+mj-lt"/>
                  <a:ea typeface="+mj-ea"/>
                  <a:cs typeface="+mj-cs"/>
                </a:rPr>
                <a:t>四天，看见三层断裂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980" y="101917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D8271"/>
                  </a:solidFill>
                  <a:latin typeface="+mn-lt"/>
                  <a:ea typeface="+mn-ea"/>
                  <a:cs typeface="+mn-cs"/>
                </a:rPr>
                <a:t>田野路径不是流水账，而是从现象走向问题的递进。</a:t>
              </a:r>
            </a:p>
          </p:txBody>
        </p:sp>
      </p:grpSp>
      <p:grpSp>
        <p:nvGrpSpPr>
          <p:cNvPr id="11" name="timeline-axis"/>
          <p:cNvGrpSpPr/>
          <p:nvPr/>
        </p:nvGrpSpPr>
        <p:grpSpPr>
          <a:xfrm>
            <a:off x="542925" y="1628775"/>
            <a:ext cx="11106150" cy="133350"/>
            <a:chOff x="542925" y="1628775"/>
            <a:chExt cx="11106150" cy="133350"/>
          </a:xfrm>
        </p:grpSpPr>
        <p:sp>
          <p:nvSpPr>
            <p:cNvPr id="5" name="Line 5"/>
            <p:cNvSpPr/>
            <p:nvPr/>
          </p:nvSpPr>
          <p:spPr>
            <a:xfrm>
              <a:off x="609600" y="16954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542925" y="162877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3248025" y="162877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953125" y="162877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8658225" y="162877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1515725" y="1628775"/>
              <a:ext cx="133350" cy="1333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18" name="day1-card"/>
          <p:cNvGrpSpPr/>
          <p:nvPr/>
        </p:nvGrpSpPr>
        <p:grpSpPr>
          <a:xfrm>
            <a:off x="609600" y="1981200"/>
            <a:ext cx="2438400" cy="2076450"/>
            <a:chOff x="609600" y="1981200"/>
            <a:chExt cx="2438400" cy="2076450"/>
          </a:xfrm>
        </p:grpSpPr>
        <p:sp>
          <p:nvSpPr>
            <p:cNvPr id="12" name="Rectangle 12"/>
            <p:cNvSpPr/>
            <p:nvPr/>
          </p:nvSpPr>
          <p:spPr>
            <a:xfrm>
              <a:off x="609600" y="1981200"/>
              <a:ext cx="2438400" cy="2076450"/>
            </a:xfrm>
            <a:prstGeom prst="roundRect">
              <a:avLst>
                <a:gd name="adj" fmla="val 458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26770" y="2119312"/>
              <a:ext cx="104298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DAY 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9056" y="256794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进村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9056" y="2929890"/>
              <a:ext cx="12541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约40栋老宅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9056" y="32918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住人不到一半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31342" y="37023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空间与人口</a:t>
              </a:r>
            </a:p>
          </p:txBody>
        </p:sp>
      </p:grpSp>
      <p:grpSp>
        <p:nvGrpSpPr>
          <p:cNvPr id="25" name="day2-card"/>
          <p:cNvGrpSpPr/>
          <p:nvPr/>
        </p:nvGrpSpPr>
        <p:grpSpPr>
          <a:xfrm>
            <a:off x="3314700" y="1981200"/>
            <a:ext cx="2438400" cy="2076450"/>
            <a:chOff x="3314700" y="1981200"/>
            <a:chExt cx="2438400" cy="2076450"/>
          </a:xfrm>
        </p:grpSpPr>
        <p:sp>
          <p:nvSpPr>
            <p:cNvPr id="19" name="Rectangle 19"/>
            <p:cNvSpPr/>
            <p:nvPr/>
          </p:nvSpPr>
          <p:spPr>
            <a:xfrm>
              <a:off x="3314700" y="1981200"/>
              <a:ext cx="2438400" cy="2076450"/>
            </a:xfrm>
            <a:prstGeom prst="roundRect">
              <a:avLst>
                <a:gd name="adj" fmla="val 458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531870" y="2119312"/>
              <a:ext cx="104298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DAY 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534156" y="25679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访谈老人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534156" y="292989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祭祖三年一次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534156" y="32918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族谱存疑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536442" y="37023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仪式与谱系</a:t>
              </a:r>
            </a:p>
          </p:txBody>
        </p:sp>
      </p:grpSp>
      <p:grpSp>
        <p:nvGrpSpPr>
          <p:cNvPr id="32" name="day3-card"/>
          <p:cNvGrpSpPr/>
          <p:nvPr/>
        </p:nvGrpSpPr>
        <p:grpSpPr>
          <a:xfrm>
            <a:off x="6019800" y="1981200"/>
            <a:ext cx="2438400" cy="2076450"/>
            <a:chOff x="6019800" y="1981200"/>
            <a:chExt cx="2438400" cy="2076450"/>
          </a:xfrm>
        </p:grpSpPr>
        <p:sp>
          <p:nvSpPr>
            <p:cNvPr id="26" name="Rectangle 26"/>
            <p:cNvSpPr/>
            <p:nvPr/>
          </p:nvSpPr>
          <p:spPr>
            <a:xfrm>
              <a:off x="6019800" y="1981200"/>
              <a:ext cx="2438400" cy="2076450"/>
            </a:xfrm>
            <a:prstGeom prst="roundRect">
              <a:avLst>
                <a:gd name="adj" fmla="val 458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236970" y="2119312"/>
              <a:ext cx="104298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DAY 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39256" y="2567940"/>
              <a:ext cx="7452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看民居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39256" y="292989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天井院落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239256" y="32918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木雕差异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41542" y="37023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建筑与人群</a:t>
              </a:r>
            </a:p>
          </p:txBody>
        </p:sp>
      </p:grpSp>
      <p:grpSp>
        <p:nvGrpSpPr>
          <p:cNvPr id="39" name="day4-card"/>
          <p:cNvGrpSpPr/>
          <p:nvPr/>
        </p:nvGrpSpPr>
        <p:grpSpPr>
          <a:xfrm>
            <a:off x="8724900" y="1981200"/>
            <a:ext cx="2857500" cy="2076450"/>
            <a:chOff x="8724900" y="1981200"/>
            <a:chExt cx="2857500" cy="2076450"/>
          </a:xfrm>
        </p:grpSpPr>
        <p:sp>
          <p:nvSpPr>
            <p:cNvPr id="33" name="Rectangle 33"/>
            <p:cNvSpPr/>
            <p:nvPr/>
          </p:nvSpPr>
          <p:spPr>
            <a:xfrm>
              <a:off x="8724900" y="1981200"/>
              <a:ext cx="2857500" cy="2076450"/>
            </a:xfrm>
            <a:prstGeom prst="roundRect">
              <a:avLst>
                <a:gd name="adj" fmla="val 458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942070" y="2119312"/>
              <a:ext cx="104298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DAY 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944356" y="25679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旅游开发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944356" y="292989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新修仿古街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944356" y="32918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本体缺投入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946642" y="37023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保护与开发</a:t>
              </a:r>
            </a:p>
          </p:txBody>
        </p:sp>
      </p:grpSp>
      <p:grpSp>
        <p:nvGrpSpPr>
          <p:cNvPr id="45" name="path-synthesis"/>
          <p:cNvGrpSpPr/>
          <p:nvPr/>
        </p:nvGrpSpPr>
        <p:grpSpPr>
          <a:xfrm>
            <a:off x="597408" y="4521518"/>
            <a:ext cx="10984992" cy="1807083"/>
            <a:chOff x="597408" y="4521518"/>
            <a:chExt cx="10984992" cy="1807083"/>
          </a:xfrm>
        </p:grpSpPr>
        <p:sp>
          <p:nvSpPr>
            <p:cNvPr id="40" name="TextBox 40"/>
            <p:cNvSpPr txBox="1"/>
            <p:nvPr/>
          </p:nvSpPr>
          <p:spPr>
            <a:xfrm>
              <a:off x="602742" y="4521518"/>
              <a:ext cx="22539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spc="4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INITIAL READING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97408" y="4903470"/>
              <a:ext cx="309676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3EBDC"/>
                  </a:solidFill>
                  <a:latin typeface="+mj-lt"/>
                  <a:ea typeface="+mj-ea"/>
                  <a:cs typeface="+mj-cs"/>
                </a:rPr>
                <a:t>初步感受：三个方向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609600" y="53911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C7B898">
                  <a:alpha val="45000"/>
                </a:srgbClr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00456" y="5692140"/>
              <a:ext cx="44526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D9CDBA"/>
                  </a:solidFill>
                  <a:latin typeface="+mn-lt"/>
                  <a:ea typeface="+mn-ea"/>
                  <a:cs typeface="+mn-cs"/>
                </a:rPr>
                <a:t>空心化 · 文化记忆断层 · 保护与开发错位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02742" y="6064568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D8271"/>
                  </a:solidFill>
                  <a:latin typeface="+mn-lt"/>
                  <a:ea typeface="+mn-ea"/>
                  <a:cs typeface="+mn-cs"/>
                </a:rPr>
                <a:t>后续方向，不作结论；待证材料单独标注。</a:t>
              </a: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604266" y="6439852"/>
            <a:ext cx="157966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田野初察 · 第 02 / 07 页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hollow-title"/>
          <p:cNvGrpSpPr/>
          <p:nvPr/>
        </p:nvGrpSpPr>
        <p:grpSpPr>
          <a:xfrm>
            <a:off x="593598" y="479108"/>
            <a:ext cx="5071872" cy="833437"/>
            <a:chOff x="593598" y="479108"/>
            <a:chExt cx="5071872" cy="83343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479108"/>
              <a:ext cx="496062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3EBDC"/>
                  </a:solidFill>
                  <a:latin typeface="+mj-lt"/>
                  <a:ea typeface="+mj-ea"/>
                  <a:cs typeface="+mj-cs"/>
                </a:rPr>
                <a:t>老宅未消失，日常先退场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980" y="1019175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D8271"/>
                  </a:solidFill>
                  <a:latin typeface="+mn-lt"/>
                  <a:ea typeface="+mn-ea"/>
                  <a:cs typeface="+mn-cs"/>
                </a:rPr>
                <a:t>第一层：空心化，不只指房屋空置，也指代际结构收缩。</a:t>
              </a:r>
            </a:p>
          </p:txBody>
        </p:sp>
      </p:grpSp>
      <p:grpSp>
        <p:nvGrpSpPr>
          <p:cNvPr id="7" name="hollow-quantity"/>
          <p:cNvGrpSpPr/>
          <p:nvPr/>
        </p:nvGrpSpPr>
        <p:grpSpPr>
          <a:xfrm>
            <a:off x="590550" y="1912620"/>
            <a:ext cx="2003069" cy="1255014"/>
            <a:chOff x="590550" y="1912620"/>
            <a:chExt cx="2003069" cy="1255014"/>
          </a:xfrm>
        </p:grpSpPr>
        <p:sp>
          <p:nvSpPr>
            <p:cNvPr id="5" name="TextBox 5"/>
            <p:cNvSpPr txBox="1"/>
            <p:nvPr/>
          </p:nvSpPr>
          <p:spPr>
            <a:xfrm>
              <a:off x="590550" y="1912620"/>
              <a:ext cx="925251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rgbClr val="F3EBDC"/>
                  </a:solidFill>
                  <a:latin typeface="+mj-lt"/>
                  <a:ea typeface="+mj-ea"/>
                  <a:cs typeface="+mj-cs"/>
                </a:rPr>
                <a:t>40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0456" y="2815590"/>
              <a:ext cx="19931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现存明清老宅 · 约</a:t>
              </a:r>
            </a:p>
          </p:txBody>
        </p:sp>
      </p:grpSp>
      <p:grpSp>
        <p:nvGrpSpPr>
          <p:cNvPr id="10" name="hollow-occupancy"/>
          <p:cNvGrpSpPr/>
          <p:nvPr/>
        </p:nvGrpSpPr>
        <p:grpSpPr>
          <a:xfrm>
            <a:off x="590550" y="3684270"/>
            <a:ext cx="1812402" cy="1255014"/>
            <a:chOff x="590550" y="3684270"/>
            <a:chExt cx="1812402" cy="1255014"/>
          </a:xfrm>
        </p:grpSpPr>
        <p:sp>
          <p:nvSpPr>
            <p:cNvPr id="8" name="TextBox 8"/>
            <p:cNvSpPr txBox="1"/>
            <p:nvPr/>
          </p:nvSpPr>
          <p:spPr>
            <a:xfrm>
              <a:off x="590550" y="3684270"/>
              <a:ext cx="1812402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&lt;1/2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0456" y="45872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3EBDC"/>
                  </a:solidFill>
                  <a:latin typeface="+mn-lt"/>
                  <a:ea typeface="+mn-ea"/>
                  <a:cs typeface="+mn-cs"/>
                </a:rPr>
                <a:t>仍在居住</a:t>
              </a:r>
            </a:p>
          </p:txBody>
        </p:sp>
      </p:grpSp>
      <p:grpSp>
        <p:nvGrpSpPr>
          <p:cNvPr id="18" name="hollow-note"/>
          <p:cNvGrpSpPr/>
          <p:nvPr/>
        </p:nvGrpSpPr>
        <p:grpSpPr>
          <a:xfrm>
            <a:off x="4953000" y="1714500"/>
            <a:ext cx="6629400" cy="3562350"/>
            <a:chOff x="4953000" y="1714500"/>
            <a:chExt cx="6629400" cy="3562350"/>
          </a:xfrm>
        </p:grpSpPr>
        <p:sp>
          <p:nvSpPr>
            <p:cNvPr id="11" name="Rectangle 11"/>
            <p:cNvSpPr/>
            <p:nvPr/>
          </p:nvSpPr>
          <p:spPr>
            <a:xfrm>
              <a:off x="4953000" y="1714500"/>
              <a:ext cx="6629400" cy="3562350"/>
            </a:xfrm>
            <a:prstGeom prst="roundRect">
              <a:avLst>
                <a:gd name="adj" fmla="val 2674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398770" y="2100262"/>
              <a:ext cx="22631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居住状态的收缩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5410200" y="2628900"/>
              <a:ext cx="5715000" cy="9525"/>
            </a:xfrm>
            <a:custGeom>
              <a:avLst/>
              <a:gdLst/>
              <a:ahLst/>
              <a:cxnLst/>
              <a:rect l="l" t="t" r="r" b="b"/>
              <a:pathLst>
                <a:path w="5715000" h="9525">
                  <a:moveTo>
                    <a:pt x="0" y="0"/>
                  </a:moveTo>
                  <a:lnTo>
                    <a:pt x="5715000" y="0"/>
                  </a:lnTo>
                </a:path>
              </a:pathLst>
            </a:custGeom>
            <a:noFill/>
            <a:ln w="9525">
              <a:solidFill>
                <a:srgbClr val="C7B898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401056" y="29489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年轻人外出打工。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401056" y="3368040"/>
              <a:ext cx="195681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留守者多为老人。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401056" y="378714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老宅仍具存量价值。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403342" y="4464368"/>
              <a:ext cx="51386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“约”“不到一半”为田野口述观察，后续需核对户数与居住名单。</a:t>
              </a:r>
            </a:p>
          </p:txBody>
        </p:sp>
      </p:grpSp>
      <p:grpSp>
        <p:nvGrpSpPr>
          <p:cNvPr id="21" name="hollow-takeaway"/>
          <p:cNvGrpSpPr/>
          <p:nvPr/>
        </p:nvGrpSpPr>
        <p:grpSpPr>
          <a:xfrm>
            <a:off x="609600" y="5562600"/>
            <a:ext cx="10972800" cy="609600"/>
            <a:chOff x="609600" y="5562600"/>
            <a:chExt cx="10972800" cy="609600"/>
          </a:xfrm>
        </p:grpSpPr>
        <p:sp>
          <p:nvSpPr>
            <p:cNvPr id="19" name="Rectangle 19"/>
            <p:cNvSpPr/>
            <p:nvPr/>
          </p:nvSpPr>
          <p:spPr>
            <a:xfrm>
              <a:off x="609600" y="5562600"/>
              <a:ext cx="10972800" cy="609600"/>
            </a:xfrm>
            <a:prstGeom prst="roundRect">
              <a:avLst>
                <a:gd name="adj" fmla="val 15625"/>
              </a:avLst>
            </a:prstGeom>
            <a:solidFill>
              <a:schemeClr val="accent1"/>
            </a:solidFill>
            <a:ln w="14288">
              <a:solidFill>
                <a:schemeClr val="accent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67156" y="5768340"/>
              <a:ext cx="58338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3EBDC"/>
                  </a:solidFill>
                  <a:latin typeface="+mn-lt"/>
                  <a:ea typeface="+mn-ea"/>
                  <a:cs typeface="+mn-cs"/>
                </a:rPr>
                <a:t>空心化：建筑存量仍在，生活连续性与代际在场减弱。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604266" y="6439852"/>
            <a:ext cx="157966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田野初察 · 第 03 / 07 页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memory-title"/>
          <p:cNvGrpSpPr/>
          <p:nvPr/>
        </p:nvGrpSpPr>
        <p:grpSpPr>
          <a:xfrm>
            <a:off x="593598" y="479108"/>
            <a:ext cx="5475732" cy="833437"/>
            <a:chOff x="593598" y="479108"/>
            <a:chExt cx="5475732" cy="83343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479108"/>
              <a:ext cx="496062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3EBDC"/>
                  </a:solidFill>
                  <a:latin typeface="+mj-lt"/>
                  <a:ea typeface="+mj-ea"/>
                  <a:cs typeface="+mj-cs"/>
                </a:rPr>
                <a:t>祭祀还在，记忆已经断片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980" y="1019175"/>
              <a:ext cx="54673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D8271"/>
                  </a:solidFill>
                  <a:latin typeface="+mn-lt"/>
                  <a:ea typeface="+mn-ea"/>
                  <a:cs typeface="+mn-cs"/>
                </a:rPr>
                <a:t>第二层：仪式频次下降与谱系重写，共同指向文化记忆断层。</a:t>
              </a:r>
            </a:p>
          </p:txBody>
        </p:sp>
      </p:grpSp>
      <p:grpSp>
        <p:nvGrpSpPr>
          <p:cNvPr id="11" name="ritual-comparison"/>
          <p:cNvGrpSpPr/>
          <p:nvPr/>
        </p:nvGrpSpPr>
        <p:grpSpPr>
          <a:xfrm>
            <a:off x="609600" y="1638300"/>
            <a:ext cx="4762500" cy="2251901"/>
            <a:chOff x="609600" y="1638300"/>
            <a:chExt cx="4762500" cy="2251901"/>
          </a:xfrm>
        </p:grpSpPr>
        <p:sp>
          <p:nvSpPr>
            <p:cNvPr id="5" name="Rectangle 5"/>
            <p:cNvSpPr/>
            <p:nvPr/>
          </p:nvSpPr>
          <p:spPr>
            <a:xfrm>
              <a:off x="609600" y="1638300"/>
              <a:ext cx="4762500" cy="2247900"/>
            </a:xfrm>
            <a:prstGeom prst="roundRect">
              <a:avLst>
                <a:gd name="adj" fmla="val 423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26592" y="1949768"/>
              <a:ext cx="2407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spc="3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ANCESTRAL RITUAL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22020" y="2309812"/>
              <a:ext cx="19431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祠堂清明祭祖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24306" y="287274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以前：每年一次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24306" y="329184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现在：三年一次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26592" y="362616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仪式未消失，节奏明显拉长。</a:t>
              </a:r>
            </a:p>
          </p:txBody>
        </p:sp>
      </p:grpSp>
      <p:grpSp>
        <p:nvGrpSpPr>
          <p:cNvPr id="18" name="genealogy-record"/>
          <p:cNvGrpSpPr/>
          <p:nvPr/>
        </p:nvGrpSpPr>
        <p:grpSpPr>
          <a:xfrm>
            <a:off x="5867400" y="1638300"/>
            <a:ext cx="5715000" cy="2251901"/>
            <a:chOff x="5867400" y="1638300"/>
            <a:chExt cx="5715000" cy="2251901"/>
          </a:xfrm>
        </p:grpSpPr>
        <p:sp>
          <p:nvSpPr>
            <p:cNvPr id="12" name="Rectangle 12"/>
            <p:cNvSpPr/>
            <p:nvPr/>
          </p:nvSpPr>
          <p:spPr>
            <a:xfrm>
              <a:off x="5867400" y="1638300"/>
              <a:ext cx="5715000" cy="2247900"/>
            </a:xfrm>
            <a:prstGeom prst="roundRect">
              <a:avLst>
                <a:gd name="adj" fmla="val 4237"/>
              </a:avLst>
            </a:prstGeom>
            <a:solidFill>
              <a:schemeClr val="accent5"/>
            </a:solidFill>
            <a:ln w="14288">
              <a:solidFill>
                <a:schemeClr val="accent3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184392" y="1949768"/>
              <a:ext cx="14293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spc="37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GENEALOGY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179820" y="2309812"/>
              <a:ext cx="162306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族谱与口述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182106" y="287274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老人说：文革烧了一部分。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182106" y="329184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现版本：凭记忆补写。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184392" y="36261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待考：需多问几位老人。</a:t>
              </a:r>
            </a:p>
          </p:txBody>
        </p:sp>
      </p:grpSp>
      <p:grpSp>
        <p:nvGrpSpPr>
          <p:cNvPr id="22" name="memory-link"/>
          <p:cNvGrpSpPr/>
          <p:nvPr/>
        </p:nvGrpSpPr>
        <p:grpSpPr>
          <a:xfrm>
            <a:off x="609600" y="4248150"/>
            <a:ext cx="10972800" cy="1409700"/>
            <a:chOff x="609600" y="4248150"/>
            <a:chExt cx="10972800" cy="1409700"/>
          </a:xfrm>
        </p:grpSpPr>
        <p:sp>
          <p:nvSpPr>
            <p:cNvPr id="19" name="Rectangle 19"/>
            <p:cNvSpPr/>
            <p:nvPr/>
          </p:nvSpPr>
          <p:spPr>
            <a:xfrm>
              <a:off x="609600" y="4248150"/>
              <a:ext cx="10972800" cy="1409700"/>
            </a:xfrm>
            <a:prstGeom prst="roundRect">
              <a:avLst>
                <a:gd name="adj" fmla="val 6757"/>
              </a:avLst>
            </a:prstGeom>
            <a:solidFill>
              <a:schemeClr val="accent1"/>
            </a:solidFill>
            <a:ln w="9525">
              <a:solidFill>
                <a:srgbClr val="C7B898">
                  <a:alpha val="55000"/>
                </a:srgbClr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67156" y="4511040"/>
              <a:ext cx="66698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3EBDC"/>
                  </a:solidFill>
                  <a:latin typeface="+mn-lt"/>
                  <a:ea typeface="+mn-ea"/>
                  <a:cs typeface="+mn-cs"/>
                </a:rPr>
                <a:t>记忆断层 = 仪式频率下降 + 谱系文本重写 + 口述可信度待验。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69442" y="4940618"/>
              <a:ext cx="54840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D8271"/>
                  </a:solidFill>
                  <a:latin typeface="+mn-lt"/>
                  <a:ea typeface="+mn-ea"/>
                  <a:cs typeface="+mn-cs"/>
                </a:rPr>
                <a:t>此处不下结论，只把“谁记得、谁转写、谁核验”列为后续访谈问题。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604266" y="6439852"/>
            <a:ext cx="157966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田野初察 · 第 04 / 07 页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architecture-title"/>
          <p:cNvGrpSpPr/>
          <p:nvPr/>
        </p:nvGrpSpPr>
        <p:grpSpPr>
          <a:xfrm>
            <a:off x="593598" y="479108"/>
            <a:ext cx="5408676" cy="833437"/>
            <a:chOff x="593598" y="479108"/>
            <a:chExt cx="5408676" cy="83343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479108"/>
              <a:ext cx="540867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3EBDC"/>
                  </a:solidFill>
                  <a:latin typeface="+mj-lt"/>
                  <a:ea typeface="+mj-ea"/>
                  <a:cs typeface="+mj-cs"/>
                </a:rPr>
                <a:t>风格差异，是被遗忘的问号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980" y="1019175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D8271"/>
                  </a:solidFill>
                  <a:latin typeface="+mn-lt"/>
                  <a:ea typeface="+mn-ea"/>
                  <a:cs typeface="+mn-cs"/>
                </a:rPr>
                <a:t>第三层：建筑形制提供线索，但人群来源仍需交叉验证。</a:t>
              </a:r>
            </a:p>
          </p:txBody>
        </p:sp>
      </p:grpSp>
      <p:grpSp>
        <p:nvGrpSpPr>
          <p:cNvPr id="11" name="courtyard-card"/>
          <p:cNvGrpSpPr/>
          <p:nvPr/>
        </p:nvGrpSpPr>
        <p:grpSpPr>
          <a:xfrm>
            <a:off x="609600" y="1600200"/>
            <a:ext cx="3352800" cy="2647950"/>
            <a:chOff x="609600" y="1600200"/>
            <a:chExt cx="3352800" cy="2647950"/>
          </a:xfrm>
        </p:grpSpPr>
        <p:sp>
          <p:nvSpPr>
            <p:cNvPr id="5" name="Rectangle 5"/>
            <p:cNvSpPr/>
            <p:nvPr/>
          </p:nvSpPr>
          <p:spPr>
            <a:xfrm>
              <a:off x="609600" y="1600200"/>
              <a:ext cx="3352800" cy="2647950"/>
            </a:xfrm>
            <a:prstGeom prst="roundRect">
              <a:avLst>
                <a:gd name="adj" fmla="val 359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03732" y="1830705"/>
              <a:ext cx="15148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天井院落式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1219200" y="2362200"/>
              <a:ext cx="2133600" cy="1428750"/>
            </a:xfrm>
            <a:prstGeom prst="rect">
              <a:avLst/>
            </a:pr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1600200" y="2705100"/>
              <a:ext cx="1371600" cy="742950"/>
            </a:xfrm>
            <a:prstGeom prst="rect">
              <a:avLst/>
            </a:pr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2286000" y="2705100"/>
              <a:ext cx="9525" cy="742950"/>
            </a:xfrm>
            <a:custGeom>
              <a:avLst/>
              <a:gdLst/>
              <a:ahLst/>
              <a:cxnLst/>
              <a:rect l="l" t="t" r="r" b="b"/>
              <a:pathLst>
                <a:path w="9525" h="742950">
                  <a:moveTo>
                    <a:pt x="0" y="0"/>
                  </a:moveTo>
                  <a:lnTo>
                    <a:pt x="0" y="74295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07542" y="37023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多数民居的共性形制</a:t>
              </a:r>
            </a:p>
          </p:txBody>
        </p:sp>
      </p:grpSp>
      <p:grpSp>
        <p:nvGrpSpPr>
          <p:cNvPr id="20" name="carving-card"/>
          <p:cNvGrpSpPr/>
          <p:nvPr/>
        </p:nvGrpSpPr>
        <p:grpSpPr>
          <a:xfrm>
            <a:off x="4343400" y="1600200"/>
            <a:ext cx="3352800" cy="2647950"/>
            <a:chOff x="4343400" y="1600200"/>
            <a:chExt cx="3352800" cy="2647950"/>
          </a:xfrm>
        </p:grpSpPr>
        <p:sp>
          <p:nvSpPr>
            <p:cNvPr id="12" name="Rectangle 12"/>
            <p:cNvSpPr/>
            <p:nvPr/>
          </p:nvSpPr>
          <p:spPr>
            <a:xfrm>
              <a:off x="4343400" y="1600200"/>
              <a:ext cx="3352800" cy="2647950"/>
            </a:xfrm>
            <a:prstGeom prst="roundRect">
              <a:avLst>
                <a:gd name="adj" fmla="val 3597"/>
              </a:avLst>
            </a:prstGeom>
            <a:solidFill>
              <a:schemeClr val="accent5"/>
            </a:solidFill>
            <a:ln w="14288">
              <a:solidFill>
                <a:schemeClr val="accent3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637532" y="1830705"/>
              <a:ext cx="181356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accent3"/>
                  </a:solidFill>
                  <a:latin typeface="+mj-lt"/>
                  <a:ea typeface="+mj-ea"/>
                  <a:cs typeface="+mj-cs"/>
                </a:rPr>
                <a:t>木雕风格不同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953000" y="2362200"/>
              <a:ext cx="2133600" cy="1428750"/>
            </a:xfrm>
            <a:prstGeom prst="rect">
              <a:avLst/>
            </a:pr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5219700" y="2628900"/>
              <a:ext cx="1600200" cy="9525"/>
            </a:xfrm>
            <a:custGeom>
              <a:avLst/>
              <a:gdLst/>
              <a:ahLst/>
              <a:cxnLst/>
              <a:rect l="l" t="t" r="r" b="b"/>
              <a:pathLst>
                <a:path w="1600200" h="9525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5219700" y="2914650"/>
              <a:ext cx="1600200" cy="9525"/>
            </a:xfrm>
            <a:custGeom>
              <a:avLst/>
              <a:gdLst/>
              <a:ahLst/>
              <a:cxnLst/>
              <a:rect l="l" t="t" r="r" b="b"/>
              <a:pathLst>
                <a:path w="1600200" h="9525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5219700" y="3200400"/>
              <a:ext cx="1600200" cy="9525"/>
            </a:xfrm>
            <a:custGeom>
              <a:avLst/>
              <a:gdLst/>
              <a:ahLst/>
              <a:cxnLst/>
              <a:rect l="l" t="t" r="r" b="b"/>
              <a:pathLst>
                <a:path w="1600200" h="9525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5219700" y="3486150"/>
              <a:ext cx="1600200" cy="9525"/>
            </a:xfrm>
            <a:custGeom>
              <a:avLst/>
              <a:gdLst/>
              <a:ahLst/>
              <a:cxnLst/>
              <a:rect l="l" t="t" r="r" b="b"/>
              <a:pathLst>
                <a:path w="1600200" h="9525">
                  <a:moveTo>
                    <a:pt x="0" y="0"/>
                  </a:moveTo>
                  <a:lnTo>
                    <a:pt x="1600200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641342" y="37023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几栋明显不同于常见风格</a:t>
              </a:r>
            </a:p>
          </p:txBody>
        </p:sp>
      </p:grpSp>
      <p:grpSp>
        <p:nvGrpSpPr>
          <p:cNvPr id="27" name="origin-card"/>
          <p:cNvGrpSpPr/>
          <p:nvPr/>
        </p:nvGrpSpPr>
        <p:grpSpPr>
          <a:xfrm>
            <a:off x="8077200" y="1600200"/>
            <a:ext cx="3505200" cy="2647950"/>
            <a:chOff x="8077200" y="1600200"/>
            <a:chExt cx="3505200" cy="2647950"/>
          </a:xfrm>
        </p:grpSpPr>
        <p:sp>
          <p:nvSpPr>
            <p:cNvPr id="21" name="Rectangle 21"/>
            <p:cNvSpPr/>
            <p:nvPr/>
          </p:nvSpPr>
          <p:spPr>
            <a:xfrm>
              <a:off x="8077200" y="1600200"/>
              <a:ext cx="3505200" cy="2647950"/>
            </a:xfrm>
            <a:prstGeom prst="roundRect">
              <a:avLst>
                <a:gd name="adj" fmla="val 3597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371332" y="1830705"/>
              <a:ext cx="185985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“外姓人”之说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72856" y="2491740"/>
              <a:ext cx="244144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村民说由外姓人建造。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72856" y="29108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来历说不清。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382000" y="3333750"/>
              <a:ext cx="1104900" cy="323850"/>
            </a:xfrm>
            <a:prstGeom prst="roundRect">
              <a:avLst>
                <a:gd name="adj" fmla="val 23529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546592" y="34166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3EBDC"/>
                  </a:solidFill>
                  <a:latin typeface="+mn-lt"/>
                  <a:ea typeface="+mn-ea"/>
                  <a:cs typeface="+mn-cs"/>
                </a:rPr>
                <a:t>待考</a:t>
              </a:r>
            </a:p>
          </p:txBody>
        </p:sp>
      </p:grpSp>
      <p:grpSp>
        <p:nvGrpSpPr>
          <p:cNvPr id="31" name="architecture-interpretation"/>
          <p:cNvGrpSpPr/>
          <p:nvPr/>
        </p:nvGrpSpPr>
        <p:grpSpPr>
          <a:xfrm>
            <a:off x="609600" y="4629150"/>
            <a:ext cx="10972800" cy="1028700"/>
            <a:chOff x="609600" y="4629150"/>
            <a:chExt cx="10972800" cy="1028700"/>
          </a:xfrm>
        </p:grpSpPr>
        <p:sp>
          <p:nvSpPr>
            <p:cNvPr id="28" name="Rectangle 28"/>
            <p:cNvSpPr/>
            <p:nvPr/>
          </p:nvSpPr>
          <p:spPr>
            <a:xfrm>
              <a:off x="609600" y="4629150"/>
              <a:ext cx="10972800" cy="1028700"/>
            </a:xfrm>
            <a:prstGeom prst="roundRect">
              <a:avLst>
                <a:gd name="adj" fmla="val 9259"/>
              </a:avLst>
            </a:prstGeom>
            <a:solidFill>
              <a:schemeClr val="accent1"/>
            </a:solidFill>
            <a:ln w="14288">
              <a:solidFill>
                <a:schemeClr val="accent2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67156" y="4834890"/>
              <a:ext cx="68031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3EBDC"/>
                  </a:solidFill>
                  <a:latin typeface="+mn-lt"/>
                  <a:ea typeface="+mn-ea"/>
                  <a:cs typeface="+mn-cs"/>
                </a:rPr>
                <a:t>线索：形制差异可能指向工匠来源、家族关系或外来定居历史。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69442" y="5245418"/>
              <a:ext cx="53022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D8271"/>
                  </a:solidFill>
                  <a:latin typeface="+mn-lt"/>
                  <a:ea typeface="+mn-ea"/>
                  <a:cs typeface="+mn-cs"/>
                </a:rPr>
                <a:t>暂不认定“外姓人建造”，需比对建筑细部、老人口述与地方文献。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604266" y="6439852"/>
            <a:ext cx="157966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田野初察 · 第 05 / 07 页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conflict-title"/>
          <p:cNvGrpSpPr/>
          <p:nvPr/>
        </p:nvGrpSpPr>
        <p:grpSpPr>
          <a:xfrm>
            <a:off x="593598" y="479108"/>
            <a:ext cx="5071872" cy="833437"/>
            <a:chOff x="593598" y="479108"/>
            <a:chExt cx="5071872" cy="83343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479108"/>
              <a:ext cx="458201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3EBDC"/>
                  </a:solidFill>
                  <a:latin typeface="+mj-lt"/>
                  <a:ea typeface="+mj-ea"/>
                  <a:cs typeface="+mj-cs"/>
                </a:rPr>
                <a:t>钱修了“古”，没修老宅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980" y="1019175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D8271"/>
                  </a:solidFill>
                  <a:latin typeface="+mn-lt"/>
                  <a:ea typeface="+mn-ea"/>
                  <a:cs typeface="+mn-cs"/>
                </a:rPr>
                <a:t>旅游开发带来新的场景，却没有转化为本体保护的投入。</a:t>
              </a:r>
            </a:p>
          </p:txBody>
        </p:sp>
      </p:grpSp>
      <p:grpSp>
        <p:nvGrpSpPr>
          <p:cNvPr id="13" name="new-street"/>
          <p:cNvGrpSpPr/>
          <p:nvPr/>
        </p:nvGrpSpPr>
        <p:grpSpPr>
          <a:xfrm>
            <a:off x="609600" y="1581150"/>
            <a:ext cx="4762500" cy="2667000"/>
            <a:chOff x="609600" y="1581150"/>
            <a:chExt cx="4762500" cy="2667000"/>
          </a:xfrm>
        </p:grpSpPr>
        <p:sp>
          <p:nvSpPr>
            <p:cNvPr id="5" name="Rectangle 5"/>
            <p:cNvSpPr/>
            <p:nvPr/>
          </p:nvSpPr>
          <p:spPr>
            <a:xfrm>
              <a:off x="609600" y="1581150"/>
              <a:ext cx="4762500" cy="2667000"/>
            </a:xfrm>
            <a:prstGeom prst="roundRect">
              <a:avLst>
                <a:gd name="adj" fmla="val 3571"/>
              </a:avLst>
            </a:prstGeom>
            <a:solidFill>
              <a:schemeClr val="accent5"/>
            </a:solidFill>
            <a:ln w="19050">
              <a:solidFill>
                <a:schemeClr val="accent2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07542" y="1911668"/>
              <a:ext cx="21665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spc="3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TOURISM STREET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02970" y="2290762"/>
              <a:ext cx="162306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新修仿古街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14400" y="2819400"/>
              <a:ext cx="762000" cy="895350"/>
            </a:xfrm>
            <a:prstGeom prst="rect">
              <a:avLst/>
            </a:prstGeom>
            <a:solidFill>
              <a:schemeClr val="accent2">
                <a:alpha val="24000"/>
              </a:schemeClr>
            </a:solidFill>
            <a:ln w="9525">
              <a:solidFill>
                <a:schemeClr val="accent2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1943100" y="2819400"/>
              <a:ext cx="762000" cy="895350"/>
            </a:xfrm>
            <a:prstGeom prst="rect">
              <a:avLst/>
            </a:prstGeom>
            <a:solidFill>
              <a:schemeClr val="accent2">
                <a:alpha val="16000"/>
              </a:schemeClr>
            </a:solidFill>
            <a:ln w="9525">
              <a:solidFill>
                <a:schemeClr val="accent2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2971800" y="2819400"/>
              <a:ext cx="762000" cy="895350"/>
            </a:xfrm>
            <a:prstGeom prst="rect">
              <a:avLst/>
            </a:prstGeom>
            <a:solidFill>
              <a:schemeClr val="accent2">
                <a:alpha val="24000"/>
              </a:schemeClr>
            </a:solidFill>
            <a:ln w="9525">
              <a:solidFill>
                <a:schemeClr val="accent2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4000500" y="2819400"/>
              <a:ext cx="762000" cy="895350"/>
            </a:xfrm>
            <a:prstGeom prst="rect">
              <a:avLst/>
            </a:prstGeom>
            <a:solidFill>
              <a:schemeClr val="accent2">
                <a:alpha val="16000"/>
              </a:schemeClr>
            </a:solidFill>
            <a:ln w="9525">
              <a:solidFill>
                <a:schemeClr val="accent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05256" y="37871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旅游场景先行</a:t>
              </a:r>
            </a:p>
          </p:txBody>
        </p:sp>
      </p:grpSp>
      <p:grpSp>
        <p:nvGrpSpPr>
          <p:cNvPr id="22" name="old-house"/>
          <p:cNvGrpSpPr/>
          <p:nvPr/>
        </p:nvGrpSpPr>
        <p:grpSpPr>
          <a:xfrm>
            <a:off x="6819900" y="1581150"/>
            <a:ext cx="4762500" cy="2667000"/>
            <a:chOff x="6819900" y="1581150"/>
            <a:chExt cx="4762500" cy="2667000"/>
          </a:xfrm>
        </p:grpSpPr>
        <p:sp>
          <p:nvSpPr>
            <p:cNvPr id="14" name="Rectangle 14"/>
            <p:cNvSpPr/>
            <p:nvPr/>
          </p:nvSpPr>
          <p:spPr>
            <a:xfrm>
              <a:off x="6819900" y="1581150"/>
              <a:ext cx="4762500" cy="2667000"/>
            </a:xfrm>
            <a:prstGeom prst="roundRect">
              <a:avLst>
                <a:gd name="adj" fmla="val 3571"/>
              </a:avLst>
            </a:prstGeom>
            <a:solidFill>
              <a:schemeClr val="accent5"/>
            </a:solidFill>
            <a:ln w="19050">
              <a:solidFill>
                <a:schemeClr val="accent3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117842" y="1911668"/>
              <a:ext cx="22774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spc="37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ORIGINAL HOUSES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113270" y="2290762"/>
              <a:ext cx="194310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老宅本体保护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124700" y="2819400"/>
              <a:ext cx="762000" cy="895350"/>
            </a:xfrm>
            <a:prstGeom prst="rect">
              <a:avLst/>
            </a:prstGeom>
            <a:noFill/>
            <a:ln w="9525">
              <a:solidFill>
                <a:srgbClr val="6E6352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8153400" y="2819400"/>
              <a:ext cx="762000" cy="895350"/>
            </a:xfrm>
            <a:prstGeom prst="rect">
              <a:avLst/>
            </a:prstGeom>
            <a:noFill/>
            <a:ln w="9525">
              <a:solidFill>
                <a:srgbClr val="6E6352"/>
              </a:solidFill>
              <a:custDash>
                <a:ds d="400000" sp="600000"/>
              </a:custDash>
            </a:ln>
          </p:spPr>
        </p:sp>
        <p:sp>
          <p:nvSpPr>
            <p:cNvPr id="19" name="Rectangle 19"/>
            <p:cNvSpPr/>
            <p:nvPr/>
          </p:nvSpPr>
          <p:spPr>
            <a:xfrm>
              <a:off x="9182100" y="2819400"/>
              <a:ext cx="762000" cy="895350"/>
            </a:xfrm>
            <a:prstGeom prst="rect">
              <a:avLst/>
            </a:prstGeom>
            <a:noFill/>
            <a:ln w="9525">
              <a:solidFill>
                <a:srgbClr val="6E6352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10210800" y="2819400"/>
              <a:ext cx="762000" cy="895350"/>
            </a:xfrm>
            <a:prstGeom prst="rect">
              <a:avLst/>
            </a:prstGeom>
            <a:noFill/>
            <a:ln w="9525">
              <a:solidFill>
                <a:srgbClr val="6E6352"/>
              </a:solidFill>
              <a:custDash>
                <a:ds d="400000" sp="600000"/>
              </a:custDash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115556" y="37871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没钱投入</a:t>
              </a:r>
            </a:p>
          </p:txBody>
        </p:sp>
      </p:grpSp>
      <p:grpSp>
        <p:nvGrpSpPr>
          <p:cNvPr id="25" name="conflict-axis"/>
          <p:cNvGrpSpPr/>
          <p:nvPr/>
        </p:nvGrpSpPr>
        <p:grpSpPr>
          <a:xfrm>
            <a:off x="5372100" y="1714500"/>
            <a:ext cx="1447800" cy="2400300"/>
            <a:chOff x="5372100" y="1714500"/>
            <a:chExt cx="1447800" cy="2400300"/>
          </a:xfrm>
        </p:grpSpPr>
        <p:sp>
          <p:nvSpPr>
            <p:cNvPr id="23" name="Line 23"/>
            <p:cNvSpPr/>
            <p:nvPr/>
          </p:nvSpPr>
          <p:spPr>
            <a:xfrm>
              <a:off x="5372100" y="1714500"/>
              <a:ext cx="1447800" cy="2400300"/>
            </a:xfrm>
            <a:custGeom>
              <a:avLst/>
              <a:gdLst/>
              <a:ahLst/>
              <a:cxnLst/>
              <a:rect l="l" t="t" r="r" b="b"/>
              <a:pathLst>
                <a:path w="1447800" h="2400300">
                  <a:moveTo>
                    <a:pt x="0" y="0"/>
                  </a:moveTo>
                  <a:lnTo>
                    <a:pt x="1447800" y="240030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820156" y="2777490"/>
              <a:ext cx="50292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错位</a:t>
              </a:r>
            </a:p>
          </p:txBody>
        </p:sp>
      </p:grpSp>
      <p:grpSp>
        <p:nvGrpSpPr>
          <p:cNvPr id="29" name="conflict-evidence"/>
          <p:cNvGrpSpPr/>
          <p:nvPr/>
        </p:nvGrpSpPr>
        <p:grpSpPr>
          <a:xfrm>
            <a:off x="609600" y="4591050"/>
            <a:ext cx="10972800" cy="1066800"/>
            <a:chOff x="609600" y="4591050"/>
            <a:chExt cx="10972800" cy="1066800"/>
          </a:xfrm>
        </p:grpSpPr>
        <p:sp>
          <p:nvSpPr>
            <p:cNvPr id="26" name="Rectangle 26"/>
            <p:cNvSpPr/>
            <p:nvPr/>
          </p:nvSpPr>
          <p:spPr>
            <a:xfrm>
              <a:off x="609600" y="4591050"/>
              <a:ext cx="10972800" cy="1066800"/>
            </a:xfrm>
            <a:prstGeom prst="roundRect">
              <a:avLst>
                <a:gd name="adj" fmla="val 8929"/>
              </a:avLst>
            </a:prstGeom>
            <a:solidFill>
              <a:schemeClr val="accent1"/>
            </a:solidFill>
            <a:ln w="14288">
              <a:solidFill>
                <a:schemeClr val="accent2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67156" y="4796790"/>
              <a:ext cx="72877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3EBDC"/>
                  </a:solidFill>
                  <a:latin typeface="+mn-lt"/>
                  <a:ea typeface="+mn-ea"/>
                  <a:cs typeface="+mn-cs"/>
                </a:rPr>
                <a:t>村里搞旅游开发；新街获得建设，老宅本体保护反而没有资金投入。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69442" y="5207318"/>
              <a:ext cx="47388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8D8271"/>
                  </a:solidFill>
                  <a:latin typeface="+mn-lt"/>
                  <a:ea typeface="+mn-ea"/>
                  <a:cs typeface="+mn-cs"/>
                </a:rPr>
                <a:t>这是典型的保护与开发错位：形象被更新，真实遗产滞后。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604266" y="6439852"/>
            <a:ext cx="157966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田野初察 · 第 06 / 07 页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next-title"/>
          <p:cNvGrpSpPr/>
          <p:nvPr/>
        </p:nvGrpSpPr>
        <p:grpSpPr>
          <a:xfrm>
            <a:off x="593598" y="479108"/>
            <a:ext cx="5273802" cy="833437"/>
            <a:chOff x="593598" y="479108"/>
            <a:chExt cx="5273802" cy="833437"/>
          </a:xfrm>
        </p:grpSpPr>
        <p:sp>
          <p:nvSpPr>
            <p:cNvPr id="2" name="TextBox 2"/>
            <p:cNvSpPr txBox="1"/>
            <p:nvPr/>
          </p:nvSpPr>
          <p:spPr>
            <a:xfrm>
              <a:off x="593598" y="479108"/>
              <a:ext cx="361645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rgbClr val="F3EBDC"/>
                  </a:solidFill>
                  <a:latin typeface="+mj-lt"/>
                  <a:ea typeface="+mj-ea"/>
                  <a:cs typeface="+mj-cs"/>
                </a:rPr>
                <a:t>先补证，再下判断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01980" y="1019175"/>
              <a:ext cx="52654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D8271"/>
                  </a:solidFill>
                  <a:latin typeface="+mn-lt"/>
                  <a:ea typeface="+mn-ea"/>
                  <a:cs typeface="+mn-cs"/>
                </a:rPr>
                <a:t>把四个田野片段收敛成三条后续方向，同时保留不确定项。</a:t>
              </a:r>
            </a:p>
          </p:txBody>
        </p:sp>
      </p:grpSp>
      <p:grpSp>
        <p:nvGrpSpPr>
          <p:cNvPr id="11" name="direction-hollowing"/>
          <p:cNvGrpSpPr/>
          <p:nvPr/>
        </p:nvGrpSpPr>
        <p:grpSpPr>
          <a:xfrm>
            <a:off x="609600" y="1562100"/>
            <a:ext cx="3276600" cy="2348484"/>
            <a:chOff x="609600" y="1562100"/>
            <a:chExt cx="3276600" cy="2348484"/>
          </a:xfrm>
        </p:grpSpPr>
        <p:sp>
          <p:nvSpPr>
            <p:cNvPr id="5" name="Rectangle 5"/>
            <p:cNvSpPr/>
            <p:nvPr/>
          </p:nvSpPr>
          <p:spPr>
            <a:xfrm>
              <a:off x="609600" y="1562100"/>
              <a:ext cx="3276600" cy="2190750"/>
            </a:xfrm>
            <a:prstGeom prst="roundRect">
              <a:avLst>
                <a:gd name="adj" fmla="val 4348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902970" y="1776412"/>
              <a:ext cx="39250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01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02970" y="2214562"/>
              <a:ext cx="98298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空心化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05256" y="27965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老宅存量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5256" y="31775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居住不足一半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5256" y="35585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代际外出</a:t>
              </a:r>
            </a:p>
          </p:txBody>
        </p:sp>
      </p:grpSp>
      <p:grpSp>
        <p:nvGrpSpPr>
          <p:cNvPr id="18" name="direction-memory"/>
          <p:cNvGrpSpPr/>
          <p:nvPr/>
        </p:nvGrpSpPr>
        <p:grpSpPr>
          <a:xfrm>
            <a:off x="4457700" y="1562100"/>
            <a:ext cx="3276600" cy="2348484"/>
            <a:chOff x="4457700" y="1562100"/>
            <a:chExt cx="3276600" cy="2348484"/>
          </a:xfrm>
        </p:grpSpPr>
        <p:sp>
          <p:nvSpPr>
            <p:cNvPr id="12" name="Rectangle 12"/>
            <p:cNvSpPr/>
            <p:nvPr/>
          </p:nvSpPr>
          <p:spPr>
            <a:xfrm>
              <a:off x="4457700" y="1562100"/>
              <a:ext cx="3276600" cy="2190750"/>
            </a:xfrm>
            <a:prstGeom prst="roundRect">
              <a:avLst>
                <a:gd name="adj" fmla="val 4348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751070" y="1776412"/>
              <a:ext cx="39250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751070" y="2214562"/>
              <a:ext cx="13030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记忆断层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753356" y="2796540"/>
              <a:ext cx="14721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祭祀频率下降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53356" y="31775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族谱重写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53356" y="35585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口述需核验</a:t>
              </a:r>
            </a:p>
          </p:txBody>
        </p:sp>
      </p:grpSp>
      <p:grpSp>
        <p:nvGrpSpPr>
          <p:cNvPr id="25" name="direction-governance"/>
          <p:cNvGrpSpPr/>
          <p:nvPr/>
        </p:nvGrpSpPr>
        <p:grpSpPr>
          <a:xfrm>
            <a:off x="8305800" y="1562100"/>
            <a:ext cx="3276600" cy="2348484"/>
            <a:chOff x="8305800" y="1562100"/>
            <a:chExt cx="3276600" cy="2348484"/>
          </a:xfrm>
        </p:grpSpPr>
        <p:sp>
          <p:nvSpPr>
            <p:cNvPr id="19" name="Rectangle 19"/>
            <p:cNvSpPr/>
            <p:nvPr/>
          </p:nvSpPr>
          <p:spPr>
            <a:xfrm>
              <a:off x="8305800" y="1562100"/>
              <a:ext cx="3276600" cy="2190750"/>
            </a:xfrm>
            <a:prstGeom prst="roundRect">
              <a:avLst>
                <a:gd name="adj" fmla="val 4348"/>
              </a:avLst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599170" y="1776412"/>
              <a:ext cx="39250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03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599170" y="2214562"/>
              <a:ext cx="13030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chemeClr val="dk1"/>
                  </a:solidFill>
                  <a:latin typeface="+mj-lt"/>
                  <a:ea typeface="+mj-ea"/>
                  <a:cs typeface="+mj-cs"/>
                </a:rPr>
                <a:t>开发错位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01456" y="27965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仿古街投入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601456" y="31775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本体缺资金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601456" y="3558540"/>
              <a:ext cx="122986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治理待追问</a:t>
              </a:r>
            </a:p>
          </p:txBody>
        </p:sp>
      </p:grpSp>
      <p:grpSp>
        <p:nvGrpSpPr>
          <p:cNvPr id="29" name="uncertainty-queue"/>
          <p:cNvGrpSpPr/>
          <p:nvPr/>
        </p:nvGrpSpPr>
        <p:grpSpPr>
          <a:xfrm>
            <a:off x="609600" y="4133850"/>
            <a:ext cx="10972800" cy="876300"/>
            <a:chOff x="609600" y="4133850"/>
            <a:chExt cx="10972800" cy="876300"/>
          </a:xfrm>
        </p:grpSpPr>
        <p:sp>
          <p:nvSpPr>
            <p:cNvPr id="26" name="Rectangle 26"/>
            <p:cNvSpPr/>
            <p:nvPr/>
          </p:nvSpPr>
          <p:spPr>
            <a:xfrm>
              <a:off x="609600" y="4133850"/>
              <a:ext cx="10972800" cy="876300"/>
            </a:xfrm>
            <a:prstGeom prst="roundRect">
              <a:avLst>
                <a:gd name="adj" fmla="val 10870"/>
              </a:avLst>
            </a:prstGeom>
            <a:solidFill>
              <a:schemeClr val="accent1"/>
            </a:solidFill>
            <a:ln w="14288">
              <a:solidFill>
                <a:schemeClr val="accent3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69442" y="4331018"/>
              <a:ext cx="20321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spc="37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TO BE VERIFIED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67156" y="4644390"/>
              <a:ext cx="537347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3EBDC"/>
                  </a:solidFill>
                  <a:latin typeface="+mn-lt"/>
                  <a:ea typeface="+mn-ea"/>
                  <a:cs typeface="+mn-cs"/>
                </a:rPr>
                <a:t>待考：族谱焚毁与重写细节；“外姓人建造”来源。</a:t>
              </a:r>
            </a:p>
          </p:txBody>
        </p:sp>
      </p:grpSp>
      <p:grpSp>
        <p:nvGrpSpPr>
          <p:cNvPr id="33" name="method-queue"/>
          <p:cNvGrpSpPr/>
          <p:nvPr/>
        </p:nvGrpSpPr>
        <p:grpSpPr>
          <a:xfrm>
            <a:off x="609600" y="5276850"/>
            <a:ext cx="10972800" cy="876300"/>
            <a:chOff x="609600" y="5276850"/>
            <a:chExt cx="10972800" cy="876300"/>
          </a:xfrm>
        </p:grpSpPr>
        <p:sp>
          <p:nvSpPr>
            <p:cNvPr id="30" name="Rectangle 30"/>
            <p:cNvSpPr/>
            <p:nvPr/>
          </p:nvSpPr>
          <p:spPr>
            <a:xfrm>
              <a:off x="609600" y="5276850"/>
              <a:ext cx="10972800" cy="876300"/>
            </a:xfrm>
            <a:prstGeom prst="roundRect">
              <a:avLst>
                <a:gd name="adj" fmla="val 10870"/>
              </a:avLst>
            </a:prstGeom>
            <a:solidFill>
              <a:schemeClr val="accent1"/>
            </a:solidFill>
            <a:ln w="14288">
              <a:solidFill>
                <a:schemeClr val="accent2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69442" y="5474018"/>
              <a:ext cx="13429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spc="3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NEXT STEP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67156" y="5787390"/>
              <a:ext cx="486460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3EBDC"/>
                  </a:solidFill>
                  <a:latin typeface="+mn-lt"/>
                  <a:ea typeface="+mn-ea"/>
                  <a:cs typeface="+mn-cs"/>
                </a:rPr>
                <a:t>多访谈几位老人，交叉比对说法；再谈结论。</a:t>
              </a:r>
            </a:p>
          </p:txBody>
        </p:sp>
      </p:grpSp>
      <p:grpSp>
        <p:nvGrpSpPr>
          <p:cNvPr id="35" name="closing-line"/>
          <p:cNvGrpSpPr/>
          <p:nvPr/>
        </p:nvGrpSpPr>
        <p:grpSpPr>
          <a:xfrm>
            <a:off x="604266" y="6439852"/>
            <a:ext cx="1579664" cy="205359"/>
            <a:chOff x="604266" y="6439852"/>
            <a:chExt cx="1579664" cy="205359"/>
          </a:xfrm>
        </p:grpSpPr>
        <p:sp>
          <p:nvSpPr>
            <p:cNvPr id="34" name="TextBox 34"/>
            <p:cNvSpPr txBox="1"/>
            <p:nvPr/>
          </p:nvSpPr>
          <p:spPr>
            <a:xfrm>
              <a:off x="604266" y="6439852"/>
              <a:ext cx="15796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田野初察 · 第 07 / 07 页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fieldnotes_village">
  <a:themeElements>
    <a:clrScheme name="fieldnotes_village">
      <a:dk1>
        <a:srgbClr val="24211C"/>
      </a:dk1>
      <a:lt1>
        <a:srgbClr val="12100D"/>
      </a:lt1>
      <a:dk2>
        <a:srgbClr val="1F497D"/>
      </a:dk2>
      <a:lt2>
        <a:srgbClr val="12100D"/>
      </a:lt2>
      <a:accent1>
        <a:srgbClr val="211D18"/>
      </a:accent1>
      <a:accent2>
        <a:srgbClr val="B78A38"/>
      </a:accent2>
      <a:accent3>
        <a:srgbClr val="B5432A"/>
      </a:accent3>
      <a:accent4>
        <a:srgbClr val="211D18"/>
      </a:accent4>
      <a:accent5>
        <a:srgbClr val="F3EBDC"/>
      </a:accent5>
      <a:accent6>
        <a:srgbClr val="6E6352"/>
      </a:accent6>
      <a:hlink>
        <a:srgbClr val="B78A38"/>
      </a:hlink>
      <a:folHlink>
        <a:srgbClr val="B5432A"/>
      </a:folHlink>
    </a:clrScheme>
    <a:fontScheme name="fieldnotes_village">
      <a:majorFont>
        <a:latin typeface="SimSun"/>
        <a:ea typeface="SimSun"/>
        <a:cs typeface="SimSun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ieldnotes_villag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fieldnotes_village">
  <a:themeElements>
    <a:clrScheme name="fieldnotes_village">
      <a:dk1>
        <a:srgbClr val="24211C"/>
      </a:dk1>
      <a:lt1>
        <a:srgbClr val="12100D"/>
      </a:lt1>
      <a:dk2>
        <a:srgbClr val="1F497D"/>
      </a:dk2>
      <a:lt2>
        <a:srgbClr val="12100D"/>
      </a:lt2>
      <a:accent1>
        <a:srgbClr val="211D18"/>
      </a:accent1>
      <a:accent2>
        <a:srgbClr val="B78A38"/>
      </a:accent2>
      <a:accent3>
        <a:srgbClr val="B5432A"/>
      </a:accent3>
      <a:accent4>
        <a:srgbClr val="211D18"/>
      </a:accent4>
      <a:accent5>
        <a:srgbClr val="F3EBDC"/>
      </a:accent5>
      <a:accent6>
        <a:srgbClr val="6E6352"/>
      </a:accent6>
      <a:hlink>
        <a:srgbClr val="B78A38"/>
      </a:hlink>
      <a:folHlink>
        <a:srgbClr val="B5432A"/>
      </a:folHlink>
    </a:clrScheme>
    <a:fontScheme name="fieldnotes_village">
      <a:majorFont>
        <a:latin typeface="SimSun"/>
        <a:ea typeface="SimSun"/>
        <a:cs typeface="SimSun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ieldnotes_villag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2026-09-22T15:10:06Z</dcterms:created>
  <dcterms:modified xsi:type="dcterms:W3CDTF">2026-09-22T15:10:06Z</dcterms:modified>
  <cp:category/>
  <cp:contentStatus/>
</cp:coreProperties>
</file>