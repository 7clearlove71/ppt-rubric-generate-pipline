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FrexSansGB"/>
      <p:regular r:id="rId201314"/>
      <p:bold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85750" y="285750"/>
            <a:ext cx="314325" cy="3143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5750" y="285750"/>
            <a:ext cx="314325" cy="3143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3925" y="285750"/>
            <a:ext cx="314325" cy="314325"/>
          </a:xfrm>
          <a:prstGeom prst="rect">
            <a:avLst/>
          </a:prstGeom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3925" y="285750"/>
            <a:ext cx="314325" cy="3143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5750" y="4543425"/>
            <a:ext cx="314325" cy="314325"/>
          </a:xfrm>
          <a:prstGeom prst="rect">
            <a:avLst/>
          </a:prstGeom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750" y="4543425"/>
            <a:ext cx="314325" cy="3143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43925" y="4543425"/>
            <a:ext cx="314325" cy="314325"/>
          </a:xfrm>
          <a:prstGeom prst="rect">
            <a:avLst/>
          </a:prstGeom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3925" y="4543425"/>
            <a:ext cx="314325" cy="31432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42950" y="2446734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" name="Text 6"/>
          <p:cNvSpPr/>
          <p:nvPr/>
        </p:nvSpPr>
        <p:spPr>
          <a:xfrm>
            <a:off x="742950" y="684014"/>
            <a:ext cx="7658100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// 节能改造立项审批汇报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742950" y="1032272"/>
            <a:ext cx="7658100" cy="12144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产线设备能耗分析与节能改造立项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建议</a:t>
            </a:r>
            <a:endParaRPr lang="en-US" sz="3800" dirty="0"/>
          </a:p>
        </p:txBody>
      </p:sp>
      <p:sp>
        <p:nvSpPr>
          <p:cNvPr id="14" name="Text 8"/>
          <p:cNvSpPr/>
          <p:nvPr/>
        </p:nvSpPr>
        <p:spPr>
          <a:xfrm>
            <a:off x="742950" y="2617180"/>
            <a:ext cx="76581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基于一个月产线设备能耗数据的专项分析与改造立项汇报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44401" y="4109442"/>
            <a:ext cx="1464469" cy="350044"/>
          </a:xfrm>
          <a:prstGeom prst="roundRect">
            <a:avLst>
              <a:gd name="adj" fmla="val 2666"/>
            </a:avLst>
          </a:prstGeom>
          <a:ln w="12383">
            <a:solidFill>
              <a:srgbClr val="76B900"/>
            </a:solidFill>
            <a:prstDash val="solid"/>
          </a:ln>
        </p:spPr>
        <p:txBody>
          <a:bodyPr wrap="none" lIns="133588" tIns="66794" rIns="133588" bIns="66794" rtlCol="0" anchor="b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READ THE BRIEF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7200900" y="4138017"/>
            <a:ext cx="120015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DOC · 2026年9月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7200900" y="4307681"/>
            <a:ext cx="12001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汇报对象：立项评审委员会</a:t>
            </a:r>
            <a:endParaRPr lang="en-US" sz="700" dirty="0"/>
          </a:p>
        </p:txBody>
      </p:sp>
      <p:sp>
        <p:nvSpPr>
          <p:cNvPr id="65535" name="wm:hwcld:2026-09-22T15:19:12:fe90c0e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669727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2861" y="799207"/>
            <a:ext cx="5186363" cy="3807619"/>
          </a:xfrm>
          <a:prstGeom prst="roundRect">
            <a:avLst>
              <a:gd name="adj" fmla="val 90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169789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" name="Shape 4"/>
          <p:cNvSpPr/>
          <p:nvPr/>
        </p:nvSpPr>
        <p:spPr>
          <a:xfrm>
            <a:off x="785813" y="4180880"/>
            <a:ext cx="4043363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5813" y="3687961"/>
            <a:ext cx="4043363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5813" y="3202186"/>
            <a:ext cx="4043363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5813" y="2709267"/>
            <a:ext cx="4043363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5813" y="2216348"/>
            <a:ext cx="4043363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5813" y="1730573"/>
            <a:ext cx="4043363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88" y="1516975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万件 / 万kWh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4362688" y="1516975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kWh/件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785813" y="4180880"/>
            <a:ext cx="4043363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764" y="411730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245745" y="3627239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20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245745" y="313717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40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245745" y="264711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60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45745" y="21570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80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95726" y="166699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100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4886325" y="411730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4886325" y="3627239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0.2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886325" y="313717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886325" y="264711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0.6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886325" y="215705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4886325" y="1666994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974765" y="422445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1号线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1985605" y="422445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2号线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2996446" y="422445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3号线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4007287" y="422445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4号线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922276" y="2217063"/>
            <a:ext cx="335415" cy="1960245"/>
          </a:xfrm>
          <a:custGeom>
            <a:avLst/>
            <a:gdLst/>
            <a:ahLst/>
            <a:cxnLst/>
            <a:rect l="l" t="t" r="r" b="b"/>
            <a:pathLst>
              <a:path w="335415" h="1960245">
                <a:moveTo>
                  <a:pt x="0" y="1960245"/>
                </a:moveTo>
                <a:lnTo>
                  <a:pt x="335415" y="1960245"/>
                </a:lnTo>
                <a:lnTo>
                  <a:pt x="33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933117" y="1849517"/>
            <a:ext cx="335415" cy="2327791"/>
          </a:xfrm>
          <a:custGeom>
            <a:avLst/>
            <a:gdLst/>
            <a:ahLst/>
            <a:cxnLst/>
            <a:rect l="l" t="t" r="r" b="b"/>
            <a:pathLst>
              <a:path w="335415" h="2327791">
                <a:moveTo>
                  <a:pt x="0" y="2327791"/>
                </a:moveTo>
                <a:lnTo>
                  <a:pt x="335415" y="2327791"/>
                </a:lnTo>
                <a:lnTo>
                  <a:pt x="33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33" name="Shape 31"/>
          <p:cNvSpPr/>
          <p:nvPr/>
        </p:nvSpPr>
        <p:spPr>
          <a:xfrm>
            <a:off x="2943957" y="2462093"/>
            <a:ext cx="335415" cy="1715214"/>
          </a:xfrm>
          <a:custGeom>
            <a:avLst/>
            <a:gdLst/>
            <a:ahLst/>
            <a:cxnLst/>
            <a:rect l="l" t="t" r="r" b="b"/>
            <a:pathLst>
              <a:path w="335415" h="1715214">
                <a:moveTo>
                  <a:pt x="0" y="1715214"/>
                </a:moveTo>
                <a:lnTo>
                  <a:pt x="335415" y="1715214"/>
                </a:lnTo>
                <a:lnTo>
                  <a:pt x="33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34" name="Shape 32"/>
          <p:cNvSpPr/>
          <p:nvPr/>
        </p:nvSpPr>
        <p:spPr>
          <a:xfrm>
            <a:off x="3954798" y="2707124"/>
            <a:ext cx="335415" cy="1470184"/>
          </a:xfrm>
          <a:custGeom>
            <a:avLst/>
            <a:gdLst/>
            <a:ahLst/>
            <a:cxnLst/>
            <a:rect l="l" t="t" r="r" b="b"/>
            <a:pathLst>
              <a:path w="335415" h="1470184">
                <a:moveTo>
                  <a:pt x="0" y="1470184"/>
                </a:moveTo>
                <a:lnTo>
                  <a:pt x="335415" y="1470184"/>
                </a:lnTo>
                <a:lnTo>
                  <a:pt x="33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324774" y="2511100"/>
            <a:ext cx="335415" cy="1666208"/>
          </a:xfrm>
          <a:custGeom>
            <a:avLst/>
            <a:gdLst/>
            <a:ahLst/>
            <a:cxnLst/>
            <a:rect l="l" t="t" r="r" b="b"/>
            <a:pathLst>
              <a:path w="335415" h="1666208">
                <a:moveTo>
                  <a:pt x="0" y="1666208"/>
                </a:moveTo>
                <a:lnTo>
                  <a:pt x="335415" y="1666208"/>
                </a:lnTo>
                <a:lnTo>
                  <a:pt x="33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FF230"/>
          </a:solidFill>
          <a:ln/>
        </p:spPr>
      </p:sp>
      <p:sp>
        <p:nvSpPr>
          <p:cNvPr id="36" name="Shape 34"/>
          <p:cNvSpPr/>
          <p:nvPr/>
        </p:nvSpPr>
        <p:spPr>
          <a:xfrm>
            <a:off x="2335615" y="2976658"/>
            <a:ext cx="335415" cy="1200650"/>
          </a:xfrm>
          <a:custGeom>
            <a:avLst/>
            <a:gdLst/>
            <a:ahLst/>
            <a:cxnLst/>
            <a:rect l="l" t="t" r="r" b="b"/>
            <a:pathLst>
              <a:path w="335415" h="1200650">
                <a:moveTo>
                  <a:pt x="0" y="1200650"/>
                </a:moveTo>
                <a:lnTo>
                  <a:pt x="335415" y="1200650"/>
                </a:lnTo>
                <a:lnTo>
                  <a:pt x="33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FF230"/>
          </a:solidFill>
          <a:ln/>
        </p:spPr>
      </p:sp>
      <p:sp>
        <p:nvSpPr>
          <p:cNvPr id="37" name="Shape 35"/>
          <p:cNvSpPr/>
          <p:nvPr/>
        </p:nvSpPr>
        <p:spPr>
          <a:xfrm>
            <a:off x="3346455" y="3344204"/>
            <a:ext cx="335415" cy="833104"/>
          </a:xfrm>
          <a:custGeom>
            <a:avLst/>
            <a:gdLst/>
            <a:ahLst/>
            <a:cxnLst/>
            <a:rect l="l" t="t" r="r" b="b"/>
            <a:pathLst>
              <a:path w="335415" h="833104">
                <a:moveTo>
                  <a:pt x="0" y="833104"/>
                </a:moveTo>
                <a:lnTo>
                  <a:pt x="335415" y="833104"/>
                </a:lnTo>
                <a:lnTo>
                  <a:pt x="33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FF230"/>
          </a:solidFill>
          <a:ln/>
        </p:spPr>
      </p:sp>
      <p:sp>
        <p:nvSpPr>
          <p:cNvPr id="38" name="Shape 36"/>
          <p:cNvSpPr/>
          <p:nvPr/>
        </p:nvSpPr>
        <p:spPr>
          <a:xfrm>
            <a:off x="4357296" y="3417713"/>
            <a:ext cx="335415" cy="759595"/>
          </a:xfrm>
          <a:custGeom>
            <a:avLst/>
            <a:gdLst/>
            <a:ahLst/>
            <a:cxnLst/>
            <a:rect l="l" t="t" r="r" b="b"/>
            <a:pathLst>
              <a:path w="335415" h="759595">
                <a:moveTo>
                  <a:pt x="0" y="759595"/>
                </a:moveTo>
                <a:lnTo>
                  <a:pt x="335415" y="759595"/>
                </a:lnTo>
                <a:lnTo>
                  <a:pt x="335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FF230"/>
          </a:solidFill>
          <a:ln/>
        </p:spPr>
      </p:sp>
      <p:sp>
        <p:nvSpPr>
          <p:cNvPr id="39" name="Text 37"/>
          <p:cNvSpPr/>
          <p:nvPr/>
        </p:nvSpPr>
        <p:spPr>
          <a:xfrm>
            <a:off x="848525" y="2071330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80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1859365" y="170378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95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2870206" y="231636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70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3881046" y="256139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60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1251024" y="236536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68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2261864" y="283092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49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3272705" y="319847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34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4283545" y="3271980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31</a:t>
            </a:r>
            <a:endParaRPr lang="en-US" sz="788" dirty="0"/>
          </a:p>
        </p:txBody>
      </p:sp>
      <p:sp>
        <p:nvSpPr>
          <p:cNvPr id="47" name="Shape 45"/>
          <p:cNvSpPr/>
          <p:nvPr/>
        </p:nvSpPr>
        <p:spPr>
          <a:xfrm>
            <a:off x="1291233" y="2094547"/>
            <a:ext cx="3032522" cy="906613"/>
          </a:xfrm>
          <a:custGeom>
            <a:avLst/>
            <a:gdLst/>
            <a:ahLst/>
            <a:cxnLst/>
            <a:rect l="l" t="t" r="r" b="b"/>
            <a:pathLst>
              <a:path w="3032522" h="906613">
                <a:moveTo>
                  <a:pt x="0" y="0"/>
                </a:moveTo>
                <a:lnTo>
                  <a:pt x="1010841" y="808601"/>
                </a:lnTo>
                <a:lnTo>
                  <a:pt x="2021681" y="906613"/>
                </a:lnTo>
                <a:lnTo>
                  <a:pt x="3032522" y="808601"/>
                </a:lnTo>
              </a:path>
            </a:pathLst>
          </a:custGeom>
          <a:noFill/>
          <a:ln w="19050">
            <a:solidFill>
              <a:srgbClr val="DF65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55514" y="2058829"/>
            <a:ext cx="71438" cy="71438"/>
          </a:xfrm>
          <a:prstGeom prst="ellipse">
            <a:avLst/>
          </a:prstGeom>
          <a:solidFill>
            <a:srgbClr val="DF6500"/>
          </a:solidFill>
          <a:ln/>
        </p:spPr>
      </p:sp>
      <p:sp>
        <p:nvSpPr>
          <p:cNvPr id="49" name="Shape 47"/>
          <p:cNvSpPr/>
          <p:nvPr/>
        </p:nvSpPr>
        <p:spPr>
          <a:xfrm>
            <a:off x="2266355" y="2867430"/>
            <a:ext cx="71438" cy="71438"/>
          </a:xfrm>
          <a:prstGeom prst="ellipse">
            <a:avLst/>
          </a:prstGeom>
          <a:solidFill>
            <a:srgbClr val="DF6500"/>
          </a:solidFill>
          <a:ln/>
        </p:spPr>
      </p:sp>
      <p:sp>
        <p:nvSpPr>
          <p:cNvPr id="50" name="Shape 48"/>
          <p:cNvSpPr/>
          <p:nvPr/>
        </p:nvSpPr>
        <p:spPr>
          <a:xfrm>
            <a:off x="3277195" y="2965442"/>
            <a:ext cx="71438" cy="71438"/>
          </a:xfrm>
          <a:prstGeom prst="ellipse">
            <a:avLst/>
          </a:prstGeom>
          <a:solidFill>
            <a:srgbClr val="DF6500"/>
          </a:solidFill>
          <a:ln/>
        </p:spPr>
      </p:sp>
      <p:sp>
        <p:nvSpPr>
          <p:cNvPr id="51" name="Shape 49"/>
          <p:cNvSpPr/>
          <p:nvPr/>
        </p:nvSpPr>
        <p:spPr>
          <a:xfrm>
            <a:off x="4288036" y="2867430"/>
            <a:ext cx="71438" cy="71438"/>
          </a:xfrm>
          <a:prstGeom prst="ellipse">
            <a:avLst/>
          </a:prstGeom>
          <a:solidFill>
            <a:srgbClr val="DF6500"/>
          </a:solidFill>
          <a:ln/>
        </p:spPr>
      </p:sp>
      <p:sp>
        <p:nvSpPr>
          <p:cNvPr id="52" name="Text 50"/>
          <p:cNvSpPr/>
          <p:nvPr/>
        </p:nvSpPr>
        <p:spPr>
          <a:xfrm>
            <a:off x="899755" y="191309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EF91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0.85</a:t>
            </a:r>
            <a:endParaRPr lang="en-US" sz="788" dirty="0"/>
          </a:p>
        </p:txBody>
      </p:sp>
      <p:sp>
        <p:nvSpPr>
          <p:cNvPr id="53" name="Text 51"/>
          <p:cNvSpPr/>
          <p:nvPr/>
        </p:nvSpPr>
        <p:spPr>
          <a:xfrm>
            <a:off x="1910596" y="2721697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EF91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54" name="Text 52"/>
          <p:cNvSpPr/>
          <p:nvPr/>
        </p:nvSpPr>
        <p:spPr>
          <a:xfrm>
            <a:off x="2921437" y="281971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EF91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0.48</a:t>
            </a:r>
            <a:endParaRPr lang="en-US" sz="788" dirty="0"/>
          </a:p>
        </p:txBody>
      </p:sp>
      <p:sp>
        <p:nvSpPr>
          <p:cNvPr id="55" name="Text 53"/>
          <p:cNvSpPr/>
          <p:nvPr/>
        </p:nvSpPr>
        <p:spPr>
          <a:xfrm>
            <a:off x="3932277" y="2721697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EF91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56" name="Shape 54"/>
          <p:cNvSpPr/>
          <p:nvPr/>
        </p:nvSpPr>
        <p:spPr>
          <a:xfrm>
            <a:off x="1011235" y="1298377"/>
            <a:ext cx="3592518" cy="171450"/>
          </a:xfrm>
          <a:custGeom>
            <a:avLst/>
            <a:gdLst/>
            <a:ahLst/>
            <a:cxnLst/>
            <a:rect l="l" t="t" r="r" b="b"/>
            <a:pathLst>
              <a:path w="3592518" h="171450">
                <a:moveTo>
                  <a:pt x="0" y="0"/>
                </a:moveTo>
                <a:lnTo>
                  <a:pt x="3592518" y="0"/>
                </a:lnTo>
                <a:lnTo>
                  <a:pt x="3592518" y="171450"/>
                </a:lnTo>
                <a:lnTo>
                  <a:pt x="0" y="171450"/>
                </a:lnTo>
                <a:close/>
              </a:path>
            </a:pathLst>
          </a:custGeom>
          <a:noFill/>
          <a:ln/>
        </p:spPr>
      </p:sp>
      <p:sp>
        <p:nvSpPr>
          <p:cNvPr id="57" name="Shape 55"/>
          <p:cNvSpPr/>
          <p:nvPr/>
        </p:nvSpPr>
        <p:spPr>
          <a:xfrm>
            <a:off x="1046954" y="1334095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76B900"/>
          </a:solidFill>
          <a:ln/>
        </p:spPr>
      </p:sp>
      <p:sp>
        <p:nvSpPr>
          <p:cNvPr id="58" name="Text 56"/>
          <p:cNvSpPr/>
          <p:nvPr/>
        </p:nvSpPr>
        <p:spPr>
          <a:xfrm>
            <a:off x="1261266" y="1324094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月产量（万件）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1046954" y="1334095"/>
            <a:ext cx="914400" cy="100013"/>
          </a:xfrm>
          <a:custGeom>
            <a:avLst/>
            <a:gdLst/>
            <a:ahLst/>
            <a:cxnLst/>
            <a:rect l="l" t="t" r="r" b="b"/>
            <a:pathLst>
              <a:path w="914400" h="100013">
                <a:moveTo>
                  <a:pt x="0" y="0"/>
                </a:moveTo>
                <a:lnTo>
                  <a:pt x="914400" y="0"/>
                </a:lnTo>
                <a:lnTo>
                  <a:pt x="914400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60" name="Shape 58"/>
          <p:cNvSpPr/>
          <p:nvPr/>
        </p:nvSpPr>
        <p:spPr>
          <a:xfrm>
            <a:off x="2132804" y="1334095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BFF230"/>
          </a:solidFill>
          <a:ln/>
        </p:spPr>
      </p:sp>
      <p:sp>
        <p:nvSpPr>
          <p:cNvPr id="61" name="Text 59"/>
          <p:cNvSpPr/>
          <p:nvPr/>
        </p:nvSpPr>
        <p:spPr>
          <a:xfrm>
            <a:off x="2347116" y="1324094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月用电量（万kWh）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2132804" y="1334095"/>
            <a:ext cx="1114425" cy="100013"/>
          </a:xfrm>
          <a:custGeom>
            <a:avLst/>
            <a:gdLst/>
            <a:ahLst/>
            <a:cxnLst/>
            <a:rect l="l" t="t" r="r" b="b"/>
            <a:pathLst>
              <a:path w="1114425" h="100013">
                <a:moveTo>
                  <a:pt x="0" y="0"/>
                </a:moveTo>
                <a:lnTo>
                  <a:pt x="1114425" y="0"/>
                </a:lnTo>
                <a:lnTo>
                  <a:pt x="1114425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63" name="Shape 61"/>
          <p:cNvSpPr/>
          <p:nvPr/>
        </p:nvSpPr>
        <p:spPr>
          <a:xfrm>
            <a:off x="3425822" y="1384102"/>
            <a:ext cx="178594" cy="0"/>
          </a:xfrm>
          <a:prstGeom prst="line">
            <a:avLst/>
          </a:prstGeom>
          <a:noFill/>
          <a:ln w="12700">
            <a:solidFill>
              <a:srgbClr val="DF65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75114" y="1344097"/>
            <a:ext cx="80010" cy="80010"/>
          </a:xfrm>
          <a:prstGeom prst="ellipse">
            <a:avLst/>
          </a:prstGeom>
          <a:solidFill>
            <a:srgbClr val="DF6500"/>
          </a:solidFill>
          <a:ln/>
        </p:spPr>
      </p:sp>
      <p:sp>
        <p:nvSpPr>
          <p:cNvPr id="65" name="Text 63"/>
          <p:cNvSpPr/>
          <p:nvPr/>
        </p:nvSpPr>
        <p:spPr>
          <a:xfrm>
            <a:off x="3640135" y="1324094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单位能耗（kWh/件）</a:t>
            </a:r>
            <a:endParaRPr lang="en-US" sz="788" dirty="0"/>
          </a:p>
        </p:txBody>
      </p:sp>
      <p:sp>
        <p:nvSpPr>
          <p:cNvPr id="66" name="Shape 64"/>
          <p:cNvSpPr/>
          <p:nvPr/>
        </p:nvSpPr>
        <p:spPr>
          <a:xfrm>
            <a:off x="3418679" y="1334095"/>
            <a:ext cx="1149355" cy="100013"/>
          </a:xfrm>
          <a:custGeom>
            <a:avLst/>
            <a:gdLst/>
            <a:ahLst/>
            <a:cxnLst/>
            <a:rect l="l" t="t" r="r" b="b"/>
            <a:pathLst>
              <a:path w="1149355" h="100013">
                <a:moveTo>
                  <a:pt x="0" y="0"/>
                </a:moveTo>
                <a:lnTo>
                  <a:pt x="1149355" y="0"/>
                </a:lnTo>
                <a:lnTo>
                  <a:pt x="1149355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67" name="Shape 65"/>
          <p:cNvSpPr/>
          <p:nvPr/>
        </p:nvSpPr>
        <p:spPr>
          <a:xfrm>
            <a:off x="5513468" y="797421"/>
            <a:ext cx="3414712" cy="1157288"/>
          </a:xfrm>
          <a:prstGeom prst="roundRect">
            <a:avLst>
              <a:gd name="adj" fmla="val 975"/>
            </a:avLst>
          </a:prstGeom>
          <a:solidFill>
            <a:srgbClr val="1A1A1A"/>
          </a:solidFill>
          <a:ln/>
        </p:spPr>
      </p:sp>
      <p:pic>
        <p:nvPicPr>
          <p:cNvPr id="6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4948" y="1177826"/>
            <a:ext cx="600075" cy="214313"/>
          </a:xfrm>
          <a:prstGeom prst="rect">
            <a:avLst/>
          </a:prstGeom>
        </p:spPr>
      </p:pic>
      <p:pic>
        <p:nvPicPr>
          <p:cNvPr id="6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7916" y="1177826"/>
            <a:ext cx="621506" cy="214313"/>
          </a:xfrm>
          <a:prstGeom prst="rect">
            <a:avLst/>
          </a:prstGeom>
        </p:spPr>
      </p:pic>
      <p:pic>
        <p:nvPicPr>
          <p:cNvPr id="7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0883" y="1177826"/>
            <a:ext cx="571500" cy="214313"/>
          </a:xfrm>
          <a:prstGeom prst="rect">
            <a:avLst/>
          </a:prstGeom>
        </p:spPr>
      </p:pic>
      <p:sp>
        <p:nvSpPr>
          <p:cNvPr id="71" name="Shape 66"/>
          <p:cNvSpPr/>
          <p:nvPr/>
        </p:nvSpPr>
        <p:spPr>
          <a:xfrm>
            <a:off x="5513468" y="2066330"/>
            <a:ext cx="3414712" cy="2543175"/>
          </a:xfrm>
          <a:prstGeom prst="roundRect">
            <a:avLst>
              <a:gd name="adj" fmla="val 202"/>
            </a:avLst>
          </a:prstGeom>
          <a:solidFill>
            <a:srgbClr val="1A1A1A"/>
          </a:solidFill>
          <a:ln/>
        </p:spPr>
      </p:sp>
      <p:sp>
        <p:nvSpPr>
          <p:cNvPr id="72" name="Shape 67"/>
          <p:cNvSpPr/>
          <p:nvPr/>
        </p:nvSpPr>
        <p:spPr>
          <a:xfrm>
            <a:off x="5654948" y="2411016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3" name="Text 68"/>
          <p:cNvSpPr/>
          <p:nvPr/>
        </p:nvSpPr>
        <p:spPr>
          <a:xfrm>
            <a:off x="214313" y="270570"/>
            <a:ext cx="8715375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一个月产线能耗全景：四线月用电182万kWh，月电费约136.5万元</a:t>
            </a:r>
            <a:endParaRPr lang="en-US" sz="1900" dirty="0"/>
          </a:p>
        </p:txBody>
      </p:sp>
      <p:sp>
        <p:nvSpPr>
          <p:cNvPr id="74" name="Text 69"/>
          <p:cNvSpPr/>
          <p:nvPr/>
        </p:nvSpPr>
        <p:spPr>
          <a:xfrm>
            <a:off x="384311" y="969764"/>
            <a:ext cx="4843463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四线对比：月产量 / 月用电量 / 单位能耗</a:t>
            </a:r>
            <a:endParaRPr lang="en-US" sz="900" dirty="0"/>
          </a:p>
        </p:txBody>
      </p:sp>
      <p:sp>
        <p:nvSpPr>
          <p:cNvPr id="75" name="Text 70"/>
          <p:cNvSpPr/>
          <p:nvPr/>
        </p:nvSpPr>
        <p:spPr>
          <a:xfrm>
            <a:off x="5656343" y="941189"/>
            <a:ext cx="312896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全厂月度合计</a:t>
            </a:r>
            <a:endParaRPr lang="en-US" sz="700" dirty="0"/>
          </a:p>
        </p:txBody>
      </p:sp>
      <p:sp>
        <p:nvSpPr>
          <p:cNvPr id="76" name="Text 71"/>
          <p:cNvSpPr/>
          <p:nvPr/>
        </p:nvSpPr>
        <p:spPr>
          <a:xfrm>
            <a:off x="5654948" y="1177826"/>
            <a:ext cx="636080" cy="214313"/>
          </a:xfrm>
          <a:prstGeom prst="rect">
            <a:avLst/>
          </a:prstGeom>
          <a:ln/>
        </p:spPr>
        <p:txBody>
          <a:bodyPr wrap="none" lIns="0" tIns="0" rIns="0" bIns="12144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182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万kWh</a:t>
            </a:r>
            <a:endParaRPr lang="en-US" sz="1100" dirty="0"/>
          </a:p>
        </p:txBody>
      </p:sp>
      <p:sp>
        <p:nvSpPr>
          <p:cNvPr id="77" name="Text 72"/>
          <p:cNvSpPr/>
          <p:nvPr/>
        </p:nvSpPr>
        <p:spPr>
          <a:xfrm>
            <a:off x="5654222" y="1448395"/>
            <a:ext cx="10072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月总用电量</a:t>
            </a:r>
            <a:endParaRPr lang="en-US" sz="700" dirty="0"/>
          </a:p>
        </p:txBody>
      </p:sp>
      <p:sp>
        <p:nvSpPr>
          <p:cNvPr id="78" name="Text 73"/>
          <p:cNvSpPr/>
          <p:nvPr/>
        </p:nvSpPr>
        <p:spPr>
          <a:xfrm>
            <a:off x="6717916" y="1177826"/>
            <a:ext cx="658797" cy="214313"/>
          </a:xfrm>
          <a:prstGeom prst="rect">
            <a:avLst/>
          </a:prstGeom>
          <a:ln/>
        </p:spPr>
        <p:txBody>
          <a:bodyPr wrap="none" lIns="0" tIns="0" rIns="0" bIns="12144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136.5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万元</a:t>
            </a:r>
            <a:endParaRPr lang="en-US" sz="1100" dirty="0"/>
          </a:p>
        </p:txBody>
      </p:sp>
      <p:sp>
        <p:nvSpPr>
          <p:cNvPr id="79" name="Text 74"/>
          <p:cNvSpPr/>
          <p:nvPr/>
        </p:nvSpPr>
        <p:spPr>
          <a:xfrm>
            <a:off x="6717190" y="1448395"/>
            <a:ext cx="10072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月电费</a:t>
            </a:r>
            <a:endParaRPr lang="en-US" sz="700" dirty="0"/>
          </a:p>
        </p:txBody>
      </p:sp>
      <p:sp>
        <p:nvSpPr>
          <p:cNvPr id="80" name="Text 75"/>
          <p:cNvSpPr/>
          <p:nvPr/>
        </p:nvSpPr>
        <p:spPr>
          <a:xfrm>
            <a:off x="7780883" y="1177826"/>
            <a:ext cx="605790" cy="214313"/>
          </a:xfrm>
          <a:prstGeom prst="rect">
            <a:avLst/>
          </a:prstGeom>
          <a:ln/>
        </p:spPr>
        <p:txBody>
          <a:bodyPr wrap="none" lIns="0" tIns="0" rIns="0" bIns="12144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1638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万元</a:t>
            </a:r>
            <a:endParaRPr lang="en-US" sz="1100" dirty="0"/>
          </a:p>
        </p:txBody>
      </p:sp>
      <p:sp>
        <p:nvSpPr>
          <p:cNvPr id="81" name="Text 76"/>
          <p:cNvSpPr/>
          <p:nvPr/>
        </p:nvSpPr>
        <p:spPr>
          <a:xfrm>
            <a:off x="7780158" y="1448395"/>
            <a:ext cx="10072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年电费折算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5656343" y="1660922"/>
            <a:ext cx="312896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按工业电价0.75元/kWh计</a:t>
            </a:r>
            <a:endParaRPr lang="en-US" sz="700" dirty="0"/>
          </a:p>
        </p:txBody>
      </p:sp>
      <p:sp>
        <p:nvSpPr>
          <p:cNvPr id="83" name="Text 78"/>
          <p:cNvSpPr/>
          <p:nvPr/>
        </p:nvSpPr>
        <p:spPr>
          <a:xfrm>
            <a:off x="5656343" y="2210991"/>
            <a:ext cx="3128963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关键发现</a:t>
            </a:r>
            <a:endParaRPr lang="en-US" sz="900" dirty="0"/>
          </a:p>
        </p:txBody>
      </p:sp>
      <p:sp>
        <p:nvSpPr>
          <p:cNvPr id="84" name="Text 79"/>
          <p:cNvSpPr/>
          <p:nvPr/>
        </p:nvSpPr>
        <p:spPr>
          <a:xfrm>
            <a:off x="5654948" y="2511028"/>
            <a:ext cx="14287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01</a:t>
            </a:r>
            <a:endParaRPr lang="en-US" sz="900" dirty="0"/>
          </a:p>
        </p:txBody>
      </p:sp>
      <p:sp>
        <p:nvSpPr>
          <p:cNvPr id="85" name="Text 80"/>
          <p:cNvSpPr/>
          <p:nvPr/>
        </p:nvSpPr>
        <p:spPr>
          <a:xfrm>
            <a:off x="5884943" y="2511028"/>
            <a:ext cx="290036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能效分化明显，1号线是洼地</a:t>
            </a:r>
            <a:endParaRPr lang="en-US" sz="900" dirty="0"/>
          </a:p>
        </p:txBody>
      </p:sp>
      <p:sp>
        <p:nvSpPr>
          <p:cNvPr id="86" name="Text 81"/>
          <p:cNvSpPr/>
          <p:nvPr/>
        </p:nvSpPr>
        <p:spPr>
          <a:xfrm>
            <a:off x="5884943" y="2682478"/>
            <a:ext cx="2900362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单位能耗0.85 kWh/件，约为其余三线（0.48-0.52）的1.6-1.8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倍。</a:t>
            </a:r>
            <a:endParaRPr lang="en-US" sz="700" dirty="0"/>
          </a:p>
        </p:txBody>
      </p:sp>
      <p:sp>
        <p:nvSpPr>
          <p:cNvPr id="87" name="Text 82"/>
          <p:cNvSpPr/>
          <p:nvPr/>
        </p:nvSpPr>
        <p:spPr>
          <a:xfrm>
            <a:off x="5654948" y="3105076"/>
            <a:ext cx="14287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02</a:t>
            </a:r>
            <a:endParaRPr lang="en-US" sz="900" dirty="0"/>
          </a:p>
        </p:txBody>
      </p:sp>
      <p:sp>
        <p:nvSpPr>
          <p:cNvPr id="88" name="Text 83"/>
          <p:cNvSpPr/>
          <p:nvPr/>
        </p:nvSpPr>
        <p:spPr>
          <a:xfrm>
            <a:off x="5883548" y="3105076"/>
            <a:ext cx="2721769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产量与电量份额倒挂</a:t>
            </a:r>
            <a:endParaRPr lang="en-US" sz="900" dirty="0"/>
          </a:p>
        </p:txBody>
      </p:sp>
      <p:sp>
        <p:nvSpPr>
          <p:cNvPr id="89" name="Text 84"/>
          <p:cNvSpPr/>
          <p:nvPr/>
        </p:nvSpPr>
        <p:spPr>
          <a:xfrm>
            <a:off x="5883548" y="3276526"/>
            <a:ext cx="2721769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1号线产量约占26%，用电量约占37%，用电结构最不经济。</a:t>
            </a:r>
            <a:endParaRPr lang="en-US" sz="700" dirty="0"/>
          </a:p>
        </p:txBody>
      </p:sp>
      <p:sp>
        <p:nvSpPr>
          <p:cNvPr id="90" name="Text 85"/>
          <p:cNvSpPr/>
          <p:nvPr/>
        </p:nvSpPr>
        <p:spPr>
          <a:xfrm>
            <a:off x="5654948" y="3549104"/>
            <a:ext cx="14287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03</a:t>
            </a:r>
            <a:endParaRPr lang="en-US" sz="900" dirty="0"/>
          </a:p>
        </p:txBody>
      </p:sp>
      <p:sp>
        <p:nvSpPr>
          <p:cNvPr id="91" name="Text 86"/>
          <p:cNvSpPr/>
          <p:nvPr/>
        </p:nvSpPr>
        <p:spPr>
          <a:xfrm>
            <a:off x="5883548" y="3549104"/>
            <a:ext cx="268605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高产量不必然高单耗</a:t>
            </a:r>
            <a:endParaRPr lang="en-US" sz="900" dirty="0"/>
          </a:p>
        </p:txBody>
      </p:sp>
      <p:sp>
        <p:nvSpPr>
          <p:cNvPr id="92" name="Text 87"/>
          <p:cNvSpPr/>
          <p:nvPr/>
        </p:nvSpPr>
        <p:spPr>
          <a:xfrm>
            <a:off x="5883548" y="3720554"/>
            <a:ext cx="26860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2号线月产量95万件为四线最高，单位能耗仅0.52 kWh/件。</a:t>
            </a:r>
            <a:endParaRPr lang="en-US" sz="700" dirty="0"/>
          </a:p>
        </p:txBody>
      </p:sp>
      <p:sp>
        <p:nvSpPr>
          <p:cNvPr id="93" name="Text 88"/>
          <p:cNvSpPr/>
          <p:nvPr/>
        </p:nvSpPr>
        <p:spPr>
          <a:xfrm>
            <a:off x="5654948" y="3993133"/>
            <a:ext cx="14287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04</a:t>
            </a:r>
            <a:endParaRPr lang="en-US" sz="900" dirty="0"/>
          </a:p>
        </p:txBody>
      </p:sp>
      <p:sp>
        <p:nvSpPr>
          <p:cNvPr id="94" name="Text 89"/>
          <p:cNvSpPr/>
          <p:nvPr/>
        </p:nvSpPr>
        <p:spPr>
          <a:xfrm>
            <a:off x="5884943" y="3993133"/>
            <a:ext cx="290036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3号线单耗最优但空载最高</a:t>
            </a:r>
            <a:endParaRPr lang="en-US" sz="900" dirty="0"/>
          </a:p>
        </p:txBody>
      </p:sp>
      <p:sp>
        <p:nvSpPr>
          <p:cNvPr id="95" name="Text 90"/>
          <p:cNvSpPr/>
          <p:nvPr/>
        </p:nvSpPr>
        <p:spPr>
          <a:xfrm>
            <a:off x="5884943" y="4164583"/>
            <a:ext cx="2900362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单位能耗0.48 kWh/件四线最优，空载能耗12 kWh/h为四线之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最，待机管理有改进空间。</a:t>
            </a:r>
            <a:endParaRPr lang="en-US" sz="700" dirty="0"/>
          </a:p>
        </p:txBody>
      </p:sp>
      <p:sp>
        <p:nvSpPr>
          <p:cNvPr id="96" name="Text 91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数据来源：产线能耗月度数据（用户素材，最近一个月实测）；月电费按工业电价0.75元/kWh测算，四线合计182万kWh、月电费约136.5万元及年电费约1638万元为推导值</a:t>
            </a:r>
            <a:endParaRPr lang="en-US" sz="700" dirty="0"/>
          </a:p>
        </p:txBody>
      </p:sp>
      <p:sp>
        <p:nvSpPr>
          <p:cNvPr id="65535" name="wm:hwcld:2026-09-22T15:19:12:fe90c0e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669727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642938" y="4323755"/>
            <a:ext cx="3836194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938" y="3723680"/>
            <a:ext cx="3836194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2938" y="3116461"/>
            <a:ext cx="3836194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938" y="2516386"/>
            <a:ext cx="3836194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2938" y="1916311"/>
            <a:ext cx="3836194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938" y="1316236"/>
            <a:ext cx="3836194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51" y="1099066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kWh/件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642938" y="4323755"/>
            <a:ext cx="3836194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889" y="426017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-47149" y="365867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0.2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-47149" y="305716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-47149" y="245566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0.6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-47149" y="1854160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252889" y="125265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805994" y="436733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1号线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1765042" y="436733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2号线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724090" y="436733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3号线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3683139" y="436733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4号线</a:t>
            </a:r>
            <a:endParaRPr lang="en-US" sz="788" dirty="0"/>
          </a:p>
        </p:txBody>
      </p:sp>
      <p:sp>
        <p:nvSpPr>
          <p:cNvPr id="22" name="Shape 20"/>
          <p:cNvSpPr/>
          <p:nvPr/>
        </p:nvSpPr>
        <p:spPr>
          <a:xfrm>
            <a:off x="958155" y="1763792"/>
            <a:ext cx="328613" cy="2556391"/>
          </a:xfrm>
          <a:custGeom>
            <a:avLst/>
            <a:gdLst/>
            <a:ahLst/>
            <a:cxnLst/>
            <a:rect l="l" t="t" r="r" b="b"/>
            <a:pathLst>
              <a:path w="328613" h="2556391">
                <a:moveTo>
                  <a:pt x="0" y="2556391"/>
                </a:moveTo>
                <a:lnTo>
                  <a:pt x="328613" y="2556391"/>
                </a:lnTo>
                <a:lnTo>
                  <a:pt x="3286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52020"/>
          </a:solidFill>
          <a:ln/>
        </p:spPr>
      </p:sp>
      <p:sp>
        <p:nvSpPr>
          <p:cNvPr id="23" name="Shape 21"/>
          <p:cNvSpPr/>
          <p:nvPr/>
        </p:nvSpPr>
        <p:spPr>
          <a:xfrm>
            <a:off x="1917204" y="2756273"/>
            <a:ext cx="328613" cy="1563910"/>
          </a:xfrm>
          <a:custGeom>
            <a:avLst/>
            <a:gdLst/>
            <a:ahLst/>
            <a:cxnLst/>
            <a:rect l="l" t="t" r="r" b="b"/>
            <a:pathLst>
              <a:path w="328613" h="1563910">
                <a:moveTo>
                  <a:pt x="0" y="1563910"/>
                </a:moveTo>
                <a:lnTo>
                  <a:pt x="328613" y="1563910"/>
                </a:lnTo>
                <a:lnTo>
                  <a:pt x="3286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2876252" y="2876574"/>
            <a:ext cx="328613" cy="1443609"/>
          </a:xfrm>
          <a:custGeom>
            <a:avLst/>
            <a:gdLst/>
            <a:ahLst/>
            <a:cxnLst/>
            <a:rect l="l" t="t" r="r" b="b"/>
            <a:pathLst>
              <a:path w="328613" h="1443609">
                <a:moveTo>
                  <a:pt x="0" y="1443609"/>
                </a:moveTo>
                <a:lnTo>
                  <a:pt x="328613" y="1443609"/>
                </a:lnTo>
                <a:lnTo>
                  <a:pt x="3286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5" name="Shape 23"/>
          <p:cNvSpPr/>
          <p:nvPr/>
        </p:nvSpPr>
        <p:spPr>
          <a:xfrm>
            <a:off x="3835301" y="2756273"/>
            <a:ext cx="328613" cy="1563910"/>
          </a:xfrm>
          <a:custGeom>
            <a:avLst/>
            <a:gdLst/>
            <a:ahLst/>
            <a:cxnLst/>
            <a:rect l="l" t="t" r="r" b="b"/>
            <a:pathLst>
              <a:path w="328613" h="1563910">
                <a:moveTo>
                  <a:pt x="0" y="1563910"/>
                </a:moveTo>
                <a:lnTo>
                  <a:pt x="328613" y="1563910"/>
                </a:lnTo>
                <a:lnTo>
                  <a:pt x="328613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0984" y="161805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0.85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1690033" y="261054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2649081" y="273084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0.48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3608130" y="2610541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642938" y="2970014"/>
            <a:ext cx="3836194" cy="0"/>
          </a:xfrm>
          <a:prstGeom prst="line">
            <a:avLst/>
          </a:prstGeom>
          <a:noFill/>
          <a:ln w="12700">
            <a:solidFill>
              <a:srgbClr val="EF9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4850" y="2906792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F91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行业标杆 0.45</a:t>
            </a:r>
            <a:endParaRPr lang="en-US" sz="788" dirty="0"/>
          </a:p>
        </p:txBody>
      </p:sp>
      <p:sp>
        <p:nvSpPr>
          <p:cNvPr id="32" name="Shape 30"/>
          <p:cNvSpPr/>
          <p:nvPr/>
        </p:nvSpPr>
        <p:spPr>
          <a:xfrm>
            <a:off x="5535681" y="798761"/>
            <a:ext cx="3393281" cy="1243013"/>
          </a:xfrm>
          <a:prstGeom prst="roundRect">
            <a:avLst>
              <a:gd name="adj" fmla="val 846"/>
            </a:avLst>
          </a:prstGeom>
          <a:solidFill>
            <a:srgbClr val="1A1A1A"/>
          </a:solidFill>
          <a:ln/>
        </p:spPr>
      </p:sp>
      <p:sp>
        <p:nvSpPr>
          <p:cNvPr id="33" name="Shape 31"/>
          <p:cNvSpPr/>
          <p:nvPr/>
        </p:nvSpPr>
        <p:spPr>
          <a:xfrm>
            <a:off x="5535681" y="2364135"/>
            <a:ext cx="3393281" cy="1521619"/>
          </a:xfrm>
          <a:prstGeom prst="roundRect">
            <a:avLst>
              <a:gd name="adj" fmla="val 564"/>
            </a:avLst>
          </a:prstGeom>
          <a:solidFill>
            <a:srgbClr val="1A1A1A"/>
          </a:solidFill>
          <a:ln w="12383">
            <a:solidFill>
              <a:srgbClr val="76B9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35681" y="4207669"/>
            <a:ext cx="3393281" cy="400050"/>
          </a:xfrm>
          <a:prstGeom prst="roundRect">
            <a:avLst>
              <a:gd name="adj" fmla="val 2041"/>
            </a:avLst>
          </a:prstGeom>
          <a:solidFill>
            <a:srgbClr val="1A1A1A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5681" y="4207669"/>
            <a:ext cx="3393281" cy="40005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214313" y="270570"/>
            <a:ext cx="8715375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对标行业标杆0.45 kWh/件：1号线超标杆89%，2/3/4号线已接近标杆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214313" y="798314"/>
            <a:ext cx="9144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四线单位能耗对标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14438" y="819745"/>
            <a:ext cx="1607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 kWh/件 · 虚线为行业标杆 0.45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649981" y="911721"/>
            <a:ext cx="3164681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2/3/4号线：已接近标杆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649255" y="1153716"/>
            <a:ext cx="907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2号线 0.52 kWh/件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8186738" y="1153716"/>
            <a:ext cx="6286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超标杆约16%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5649255" y="1346597"/>
            <a:ext cx="907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3号线 0.48 kWh/件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550944" y="1346597"/>
            <a:ext cx="12644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四线最优 · 超标杆约7%-8%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649255" y="1539478"/>
            <a:ext cx="907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4号线 0.52 kWh/件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8186738" y="1539478"/>
            <a:ext cx="6286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超标杆约16%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5649981" y="1762274"/>
            <a:ext cx="3164681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三线优化空间有限，改造收益难以覆盖投入。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664268" y="2492722"/>
            <a:ext cx="3136106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1号线：唯一显著能耗洼地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663543" y="2721322"/>
            <a:ext cx="921544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0.85 kWh/件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656524" y="2756148"/>
            <a:ext cx="1350169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5202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超标杆约89% · 绝对差距0.40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663543" y="2993678"/>
            <a:ext cx="64293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降至标杆 0.45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7408069" y="2993678"/>
            <a:ext cx="139303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月多耗电 32万kWh · 约24万元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663543" y="3200846"/>
            <a:ext cx="778669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降至 0.5（保守）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408069" y="3200846"/>
            <a:ext cx="139303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月多耗电 28万kWh · 约21万元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664268" y="3421410"/>
            <a:ext cx="3136106" cy="3357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按月产80万件、电价 0.75 元/kWh 测算；降至标杆月用电仅需 36万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kWh。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5664268" y="4321969"/>
            <a:ext cx="3339417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节能改造的优先级与最大价值点明确指向 </a:t>
            </a:r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数据来源：产线能耗数据（单源口径，无外部交叉验证）；电价换算系数 0.75 元/kWh · 2026年9月汇报期</a:t>
            </a:r>
            <a:endParaRPr lang="en-US" sz="700" dirty="0"/>
          </a:p>
        </p:txBody>
      </p:sp>
      <p:sp>
        <p:nvSpPr>
          <p:cNvPr id="65535" name="wm:hwcld:2026-09-22T15:19:12:fe90c0e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669727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2861" y="799207"/>
            <a:ext cx="5129213" cy="3200400"/>
          </a:xfrm>
          <a:prstGeom prst="roundRect">
            <a:avLst>
              <a:gd name="adj" fmla="val 128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90657" y="3466505"/>
            <a:ext cx="4400341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657" y="3080742"/>
            <a:ext cx="4400341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657" y="2694980"/>
            <a:ext cx="4400341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0657" y="2309217"/>
            <a:ext cx="4400341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0657" y="1930598"/>
            <a:ext cx="4400341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657" y="1544836"/>
            <a:ext cx="4400341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657" y="1331238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单位能耗 (kWh/件)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3007892" y="1331238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空载能耗 (kWh/h)</a:t>
            </a:r>
            <a:endParaRPr lang="en-US" sz="788" dirty="0"/>
          </a:p>
        </p:txBody>
      </p:sp>
      <p:sp>
        <p:nvSpPr>
          <p:cNvPr id="13" name="Shape 11"/>
          <p:cNvSpPr/>
          <p:nvPr/>
        </p:nvSpPr>
        <p:spPr>
          <a:xfrm>
            <a:off x="590657" y="3466505"/>
            <a:ext cx="4400341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0608" y="340292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-99430" y="301859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0.2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-99430" y="263425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-99430" y="224992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0.6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-99430" y="1865590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00608" y="148125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5048147" y="340292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5048147" y="308264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5048147" y="2762369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048147" y="244209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5048147" y="212181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5048147" y="180153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10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5048147" y="148125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12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824232" y="351008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NaN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1924317" y="351008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NaN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3024402" y="351008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NaN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4124487" y="351008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NaN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889240" y="1829514"/>
            <a:ext cx="228600" cy="1633418"/>
          </a:xfrm>
          <a:custGeom>
            <a:avLst/>
            <a:gdLst/>
            <a:ahLst/>
            <a:cxnLst/>
            <a:rect l="l" t="t" r="r" b="b"/>
            <a:pathLst>
              <a:path w="228600" h="1633418">
                <a:moveTo>
                  <a:pt x="0" y="1633418"/>
                </a:moveTo>
                <a:lnTo>
                  <a:pt x="228600" y="1633418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989325" y="2463665"/>
            <a:ext cx="228600" cy="999268"/>
          </a:xfrm>
          <a:custGeom>
            <a:avLst/>
            <a:gdLst/>
            <a:ahLst/>
            <a:cxnLst/>
            <a:rect l="l" t="t" r="r" b="b"/>
            <a:pathLst>
              <a:path w="228600" h="999268">
                <a:moveTo>
                  <a:pt x="0" y="999268"/>
                </a:moveTo>
                <a:lnTo>
                  <a:pt x="228600" y="999268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33" name="Shape 31"/>
          <p:cNvSpPr/>
          <p:nvPr/>
        </p:nvSpPr>
        <p:spPr>
          <a:xfrm>
            <a:off x="3089410" y="2540532"/>
            <a:ext cx="228600" cy="922401"/>
          </a:xfrm>
          <a:custGeom>
            <a:avLst/>
            <a:gdLst/>
            <a:ahLst/>
            <a:cxnLst/>
            <a:rect l="l" t="t" r="r" b="b"/>
            <a:pathLst>
              <a:path w="228600" h="922401">
                <a:moveTo>
                  <a:pt x="0" y="922401"/>
                </a:moveTo>
                <a:lnTo>
                  <a:pt x="228600" y="922401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34" name="Shape 32"/>
          <p:cNvSpPr/>
          <p:nvPr/>
        </p:nvSpPr>
        <p:spPr>
          <a:xfrm>
            <a:off x="4189495" y="2463665"/>
            <a:ext cx="228600" cy="999268"/>
          </a:xfrm>
          <a:custGeom>
            <a:avLst/>
            <a:gdLst/>
            <a:ahLst/>
            <a:cxnLst/>
            <a:rect l="l" t="t" r="r" b="b"/>
            <a:pathLst>
              <a:path w="228600" h="999268">
                <a:moveTo>
                  <a:pt x="0" y="999268"/>
                </a:moveTo>
                <a:lnTo>
                  <a:pt x="228600" y="999268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63560" y="2181821"/>
            <a:ext cx="228600" cy="1281112"/>
          </a:xfrm>
          <a:custGeom>
            <a:avLst/>
            <a:gdLst/>
            <a:ahLst/>
            <a:cxnLst/>
            <a:rect l="l" t="t" r="r" b="b"/>
            <a:pathLst>
              <a:path w="228600" h="1281112">
                <a:moveTo>
                  <a:pt x="0" y="1281112"/>
                </a:moveTo>
                <a:lnTo>
                  <a:pt x="228600" y="1281112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500"/>
          </a:solidFill>
          <a:ln/>
        </p:spPr>
      </p:sp>
      <p:sp>
        <p:nvSpPr>
          <p:cNvPr id="36" name="Shape 34"/>
          <p:cNvSpPr/>
          <p:nvPr/>
        </p:nvSpPr>
        <p:spPr>
          <a:xfrm>
            <a:off x="2263645" y="2502098"/>
            <a:ext cx="228600" cy="960834"/>
          </a:xfrm>
          <a:custGeom>
            <a:avLst/>
            <a:gdLst/>
            <a:ahLst/>
            <a:cxnLst/>
            <a:rect l="l" t="t" r="r" b="b"/>
            <a:pathLst>
              <a:path w="228600" h="960834">
                <a:moveTo>
                  <a:pt x="0" y="960834"/>
                </a:moveTo>
                <a:lnTo>
                  <a:pt x="228600" y="960834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500"/>
          </a:solidFill>
          <a:ln/>
        </p:spPr>
      </p:sp>
      <p:sp>
        <p:nvSpPr>
          <p:cNvPr id="37" name="Shape 35"/>
          <p:cNvSpPr/>
          <p:nvPr/>
        </p:nvSpPr>
        <p:spPr>
          <a:xfrm>
            <a:off x="3363730" y="1541264"/>
            <a:ext cx="228600" cy="1921669"/>
          </a:xfrm>
          <a:custGeom>
            <a:avLst/>
            <a:gdLst/>
            <a:ahLst/>
            <a:cxnLst/>
            <a:rect l="l" t="t" r="r" b="b"/>
            <a:pathLst>
              <a:path w="228600" h="1921669">
                <a:moveTo>
                  <a:pt x="0" y="1921669"/>
                </a:moveTo>
                <a:lnTo>
                  <a:pt x="228600" y="1921669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500"/>
          </a:solidFill>
          <a:ln/>
        </p:spPr>
      </p:sp>
      <p:sp>
        <p:nvSpPr>
          <p:cNvPr id="38" name="Shape 36"/>
          <p:cNvSpPr/>
          <p:nvPr/>
        </p:nvSpPr>
        <p:spPr>
          <a:xfrm>
            <a:off x="4463815" y="2662238"/>
            <a:ext cx="228600" cy="800695"/>
          </a:xfrm>
          <a:custGeom>
            <a:avLst/>
            <a:gdLst/>
            <a:ahLst/>
            <a:cxnLst/>
            <a:rect l="l" t="t" r="r" b="b"/>
            <a:pathLst>
              <a:path w="228600" h="800695">
                <a:moveTo>
                  <a:pt x="0" y="800695"/>
                </a:moveTo>
                <a:lnTo>
                  <a:pt x="228600" y="800695"/>
                </a:lnTo>
                <a:lnTo>
                  <a:pt x="228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F6500"/>
          </a:solidFill>
          <a:ln/>
        </p:spPr>
      </p:sp>
      <p:sp>
        <p:nvSpPr>
          <p:cNvPr id="39" name="Text 37"/>
          <p:cNvSpPr/>
          <p:nvPr/>
        </p:nvSpPr>
        <p:spPr>
          <a:xfrm>
            <a:off x="612062" y="1683782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0.85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1712148" y="231793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2812232" y="2394799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0.48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3912318" y="2317933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0.52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1111410" y="2036088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EF91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</a:t>
            </a:r>
            <a:endParaRPr lang="en-US" sz="788" dirty="0"/>
          </a:p>
        </p:txBody>
      </p:sp>
      <p:sp>
        <p:nvSpPr>
          <p:cNvPr id="44" name="Text 42"/>
          <p:cNvSpPr/>
          <p:nvPr/>
        </p:nvSpPr>
        <p:spPr>
          <a:xfrm>
            <a:off x="2211496" y="235636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EF91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3236571" y="139553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EF91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12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4411666" y="251650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EF9100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5</a:t>
            </a:r>
            <a:endParaRPr lang="en-US" sz="788" dirty="0"/>
          </a:p>
        </p:txBody>
      </p:sp>
      <p:sp>
        <p:nvSpPr>
          <p:cNvPr id="47" name="Shape 45"/>
          <p:cNvSpPr/>
          <p:nvPr/>
        </p:nvSpPr>
        <p:spPr>
          <a:xfrm>
            <a:off x="1664985" y="1169789"/>
            <a:ext cx="2227866" cy="171450"/>
          </a:xfrm>
          <a:custGeom>
            <a:avLst/>
            <a:gdLst/>
            <a:ahLst/>
            <a:cxnLst/>
            <a:rect l="l" t="t" r="r" b="b"/>
            <a:pathLst>
              <a:path w="2227866" h="171450">
                <a:moveTo>
                  <a:pt x="0" y="0"/>
                </a:moveTo>
                <a:lnTo>
                  <a:pt x="2227866" y="0"/>
                </a:lnTo>
                <a:lnTo>
                  <a:pt x="2227866" y="171450"/>
                </a:lnTo>
                <a:lnTo>
                  <a:pt x="0" y="171450"/>
                </a:lnTo>
                <a:close/>
              </a:path>
            </a:pathLst>
          </a:custGeom>
          <a:noFill/>
          <a:ln/>
        </p:spPr>
      </p:sp>
      <p:sp>
        <p:nvSpPr>
          <p:cNvPr id="48" name="Shape 46"/>
          <p:cNvSpPr/>
          <p:nvPr/>
        </p:nvSpPr>
        <p:spPr>
          <a:xfrm>
            <a:off x="1700704" y="1219795"/>
            <a:ext cx="114300" cy="71438"/>
          </a:xfrm>
          <a:custGeom>
            <a:avLst/>
            <a:gdLst/>
            <a:ahLst/>
            <a:cxnLst/>
            <a:rect l="l" t="t" r="r" b="b"/>
            <a:pathLst>
              <a:path w="114300" h="71438">
                <a:moveTo>
                  <a:pt x="17859" y="0"/>
                </a:moveTo>
                <a:lnTo>
                  <a:pt x="96441" y="0"/>
                </a:lnTo>
                <a:lnTo>
                  <a:pt x="97317" y="22"/>
                </a:lnTo>
                <a:lnTo>
                  <a:pt x="98191" y="86"/>
                </a:lnTo>
                <a:lnTo>
                  <a:pt x="99061" y="193"/>
                </a:lnTo>
                <a:lnTo>
                  <a:pt x="99925" y="343"/>
                </a:lnTo>
                <a:lnTo>
                  <a:pt x="100780" y="535"/>
                </a:lnTo>
                <a:lnTo>
                  <a:pt x="101625" y="769"/>
                </a:lnTo>
                <a:lnTo>
                  <a:pt x="102457" y="1044"/>
                </a:lnTo>
                <a:lnTo>
                  <a:pt x="103275" y="1359"/>
                </a:lnTo>
                <a:lnTo>
                  <a:pt x="104076" y="1715"/>
                </a:lnTo>
                <a:lnTo>
                  <a:pt x="104859" y="2109"/>
                </a:lnTo>
                <a:lnTo>
                  <a:pt x="105622" y="2541"/>
                </a:lnTo>
                <a:lnTo>
                  <a:pt x="106363" y="3010"/>
                </a:lnTo>
                <a:lnTo>
                  <a:pt x="107079" y="3515"/>
                </a:lnTo>
                <a:lnTo>
                  <a:pt x="107770" y="4054"/>
                </a:lnTo>
                <a:lnTo>
                  <a:pt x="108434" y="4626"/>
                </a:lnTo>
                <a:lnTo>
                  <a:pt x="109069" y="5231"/>
                </a:lnTo>
                <a:lnTo>
                  <a:pt x="109674" y="5866"/>
                </a:lnTo>
                <a:lnTo>
                  <a:pt x="110246" y="6530"/>
                </a:lnTo>
                <a:lnTo>
                  <a:pt x="110785" y="7221"/>
                </a:lnTo>
                <a:lnTo>
                  <a:pt x="111290" y="7937"/>
                </a:lnTo>
                <a:lnTo>
                  <a:pt x="111759" y="8678"/>
                </a:lnTo>
                <a:lnTo>
                  <a:pt x="112191" y="9441"/>
                </a:lnTo>
                <a:lnTo>
                  <a:pt x="112585" y="10224"/>
                </a:lnTo>
                <a:lnTo>
                  <a:pt x="112941" y="11025"/>
                </a:lnTo>
                <a:lnTo>
                  <a:pt x="113256" y="11843"/>
                </a:lnTo>
                <a:lnTo>
                  <a:pt x="113531" y="12675"/>
                </a:lnTo>
                <a:lnTo>
                  <a:pt x="113765" y="13520"/>
                </a:lnTo>
                <a:lnTo>
                  <a:pt x="113957" y="14375"/>
                </a:lnTo>
                <a:lnTo>
                  <a:pt x="114107" y="15239"/>
                </a:lnTo>
                <a:lnTo>
                  <a:pt x="114214" y="16109"/>
                </a:lnTo>
                <a:lnTo>
                  <a:pt x="114278" y="16983"/>
                </a:lnTo>
                <a:lnTo>
                  <a:pt x="114300" y="17859"/>
                </a:lnTo>
                <a:lnTo>
                  <a:pt x="114300" y="53578"/>
                </a:lnTo>
                <a:lnTo>
                  <a:pt x="114278" y="54454"/>
                </a:lnTo>
                <a:lnTo>
                  <a:pt x="114214" y="55329"/>
                </a:lnTo>
                <a:lnTo>
                  <a:pt x="114107" y="56199"/>
                </a:lnTo>
                <a:lnTo>
                  <a:pt x="113957" y="57062"/>
                </a:lnTo>
                <a:lnTo>
                  <a:pt x="113765" y="57918"/>
                </a:lnTo>
                <a:lnTo>
                  <a:pt x="113531" y="58762"/>
                </a:lnTo>
                <a:lnTo>
                  <a:pt x="113256" y="59595"/>
                </a:lnTo>
                <a:lnTo>
                  <a:pt x="112941" y="60413"/>
                </a:lnTo>
                <a:lnTo>
                  <a:pt x="112585" y="61214"/>
                </a:lnTo>
                <a:lnTo>
                  <a:pt x="112191" y="61997"/>
                </a:lnTo>
                <a:lnTo>
                  <a:pt x="111759" y="62760"/>
                </a:lnTo>
                <a:lnTo>
                  <a:pt x="111290" y="63500"/>
                </a:lnTo>
                <a:lnTo>
                  <a:pt x="110785" y="64217"/>
                </a:lnTo>
                <a:lnTo>
                  <a:pt x="110246" y="64908"/>
                </a:lnTo>
                <a:lnTo>
                  <a:pt x="109674" y="65572"/>
                </a:lnTo>
                <a:lnTo>
                  <a:pt x="109069" y="66207"/>
                </a:lnTo>
                <a:lnTo>
                  <a:pt x="108434" y="66811"/>
                </a:lnTo>
                <a:lnTo>
                  <a:pt x="107770" y="67384"/>
                </a:lnTo>
                <a:lnTo>
                  <a:pt x="107079" y="67923"/>
                </a:lnTo>
                <a:lnTo>
                  <a:pt x="106363" y="68428"/>
                </a:lnTo>
                <a:lnTo>
                  <a:pt x="105622" y="68897"/>
                </a:lnTo>
                <a:lnTo>
                  <a:pt x="104859" y="69329"/>
                </a:lnTo>
                <a:lnTo>
                  <a:pt x="104076" y="69723"/>
                </a:lnTo>
                <a:lnTo>
                  <a:pt x="103275" y="70078"/>
                </a:lnTo>
                <a:lnTo>
                  <a:pt x="102457" y="70394"/>
                </a:lnTo>
                <a:lnTo>
                  <a:pt x="101625" y="70668"/>
                </a:lnTo>
                <a:lnTo>
                  <a:pt x="100780" y="70902"/>
                </a:lnTo>
                <a:lnTo>
                  <a:pt x="99925" y="71094"/>
                </a:lnTo>
                <a:lnTo>
                  <a:pt x="99061" y="71244"/>
                </a:lnTo>
                <a:lnTo>
                  <a:pt x="98191" y="71352"/>
                </a:lnTo>
                <a:lnTo>
                  <a:pt x="97317" y="71416"/>
                </a:lnTo>
                <a:lnTo>
                  <a:pt x="96441" y="71438"/>
                </a:lnTo>
                <a:lnTo>
                  <a:pt x="17859" y="71438"/>
                </a:lnTo>
                <a:lnTo>
                  <a:pt x="16983" y="71416"/>
                </a:lnTo>
                <a:lnTo>
                  <a:pt x="16109" y="71352"/>
                </a:lnTo>
                <a:lnTo>
                  <a:pt x="15239" y="71244"/>
                </a:lnTo>
                <a:lnTo>
                  <a:pt x="14375" y="71094"/>
                </a:lnTo>
                <a:lnTo>
                  <a:pt x="13520" y="70902"/>
                </a:lnTo>
                <a:lnTo>
                  <a:pt x="12675" y="70668"/>
                </a:lnTo>
                <a:lnTo>
                  <a:pt x="11843" y="70394"/>
                </a:lnTo>
                <a:lnTo>
                  <a:pt x="11025" y="70078"/>
                </a:lnTo>
                <a:lnTo>
                  <a:pt x="10224" y="69723"/>
                </a:lnTo>
                <a:lnTo>
                  <a:pt x="9441" y="69329"/>
                </a:lnTo>
                <a:lnTo>
                  <a:pt x="8678" y="68897"/>
                </a:lnTo>
                <a:lnTo>
                  <a:pt x="7937" y="68428"/>
                </a:lnTo>
                <a:lnTo>
                  <a:pt x="7221" y="67923"/>
                </a:lnTo>
                <a:lnTo>
                  <a:pt x="6530" y="67384"/>
                </a:lnTo>
                <a:lnTo>
                  <a:pt x="5866" y="66811"/>
                </a:lnTo>
                <a:lnTo>
                  <a:pt x="5231" y="66207"/>
                </a:lnTo>
                <a:lnTo>
                  <a:pt x="4626" y="65572"/>
                </a:lnTo>
                <a:lnTo>
                  <a:pt x="4054" y="64908"/>
                </a:lnTo>
                <a:lnTo>
                  <a:pt x="3515" y="64217"/>
                </a:lnTo>
                <a:lnTo>
                  <a:pt x="3010" y="63500"/>
                </a:lnTo>
                <a:lnTo>
                  <a:pt x="2541" y="62760"/>
                </a:lnTo>
                <a:lnTo>
                  <a:pt x="2109" y="61997"/>
                </a:lnTo>
                <a:lnTo>
                  <a:pt x="1715" y="61214"/>
                </a:lnTo>
                <a:lnTo>
                  <a:pt x="1359" y="60413"/>
                </a:lnTo>
                <a:lnTo>
                  <a:pt x="1044" y="59595"/>
                </a:lnTo>
                <a:lnTo>
                  <a:pt x="769" y="58762"/>
                </a:lnTo>
                <a:lnTo>
                  <a:pt x="535" y="57918"/>
                </a:lnTo>
                <a:lnTo>
                  <a:pt x="343" y="57062"/>
                </a:lnTo>
                <a:lnTo>
                  <a:pt x="193" y="56199"/>
                </a:lnTo>
                <a:lnTo>
                  <a:pt x="86" y="55329"/>
                </a:lnTo>
                <a:lnTo>
                  <a:pt x="22" y="54454"/>
                </a:lnTo>
                <a:lnTo>
                  <a:pt x="0" y="53578"/>
                </a:lnTo>
                <a:lnTo>
                  <a:pt x="0" y="17859"/>
                </a:lnTo>
                <a:lnTo>
                  <a:pt x="22" y="16983"/>
                </a:lnTo>
                <a:lnTo>
                  <a:pt x="86" y="16109"/>
                </a:lnTo>
                <a:lnTo>
                  <a:pt x="193" y="15239"/>
                </a:lnTo>
                <a:lnTo>
                  <a:pt x="343" y="14375"/>
                </a:lnTo>
                <a:lnTo>
                  <a:pt x="535" y="13520"/>
                </a:lnTo>
                <a:lnTo>
                  <a:pt x="769" y="12675"/>
                </a:lnTo>
                <a:lnTo>
                  <a:pt x="1044" y="11843"/>
                </a:lnTo>
                <a:lnTo>
                  <a:pt x="1359" y="11025"/>
                </a:lnTo>
                <a:lnTo>
                  <a:pt x="1715" y="10224"/>
                </a:lnTo>
                <a:lnTo>
                  <a:pt x="2109" y="9441"/>
                </a:lnTo>
                <a:lnTo>
                  <a:pt x="2541" y="8678"/>
                </a:lnTo>
                <a:lnTo>
                  <a:pt x="3010" y="7937"/>
                </a:lnTo>
                <a:lnTo>
                  <a:pt x="3515" y="7221"/>
                </a:lnTo>
                <a:lnTo>
                  <a:pt x="4054" y="6530"/>
                </a:lnTo>
                <a:lnTo>
                  <a:pt x="4626" y="5866"/>
                </a:lnTo>
                <a:lnTo>
                  <a:pt x="5231" y="5231"/>
                </a:lnTo>
                <a:lnTo>
                  <a:pt x="5866" y="4626"/>
                </a:lnTo>
                <a:lnTo>
                  <a:pt x="6530" y="4054"/>
                </a:lnTo>
                <a:lnTo>
                  <a:pt x="7221" y="3515"/>
                </a:lnTo>
                <a:lnTo>
                  <a:pt x="7937" y="3010"/>
                </a:lnTo>
                <a:lnTo>
                  <a:pt x="8678" y="2541"/>
                </a:lnTo>
                <a:lnTo>
                  <a:pt x="9441" y="2109"/>
                </a:lnTo>
                <a:lnTo>
                  <a:pt x="10224" y="1715"/>
                </a:lnTo>
                <a:lnTo>
                  <a:pt x="11025" y="1359"/>
                </a:lnTo>
                <a:lnTo>
                  <a:pt x="11843" y="1044"/>
                </a:lnTo>
                <a:lnTo>
                  <a:pt x="12675" y="769"/>
                </a:lnTo>
                <a:lnTo>
                  <a:pt x="13520" y="535"/>
                </a:lnTo>
                <a:lnTo>
                  <a:pt x="14375" y="343"/>
                </a:lnTo>
                <a:lnTo>
                  <a:pt x="15239" y="193"/>
                </a:lnTo>
                <a:lnTo>
                  <a:pt x="16109" y="86"/>
                </a:lnTo>
                <a:lnTo>
                  <a:pt x="16983" y="22"/>
                </a:lnTo>
                <a:lnTo>
                  <a:pt x="17859" y="0"/>
                </a:lnTo>
              </a:path>
            </a:pathLst>
          </a:custGeom>
          <a:solidFill>
            <a:srgbClr val="76B900"/>
          </a:solidFill>
          <a:ln/>
        </p:spPr>
      </p:sp>
      <p:sp>
        <p:nvSpPr>
          <p:cNvPr id="49" name="Text 47"/>
          <p:cNvSpPr/>
          <p:nvPr/>
        </p:nvSpPr>
        <p:spPr>
          <a:xfrm>
            <a:off x="1850723" y="1195507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单位能耗 (kWh/件)</a:t>
            </a:r>
            <a:endParaRPr lang="en-US" sz="788" dirty="0"/>
          </a:p>
        </p:txBody>
      </p:sp>
      <p:sp>
        <p:nvSpPr>
          <p:cNvPr id="50" name="Shape 48"/>
          <p:cNvSpPr/>
          <p:nvPr/>
        </p:nvSpPr>
        <p:spPr>
          <a:xfrm>
            <a:off x="1700704" y="1205508"/>
            <a:ext cx="983375" cy="100013"/>
          </a:xfrm>
          <a:custGeom>
            <a:avLst/>
            <a:gdLst/>
            <a:ahLst/>
            <a:cxnLst/>
            <a:rect l="l" t="t" r="r" b="b"/>
            <a:pathLst>
              <a:path w="983375" h="100013">
                <a:moveTo>
                  <a:pt x="0" y="0"/>
                </a:moveTo>
                <a:lnTo>
                  <a:pt x="983375" y="0"/>
                </a:lnTo>
                <a:lnTo>
                  <a:pt x="983375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51" name="Shape 49"/>
          <p:cNvSpPr/>
          <p:nvPr/>
        </p:nvSpPr>
        <p:spPr>
          <a:xfrm>
            <a:off x="2912679" y="1219795"/>
            <a:ext cx="114300" cy="71438"/>
          </a:xfrm>
          <a:custGeom>
            <a:avLst/>
            <a:gdLst/>
            <a:ahLst/>
            <a:cxnLst/>
            <a:rect l="l" t="t" r="r" b="b"/>
            <a:pathLst>
              <a:path w="114300" h="71438">
                <a:moveTo>
                  <a:pt x="17859" y="0"/>
                </a:moveTo>
                <a:lnTo>
                  <a:pt x="96441" y="0"/>
                </a:lnTo>
                <a:lnTo>
                  <a:pt x="97317" y="22"/>
                </a:lnTo>
                <a:lnTo>
                  <a:pt x="98191" y="86"/>
                </a:lnTo>
                <a:lnTo>
                  <a:pt x="99061" y="193"/>
                </a:lnTo>
                <a:lnTo>
                  <a:pt x="99925" y="343"/>
                </a:lnTo>
                <a:lnTo>
                  <a:pt x="100780" y="535"/>
                </a:lnTo>
                <a:lnTo>
                  <a:pt x="101625" y="769"/>
                </a:lnTo>
                <a:lnTo>
                  <a:pt x="102457" y="1044"/>
                </a:lnTo>
                <a:lnTo>
                  <a:pt x="103275" y="1359"/>
                </a:lnTo>
                <a:lnTo>
                  <a:pt x="104076" y="1715"/>
                </a:lnTo>
                <a:lnTo>
                  <a:pt x="104859" y="2109"/>
                </a:lnTo>
                <a:lnTo>
                  <a:pt x="105622" y="2541"/>
                </a:lnTo>
                <a:lnTo>
                  <a:pt x="106363" y="3010"/>
                </a:lnTo>
                <a:lnTo>
                  <a:pt x="107079" y="3515"/>
                </a:lnTo>
                <a:lnTo>
                  <a:pt x="107770" y="4054"/>
                </a:lnTo>
                <a:lnTo>
                  <a:pt x="108434" y="4626"/>
                </a:lnTo>
                <a:lnTo>
                  <a:pt x="109069" y="5231"/>
                </a:lnTo>
                <a:lnTo>
                  <a:pt x="109674" y="5866"/>
                </a:lnTo>
                <a:lnTo>
                  <a:pt x="110246" y="6530"/>
                </a:lnTo>
                <a:lnTo>
                  <a:pt x="110785" y="7221"/>
                </a:lnTo>
                <a:lnTo>
                  <a:pt x="111290" y="7937"/>
                </a:lnTo>
                <a:lnTo>
                  <a:pt x="111759" y="8678"/>
                </a:lnTo>
                <a:lnTo>
                  <a:pt x="112191" y="9441"/>
                </a:lnTo>
                <a:lnTo>
                  <a:pt x="112585" y="10224"/>
                </a:lnTo>
                <a:lnTo>
                  <a:pt x="112941" y="11025"/>
                </a:lnTo>
                <a:lnTo>
                  <a:pt x="113256" y="11843"/>
                </a:lnTo>
                <a:lnTo>
                  <a:pt x="113531" y="12675"/>
                </a:lnTo>
                <a:lnTo>
                  <a:pt x="113765" y="13520"/>
                </a:lnTo>
                <a:lnTo>
                  <a:pt x="113957" y="14375"/>
                </a:lnTo>
                <a:lnTo>
                  <a:pt x="114107" y="15239"/>
                </a:lnTo>
                <a:lnTo>
                  <a:pt x="114214" y="16109"/>
                </a:lnTo>
                <a:lnTo>
                  <a:pt x="114278" y="16983"/>
                </a:lnTo>
                <a:lnTo>
                  <a:pt x="114300" y="17859"/>
                </a:lnTo>
                <a:lnTo>
                  <a:pt x="114300" y="53578"/>
                </a:lnTo>
                <a:lnTo>
                  <a:pt x="114278" y="54454"/>
                </a:lnTo>
                <a:lnTo>
                  <a:pt x="114214" y="55329"/>
                </a:lnTo>
                <a:lnTo>
                  <a:pt x="114107" y="56199"/>
                </a:lnTo>
                <a:lnTo>
                  <a:pt x="113957" y="57062"/>
                </a:lnTo>
                <a:lnTo>
                  <a:pt x="113765" y="57918"/>
                </a:lnTo>
                <a:lnTo>
                  <a:pt x="113531" y="58762"/>
                </a:lnTo>
                <a:lnTo>
                  <a:pt x="113256" y="59595"/>
                </a:lnTo>
                <a:lnTo>
                  <a:pt x="112941" y="60413"/>
                </a:lnTo>
                <a:lnTo>
                  <a:pt x="112585" y="61214"/>
                </a:lnTo>
                <a:lnTo>
                  <a:pt x="112191" y="61997"/>
                </a:lnTo>
                <a:lnTo>
                  <a:pt x="111759" y="62760"/>
                </a:lnTo>
                <a:lnTo>
                  <a:pt x="111290" y="63500"/>
                </a:lnTo>
                <a:lnTo>
                  <a:pt x="110785" y="64217"/>
                </a:lnTo>
                <a:lnTo>
                  <a:pt x="110246" y="64908"/>
                </a:lnTo>
                <a:lnTo>
                  <a:pt x="109674" y="65572"/>
                </a:lnTo>
                <a:lnTo>
                  <a:pt x="109069" y="66207"/>
                </a:lnTo>
                <a:lnTo>
                  <a:pt x="108434" y="66811"/>
                </a:lnTo>
                <a:lnTo>
                  <a:pt x="107770" y="67384"/>
                </a:lnTo>
                <a:lnTo>
                  <a:pt x="107079" y="67923"/>
                </a:lnTo>
                <a:lnTo>
                  <a:pt x="106363" y="68428"/>
                </a:lnTo>
                <a:lnTo>
                  <a:pt x="105622" y="68897"/>
                </a:lnTo>
                <a:lnTo>
                  <a:pt x="104859" y="69329"/>
                </a:lnTo>
                <a:lnTo>
                  <a:pt x="104076" y="69723"/>
                </a:lnTo>
                <a:lnTo>
                  <a:pt x="103275" y="70078"/>
                </a:lnTo>
                <a:lnTo>
                  <a:pt x="102457" y="70394"/>
                </a:lnTo>
                <a:lnTo>
                  <a:pt x="101625" y="70668"/>
                </a:lnTo>
                <a:lnTo>
                  <a:pt x="100780" y="70902"/>
                </a:lnTo>
                <a:lnTo>
                  <a:pt x="99925" y="71094"/>
                </a:lnTo>
                <a:lnTo>
                  <a:pt x="99061" y="71244"/>
                </a:lnTo>
                <a:lnTo>
                  <a:pt x="98191" y="71352"/>
                </a:lnTo>
                <a:lnTo>
                  <a:pt x="97317" y="71416"/>
                </a:lnTo>
                <a:lnTo>
                  <a:pt x="96441" y="71438"/>
                </a:lnTo>
                <a:lnTo>
                  <a:pt x="17859" y="71438"/>
                </a:lnTo>
                <a:lnTo>
                  <a:pt x="16983" y="71416"/>
                </a:lnTo>
                <a:lnTo>
                  <a:pt x="16109" y="71352"/>
                </a:lnTo>
                <a:lnTo>
                  <a:pt x="15239" y="71244"/>
                </a:lnTo>
                <a:lnTo>
                  <a:pt x="14375" y="71094"/>
                </a:lnTo>
                <a:lnTo>
                  <a:pt x="13520" y="70902"/>
                </a:lnTo>
                <a:lnTo>
                  <a:pt x="12675" y="70668"/>
                </a:lnTo>
                <a:lnTo>
                  <a:pt x="11843" y="70394"/>
                </a:lnTo>
                <a:lnTo>
                  <a:pt x="11025" y="70078"/>
                </a:lnTo>
                <a:lnTo>
                  <a:pt x="10224" y="69723"/>
                </a:lnTo>
                <a:lnTo>
                  <a:pt x="9441" y="69329"/>
                </a:lnTo>
                <a:lnTo>
                  <a:pt x="8678" y="68897"/>
                </a:lnTo>
                <a:lnTo>
                  <a:pt x="7937" y="68428"/>
                </a:lnTo>
                <a:lnTo>
                  <a:pt x="7221" y="67923"/>
                </a:lnTo>
                <a:lnTo>
                  <a:pt x="6530" y="67384"/>
                </a:lnTo>
                <a:lnTo>
                  <a:pt x="5866" y="66811"/>
                </a:lnTo>
                <a:lnTo>
                  <a:pt x="5231" y="66207"/>
                </a:lnTo>
                <a:lnTo>
                  <a:pt x="4626" y="65572"/>
                </a:lnTo>
                <a:lnTo>
                  <a:pt x="4054" y="64908"/>
                </a:lnTo>
                <a:lnTo>
                  <a:pt x="3515" y="64217"/>
                </a:lnTo>
                <a:lnTo>
                  <a:pt x="3010" y="63500"/>
                </a:lnTo>
                <a:lnTo>
                  <a:pt x="2541" y="62760"/>
                </a:lnTo>
                <a:lnTo>
                  <a:pt x="2109" y="61997"/>
                </a:lnTo>
                <a:lnTo>
                  <a:pt x="1715" y="61214"/>
                </a:lnTo>
                <a:lnTo>
                  <a:pt x="1359" y="60413"/>
                </a:lnTo>
                <a:lnTo>
                  <a:pt x="1044" y="59595"/>
                </a:lnTo>
                <a:lnTo>
                  <a:pt x="769" y="58762"/>
                </a:lnTo>
                <a:lnTo>
                  <a:pt x="535" y="57918"/>
                </a:lnTo>
                <a:lnTo>
                  <a:pt x="343" y="57062"/>
                </a:lnTo>
                <a:lnTo>
                  <a:pt x="193" y="56199"/>
                </a:lnTo>
                <a:lnTo>
                  <a:pt x="86" y="55329"/>
                </a:lnTo>
                <a:lnTo>
                  <a:pt x="22" y="54454"/>
                </a:lnTo>
                <a:lnTo>
                  <a:pt x="0" y="53578"/>
                </a:lnTo>
                <a:lnTo>
                  <a:pt x="0" y="17859"/>
                </a:lnTo>
                <a:lnTo>
                  <a:pt x="22" y="16983"/>
                </a:lnTo>
                <a:lnTo>
                  <a:pt x="86" y="16109"/>
                </a:lnTo>
                <a:lnTo>
                  <a:pt x="193" y="15239"/>
                </a:lnTo>
                <a:lnTo>
                  <a:pt x="343" y="14375"/>
                </a:lnTo>
                <a:lnTo>
                  <a:pt x="535" y="13520"/>
                </a:lnTo>
                <a:lnTo>
                  <a:pt x="769" y="12675"/>
                </a:lnTo>
                <a:lnTo>
                  <a:pt x="1044" y="11843"/>
                </a:lnTo>
                <a:lnTo>
                  <a:pt x="1359" y="11025"/>
                </a:lnTo>
                <a:lnTo>
                  <a:pt x="1715" y="10224"/>
                </a:lnTo>
                <a:lnTo>
                  <a:pt x="2109" y="9441"/>
                </a:lnTo>
                <a:lnTo>
                  <a:pt x="2541" y="8678"/>
                </a:lnTo>
                <a:lnTo>
                  <a:pt x="3010" y="7937"/>
                </a:lnTo>
                <a:lnTo>
                  <a:pt x="3515" y="7221"/>
                </a:lnTo>
                <a:lnTo>
                  <a:pt x="4054" y="6530"/>
                </a:lnTo>
                <a:lnTo>
                  <a:pt x="4626" y="5866"/>
                </a:lnTo>
                <a:lnTo>
                  <a:pt x="5231" y="5231"/>
                </a:lnTo>
                <a:lnTo>
                  <a:pt x="5866" y="4626"/>
                </a:lnTo>
                <a:lnTo>
                  <a:pt x="6530" y="4054"/>
                </a:lnTo>
                <a:lnTo>
                  <a:pt x="7221" y="3515"/>
                </a:lnTo>
                <a:lnTo>
                  <a:pt x="7937" y="3010"/>
                </a:lnTo>
                <a:lnTo>
                  <a:pt x="8678" y="2541"/>
                </a:lnTo>
                <a:lnTo>
                  <a:pt x="9441" y="2109"/>
                </a:lnTo>
                <a:lnTo>
                  <a:pt x="10224" y="1715"/>
                </a:lnTo>
                <a:lnTo>
                  <a:pt x="11025" y="1359"/>
                </a:lnTo>
                <a:lnTo>
                  <a:pt x="11843" y="1044"/>
                </a:lnTo>
                <a:lnTo>
                  <a:pt x="12675" y="769"/>
                </a:lnTo>
                <a:lnTo>
                  <a:pt x="13520" y="535"/>
                </a:lnTo>
                <a:lnTo>
                  <a:pt x="14375" y="343"/>
                </a:lnTo>
                <a:lnTo>
                  <a:pt x="15239" y="193"/>
                </a:lnTo>
                <a:lnTo>
                  <a:pt x="16109" y="86"/>
                </a:lnTo>
                <a:lnTo>
                  <a:pt x="16983" y="22"/>
                </a:lnTo>
                <a:lnTo>
                  <a:pt x="17859" y="0"/>
                </a:lnTo>
              </a:path>
            </a:pathLst>
          </a:custGeom>
          <a:solidFill>
            <a:srgbClr val="DF6500"/>
          </a:solidFill>
          <a:ln/>
        </p:spPr>
      </p:sp>
      <p:sp>
        <p:nvSpPr>
          <p:cNvPr id="52" name="Text 50"/>
          <p:cNvSpPr/>
          <p:nvPr/>
        </p:nvSpPr>
        <p:spPr>
          <a:xfrm>
            <a:off x="3062698" y="1195507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空载能耗 (kWh/h)</a:t>
            </a:r>
            <a:endParaRPr lang="en-US" sz="788" dirty="0"/>
          </a:p>
        </p:txBody>
      </p:sp>
      <p:sp>
        <p:nvSpPr>
          <p:cNvPr id="53" name="Shape 51"/>
          <p:cNvSpPr/>
          <p:nvPr/>
        </p:nvSpPr>
        <p:spPr>
          <a:xfrm>
            <a:off x="2912679" y="1205508"/>
            <a:ext cx="944454" cy="100013"/>
          </a:xfrm>
          <a:custGeom>
            <a:avLst/>
            <a:gdLst/>
            <a:ahLst/>
            <a:cxnLst/>
            <a:rect l="l" t="t" r="r" b="b"/>
            <a:pathLst>
              <a:path w="944454" h="100013">
                <a:moveTo>
                  <a:pt x="0" y="0"/>
                </a:moveTo>
                <a:lnTo>
                  <a:pt x="944454" y="0"/>
                </a:lnTo>
                <a:lnTo>
                  <a:pt x="944454" y="100013"/>
                </a:lnTo>
                <a:lnTo>
                  <a:pt x="0" y="100013"/>
                </a:lnTo>
                <a:close/>
              </a:path>
            </a:pathLst>
          </a:custGeom>
          <a:noFill/>
          <a:ln/>
        </p:spPr>
      </p:sp>
      <p:sp>
        <p:nvSpPr>
          <p:cNvPr id="54" name="Shape 52"/>
          <p:cNvSpPr/>
          <p:nvPr/>
        </p:nvSpPr>
        <p:spPr>
          <a:xfrm>
            <a:off x="5513468" y="797421"/>
            <a:ext cx="3414712" cy="992981"/>
          </a:xfrm>
          <a:prstGeom prst="roundRect">
            <a:avLst>
              <a:gd name="adj" fmla="val 1325"/>
            </a:avLst>
          </a:prstGeom>
          <a:solidFill>
            <a:srgbClr val="1A1A1A"/>
          </a:solidFill>
          <a:ln/>
        </p:spPr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6373" y="901005"/>
            <a:ext cx="685800" cy="214313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5513468" y="1902916"/>
            <a:ext cx="3414712" cy="992981"/>
          </a:xfrm>
          <a:prstGeom prst="roundRect">
            <a:avLst>
              <a:gd name="adj" fmla="val 1325"/>
            </a:avLst>
          </a:prstGeom>
          <a:solidFill>
            <a:srgbClr val="1A1A1A"/>
          </a:solidFill>
          <a:ln/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6373" y="2006501"/>
            <a:ext cx="1257300" cy="214313"/>
          </a:xfrm>
          <a:prstGeom prst="rect">
            <a:avLst/>
          </a:prstGeom>
        </p:spPr>
      </p:pic>
      <p:sp>
        <p:nvSpPr>
          <p:cNvPr id="58" name="Shape 54"/>
          <p:cNvSpPr/>
          <p:nvPr/>
        </p:nvSpPr>
        <p:spPr>
          <a:xfrm>
            <a:off x="5513468" y="3008412"/>
            <a:ext cx="3414712" cy="992981"/>
          </a:xfrm>
          <a:prstGeom prst="roundRect">
            <a:avLst>
              <a:gd name="adj" fmla="val 1325"/>
            </a:avLst>
          </a:prstGeom>
          <a:solidFill>
            <a:srgbClr val="1A1A1A"/>
          </a:solidFill>
          <a:ln/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6373" y="3111996"/>
            <a:ext cx="1028700" cy="214313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14313" y="4114800"/>
            <a:ext cx="8715375" cy="492919"/>
          </a:xfrm>
          <a:prstGeom prst="roundRect">
            <a:avLst>
              <a:gd name="adj" fmla="val 1344"/>
            </a:avLst>
          </a:prstGeom>
          <a:solidFill>
            <a:srgbClr val="1A1A1A"/>
          </a:solidFill>
          <a:ln/>
        </p:spPr>
      </p:sp>
      <p:sp>
        <p:nvSpPr>
          <p:cNvPr id="61" name="Text 56"/>
          <p:cNvSpPr/>
          <p:nvPr/>
        </p:nvSpPr>
        <p:spPr>
          <a:xfrm>
            <a:off x="214313" y="270570"/>
            <a:ext cx="8715375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根因排查确认：1号线液压系统老化导致效率下降，拉高单位能耗</a:t>
            </a:r>
            <a:endParaRPr lang="en-US" sz="1900" dirty="0"/>
          </a:p>
        </p:txBody>
      </p:sp>
      <p:sp>
        <p:nvSpPr>
          <p:cNvPr id="62" name="Text 57"/>
          <p:cNvSpPr/>
          <p:nvPr/>
        </p:nvSpPr>
        <p:spPr>
          <a:xfrm>
            <a:off x="328613" y="912614"/>
            <a:ext cx="9144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四线能耗横向对比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4626248" y="934045"/>
            <a:ext cx="6000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近一个月实测</a:t>
            </a:r>
            <a:endParaRPr lang="en-US" sz="700" dirty="0"/>
          </a:p>
        </p:txBody>
      </p:sp>
      <p:sp>
        <p:nvSpPr>
          <p:cNvPr id="64" name="Text 59"/>
          <p:cNvSpPr/>
          <p:nvPr/>
        </p:nvSpPr>
        <p:spPr>
          <a:xfrm>
            <a:off x="327161" y="3736181"/>
            <a:ext cx="490061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1号线单位能耗显著偏高，而空载能耗并非四线最高：高能耗来自负载运行时段，而非待机浪费</a:t>
            </a:r>
            <a:endParaRPr lang="en-US" sz="700" dirty="0"/>
          </a:p>
        </p:txBody>
      </p:sp>
      <p:sp>
        <p:nvSpPr>
          <p:cNvPr id="65" name="Text 60"/>
          <p:cNvSpPr/>
          <p:nvPr/>
        </p:nvSpPr>
        <p:spPr>
          <a:xfrm>
            <a:off x="5626373" y="901005"/>
            <a:ext cx="685800" cy="214313"/>
          </a:xfrm>
          <a:prstGeom prst="rect">
            <a:avLst/>
          </a:prstGeom>
          <a:ln/>
        </p:spPr>
        <p:txBody>
          <a:bodyPr wrap="none" lIns="0" tIns="0" rIns="0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数据异常发现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5627768" y="1172468"/>
            <a:ext cx="3186113" cy="5143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1号线单位能耗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0.85 kWh/件</a:t>
            </a:r>
            <a:pPr algn="l"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，远高于其他产线的 0.5 左右；空载能耗 8 kWh/h 并非四线最高（3号线为 12 kWh/h），高能耗主因是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负载运行效率损失</a:t>
            </a:r>
            <a:pPr algn="l"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，而非待机浪费。</a:t>
            </a:r>
            <a:endParaRPr lang="en-US" sz="800" dirty="0"/>
          </a:p>
        </p:txBody>
      </p:sp>
      <p:sp>
        <p:nvSpPr>
          <p:cNvPr id="67" name="Text 62"/>
          <p:cNvSpPr/>
          <p:nvPr/>
        </p:nvSpPr>
        <p:spPr>
          <a:xfrm>
            <a:off x="5626373" y="2006501"/>
            <a:ext cx="1257300" cy="214313"/>
          </a:xfrm>
          <a:prstGeom prst="rect">
            <a:avLst/>
          </a:prstGeom>
          <a:ln/>
        </p:spPr>
        <p:txBody>
          <a:bodyPr wrap="none" lIns="0" tIns="0" rIns="0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根因锁定：液压系统老化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5627768" y="2277963"/>
            <a:ext cx="3186113" cy="5143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现场排查确认液压系统老化导致效率下降——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液压元件磨损使能量转换损失增大</a:t>
            </a:r>
            <a:pPr algn="l"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，同等产出下耗电上升，与“单位能耗偏高、空载正常”的数据特征相互印证。</a:t>
            </a:r>
            <a:endParaRPr lang="en-US" sz="800" dirty="0"/>
          </a:p>
        </p:txBody>
      </p:sp>
      <p:sp>
        <p:nvSpPr>
          <p:cNvPr id="69" name="Text 64"/>
          <p:cNvSpPr/>
          <p:nvPr/>
        </p:nvSpPr>
        <p:spPr>
          <a:xfrm>
            <a:off x="5626373" y="3111996"/>
            <a:ext cx="1028700" cy="214313"/>
          </a:xfrm>
          <a:prstGeom prst="rect">
            <a:avLst/>
          </a:prstGeom>
          <a:ln/>
        </p:spPr>
        <p:txBody>
          <a:bodyPr wrap="none" lIns="0" tIns="0" rIns="0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解决路径：整机更换</a:t>
            </a:r>
            <a:endParaRPr lang="en-US" sz="900" dirty="0"/>
          </a:p>
        </p:txBody>
      </p:sp>
      <p:sp>
        <p:nvSpPr>
          <p:cNvPr id="70" name="Text 65"/>
          <p:cNvSpPr/>
          <p:nvPr/>
        </p:nvSpPr>
        <p:spPr>
          <a:xfrm>
            <a:off x="5627768" y="3383459"/>
            <a:ext cx="3186113" cy="5143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处置建议为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整机更换液压系统</a:t>
            </a:r>
            <a:pPr algn="l"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而非零星维修：零星维修只能缓解个别元件症状，无法恢复整体系统能量转换效率，为下一页投资回报测算提供技术口径。</a:t>
            </a:r>
            <a:endParaRPr lang="en-US" sz="800" dirty="0"/>
          </a:p>
        </p:txBody>
      </p:sp>
      <p:sp>
        <p:nvSpPr>
          <p:cNvPr id="71" name="Text 66"/>
          <p:cNvSpPr/>
          <p:nvPr/>
        </p:nvSpPr>
        <p:spPr>
          <a:xfrm>
            <a:off x="385763" y="4275534"/>
            <a:ext cx="5715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排查逻辑链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1071562" y="4200525"/>
            <a:ext cx="8001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数据异常发现</a:t>
            </a:r>
            <a:endParaRPr lang="en-US" sz="900" dirty="0"/>
          </a:p>
        </p:txBody>
      </p:sp>
      <p:sp>
        <p:nvSpPr>
          <p:cNvPr id="73" name="Text 68"/>
          <p:cNvSpPr/>
          <p:nvPr/>
        </p:nvSpPr>
        <p:spPr>
          <a:xfrm>
            <a:off x="1071562" y="4371975"/>
            <a:ext cx="8001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单位能耗横向对比</a:t>
            </a:r>
            <a:endParaRPr lang="en-US" sz="700" dirty="0"/>
          </a:p>
        </p:txBody>
      </p:sp>
      <p:sp>
        <p:nvSpPr>
          <p:cNvPr id="74" name="Text 69"/>
          <p:cNvSpPr/>
          <p:nvPr/>
        </p:nvSpPr>
        <p:spPr>
          <a:xfrm>
            <a:off x="2570522" y="4254103"/>
            <a:ext cx="142875" cy="21431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→</a:t>
            </a:r>
            <a:endParaRPr lang="en-US" sz="1100" dirty="0"/>
          </a:p>
        </p:txBody>
      </p:sp>
      <p:sp>
        <p:nvSpPr>
          <p:cNvPr id="75" name="Text 70"/>
          <p:cNvSpPr/>
          <p:nvPr/>
        </p:nvSpPr>
        <p:spPr>
          <a:xfrm>
            <a:off x="3412257" y="4200525"/>
            <a:ext cx="864394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现场排查</a:t>
            </a:r>
            <a:endParaRPr lang="en-US" sz="900" dirty="0"/>
          </a:p>
        </p:txBody>
      </p:sp>
      <p:sp>
        <p:nvSpPr>
          <p:cNvPr id="76" name="Text 71"/>
          <p:cNvSpPr/>
          <p:nvPr/>
        </p:nvSpPr>
        <p:spPr>
          <a:xfrm>
            <a:off x="3412257" y="4371975"/>
            <a:ext cx="86439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定位1号线液压系统</a:t>
            </a:r>
            <a:endParaRPr lang="en-US" sz="700" dirty="0"/>
          </a:p>
        </p:txBody>
      </p:sp>
      <p:sp>
        <p:nvSpPr>
          <p:cNvPr id="77" name="Text 72"/>
          <p:cNvSpPr/>
          <p:nvPr/>
        </p:nvSpPr>
        <p:spPr>
          <a:xfrm>
            <a:off x="4975510" y="4254103"/>
            <a:ext cx="142875" cy="21431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→</a:t>
            </a:r>
            <a:endParaRPr lang="en-US" sz="1100" dirty="0"/>
          </a:p>
        </p:txBody>
      </p:sp>
      <p:sp>
        <p:nvSpPr>
          <p:cNvPr id="78" name="Text 73"/>
          <p:cNvSpPr/>
          <p:nvPr/>
        </p:nvSpPr>
        <p:spPr>
          <a:xfrm>
            <a:off x="5817245" y="4200525"/>
            <a:ext cx="60007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根因锁定</a:t>
            </a:r>
            <a:endParaRPr lang="en-US" sz="900" dirty="0"/>
          </a:p>
        </p:txBody>
      </p:sp>
      <p:sp>
        <p:nvSpPr>
          <p:cNvPr id="79" name="Text 74"/>
          <p:cNvSpPr/>
          <p:nvPr/>
        </p:nvSpPr>
        <p:spPr>
          <a:xfrm>
            <a:off x="5817245" y="4371975"/>
            <a:ext cx="6000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液压系统老化</a:t>
            </a:r>
            <a:endParaRPr lang="en-US" sz="700" dirty="0"/>
          </a:p>
        </p:txBody>
      </p:sp>
      <p:sp>
        <p:nvSpPr>
          <p:cNvPr id="80" name="Text 75"/>
          <p:cNvSpPr/>
          <p:nvPr/>
        </p:nvSpPr>
        <p:spPr>
          <a:xfrm>
            <a:off x="7116180" y="4254103"/>
            <a:ext cx="142875" cy="21431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→</a:t>
            </a:r>
            <a:endParaRPr lang="en-US" sz="1100" dirty="0"/>
          </a:p>
        </p:txBody>
      </p:sp>
      <p:sp>
        <p:nvSpPr>
          <p:cNvPr id="81" name="Text 76"/>
          <p:cNvSpPr/>
          <p:nvPr/>
        </p:nvSpPr>
        <p:spPr>
          <a:xfrm>
            <a:off x="7957914" y="4200525"/>
            <a:ext cx="8001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解决路径</a:t>
            </a:r>
            <a:endParaRPr lang="en-US" sz="900" dirty="0"/>
          </a:p>
        </p:txBody>
      </p:sp>
      <p:sp>
        <p:nvSpPr>
          <p:cNvPr id="82" name="Text 77"/>
          <p:cNvSpPr/>
          <p:nvPr/>
        </p:nvSpPr>
        <p:spPr>
          <a:xfrm>
            <a:off x="7957914" y="4371975"/>
            <a:ext cx="8001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整机更换液压系统</a:t>
            </a:r>
            <a:endParaRPr lang="en-US" sz="700" dirty="0"/>
          </a:p>
        </p:txBody>
      </p:sp>
      <p:sp>
        <p:nvSpPr>
          <p:cNvPr id="83" name="Text 78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数据来源：产线能耗月度数据（近一个月实测）；根因结论来自现场排查，均为用户素材口径，未做外部检索验证</a:t>
            </a:r>
            <a:endParaRPr lang="en-US" sz="700" dirty="0"/>
          </a:p>
        </p:txBody>
      </p:sp>
      <p:sp>
        <p:nvSpPr>
          <p:cNvPr id="65535" name="wm:hwcld:2026-09-22T15:19:12:fe90c0e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669727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3085" y="799207"/>
            <a:ext cx="5014913" cy="3807619"/>
          </a:xfrm>
          <a:prstGeom prst="roundRect">
            <a:avLst>
              <a:gd name="adj" fmla="val 90"/>
            </a:avLst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7385" y="911721"/>
            <a:ext cx="4786313" cy="242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8675" y="3893344"/>
            <a:ext cx="400050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8675" y="3564731"/>
            <a:ext cx="400050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8675" y="3236119"/>
            <a:ext cx="400050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8675" y="2907506"/>
            <a:ext cx="400050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675" y="2578894"/>
            <a:ext cx="400050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8675" y="2250281"/>
            <a:ext cx="400050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8675" y="1928813"/>
            <a:ext cx="400050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8675" y="1600200"/>
            <a:ext cx="400050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51" y="1386602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月用电（万kWh）</a:t>
            </a:r>
            <a:endParaRPr lang="en-US" sz="788" dirty="0"/>
          </a:p>
        </p:txBody>
      </p:sp>
      <p:sp>
        <p:nvSpPr>
          <p:cNvPr id="15" name="Shape 12"/>
          <p:cNvSpPr/>
          <p:nvPr/>
        </p:nvSpPr>
        <p:spPr>
          <a:xfrm>
            <a:off x="828675" y="3893344"/>
            <a:ext cx="4000500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626" y="3829764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288608" y="350217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10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288608" y="3174580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20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288608" y="2846989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30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288608" y="2519396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40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288608" y="219180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50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288608" y="1864212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60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288608" y="1536621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70</a:t>
            </a:r>
            <a:endParaRPr lang="en-US" sz="788" dirty="0"/>
          </a:p>
        </p:txBody>
      </p:sp>
      <p:sp>
        <p:nvSpPr>
          <p:cNvPr id="24" name="Text 21"/>
          <p:cNvSpPr/>
          <p:nvPr/>
        </p:nvSpPr>
        <p:spPr>
          <a:xfrm>
            <a:off x="353854" y="3936921"/>
            <a:ext cx="228314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当前（0.85 kWh/件）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1912382" y="3936921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口径一（降至0.45）</a:t>
            </a:r>
            <a:endParaRPr lang="en-US" sz="788" dirty="0"/>
          </a:p>
        </p:txBody>
      </p:sp>
      <p:sp>
        <p:nvSpPr>
          <p:cNvPr id="26" name="Text 23"/>
          <p:cNvSpPr/>
          <p:nvPr/>
        </p:nvSpPr>
        <p:spPr>
          <a:xfrm>
            <a:off x="3320891" y="3936921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口径二（降至0.5）</a:t>
            </a:r>
            <a:endParaRPr lang="en-US" sz="788" dirty="0"/>
          </a:p>
        </p:txBody>
      </p:sp>
      <p:sp>
        <p:nvSpPr>
          <p:cNvPr id="27" name="Shape 24"/>
          <p:cNvSpPr/>
          <p:nvPr/>
        </p:nvSpPr>
        <p:spPr>
          <a:xfrm>
            <a:off x="1238250" y="1662146"/>
            <a:ext cx="514350" cy="2227626"/>
          </a:xfrm>
          <a:custGeom>
            <a:avLst/>
            <a:gdLst/>
            <a:ahLst/>
            <a:cxnLst/>
            <a:rect l="l" t="t" r="r" b="b"/>
            <a:pathLst>
              <a:path w="514350" h="2227626">
                <a:moveTo>
                  <a:pt x="0" y="2227626"/>
                </a:moveTo>
                <a:lnTo>
                  <a:pt x="514350" y="2227626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2020"/>
          </a:solidFill>
          <a:ln/>
        </p:spPr>
      </p:sp>
      <p:sp>
        <p:nvSpPr>
          <p:cNvPr id="28" name="Shape 25"/>
          <p:cNvSpPr/>
          <p:nvPr/>
        </p:nvSpPr>
        <p:spPr>
          <a:xfrm>
            <a:off x="2571750" y="2710441"/>
            <a:ext cx="514350" cy="1179331"/>
          </a:xfrm>
          <a:custGeom>
            <a:avLst/>
            <a:gdLst/>
            <a:ahLst/>
            <a:cxnLst/>
            <a:rect l="l" t="t" r="r" b="b"/>
            <a:pathLst>
              <a:path w="514350" h="1179331">
                <a:moveTo>
                  <a:pt x="0" y="1179331"/>
                </a:moveTo>
                <a:lnTo>
                  <a:pt x="514350" y="1179331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9" name="Shape 26"/>
          <p:cNvSpPr/>
          <p:nvPr/>
        </p:nvSpPr>
        <p:spPr>
          <a:xfrm>
            <a:off x="3905250" y="2579404"/>
            <a:ext cx="514350" cy="1310368"/>
          </a:xfrm>
          <a:custGeom>
            <a:avLst/>
            <a:gdLst/>
            <a:ahLst/>
            <a:cxnLst/>
            <a:rect l="l" t="t" r="r" b="b"/>
            <a:pathLst>
              <a:path w="514350" h="1310368">
                <a:moveTo>
                  <a:pt x="0" y="1310368"/>
                </a:moveTo>
                <a:lnTo>
                  <a:pt x="514350" y="1310368"/>
                </a:lnTo>
                <a:lnTo>
                  <a:pt x="514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BFF230"/>
          </a:solidFill>
          <a:ln/>
        </p:spPr>
      </p:sp>
      <p:sp>
        <p:nvSpPr>
          <p:cNvPr id="30" name="Text 27"/>
          <p:cNvSpPr/>
          <p:nvPr/>
        </p:nvSpPr>
        <p:spPr>
          <a:xfrm>
            <a:off x="889635" y="1500698"/>
            <a:ext cx="12115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68万kWh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223135" y="2548992"/>
            <a:ext cx="12115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36万kWh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556635" y="2417955"/>
            <a:ext cx="12115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40万kWh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399391" y="797979"/>
            <a:ext cx="3529013" cy="1085850"/>
          </a:xfrm>
          <a:prstGeom prst="roundRect">
            <a:avLst>
              <a:gd name="adj" fmla="val 1108"/>
            </a:avLst>
          </a:prstGeom>
          <a:solidFill>
            <a:srgbClr val="1A1A1A"/>
          </a:solidFill>
          <a:ln/>
        </p:spPr>
      </p:sp>
      <p:sp>
        <p:nvSpPr>
          <p:cNvPr id="34" name="Shape 31"/>
          <p:cNvSpPr/>
          <p:nvPr/>
        </p:nvSpPr>
        <p:spPr>
          <a:xfrm>
            <a:off x="5512519" y="1125141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5" name="Shape 32"/>
          <p:cNvSpPr/>
          <p:nvPr/>
        </p:nvSpPr>
        <p:spPr>
          <a:xfrm>
            <a:off x="5399391" y="2216907"/>
            <a:ext cx="3529013" cy="1085850"/>
          </a:xfrm>
          <a:prstGeom prst="roundRect">
            <a:avLst>
              <a:gd name="adj" fmla="val 1108"/>
            </a:avLst>
          </a:prstGeom>
          <a:solidFill>
            <a:srgbClr val="1A1A1A"/>
          </a:solidFill>
          <a:ln/>
        </p:spPr>
      </p:sp>
      <p:sp>
        <p:nvSpPr>
          <p:cNvPr id="36" name="Shape 33"/>
          <p:cNvSpPr/>
          <p:nvPr/>
        </p:nvSpPr>
        <p:spPr>
          <a:xfrm>
            <a:off x="5512519" y="2544068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7" name="Shape 34"/>
          <p:cNvSpPr/>
          <p:nvPr/>
        </p:nvSpPr>
        <p:spPr>
          <a:xfrm>
            <a:off x="5399391" y="3636169"/>
            <a:ext cx="3529013" cy="971550"/>
          </a:xfrm>
          <a:prstGeom prst="roundRect">
            <a:avLst>
              <a:gd name="adj" fmla="val 1384"/>
            </a:avLst>
          </a:prstGeom>
          <a:ln w="12383">
            <a:solidFill>
              <a:srgbClr val="76B9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313" y="270570"/>
            <a:ext cx="8715375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1号线改造投资回报测算：投入120万元，年节省电费252-288万元</a:t>
            </a:r>
            <a:endParaRPr lang="en-US" sz="1900" dirty="0"/>
          </a:p>
        </p:txBody>
      </p:sp>
      <p:sp>
        <p:nvSpPr>
          <p:cNvPr id="39" name="Text 36"/>
          <p:cNvSpPr/>
          <p:nvPr/>
        </p:nvSpPr>
        <p:spPr>
          <a:xfrm>
            <a:off x="327385" y="911721"/>
            <a:ext cx="4786313" cy="242888"/>
          </a:xfrm>
          <a:prstGeom prst="rect">
            <a:avLst/>
          </a:prstGeom>
          <a:ln/>
        </p:spPr>
        <p:txBody>
          <a:bodyPr wrap="none" lIns="0" tIns="0" rIns="0" bIns="48578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1号线月用电对比：改造前后测算（万kWh）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27385" y="4343400"/>
            <a:ext cx="478631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测算口径：月产量80万件 · 单位能耗0.85 kWh/件 · 工业电价0.75元/kWh，参数均来自1号线实际运行数据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5513691" y="911721"/>
            <a:ext cx="3300413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口径一 · 降至行业标杆 0.45 kWh/件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513691" y="1195574"/>
            <a:ext cx="3498437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月省电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32万kWh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· 月省电费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24万元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513691" y="1386446"/>
            <a:ext cx="3498437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年节省电费 </a:t>
            </a:r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约288万元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，为收益上限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513691" y="1577318"/>
            <a:ext cx="3300413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纯电费口径回本约5个月（120万元 ÷ 月省24万元）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513691" y="2330648"/>
            <a:ext cx="3300413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口径二 · 降至 0.5 kWh/件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513691" y="2614501"/>
            <a:ext cx="3498437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月省电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28万kWh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 · 月省电费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约21万元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513691" y="2805373"/>
            <a:ext cx="3498437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年节省电费 </a:t>
            </a:r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约252万元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，仍为投入的两倍以上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513691" y="2996245"/>
            <a:ext cx="3300413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回收期约5-6个月（120万元 ÷ 月省21万元）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527979" y="3764756"/>
            <a:ext cx="327183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保守口径约18个月收回成本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527979" y="3964781"/>
            <a:ext cx="3271838" cy="5143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计入施工停产损失与投产爬坡期节能打折后回收期约18个月；年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节省电费252-288万元区间内投资均可行，回报清晰、风险可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控，具备立项价值。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数据来源：用户素材（1号线能耗实测数据与改造投资测算）；测算口径：月产量80万件、工业电价0.75元/kWh；回收期已计入施工停产与爬坡期保守因素</a:t>
            </a:r>
            <a:endParaRPr lang="en-US" sz="700" dirty="0"/>
          </a:p>
        </p:txBody>
      </p:sp>
      <p:sp>
        <p:nvSpPr>
          <p:cNvPr id="65535" name="wm:hwcld:2026-09-22T15:19:12:fe90c0e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669727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799207"/>
            <a:ext cx="4243388" cy="3807619"/>
          </a:xfrm>
          <a:prstGeom prst="roundRect">
            <a:avLst>
              <a:gd name="adj" fmla="val 90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14388" y="4026396"/>
            <a:ext cx="332898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388" y="3619202"/>
            <a:ext cx="332898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388" y="3219152"/>
            <a:ext cx="332898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4388" y="2811959"/>
            <a:ext cx="332898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388" y="2411909"/>
            <a:ext cx="332898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4388" y="2004715"/>
            <a:ext cx="332898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4388" y="1604665"/>
            <a:ext cx="332898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118586" y="1383923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kWh/h</a:t>
            </a:r>
            <a:endParaRPr lang="en-US" sz="788" dirty="0"/>
          </a:p>
        </p:txBody>
      </p:sp>
      <p:sp>
        <p:nvSpPr>
          <p:cNvPr id="13" name="Shape 11"/>
          <p:cNvSpPr/>
          <p:nvPr/>
        </p:nvSpPr>
        <p:spPr>
          <a:xfrm>
            <a:off x="814388" y="4026396"/>
            <a:ext cx="3328988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339" y="396281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24339" y="355919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424339" y="3155573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424339" y="275195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24339" y="2348329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74320" y="194470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10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74320" y="154108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12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881896" y="4068544"/>
            <a:ext cx="6972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1号线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14143" y="4068544"/>
            <a:ext cx="6972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2号线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46390" y="4068544"/>
            <a:ext cx="6972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3号线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78637" y="4068544"/>
            <a:ext cx="6972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4号线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59061" y="2408337"/>
            <a:ext cx="342900" cy="1614488"/>
          </a:xfrm>
          <a:custGeom>
            <a:avLst/>
            <a:gdLst/>
            <a:ahLst/>
            <a:cxnLst/>
            <a:rect l="l" t="t" r="r" b="b"/>
            <a:pathLst>
              <a:path w="342900" h="1614488">
                <a:moveTo>
                  <a:pt x="0" y="1614488"/>
                </a:moveTo>
                <a:lnTo>
                  <a:pt x="342900" y="1614488"/>
                </a:lnTo>
                <a:lnTo>
                  <a:pt x="342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891308" y="2811959"/>
            <a:ext cx="342900" cy="1210866"/>
          </a:xfrm>
          <a:custGeom>
            <a:avLst/>
            <a:gdLst/>
            <a:ahLst/>
            <a:cxnLst/>
            <a:rect l="l" t="t" r="r" b="b"/>
            <a:pathLst>
              <a:path w="342900" h="1210866">
                <a:moveTo>
                  <a:pt x="0" y="1210866"/>
                </a:moveTo>
                <a:lnTo>
                  <a:pt x="342900" y="1210866"/>
                </a:lnTo>
                <a:lnTo>
                  <a:pt x="342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7" name="Shape 25"/>
          <p:cNvSpPr/>
          <p:nvPr/>
        </p:nvSpPr>
        <p:spPr>
          <a:xfrm>
            <a:off x="2723555" y="1601093"/>
            <a:ext cx="342900" cy="2421731"/>
          </a:xfrm>
          <a:custGeom>
            <a:avLst/>
            <a:gdLst/>
            <a:ahLst/>
            <a:cxnLst/>
            <a:rect l="l" t="t" r="r" b="b"/>
            <a:pathLst>
              <a:path w="342900" h="2421731">
                <a:moveTo>
                  <a:pt x="0" y="2421731"/>
                </a:moveTo>
                <a:lnTo>
                  <a:pt x="342900" y="2421731"/>
                </a:lnTo>
                <a:lnTo>
                  <a:pt x="342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52020"/>
          </a:solidFill>
          <a:ln/>
        </p:spPr>
      </p:sp>
      <p:sp>
        <p:nvSpPr>
          <p:cNvPr id="28" name="Shape 26"/>
          <p:cNvSpPr/>
          <p:nvPr/>
        </p:nvSpPr>
        <p:spPr>
          <a:xfrm>
            <a:off x="3555802" y="3013770"/>
            <a:ext cx="342900" cy="1009055"/>
          </a:xfrm>
          <a:custGeom>
            <a:avLst/>
            <a:gdLst/>
            <a:ahLst/>
            <a:cxnLst/>
            <a:rect l="l" t="t" r="r" b="b"/>
            <a:pathLst>
              <a:path w="342900" h="1009055">
                <a:moveTo>
                  <a:pt x="0" y="1009055"/>
                </a:moveTo>
                <a:lnTo>
                  <a:pt x="342900" y="1009055"/>
                </a:lnTo>
                <a:lnTo>
                  <a:pt x="342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53346" y="2246888"/>
            <a:ext cx="354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85593" y="2650510"/>
            <a:ext cx="354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32115" y="1439644"/>
            <a:ext cx="5257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50087" y="2852321"/>
            <a:ext cx="3543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86300" y="796975"/>
            <a:ext cx="4243388" cy="1450181"/>
          </a:xfrm>
          <a:prstGeom prst="roundRect">
            <a:avLst>
              <a:gd name="adj" fmla="val 621"/>
            </a:avLst>
          </a:pr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4686300" y="2358777"/>
            <a:ext cx="4243388" cy="1707356"/>
          </a:xfrm>
          <a:prstGeom prst="roundRect">
            <a:avLst>
              <a:gd name="adj" fmla="val 448"/>
            </a:avLst>
          </a:prstGeom>
          <a:solidFill>
            <a:srgbClr val="1A1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4686300" y="4179094"/>
            <a:ext cx="4243388" cy="428625"/>
          </a:xfrm>
          <a:prstGeom prst="roundRect">
            <a:avLst>
              <a:gd name="adj" fmla="val 1778"/>
            </a:avLst>
          </a:prstGeom>
          <a:ln w="12383">
            <a:solidFill>
              <a:srgbClr val="76B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4313" y="270570"/>
            <a:ext cx="8715375" cy="3143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3号线空载能耗四线最高：零投入管理改进压缩待机电费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357188" y="940743"/>
            <a:ext cx="395763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四线待机空载能耗对比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7188" y="1131391"/>
            <a:ext cx="39576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单位：kWh/h · 3号线为四线之最，是4号线的 2.4 倍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57188" y="4338042"/>
            <a:ext cx="39576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3号线待机每小时仍跑 12 kWh（1号线 8、2号线 6、4号线 5），指向停机流程不规范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29175" y="940743"/>
            <a:ext cx="395763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现象与根因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29175" y="1189434"/>
            <a:ext cx="1243013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0.48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29175" y="1424285"/>
            <a:ext cx="1243013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单位能耗 kWh/件 · 四线最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优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186487" y="1189434"/>
            <a:ext cx="1243013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202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86487" y="1422499"/>
            <a:ext cx="1243013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待机空载 kWh/h · 四线之最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543800" y="1189434"/>
            <a:ext cx="1243013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约9元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43800" y="1424285"/>
            <a:ext cx="1243013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每小时空载浪费 · 按0.75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元/kWh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29175" y="1760041"/>
            <a:ext cx="3957638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生产环节效率没有问题，问题出在非生产时段——停机流程不规范，「该停未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停、该断未断」的浪费长期累积。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29175" y="2502545"/>
            <a:ext cx="395763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改进方向 · 零投资/低投入管理改进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29175" y="2823232"/>
            <a:ext cx="1428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57775" y="2733935"/>
            <a:ext cx="26003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规范停机与待机标准作业流程（SOP）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57775" y="2905385"/>
            <a:ext cx="26003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将停机、待机操作标准化，消除「人走机不停」的惯性空转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829175" y="3251188"/>
            <a:ext cx="1428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57775" y="3161891"/>
            <a:ext cx="19431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明确非生产时段停机、断电与预热要求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57775" y="3333341"/>
            <a:ext cx="19431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在保证恢复生产效率的前提下切断空载损耗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29175" y="3679254"/>
            <a:ext cx="1428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03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57775" y="3589958"/>
            <a:ext cx="290036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能耗监控看板异常告警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57775" y="3761408"/>
            <a:ext cx="2900362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非生产时段异常能耗自动告警，让空载浪费可见、可追责、可闭环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843462" y="4307681"/>
            <a:ext cx="3929063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与1号线液压系统技改形成「技术改造 + 管理改进」两条腿走路的完整方案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数据来源：一个月产线设备能耗实测数据（用户素材）；空载浪费按工业电价 0.75 元/kWh 测算</a:t>
            </a:r>
            <a:endParaRPr lang="en-US" sz="700" dirty="0"/>
          </a:p>
        </p:txBody>
      </p:sp>
      <p:sp>
        <p:nvSpPr>
          <p:cNvPr id="65535" name="wm:hwcld:2026-09-22T15:19:12:fe90c0e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982266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" name="Shape 2"/>
          <p:cNvSpPr/>
          <p:nvPr/>
        </p:nvSpPr>
        <p:spPr>
          <a:xfrm>
            <a:off x="215485" y="1109067"/>
            <a:ext cx="5014913" cy="3500437"/>
          </a:xfrm>
          <a:prstGeom prst="roundRect">
            <a:avLst>
              <a:gd name="adj" fmla="val 107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5806" y="3534370"/>
            <a:ext cx="4200525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5806" y="3127177"/>
            <a:ext cx="4200525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5806" y="2727127"/>
            <a:ext cx="4200525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5806" y="2319933"/>
            <a:ext cx="4200525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806" y="1919883"/>
            <a:ext cx="4200525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5806" y="1719858"/>
            <a:ext cx="4200525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319" y="1506260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kWh/件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735806" y="3534370"/>
            <a:ext cx="4200525" cy="0"/>
          </a:xfrm>
          <a:prstGeom prst="line">
            <a:avLst/>
          </a:prstGeom>
          <a:noFill/>
          <a:ln w="6350">
            <a:solidFill>
              <a:srgbClr val="5E5E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758" y="3470791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5720" y="306756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0.2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5720" y="266434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45720" y="2261116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0.6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45720" y="185789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5720" y="165627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A7A7A7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0.9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969407" y="3577947"/>
            <a:ext cx="93297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1号线现状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444591" y="3577947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行业标杆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3619738" y="3577947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改造后验收目标</a:t>
            </a:r>
            <a:endParaRPr lang="en-US" sz="788" dirty="0"/>
          </a:p>
        </p:txBody>
      </p:sp>
      <p:sp>
        <p:nvSpPr>
          <p:cNvPr id="22" name="Shape 20"/>
          <p:cNvSpPr/>
          <p:nvPr/>
        </p:nvSpPr>
        <p:spPr>
          <a:xfrm>
            <a:off x="1141857" y="1817092"/>
            <a:ext cx="588074" cy="1713706"/>
          </a:xfrm>
          <a:custGeom>
            <a:avLst/>
            <a:gdLst/>
            <a:ahLst/>
            <a:cxnLst/>
            <a:rect l="l" t="t" r="r" b="b"/>
            <a:pathLst>
              <a:path w="588074" h="1713706">
                <a:moveTo>
                  <a:pt x="0" y="1713706"/>
                </a:moveTo>
                <a:lnTo>
                  <a:pt x="588074" y="1713706"/>
                </a:lnTo>
                <a:lnTo>
                  <a:pt x="58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52020"/>
          </a:solidFill>
          <a:ln/>
        </p:spPr>
      </p:sp>
      <p:sp>
        <p:nvSpPr>
          <p:cNvPr id="23" name="Shape 21"/>
          <p:cNvSpPr/>
          <p:nvPr/>
        </p:nvSpPr>
        <p:spPr>
          <a:xfrm>
            <a:off x="2542032" y="2623542"/>
            <a:ext cx="588074" cy="907256"/>
          </a:xfrm>
          <a:custGeom>
            <a:avLst/>
            <a:gdLst/>
            <a:ahLst/>
            <a:cxnLst/>
            <a:rect l="l" t="t" r="r" b="b"/>
            <a:pathLst>
              <a:path w="588074" h="907256">
                <a:moveTo>
                  <a:pt x="0" y="907256"/>
                </a:moveTo>
                <a:lnTo>
                  <a:pt x="588074" y="907256"/>
                </a:lnTo>
                <a:lnTo>
                  <a:pt x="58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3942207" y="2522736"/>
            <a:ext cx="588074" cy="1008062"/>
          </a:xfrm>
          <a:custGeom>
            <a:avLst/>
            <a:gdLst/>
            <a:ahLst/>
            <a:cxnLst/>
            <a:rect l="l" t="t" r="r" b="b"/>
            <a:pathLst>
              <a:path w="588074" h="1008062">
                <a:moveTo>
                  <a:pt x="0" y="1008062"/>
                </a:moveTo>
                <a:lnTo>
                  <a:pt x="588074" y="1008062"/>
                </a:lnTo>
                <a:lnTo>
                  <a:pt x="58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F230"/>
          </a:solidFill>
          <a:ln/>
        </p:spPr>
      </p:sp>
      <p:sp>
        <p:nvSpPr>
          <p:cNvPr id="25" name="Text 23"/>
          <p:cNvSpPr/>
          <p:nvPr/>
        </p:nvSpPr>
        <p:spPr>
          <a:xfrm>
            <a:off x="1044416" y="167136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0.85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2444591" y="247781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0.45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3919776" y="237700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Frex Sans GB" pitchFamily="34" charset="0"/>
                <a:ea typeface="Frex Sans GB" pitchFamily="34" charset="-122"/>
                <a:cs typeface="Frex Sans GB" pitchFamily="34" charset="-120"/>
              </a:rPr>
              <a:t>0.5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336928" y="3816548"/>
            <a:ext cx="4772025" cy="378619"/>
          </a:xfrm>
          <a:prstGeom prst="rect">
            <a:avLst/>
          </a:prstGeom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928" y="3816548"/>
            <a:ext cx="4772025" cy="378619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5344697" y="1109067"/>
            <a:ext cx="3586162" cy="1250156"/>
          </a:xfrm>
          <a:prstGeom prst="roundRect">
            <a:avLst>
              <a:gd name="adj" fmla="val 836"/>
            </a:avLst>
          </a:prstGeom>
          <a:solidFill>
            <a:srgbClr val="1A1A1A"/>
          </a:solidFill>
          <a:ln w="6191">
            <a:solidFill>
              <a:srgbClr val="5E5E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66141" y="1385888"/>
            <a:ext cx="3343275" cy="200025"/>
          </a:xfrm>
          <a:prstGeom prst="rect">
            <a:avLst/>
          </a:prstGeom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6141" y="1385888"/>
            <a:ext cx="3343275" cy="200025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466141" y="1628775"/>
            <a:ext cx="3343275" cy="200025"/>
          </a:xfrm>
          <a:prstGeom prst="rect">
            <a:avLst/>
          </a:prstGeom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6141" y="1628775"/>
            <a:ext cx="3343275" cy="200025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5466141" y="1871663"/>
            <a:ext cx="3343275" cy="200025"/>
          </a:xfrm>
          <a:prstGeom prst="rect">
            <a:avLst/>
          </a:prstGeom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6141" y="1871663"/>
            <a:ext cx="3343275" cy="200025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5344697" y="2719983"/>
            <a:ext cx="3586162" cy="764381"/>
          </a:xfrm>
          <a:prstGeom prst="roundRect">
            <a:avLst>
              <a:gd name="adj" fmla="val 2236"/>
            </a:avLst>
          </a:prstGeom>
          <a:solidFill>
            <a:srgbClr val="1A1A1A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44697" y="2719983"/>
            <a:ext cx="3586162" cy="764381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5344697" y="3845123"/>
            <a:ext cx="3586162" cy="764381"/>
          </a:xfrm>
          <a:prstGeom prst="roundRect">
            <a:avLst>
              <a:gd name="adj" fmla="val 2236"/>
            </a:avLst>
          </a:prstGeom>
          <a:solidFill>
            <a:srgbClr val="1A1A1A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44697" y="3845123"/>
            <a:ext cx="3586162" cy="764381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214313" y="269677"/>
            <a:ext cx="8715375" cy="6286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立项建议：批准1号线液压系统改造120万元投资，同步实施3号线停机管理改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进</a:t>
            </a:r>
            <a:endParaRPr lang="en-US" sz="1900" dirty="0"/>
          </a:p>
        </p:txBody>
      </p:sp>
      <p:sp>
        <p:nvSpPr>
          <p:cNvPr id="42" name="Text 34"/>
          <p:cNvSpPr/>
          <p:nvPr/>
        </p:nvSpPr>
        <p:spPr>
          <a:xfrm>
            <a:off x="336928" y="1231404"/>
            <a:ext cx="477202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1号线单位能耗对标：现状 / 行业标杆 / 验收目标（kWh/件）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336928" y="3895130"/>
            <a:ext cx="47720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预期总收益：</a:t>
            </a:r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1号线技改年节省电费约252-288万元，叠加停机管理零投入节约，显著降低全厂年电费基数（当前约1638万元/年）</a:t>
            </a:r>
            <a:endParaRPr lang="en-US" sz="700" dirty="0"/>
          </a:p>
        </p:txBody>
      </p:sp>
      <p:sp>
        <p:nvSpPr>
          <p:cNvPr id="44" name="Text 36"/>
          <p:cNvSpPr/>
          <p:nvPr/>
        </p:nvSpPr>
        <p:spPr>
          <a:xfrm>
            <a:off x="5466141" y="1201936"/>
            <a:ext cx="33432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决策要点回顾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5467313" y="1385887"/>
            <a:ext cx="2000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问题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5724488" y="1385887"/>
            <a:ext cx="218598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1号线单位能耗0.85 kWh/件，超行业标杆约89%</a:t>
            </a:r>
            <a:endParaRPr lang="en-US" sz="700" dirty="0"/>
          </a:p>
        </p:txBody>
      </p:sp>
      <p:sp>
        <p:nvSpPr>
          <p:cNvPr id="47" name="Text 39"/>
          <p:cNvSpPr/>
          <p:nvPr/>
        </p:nvSpPr>
        <p:spPr>
          <a:xfrm>
            <a:off x="5467313" y="1628775"/>
            <a:ext cx="2000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根因</a:t>
            </a:r>
            <a:endParaRPr lang="en-US" sz="700" dirty="0"/>
          </a:p>
        </p:txBody>
      </p:sp>
      <p:sp>
        <p:nvSpPr>
          <p:cNvPr id="48" name="Text 40"/>
          <p:cNvSpPr/>
          <p:nvPr/>
        </p:nvSpPr>
        <p:spPr>
          <a:xfrm>
            <a:off x="5724488" y="1628775"/>
            <a:ext cx="190023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液压系统老化导致效率下降，拉高单位能耗</a:t>
            </a:r>
            <a:endParaRPr lang="en-US" sz="700" dirty="0"/>
          </a:p>
        </p:txBody>
      </p:sp>
      <p:sp>
        <p:nvSpPr>
          <p:cNvPr id="49" name="Text 41"/>
          <p:cNvSpPr/>
          <p:nvPr/>
        </p:nvSpPr>
        <p:spPr>
          <a:xfrm>
            <a:off x="5467313" y="1871663"/>
            <a:ext cx="2000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方案</a:t>
            </a:r>
            <a:endParaRPr lang="en-US" sz="700" dirty="0"/>
          </a:p>
        </p:txBody>
      </p:sp>
      <p:sp>
        <p:nvSpPr>
          <p:cNvPr id="50" name="Text 42"/>
          <p:cNvSpPr/>
          <p:nvPr/>
        </p:nvSpPr>
        <p:spPr>
          <a:xfrm>
            <a:off x="5724488" y="1871663"/>
            <a:ext cx="2157413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整机更换1号线液压系统，一次性投入约120万元</a:t>
            </a:r>
            <a:endParaRPr lang="en-US" sz="700" dirty="0"/>
          </a:p>
        </p:txBody>
      </p:sp>
      <p:sp>
        <p:nvSpPr>
          <p:cNvPr id="51" name="Text 43"/>
          <p:cNvSpPr/>
          <p:nvPr/>
        </p:nvSpPr>
        <p:spPr>
          <a:xfrm>
            <a:off x="5467313" y="2114550"/>
            <a:ext cx="2000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回报</a:t>
            </a:r>
            <a:endParaRPr lang="en-US" sz="700" dirty="0"/>
          </a:p>
        </p:txBody>
      </p:sp>
      <p:sp>
        <p:nvSpPr>
          <p:cNvPr id="52" name="Text 44"/>
          <p:cNvSpPr/>
          <p:nvPr/>
        </p:nvSpPr>
        <p:spPr>
          <a:xfrm>
            <a:off x="5724488" y="2114550"/>
            <a:ext cx="22574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年节省电费约252-288万元，回收期约18个月以内</a:t>
            </a:r>
            <a:endParaRPr lang="en-US" sz="700" dirty="0"/>
          </a:p>
        </p:txBody>
      </p:sp>
      <p:sp>
        <p:nvSpPr>
          <p:cNvPr id="53" name="Text 45"/>
          <p:cNvSpPr/>
          <p:nvPr/>
        </p:nvSpPr>
        <p:spPr>
          <a:xfrm>
            <a:off x="5473285" y="2834283"/>
            <a:ext cx="33432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技术改造线</a:t>
            </a:r>
            <a:endParaRPr lang="en-US" sz="700" dirty="0"/>
          </a:p>
        </p:txBody>
      </p:sp>
      <p:sp>
        <p:nvSpPr>
          <p:cNvPr id="54" name="Text 46"/>
          <p:cNvSpPr/>
          <p:nvPr/>
        </p:nvSpPr>
        <p:spPr>
          <a:xfrm>
            <a:off x="5473285" y="3018234"/>
            <a:ext cx="33432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批准120万元预算，整机更换1号线液压系统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5473285" y="3218259"/>
            <a:ext cx="33432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安排生产淡季施工以压降停产损失；改造后以0.45-0.5 kWh/件为验收目标</a:t>
            </a:r>
            <a:endParaRPr lang="en-US" sz="700" dirty="0"/>
          </a:p>
        </p:txBody>
      </p:sp>
      <p:sp>
        <p:nvSpPr>
          <p:cNvPr id="56" name="Text 48"/>
          <p:cNvSpPr/>
          <p:nvPr/>
        </p:nvSpPr>
        <p:spPr>
          <a:xfrm>
            <a:off x="5473285" y="3959423"/>
            <a:ext cx="33432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91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管理改进线</a:t>
            </a:r>
            <a:endParaRPr lang="en-US" sz="700" dirty="0"/>
          </a:p>
        </p:txBody>
      </p:sp>
      <p:sp>
        <p:nvSpPr>
          <p:cNvPr id="57" name="Text 49"/>
          <p:cNvSpPr/>
          <p:nvPr/>
        </p:nvSpPr>
        <p:spPr>
          <a:xfrm>
            <a:off x="5473285" y="4143375"/>
            <a:ext cx="33432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3号线试点停机流程规范化，验证后推广全厂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5473285" y="4343400"/>
            <a:ext cx="33432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零资本投入的流程改进，与技术改造形成双线并行、互补降险</a:t>
            </a:r>
            <a:endParaRPr lang="en-US" sz="700" dirty="0"/>
          </a:p>
        </p:txBody>
      </p:sp>
      <p:sp>
        <p:nvSpPr>
          <p:cNvPr id="59" name="Text 51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数据来源：一个月产线设备能耗实测数据与改造投资回报测算（用户素材）</a:t>
            </a:r>
            <a:endParaRPr lang="en-US" sz="700" dirty="0"/>
          </a:p>
        </p:txBody>
      </p:sp>
      <p:sp>
        <p:nvSpPr>
          <p:cNvPr id="65535" name="wm:hwcld:2026-09-22T15:19:12:fe90c0e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85750" y="285750"/>
            <a:ext cx="314325" cy="314325"/>
          </a:xfrm>
          <a:prstGeom prst="rect">
            <a:avLst/>
          </a:prstGeom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5750" y="285750"/>
            <a:ext cx="314325" cy="3143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3925" y="285750"/>
            <a:ext cx="314325" cy="314325"/>
          </a:xfrm>
          <a:prstGeom prst="rect">
            <a:avLst/>
          </a:prstGeom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3925" y="285750"/>
            <a:ext cx="314325" cy="3143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5750" y="4543425"/>
            <a:ext cx="314325" cy="314325"/>
          </a:xfrm>
          <a:prstGeom prst="rect">
            <a:avLst/>
          </a:prstGeom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750" y="4543425"/>
            <a:ext cx="314325" cy="3143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43925" y="4543425"/>
            <a:ext cx="314325" cy="314325"/>
          </a:xfrm>
          <a:prstGeom prst="rect">
            <a:avLst/>
          </a:prstGeom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3925" y="4543425"/>
            <a:ext cx="314325" cy="31432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357688" y="1860947"/>
            <a:ext cx="428625" cy="142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" name="Text 6"/>
          <p:cNvSpPr/>
          <p:nvPr/>
        </p:nvSpPr>
        <p:spPr>
          <a:xfrm>
            <a:off x="4332684" y="684014"/>
            <a:ext cx="478631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B900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// END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1743075" y="1017984"/>
            <a:ext cx="5657850" cy="6429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恳请评审委员会批准立项</a:t>
            </a:r>
            <a:endParaRPr lang="en-US" sz="4000" dirty="0"/>
          </a:p>
        </p:txBody>
      </p:sp>
      <p:sp>
        <p:nvSpPr>
          <p:cNvPr id="14" name="Text 8"/>
          <p:cNvSpPr/>
          <p:nvPr/>
        </p:nvSpPr>
        <p:spPr>
          <a:xfrm>
            <a:off x="3418284" y="2031392"/>
            <a:ext cx="2307431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感谢各位评审，恳请批准节能改造立项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43341" y="4109442"/>
            <a:ext cx="1221581" cy="350044"/>
          </a:xfrm>
          <a:prstGeom prst="roundRect">
            <a:avLst>
              <a:gd name="adj" fmla="val 2666"/>
            </a:avLst>
          </a:prstGeom>
          <a:ln w="12383">
            <a:solidFill>
              <a:srgbClr val="76B900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BACK TO TOP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6386513" y="4138017"/>
            <a:ext cx="201453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汇报人 / 设备工程部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6386513" y="4307681"/>
            <a:ext cx="201453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7A7A7"/>
                </a:solidFill>
                <a:latin typeface="FrexSansGB" pitchFamily="34" charset="0"/>
                <a:ea typeface="FrexSansGB" pitchFamily="34" charset="-122"/>
                <a:cs typeface="FrexSansGB" pitchFamily="34" charset="-120"/>
              </a:rPr>
              <a:t>2026年9月 · 附：能耗数据明细与测算表备查</a:t>
            </a:r>
            <a:endParaRPr lang="en-US" sz="700" dirty="0"/>
          </a:p>
        </p:txBody>
      </p:sp>
      <p:sp>
        <p:nvSpPr>
          <p:cNvPr id="65535" name="wm:hwcld:2026-09-22T15:19:12:fe90c0e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2026-09-22T15:19:16Z</dcterms:created>
  <dcterms:modified xsi:type="dcterms:W3CDTF">2026-09-22T15:19:16Z</dcterms:modified>
</cp:coreProperties>
</file>