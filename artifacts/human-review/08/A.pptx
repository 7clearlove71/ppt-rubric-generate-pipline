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志们,今天把区里的政府工作报告向大家传达一下。报告很长,涉及方方面面,但跟咱们街道直接相关的部分,我把它拎出来了,就是手上这份材料。报告的结语有一句话,蓝图已经绘就,关键在于落实,这也是今天这个会的全部用意。今年街道要盯的,概括起来是三个数:十件民生实事,一件不能落;群众诉求的按时办结率和满意率,两个百分之九十;还有消防、燃气、交通、危化品这四类安全排查。材料里的条目和数字都是报告原文,牵头分工和街道动作是建议口径,会后班子会再明确到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总览,今年街道要接的活分四块。第一块是稳增长和营商环境,报告第一方面,硬指标是全区新增规模以上工业企业五十家、企业开办压缩至一个工作日,街道这一层主要干企业服务,详见第四页。第二块是十件民生实事,报告第二方面,十件全部有数字,一件一档、逐条销号,详见第五、第六页。第三块是基层治理,报告第三方面,三项任务、两个硬指标,按时办结率和满意率都要达到百分之九十以上,详见第七页。第四块是安全底线,报告第四方面,四类重点领域排查整治要到位,详见第八页。每页页脚都标了牵头口径,最后一页给出认账、上墙、对表三步。大家拿着这份材料就能对号入座,知道自己牵头哪一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宏观情况,一带而过就行。上年全区地区生产总值增长百分之五点六,一般公共预算收入增长百分之四点二,规模以上工业增加值增长百分之六点一,社会消费品零售总额增长百分之四点八,固定资产投资增长百分之七,城镇新增就业二点八万人,居民人均可支配收入增长百分之五点一,空气质量优良天数比例百分之八十八。这些数不用逐条念,要记住的就一条:财政民生支出占比保持在八成以上,钱是往民生上花的。今年是承上启下的关键一年,预期目标有五个:地区生产总值增长百分之五点五左右,城镇新增就业二万五千人以上,城镇登记失业率控制在百分之四以内,居民收入增长与经济增长基本同步,生态环境质量持续改善。其中就业和收入这两条直接靠街道,岗位归集、就业服务、创业带动、失业人员走访、公益性岗位,都是咱们的活。最下面这条对照要留意,民生实事是接续的:公办学位去年五千个、今年四千个;老旧小区去年改造三十二个、今年二十五个;养老助餐去年新建十五个服务站、今年要求社区食堂覆盖所有街道;居民医保补助去年是稳步提高、今年明确人均提高三十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稳增长这块,产业链补链强链由区里统筹,街道接不住,但企业身边的三件事件件能落到人。第一件是企业培育。报告提出全年新增规模以上工业企业五十家,支持企业技术改造与数字化转型,街道要做的是摸排辖区临规企业、建立培育清单,逐户走访,把技改和数字化需求报上去,新增入库的手续帮办到底,牵头建议是经济发展条线。第二件是办事效率。报告要求推行一网通办、企业开办时间压缩至一个工作日,街道便民服务中心要做到窗口一次告知、帮办代办,不让企业跑第二趟,不新增证明事项、不设额外门槛,牵头建议是便民服务中心。第三件是政策直达。报告要求推动惠企政策免申即享、深化放管服改革,街道要把惠企政策清单送进企业、送进户,符合条件的主动提醒、协助兑付,同时收集企业诉求按月反馈,牵头建议是营商服务条线。这三件事合成一张企业服务台账,一户一档,由营商服务条线汇总,每月过一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是十件民生实事,按报告的序号一条一条念,一条不落。第一件,新增公办学位四千个。街道要摸清辖区适龄儿童底数,把招生政策送进社区,学位矛盾提前排查,牵头建议民生服务条线,各社区配合。第二件,改造老旧小区二十五个,同步推进加装电梯不少于六十部。这一件有两个数,二十五个小区和六十部电梯,街道要逐小区申报项目,做好居民征询签字,施工期负责协调,加装电梯一栋一档,牵头建议城市管理条线,社区和业委会配合。第三件,新建口袋公园八个。街道提出选址建议,配合场地清表,建成后落实管护责任。第四件,推动社区食堂也就是老年助餐点覆盖所有街道。注意这一件的口径是覆盖所有街道,咱们街道至少落地一个点位,选址、运营方引入、就餐需求摸底都要先做起来。第五件,新增普惠性托位八百个。街道摸排托育机构和需求,协助场地落实与备案,牵头建议民生服务条线,卫健条线配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着念后五件。第六件,完成棚户区改造一千二百户。街道要入户调查,补偿政策解释到位,搬迁安置衔接,矛盾及时化解,牵头建议征收安置条线。第七件,城乡居民医保人均财政补助标准提高三十元。街道在集中征缴期入户动员,断保人员逐人提醒,把政策讲清讲透,社区和村配合。第八件,新增公共停车位三千个。街道挖潜可用地块和错时共享,做好泊位申报和停车秩序整治。第九件,完成八个村的农村供水管网改造。涉农街道要涉改村逐村对接,施工期保障临时供水,村民提前告知,牵头建议农业农村条线。第十件,推动政务服务就近办,实现街道便民服务网点全覆盖。这一件直接点到街道,网点必须全覆盖,事项清单上墙,窗口人员培训,一窗受理,牵头建议便民服务中心,各条线各社区配合。十件实事念完了,请各条线当场认领,会后建台账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层治理单独一页,报告第三方面,三项任务、两个硬指标。任务一是力量下沉、减负赋能。报告要求推动治理重心和资源向基层下沉,充实社区工作力量,为基层减负赋能;街道要做的是承接下沉事项和权限清单,一项一接,社区工作者配齐、岗位职责公示,同时清理违规挂牌和证明事项,把减负真正落地。任务二是网格化管理加全面推行接诉即办。报告要求健全群众诉求的受理、办理、反馈闭环,硬指标是全年按时办结率和满意率都力争达到百分之九十以上,这两个数年底要交账。闭环怎么跑:受理环节当日签收、建立台账;办理环节限时办结、疑难会商;反馈环节回访评价、结果公开;反馈结果要回到诉求人手上,不满意件重新办理、回访销号,这才叫闭环。街道的具体做法是网格力量配齐、网格员每日巡查走访、当日签收,限时办结、办结必回访,不满意件重新办理,疑难件提交班子会商,并且按月统计这两个百分之九十,进度上墙。任务三是矛盾纠纷多元化解。报告要求把问题化解在基层、化解在萌芽;街道网格每周排查,矛盾隐患建台账,人民调解、警调、访调对接联动,重点矛盾领导包案。这一页牵头建议是平安建设与网格条线,各社区落实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这一块也单独一页,报告第四方面,统筹发展和安全。首先一条,压实安全生产责任。街道建议的做法是责任清单签到人、检查记录留痕、隐患整改销号、失职追责;一句话,发展是第一要务,安全是第一责任。第一部分是四类重点领域隐患排查整治,这是报告原文点到的消防、燃气、交通、危化品。消防安全:重点场所的消防通道、用电用气、消防设施逐项排查,隐患台账逐条登记、限期整改、复查销号。燃气安全:餐饮门店瓶装液化气、软管阀门、报警装置检查,非法充装、违规存放发现即报、当场处置。交通安全:校园周边、事故多发路段、农村道路隐患点排查,配合整治,劝导站和护学岗常态运行。危化品安全:储存使用单位台账核查,经营使用环节现场检查,非法窝点发现即报,运输环节配合监管。第二部分是三条常态线,一年到头不松手。食品药品安全监管:学校食堂、集体用餐配送单位常态检查,农村自办宴席备案,问题即报即查。防汛抗旱与灾害防范:汛期值守、隐患点巡查、物资队伍到位,加强基层应急能力建设,每年组织演练。维护社会和谐稳定:重点人群服务管理,重要节点值守,信访与舆情早发现、早上报、早处置。这一页牵头建议是应急管理与平安建设条线,各社区落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对号入座。蓝图已经绘就,关键在于落实;街道这一层怎么把话变成活,就一句话:报告里的每一条,都要在街道有一份台账、一个责任人、一个时间节点。分三步走。第一步认账,条目认领到人。会后一周内各科室、各社区认领条目,建立街道落实台账,台账上要有条目、牵头人、配合、节点、进度五项。第二步上墙,群众看得见。十件实事、两个百分之九十、四类排查在街道公示栏和社区上墙公示,进度按月更新,接受群众监督。第三步对表,按月按季销号。每月班子会过一次进度,季度向区里报送,年底逐条销号,完不成的说明原因、限期整改。报告最后讲,以钉钉子精神抓好各项工作落实,奋力谱写全区高质量发展新篇章。落到咱们街道就是三句话:不合并、不漏项、不拖到年底,一条一条对账销号。散会以后,请各条线负责人对照这一页把台账建起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iedao_deplo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iedao_deplo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83C6E"/>
            </a:gs>
            <a:gs pos="100000">
              <a:srgbClr val="0D214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masthead"/>
          <p:cNvGrpSpPr/>
          <p:nvPr/>
        </p:nvGrpSpPr>
        <p:grpSpPr>
          <a:xfrm>
            <a:off x="0" y="0"/>
            <a:ext cx="12192000" cy="923925"/>
            <a:chOff x="0" y="0"/>
            <a:chExt cx="12192000" cy="9239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4400" y="495300"/>
              <a:ext cx="114300" cy="1143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55192" y="501968"/>
              <a:ext cx="3884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rgbClr val="9FB3D1"/>
                  </a:solidFill>
                  <a:latin typeface="+mn-lt"/>
                  <a:ea typeface="+mn-ea"/>
                  <a:cs typeface="+mn-cs"/>
                </a:rPr>
                <a:t>区人民政府工作报告 · 传达学习贯彻材料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14400" y="9144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C4A78"/>
              </a:solidFill>
            </a:ln>
          </p:spPr>
        </p:sp>
      </p:grpSp>
      <p:grpSp>
        <p:nvGrpSpPr>
          <p:cNvPr id="9" name="cover-hook"/>
          <p:cNvGrpSpPr/>
          <p:nvPr/>
        </p:nvGrpSpPr>
        <p:grpSpPr>
          <a:xfrm>
            <a:off x="895350" y="1484948"/>
            <a:ext cx="6289548" cy="1795462"/>
            <a:chOff x="895350" y="1484948"/>
            <a:chExt cx="6289548" cy="1795462"/>
          </a:xfrm>
        </p:grpSpPr>
        <p:sp>
          <p:nvSpPr>
            <p:cNvPr id="7" name="TextBox 7"/>
            <p:cNvSpPr txBox="1"/>
            <p:nvPr/>
          </p:nvSpPr>
          <p:spPr>
            <a:xfrm>
              <a:off x="923544" y="14849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9E0"/>
                  </a:solidFill>
                  <a:latin typeface="+mn-lt"/>
                  <a:ea typeface="+mn-ea"/>
                  <a:cs typeface="+mn-cs"/>
                </a:rPr>
                <a:t>蓝图已经绘就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1889760"/>
              <a:ext cx="628954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spc="1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关键在于落实</a:t>
              </a:r>
            </a:p>
          </p:txBody>
        </p:sp>
      </p:grpSp>
      <p:grpSp>
        <p:nvGrpSpPr>
          <p:cNvPr id="12" name="cover-title"/>
          <p:cNvGrpSpPr/>
          <p:nvPr/>
        </p:nvGrpSpPr>
        <p:grpSpPr>
          <a:xfrm>
            <a:off x="897636" y="3453765"/>
            <a:ext cx="7044233" cy="938974"/>
            <a:chOff x="897636" y="3453765"/>
            <a:chExt cx="7044233" cy="938974"/>
          </a:xfrm>
        </p:grpSpPr>
        <p:sp>
          <p:nvSpPr>
            <p:cNvPr id="10" name="TextBox 10"/>
            <p:cNvSpPr txBox="1"/>
            <p:nvPr/>
          </p:nvSpPr>
          <p:spPr>
            <a:xfrm>
              <a:off x="897636" y="3453765"/>
              <a:ext cx="66050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《政府工作报告》街道落实要点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018" y="4070032"/>
              <a:ext cx="7035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9E0"/>
                  </a:solidFill>
                  <a:latin typeface="+mn-lt"/>
                  <a:ea typeface="+mn-ea"/>
                  <a:cs typeface="+mn-cs"/>
                </a:rPr>
                <a:t>街道干部对照部署用 · 十件民生实事 / 基层治理 / 安全底线 / 责任到人</a:t>
              </a:r>
            </a:p>
          </p:txBody>
        </p:sp>
      </p:grpSp>
      <p:grpSp>
        <p:nvGrpSpPr>
          <p:cNvPr id="24" name="cover-metrics"/>
          <p:cNvGrpSpPr/>
          <p:nvPr/>
        </p:nvGrpSpPr>
        <p:grpSpPr>
          <a:xfrm>
            <a:off x="895350" y="4781550"/>
            <a:ext cx="9317107" cy="1013651"/>
            <a:chOff x="895350" y="4781550"/>
            <a:chExt cx="9317107" cy="1013651"/>
          </a:xfrm>
        </p:grpSpPr>
        <p:sp>
          <p:nvSpPr>
            <p:cNvPr id="13" name="Line 13"/>
            <p:cNvSpPr/>
            <p:nvPr/>
          </p:nvSpPr>
          <p:spPr>
            <a:xfrm>
              <a:off x="4305300" y="47815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C4A7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810500" y="47815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C4A78"/>
              </a:solidFill>
            </a:ln>
          </p:spPr>
        </p:sp>
        <p:grpSp>
          <p:nvGrpSpPr>
            <p:cNvPr id="17" name="cover-metric-1"/>
            <p:cNvGrpSpPr/>
            <p:nvPr/>
          </p:nvGrpSpPr>
          <p:grpSpPr>
            <a:xfrm>
              <a:off x="895350" y="4912995"/>
              <a:ext cx="2488444" cy="882206"/>
              <a:chOff x="895350" y="4912995"/>
              <a:chExt cx="2488444" cy="88220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95350" y="4912995"/>
                <a:ext cx="914222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</a:t>
                </a:r>
                <a:r>
                  <a:rPr lang="zh-CN" sz="1650" b="1" dirty="0">
                    <a:solidFill>
                      <a:srgbClr val="B9C9E0"/>
                    </a:solidFill>
                    <a:latin typeface="+mn-lt"/>
                    <a:ea typeface="+mn-ea"/>
                    <a:cs typeface="+mn-cs"/>
                  </a:rPr>
                  <a:t xml:space="preserve"> 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07542" y="5531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FB3D1"/>
                    </a:solidFill>
                    <a:latin typeface="+mn-lt"/>
                    <a:ea typeface="+mn-ea"/>
                    <a:cs typeface="+mn-cs"/>
                  </a:rPr>
                  <a:t>民生实事,一条不落、逐条对账</a:t>
                </a:r>
              </a:p>
            </p:txBody>
          </p:sp>
        </p:grpSp>
        <p:grpSp>
          <p:nvGrpSpPr>
            <p:cNvPr id="20" name="cover-metric-2"/>
            <p:cNvGrpSpPr/>
            <p:nvPr/>
          </p:nvGrpSpPr>
          <p:grpSpPr>
            <a:xfrm>
              <a:off x="4400550" y="4912995"/>
              <a:ext cx="2388489" cy="882206"/>
              <a:chOff x="4400550" y="4912995"/>
              <a:chExt cx="2388489" cy="88220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4400550" y="4912995"/>
                <a:ext cx="1603191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B9C9E0"/>
                    </a:solidFill>
                    <a:latin typeface="+mn-lt"/>
                    <a:ea typeface="+mn-ea"/>
                    <a:cs typeface="+mn-cs"/>
                  </a:rPr>
                  <a:t xml:space="preserve">两个 </a:t>
                </a:r>
                <a:r>
                  <a:rPr lang="zh-CN" sz="3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90%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412742" y="55311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FB3D1"/>
                    </a:solidFill>
                    <a:latin typeface="+mn-lt"/>
                    <a:ea typeface="+mn-ea"/>
                    <a:cs typeface="+mn-cs"/>
                  </a:rPr>
                  <a:t>诉求按时办结率、群众满意率</a:t>
                </a:r>
              </a:p>
            </p:txBody>
          </p:sp>
        </p:grpSp>
        <p:grpSp>
          <p:nvGrpSpPr>
            <p:cNvPr id="23" name="cover-metric-3"/>
            <p:cNvGrpSpPr/>
            <p:nvPr/>
          </p:nvGrpSpPr>
          <p:grpSpPr>
            <a:xfrm>
              <a:off x="7905750" y="4912995"/>
              <a:ext cx="2306707" cy="882206"/>
              <a:chOff x="7905750" y="4912995"/>
              <a:chExt cx="2306707" cy="88220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905750" y="4912995"/>
                <a:ext cx="622207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r>
                  <a:rPr lang="zh-CN" sz="1650" b="1" dirty="0">
                    <a:solidFill>
                      <a:srgbClr val="B9C9E0"/>
                    </a:solidFill>
                    <a:latin typeface="+mn-lt"/>
                    <a:ea typeface="+mn-ea"/>
                    <a:cs typeface="+mn-cs"/>
                  </a:rPr>
                  <a:t xml:space="preserve"> 类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17942" y="5531168"/>
                <a:ext cx="2294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FB3D1"/>
                    </a:solidFill>
                    <a:latin typeface="+mn-lt"/>
                    <a:ea typeface="+mn-ea"/>
                    <a:cs typeface="+mn-cs"/>
                  </a:rPr>
                  <a:t>安全重点领域排查,守住底线</a:t>
                </a:r>
              </a:p>
            </p:txBody>
          </p:sp>
        </p:grpSp>
      </p:grpSp>
      <p:grpSp>
        <p:nvGrpSpPr>
          <p:cNvPr id="27" name="cover-footer"/>
          <p:cNvGrpSpPr/>
          <p:nvPr/>
        </p:nvGrpSpPr>
        <p:grpSpPr>
          <a:xfrm>
            <a:off x="909066" y="6134100"/>
            <a:ext cx="10368534" cy="358711"/>
            <a:chOff x="909066" y="6134100"/>
            <a:chExt cx="10368534" cy="358711"/>
          </a:xfrm>
        </p:grpSpPr>
        <p:sp>
          <p:nvSpPr>
            <p:cNvPr id="25" name="Line 25"/>
            <p:cNvSpPr/>
            <p:nvPr/>
          </p:nvSpPr>
          <p:spPr>
            <a:xfrm>
              <a:off x="914400" y="61341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C4A7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066" y="6287452"/>
              <a:ext cx="7113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6C6"/>
                  </a:solidFill>
                  <a:latin typeface="+mn-lt"/>
                  <a:ea typeface="+mn-ea"/>
                  <a:cs typeface="+mn-cs"/>
                </a:rPr>
                <a:t>依据区人民政府工作报告整理 · 条目与数字摘自报告原文;牵头分工与街道动作为建议口径,以街道班子会明确为准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95122" y="461010"/>
            <a:ext cx="10987278" cy="836485"/>
            <a:chOff x="595122" y="461010"/>
            <a:chExt cx="10987278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053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部署总览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59259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部署总览:今年街道要接的四块活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16" name="ov-block-growth"/>
          <p:cNvGrpSpPr/>
          <p:nvPr/>
        </p:nvGrpSpPr>
        <p:grpSpPr>
          <a:xfrm>
            <a:off x="609600" y="1447800"/>
            <a:ext cx="10972800" cy="1000125"/>
            <a:chOff x="609600" y="1447800"/>
            <a:chExt cx="10972800" cy="1000125"/>
          </a:xfrm>
        </p:grpSpPr>
        <p:sp>
          <p:nvSpPr>
            <p:cNvPr id="7" name="Rectangle 7"/>
            <p:cNvSpPr/>
            <p:nvPr/>
          </p:nvSpPr>
          <p:spPr>
            <a:xfrm>
              <a:off x="609600" y="1447800"/>
              <a:ext cx="38100" cy="9906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66775" y="1704975"/>
              <a:ext cx="285750" cy="271462"/>
            </a:xfrm>
            <a:custGeom>
              <a:avLst/>
              <a:gdLst/>
              <a:ahLst/>
              <a:cxnLst/>
              <a:rect l="l" t="t" r="r" b="b"/>
              <a:pathLst>
                <a:path w="285750" h="271462">
                  <a:moveTo>
                    <a:pt x="285750" y="163992"/>
                  </a:moveTo>
                  <a:lnTo>
                    <a:pt x="285750" y="228600"/>
                  </a:lnTo>
                  <a:cubicBezTo>
                    <a:pt x="285750" y="252272"/>
                    <a:pt x="266560" y="271462"/>
                    <a:pt x="242888" y="271462"/>
                  </a:cubicBezTo>
                  <a:lnTo>
                    <a:pt x="42862" y="271462"/>
                  </a:lnTo>
                  <a:cubicBezTo>
                    <a:pt x="19190" y="271462"/>
                    <a:pt x="0" y="252272"/>
                    <a:pt x="0" y="228600"/>
                  </a:cubicBezTo>
                  <a:lnTo>
                    <a:pt x="0" y="163992"/>
                  </a:lnTo>
                  <a:lnTo>
                    <a:pt x="7901" y="167950"/>
                  </a:lnTo>
                  <a:cubicBezTo>
                    <a:pt x="92818" y="210722"/>
                    <a:pt x="192984" y="210712"/>
                    <a:pt x="277892" y="167921"/>
                  </a:cubicBezTo>
                  <a:lnTo>
                    <a:pt x="285750" y="163992"/>
                  </a:lnTo>
                  <a:close/>
                  <a:moveTo>
                    <a:pt x="171450" y="0"/>
                  </a:moveTo>
                  <a:cubicBezTo>
                    <a:pt x="195122" y="0"/>
                    <a:pt x="214312" y="19190"/>
                    <a:pt x="214312" y="42862"/>
                  </a:cubicBezTo>
                  <a:lnTo>
                    <a:pt x="214312" y="57150"/>
                  </a:lnTo>
                  <a:lnTo>
                    <a:pt x="242888" y="57150"/>
                  </a:lnTo>
                  <a:cubicBezTo>
                    <a:pt x="266560" y="57150"/>
                    <a:pt x="285750" y="76340"/>
                    <a:pt x="285750" y="100012"/>
                  </a:cubicBezTo>
                  <a:lnTo>
                    <a:pt x="285750" y="132045"/>
                  </a:lnTo>
                  <a:lnTo>
                    <a:pt x="265076" y="142389"/>
                  </a:lnTo>
                  <a:cubicBezTo>
                    <a:pt x="190113" y="180173"/>
                    <a:pt x="101888" y="181154"/>
                    <a:pt x="26103" y="145047"/>
                  </a:cubicBezTo>
                  <a:lnTo>
                    <a:pt x="16859" y="140475"/>
                  </a:lnTo>
                  <a:lnTo>
                    <a:pt x="0" y="132045"/>
                  </a:lnTo>
                  <a:lnTo>
                    <a:pt x="0" y="100012"/>
                  </a:lnTo>
                  <a:cubicBezTo>
                    <a:pt x="0" y="76340"/>
                    <a:pt x="19190" y="57150"/>
                    <a:pt x="42862" y="57150"/>
                  </a:cubicBezTo>
                  <a:lnTo>
                    <a:pt x="71438" y="57150"/>
                  </a:lnTo>
                  <a:lnTo>
                    <a:pt x="71438" y="42862"/>
                  </a:lnTo>
                  <a:cubicBezTo>
                    <a:pt x="71438" y="19190"/>
                    <a:pt x="90628" y="0"/>
                    <a:pt x="114300" y="0"/>
                  </a:cubicBezTo>
                  <a:lnTo>
                    <a:pt x="171450" y="0"/>
                  </a:lnTo>
                  <a:close/>
                  <a:moveTo>
                    <a:pt x="142875" y="114300"/>
                  </a:moveTo>
                  <a:cubicBezTo>
                    <a:pt x="134984" y="114300"/>
                    <a:pt x="128588" y="120697"/>
                    <a:pt x="128588" y="128588"/>
                  </a:cubicBezTo>
                  <a:cubicBezTo>
                    <a:pt x="128562" y="133692"/>
                    <a:pt x="131262" y="138422"/>
                    <a:pt x="135669" y="140997"/>
                  </a:cubicBezTo>
                  <a:cubicBezTo>
                    <a:pt x="140077" y="143571"/>
                    <a:pt x="145524" y="143598"/>
                    <a:pt x="149957" y="141068"/>
                  </a:cubicBezTo>
                  <a:cubicBezTo>
                    <a:pt x="154390" y="138538"/>
                    <a:pt x="157137" y="133835"/>
                    <a:pt x="157162" y="128730"/>
                  </a:cubicBezTo>
                  <a:cubicBezTo>
                    <a:pt x="157162" y="120701"/>
                    <a:pt x="150762" y="114300"/>
                    <a:pt x="142875" y="114300"/>
                  </a:cubicBezTo>
                  <a:close/>
                  <a:moveTo>
                    <a:pt x="171450" y="28575"/>
                  </a:moveTo>
                  <a:lnTo>
                    <a:pt x="114300" y="28575"/>
                  </a:lnTo>
                  <a:cubicBezTo>
                    <a:pt x="106409" y="28575"/>
                    <a:pt x="100012" y="34972"/>
                    <a:pt x="100012" y="42862"/>
                  </a:cubicBezTo>
                  <a:lnTo>
                    <a:pt x="100012" y="57150"/>
                  </a:lnTo>
                  <a:lnTo>
                    <a:pt x="185738" y="57150"/>
                  </a:lnTo>
                  <a:lnTo>
                    <a:pt x="185738" y="42862"/>
                  </a:lnTo>
                  <a:cubicBezTo>
                    <a:pt x="185738" y="34972"/>
                    <a:pt x="179341" y="28575"/>
                    <a:pt x="171450" y="28575"/>
                  </a:cubicBezTo>
                  <a:close/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4356" y="1634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稳增长与营商环境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9688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报告第一方面 · 街道三件事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5666" y="1658302"/>
              <a:ext cx="454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硬指标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83380" y="1895475"/>
              <a:ext cx="3595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新增规上工业企业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50家</a:t>
              </a: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、开办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1个工作日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60308" y="1626870"/>
              <a:ext cx="6318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P04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5642" y="20259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牵头建议 · 营商服务条线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438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26" name="ov-block-livelihood"/>
          <p:cNvGrpSpPr/>
          <p:nvPr/>
        </p:nvGrpSpPr>
        <p:grpSpPr>
          <a:xfrm>
            <a:off x="609600" y="2552700"/>
            <a:ext cx="10972800" cy="1000125"/>
            <a:chOff x="609600" y="2552700"/>
            <a:chExt cx="1097280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09600" y="2552700"/>
              <a:ext cx="38100" cy="9906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95347" y="2809875"/>
              <a:ext cx="228606" cy="285750"/>
            </a:xfrm>
            <a:custGeom>
              <a:avLst/>
              <a:gdLst/>
              <a:ahLst/>
              <a:cxnLst/>
              <a:rect l="l" t="t" r="r" b="b"/>
              <a:pathLst>
                <a:path w="228606" h="285750">
                  <a:moveTo>
                    <a:pt x="199985" y="31004"/>
                  </a:moveTo>
                  <a:cubicBezTo>
                    <a:pt x="217136" y="37047"/>
                    <a:pt x="228606" y="53254"/>
                    <a:pt x="228603" y="71438"/>
                  </a:cubicBezTo>
                  <a:lnTo>
                    <a:pt x="228603" y="242888"/>
                  </a:lnTo>
                  <a:cubicBezTo>
                    <a:pt x="228603" y="266560"/>
                    <a:pt x="209413" y="285750"/>
                    <a:pt x="185741" y="285750"/>
                  </a:cubicBezTo>
                  <a:lnTo>
                    <a:pt x="42866" y="285750"/>
                  </a:lnTo>
                  <a:cubicBezTo>
                    <a:pt x="19193" y="285750"/>
                    <a:pt x="3" y="266560"/>
                    <a:pt x="3" y="242888"/>
                  </a:cubicBezTo>
                  <a:lnTo>
                    <a:pt x="3" y="71438"/>
                  </a:lnTo>
                  <a:cubicBezTo>
                    <a:pt x="0" y="53254"/>
                    <a:pt x="11471" y="37047"/>
                    <a:pt x="28621" y="31004"/>
                  </a:cubicBezTo>
                  <a:cubicBezTo>
                    <a:pt x="29922" y="61598"/>
                    <a:pt x="55106" y="85730"/>
                    <a:pt x="85728" y="85725"/>
                  </a:cubicBezTo>
                  <a:lnTo>
                    <a:pt x="142878" y="85725"/>
                  </a:lnTo>
                  <a:cubicBezTo>
                    <a:pt x="172214" y="85728"/>
                    <a:pt x="196787" y="63519"/>
                    <a:pt x="199742" y="34333"/>
                  </a:cubicBezTo>
                  <a:close/>
                  <a:moveTo>
                    <a:pt x="71583" y="185738"/>
                  </a:moveTo>
                  <a:lnTo>
                    <a:pt x="71441" y="185738"/>
                  </a:lnTo>
                  <a:cubicBezTo>
                    <a:pt x="63881" y="185746"/>
                    <a:pt x="57637" y="191641"/>
                    <a:pt x="57194" y="199188"/>
                  </a:cubicBezTo>
                  <a:cubicBezTo>
                    <a:pt x="56751" y="206734"/>
                    <a:pt x="62262" y="213320"/>
                    <a:pt x="69769" y="214212"/>
                  </a:cubicBezTo>
                  <a:lnTo>
                    <a:pt x="71583" y="214312"/>
                  </a:lnTo>
                  <a:cubicBezTo>
                    <a:pt x="79474" y="214312"/>
                    <a:pt x="85871" y="207916"/>
                    <a:pt x="85871" y="200025"/>
                  </a:cubicBezTo>
                  <a:cubicBezTo>
                    <a:pt x="85871" y="192134"/>
                    <a:pt x="79474" y="185738"/>
                    <a:pt x="71583" y="185738"/>
                  </a:cubicBezTo>
                  <a:moveTo>
                    <a:pt x="157166" y="185738"/>
                  </a:moveTo>
                  <a:lnTo>
                    <a:pt x="128591" y="185738"/>
                  </a:lnTo>
                  <a:cubicBezTo>
                    <a:pt x="120700" y="185738"/>
                    <a:pt x="114303" y="192134"/>
                    <a:pt x="114303" y="200025"/>
                  </a:cubicBezTo>
                  <a:cubicBezTo>
                    <a:pt x="114303" y="207916"/>
                    <a:pt x="120700" y="214312"/>
                    <a:pt x="128591" y="214312"/>
                  </a:cubicBezTo>
                  <a:lnTo>
                    <a:pt x="157166" y="214312"/>
                  </a:lnTo>
                  <a:cubicBezTo>
                    <a:pt x="165056" y="214312"/>
                    <a:pt x="171453" y="207916"/>
                    <a:pt x="171453" y="200025"/>
                  </a:cubicBezTo>
                  <a:cubicBezTo>
                    <a:pt x="171453" y="192134"/>
                    <a:pt x="165056" y="185738"/>
                    <a:pt x="157166" y="185738"/>
                  </a:cubicBezTo>
                  <a:moveTo>
                    <a:pt x="71583" y="128588"/>
                  </a:moveTo>
                  <a:lnTo>
                    <a:pt x="71441" y="128588"/>
                  </a:lnTo>
                  <a:cubicBezTo>
                    <a:pt x="63881" y="128596"/>
                    <a:pt x="57637" y="134491"/>
                    <a:pt x="57194" y="142038"/>
                  </a:cubicBezTo>
                  <a:cubicBezTo>
                    <a:pt x="56751" y="149584"/>
                    <a:pt x="62262" y="156170"/>
                    <a:pt x="69769" y="157062"/>
                  </a:cubicBezTo>
                  <a:lnTo>
                    <a:pt x="71583" y="157162"/>
                  </a:lnTo>
                  <a:cubicBezTo>
                    <a:pt x="79474" y="157162"/>
                    <a:pt x="85871" y="150766"/>
                    <a:pt x="85871" y="142875"/>
                  </a:cubicBezTo>
                  <a:cubicBezTo>
                    <a:pt x="85871" y="134984"/>
                    <a:pt x="79474" y="128588"/>
                    <a:pt x="71583" y="128588"/>
                  </a:cubicBezTo>
                  <a:moveTo>
                    <a:pt x="157166" y="128588"/>
                  </a:moveTo>
                  <a:lnTo>
                    <a:pt x="128591" y="128588"/>
                  </a:lnTo>
                  <a:cubicBezTo>
                    <a:pt x="120700" y="128588"/>
                    <a:pt x="114303" y="134984"/>
                    <a:pt x="114303" y="142875"/>
                  </a:cubicBezTo>
                  <a:cubicBezTo>
                    <a:pt x="114303" y="150766"/>
                    <a:pt x="120700" y="157162"/>
                    <a:pt x="128591" y="157162"/>
                  </a:cubicBezTo>
                  <a:lnTo>
                    <a:pt x="157166" y="157162"/>
                  </a:lnTo>
                  <a:cubicBezTo>
                    <a:pt x="165056" y="157162"/>
                    <a:pt x="171453" y="150766"/>
                    <a:pt x="171453" y="142875"/>
                  </a:cubicBezTo>
                  <a:cubicBezTo>
                    <a:pt x="171453" y="134984"/>
                    <a:pt x="165056" y="128588"/>
                    <a:pt x="157166" y="128588"/>
                  </a:cubicBezTo>
                  <a:moveTo>
                    <a:pt x="142878" y="0"/>
                  </a:moveTo>
                  <a:cubicBezTo>
                    <a:pt x="158660" y="0"/>
                    <a:pt x="171453" y="12793"/>
                    <a:pt x="171453" y="28575"/>
                  </a:cubicBezTo>
                  <a:cubicBezTo>
                    <a:pt x="171453" y="44357"/>
                    <a:pt x="158660" y="57150"/>
                    <a:pt x="142878" y="57150"/>
                  </a:cubicBezTo>
                  <a:lnTo>
                    <a:pt x="85728" y="57150"/>
                  </a:lnTo>
                  <a:cubicBezTo>
                    <a:pt x="69947" y="57150"/>
                    <a:pt x="57153" y="44357"/>
                    <a:pt x="57153" y="28575"/>
                  </a:cubicBezTo>
                  <a:cubicBezTo>
                    <a:pt x="57153" y="12793"/>
                    <a:pt x="69947" y="0"/>
                    <a:pt x="85728" y="0"/>
                  </a:cubicBezTo>
                  <a:close/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24356" y="2739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十件民生实事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6642" y="30737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报告第二方面 · 一件不落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5666" y="2763202"/>
              <a:ext cx="454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硬指标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3380" y="3000375"/>
              <a:ext cx="3792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10件</a:t>
              </a: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实事全部有数字,一件一档、逐条销号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0308" y="2731770"/>
              <a:ext cx="11252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P05-06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5642" y="31308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牵头建议 · 民生与城管条线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3543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40" name="ov-block-governance"/>
          <p:cNvGrpSpPr/>
          <p:nvPr/>
        </p:nvGrpSpPr>
        <p:grpSpPr>
          <a:xfrm>
            <a:off x="609600" y="3657600"/>
            <a:ext cx="10972800" cy="1000125"/>
            <a:chOff x="609600" y="3657600"/>
            <a:chExt cx="10972800" cy="1000125"/>
          </a:xfrm>
        </p:grpSpPr>
        <p:sp>
          <p:nvSpPr>
            <p:cNvPr id="27" name="Rectangle 27"/>
            <p:cNvSpPr/>
            <p:nvPr/>
          </p:nvSpPr>
          <p:spPr>
            <a:xfrm>
              <a:off x="609600" y="3657600"/>
              <a:ext cx="38100" cy="9906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81062" y="3929062"/>
              <a:ext cx="257176" cy="257176"/>
              <a:chOff x="881062" y="3929062"/>
              <a:chExt cx="257176" cy="2571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81062" y="39290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85725" y="0"/>
                    </a:move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85725"/>
                    </a:lnTo>
                    <a:cubicBezTo>
                      <a:pt x="114300" y="101507"/>
                      <a:pt x="101507" y="114300"/>
                      <a:pt x="8572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23938" y="39290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85725" y="0"/>
                    </a:move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85725"/>
                    </a:lnTo>
                    <a:cubicBezTo>
                      <a:pt x="114300" y="101507"/>
                      <a:pt x="101507" y="114300"/>
                      <a:pt x="8572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81062" y="40719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85725" y="0"/>
                    </a:move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85725"/>
                    </a:lnTo>
                    <a:cubicBezTo>
                      <a:pt x="114300" y="101507"/>
                      <a:pt x="101507" y="114300"/>
                      <a:pt x="8572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23938" y="40719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85725" y="0"/>
                    </a:move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85725"/>
                    </a:lnTo>
                    <a:cubicBezTo>
                      <a:pt x="114300" y="101507"/>
                      <a:pt x="101507" y="114300"/>
                      <a:pt x="8572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24356" y="3844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基层治理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6642" y="41786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报告第三方面 · 三项任务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5666" y="3868102"/>
              <a:ext cx="454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硬指标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3380" y="4105275"/>
              <a:ext cx="28806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按时办结率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≥90%</a:t>
              </a: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 xml:space="preserve"> · 满意率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≥90%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0308" y="3836670"/>
              <a:ext cx="6318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P07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5642" y="42357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牵头建议 · 平安建设条线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50" name="ov-block-safety"/>
          <p:cNvGrpSpPr/>
          <p:nvPr/>
        </p:nvGrpSpPr>
        <p:grpSpPr>
          <a:xfrm>
            <a:off x="609600" y="4762500"/>
            <a:ext cx="10972800" cy="1000125"/>
            <a:chOff x="609600" y="4762500"/>
            <a:chExt cx="10972800" cy="1000125"/>
          </a:xfrm>
        </p:grpSpPr>
        <p:sp>
          <p:nvSpPr>
            <p:cNvPr id="41" name="Rectangle 41"/>
            <p:cNvSpPr/>
            <p:nvPr/>
          </p:nvSpPr>
          <p:spPr>
            <a:xfrm>
              <a:off x="609600" y="4762500"/>
              <a:ext cx="38100" cy="9906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60306" y="50196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24356" y="4949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安全底线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26642" y="52835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报告第四方面 · 一条底线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85666" y="4973002"/>
              <a:ext cx="454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硬指标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83380" y="52101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消防、燃气、交通、危化品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四类</a:t>
              </a: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排查整治到位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60308" y="4941570"/>
              <a:ext cx="6318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P08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65642" y="53406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牵头建议 · 应急管理条线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" y="575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54" name="ov-note"/>
          <p:cNvGrpSpPr/>
          <p:nvPr/>
        </p:nvGrpSpPr>
        <p:grpSpPr>
          <a:xfrm>
            <a:off x="609600" y="5886450"/>
            <a:ext cx="10972800" cy="361950"/>
            <a:chOff x="609600" y="5886450"/>
            <a:chExt cx="10972800" cy="361950"/>
          </a:xfrm>
        </p:grpSpPr>
        <p:sp>
          <p:nvSpPr>
            <p:cNvPr id="51" name="Rectangle 51"/>
            <p:cNvSpPr/>
            <p:nvPr/>
          </p:nvSpPr>
          <p:spPr>
            <a:xfrm>
              <a:off x="609600" y="5886450"/>
              <a:ext cx="10972800" cy="361950"/>
            </a:xfrm>
            <a:prstGeom prst="rect">
              <a:avLst/>
            </a:prstGeom>
            <a:solidFill>
              <a:srgbClr val="EFEAE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" y="5886450"/>
              <a:ext cx="38100" cy="361950"/>
            </a:xfrm>
            <a:prstGeom prst="rect">
              <a:avLst/>
            </a:prstGeom>
            <a:solidFill>
              <a:srgbClr val="14315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1342" y="5978842"/>
              <a:ext cx="6129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对号入座:每页页脚标明牵头口径,第9页给出</a:t>
              </a:r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认账、上墙、对表</a:t>
              </a:r>
              <a:r>
                <a:rPr lang="zh-CN" sz="1350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三步落实机制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55" name="Line 55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266" y="64589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依据区人民政府工作报告整理 · 牵头分工为建议口径,以街道班子会明确为准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02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595122" y="461010"/>
            <a:ext cx="10994136" cy="836485"/>
            <a:chOff x="595122" y="461010"/>
            <a:chExt cx="10994136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2351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形势与目标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45460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上年怎么看 · 今年盯什么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04321" y="8639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宏观数据一带而过,只留与街道有关的部分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36" name="p03-last-year"/>
          <p:cNvGrpSpPr/>
          <p:nvPr/>
        </p:nvGrpSpPr>
        <p:grpSpPr>
          <a:xfrm>
            <a:off x="601218" y="1536382"/>
            <a:ext cx="3883152" cy="3896869"/>
            <a:chOff x="601218" y="1536382"/>
            <a:chExt cx="3883152" cy="3896869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1536382"/>
              <a:ext cx="161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上年 · 全局成效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62934" y="1584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不必逐条念</a:t>
              </a:r>
            </a:p>
          </p:txBody>
        </p:sp>
        <p:grpSp>
          <p:nvGrpSpPr>
            <p:cNvPr id="34" name="p03-ly-rows"/>
            <p:cNvGrpSpPr/>
            <p:nvPr/>
          </p:nvGrpSpPr>
          <p:grpSpPr>
            <a:xfrm>
              <a:off x="602742" y="1962150"/>
              <a:ext cx="3881628" cy="3114675"/>
              <a:chOff x="602742" y="1962150"/>
              <a:chExt cx="3881628" cy="311467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02742" y="1978342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地区生产总值增长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960266" y="1962150"/>
                <a:ext cx="5241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5.6%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609600" y="226695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02742" y="2378392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一般公共预算收入增长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960266" y="2362200"/>
                <a:ext cx="5241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4.2%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609600" y="266700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02742" y="277844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规模以上工业增加值增长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60266" y="2762250"/>
                <a:ext cx="5241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6.1%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609600" y="306705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2742" y="317849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社会消费品零售总额增长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960266" y="3162300"/>
                <a:ext cx="5241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4.8%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609600" y="346710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02742" y="3578542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固定资产投资增长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93496" y="3562350"/>
                <a:ext cx="2908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09600" y="386715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02742" y="3978592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城镇新增就业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15426" y="3962400"/>
                <a:ext cx="7689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2.8万人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609600" y="426720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02742" y="437864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居民人均可支配收入增长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960266" y="4362450"/>
                <a:ext cx="5241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5.1%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609600" y="466725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02742" y="4778692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空气质量优良天数比例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076881" y="4762500"/>
                <a:ext cx="40748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88%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609600" y="5067300"/>
                <a:ext cx="386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67150" h="9525">
                    <a:moveTo>
                      <a:pt x="0" y="0"/>
                    </a:moveTo>
                    <a:lnTo>
                      <a:pt x="38671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02742" y="5169218"/>
              <a:ext cx="3208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要记的一条:财政民生支出占比八成以上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4667250" y="14478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D9D3C7"/>
            </a:solidFill>
          </a:ln>
        </p:spPr>
      </p:sp>
      <p:grpSp>
        <p:nvGrpSpPr>
          <p:cNvPr id="65" name="p03-this-year"/>
          <p:cNvGrpSpPr/>
          <p:nvPr/>
        </p:nvGrpSpPr>
        <p:grpSpPr>
          <a:xfrm>
            <a:off x="4847082" y="1536382"/>
            <a:ext cx="6741414" cy="3807524"/>
            <a:chOff x="4847082" y="1536382"/>
            <a:chExt cx="6741414" cy="3807524"/>
          </a:xfrm>
        </p:grpSpPr>
        <p:sp>
          <p:nvSpPr>
            <p:cNvPr id="38" name="TextBox 38"/>
            <p:cNvSpPr txBox="1"/>
            <p:nvPr/>
          </p:nvSpPr>
          <p:spPr>
            <a:xfrm>
              <a:off x="4849368" y="1536382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今年 · 主要预期目标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22408" y="1584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街道关联为建议口径</a:t>
              </a:r>
            </a:p>
          </p:txBody>
        </p:sp>
        <p:grpSp>
          <p:nvGrpSpPr>
            <p:cNvPr id="44" name="p03-target-1"/>
            <p:cNvGrpSpPr/>
            <p:nvPr/>
          </p:nvGrpSpPr>
          <p:grpSpPr>
            <a:xfrm>
              <a:off x="4847082" y="2050732"/>
              <a:ext cx="6735318" cy="549974"/>
              <a:chOff x="4847082" y="2050732"/>
              <a:chExt cx="6735318" cy="549974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4847082" y="2078355"/>
                <a:ext cx="129914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5.5%左右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11518" y="205073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地区生产总值增长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13804" y="2366010"/>
                <a:ext cx="3259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街道关联:抓项目、抓企业服务,支撑全区盘子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4857750" y="2590800"/>
                <a:ext cx="6724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24650" h="9525">
                    <a:moveTo>
                      <a:pt x="0" y="0"/>
                    </a:moveTo>
                    <a:lnTo>
                      <a:pt x="67246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</p:grpSp>
        <p:grpSp>
          <p:nvGrpSpPr>
            <p:cNvPr id="49" name="p03-target-2"/>
            <p:cNvGrpSpPr/>
            <p:nvPr/>
          </p:nvGrpSpPr>
          <p:grpSpPr>
            <a:xfrm>
              <a:off x="4847082" y="2736532"/>
              <a:ext cx="6735318" cy="549974"/>
              <a:chOff x="4847082" y="2736532"/>
              <a:chExt cx="6735318" cy="549974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4847082" y="2764155"/>
                <a:ext cx="164192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2.5万人以上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11518" y="27365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城镇新增就业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13804" y="3051810"/>
                <a:ext cx="38165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街道关联:岗位归集、就业服务、创业带动直接靠街道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4857750" y="3276600"/>
                <a:ext cx="6724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24650" h="9525">
                    <a:moveTo>
                      <a:pt x="0" y="0"/>
                    </a:moveTo>
                    <a:lnTo>
                      <a:pt x="67246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</p:grpSp>
        <p:grpSp>
          <p:nvGrpSpPr>
            <p:cNvPr id="54" name="p03-target-3"/>
            <p:cNvGrpSpPr/>
            <p:nvPr/>
          </p:nvGrpSpPr>
          <p:grpSpPr>
            <a:xfrm>
              <a:off x="4847082" y="3422332"/>
              <a:ext cx="6735318" cy="549974"/>
              <a:chOff x="4847082" y="3422332"/>
              <a:chExt cx="6735318" cy="549974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4847082" y="3449955"/>
                <a:ext cx="97262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4%以内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11518" y="34223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城镇登记失业率控制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813804" y="3737610"/>
                <a:ext cx="34934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街道关联:失业人员走访、公益性岗位、零工服务</a:t>
                </a: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4857750" y="3962400"/>
                <a:ext cx="6724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24650" h="9525">
                    <a:moveTo>
                      <a:pt x="0" y="0"/>
                    </a:moveTo>
                    <a:lnTo>
                      <a:pt x="67246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</p:grpSp>
        <p:grpSp>
          <p:nvGrpSpPr>
            <p:cNvPr id="59" name="p03-target-4"/>
            <p:cNvGrpSpPr/>
            <p:nvPr/>
          </p:nvGrpSpPr>
          <p:grpSpPr>
            <a:xfrm>
              <a:off x="4847082" y="4108132"/>
              <a:ext cx="6735318" cy="549974"/>
              <a:chOff x="4847082" y="4108132"/>
              <a:chExt cx="6735318" cy="549974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4847082" y="41357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同步增长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11518" y="4108132"/>
                <a:ext cx="40149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居民人均可支配收入与经济增长基本同步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813804" y="4423410"/>
                <a:ext cx="26857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街道关联:就业增收、惠民政策落到位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4857750" y="4648200"/>
                <a:ext cx="6724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24650" h="9525">
                    <a:moveTo>
                      <a:pt x="0" y="0"/>
                    </a:moveTo>
                    <a:lnTo>
                      <a:pt x="67246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</p:grpSp>
        <p:grpSp>
          <p:nvGrpSpPr>
            <p:cNvPr id="64" name="p03-target-5"/>
            <p:cNvGrpSpPr/>
            <p:nvPr/>
          </p:nvGrpSpPr>
          <p:grpSpPr>
            <a:xfrm>
              <a:off x="4847082" y="4793932"/>
              <a:ext cx="6735318" cy="549974"/>
              <a:chOff x="4847082" y="4793932"/>
              <a:chExt cx="6735318" cy="549974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4847082" y="48215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持续改善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811518" y="47939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生态环境质量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13804" y="5109210"/>
                <a:ext cx="33319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街道关联:扬尘、餐饮油烟、露天焚烧日常巡查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4857750" y="5334000"/>
                <a:ext cx="6724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24650" h="9525">
                    <a:moveTo>
                      <a:pt x="0" y="0"/>
                    </a:moveTo>
                    <a:lnTo>
                      <a:pt x="6724650" y="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</p:grpSp>
      </p:grpSp>
      <p:grpSp>
        <p:nvGrpSpPr>
          <p:cNvPr id="93" name="p03-bridge"/>
          <p:cNvGrpSpPr/>
          <p:nvPr/>
        </p:nvGrpSpPr>
        <p:grpSpPr>
          <a:xfrm>
            <a:off x="602742" y="5486400"/>
            <a:ext cx="10979658" cy="727901"/>
            <a:chOff x="602742" y="5486400"/>
            <a:chExt cx="10979658" cy="727901"/>
          </a:xfrm>
        </p:grpSpPr>
        <p:sp>
          <p:nvSpPr>
            <p:cNvPr id="66" name="Line 66"/>
            <p:cNvSpPr/>
            <p:nvPr/>
          </p:nvSpPr>
          <p:spPr>
            <a:xfrm>
              <a:off x="609600" y="548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2742" y="5645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民生实事接续对照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4266" y="59445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去年办成的 → 今年接着干</a:t>
              </a:r>
            </a:p>
          </p:txBody>
        </p:sp>
        <p:grpSp>
          <p:nvGrpSpPr>
            <p:cNvPr id="73" name="p03-bridge-cell-1"/>
            <p:cNvGrpSpPr/>
            <p:nvPr/>
          </p:nvGrpSpPr>
          <p:grpSpPr>
            <a:xfrm>
              <a:off x="2667000" y="5600700"/>
              <a:ext cx="1684732" cy="613601"/>
              <a:chOff x="2667000" y="5600700"/>
              <a:chExt cx="1684732" cy="613601"/>
            </a:xfrm>
          </p:grpSpPr>
          <p:sp>
            <p:nvSpPr>
              <p:cNvPr id="69" name="Line 69"/>
              <p:cNvSpPr/>
              <p:nvPr/>
            </p:nvSpPr>
            <p:spPr>
              <a:xfrm>
                <a:off x="2667000" y="56007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2813304" y="56426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公办学位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812542" y="5950268"/>
                <a:ext cx="5952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A8375"/>
                    </a:solidFill>
                    <a:latin typeface="+mn-lt"/>
                    <a:ea typeface="+mn-ea"/>
                    <a:cs typeface="+mn-cs"/>
                  </a:rPr>
                  <a:t>5000个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736467" y="5950268"/>
                <a:ext cx="6152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4000个</a:t>
                </a:r>
              </a:p>
            </p:txBody>
          </p:sp>
        </p:grpSp>
        <p:grpSp>
          <p:nvGrpSpPr>
            <p:cNvPr id="78" name="p03-bridge-cell-2"/>
            <p:cNvGrpSpPr/>
            <p:nvPr/>
          </p:nvGrpSpPr>
          <p:grpSpPr>
            <a:xfrm>
              <a:off x="4933950" y="5600700"/>
              <a:ext cx="1274801" cy="613601"/>
              <a:chOff x="4933950" y="5600700"/>
              <a:chExt cx="1274801" cy="613601"/>
            </a:xfrm>
          </p:grpSpPr>
          <p:sp>
            <p:nvSpPr>
              <p:cNvPr id="74" name="Line 74"/>
              <p:cNvSpPr/>
              <p:nvPr/>
            </p:nvSpPr>
            <p:spPr>
              <a:xfrm>
                <a:off x="4933950" y="56007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080254" y="56426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老旧小区改造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079492" y="59502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A8375"/>
                    </a:solidFill>
                    <a:latin typeface="+mn-lt"/>
                    <a:ea typeface="+mn-ea"/>
                    <a:cs typeface="+mn-cs"/>
                  </a:rPr>
                  <a:t>32个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5803392" y="5950268"/>
                <a:ext cx="405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25个</a:t>
                </a:r>
              </a:p>
            </p:txBody>
          </p:sp>
        </p:grpSp>
        <p:grpSp>
          <p:nvGrpSpPr>
            <p:cNvPr id="83" name="p03-bridge-cell-3"/>
            <p:cNvGrpSpPr/>
            <p:nvPr/>
          </p:nvGrpSpPr>
          <p:grpSpPr>
            <a:xfrm>
              <a:off x="7200900" y="5600700"/>
              <a:ext cx="1609344" cy="613601"/>
              <a:chOff x="7200900" y="5600700"/>
              <a:chExt cx="1609344" cy="613601"/>
            </a:xfrm>
          </p:grpSpPr>
          <p:sp>
            <p:nvSpPr>
              <p:cNvPr id="79" name="Line 79"/>
              <p:cNvSpPr/>
              <p:nvPr/>
            </p:nvSpPr>
            <p:spPr>
              <a:xfrm>
                <a:off x="7200900" y="56007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347204" y="56426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养老助餐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346442" y="5950268"/>
                <a:ext cx="577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A8375"/>
                    </a:solidFill>
                    <a:latin typeface="+mn-lt"/>
                    <a:ea typeface="+mn-ea"/>
                    <a:cs typeface="+mn-cs"/>
                  </a:rPr>
                  <a:t>15个站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251317" y="59502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全覆盖</a:t>
                </a:r>
              </a:p>
            </p:txBody>
          </p:sp>
        </p:grpSp>
        <p:grpSp>
          <p:nvGrpSpPr>
            <p:cNvPr id="88" name="p03-bridge-cell-4"/>
            <p:cNvGrpSpPr/>
            <p:nvPr/>
          </p:nvGrpSpPr>
          <p:grpSpPr>
            <a:xfrm>
              <a:off x="9467850" y="5600700"/>
              <a:ext cx="1732179" cy="613601"/>
              <a:chOff x="9467850" y="5600700"/>
              <a:chExt cx="1732179" cy="613601"/>
            </a:xfrm>
          </p:grpSpPr>
          <p:sp>
            <p:nvSpPr>
              <p:cNvPr id="84" name="Line 84"/>
              <p:cNvSpPr/>
              <p:nvPr/>
            </p:nvSpPr>
            <p:spPr>
              <a:xfrm>
                <a:off x="9467850" y="56007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9525">
                <a:solidFill>
                  <a:srgbClr val="E4DED2"/>
                </a:solidFill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9614154" y="56426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居民医保补助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613392" y="59502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A8375"/>
                    </a:solidFill>
                    <a:latin typeface="+mn-lt"/>
                    <a:ea typeface="+mn-ea"/>
                    <a:cs typeface="+mn-cs"/>
                  </a:rPr>
                  <a:t>稳步提高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0689717" y="5950268"/>
                <a:ext cx="5103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+30元</a:t>
                </a:r>
              </a:p>
            </p:txBody>
          </p:sp>
        </p:grpSp>
        <p:sp>
          <p:nvSpPr>
            <p:cNvPr id="89" name="Freeform 89"/>
            <p:cNvSpPr/>
            <p:nvPr/>
          </p:nvSpPr>
          <p:spPr>
            <a:xfrm>
              <a:off x="3476625" y="5981700"/>
              <a:ext cx="209550" cy="114300"/>
            </a:xfrm>
            <a:prstGeom prst="rightArrow">
              <a:avLst/>
            </a:prstGeom>
            <a:solidFill>
              <a:srgbClr val="8A8375"/>
            </a:solidFill>
            <a:ln>
              <a:noFill/>
            </a:ln>
          </p:spPr>
        </p:sp>
        <p:sp>
          <p:nvSpPr>
            <p:cNvPr id="90" name="Freeform 90"/>
            <p:cNvSpPr/>
            <p:nvPr/>
          </p:nvSpPr>
          <p:spPr>
            <a:xfrm>
              <a:off x="5543550" y="5981700"/>
              <a:ext cx="209550" cy="114300"/>
            </a:xfrm>
            <a:prstGeom prst="rightArrow">
              <a:avLst/>
            </a:prstGeom>
            <a:solidFill>
              <a:srgbClr val="8A8375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7991475" y="5981700"/>
              <a:ext cx="209550" cy="114300"/>
            </a:xfrm>
            <a:prstGeom prst="rightArrow">
              <a:avLst/>
            </a:prstGeom>
            <a:solidFill>
              <a:srgbClr val="8A8375"/>
            </a:solidFill>
            <a:ln>
              <a:noFill/>
            </a:ln>
          </p:spPr>
        </p:sp>
        <p:sp>
          <p:nvSpPr>
            <p:cNvPr id="92" name="Freeform 92"/>
            <p:cNvSpPr/>
            <p:nvPr/>
          </p:nvSpPr>
          <p:spPr>
            <a:xfrm>
              <a:off x="10429875" y="5981700"/>
              <a:ext cx="209550" cy="114300"/>
            </a:xfrm>
            <a:prstGeom prst="rightArrow">
              <a:avLst/>
            </a:prstGeom>
            <a:solidFill>
              <a:srgbClr val="8A8375"/>
            </a:solidFill>
            <a:ln>
              <a:noFill/>
            </a:ln>
          </p:spPr>
        </p:sp>
      </p:grpSp>
      <p:grpSp>
        <p:nvGrpSpPr>
          <p:cNvPr id="97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94" name="Line 94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04266" y="6458902"/>
              <a:ext cx="427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数字摘自区人民政府工作报告原文 · 「街道关联」为本材料建议口径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03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595122" y="461010"/>
            <a:ext cx="10994136" cy="836485"/>
            <a:chOff x="595122" y="461010"/>
            <a:chExt cx="10994136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780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稳增长与营商环境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67366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稳增长与营商环境:街道能接的三件事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85120" y="863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报告第一方面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9" name="p04-lead"/>
          <p:cNvGrpSpPr/>
          <p:nvPr/>
        </p:nvGrpSpPr>
        <p:grpSpPr>
          <a:xfrm>
            <a:off x="601218" y="1555432"/>
            <a:ext cx="7935449" cy="322707"/>
            <a:chOff x="601218" y="1555432"/>
            <a:chExt cx="7935449" cy="322707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1555432"/>
              <a:ext cx="79354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产业链补链强链由区里统筹,街道接不住;但企业身边的</a:t>
              </a:r>
              <a:r>
                <a:rPr lang="zh-CN" sz="16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这三件事</a:t>
              </a:r>
              <a:r>
                <a:rPr lang="zh-CN" sz="16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,件件能落到人。</a:t>
              </a:r>
            </a:p>
          </p:txBody>
        </p:sp>
      </p:grpSp>
      <p:grpSp>
        <p:nvGrpSpPr>
          <p:cNvPr id="21" name="p04-col-enterprise"/>
          <p:cNvGrpSpPr/>
          <p:nvPr/>
        </p:nvGrpSpPr>
        <p:grpSpPr>
          <a:xfrm>
            <a:off x="599694" y="1981200"/>
            <a:ext cx="3619881" cy="3733800"/>
            <a:chOff x="599694" y="1981200"/>
            <a:chExt cx="3619881" cy="3733800"/>
          </a:xfrm>
        </p:grpSpPr>
        <p:sp>
          <p:nvSpPr>
            <p:cNvPr id="10" name="Freeform 10"/>
            <p:cNvSpPr/>
            <p:nvPr/>
          </p:nvSpPr>
          <p:spPr>
            <a:xfrm>
              <a:off x="641350" y="2089150"/>
              <a:ext cx="317501" cy="301626"/>
            </a:xfrm>
            <a:custGeom>
              <a:avLst/>
              <a:gdLst/>
              <a:ahLst/>
              <a:cxnLst/>
              <a:rect l="l" t="t" r="r" b="b"/>
              <a:pathLst>
                <a:path w="317501" h="301626">
                  <a:moveTo>
                    <a:pt x="317501" y="182214"/>
                  </a:moveTo>
                  <a:lnTo>
                    <a:pt x="317501" y="254001"/>
                  </a:lnTo>
                  <a:cubicBezTo>
                    <a:pt x="317501" y="280303"/>
                    <a:pt x="296178" y="301626"/>
                    <a:pt x="269876" y="301626"/>
                  </a:cubicBezTo>
                  <a:lnTo>
                    <a:pt x="47625" y="301626"/>
                  </a:lnTo>
                  <a:cubicBezTo>
                    <a:pt x="21322" y="301626"/>
                    <a:pt x="0" y="280303"/>
                    <a:pt x="0" y="254001"/>
                  </a:cubicBezTo>
                  <a:lnTo>
                    <a:pt x="0" y="182214"/>
                  </a:lnTo>
                  <a:lnTo>
                    <a:pt x="8779" y="186611"/>
                  </a:lnTo>
                  <a:cubicBezTo>
                    <a:pt x="103132" y="234136"/>
                    <a:pt x="214427" y="234125"/>
                    <a:pt x="308769" y="186579"/>
                  </a:cubicBezTo>
                  <a:lnTo>
                    <a:pt x="317501" y="182214"/>
                  </a:lnTo>
                  <a:close/>
                  <a:moveTo>
                    <a:pt x="190500" y="0"/>
                  </a:moveTo>
                  <a:cubicBezTo>
                    <a:pt x="216803" y="0"/>
                    <a:pt x="238125" y="21322"/>
                    <a:pt x="238125" y="47625"/>
                  </a:cubicBezTo>
                  <a:lnTo>
                    <a:pt x="238125" y="63500"/>
                  </a:lnTo>
                  <a:lnTo>
                    <a:pt x="269876" y="63500"/>
                  </a:lnTo>
                  <a:cubicBezTo>
                    <a:pt x="296178" y="63500"/>
                    <a:pt x="317501" y="84823"/>
                    <a:pt x="317501" y="111125"/>
                  </a:cubicBezTo>
                  <a:lnTo>
                    <a:pt x="317501" y="146717"/>
                  </a:lnTo>
                  <a:lnTo>
                    <a:pt x="294529" y="158211"/>
                  </a:lnTo>
                  <a:cubicBezTo>
                    <a:pt x="211237" y="200193"/>
                    <a:pt x="113209" y="201283"/>
                    <a:pt x="29004" y="161163"/>
                  </a:cubicBezTo>
                  <a:lnTo>
                    <a:pt x="18733" y="156083"/>
                  </a:lnTo>
                  <a:lnTo>
                    <a:pt x="0" y="146717"/>
                  </a:lnTo>
                  <a:lnTo>
                    <a:pt x="0" y="111125"/>
                  </a:lnTo>
                  <a:cubicBezTo>
                    <a:pt x="0" y="84823"/>
                    <a:pt x="21322" y="63500"/>
                    <a:pt x="47625" y="63500"/>
                  </a:cubicBezTo>
                  <a:lnTo>
                    <a:pt x="79375" y="63500"/>
                  </a:lnTo>
                  <a:lnTo>
                    <a:pt x="79375" y="47625"/>
                  </a:lnTo>
                  <a:cubicBezTo>
                    <a:pt x="79375" y="21322"/>
                    <a:pt x="100698" y="0"/>
                    <a:pt x="127000" y="0"/>
                  </a:cubicBezTo>
                  <a:lnTo>
                    <a:pt x="190500" y="0"/>
                  </a:lnTo>
                  <a:close/>
                  <a:moveTo>
                    <a:pt x="158750" y="127000"/>
                  </a:moveTo>
                  <a:cubicBezTo>
                    <a:pt x="149983" y="127000"/>
                    <a:pt x="142875" y="134108"/>
                    <a:pt x="142875" y="142875"/>
                  </a:cubicBezTo>
                  <a:cubicBezTo>
                    <a:pt x="142847" y="148547"/>
                    <a:pt x="145846" y="153803"/>
                    <a:pt x="150744" y="156663"/>
                  </a:cubicBezTo>
                  <a:cubicBezTo>
                    <a:pt x="155642" y="159524"/>
                    <a:pt x="161693" y="159554"/>
                    <a:pt x="166619" y="156743"/>
                  </a:cubicBezTo>
                  <a:cubicBezTo>
                    <a:pt x="171545" y="153931"/>
                    <a:pt x="174597" y="148706"/>
                    <a:pt x="174625" y="143034"/>
                  </a:cubicBezTo>
                  <a:cubicBezTo>
                    <a:pt x="174625" y="134112"/>
                    <a:pt x="167513" y="127000"/>
                    <a:pt x="158750" y="127000"/>
                  </a:cubicBezTo>
                  <a:close/>
                  <a:moveTo>
                    <a:pt x="190500" y="31750"/>
                  </a:moveTo>
                  <a:lnTo>
                    <a:pt x="127000" y="31750"/>
                  </a:lnTo>
                  <a:cubicBezTo>
                    <a:pt x="118233" y="31750"/>
                    <a:pt x="111125" y="38858"/>
                    <a:pt x="111125" y="47625"/>
                  </a:cubicBezTo>
                  <a:lnTo>
                    <a:pt x="111125" y="63500"/>
                  </a:lnTo>
                  <a:lnTo>
                    <a:pt x="206375" y="63500"/>
                  </a:lnTo>
                  <a:lnTo>
                    <a:pt x="206375" y="47625"/>
                  </a:lnTo>
                  <a:cubicBezTo>
                    <a:pt x="206375" y="38858"/>
                    <a:pt x="199268" y="31750"/>
                    <a:pt x="190500" y="31750"/>
                  </a:cubicBezTo>
                  <a:close/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74106" y="209550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DDD6C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2646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企业培育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048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4266" y="32585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报告指标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3495675"/>
              <a:ext cx="233076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新增规模以上工业企业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50家</a:t>
              </a:r>
              <a:br/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支持企业技改与数字化转型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4266" y="419195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街道怎么干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4426268"/>
              <a:ext cx="250831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摸排辖区临规企业,建立培育清单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逐户走访,技改与数字化需求上报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新增入库手续帮办到底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5429250"/>
              <a:ext cx="76200" cy="762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4192" y="53787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经济发展条线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210050" y="19812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33" name="p04-col-service"/>
          <p:cNvGrpSpPr/>
          <p:nvPr/>
        </p:nvGrpSpPr>
        <p:grpSpPr>
          <a:xfrm>
            <a:off x="4371594" y="1981200"/>
            <a:ext cx="3619881" cy="3733800"/>
            <a:chOff x="4371594" y="1981200"/>
            <a:chExt cx="3619881" cy="3733800"/>
          </a:xfrm>
        </p:grpSpPr>
        <p:sp>
          <p:nvSpPr>
            <p:cNvPr id="22" name="Freeform 22"/>
            <p:cNvSpPr/>
            <p:nvPr/>
          </p:nvSpPr>
          <p:spPr>
            <a:xfrm>
              <a:off x="4413250" y="2120900"/>
              <a:ext cx="317501" cy="254001"/>
            </a:xfrm>
            <a:custGeom>
              <a:avLst/>
              <a:gdLst/>
              <a:ahLst/>
              <a:cxnLst/>
              <a:rect l="l" t="t" r="r" b="b"/>
              <a:pathLst>
                <a:path w="317501" h="254001">
                  <a:moveTo>
                    <a:pt x="269876" y="0"/>
                  </a:moveTo>
                  <a:cubicBezTo>
                    <a:pt x="296178" y="0"/>
                    <a:pt x="317501" y="21322"/>
                    <a:pt x="317501" y="47625"/>
                  </a:cubicBezTo>
                  <a:lnTo>
                    <a:pt x="317501" y="206375"/>
                  </a:lnTo>
                  <a:cubicBezTo>
                    <a:pt x="317501" y="232678"/>
                    <a:pt x="296178" y="254001"/>
                    <a:pt x="269876" y="254001"/>
                  </a:cubicBezTo>
                  <a:lnTo>
                    <a:pt x="47625" y="254001"/>
                  </a:lnTo>
                  <a:cubicBezTo>
                    <a:pt x="21322" y="254001"/>
                    <a:pt x="0" y="232678"/>
                    <a:pt x="0" y="2063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  <a:moveTo>
                    <a:pt x="63659" y="47625"/>
                  </a:moveTo>
                  <a:lnTo>
                    <a:pt x="61643" y="47736"/>
                  </a:lnTo>
                  <a:cubicBezTo>
                    <a:pt x="53302" y="48728"/>
                    <a:pt x="47178" y="56046"/>
                    <a:pt x="47670" y="64430"/>
                  </a:cubicBezTo>
                  <a:cubicBezTo>
                    <a:pt x="48162" y="72815"/>
                    <a:pt x="55101" y="79366"/>
                    <a:pt x="63500" y="79375"/>
                  </a:cubicBezTo>
                  <a:lnTo>
                    <a:pt x="65516" y="79264"/>
                  </a:lnTo>
                  <a:cubicBezTo>
                    <a:pt x="73857" y="78272"/>
                    <a:pt x="79981" y="70955"/>
                    <a:pt x="79489" y="62570"/>
                  </a:cubicBezTo>
                  <a:cubicBezTo>
                    <a:pt x="78997" y="54185"/>
                    <a:pt x="72058" y="47634"/>
                    <a:pt x="63659" y="47625"/>
                  </a:cubicBezTo>
                  <a:close/>
                  <a:moveTo>
                    <a:pt x="111284" y="47625"/>
                  </a:moveTo>
                  <a:lnTo>
                    <a:pt x="109268" y="47736"/>
                  </a:lnTo>
                  <a:cubicBezTo>
                    <a:pt x="100927" y="48728"/>
                    <a:pt x="94803" y="56046"/>
                    <a:pt x="95295" y="64430"/>
                  </a:cubicBezTo>
                  <a:cubicBezTo>
                    <a:pt x="95787" y="72815"/>
                    <a:pt x="102726" y="79366"/>
                    <a:pt x="111125" y="79375"/>
                  </a:cubicBezTo>
                  <a:lnTo>
                    <a:pt x="113141" y="79264"/>
                  </a:lnTo>
                  <a:cubicBezTo>
                    <a:pt x="121482" y="78272"/>
                    <a:pt x="127606" y="70955"/>
                    <a:pt x="127114" y="62570"/>
                  </a:cubicBezTo>
                  <a:cubicBezTo>
                    <a:pt x="126622" y="54185"/>
                    <a:pt x="119683" y="47634"/>
                    <a:pt x="111284" y="47625"/>
                  </a:cubicBezTo>
                  <a:close/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46006" y="209550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DDD6C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71594" y="2646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办事效率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381500" y="3048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76166" y="32585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报告指标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3880" y="3495675"/>
              <a:ext cx="222075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推行“一网通办”</a:t>
              </a:r>
              <a:br/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企业开办压缩至</a:t>
              </a:r>
              <a:r>
                <a:rPr lang="zh-CN" sz="15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1个工作日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76166" y="419195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街道怎么干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4642" y="4426268"/>
              <a:ext cx="24140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便民服务中心窗口一次告知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帮办代办,不让企业跑第二趟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不新增证明事项、不设额外门槛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381500" y="5429250"/>
              <a:ext cx="76200" cy="762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46092" y="53787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便民服务中心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981950" y="19812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46" name="p04-col-policy"/>
          <p:cNvGrpSpPr/>
          <p:nvPr/>
        </p:nvGrpSpPr>
        <p:grpSpPr>
          <a:xfrm>
            <a:off x="8143494" y="2089150"/>
            <a:ext cx="3454146" cy="3553651"/>
            <a:chOff x="8143494" y="2089150"/>
            <a:chExt cx="3454146" cy="3553651"/>
          </a:xfrm>
        </p:grpSpPr>
        <p:grpSp>
          <p:nvGrpSpPr>
            <p:cNvPr id="36" name="Group 36"/>
            <p:cNvGrpSpPr/>
            <p:nvPr/>
          </p:nvGrpSpPr>
          <p:grpSpPr>
            <a:xfrm>
              <a:off x="8216899" y="2089150"/>
              <a:ext cx="254003" cy="317502"/>
              <a:chOff x="8216899" y="2089150"/>
              <a:chExt cx="254003" cy="31750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216899" y="2089150"/>
                <a:ext cx="254003" cy="317502"/>
              </a:xfrm>
              <a:custGeom>
                <a:avLst/>
                <a:gdLst/>
                <a:ahLst/>
                <a:cxnLst/>
                <a:rect l="l" t="t" r="r" b="b"/>
                <a:pathLst>
                  <a:path w="254003" h="317502">
                    <a:moveTo>
                      <a:pt x="127002" y="0"/>
                    </a:moveTo>
                    <a:lnTo>
                      <a:pt x="128859" y="111"/>
                    </a:lnTo>
                    <a:cubicBezTo>
                      <a:pt x="136153" y="971"/>
                      <a:pt x="141905" y="6723"/>
                      <a:pt x="142766" y="14018"/>
                    </a:cubicBezTo>
                    <a:lnTo>
                      <a:pt x="142877" y="15875"/>
                    </a:lnTo>
                    <a:lnTo>
                      <a:pt x="142877" y="79375"/>
                    </a:lnTo>
                    <a:lnTo>
                      <a:pt x="142956" y="81756"/>
                    </a:lnTo>
                    <a:cubicBezTo>
                      <a:pt x="144130" y="97376"/>
                      <a:pt x="156519" y="109805"/>
                      <a:pt x="172134" y="111030"/>
                    </a:cubicBezTo>
                    <a:lnTo>
                      <a:pt x="174627" y="111125"/>
                    </a:lnTo>
                    <a:lnTo>
                      <a:pt x="238127" y="111125"/>
                    </a:lnTo>
                    <a:lnTo>
                      <a:pt x="239984" y="111236"/>
                    </a:lnTo>
                    <a:cubicBezTo>
                      <a:pt x="247279" y="112097"/>
                      <a:pt x="253031" y="117848"/>
                      <a:pt x="253891" y="125143"/>
                    </a:cubicBezTo>
                    <a:lnTo>
                      <a:pt x="254002" y="127000"/>
                    </a:lnTo>
                    <a:lnTo>
                      <a:pt x="254002" y="269876"/>
                    </a:lnTo>
                    <a:cubicBezTo>
                      <a:pt x="254003" y="295094"/>
                      <a:pt x="234346" y="315942"/>
                      <a:pt x="209171" y="317421"/>
                    </a:cubicBezTo>
                    <a:lnTo>
                      <a:pt x="206377" y="317501"/>
                    </a:lnTo>
                    <a:lnTo>
                      <a:pt x="47627" y="317501"/>
                    </a:lnTo>
                    <a:cubicBezTo>
                      <a:pt x="22408" y="317502"/>
                      <a:pt x="1560" y="297845"/>
                      <a:pt x="81" y="272670"/>
                    </a:cubicBezTo>
                    <a:lnTo>
                      <a:pt x="1" y="269876"/>
                    </a:lnTo>
                    <a:lnTo>
                      <a:pt x="1" y="47625"/>
                    </a:lnTo>
                    <a:cubicBezTo>
                      <a:pt x="0" y="22407"/>
                      <a:pt x="19658" y="1559"/>
                      <a:pt x="44832" y="79"/>
                    </a:cubicBezTo>
                    <a:lnTo>
                      <a:pt x="47627" y="0"/>
                    </a:lnTo>
                    <a:close/>
                    <a:moveTo>
                      <a:pt x="174627" y="222250"/>
                    </a:moveTo>
                    <a:lnTo>
                      <a:pt x="79377" y="222250"/>
                    </a:lnTo>
                    <a:cubicBezTo>
                      <a:pt x="70609" y="222250"/>
                      <a:pt x="63502" y="229358"/>
                      <a:pt x="63502" y="238125"/>
                    </a:cubicBezTo>
                    <a:cubicBezTo>
                      <a:pt x="63502" y="246893"/>
                      <a:pt x="70609" y="254001"/>
                      <a:pt x="79377" y="254001"/>
                    </a:cubicBezTo>
                    <a:lnTo>
                      <a:pt x="174627" y="254001"/>
                    </a:lnTo>
                    <a:cubicBezTo>
                      <a:pt x="183394" y="254001"/>
                      <a:pt x="190502" y="246893"/>
                      <a:pt x="190502" y="238125"/>
                    </a:cubicBezTo>
                    <a:cubicBezTo>
                      <a:pt x="190502" y="229358"/>
                      <a:pt x="183394" y="222250"/>
                      <a:pt x="174627" y="222250"/>
                    </a:cubicBezTo>
                    <a:moveTo>
                      <a:pt x="174627" y="158750"/>
                    </a:moveTo>
                    <a:lnTo>
                      <a:pt x="79377" y="158750"/>
                    </a:lnTo>
                    <a:cubicBezTo>
                      <a:pt x="70609" y="158750"/>
                      <a:pt x="63502" y="165858"/>
                      <a:pt x="63502" y="174625"/>
                    </a:cubicBezTo>
                    <a:cubicBezTo>
                      <a:pt x="63502" y="183393"/>
                      <a:pt x="70609" y="190500"/>
                      <a:pt x="79377" y="190500"/>
                    </a:cubicBezTo>
                    <a:lnTo>
                      <a:pt x="174627" y="190500"/>
                    </a:lnTo>
                    <a:cubicBezTo>
                      <a:pt x="183394" y="190500"/>
                      <a:pt x="190502" y="183393"/>
                      <a:pt x="190502" y="174625"/>
                    </a:cubicBezTo>
                    <a:cubicBezTo>
                      <a:pt x="190502" y="165858"/>
                      <a:pt x="183394" y="158750"/>
                      <a:pt x="174627" y="158750"/>
                    </a:cubicBezTo>
                    <a:moveTo>
                      <a:pt x="95252" y="95250"/>
                    </a:moveTo>
                    <a:lnTo>
                      <a:pt x="79377" y="95250"/>
                    </a:lnTo>
                    <a:cubicBezTo>
                      <a:pt x="70609" y="95250"/>
                      <a:pt x="63502" y="102358"/>
                      <a:pt x="63502" y="111125"/>
                    </a:cubicBezTo>
                    <a:cubicBezTo>
                      <a:pt x="63502" y="119893"/>
                      <a:pt x="70609" y="127000"/>
                      <a:pt x="79377" y="127000"/>
                    </a:cubicBezTo>
                    <a:lnTo>
                      <a:pt x="95252" y="127000"/>
                    </a:lnTo>
                    <a:cubicBezTo>
                      <a:pt x="104019" y="127000"/>
                      <a:pt x="111127" y="119893"/>
                      <a:pt x="111127" y="111125"/>
                    </a:cubicBezTo>
                    <a:cubicBezTo>
                      <a:pt x="111127" y="102358"/>
                      <a:pt x="104019" y="95250"/>
                      <a:pt x="95252" y="95250"/>
                    </a:cubicBezTo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91510" y="2105009"/>
                <a:ext cx="63516" cy="63516"/>
              </a:xfrm>
              <a:custGeom>
                <a:avLst/>
                <a:gdLst/>
                <a:ahLst/>
                <a:cxnLst/>
                <a:rect l="l" t="t" r="r" b="b"/>
                <a:pathLst>
                  <a:path w="63516" h="63516">
                    <a:moveTo>
                      <a:pt x="63516" y="63516"/>
                    </a:moveTo>
                    <a:lnTo>
                      <a:pt x="16" y="635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1117906" y="209550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DDD6C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3494" y="2646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政策直达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153400" y="3048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48066" y="32585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报告指标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45780" y="3495675"/>
              <a:ext cx="2129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推动惠企政策“免申即享”</a:t>
              </a:r>
              <a:br/>
              <a:r>
                <a:rPr lang="zh-CN" sz="150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深化“放管服”改革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48066" y="419195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街道怎么干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46542" y="4426268"/>
              <a:ext cx="24140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惠企政策清单进企入户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符合条件的主动提醒、协助兑付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收集企业诉求,按月反馈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53400" y="5429250"/>
              <a:ext cx="76200" cy="762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17992" y="53787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营商服务条线</a:t>
              </a:r>
            </a:p>
          </p:txBody>
        </p:sp>
      </p:grpSp>
      <p:grpSp>
        <p:nvGrpSpPr>
          <p:cNvPr id="49" name="p04-note"/>
          <p:cNvGrpSpPr/>
          <p:nvPr/>
        </p:nvGrpSpPr>
        <p:grpSpPr>
          <a:xfrm>
            <a:off x="602742" y="5905500"/>
            <a:ext cx="10979658" cy="365951"/>
            <a:chOff x="602742" y="5905500"/>
            <a:chExt cx="10979658" cy="365951"/>
          </a:xfrm>
        </p:grpSpPr>
        <p:sp>
          <p:nvSpPr>
            <p:cNvPr id="47" name="Line 47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2742" y="6007418"/>
              <a:ext cx="6774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街道口径:三件事合成一张</a:t>
              </a:r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企业服务台账</a:t>
              </a:r>
              <a:r>
                <a:rPr lang="zh-CN" sz="1350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,一户一档,营商服务条线汇总,每月过一遍。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50" name="Line 50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4266" y="6458902"/>
              <a:ext cx="5261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指标摘自区人民政府工作报告原文 · 「街道怎么干」「牵头建议」为本材料建议口径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04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595122" y="461010"/>
            <a:ext cx="10994136" cy="836485"/>
            <a:chOff x="595122" y="461010"/>
            <a:chExt cx="10994136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811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十件民生实事 1—5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50068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十件民生实事(一):第1—5件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249308" y="86391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共10件 · 逐条对账,一件不落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16" name="p05-item-1"/>
          <p:cNvGrpSpPr/>
          <p:nvPr/>
        </p:nvGrpSpPr>
        <p:grpSpPr>
          <a:xfrm>
            <a:off x="592836" y="1543050"/>
            <a:ext cx="10989564" cy="790575"/>
            <a:chOff x="592836" y="1543050"/>
            <a:chExt cx="10989564" cy="790575"/>
          </a:xfrm>
        </p:grpSpPr>
        <p:sp>
          <p:nvSpPr>
            <p:cNvPr id="8" name="TextBox 8"/>
            <p:cNvSpPr txBox="1"/>
            <p:nvPr/>
          </p:nvSpPr>
          <p:spPr>
            <a:xfrm>
              <a:off x="592836" y="16249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57300" y="154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38656" y="1596390"/>
              <a:ext cx="22742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新增公办学位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4000个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0942" y="1949768"/>
              <a:ext cx="5885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摸清辖区适龄儿童底数,招生政策进社区,学位矛盾提前排查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0" y="154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46642" y="1644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民生服务条线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47404" y="19278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各社区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25" name="p05-item-2"/>
          <p:cNvGrpSpPr/>
          <p:nvPr/>
        </p:nvGrpSpPr>
        <p:grpSpPr>
          <a:xfrm>
            <a:off x="592836" y="2495550"/>
            <a:ext cx="10989564" cy="790575"/>
            <a:chOff x="592836" y="2495550"/>
            <a:chExt cx="10989564" cy="790575"/>
          </a:xfrm>
        </p:grpSpPr>
        <p:sp>
          <p:nvSpPr>
            <p:cNvPr id="17" name="TextBox 17"/>
            <p:cNvSpPr txBox="1"/>
            <p:nvPr/>
          </p:nvSpPr>
          <p:spPr>
            <a:xfrm>
              <a:off x="592836" y="25774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257300" y="2495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38656" y="2548890"/>
              <a:ext cx="5321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改造老旧小区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25个</a:t>
              </a:r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,同步推进加装电梯不少于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60部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0942" y="2902268"/>
              <a:ext cx="5803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逐小区申报项目,居民征询签字,施工期协调,电梯一栋一档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763000" y="2495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46642" y="25974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城市管理条线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47404" y="28803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社区、业委会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34" name="p05-item-3"/>
          <p:cNvGrpSpPr/>
          <p:nvPr/>
        </p:nvGrpSpPr>
        <p:grpSpPr>
          <a:xfrm>
            <a:off x="592836" y="3448050"/>
            <a:ext cx="10989564" cy="790575"/>
            <a:chOff x="592836" y="3448050"/>
            <a:chExt cx="10989564" cy="790575"/>
          </a:xfrm>
        </p:grpSpPr>
        <p:sp>
          <p:nvSpPr>
            <p:cNvPr id="26" name="TextBox 26"/>
            <p:cNvSpPr txBox="1"/>
            <p:nvPr/>
          </p:nvSpPr>
          <p:spPr>
            <a:xfrm>
              <a:off x="592836" y="35299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57300" y="3448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38656" y="3501390"/>
              <a:ext cx="1854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新建口袋公园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8个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40942" y="3854768"/>
              <a:ext cx="5158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提出选址建议,配合场地清表,建成后落实管护责任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763000" y="3448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46642" y="3549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城市管理条线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7404" y="38328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社区、绿化养护单位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4229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43" name="p05-item-4"/>
          <p:cNvGrpSpPr/>
          <p:nvPr/>
        </p:nvGrpSpPr>
        <p:grpSpPr>
          <a:xfrm>
            <a:off x="592836" y="4400550"/>
            <a:ext cx="10989564" cy="790575"/>
            <a:chOff x="592836" y="4400550"/>
            <a:chExt cx="10989564" cy="790575"/>
          </a:xfrm>
        </p:grpSpPr>
        <p:sp>
          <p:nvSpPr>
            <p:cNvPr id="35" name="TextBox 35"/>
            <p:cNvSpPr txBox="1"/>
            <p:nvPr/>
          </p:nvSpPr>
          <p:spPr>
            <a:xfrm>
              <a:off x="592836" y="44824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1257300" y="4400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38656" y="4453890"/>
              <a:ext cx="4417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推动社区食堂(老年助餐点)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覆盖所有街道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40942" y="4807268"/>
              <a:ext cx="596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本街道至少落地一个点位:选址、运营方引入、就餐需求摸底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63000" y="4400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46642" y="45024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民生服务条线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47404" y="47853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各社区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181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52" name="p05-item-5"/>
          <p:cNvGrpSpPr/>
          <p:nvPr/>
        </p:nvGrpSpPr>
        <p:grpSpPr>
          <a:xfrm>
            <a:off x="592836" y="5353050"/>
            <a:ext cx="10989564" cy="790575"/>
            <a:chOff x="592836" y="5353050"/>
            <a:chExt cx="10989564" cy="790575"/>
          </a:xfrm>
        </p:grpSpPr>
        <p:sp>
          <p:nvSpPr>
            <p:cNvPr id="44" name="TextBox 44"/>
            <p:cNvSpPr txBox="1"/>
            <p:nvPr/>
          </p:nvSpPr>
          <p:spPr>
            <a:xfrm>
              <a:off x="592836" y="54349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257300" y="535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438656" y="5406390"/>
              <a:ext cx="2376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新增普惠性托位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800个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40942" y="5759768"/>
              <a:ext cx="451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摸排托育机构与需求,协助场地落实与备案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763000" y="535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46642" y="5454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民生服务条线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47404" y="57378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卫健条线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09600" y="613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56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53" name="Line 53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266" y="6458902"/>
              <a:ext cx="6470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实事条目与数字摘自报告原文 · 「街道怎么干」「牵头建议」为本材料建议口径,以街道班子会明确为准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05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595122" y="461010"/>
            <a:ext cx="10994136" cy="836485"/>
            <a:chOff x="595122" y="461010"/>
            <a:chExt cx="10994136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920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十件民生实事 6—10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522838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十件民生实事(二):第6—10件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238336" y="863918"/>
              <a:ext cx="2350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接续上一页 · 第1—5件见 P05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16" name="p06-item-6"/>
          <p:cNvGrpSpPr/>
          <p:nvPr/>
        </p:nvGrpSpPr>
        <p:grpSpPr>
          <a:xfrm>
            <a:off x="592836" y="1543050"/>
            <a:ext cx="10989564" cy="790575"/>
            <a:chOff x="592836" y="1543050"/>
            <a:chExt cx="10989564" cy="790575"/>
          </a:xfrm>
        </p:grpSpPr>
        <p:sp>
          <p:nvSpPr>
            <p:cNvPr id="8" name="TextBox 8"/>
            <p:cNvSpPr txBox="1"/>
            <p:nvPr/>
          </p:nvSpPr>
          <p:spPr>
            <a:xfrm>
              <a:off x="592836" y="16249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57300" y="154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38656" y="1596390"/>
              <a:ext cx="2516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完成棚户区改造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1200户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0942" y="1949768"/>
              <a:ext cx="5803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入户调查,补偿政策解释到位,搬迁安置衔接,矛盾及时化解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0" y="154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46642" y="1644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征收安置条线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47404" y="19278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各社区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25" name="p06-item-7"/>
          <p:cNvGrpSpPr/>
          <p:nvPr/>
        </p:nvGrpSpPr>
        <p:grpSpPr>
          <a:xfrm>
            <a:off x="592836" y="2495550"/>
            <a:ext cx="10989564" cy="790575"/>
            <a:chOff x="592836" y="2495550"/>
            <a:chExt cx="10989564" cy="790575"/>
          </a:xfrm>
        </p:grpSpPr>
        <p:sp>
          <p:nvSpPr>
            <p:cNvPr id="17" name="TextBox 17"/>
            <p:cNvSpPr txBox="1"/>
            <p:nvPr/>
          </p:nvSpPr>
          <p:spPr>
            <a:xfrm>
              <a:off x="592836" y="25774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257300" y="2495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38656" y="2548890"/>
              <a:ext cx="4417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城乡居民医保人均财政补助标准提高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30元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0942" y="2902268"/>
              <a:ext cx="5521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集中征缴期入户动员,断保人员逐人提醒,政策讲清讲透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763000" y="2495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46642" y="25974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民生服务条线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47404" y="28803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社区、村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34" name="p06-item-8"/>
          <p:cNvGrpSpPr/>
          <p:nvPr/>
        </p:nvGrpSpPr>
        <p:grpSpPr>
          <a:xfrm>
            <a:off x="592836" y="3448050"/>
            <a:ext cx="10989564" cy="790575"/>
            <a:chOff x="592836" y="3448050"/>
            <a:chExt cx="10989564" cy="790575"/>
          </a:xfrm>
        </p:grpSpPr>
        <p:sp>
          <p:nvSpPr>
            <p:cNvPr id="26" name="TextBox 26"/>
            <p:cNvSpPr txBox="1"/>
            <p:nvPr/>
          </p:nvSpPr>
          <p:spPr>
            <a:xfrm>
              <a:off x="592836" y="35299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57300" y="3448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38656" y="3501390"/>
              <a:ext cx="2516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新增公共停车位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3000个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40942" y="3854768"/>
              <a:ext cx="5158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挖潜可用地块与错时共享,泊位申报,停车秩序整治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763000" y="3448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46642" y="3549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城市管理条线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7404" y="38328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社区、物业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4229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43" name="p06-item-9"/>
          <p:cNvGrpSpPr/>
          <p:nvPr/>
        </p:nvGrpSpPr>
        <p:grpSpPr>
          <a:xfrm>
            <a:off x="592836" y="4400550"/>
            <a:ext cx="10989564" cy="790575"/>
            <a:chOff x="592836" y="4400550"/>
            <a:chExt cx="10989564" cy="790575"/>
          </a:xfrm>
        </p:grpSpPr>
        <p:sp>
          <p:nvSpPr>
            <p:cNvPr id="35" name="TextBox 35"/>
            <p:cNvSpPr txBox="1"/>
            <p:nvPr/>
          </p:nvSpPr>
          <p:spPr>
            <a:xfrm>
              <a:off x="592836" y="44824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1257300" y="4400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38656" y="4453890"/>
              <a:ext cx="3308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完成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8个村</a:t>
              </a:r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的农村供水管网改造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40942" y="4807268"/>
              <a:ext cx="533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涉改村逐村对接,施工期临时供水保障,村民提前告知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63000" y="44005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46642" y="45024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农业农村条线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47404" y="478536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涉改村(涉农街道)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181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52" name="p06-item-10"/>
          <p:cNvGrpSpPr/>
          <p:nvPr/>
        </p:nvGrpSpPr>
        <p:grpSpPr>
          <a:xfrm>
            <a:off x="592836" y="5353050"/>
            <a:ext cx="10989564" cy="790575"/>
            <a:chOff x="592836" y="5353050"/>
            <a:chExt cx="10989564" cy="790575"/>
          </a:xfrm>
        </p:grpSpPr>
        <p:sp>
          <p:nvSpPr>
            <p:cNvPr id="44" name="TextBox 44"/>
            <p:cNvSpPr txBox="1"/>
            <p:nvPr/>
          </p:nvSpPr>
          <p:spPr>
            <a:xfrm>
              <a:off x="592836" y="5434965"/>
              <a:ext cx="527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257300" y="535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438656" y="5406390"/>
              <a:ext cx="5769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推动政务服务“就近办”,实现街道便民服务网点</a:t>
              </a:r>
              <a:r>
                <a:rPr lang="zh-CN" sz="18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全覆盖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40942" y="5759768"/>
              <a:ext cx="5803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 xml:space="preserve">街道怎么干 · </a:t>
              </a: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本街道网点必须全覆盖:事项清单上墙,窗口培训,一窗受理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763000" y="53530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46642" y="5454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牵头建议 · 便民服务中心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47404" y="57378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配合 · 各条线、各社区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09600" y="613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</p:grpSp>
      <p:grpSp>
        <p:nvGrpSpPr>
          <p:cNvPr id="56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53" name="Line 53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266" y="6458902"/>
              <a:ext cx="6470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实事条目与数字摘自报告原文 · 「街道怎么干」「牵头建议」为本材料建议口径,以街道班子会明确为准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06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595122" y="461010"/>
            <a:ext cx="10994136" cy="836485"/>
            <a:chOff x="595122" y="461010"/>
            <a:chExt cx="10994136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053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基层治理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545502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基层治理:三项任务、两个90%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85700" y="863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报告第三方面 · 单独成页部署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15" name="gov-task1"/>
          <p:cNvGrpSpPr/>
          <p:nvPr/>
        </p:nvGrpSpPr>
        <p:grpSpPr>
          <a:xfrm>
            <a:off x="600456" y="1471963"/>
            <a:ext cx="4047744" cy="2322988"/>
            <a:chOff x="600456" y="1471963"/>
            <a:chExt cx="4047744" cy="2322988"/>
          </a:xfrm>
        </p:grpSpPr>
        <p:sp>
          <p:nvSpPr>
            <p:cNvPr id="8" name="Freeform 8"/>
            <p:cNvSpPr/>
            <p:nvPr/>
          </p:nvSpPr>
          <p:spPr>
            <a:xfrm>
              <a:off x="630720" y="1471963"/>
              <a:ext cx="262559" cy="255236"/>
            </a:xfrm>
            <a:custGeom>
              <a:avLst/>
              <a:gdLst/>
              <a:ahLst/>
              <a:cxnLst/>
              <a:rect l="l" t="t" r="r" b="b"/>
              <a:pathLst>
                <a:path w="262559" h="255236">
                  <a:moveTo>
                    <a:pt x="140258" y="4958"/>
                  </a:moveTo>
                  <a:lnTo>
                    <a:pt x="254558" y="119258"/>
                  </a:lnTo>
                  <a:cubicBezTo>
                    <a:pt x="262559" y="127259"/>
                    <a:pt x="256895" y="140936"/>
                    <a:pt x="245579" y="140936"/>
                  </a:cubicBezTo>
                  <a:lnTo>
                    <a:pt x="232879" y="140936"/>
                  </a:lnTo>
                  <a:lnTo>
                    <a:pt x="232879" y="217136"/>
                  </a:lnTo>
                  <a:cubicBezTo>
                    <a:pt x="232879" y="238178"/>
                    <a:pt x="215821" y="255236"/>
                    <a:pt x="194779" y="255236"/>
                  </a:cubicBezTo>
                  <a:lnTo>
                    <a:pt x="182079" y="255236"/>
                  </a:lnTo>
                  <a:lnTo>
                    <a:pt x="182079" y="166336"/>
                  </a:lnTo>
                  <a:cubicBezTo>
                    <a:pt x="182081" y="146162"/>
                    <a:pt x="166355" y="129484"/>
                    <a:pt x="146215" y="128300"/>
                  </a:cubicBezTo>
                  <a:lnTo>
                    <a:pt x="143980" y="128236"/>
                  </a:lnTo>
                  <a:lnTo>
                    <a:pt x="118580" y="128236"/>
                  </a:lnTo>
                  <a:cubicBezTo>
                    <a:pt x="97538" y="128236"/>
                    <a:pt x="80480" y="145294"/>
                    <a:pt x="80480" y="166336"/>
                  </a:cubicBezTo>
                  <a:lnTo>
                    <a:pt x="80480" y="255236"/>
                  </a:lnTo>
                  <a:lnTo>
                    <a:pt x="67780" y="255236"/>
                  </a:lnTo>
                  <a:cubicBezTo>
                    <a:pt x="46738" y="255236"/>
                    <a:pt x="29680" y="238178"/>
                    <a:pt x="29680" y="217136"/>
                  </a:cubicBezTo>
                  <a:lnTo>
                    <a:pt x="29680" y="140936"/>
                  </a:lnTo>
                  <a:lnTo>
                    <a:pt x="16980" y="140936"/>
                  </a:lnTo>
                  <a:cubicBezTo>
                    <a:pt x="5677" y="140936"/>
                    <a:pt x="0" y="127259"/>
                    <a:pt x="8001" y="119258"/>
                  </a:cubicBezTo>
                  <a:lnTo>
                    <a:pt x="122301" y="4958"/>
                  </a:lnTo>
                  <a:cubicBezTo>
                    <a:pt x="127260" y="0"/>
                    <a:pt x="135299" y="0"/>
                    <a:pt x="140258" y="4958"/>
                  </a:cubicBezTo>
                  <a:moveTo>
                    <a:pt x="143980" y="153636"/>
                  </a:moveTo>
                  <a:cubicBezTo>
                    <a:pt x="150994" y="153636"/>
                    <a:pt x="156680" y="159322"/>
                    <a:pt x="156680" y="166336"/>
                  </a:cubicBezTo>
                  <a:lnTo>
                    <a:pt x="156680" y="255236"/>
                  </a:lnTo>
                  <a:lnTo>
                    <a:pt x="105880" y="255236"/>
                  </a:lnTo>
                  <a:lnTo>
                    <a:pt x="105880" y="166336"/>
                  </a:lnTo>
                  <a:cubicBezTo>
                    <a:pt x="105880" y="159898"/>
                    <a:pt x="110699" y="154479"/>
                    <a:pt x="117094" y="153725"/>
                  </a:cubicBezTo>
                  <a:lnTo>
                    <a:pt x="118580" y="153636"/>
                  </a:lnTo>
                  <a:close/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3366" y="1524952"/>
              <a:ext cx="1665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任务一 · 报告第三方面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1844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力量下沉、减负赋能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20980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2330768"/>
              <a:ext cx="2679763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推动治理重心和资源向基层下沉</a:t>
              </a:r>
              <a:br/>
              <a:r>
                <a:rPr lang="zh-CN" sz="13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充实社区工作力量,为基层减负赋能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66" y="287750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街道怎么干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073718"/>
              <a:ext cx="2679763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承接下沉事项和权限清单,一项一接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社区工作者配齐,岗位职责公示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清理违规挂牌与证明事项,减负落地</a:t>
              </a:r>
            </a:p>
          </p:txBody>
        </p:sp>
      </p:grpSp>
      <p:grpSp>
        <p:nvGrpSpPr>
          <p:cNvPr id="24" name="gov-task3"/>
          <p:cNvGrpSpPr/>
          <p:nvPr/>
        </p:nvGrpSpPr>
        <p:grpSpPr>
          <a:xfrm>
            <a:off x="600456" y="3829050"/>
            <a:ext cx="4047744" cy="2442401"/>
            <a:chOff x="600456" y="3829050"/>
            <a:chExt cx="4047744" cy="2442401"/>
          </a:xfrm>
        </p:grpSpPr>
        <p:sp>
          <p:nvSpPr>
            <p:cNvPr id="16" name="Line 16"/>
            <p:cNvSpPr/>
            <p:nvPr/>
          </p:nvSpPr>
          <p:spPr>
            <a:xfrm>
              <a:off x="609600" y="38290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35000" y="3949700"/>
              <a:ext cx="253987" cy="241299"/>
            </a:xfrm>
            <a:custGeom>
              <a:avLst/>
              <a:gdLst/>
              <a:ahLst/>
              <a:cxnLst/>
              <a:rect l="l" t="t" r="r" b="b"/>
              <a:pathLst>
                <a:path w="253987" h="241299">
                  <a:moveTo>
                    <a:pt x="127000" y="0"/>
                  </a:moveTo>
                  <a:cubicBezTo>
                    <a:pt x="134014" y="0"/>
                    <a:pt x="139700" y="5686"/>
                    <a:pt x="139700" y="12700"/>
                  </a:cubicBezTo>
                  <a:lnTo>
                    <a:pt x="139700" y="27330"/>
                  </a:lnTo>
                  <a:lnTo>
                    <a:pt x="205219" y="38252"/>
                  </a:lnTo>
                  <a:cubicBezTo>
                    <a:pt x="208439" y="38742"/>
                    <a:pt x="211339" y="40475"/>
                    <a:pt x="213296" y="43078"/>
                  </a:cubicBezTo>
                  <a:lnTo>
                    <a:pt x="213817" y="43828"/>
                  </a:lnTo>
                  <a:lnTo>
                    <a:pt x="214553" y="45123"/>
                  </a:lnTo>
                  <a:lnTo>
                    <a:pt x="252958" y="121958"/>
                  </a:lnTo>
                  <a:lnTo>
                    <a:pt x="253402" y="123152"/>
                  </a:lnTo>
                  <a:lnTo>
                    <a:pt x="253720" y="124371"/>
                  </a:lnTo>
                  <a:lnTo>
                    <a:pt x="253923" y="125641"/>
                  </a:lnTo>
                  <a:lnTo>
                    <a:pt x="253987" y="127165"/>
                  </a:lnTo>
                  <a:lnTo>
                    <a:pt x="253949" y="127939"/>
                  </a:lnTo>
                  <a:cubicBezTo>
                    <a:pt x="253464" y="155620"/>
                    <a:pt x="230884" y="177804"/>
                    <a:pt x="203199" y="177800"/>
                  </a:cubicBezTo>
                  <a:cubicBezTo>
                    <a:pt x="175143" y="177800"/>
                    <a:pt x="152400" y="155056"/>
                    <a:pt x="152400" y="127000"/>
                  </a:cubicBezTo>
                  <a:cubicBezTo>
                    <a:pt x="152402" y="125029"/>
                    <a:pt x="152863" y="123085"/>
                    <a:pt x="153746" y="121323"/>
                  </a:cubicBezTo>
                  <a:lnTo>
                    <a:pt x="184137" y="60490"/>
                  </a:lnTo>
                  <a:lnTo>
                    <a:pt x="139700" y="53086"/>
                  </a:lnTo>
                  <a:lnTo>
                    <a:pt x="139700" y="215899"/>
                  </a:lnTo>
                  <a:lnTo>
                    <a:pt x="190500" y="215899"/>
                  </a:lnTo>
                  <a:cubicBezTo>
                    <a:pt x="197514" y="215899"/>
                    <a:pt x="203199" y="221585"/>
                    <a:pt x="203199" y="228599"/>
                  </a:cubicBezTo>
                  <a:cubicBezTo>
                    <a:pt x="203199" y="235613"/>
                    <a:pt x="197514" y="241299"/>
                    <a:pt x="190500" y="241299"/>
                  </a:cubicBezTo>
                  <a:lnTo>
                    <a:pt x="63500" y="241299"/>
                  </a:lnTo>
                  <a:cubicBezTo>
                    <a:pt x="56486" y="241299"/>
                    <a:pt x="50800" y="235613"/>
                    <a:pt x="50800" y="228599"/>
                  </a:cubicBezTo>
                  <a:cubicBezTo>
                    <a:pt x="50800" y="221585"/>
                    <a:pt x="56486" y="215899"/>
                    <a:pt x="63500" y="215899"/>
                  </a:cubicBezTo>
                  <a:lnTo>
                    <a:pt x="114300" y="215899"/>
                  </a:lnTo>
                  <a:lnTo>
                    <a:pt x="114300" y="53086"/>
                  </a:lnTo>
                  <a:lnTo>
                    <a:pt x="69850" y="60490"/>
                  </a:lnTo>
                  <a:lnTo>
                    <a:pt x="100558" y="121958"/>
                  </a:lnTo>
                  <a:lnTo>
                    <a:pt x="101003" y="123152"/>
                  </a:lnTo>
                  <a:lnTo>
                    <a:pt x="101320" y="124371"/>
                  </a:lnTo>
                  <a:lnTo>
                    <a:pt x="101524" y="125641"/>
                  </a:lnTo>
                  <a:lnTo>
                    <a:pt x="101587" y="127165"/>
                  </a:lnTo>
                  <a:lnTo>
                    <a:pt x="101549" y="127939"/>
                  </a:lnTo>
                  <a:cubicBezTo>
                    <a:pt x="101064" y="155620"/>
                    <a:pt x="78484" y="177804"/>
                    <a:pt x="50800" y="177800"/>
                  </a:cubicBezTo>
                  <a:cubicBezTo>
                    <a:pt x="22744" y="177800"/>
                    <a:pt x="0" y="155056"/>
                    <a:pt x="0" y="127000"/>
                  </a:cubicBezTo>
                  <a:cubicBezTo>
                    <a:pt x="2" y="125029"/>
                    <a:pt x="463" y="123085"/>
                    <a:pt x="1346" y="121323"/>
                  </a:cubicBezTo>
                  <a:lnTo>
                    <a:pt x="39878" y="44297"/>
                  </a:lnTo>
                  <a:lnTo>
                    <a:pt x="40373" y="43523"/>
                  </a:lnTo>
                  <a:lnTo>
                    <a:pt x="40691" y="43091"/>
                  </a:lnTo>
                  <a:cubicBezTo>
                    <a:pt x="42648" y="40487"/>
                    <a:pt x="45548" y="38755"/>
                    <a:pt x="48768" y="38265"/>
                  </a:cubicBezTo>
                  <a:lnTo>
                    <a:pt x="114300" y="27318"/>
                  </a:lnTo>
                  <a:lnTo>
                    <a:pt x="114300" y="12700"/>
                  </a:lnTo>
                  <a:cubicBezTo>
                    <a:pt x="114300" y="5686"/>
                    <a:pt x="119986" y="0"/>
                    <a:pt x="127000" y="0"/>
                  </a:cubicBezTo>
                </a:path>
              </a:pathLst>
            </a:custGeom>
            <a:solidFill>
              <a:srgbClr val="1431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3366" y="4001452"/>
              <a:ext cx="1665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任务三 · 报告第三方面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43205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矛盾纠纷多元化解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68630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4807268"/>
              <a:ext cx="24140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推进矛盾纠纷多元化解</a:t>
              </a:r>
              <a:br/>
              <a:r>
                <a:rPr lang="zh-CN" sz="13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把问题化解在基层、化解在萌芽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266" y="535400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街道怎么干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2742" y="5550218"/>
              <a:ext cx="241401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网格每周排查,矛盾隐患建台账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人民调解、警调、访调对接联动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重点矛盾领导包案,化解在萌芽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4876800" y="1409700"/>
            <a:ext cx="9525" cy="4838700"/>
          </a:xfrm>
          <a:custGeom>
            <a:avLst/>
            <a:gdLst/>
            <a:ahLst/>
            <a:cxnLst/>
            <a:rect l="l" t="t" r="r" b="b"/>
            <a:pathLst>
              <a:path w="9525" h="4838700">
                <a:moveTo>
                  <a:pt x="0" y="0"/>
                </a:moveTo>
                <a:lnTo>
                  <a:pt x="0" y="4838700"/>
                </a:lnTo>
              </a:path>
            </a:pathLst>
          </a:custGeom>
          <a:noFill/>
          <a:ln w="9525">
            <a:solidFill>
              <a:srgbClr val="D9D3C7"/>
            </a:solidFill>
          </a:ln>
        </p:spPr>
      </p:sp>
      <p:grpSp>
        <p:nvGrpSpPr>
          <p:cNvPr id="35" name="gov-task2-head"/>
          <p:cNvGrpSpPr/>
          <p:nvPr/>
        </p:nvGrpSpPr>
        <p:grpSpPr>
          <a:xfrm>
            <a:off x="5096256" y="1485900"/>
            <a:ext cx="6486144" cy="1228725"/>
            <a:chOff x="5096256" y="1485900"/>
            <a:chExt cx="6486144" cy="1228725"/>
          </a:xfrm>
        </p:grpSpPr>
        <p:grpSp>
          <p:nvGrpSpPr>
            <p:cNvPr id="30" name="Group 30"/>
            <p:cNvGrpSpPr/>
            <p:nvPr/>
          </p:nvGrpSpPr>
          <p:grpSpPr>
            <a:xfrm>
              <a:off x="5143500" y="1485900"/>
              <a:ext cx="228600" cy="228600"/>
              <a:chOff x="5143500" y="1485900"/>
              <a:chExt cx="228600" cy="228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143500" y="14859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270500" y="14859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143500" y="16129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270500" y="16129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76200" y="0"/>
                    </a:move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76200"/>
                    </a:lnTo>
                    <a:cubicBezTo>
                      <a:pt x="101600" y="90228"/>
                      <a:pt x="90228" y="101600"/>
                      <a:pt x="762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519166" y="1524952"/>
              <a:ext cx="1665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任务二 · 报告第三方面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6256" y="1844040"/>
              <a:ext cx="3740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网格化管理 + 全面推行“接诉即办”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98542" y="2178368"/>
              <a:ext cx="29283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深化网格化管理,全面推行“接诉即办”</a:t>
              </a:r>
              <a:br/>
              <a:r>
                <a:rPr lang="zh-CN" sz="1350" dirty="0">
                  <a:solidFill>
                    <a:srgbClr val="1B2430"/>
                  </a:solidFill>
                  <a:latin typeface="+mn-lt"/>
                  <a:ea typeface="+mn-ea"/>
                  <a:cs typeface="+mn-cs"/>
                </a:rPr>
                <a:t>健全群众诉求的受理、办理、反馈闭环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105400" y="27051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46" name="gov-task2-kpi"/>
          <p:cNvGrpSpPr/>
          <p:nvPr/>
        </p:nvGrpSpPr>
        <p:grpSpPr>
          <a:xfrm>
            <a:off x="5090160" y="2896552"/>
            <a:ext cx="6297625" cy="814388"/>
            <a:chOff x="5090160" y="2896552"/>
            <a:chExt cx="6297625" cy="814388"/>
          </a:xfrm>
        </p:grpSpPr>
        <p:sp>
          <p:nvSpPr>
            <p:cNvPr id="36" name="TextBox 36"/>
            <p:cNvSpPr txBox="1"/>
            <p:nvPr/>
          </p:nvSpPr>
          <p:spPr>
            <a:xfrm>
              <a:off x="5100066" y="2896552"/>
              <a:ext cx="1858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报告硬指标 · 全年力争达到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343900" y="29146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grpSp>
          <p:nvGrpSpPr>
            <p:cNvPr id="41" name="gov-kpi-ontime"/>
            <p:cNvGrpSpPr/>
            <p:nvPr/>
          </p:nvGrpSpPr>
          <p:grpSpPr>
            <a:xfrm>
              <a:off x="5090160" y="3124200"/>
              <a:ext cx="2875026" cy="586740"/>
              <a:chOff x="5090160" y="3124200"/>
              <a:chExt cx="2875026" cy="58674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5090160" y="3124200"/>
                <a:ext cx="106048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≥90%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336030" y="31908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按时办结率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37554" y="347091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群众诉求全年力争达到</a:t>
                </a:r>
              </a:p>
            </p:txBody>
          </p:sp>
        </p:grpSp>
        <p:grpSp>
          <p:nvGrpSpPr>
            <p:cNvPr id="45" name="gov-kpi-satisfied"/>
            <p:cNvGrpSpPr/>
            <p:nvPr/>
          </p:nvGrpSpPr>
          <p:grpSpPr>
            <a:xfrm>
              <a:off x="8423910" y="3124200"/>
              <a:ext cx="2963875" cy="586740"/>
              <a:chOff x="8423910" y="3124200"/>
              <a:chExt cx="2963875" cy="58674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8423910" y="3124200"/>
                <a:ext cx="106048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C1272D"/>
                    </a:solidFill>
                    <a:latin typeface="+mn-lt"/>
                    <a:ea typeface="+mn-ea"/>
                    <a:cs typeface="+mn-cs"/>
                  </a:rPr>
                  <a:t>≥90%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669780" y="31908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2430"/>
                    </a:solidFill>
                    <a:latin typeface="+mn-lt"/>
                    <a:ea typeface="+mn-ea"/>
                    <a:cs typeface="+mn-cs"/>
                  </a:rPr>
                  <a:t>群众满意率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71304" y="3470910"/>
                <a:ext cx="17164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回访评价,不满意件重办</a:t>
                </a:r>
              </a:p>
            </p:txBody>
          </p:sp>
        </p:grpSp>
      </p:grpSp>
      <p:grpSp>
        <p:nvGrpSpPr>
          <p:cNvPr id="60" name="gov-task2-chain"/>
          <p:cNvGrpSpPr/>
          <p:nvPr/>
        </p:nvGrpSpPr>
        <p:grpSpPr>
          <a:xfrm>
            <a:off x="5099304" y="3829050"/>
            <a:ext cx="6444996" cy="1324356"/>
            <a:chOff x="5099304" y="3829050"/>
            <a:chExt cx="6444996" cy="1324356"/>
          </a:xfrm>
        </p:grpSpPr>
        <p:sp>
          <p:nvSpPr>
            <p:cNvPr id="47" name="Freeform 47"/>
            <p:cNvSpPr/>
            <p:nvPr/>
          </p:nvSpPr>
          <p:spPr>
            <a:xfrm>
              <a:off x="5105400" y="3829050"/>
              <a:ext cx="2095500" cy="533400"/>
            </a:xfrm>
            <a:prstGeom prst="chevron">
              <a:avLst/>
            </a:prstGeom>
            <a:solidFill>
              <a:srgbClr val="14315C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277100" y="3829050"/>
              <a:ext cx="2095500" cy="533400"/>
            </a:xfrm>
            <a:prstGeom prst="chevron">
              <a:avLst/>
            </a:prstGeom>
            <a:solidFill>
              <a:srgbClr val="14315C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448800" y="3829050"/>
              <a:ext cx="2095500" cy="533400"/>
            </a:xfrm>
            <a:prstGeom prst="chevron">
              <a:avLst/>
            </a:prstGeom>
            <a:solidFill>
              <a:srgbClr val="14315C"/>
            </a:solidFill>
            <a:ln>
              <a:noFill/>
            </a:ln>
          </p:spPr>
        </p:sp>
        <p:grpSp>
          <p:nvGrpSpPr>
            <p:cNvPr id="53" name="gov-chain-labels"/>
            <p:cNvGrpSpPr/>
            <p:nvPr/>
          </p:nvGrpSpPr>
          <p:grpSpPr>
            <a:xfrm>
              <a:off x="5922645" y="3993832"/>
              <a:ext cx="4804410" cy="322707"/>
              <a:chOff x="5922645" y="3993832"/>
              <a:chExt cx="4804410" cy="322707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5922645" y="39938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受理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094345" y="39938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办理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266045" y="39938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反馈</a:t>
                </a:r>
              </a:p>
            </p:txBody>
          </p:sp>
        </p:grpSp>
        <p:grpSp>
          <p:nvGrpSpPr>
            <p:cNvPr id="57" name="gov-chain-notes"/>
            <p:cNvGrpSpPr/>
            <p:nvPr/>
          </p:nvGrpSpPr>
          <p:grpSpPr>
            <a:xfrm>
              <a:off x="5420106" y="4461510"/>
              <a:ext cx="5809488" cy="234696"/>
              <a:chOff x="5420106" y="4461510"/>
              <a:chExt cx="5809488" cy="23469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5420106" y="44615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当日签收、建立台账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91806" y="44615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限时办结、疑难会商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763506" y="44615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回访评价、结果公开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 flipH="1">
              <a:off x="5162550" y="4819650"/>
              <a:ext cx="6324600" cy="1"/>
            </a:xfrm>
            <a:prstGeom prst="line">
              <a:avLst/>
            </a:prstGeom>
            <a:noFill/>
            <a:ln w="19050">
              <a:solidFill>
                <a:srgbClr val="C1272D"/>
              </a:solidFill>
              <a:prstDash val="lgDash"/>
              <a:tailEnd type="triangle" w="lg" len="lg"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99304" y="4918710"/>
              <a:ext cx="4075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闭环:反馈结果回到诉求人,不满意件重新办理、回访销号</a:t>
              </a:r>
            </a:p>
          </p:txBody>
        </p:sp>
      </p:grpSp>
      <p:grpSp>
        <p:nvGrpSpPr>
          <p:cNvPr id="66" name="gov-task2-actions"/>
          <p:cNvGrpSpPr/>
          <p:nvPr/>
        </p:nvGrpSpPr>
        <p:grpSpPr>
          <a:xfrm>
            <a:off x="5100066" y="5277802"/>
            <a:ext cx="3927920" cy="955549"/>
            <a:chOff x="5100066" y="5277802"/>
            <a:chExt cx="3927920" cy="955549"/>
          </a:xfrm>
        </p:grpSpPr>
        <p:sp>
          <p:nvSpPr>
            <p:cNvPr id="61" name="TextBox 61"/>
            <p:cNvSpPr txBox="1"/>
            <p:nvPr/>
          </p:nvSpPr>
          <p:spPr>
            <a:xfrm>
              <a:off x="5100066" y="527780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街道怎么干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105400" y="5514975"/>
              <a:ext cx="57150" cy="571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105400" y="5762625"/>
              <a:ext cx="57150" cy="571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105400" y="6010275"/>
              <a:ext cx="57150" cy="571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50942" y="5474018"/>
              <a:ext cx="377704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网格力量配齐,网格员每日巡查走访、当日签收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限时办结、办结必回访,不满意件重新办理</a:t>
              </a:r>
              <a:br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疑难件提交班子会商;按月统计两个90%,进度上墙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67" name="Line 67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4266" y="6458902"/>
              <a:ext cx="6569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任务与指标摘自报告原文 · 「街道怎么干」为建议口径 · 本页牵头建议:平安建设与网格条线,各社区落实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07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595122" y="461010"/>
            <a:ext cx="10994136" cy="836485"/>
            <a:chOff x="595122" y="461010"/>
            <a:chExt cx="10994136" cy="836485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461010"/>
              <a:ext cx="2598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C1272D"/>
                  </a:solidFill>
                  <a:latin typeface="+mn-lt"/>
                  <a:ea typeface="+mn-ea"/>
                  <a:cs typeface="+mn-cs"/>
                </a:rPr>
                <a:t>街道落实要点 · 统筹发展和安全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40092"/>
              <a:ext cx="59259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4315C"/>
                  </a:solidFill>
                  <a:latin typeface="+mj-lt"/>
                  <a:ea typeface="+mj-ea"/>
                  <a:cs typeface="+mj-cs"/>
                </a:rPr>
                <a:t>安全底线:四类排查、三条常态线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85700" y="863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875"/>
                  </a:solidFill>
                  <a:latin typeface="+mn-lt"/>
                  <a:ea typeface="+mn-ea"/>
                  <a:cs typeface="+mn-cs"/>
                </a:rPr>
                <a:t>报告第四方面 · 单独成页部署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13" name="safety-duty"/>
          <p:cNvGrpSpPr/>
          <p:nvPr/>
        </p:nvGrpSpPr>
        <p:grpSpPr>
          <a:xfrm>
            <a:off x="609600" y="1447800"/>
            <a:ext cx="10972800" cy="685800"/>
            <a:chOff x="609600" y="1447800"/>
            <a:chExt cx="10972800" cy="685800"/>
          </a:xfrm>
        </p:grpSpPr>
        <p:sp>
          <p:nvSpPr>
            <p:cNvPr id="8" name="Rectangle 8"/>
            <p:cNvSpPr/>
            <p:nvPr/>
          </p:nvSpPr>
          <p:spPr>
            <a:xfrm>
              <a:off x="609600" y="1447800"/>
              <a:ext cx="10972800" cy="685800"/>
            </a:xfrm>
            <a:prstGeom prst="rect">
              <a:avLst/>
            </a:prstGeom>
            <a:solidFill>
              <a:srgbClr val="1431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447800"/>
              <a:ext cx="57150" cy="6858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155829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压实安全生产责任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204" y="1870710"/>
              <a:ext cx="5270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D0E4"/>
                  </a:solidFill>
                  <a:latin typeface="+mn-lt"/>
                  <a:ea typeface="+mn-ea"/>
                  <a:cs typeface="+mn-cs"/>
                </a:rPr>
                <a:t>街道建议做法:责任清单签到人、检查记录留痕、隐患整改销号、失职追责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669" y="172116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9FB3D1"/>
                  </a:solidFill>
                  <a:latin typeface="+mn-lt"/>
                  <a:ea typeface="+mn-ea"/>
                  <a:cs typeface="+mn-cs"/>
                </a:rPr>
                <a:t>发展是第一要务,安全是第一责任</a:t>
              </a:r>
            </a:p>
          </p:txBody>
        </p:sp>
      </p:grpSp>
      <p:grpSp>
        <p:nvGrpSpPr>
          <p:cNvPr id="17" name="safety-domain-head"/>
          <p:cNvGrpSpPr/>
          <p:nvPr/>
        </p:nvGrpSpPr>
        <p:grpSpPr>
          <a:xfrm>
            <a:off x="601980" y="2333625"/>
            <a:ext cx="10986516" cy="293370"/>
            <a:chOff x="601980" y="2333625"/>
            <a:chExt cx="10986516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601980" y="23336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一、四类重点领域隐患排查整治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2679" y="2366010"/>
              <a:ext cx="4785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报告原文:抓好消防、燃气、交通、危化品等重点领域隐患排查整治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259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36" name="safety-domains"/>
          <p:cNvGrpSpPr/>
          <p:nvPr/>
        </p:nvGrpSpPr>
        <p:grpSpPr>
          <a:xfrm>
            <a:off x="609600" y="2724150"/>
            <a:ext cx="10972800" cy="2004251"/>
            <a:chOff x="609600" y="2724150"/>
            <a:chExt cx="10972800" cy="2004251"/>
          </a:xfrm>
        </p:grpSpPr>
        <p:sp>
          <p:nvSpPr>
            <p:cNvPr id="18" name="Line 18"/>
            <p:cNvSpPr/>
            <p:nvPr/>
          </p:nvSpPr>
          <p:spPr>
            <a:xfrm>
              <a:off x="6096000" y="2724150"/>
              <a:ext cx="9525" cy="1943100"/>
            </a:xfrm>
            <a:custGeom>
              <a:avLst/>
              <a:gdLst/>
              <a:ahLst/>
              <a:cxnLst/>
              <a:rect l="l" t="t" r="r" b="b"/>
              <a:pathLst>
                <a:path w="9525" h="1943100">
                  <a:moveTo>
                    <a:pt x="0" y="0"/>
                  </a:moveTo>
                  <a:lnTo>
                    <a:pt x="0" y="19431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" y="3695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grpSp>
          <p:nvGrpSpPr>
            <p:cNvPr id="23" name="safety-domain-fire"/>
            <p:cNvGrpSpPr/>
            <p:nvPr/>
          </p:nvGrpSpPr>
          <p:grpSpPr>
            <a:xfrm>
              <a:off x="657225" y="2808315"/>
              <a:ext cx="4150233" cy="853286"/>
              <a:chOff x="657225" y="2808315"/>
              <a:chExt cx="4150233" cy="85328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57225" y="2808315"/>
                <a:ext cx="190500" cy="253972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53972">
                    <a:moveTo>
                      <a:pt x="71438" y="15847"/>
                    </a:moveTo>
                    <a:cubicBezTo>
                      <a:pt x="71438" y="5370"/>
                      <a:pt x="84010" y="0"/>
                      <a:pt x="91583" y="7251"/>
                    </a:cubicBezTo>
                    <a:cubicBezTo>
                      <a:pt x="114895" y="29587"/>
                      <a:pt x="128445" y="78629"/>
                      <a:pt x="112419" y="115836"/>
                    </a:cubicBezTo>
                    <a:lnTo>
                      <a:pt x="111466" y="117908"/>
                    </a:lnTo>
                    <a:lnTo>
                      <a:pt x="111609" y="117943"/>
                    </a:lnTo>
                    <a:cubicBezTo>
                      <a:pt x="119051" y="119527"/>
                      <a:pt x="125932" y="112824"/>
                      <a:pt x="139029" y="92071"/>
                    </a:cubicBezTo>
                    <a:lnTo>
                      <a:pt x="140696" y="89404"/>
                    </a:lnTo>
                    <a:cubicBezTo>
                      <a:pt x="142654" y="86252"/>
                      <a:pt x="145970" y="84193"/>
                      <a:pt x="149664" y="83836"/>
                    </a:cubicBezTo>
                    <a:cubicBezTo>
                      <a:pt x="153357" y="83479"/>
                      <a:pt x="157006" y="84864"/>
                      <a:pt x="159532" y="87582"/>
                    </a:cubicBezTo>
                    <a:cubicBezTo>
                      <a:pt x="175415" y="104668"/>
                      <a:pt x="190500" y="139696"/>
                      <a:pt x="190500" y="162235"/>
                    </a:cubicBezTo>
                    <a:cubicBezTo>
                      <a:pt x="190500" y="213015"/>
                      <a:pt x="147745" y="253972"/>
                      <a:pt x="95250" y="253972"/>
                    </a:cubicBezTo>
                    <a:cubicBezTo>
                      <a:pt x="42755" y="253972"/>
                      <a:pt x="0" y="213015"/>
                      <a:pt x="0" y="162223"/>
                    </a:cubicBezTo>
                    <a:cubicBezTo>
                      <a:pt x="0" y="135410"/>
                      <a:pt x="12168" y="106073"/>
                      <a:pt x="31337" y="87201"/>
                    </a:cubicBezTo>
                    <a:lnTo>
                      <a:pt x="38541" y="80189"/>
                    </a:lnTo>
                    <a:cubicBezTo>
                      <a:pt x="41410" y="77379"/>
                      <a:pt x="43708" y="75069"/>
                      <a:pt x="45899" y="72759"/>
                    </a:cubicBezTo>
                    <a:cubicBezTo>
                      <a:pt x="62925" y="54757"/>
                      <a:pt x="71438" y="37945"/>
                      <a:pt x="71438" y="15847"/>
                    </a:cubicBezTo>
                  </a:path>
                </a:pathLst>
              </a:cu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9556" y="28346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消防安全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1842" y="3168968"/>
                <a:ext cx="37856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重点场所消防通道、用电用气、消防设施逐项排查</a:t>
                </a:r>
                <a:br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隐患台账逐条登记、限期整改、复查销号</a:t>
                </a:r>
              </a:p>
            </p:txBody>
          </p:sp>
        </p:grpSp>
        <p:grpSp>
          <p:nvGrpSpPr>
            <p:cNvPr id="27" name="safety-domain-gas"/>
            <p:cNvGrpSpPr/>
            <p:nvPr/>
          </p:nvGrpSpPr>
          <p:grpSpPr>
            <a:xfrm>
              <a:off x="6272212" y="2834640"/>
              <a:ext cx="4002596" cy="826961"/>
              <a:chOff x="6272212" y="2834640"/>
              <a:chExt cx="4002596" cy="82696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272212" y="2836069"/>
                <a:ext cx="22621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214312">
                    <a:moveTo>
                      <a:pt x="11906" y="214312"/>
                    </a:moveTo>
                    <a:cubicBezTo>
                      <a:pt x="5331" y="214312"/>
                      <a:pt x="0" y="208982"/>
                      <a:pt x="0" y="202406"/>
                    </a:cubicBezTo>
                    <a:cubicBezTo>
                      <a:pt x="0" y="195831"/>
                      <a:pt x="5331" y="190500"/>
                      <a:pt x="11906" y="190500"/>
                    </a:cubicBezTo>
                    <a:lnTo>
                      <a:pt x="11906" y="35719"/>
                    </a:lnTo>
                    <a:cubicBezTo>
                      <a:pt x="11906" y="15992"/>
                      <a:pt x="27898" y="0"/>
                      <a:pt x="47625" y="0"/>
                    </a:cubicBezTo>
                    <a:lnTo>
                      <a:pt x="119062" y="0"/>
                    </a:lnTo>
                    <a:cubicBezTo>
                      <a:pt x="138789" y="0"/>
                      <a:pt x="154781" y="15992"/>
                      <a:pt x="154781" y="35719"/>
                    </a:cubicBezTo>
                    <a:lnTo>
                      <a:pt x="154781" y="83344"/>
                    </a:lnTo>
                    <a:cubicBezTo>
                      <a:pt x="174508" y="83344"/>
                      <a:pt x="190500" y="99336"/>
                      <a:pt x="190500" y="119062"/>
                    </a:cubicBezTo>
                    <a:lnTo>
                      <a:pt x="190500" y="154781"/>
                    </a:lnTo>
                    <a:cubicBezTo>
                      <a:pt x="190500" y="158069"/>
                      <a:pt x="193165" y="160734"/>
                      <a:pt x="196453" y="160734"/>
                    </a:cubicBezTo>
                    <a:cubicBezTo>
                      <a:pt x="199741" y="160734"/>
                      <a:pt x="202406" y="158069"/>
                      <a:pt x="202406" y="154781"/>
                    </a:cubicBezTo>
                    <a:lnTo>
                      <a:pt x="202406" y="83344"/>
                    </a:lnTo>
                    <a:cubicBezTo>
                      <a:pt x="189255" y="83344"/>
                      <a:pt x="178594" y="72683"/>
                      <a:pt x="178594" y="59531"/>
                    </a:cubicBezTo>
                    <a:lnTo>
                      <a:pt x="178594" y="52566"/>
                    </a:lnTo>
                    <a:lnTo>
                      <a:pt x="170176" y="44136"/>
                    </a:lnTo>
                    <a:cubicBezTo>
                      <a:pt x="165935" y="39895"/>
                      <a:pt x="165511" y="33160"/>
                      <a:pt x="169188" y="28420"/>
                    </a:cubicBezTo>
                    <a:lnTo>
                      <a:pt x="170176" y="27301"/>
                    </a:lnTo>
                    <a:cubicBezTo>
                      <a:pt x="174825" y="22653"/>
                      <a:pt x="182362" y="22653"/>
                      <a:pt x="187011" y="27301"/>
                    </a:cubicBezTo>
                    <a:lnTo>
                      <a:pt x="222766" y="63044"/>
                    </a:lnTo>
                    <a:lnTo>
                      <a:pt x="223897" y="64377"/>
                    </a:lnTo>
                    <a:lnTo>
                      <a:pt x="224230" y="64853"/>
                    </a:lnTo>
                    <a:lnTo>
                      <a:pt x="224754" y="65722"/>
                    </a:lnTo>
                    <a:lnTo>
                      <a:pt x="225373" y="67032"/>
                    </a:lnTo>
                    <a:lnTo>
                      <a:pt x="225743" y="68104"/>
                    </a:lnTo>
                    <a:lnTo>
                      <a:pt x="225981" y="69009"/>
                    </a:lnTo>
                    <a:lnTo>
                      <a:pt x="226124" y="69937"/>
                    </a:lnTo>
                    <a:lnTo>
                      <a:pt x="226219" y="71438"/>
                    </a:lnTo>
                    <a:lnTo>
                      <a:pt x="226219" y="154781"/>
                    </a:lnTo>
                    <a:cubicBezTo>
                      <a:pt x="226219" y="171220"/>
                      <a:pt x="212892" y="184547"/>
                      <a:pt x="196453" y="184547"/>
                    </a:cubicBezTo>
                    <a:cubicBezTo>
                      <a:pt x="180014" y="184547"/>
                      <a:pt x="166688" y="171220"/>
                      <a:pt x="166688" y="154781"/>
                    </a:cubicBezTo>
                    <a:lnTo>
                      <a:pt x="166688" y="119062"/>
                    </a:lnTo>
                    <a:cubicBezTo>
                      <a:pt x="166688" y="112487"/>
                      <a:pt x="161357" y="107156"/>
                      <a:pt x="154781" y="107156"/>
                    </a:cubicBezTo>
                    <a:lnTo>
                      <a:pt x="154781" y="190500"/>
                    </a:lnTo>
                    <a:cubicBezTo>
                      <a:pt x="161357" y="190500"/>
                      <a:pt x="166688" y="195831"/>
                      <a:pt x="166688" y="202406"/>
                    </a:cubicBezTo>
                    <a:cubicBezTo>
                      <a:pt x="166688" y="208982"/>
                      <a:pt x="161357" y="214312"/>
                      <a:pt x="154781" y="214312"/>
                    </a:cubicBezTo>
                    <a:close/>
                    <a:moveTo>
                      <a:pt x="119062" y="23812"/>
                    </a:moveTo>
                    <a:lnTo>
                      <a:pt x="47625" y="23812"/>
                    </a:lnTo>
                    <a:cubicBezTo>
                      <a:pt x="41049" y="23812"/>
                      <a:pt x="35719" y="29143"/>
                      <a:pt x="35719" y="35719"/>
                    </a:cubicBezTo>
                    <a:lnTo>
                      <a:pt x="35719" y="83344"/>
                    </a:lnTo>
                    <a:lnTo>
                      <a:pt x="130969" y="83344"/>
                    </a:lnTo>
                    <a:lnTo>
                      <a:pt x="130969" y="35719"/>
                    </a:lnTo>
                    <a:cubicBezTo>
                      <a:pt x="130969" y="29143"/>
                      <a:pt x="125638" y="23812"/>
                      <a:pt x="119062" y="23812"/>
                    </a:cubicBezTo>
                  </a:path>
                </a:pathLst>
              </a:cu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58356" y="28346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燃气安全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660642" y="3168968"/>
                <a:ext cx="361416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餐饮门店瓶装液化气、软管阀门、报警装置检查</a:t>
                </a:r>
                <a:br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非法充装、违规存放发现即报、当场处置</a:t>
                </a:r>
              </a:p>
            </p:txBody>
          </p:sp>
        </p:grpSp>
        <p:grpSp>
          <p:nvGrpSpPr>
            <p:cNvPr id="31" name="safety-domain-traffic"/>
            <p:cNvGrpSpPr/>
            <p:nvPr/>
          </p:nvGrpSpPr>
          <p:grpSpPr>
            <a:xfrm>
              <a:off x="633412" y="3901440"/>
              <a:ext cx="4002596" cy="826961"/>
              <a:chOff x="633412" y="3901440"/>
              <a:chExt cx="4002596" cy="82696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33412" y="3926681"/>
                <a:ext cx="238125" cy="17858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78589">
                    <a:moveTo>
                      <a:pt x="142875" y="0"/>
                    </a:moveTo>
                    <a:cubicBezTo>
                      <a:pt x="145957" y="0"/>
                      <a:pt x="148919" y="1195"/>
                      <a:pt x="151138" y="3334"/>
                    </a:cubicBezTo>
                    <a:lnTo>
                      <a:pt x="152174" y="4465"/>
                    </a:lnTo>
                    <a:lnTo>
                      <a:pt x="196215" y="59531"/>
                    </a:lnTo>
                    <a:lnTo>
                      <a:pt x="202406" y="59531"/>
                    </a:lnTo>
                    <a:cubicBezTo>
                      <a:pt x="221320" y="59530"/>
                      <a:pt x="236956" y="74273"/>
                      <a:pt x="238065" y="93155"/>
                    </a:cubicBezTo>
                    <a:lnTo>
                      <a:pt x="238125" y="95250"/>
                    </a:lnTo>
                    <a:lnTo>
                      <a:pt x="238125" y="142875"/>
                    </a:lnTo>
                    <a:cubicBezTo>
                      <a:pt x="238125" y="149451"/>
                      <a:pt x="232794" y="154781"/>
                      <a:pt x="226219" y="154781"/>
                    </a:cubicBezTo>
                    <a:lnTo>
                      <a:pt x="212277" y="154781"/>
                    </a:lnTo>
                    <a:cubicBezTo>
                      <a:pt x="207226" y="169051"/>
                      <a:pt x="193731" y="178589"/>
                      <a:pt x="178594" y="178589"/>
                    </a:cubicBezTo>
                    <a:cubicBezTo>
                      <a:pt x="163457" y="178589"/>
                      <a:pt x="149962" y="169051"/>
                      <a:pt x="144911" y="154781"/>
                    </a:cubicBezTo>
                    <a:lnTo>
                      <a:pt x="93214" y="154781"/>
                    </a:lnTo>
                    <a:cubicBezTo>
                      <a:pt x="88163" y="169051"/>
                      <a:pt x="74668" y="178589"/>
                      <a:pt x="59531" y="178589"/>
                    </a:cubicBezTo>
                    <a:cubicBezTo>
                      <a:pt x="44394" y="178589"/>
                      <a:pt x="30899" y="169051"/>
                      <a:pt x="25848" y="154781"/>
                    </a:cubicBezTo>
                    <a:lnTo>
                      <a:pt x="11906" y="154781"/>
                    </a:lnTo>
                    <a:cubicBezTo>
                      <a:pt x="5331" y="154781"/>
                      <a:pt x="0" y="149451"/>
                      <a:pt x="0" y="142875"/>
                    </a:cubicBezTo>
                    <a:lnTo>
                      <a:pt x="0" y="71438"/>
                    </a:lnTo>
                    <a:lnTo>
                      <a:pt x="83" y="70045"/>
                    </a:lnTo>
                    <a:lnTo>
                      <a:pt x="179" y="69378"/>
                    </a:lnTo>
                    <a:lnTo>
                      <a:pt x="381" y="68449"/>
                    </a:lnTo>
                    <a:lnTo>
                      <a:pt x="524" y="68020"/>
                    </a:lnTo>
                    <a:lnTo>
                      <a:pt x="691" y="67425"/>
                    </a:lnTo>
                    <a:lnTo>
                      <a:pt x="24670" y="7489"/>
                    </a:lnTo>
                    <a:cubicBezTo>
                      <a:pt x="26476" y="2969"/>
                      <a:pt x="30851" y="3"/>
                      <a:pt x="35719" y="0"/>
                    </a:cubicBezTo>
                    <a:close/>
                    <a:moveTo>
                      <a:pt x="59531" y="130969"/>
                    </a:moveTo>
                    <a:cubicBezTo>
                      <a:pt x="52956" y="130969"/>
                      <a:pt x="47625" y="136299"/>
                      <a:pt x="47625" y="142875"/>
                    </a:cubicBezTo>
                    <a:cubicBezTo>
                      <a:pt x="47625" y="149451"/>
                      <a:pt x="52956" y="154781"/>
                      <a:pt x="59531" y="154781"/>
                    </a:cubicBezTo>
                    <a:cubicBezTo>
                      <a:pt x="66107" y="154781"/>
                      <a:pt x="71438" y="149451"/>
                      <a:pt x="71438" y="142875"/>
                    </a:cubicBezTo>
                    <a:cubicBezTo>
                      <a:pt x="71438" y="136299"/>
                      <a:pt x="66107" y="130969"/>
                      <a:pt x="59531" y="130969"/>
                    </a:cubicBezTo>
                    <a:moveTo>
                      <a:pt x="178594" y="130969"/>
                    </a:moveTo>
                    <a:cubicBezTo>
                      <a:pt x="172018" y="130969"/>
                      <a:pt x="166688" y="136299"/>
                      <a:pt x="166688" y="142875"/>
                    </a:cubicBezTo>
                    <a:cubicBezTo>
                      <a:pt x="166688" y="149451"/>
                      <a:pt x="172018" y="154781"/>
                      <a:pt x="178594" y="154781"/>
                    </a:cubicBezTo>
                    <a:cubicBezTo>
                      <a:pt x="185169" y="154781"/>
                      <a:pt x="190500" y="149451"/>
                      <a:pt x="190500" y="142875"/>
                    </a:cubicBezTo>
                    <a:cubicBezTo>
                      <a:pt x="190500" y="136299"/>
                      <a:pt x="185169" y="130969"/>
                      <a:pt x="178594" y="130969"/>
                    </a:cubicBezTo>
                    <a:moveTo>
                      <a:pt x="107156" y="23813"/>
                    </a:moveTo>
                    <a:lnTo>
                      <a:pt x="43767" y="23813"/>
                    </a:lnTo>
                    <a:lnTo>
                      <a:pt x="29480" y="59531"/>
                    </a:lnTo>
                    <a:lnTo>
                      <a:pt x="107156" y="59531"/>
                    </a:lnTo>
                    <a:close/>
                    <a:moveTo>
                      <a:pt x="137160" y="23813"/>
                    </a:moveTo>
                    <a:lnTo>
                      <a:pt x="130969" y="23813"/>
                    </a:lnTo>
                    <a:lnTo>
                      <a:pt x="130969" y="59531"/>
                    </a:lnTo>
                    <a:lnTo>
                      <a:pt x="165735" y="59531"/>
                    </a:lnTo>
                    <a:close/>
                  </a:path>
                </a:pathLst>
              </a:cu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19556" y="39014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交通安全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21842" y="4235768"/>
                <a:ext cx="361416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校园周边、事故多发路段、农村道路隐患点排查</a:t>
                </a:r>
                <a:br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配合整治,劝导站与护学岗常态运行</a:t>
                </a:r>
              </a:p>
            </p:txBody>
          </p:sp>
        </p:grpSp>
        <p:grpSp>
          <p:nvGrpSpPr>
            <p:cNvPr id="35" name="safety-domain-chemical"/>
            <p:cNvGrpSpPr/>
            <p:nvPr/>
          </p:nvGrpSpPr>
          <p:grpSpPr>
            <a:xfrm>
              <a:off x="6260247" y="3885320"/>
              <a:ext cx="3937408" cy="843081"/>
              <a:chOff x="6260247" y="3885320"/>
              <a:chExt cx="3937408" cy="84308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260247" y="3885320"/>
                <a:ext cx="261878" cy="231804"/>
              </a:xfrm>
              <a:custGeom>
                <a:avLst/>
                <a:gdLst/>
                <a:ahLst/>
                <a:cxnLst/>
                <a:rect l="l" t="t" r="r" b="b"/>
                <a:pathLst>
                  <a:path w="261878" h="231804">
                    <a:moveTo>
                      <a:pt x="183535" y="6499"/>
                    </a:moveTo>
                    <a:cubicBezTo>
                      <a:pt x="203442" y="26398"/>
                      <a:pt x="210418" y="55827"/>
                      <a:pt x="201561" y="82544"/>
                    </a:cubicBezTo>
                    <a:lnTo>
                      <a:pt x="200954" y="84176"/>
                    </a:lnTo>
                    <a:lnTo>
                      <a:pt x="203609" y="84700"/>
                    </a:lnTo>
                    <a:cubicBezTo>
                      <a:pt x="206188" y="85271"/>
                      <a:pt x="208748" y="85985"/>
                      <a:pt x="211288" y="86843"/>
                    </a:cubicBezTo>
                    <a:lnTo>
                      <a:pt x="215075" y="88236"/>
                    </a:lnTo>
                    <a:lnTo>
                      <a:pt x="218051" y="89486"/>
                    </a:lnTo>
                    <a:cubicBezTo>
                      <a:pt x="243709" y="101035"/>
                      <a:pt x="260580" y="126002"/>
                      <a:pt x="261878" y="154768"/>
                    </a:cubicBezTo>
                    <a:lnTo>
                      <a:pt x="261878" y="157351"/>
                    </a:lnTo>
                    <a:cubicBezTo>
                      <a:pt x="261868" y="167215"/>
                      <a:pt x="253864" y="175203"/>
                      <a:pt x="244001" y="175193"/>
                    </a:cubicBezTo>
                    <a:cubicBezTo>
                      <a:pt x="234137" y="175183"/>
                      <a:pt x="226149" y="167179"/>
                      <a:pt x="226159" y="157316"/>
                    </a:cubicBezTo>
                    <a:lnTo>
                      <a:pt x="226183" y="155589"/>
                    </a:lnTo>
                    <a:cubicBezTo>
                      <a:pt x="225617" y="143167"/>
                      <a:pt x="219116" y="131774"/>
                      <a:pt x="208710" y="124967"/>
                    </a:cubicBezTo>
                    <a:cubicBezTo>
                      <a:pt x="198304" y="118160"/>
                      <a:pt x="185261" y="116769"/>
                      <a:pt x="173653" y="121228"/>
                    </a:cubicBezTo>
                    <a:lnTo>
                      <a:pt x="172569" y="121668"/>
                    </a:lnTo>
                    <a:lnTo>
                      <a:pt x="172617" y="122121"/>
                    </a:lnTo>
                    <a:lnTo>
                      <a:pt x="172700" y="124705"/>
                    </a:lnTo>
                    <a:cubicBezTo>
                      <a:pt x="172705" y="139925"/>
                      <a:pt x="164412" y="153938"/>
                      <a:pt x="151066" y="161257"/>
                    </a:cubicBezTo>
                    <a:lnTo>
                      <a:pt x="149161" y="162233"/>
                    </a:lnTo>
                    <a:lnTo>
                      <a:pt x="149328" y="163543"/>
                    </a:lnTo>
                    <a:cubicBezTo>
                      <a:pt x="150304" y="169627"/>
                      <a:pt x="152721" y="175413"/>
                      <a:pt x="156412" y="180402"/>
                    </a:cubicBezTo>
                    <a:lnTo>
                      <a:pt x="158079" y="182486"/>
                    </a:lnTo>
                    <a:cubicBezTo>
                      <a:pt x="164882" y="190471"/>
                      <a:pt x="174636" y="195353"/>
                      <a:pt x="185106" y="196011"/>
                    </a:cubicBezTo>
                    <a:lnTo>
                      <a:pt x="187523" y="196082"/>
                    </a:lnTo>
                    <a:cubicBezTo>
                      <a:pt x="197387" y="196082"/>
                      <a:pt x="205383" y="204078"/>
                      <a:pt x="205383" y="213942"/>
                    </a:cubicBezTo>
                    <a:cubicBezTo>
                      <a:pt x="205383" y="223805"/>
                      <a:pt x="197387" y="231801"/>
                      <a:pt x="187523" y="231801"/>
                    </a:cubicBezTo>
                    <a:cubicBezTo>
                      <a:pt x="166863" y="231804"/>
                      <a:pt x="147131" y="223217"/>
                      <a:pt x="133052" y="208096"/>
                    </a:cubicBezTo>
                    <a:lnTo>
                      <a:pt x="130945" y="205727"/>
                    </a:lnTo>
                    <a:lnTo>
                      <a:pt x="130016" y="206822"/>
                    </a:lnTo>
                    <a:cubicBezTo>
                      <a:pt x="117925" y="220352"/>
                      <a:pt x="101339" y="229041"/>
                      <a:pt x="83332" y="231277"/>
                    </a:cubicBezTo>
                    <a:lnTo>
                      <a:pt x="80081" y="231611"/>
                    </a:lnTo>
                    <a:lnTo>
                      <a:pt x="76998" y="231801"/>
                    </a:lnTo>
                    <a:lnTo>
                      <a:pt x="74414" y="231801"/>
                    </a:lnTo>
                    <a:cubicBezTo>
                      <a:pt x="64551" y="231791"/>
                      <a:pt x="56563" y="223787"/>
                      <a:pt x="56573" y="213924"/>
                    </a:cubicBezTo>
                    <a:cubicBezTo>
                      <a:pt x="56582" y="204061"/>
                      <a:pt x="64586" y="196073"/>
                      <a:pt x="74450" y="196082"/>
                    </a:cubicBezTo>
                    <a:lnTo>
                      <a:pt x="76176" y="196106"/>
                    </a:lnTo>
                    <a:cubicBezTo>
                      <a:pt x="94897" y="195254"/>
                      <a:pt x="110316" y="181109"/>
                      <a:pt x="112776" y="162531"/>
                    </a:cubicBezTo>
                    <a:lnTo>
                      <a:pt x="112812" y="162173"/>
                    </a:lnTo>
                    <a:lnTo>
                      <a:pt x="110895" y="161185"/>
                    </a:lnTo>
                    <a:cubicBezTo>
                      <a:pt x="98284" y="154225"/>
                      <a:pt x="90162" y="141245"/>
                      <a:pt x="89416" y="126860"/>
                    </a:cubicBezTo>
                    <a:lnTo>
                      <a:pt x="89356" y="124538"/>
                    </a:lnTo>
                    <a:lnTo>
                      <a:pt x="89428" y="122264"/>
                    </a:lnTo>
                    <a:lnTo>
                      <a:pt x="89464" y="121752"/>
                    </a:lnTo>
                    <a:lnTo>
                      <a:pt x="88571" y="121371"/>
                    </a:lnTo>
                    <a:cubicBezTo>
                      <a:pt x="79389" y="117762"/>
                      <a:pt x="69176" y="117796"/>
                      <a:pt x="60019" y="121466"/>
                    </a:cubicBezTo>
                    <a:lnTo>
                      <a:pt x="57745" y="122466"/>
                    </a:lnTo>
                    <a:cubicBezTo>
                      <a:pt x="44288" y="128890"/>
                      <a:pt x="35719" y="142475"/>
                      <a:pt x="35719" y="157387"/>
                    </a:cubicBezTo>
                    <a:cubicBezTo>
                      <a:pt x="35719" y="167251"/>
                      <a:pt x="27723" y="175247"/>
                      <a:pt x="17859" y="175247"/>
                    </a:cubicBezTo>
                    <a:cubicBezTo>
                      <a:pt x="7996" y="175247"/>
                      <a:pt x="0" y="167251"/>
                      <a:pt x="0" y="157387"/>
                    </a:cubicBezTo>
                    <a:cubicBezTo>
                      <a:pt x="5" y="121866"/>
                      <a:pt x="25115" y="91301"/>
                      <a:pt x="59960" y="84402"/>
                    </a:cubicBezTo>
                    <a:lnTo>
                      <a:pt x="60877" y="84235"/>
                    </a:lnTo>
                    <a:lnTo>
                      <a:pt x="60281" y="82533"/>
                    </a:lnTo>
                    <a:lnTo>
                      <a:pt x="59329" y="79437"/>
                    </a:lnTo>
                    <a:lnTo>
                      <a:pt x="58543" y="76460"/>
                    </a:lnTo>
                    <a:cubicBezTo>
                      <a:pt x="52828" y="52418"/>
                      <a:pt x="59381" y="27105"/>
                      <a:pt x="76045" y="8857"/>
                    </a:cubicBezTo>
                    <a:lnTo>
                      <a:pt x="77986" y="6809"/>
                    </a:lnTo>
                    <a:cubicBezTo>
                      <a:pt x="82364" y="2083"/>
                      <a:pt x="88947" y="81"/>
                      <a:pt x="95214" y="1570"/>
                    </a:cubicBezTo>
                    <a:cubicBezTo>
                      <a:pt x="101482" y="3059"/>
                      <a:pt x="106462" y="7807"/>
                      <a:pt x="108247" y="13996"/>
                    </a:cubicBezTo>
                    <a:cubicBezTo>
                      <a:pt x="110032" y="20186"/>
                      <a:pt x="108346" y="26857"/>
                      <a:pt x="103834" y="31455"/>
                    </a:cubicBezTo>
                    <a:lnTo>
                      <a:pt x="102203" y="33157"/>
                    </a:lnTo>
                    <a:cubicBezTo>
                      <a:pt x="95034" y="41082"/>
                      <a:pt x="91462" y="51618"/>
                      <a:pt x="92332" y="62269"/>
                    </a:cubicBezTo>
                    <a:cubicBezTo>
                      <a:pt x="93203" y="72919"/>
                      <a:pt x="98439" y="82735"/>
                      <a:pt x="106799" y="89391"/>
                    </a:cubicBezTo>
                    <a:lnTo>
                      <a:pt x="107799" y="90129"/>
                    </a:lnTo>
                    <a:lnTo>
                      <a:pt x="108394" y="89724"/>
                    </a:lnTo>
                    <a:cubicBezTo>
                      <a:pt x="114362" y="85858"/>
                      <a:pt x="121219" y="83583"/>
                      <a:pt x="128314" y="83116"/>
                    </a:cubicBezTo>
                    <a:lnTo>
                      <a:pt x="131028" y="83033"/>
                    </a:lnTo>
                    <a:cubicBezTo>
                      <a:pt x="139160" y="83033"/>
                      <a:pt x="146935" y="85378"/>
                      <a:pt x="153579" y="89653"/>
                    </a:cubicBezTo>
                    <a:lnTo>
                      <a:pt x="154150" y="90045"/>
                    </a:lnTo>
                    <a:lnTo>
                      <a:pt x="154948" y="89474"/>
                    </a:lnTo>
                    <a:cubicBezTo>
                      <a:pt x="161341" y="84410"/>
                      <a:pt x="165971" y="77455"/>
                      <a:pt x="168176" y="69602"/>
                    </a:cubicBezTo>
                    <a:lnTo>
                      <a:pt x="168771" y="67221"/>
                    </a:lnTo>
                    <a:cubicBezTo>
                      <a:pt x="171332" y="55236"/>
                      <a:pt x="168064" y="42745"/>
                      <a:pt x="159960" y="33550"/>
                    </a:cubicBezTo>
                    <a:lnTo>
                      <a:pt x="158282" y="31764"/>
                    </a:lnTo>
                    <a:cubicBezTo>
                      <a:pt x="153637" y="27282"/>
                      <a:pt x="151772" y="20643"/>
                      <a:pt x="153403" y="14398"/>
                    </a:cubicBezTo>
                    <a:cubicBezTo>
                      <a:pt x="155035" y="8153"/>
                      <a:pt x="159909" y="3275"/>
                      <a:pt x="166152" y="1637"/>
                    </a:cubicBezTo>
                    <a:cubicBezTo>
                      <a:pt x="172396" y="0"/>
                      <a:pt x="179037" y="1859"/>
                      <a:pt x="183523" y="6499"/>
                    </a:cubicBezTo>
                  </a:path>
                </a:pathLst>
              </a:cu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658356" y="39014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危化品安全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60642" y="4235768"/>
                <a:ext cx="3537013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储存使用单位台账核查,经营使用环节现场检查</a:t>
                </a:r>
                <a:br/>
                <a:r>
                  <a:rPr lang="zh-CN" sz="135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非法窝点发现即报,运输环节配合监管</a:t>
                </a:r>
              </a:p>
            </p:txBody>
          </p:sp>
        </p:grpSp>
      </p:grpSp>
      <p:grpSp>
        <p:nvGrpSpPr>
          <p:cNvPr id="40" name="safety-routine-head"/>
          <p:cNvGrpSpPr/>
          <p:nvPr/>
        </p:nvGrpSpPr>
        <p:grpSpPr>
          <a:xfrm>
            <a:off x="601980" y="4905375"/>
            <a:ext cx="10986516" cy="293370"/>
            <a:chOff x="601980" y="4905375"/>
            <a:chExt cx="10986516" cy="293370"/>
          </a:xfrm>
        </p:grpSpPr>
        <p:sp>
          <p:nvSpPr>
            <p:cNvPr id="37" name="TextBox 37"/>
            <p:cNvSpPr txBox="1"/>
            <p:nvPr/>
          </p:nvSpPr>
          <p:spPr>
            <a:xfrm>
              <a:off x="601980" y="4905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315C"/>
                  </a:solidFill>
                  <a:latin typeface="+mn-lt"/>
                  <a:ea typeface="+mn-ea"/>
                  <a:cs typeface="+mn-cs"/>
                </a:rPr>
                <a:t>二、三条常态线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95031" y="4937760"/>
              <a:ext cx="349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食品药品、防汛应急、和谐稳定,一年到头不松手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516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C1B2"/>
              </a:solidFill>
            </a:ln>
          </p:spPr>
        </p:sp>
      </p:grpSp>
      <p:grpSp>
        <p:nvGrpSpPr>
          <p:cNvPr id="55" name="safety-routines"/>
          <p:cNvGrpSpPr/>
          <p:nvPr/>
        </p:nvGrpSpPr>
        <p:grpSpPr>
          <a:xfrm>
            <a:off x="603504" y="5295900"/>
            <a:ext cx="9765792" cy="838200"/>
            <a:chOff x="603504" y="5295900"/>
            <a:chExt cx="9765792" cy="838200"/>
          </a:xfrm>
        </p:grpSpPr>
        <p:sp>
          <p:nvSpPr>
            <p:cNvPr id="41" name="Line 41"/>
            <p:cNvSpPr/>
            <p:nvPr/>
          </p:nvSpPr>
          <p:spPr>
            <a:xfrm>
              <a:off x="41529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78105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E4DED2"/>
              </a:solidFill>
            </a:ln>
          </p:spPr>
        </p:sp>
        <p:grpSp>
          <p:nvGrpSpPr>
            <p:cNvPr id="46" name="safety-routine-food"/>
            <p:cNvGrpSpPr/>
            <p:nvPr/>
          </p:nvGrpSpPr>
          <p:grpSpPr>
            <a:xfrm>
              <a:off x="603504" y="5311066"/>
              <a:ext cx="2602992" cy="775790"/>
              <a:chOff x="603504" y="5311066"/>
              <a:chExt cx="2602992" cy="77579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25238" y="5311066"/>
                <a:ext cx="216845" cy="216845"/>
              </a:xfrm>
              <a:custGeom>
                <a:avLst/>
                <a:gdLst/>
                <a:ahLst/>
                <a:cxnLst/>
                <a:rect l="l" t="t" r="r" b="b"/>
                <a:pathLst>
                  <a:path w="216845" h="216845">
                    <a:moveTo>
                      <a:pt x="192872" y="23973"/>
                    </a:moveTo>
                    <a:cubicBezTo>
                      <a:pt x="216845" y="47949"/>
                      <a:pt x="216845" y="86818"/>
                      <a:pt x="192872" y="110795"/>
                    </a:cubicBezTo>
                    <a:lnTo>
                      <a:pt x="110323" y="193344"/>
                    </a:lnTo>
                    <a:cubicBezTo>
                      <a:pt x="86268" y="216845"/>
                      <a:pt x="47783" y="216621"/>
                      <a:pt x="24004" y="192842"/>
                    </a:cubicBezTo>
                    <a:cubicBezTo>
                      <a:pt x="224" y="169062"/>
                      <a:pt x="0" y="130577"/>
                      <a:pt x="23501" y="106523"/>
                    </a:cubicBezTo>
                    <a:lnTo>
                      <a:pt x="106051" y="23973"/>
                    </a:lnTo>
                    <a:cubicBezTo>
                      <a:pt x="130027" y="0"/>
                      <a:pt x="168896" y="0"/>
                      <a:pt x="192872" y="23973"/>
                    </a:cubicBezTo>
                    <a:moveTo>
                      <a:pt x="120641" y="38564"/>
                    </a:moveTo>
                    <a:lnTo>
                      <a:pt x="76333" y="82862"/>
                    </a:lnTo>
                    <a:lnTo>
                      <a:pt x="133973" y="140502"/>
                    </a:lnTo>
                    <a:lnTo>
                      <a:pt x="178282" y="96214"/>
                    </a:lnTo>
                    <a:cubicBezTo>
                      <a:pt x="188702" y="85943"/>
                      <a:pt x="192817" y="70874"/>
                      <a:pt x="189063" y="56732"/>
                    </a:cubicBezTo>
                    <a:cubicBezTo>
                      <a:pt x="185310" y="42590"/>
                      <a:pt x="174265" y="31545"/>
                      <a:pt x="160123" y="27792"/>
                    </a:cubicBezTo>
                    <a:cubicBezTo>
                      <a:pt x="145981" y="24039"/>
                      <a:pt x="130913" y="28154"/>
                      <a:pt x="120641" y="38574"/>
                    </a:cubicBezTo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3930" y="53435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食品药品安全监管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03504" y="5642610"/>
                <a:ext cx="26029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学校食堂、集体用餐配送单位常态检查</a:t>
                </a:r>
                <a:br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农村自办宴席备案,问题即报即查</a:t>
                </a:r>
              </a:p>
            </p:txBody>
          </p:sp>
        </p:grpSp>
        <p:grpSp>
          <p:nvGrpSpPr>
            <p:cNvPr id="50" name="safety-routine-flood"/>
            <p:cNvGrpSpPr/>
            <p:nvPr/>
          </p:nvGrpSpPr>
          <p:grpSpPr>
            <a:xfrm>
              <a:off x="4261104" y="5326856"/>
              <a:ext cx="2602992" cy="760000"/>
              <a:chOff x="4261104" y="5326856"/>
              <a:chExt cx="2602992" cy="760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298156" y="5326856"/>
                <a:ext cx="185737" cy="186245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6245">
                    <a:moveTo>
                      <a:pt x="92868" y="0"/>
                    </a:moveTo>
                    <a:cubicBezTo>
                      <a:pt x="144158" y="0"/>
                      <a:pt x="185737" y="41579"/>
                      <a:pt x="185737" y="92868"/>
                    </a:cubicBezTo>
                    <a:cubicBezTo>
                      <a:pt x="185736" y="98100"/>
                      <a:pt x="181821" y="102503"/>
                      <a:pt x="176626" y="103115"/>
                    </a:cubicBezTo>
                    <a:lnTo>
                      <a:pt x="175418" y="103187"/>
                    </a:lnTo>
                    <a:lnTo>
                      <a:pt x="103187" y="103187"/>
                    </a:lnTo>
                    <a:lnTo>
                      <a:pt x="103187" y="154781"/>
                    </a:lnTo>
                    <a:cubicBezTo>
                      <a:pt x="103193" y="160240"/>
                      <a:pt x="107451" y="164750"/>
                      <a:pt x="112901" y="165070"/>
                    </a:cubicBezTo>
                    <a:cubicBezTo>
                      <a:pt x="118351" y="165390"/>
                      <a:pt x="123108" y="161409"/>
                      <a:pt x="123752" y="155988"/>
                    </a:cubicBezTo>
                    <a:lnTo>
                      <a:pt x="123825" y="154781"/>
                    </a:lnTo>
                    <a:cubicBezTo>
                      <a:pt x="123825" y="149082"/>
                      <a:pt x="128444" y="144462"/>
                      <a:pt x="134143" y="144462"/>
                    </a:cubicBezTo>
                    <a:cubicBezTo>
                      <a:pt x="139842" y="144462"/>
                      <a:pt x="144462" y="149082"/>
                      <a:pt x="144462" y="154781"/>
                    </a:cubicBezTo>
                    <a:cubicBezTo>
                      <a:pt x="144478" y="171535"/>
                      <a:pt x="131162" y="185262"/>
                      <a:pt x="114414" y="185753"/>
                    </a:cubicBezTo>
                    <a:cubicBezTo>
                      <a:pt x="97667" y="186245"/>
                      <a:pt x="83568" y="173323"/>
                      <a:pt x="82601" y="156597"/>
                    </a:cubicBezTo>
                    <a:lnTo>
                      <a:pt x="82550" y="154781"/>
                    </a:lnTo>
                    <a:lnTo>
                      <a:pt x="82550" y="103187"/>
                    </a:lnTo>
                    <a:lnTo>
                      <a:pt x="10319" y="103187"/>
                    </a:lnTo>
                    <a:cubicBezTo>
                      <a:pt x="5087" y="103186"/>
                      <a:pt x="684" y="99271"/>
                      <a:pt x="72" y="94076"/>
                    </a:cubicBezTo>
                    <a:lnTo>
                      <a:pt x="0" y="92868"/>
                    </a:lnTo>
                    <a:cubicBezTo>
                      <a:pt x="0" y="41579"/>
                      <a:pt x="41579" y="0"/>
                      <a:pt x="92868" y="0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4621530" y="534352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防汛抗旱与灾害防范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261104" y="5642610"/>
                <a:ext cx="26029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汛期值守、隐患点巡查、物资队伍到位</a:t>
                </a:r>
                <a:br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加强基层应急能力建设,每年组织演练</a:t>
                </a:r>
              </a:p>
            </p:txBody>
          </p:sp>
        </p:grpSp>
        <p:grpSp>
          <p:nvGrpSpPr>
            <p:cNvPr id="54" name="safety-routine-stable"/>
            <p:cNvGrpSpPr/>
            <p:nvPr/>
          </p:nvGrpSpPr>
          <p:grpSpPr>
            <a:xfrm>
              <a:off x="7918704" y="5316537"/>
              <a:ext cx="2450592" cy="770319"/>
              <a:chOff x="7918704" y="5316537"/>
              <a:chExt cx="2450592" cy="77031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940765" y="5316537"/>
                <a:ext cx="215709" cy="206485"/>
              </a:xfrm>
              <a:custGeom>
                <a:avLst/>
                <a:gdLst/>
                <a:ahLst/>
                <a:cxnLst/>
                <a:rect l="l" t="t" r="r" b="b"/>
                <a:pathLst>
                  <a:path w="215709" h="206485">
                    <a:moveTo>
                      <a:pt x="107839" y="0"/>
                    </a:moveTo>
                    <a:lnTo>
                      <a:pt x="109056" y="72"/>
                    </a:lnTo>
                    <a:lnTo>
                      <a:pt x="109665" y="155"/>
                    </a:lnTo>
                    <a:lnTo>
                      <a:pt x="110295" y="289"/>
                    </a:lnTo>
                    <a:lnTo>
                      <a:pt x="111440" y="640"/>
                    </a:lnTo>
                    <a:cubicBezTo>
                      <a:pt x="112231" y="931"/>
                      <a:pt x="112983" y="1320"/>
                      <a:pt x="113679" y="1795"/>
                    </a:cubicBezTo>
                    <a:lnTo>
                      <a:pt x="114752" y="2642"/>
                    </a:lnTo>
                    <a:lnTo>
                      <a:pt x="117384" y="4891"/>
                    </a:lnTo>
                    <a:cubicBezTo>
                      <a:pt x="138200" y="22181"/>
                      <a:pt x="164508" y="31465"/>
                      <a:pt x="191565" y="31070"/>
                    </a:cubicBezTo>
                    <a:lnTo>
                      <a:pt x="195094" y="30966"/>
                    </a:lnTo>
                    <a:cubicBezTo>
                      <a:pt x="199842" y="30750"/>
                      <a:pt x="204124" y="33805"/>
                      <a:pt x="205464" y="38365"/>
                    </a:cubicBezTo>
                    <a:cubicBezTo>
                      <a:pt x="215709" y="73214"/>
                      <a:pt x="211383" y="110728"/>
                      <a:pt x="193475" y="142331"/>
                    </a:cubicBezTo>
                    <a:cubicBezTo>
                      <a:pt x="175568" y="173934"/>
                      <a:pt x="145610" y="196923"/>
                      <a:pt x="110449" y="206044"/>
                    </a:cubicBezTo>
                    <a:cubicBezTo>
                      <a:pt x="108751" y="206485"/>
                      <a:pt x="106968" y="206485"/>
                      <a:pt x="105269" y="206044"/>
                    </a:cubicBezTo>
                    <a:cubicBezTo>
                      <a:pt x="70107" y="196926"/>
                      <a:pt x="40147" y="173937"/>
                      <a:pt x="22237" y="142334"/>
                    </a:cubicBezTo>
                    <a:cubicBezTo>
                      <a:pt x="4327" y="110731"/>
                      <a:pt x="0" y="73216"/>
                      <a:pt x="10244" y="38365"/>
                    </a:cubicBezTo>
                    <a:cubicBezTo>
                      <a:pt x="11585" y="33805"/>
                      <a:pt x="15866" y="30750"/>
                      <a:pt x="20615" y="30966"/>
                    </a:cubicBezTo>
                    <a:cubicBezTo>
                      <a:pt x="48862" y="32258"/>
                      <a:pt x="76574" y="22959"/>
                      <a:pt x="98325" y="4891"/>
                    </a:cubicBezTo>
                    <a:lnTo>
                      <a:pt x="101039" y="2569"/>
                    </a:lnTo>
                    <a:lnTo>
                      <a:pt x="102029" y="1795"/>
                    </a:lnTo>
                    <a:cubicBezTo>
                      <a:pt x="102725" y="1320"/>
                      <a:pt x="103477" y="931"/>
                      <a:pt x="104269" y="640"/>
                    </a:cubicBezTo>
                    <a:lnTo>
                      <a:pt x="105424" y="289"/>
                    </a:lnTo>
                    <a:cubicBezTo>
                      <a:pt x="105829" y="191"/>
                      <a:pt x="106239" y="119"/>
                      <a:pt x="106652" y="72"/>
                    </a:cubicBezTo>
                    <a:lnTo>
                      <a:pt x="107839" y="0"/>
                    </a:lnTo>
                    <a:close/>
                    <a:moveTo>
                      <a:pt x="107859" y="72231"/>
                    </a:moveTo>
                    <a:cubicBezTo>
                      <a:pt x="97060" y="72228"/>
                      <a:pt x="88084" y="80551"/>
                      <a:pt x="87274" y="91321"/>
                    </a:cubicBezTo>
                    <a:lnTo>
                      <a:pt x="87222" y="92868"/>
                    </a:lnTo>
                    <a:lnTo>
                      <a:pt x="87274" y="94416"/>
                    </a:lnTo>
                    <a:cubicBezTo>
                      <a:pt x="87790" y="101217"/>
                      <a:pt x="91633" y="107323"/>
                      <a:pt x="97541" y="110730"/>
                    </a:cubicBezTo>
                    <a:lnTo>
                      <a:pt x="97541" y="128984"/>
                    </a:lnTo>
                    <a:lnTo>
                      <a:pt x="97613" y="130191"/>
                    </a:lnTo>
                    <a:cubicBezTo>
                      <a:pt x="98258" y="135613"/>
                      <a:pt x="103014" y="139593"/>
                      <a:pt x="108464" y="139274"/>
                    </a:cubicBezTo>
                    <a:cubicBezTo>
                      <a:pt x="113914" y="138954"/>
                      <a:pt x="118172" y="134444"/>
                      <a:pt x="118178" y="128984"/>
                    </a:cubicBezTo>
                    <a:lnTo>
                      <a:pt x="118188" y="110740"/>
                    </a:lnTo>
                    <a:cubicBezTo>
                      <a:pt x="126279" y="106069"/>
                      <a:pt x="130222" y="96545"/>
                      <a:pt x="127802" y="87522"/>
                    </a:cubicBezTo>
                    <a:cubicBezTo>
                      <a:pt x="125382" y="78499"/>
                      <a:pt x="117202" y="72227"/>
                      <a:pt x="107859" y="72231"/>
                    </a:cubicBezTo>
                    <a:close/>
                  </a:path>
                </a:pathLst>
              </a:custGeom>
              <a:solidFill>
                <a:srgbClr val="14315C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279130" y="53435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4315C"/>
                    </a:solidFill>
                    <a:latin typeface="+mn-lt"/>
                    <a:ea typeface="+mn-ea"/>
                    <a:cs typeface="+mn-cs"/>
                  </a:rPr>
                  <a:t>维护社会和谐稳定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918704" y="5642610"/>
                <a:ext cx="24505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重点人群服务管理,重要节点值守</a:t>
                </a:r>
                <a:br/>
                <a:r>
                  <a:rPr lang="zh-CN" sz="1200" dirty="0">
                    <a:solidFill>
                      <a:srgbClr val="5C6875"/>
                    </a:solidFill>
                    <a:latin typeface="+mn-lt"/>
                    <a:ea typeface="+mn-ea"/>
                    <a:cs typeface="+mn-cs"/>
                  </a:rPr>
                  <a:t>信访与舆情早发现、早上报、早处置</a:t>
                </a:r>
              </a:p>
            </p:txBody>
          </p:sp>
        </p:grpSp>
      </p:grpSp>
      <p:grpSp>
        <p:nvGrpSpPr>
          <p:cNvPr id="59" name="footer"/>
          <p:cNvGrpSpPr/>
          <p:nvPr/>
        </p:nvGrpSpPr>
        <p:grpSpPr>
          <a:xfrm>
            <a:off x="604266" y="6381750"/>
            <a:ext cx="10983468" cy="282511"/>
            <a:chOff x="604266" y="6381750"/>
            <a:chExt cx="10983468" cy="282511"/>
          </a:xfrm>
        </p:grpSpPr>
        <p:sp>
          <p:nvSpPr>
            <p:cNvPr id="56" name="Line 56"/>
            <p:cNvSpPr/>
            <p:nvPr/>
          </p:nvSpPr>
          <p:spPr>
            <a:xfrm>
              <a:off x="609600" y="6381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D3C7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266" y="6458902"/>
              <a:ext cx="6993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重点领域与任务摘自报告原文 · 排查做法为街道建议口径 · 本页牵头建议:应急管理与平安建设条线,各社区落实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035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A8375"/>
                  </a:solidFill>
                  <a:latin typeface="+mn-lt"/>
                  <a:ea typeface="+mn-ea"/>
                  <a:cs typeface="+mn-cs"/>
                </a:rPr>
                <a:t>08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83C6E"/>
            </a:gs>
            <a:gs pos="100000">
              <a:srgbClr val="0D214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kicker"/>
          <p:cNvGrpSpPr/>
          <p:nvPr/>
        </p:nvGrpSpPr>
        <p:grpSpPr>
          <a:xfrm>
            <a:off x="0" y="0"/>
            <a:ext cx="12192000" cy="848106"/>
            <a:chOff x="0" y="0"/>
            <a:chExt cx="12192000" cy="848106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4400" y="628650"/>
              <a:ext cx="95250" cy="9525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17854" y="613410"/>
              <a:ext cx="2053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9FB3D1"/>
                  </a:solidFill>
                  <a:latin typeface="+mn-lt"/>
                  <a:ea typeface="+mn-ea"/>
                  <a:cs typeface="+mn-cs"/>
                </a:rPr>
                <a:t>街道落实要点 · 对号入座</a:t>
              </a:r>
            </a:p>
          </p:txBody>
        </p:sp>
      </p:grpSp>
      <p:grpSp>
        <p:nvGrpSpPr>
          <p:cNvPr id="8" name="closing-statement"/>
          <p:cNvGrpSpPr/>
          <p:nvPr/>
        </p:nvGrpSpPr>
        <p:grpSpPr>
          <a:xfrm>
            <a:off x="899922" y="1174432"/>
            <a:ext cx="6753082" cy="1551813"/>
            <a:chOff x="899922" y="1174432"/>
            <a:chExt cx="6753082" cy="1551813"/>
          </a:xfrm>
        </p:grpSpPr>
        <p:sp>
          <p:nvSpPr>
            <p:cNvPr id="6" name="TextBox 6"/>
            <p:cNvSpPr txBox="1"/>
            <p:nvPr/>
          </p:nvSpPr>
          <p:spPr>
            <a:xfrm>
              <a:off x="906018" y="1174432"/>
              <a:ext cx="59363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FB3D1"/>
                  </a:solidFill>
                  <a:latin typeface="+mn-lt"/>
                  <a:ea typeface="+mn-ea"/>
                  <a:cs typeface="+mn-cs"/>
                </a:rPr>
                <a:t>蓝图已经绘就,关键在于落实。街道这一层,怎么把话变成活?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9922" y="1635442"/>
              <a:ext cx="6753082" cy="10908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sz="28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报告里的每一条,都要在街道有一份台账、</a:t>
              </a:r>
              <a:br/>
              <a:r>
                <a:rPr lang="zh-CN" sz="28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一个责任人、一个时间节点。</a:t>
              </a:r>
            </a:p>
          </p:txBody>
        </p:sp>
      </p:grpSp>
      <p:grpSp>
        <p:nvGrpSpPr>
          <p:cNvPr id="25" name="closing-steps"/>
          <p:cNvGrpSpPr/>
          <p:nvPr/>
        </p:nvGrpSpPr>
        <p:grpSpPr>
          <a:xfrm>
            <a:off x="899160" y="2781300"/>
            <a:ext cx="10378440" cy="1870901"/>
            <a:chOff x="899160" y="2781300"/>
            <a:chExt cx="10378440" cy="1870901"/>
          </a:xfrm>
        </p:grpSpPr>
        <p:sp>
          <p:nvSpPr>
            <p:cNvPr id="9" name="Line 9"/>
            <p:cNvSpPr/>
            <p:nvPr/>
          </p:nvSpPr>
          <p:spPr>
            <a:xfrm>
              <a:off x="914400" y="33147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C4A78"/>
              </a:solidFill>
            </a:ln>
          </p:spPr>
        </p:sp>
        <p:grpSp>
          <p:nvGrpSpPr>
            <p:cNvPr id="14" name="closing-step-claim"/>
            <p:cNvGrpSpPr/>
            <p:nvPr/>
          </p:nvGrpSpPr>
          <p:grpSpPr>
            <a:xfrm>
              <a:off x="899160" y="2781300"/>
              <a:ext cx="2593848" cy="1870901"/>
              <a:chOff x="899160" y="2781300"/>
              <a:chExt cx="2593848" cy="187090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99160" y="2781300"/>
                <a:ext cx="47973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914400" y="3267075"/>
                <a:ext cx="95250" cy="95250"/>
              </a:xfrm>
              <a:prstGeom prst="rect">
                <a:avLst/>
              </a:pr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04494" y="3523298"/>
                <a:ext cx="15625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认账</a:t>
                </a:r>
                <a:r>
                  <a:rPr lang="zh-CN" sz="1200" dirty="0">
                    <a:solidFill>
                      <a:srgbClr val="9FB3D1"/>
                    </a:solidFill>
                    <a:latin typeface="+mn-lt"/>
                    <a:ea typeface="+mn-ea"/>
                    <a:cs typeface="+mn-cs"/>
                  </a:rPr>
                  <a:t xml:space="preserve"> 条目认领到人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7542" y="3892868"/>
                <a:ext cx="2585466" cy="759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会后一周内,各科室、各社区</a:t>
                </a:r>
                <a:br/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认领条目,建立《街道落实台账》</a:t>
                </a:r>
                <a:br/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条目、牵头人、配合、节点、进度</a:t>
                </a:r>
              </a:p>
            </p:txBody>
          </p:sp>
        </p:grpSp>
        <p:grpSp>
          <p:nvGrpSpPr>
            <p:cNvPr id="19" name="closing-step-publish"/>
            <p:cNvGrpSpPr/>
            <p:nvPr/>
          </p:nvGrpSpPr>
          <p:grpSpPr>
            <a:xfrm>
              <a:off x="4404360" y="2781300"/>
              <a:ext cx="2396680" cy="1870901"/>
              <a:chOff x="4404360" y="2781300"/>
              <a:chExt cx="2396680" cy="187090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404360" y="2781300"/>
                <a:ext cx="47973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4419600" y="3267075"/>
                <a:ext cx="95250" cy="95250"/>
              </a:xfrm>
              <a:prstGeom prst="rect">
                <a:avLst/>
              </a:pr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09694" y="3523298"/>
                <a:ext cx="140101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上墙</a:t>
                </a:r>
                <a:r>
                  <a:rPr lang="zh-CN" sz="1200" dirty="0">
                    <a:solidFill>
                      <a:srgbClr val="9FB3D1"/>
                    </a:solidFill>
                    <a:latin typeface="+mn-lt"/>
                    <a:ea typeface="+mn-ea"/>
                    <a:cs typeface="+mn-cs"/>
                  </a:rPr>
                  <a:t xml:space="preserve"> 群众看得见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12742" y="3892868"/>
                <a:ext cx="2388298" cy="759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十件实事、两个90%、四类排查</a:t>
                </a:r>
                <a:br/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在街道公示栏和社区上墙公示</a:t>
                </a:r>
                <a:br/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进度按月更新,接受群众监督</a:t>
                </a:r>
              </a:p>
            </p:txBody>
          </p:sp>
        </p:grpSp>
        <p:grpSp>
          <p:nvGrpSpPr>
            <p:cNvPr id="24" name="closing-step-check"/>
            <p:cNvGrpSpPr/>
            <p:nvPr/>
          </p:nvGrpSpPr>
          <p:grpSpPr>
            <a:xfrm>
              <a:off x="7909560" y="2781300"/>
              <a:ext cx="2345246" cy="1870901"/>
              <a:chOff x="7909560" y="2781300"/>
              <a:chExt cx="2345246" cy="187090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909560" y="2781300"/>
                <a:ext cx="47973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924800" y="3267075"/>
                <a:ext cx="95250" cy="95250"/>
              </a:xfrm>
              <a:prstGeom prst="rect">
                <a:avLst/>
              </a:prstGeom>
              <a:solidFill>
                <a:srgbClr val="C1272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914894" y="3523298"/>
                <a:ext cx="15625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对表</a:t>
                </a:r>
                <a:r>
                  <a:rPr lang="zh-CN" sz="1200" dirty="0">
                    <a:solidFill>
                      <a:srgbClr val="9FB3D1"/>
                    </a:solidFill>
                    <a:latin typeface="+mn-lt"/>
                    <a:ea typeface="+mn-ea"/>
                    <a:cs typeface="+mn-cs"/>
                  </a:rPr>
                  <a:t xml:space="preserve"> 按月按季销号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17942" y="3892868"/>
                <a:ext cx="2336864" cy="759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每月班子会过一次进度</a:t>
                </a:r>
                <a:br/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季度向区里报送,年底逐条销号</a:t>
                </a:r>
                <a:br/>
                <a:r>
                  <a:rPr lang="zh-CN" sz="1350" dirty="0">
                    <a:solidFill>
                      <a:srgbClr val="C3D0E4"/>
                    </a:solidFill>
                    <a:latin typeface="+mn-lt"/>
                    <a:ea typeface="+mn-ea"/>
                    <a:cs typeface="+mn-cs"/>
                  </a:rPr>
                  <a:t>完不成的说明原因、限期整改</a:t>
                </a:r>
              </a:p>
            </p:txBody>
          </p:sp>
        </p:grpSp>
      </p:grpSp>
      <p:grpSp>
        <p:nvGrpSpPr>
          <p:cNvPr id="30" name="closing-quote"/>
          <p:cNvGrpSpPr/>
          <p:nvPr/>
        </p:nvGrpSpPr>
        <p:grpSpPr>
          <a:xfrm>
            <a:off x="914400" y="4857750"/>
            <a:ext cx="10363200" cy="952500"/>
            <a:chOff x="914400" y="4857750"/>
            <a:chExt cx="10363200" cy="952500"/>
          </a:xfrm>
        </p:grpSpPr>
        <p:sp>
          <p:nvSpPr>
            <p:cNvPr id="26" name="Rectangle 26"/>
            <p:cNvSpPr/>
            <p:nvPr/>
          </p:nvSpPr>
          <p:spPr>
            <a:xfrm>
              <a:off x="914400" y="4857750"/>
              <a:ext cx="10363200" cy="952500"/>
            </a:xfrm>
            <a:prstGeom prst="rect">
              <a:avLst/>
            </a:prstGeom>
            <a:solidFill>
              <a:srgbClr val="10294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4400" y="4857750"/>
              <a:ext cx="57150" cy="952500"/>
            </a:xfrm>
            <a:prstGeom prst="rect">
              <a:avLst/>
            </a:prstGeom>
            <a:solidFill>
              <a:srgbClr val="C1272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27582" y="5031105"/>
              <a:ext cx="42031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以钉钉子精神抓好各项工作落实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31392" y="5435918"/>
              <a:ext cx="6783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3D0E4"/>
                  </a:solidFill>
                  <a:latin typeface="+mn-lt"/>
                  <a:ea typeface="+mn-ea"/>
                  <a:cs typeface="+mn-cs"/>
                </a:rPr>
                <a:t>不合并、不漏项、不拖到年底 —— 一条一条对账销号,奋力谱写全区高质量发展新篇章</a:t>
              </a:r>
            </a:p>
          </p:txBody>
        </p:sp>
      </p:grpSp>
      <p:grpSp>
        <p:nvGrpSpPr>
          <p:cNvPr id="34" name="closing-footer"/>
          <p:cNvGrpSpPr/>
          <p:nvPr/>
        </p:nvGrpSpPr>
        <p:grpSpPr>
          <a:xfrm>
            <a:off x="909066" y="6134100"/>
            <a:ext cx="10373868" cy="358711"/>
            <a:chOff x="909066" y="6134100"/>
            <a:chExt cx="10373868" cy="358711"/>
          </a:xfrm>
        </p:grpSpPr>
        <p:sp>
          <p:nvSpPr>
            <p:cNvPr id="31" name="Line 31"/>
            <p:cNvSpPr/>
            <p:nvPr/>
          </p:nvSpPr>
          <p:spPr>
            <a:xfrm>
              <a:off x="914400" y="61341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C4A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9066" y="6287452"/>
              <a:ext cx="7820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6C6"/>
                  </a:solidFill>
                  <a:latin typeface="+mn-lt"/>
                  <a:ea typeface="+mn-ea"/>
                  <a:cs typeface="+mn-cs"/>
                </a:rPr>
                <a:t>依据区人民政府工作报告整理 · 条目与数字摘自报告原文;牵头分工、街道动作与落实节奏为建议口径,以街道班子会明确为准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98740" y="62874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FA6C6"/>
                  </a:solidFill>
                  <a:latin typeface="+mn-lt"/>
                  <a:ea typeface="+mn-ea"/>
                  <a:cs typeface="+mn-cs"/>
                </a:rPr>
                <a:t>09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iedao_deploy">
  <a:themeElements>
    <a:clrScheme name="jiedao_deplo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iedao_deploy">
      <a:majorFont>
        <a:latin typeface="Arial"/>
        <a:ea typeface="SimSun"/>
        <a:cs typeface="Arial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iedao_deplo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iedao_deploy">
  <a:themeElements>
    <a:clrScheme name="jiedao_deplo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iedao_deploy">
      <a:majorFont>
        <a:latin typeface="Arial"/>
        <a:ea typeface="SimSun"/>
        <a:cs typeface="Arial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iedao_deplo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2026-09-23T07:19:48Z</dcterms:created>
  <dcterms:modified xsi:type="dcterms:W3CDTF">2026-09-23T07:19:48Z</dcterms:modified>
  <cp:category/>
  <cp:contentStatus/>
</cp:coreProperties>
</file>