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WenYuan Sans SC"/>
      <p:regular r:id="rId201314"/>
      <p:bold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317897"/>
            <a:ext cx="228600" cy="21431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923776"/>
            <a:ext cx="42863" cy="4000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5485" y="3191024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68197" y="3191024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0910" y="3191024"/>
            <a:ext cx="2807494" cy="102870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638" y="257175"/>
            <a:ext cx="1207294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产品版本更新客户宣讲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081242" y="267891"/>
            <a:ext cx="1850231" cy="1214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BUSINESS INSIGHT · 产品与客户成功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71475" y="952351"/>
            <a:ext cx="1350169" cy="1643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 V3.2 版本更新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71475" y="1143446"/>
            <a:ext cx="1350169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客户宣讲 · 2026 年 9 月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313" y="1465250"/>
            <a:ext cx="8715375" cy="5286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 v3.2 版本更新客户宣讲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4313" y="2105285"/>
            <a:ext cx="9238298" cy="3929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7 个更新点，一句话讲清您能</a:t>
            </a:r>
            <a:pPr algn="l" indent="0" marL="0">
              <a:buNone/>
            </a:pPr>
            <a:r>
              <a:rPr lang="en-US" sz="2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多做成什么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214313" y="2554560"/>
            <a:ext cx="8715375" cy="43576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本次宣讲围绕 v3.2 的 7 个更新点展开，依次呈现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对接方式迁移提醒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新增能力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、</a:t>
            </a:r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体验与管控升级</a:t>
            </a:r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与问题修复，以感谢与支持收尾，全部为您能多做成什么而来。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4331" y="3312468"/>
            <a:ext cx="821531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3013" y="3433911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503" y="3748236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单次批量处理上限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503" y="3948261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批量新增、修改、删除一次完成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17044" y="3312468"/>
            <a:ext cx="20716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5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3581363" y="3433911"/>
            <a:ext cx="171450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8216" y="3748236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报表自定义下钻层级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8216" y="3948261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异常数字背后的原因一眼看清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69757" y="3312468"/>
            <a:ext cx="435769" cy="3429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762676" y="3433911"/>
            <a:ext cx="16430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0929" y="3748236"/>
            <a:ext cx="25074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列表展示耗时降低（约）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70929" y="3948261"/>
            <a:ext cx="25074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数据量再大，列表打开也快了近一半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14312" y="4743450"/>
            <a:ext cx="371475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产品团队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14388" y="4743450"/>
            <a:ext cx="521494" cy="1428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2026 年 9 月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501063" y="4750594"/>
            <a:ext cx="42862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为客户而生</a:t>
            </a:r>
            <a:endParaRPr lang="en-US" sz="700" dirty="0"/>
          </a:p>
        </p:txBody>
      </p:sp>
      <p:sp>
        <p:nvSpPr>
          <p:cNvPr id="65535" name="wm:hwcld:2026-09-22T15:18:02:12ebfcdb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2864"/>
            <a:ext cx="8715375" cy="592931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313" y="1479314"/>
            <a:ext cx="2828925" cy="9001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57538" y="1479314"/>
            <a:ext cx="2828925" cy="9001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00763" y="1479314"/>
            <a:ext cx="2828925" cy="9001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4313" y="2493392"/>
          <a:ext cx="8715375" cy="914400"/>
        </p:xfrm>
        <a:graphic>
          <a:graphicData uri="http://schemas.openxmlformats.org/drawingml/2006/table">
            <a:tbl>
              <a:tblPr/>
              <a:tblGrid>
                <a:gridCol w="1714500"/>
                <a:gridCol w="3496866"/>
                <a:gridCol w="3496866"/>
              </a:tblGrid>
              <a:tr h="2964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对比维度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旧对接方式（v1）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39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新对接方式（v2）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3941"/>
                    </a:solidFill>
                  </a:tcPr>
                </a:tc>
              </a:tr>
              <a:tr h="2964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服务状态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F0001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下个大版本起停止支持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官方推荐的持续支持方式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64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通知功能定位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自动通知对接（即将停用）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自动通知对接（承接替代）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64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客户需要做的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需尽快迁移出去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33941"/>
                          </a:solidFill>
                          <a:latin typeface="WenYuan Sans SC" pitchFamily="34" charset="0"/>
                          <a:ea typeface="WenYuan Sans SC" pitchFamily="34" charset="-122"/>
                          <a:cs typeface="WenYuan Sans SC" pitchFamily="34" charset="-120"/>
                        </a:rPr>
                        <a:t>迁移目标，建议尽快切换</a:t>
                      </a:r>
                      <a:endParaRPr lang="en-US" sz="1000" dirty="0">
                        <a:latin typeface="WenYuan Sans SC" charset="0"/>
                        <a:ea typeface="WenYuan Sans SC" charset="0"/>
                        <a:cs typeface="WenYuan Sans SC" charset="0"/>
                      </a:endParaRPr>
                    </a:p>
                  </a:txBody>
                  <a:tcPr marL="72866" marR="72866" marT="36433" marB="36433" anchor="ctr">
                    <a:lnL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14313" y="3800698"/>
            <a:ext cx="8715375" cy="385763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18191" y="3807842"/>
            <a:ext cx="2900362" cy="371475"/>
          </a:xfrm>
          <a:prstGeom prst="rect">
            <a:avLst/>
          </a:prstGeom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8191" y="3807842"/>
            <a:ext cx="2900362" cy="37147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20898" y="3807842"/>
            <a:ext cx="2900362" cy="371475"/>
          </a:xfrm>
          <a:prstGeom prst="rect">
            <a:avLst/>
          </a:prstGeom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0898" y="3807842"/>
            <a:ext cx="2900362" cy="3714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重要提醒：请尽快完成对接方式升级，下个大版本起旧方式将停止服务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35756" y="915739"/>
            <a:ext cx="864394" cy="307181"/>
          </a:xfrm>
          <a:prstGeom prst="rect">
            <a:avLst/>
          </a:prstGeom>
          <a:solidFill>
            <a:srgbClr val="FFFFF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72866" tIns="36433" rIns="72866" bIns="36433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需要您行动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314450" y="865733"/>
            <a:ext cx="587930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旧版自动通知对接方式（v1）将于下个大版本停止支持，请尽快迁移至新对接方式（v2）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314450" y="1101030"/>
            <a:ext cx="587930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仍在使用旧对接方式的客户请尽快完成迁移，避免自动通知中断影响业务；建议客户成功团队主动排查并协助迁移。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07181" y="1491816"/>
            <a:ext cx="27289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何时停止支持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07181" y="1745419"/>
            <a:ext cx="2728913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下个大版本起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07181" y="2022239"/>
            <a:ext cx="2728913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旧的自动通知对接方式（v1）届时停止服务；当前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v3.2 仍可正常使用，请尽早安排。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250406" y="1491816"/>
            <a:ext cx="27289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您需要做什么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250406" y="1745419"/>
            <a:ext cx="2728913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尽快迁移至 v2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250406" y="2022239"/>
            <a:ext cx="2728913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迁移是把通知对接从旧方式切换到新方式（v2），功能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定位相同，属升级替换，无需重新建设。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193631" y="1491816"/>
            <a:ext cx="27289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不迁移的影响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193631" y="1745419"/>
            <a:ext cx="2728913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自动通知中断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193631" y="2022239"/>
            <a:ext cx="2728913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下个大版本上线后仍使用旧方式，依赖它推送的各类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自动通知将不再送达，影响业务运转。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36928" y="3850704"/>
            <a:ext cx="266461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当前版本 v3.2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336928" y="3979292"/>
            <a:ext cx="2664619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旧对接方式仍可正常使用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239635" y="3850704"/>
            <a:ext cx="266461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迁移窗口期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3239635" y="3979292"/>
            <a:ext cx="2664619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现在到下个大版本发布前，请尽快完成切换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142341" y="3850704"/>
            <a:ext cx="266461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下个大版本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6142341" y="3979292"/>
            <a:ext cx="2664619" cy="1571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000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v1 停止服务，自动通知可能中断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来源：版本更新日志 v3.2（2026 年 9 月发布）。迁移的具体截止日期与操作指引入口以官方后续通知为准，可详询客户成功团队协助迁移。</a:t>
            </a:r>
            <a:endParaRPr lang="en-US" sz="700" dirty="0"/>
          </a:p>
        </p:txBody>
      </p:sp>
      <p:sp>
        <p:nvSpPr>
          <p:cNvPr id="65535" name="wm:hwcld:2026-09-22T15:18:02:12ebfcdb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4686300" y="772251"/>
            <a:ext cx="4243388" cy="2921794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79231" y="3091458"/>
            <a:ext cx="327183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79231" y="2748558"/>
            <a:ext cx="327183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79231" y="2412802"/>
            <a:ext cx="327183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79231" y="2077045"/>
            <a:ext cx="327183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79231" y="1734145"/>
            <a:ext cx="327183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9231" y="1398389"/>
            <a:ext cx="327183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2726" y="1184791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操作次数（次）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279231" y="3091458"/>
            <a:ext cx="327183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9182" y="3027878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4589145" y="268926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589145" y="235065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400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589145" y="201203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600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4589145" y="1673423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800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4439126" y="1334810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1000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5330666" y="3135035"/>
            <a:ext cx="153304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逐条操作（升级前）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591538" y="3135035"/>
            <a:ext cx="228314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批量操作（v3.2 新方式）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5729109" y="1394817"/>
            <a:ext cx="736163" cy="1693069"/>
          </a:xfrm>
          <a:custGeom>
            <a:avLst/>
            <a:gdLst/>
            <a:ahLst/>
            <a:cxnLst/>
            <a:rect l="l" t="t" r="r" b="b"/>
            <a:pathLst>
              <a:path w="736163" h="1693069">
                <a:moveTo>
                  <a:pt x="0" y="1693069"/>
                </a:moveTo>
                <a:lnTo>
                  <a:pt x="736163" y="1693069"/>
                </a:lnTo>
                <a:lnTo>
                  <a:pt x="736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21" name="Shape 19"/>
          <p:cNvSpPr/>
          <p:nvPr/>
        </p:nvSpPr>
        <p:spPr>
          <a:xfrm>
            <a:off x="7365028" y="3086193"/>
            <a:ext cx="736163" cy="1693"/>
          </a:xfrm>
          <a:custGeom>
            <a:avLst/>
            <a:gdLst/>
            <a:ahLst/>
            <a:cxnLst/>
            <a:rect l="l" t="t" r="r" b="b"/>
            <a:pathLst>
              <a:path w="736163" h="1693">
                <a:moveTo>
                  <a:pt x="0" y="1693"/>
                </a:moveTo>
                <a:lnTo>
                  <a:pt x="736163" y="1693"/>
                </a:lnTo>
                <a:lnTo>
                  <a:pt x="736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2" name="Text 20"/>
          <p:cNvSpPr/>
          <p:nvPr/>
        </p:nvSpPr>
        <p:spPr>
          <a:xfrm>
            <a:off x="5705713" y="1249085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1000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7566660" y="2940460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</a:t>
            </a:r>
            <a:endParaRPr lang="en-US" sz="788" dirty="0"/>
          </a:p>
        </p:txBody>
      </p:sp>
      <p:sp>
        <p:nvSpPr>
          <p:cNvPr id="24" name="Shape 22"/>
          <p:cNvSpPr/>
          <p:nvPr/>
        </p:nvSpPr>
        <p:spPr>
          <a:xfrm>
            <a:off x="4686300" y="3807451"/>
            <a:ext cx="4243388" cy="76438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6300" y="3807451"/>
            <a:ext cx="4243388" cy="76438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一次批量处理最多 1000 条数据，重复录入的工作从此大幅减少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214313" y="773311"/>
            <a:ext cx="11430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单次批量处理记录上限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14313" y="946156"/>
            <a:ext cx="821531" cy="4429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1000</a:t>
            </a:r>
            <a:endParaRPr lang="en-US" sz="2700" dirty="0"/>
          </a:p>
        </p:txBody>
      </p:sp>
      <p:sp>
        <p:nvSpPr>
          <p:cNvPr id="29" name="Text 26"/>
          <p:cNvSpPr/>
          <p:nvPr/>
        </p:nvSpPr>
        <p:spPr>
          <a:xfrm>
            <a:off x="1092994" y="1180505"/>
            <a:ext cx="557213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条 / 次提交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14313" y="1447614"/>
            <a:ext cx="42433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一次提交覆盖上千条数据的维护需求，日常台账级的增删改一轮完成。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14313" y="1660141"/>
            <a:ext cx="4243388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大批量数据整理从几小时缩到几分钟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4313" y="2077603"/>
            <a:ext cx="1950244" cy="2143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三类操作，同一能力批量完成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14313" y="2357996"/>
            <a:ext cx="400050" cy="278606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新增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00088" y="2357996"/>
            <a:ext cx="400050" cy="278606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修改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85862" y="2357996"/>
            <a:ext cx="400050" cy="278606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删除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14313" y="2691966"/>
            <a:ext cx="42433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导入新数据、修正旧数据、清理无效记录均可批量提交，无需分工具处理。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14313" y="2891991"/>
            <a:ext cx="42433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通过产品界面即可使用，无需编写代码。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14313" y="3381896"/>
            <a:ext cx="900113" cy="2143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典型适用场景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14313" y="3664074"/>
            <a:ext cx="121444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01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392906" y="3664074"/>
            <a:ext cx="16002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批量导入客户、商品等台账数据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14313" y="3878387"/>
            <a:ext cx="14287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02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14338" y="3878387"/>
            <a:ext cx="9144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批量修正错误信息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14313" y="4092699"/>
            <a:ext cx="142875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14338" y="4092699"/>
            <a:ext cx="12573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集中清理过期或无效记录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779169" y="866180"/>
            <a:ext cx="40576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处理 1000 条记录：操作次数对比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779169" y="3471528"/>
            <a:ext cx="4057650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口径：处理同一批 1000 条记录所需的提交次数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800600" y="3882517"/>
            <a:ext cx="4007644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客户场景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4800600" y="4152193"/>
            <a:ext cx="4007644" cy="3429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过去整理一批上千条的台账数据要逐条录入一整天；升级 v3.2 后，一次批量提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交即可完成新增、修改或删除。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数据来源：产品版本更新日志 v3.2；操作次数对比口径为处理同一批 1000 条记录所需的提交次数，客户场景基于该版本能力描述推导，非实际客户案例</a:t>
            </a:r>
            <a:endParaRPr lang="en-US" sz="700" dirty="0"/>
          </a:p>
        </p:txBody>
      </p:sp>
      <p:sp>
        <p:nvSpPr>
          <p:cNvPr id="65535" name="wm:hwcld:2026-09-22T15:18:02:12ebfcdb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2976"/>
            <a:ext cx="4243388" cy="12287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772976"/>
            <a:ext cx="4243388" cy="12287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313" y="2058237"/>
            <a:ext cx="4243388" cy="122872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4305" y="2502880"/>
            <a:ext cx="757237" cy="46434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5791" y="2502880"/>
            <a:ext cx="757237" cy="46434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57332" y="2502880"/>
            <a:ext cx="757237" cy="46434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68873" y="2502880"/>
            <a:ext cx="757237" cy="464344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80358" y="2502880"/>
            <a:ext cx="757237" cy="464344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4313" y="3343554"/>
            <a:ext cx="4243388" cy="122872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86300" y="772418"/>
            <a:ext cx="4243388" cy="355758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34816" y="4013002"/>
            <a:ext cx="3587691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34816" y="3477220"/>
            <a:ext cx="3587691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34816" y="2948583"/>
            <a:ext cx="3587691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34816" y="2419945"/>
            <a:ext cx="3587691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34816" y="1884164"/>
            <a:ext cx="3587691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34816" y="1355527"/>
            <a:ext cx="3587691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18310" y="1141928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下钻层级（层）</a:t>
            </a:r>
            <a:endParaRPr lang="en-US" sz="788" dirty="0"/>
          </a:p>
        </p:txBody>
      </p:sp>
      <p:sp>
        <p:nvSpPr>
          <p:cNvPr id="20" name="Shape 17"/>
          <p:cNvSpPr/>
          <p:nvPr/>
        </p:nvSpPr>
        <p:spPr>
          <a:xfrm>
            <a:off x="5034816" y="4013002"/>
            <a:ext cx="3587691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44767" y="394942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4644767" y="341792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4644767" y="288643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</a:t>
            </a:r>
            <a:endParaRPr lang="en-US" sz="788" dirty="0"/>
          </a:p>
        </p:txBody>
      </p:sp>
      <p:sp>
        <p:nvSpPr>
          <p:cNvPr id="24" name="Text 21"/>
          <p:cNvSpPr/>
          <p:nvPr/>
        </p:nvSpPr>
        <p:spPr>
          <a:xfrm>
            <a:off x="4644767" y="235493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3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644767" y="1823442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</a:t>
            </a:r>
            <a:endParaRPr lang="en-US" sz="788" dirty="0"/>
          </a:p>
        </p:txBody>
      </p:sp>
      <p:sp>
        <p:nvSpPr>
          <p:cNvPr id="26" name="Text 23"/>
          <p:cNvSpPr/>
          <p:nvPr/>
        </p:nvSpPr>
        <p:spPr>
          <a:xfrm>
            <a:off x="4644767" y="1291947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5</a:t>
            </a:r>
            <a:endParaRPr lang="en-US" sz="788" dirty="0"/>
          </a:p>
        </p:txBody>
      </p:sp>
      <p:sp>
        <p:nvSpPr>
          <p:cNvPr id="27" name="Text 24"/>
          <p:cNvSpPr/>
          <p:nvPr/>
        </p:nvSpPr>
        <p:spPr>
          <a:xfrm>
            <a:off x="4715158" y="4056578"/>
            <a:ext cx="243316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自定义维度下钻（v3.2 后）</a:t>
            </a:r>
            <a:endParaRPr lang="en-US" sz="788" dirty="0"/>
          </a:p>
        </p:txBody>
      </p:sp>
      <p:sp>
        <p:nvSpPr>
          <p:cNvPr id="28" name="Text 25"/>
          <p:cNvSpPr/>
          <p:nvPr/>
        </p:nvSpPr>
        <p:spPr>
          <a:xfrm>
            <a:off x="6584012" y="4056578"/>
            <a:ext cx="228314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传统固定报表（v3.2 前）</a:t>
            </a:r>
            <a:endParaRPr lang="en-US" sz="788" dirty="0"/>
          </a:p>
        </p:txBody>
      </p:sp>
      <p:sp>
        <p:nvSpPr>
          <p:cNvPr id="29" name="Shape 26"/>
          <p:cNvSpPr/>
          <p:nvPr/>
        </p:nvSpPr>
        <p:spPr>
          <a:xfrm>
            <a:off x="5528123" y="1351955"/>
            <a:ext cx="807230" cy="2657475"/>
          </a:xfrm>
          <a:custGeom>
            <a:avLst/>
            <a:gdLst/>
            <a:ahLst/>
            <a:cxnLst/>
            <a:rect l="l" t="t" r="r" b="b"/>
            <a:pathLst>
              <a:path w="807230" h="2657475">
                <a:moveTo>
                  <a:pt x="0" y="2657475"/>
                </a:moveTo>
                <a:lnTo>
                  <a:pt x="807230" y="2657475"/>
                </a:lnTo>
                <a:lnTo>
                  <a:pt x="807230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30" name="Shape 27"/>
          <p:cNvSpPr/>
          <p:nvPr/>
        </p:nvSpPr>
        <p:spPr>
          <a:xfrm>
            <a:off x="7321969" y="2946440"/>
            <a:ext cx="807230" cy="1062990"/>
          </a:xfrm>
          <a:custGeom>
            <a:avLst/>
            <a:gdLst/>
            <a:ahLst/>
            <a:cxnLst/>
            <a:rect l="l" t="t" r="r" b="b"/>
            <a:pathLst>
              <a:path w="807230" h="1062990">
                <a:moveTo>
                  <a:pt x="0" y="1062990"/>
                </a:moveTo>
                <a:lnTo>
                  <a:pt x="807230" y="1062990"/>
                </a:lnTo>
                <a:lnTo>
                  <a:pt x="807230" y="0"/>
                </a:lnTo>
                <a:lnTo>
                  <a:pt x="0" y="0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31" name="Text 28"/>
          <p:cNvSpPr/>
          <p:nvPr/>
        </p:nvSpPr>
        <p:spPr>
          <a:xfrm>
            <a:off x="5743858" y="1174790"/>
            <a:ext cx="375761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5</a:t>
            </a:r>
            <a:endParaRPr lang="en-US" sz="1013" dirty="0"/>
          </a:p>
        </p:txBody>
      </p:sp>
      <p:sp>
        <p:nvSpPr>
          <p:cNvPr id="32" name="Text 29"/>
          <p:cNvSpPr/>
          <p:nvPr/>
        </p:nvSpPr>
        <p:spPr>
          <a:xfrm>
            <a:off x="7537703" y="2769275"/>
            <a:ext cx="375761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</a:t>
            </a:r>
            <a:endParaRPr lang="en-US" sz="1013" dirty="0"/>
          </a:p>
        </p:txBody>
      </p:sp>
      <p:sp>
        <p:nvSpPr>
          <p:cNvPr id="33" name="Text 30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报表可以层层往下钻取最多 5 层，异常数字背后的原因一眼看清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328613" y="850106"/>
            <a:ext cx="4007644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报表模块新增能力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28613" y="1091208"/>
            <a:ext cx="4007644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自定义维度下钻 · Custom Dimension Drill-down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28613" y="1264053"/>
            <a:ext cx="1393031" cy="4429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最多 5 层</a:t>
            </a:r>
            <a:endParaRPr lang="en-US" sz="2700" dirty="0"/>
          </a:p>
        </p:txBody>
      </p:sp>
      <p:sp>
        <p:nvSpPr>
          <p:cNvPr id="37" name="Text 34"/>
          <p:cNvSpPr/>
          <p:nvPr/>
        </p:nvSpPr>
        <p:spPr>
          <a:xfrm>
            <a:off x="1778794" y="1498402"/>
            <a:ext cx="6858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下钻深度上限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28613" y="1751223"/>
            <a:ext cx="4007644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从汇总数字逐层展开到明细，逐级定位异常数字背后的原因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35756" y="2190341"/>
            <a:ext cx="40005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逐层下钻路径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41449" y="2567174"/>
            <a:ext cx="7429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第1层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41449" y="2752911"/>
            <a:ext cx="7429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总量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1152934" y="2567174"/>
            <a:ext cx="7429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第2层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52934" y="2752911"/>
            <a:ext cx="7429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大区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964475" y="2567174"/>
            <a:ext cx="7429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第3层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964475" y="2752911"/>
            <a:ext cx="7429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分公司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776017" y="2567174"/>
            <a:ext cx="7429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第4层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2776017" y="2752911"/>
            <a:ext cx="7429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产品线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3587502" y="2567174"/>
            <a:ext cx="7429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第5层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3587502" y="2752911"/>
            <a:ext cx="74295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单品/明细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335756" y="3024374"/>
            <a:ext cx="4000500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层级为示意，具体下钻维度由用户按业务结构自定义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335756" y="3414936"/>
            <a:ext cx="40005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业务用户自助排查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335756" y="3698900"/>
            <a:ext cx="400050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维度自定义</a:t>
            </a:r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：按区域、渠道、品类等业务结构自行选择组合，适配不同企业的数据口径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无需取数</a:t>
            </a:r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：不写 SQL、不依赖数据团队，看到异常直接在报表上层层点开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同表闭环</a:t>
            </a:r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：发现异常与解释异常在同一张报表内完成，省去导出与取数多轮往返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779169" y="866180"/>
            <a:ext cx="40576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下钻层级对比：v3.2 前后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686300" y="4443413"/>
            <a:ext cx="424338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注：传统固定报表层级通常为 1–2 层，图中取 2 层示意；左列为素材事实，右列为定性对照。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来源：版本更新日志 v3.2（"[New] 报表模块新增自定义维度下钻，支持最多5层"）；层级与维度示例为用户素材描述，无外部来源验证</a:t>
            </a:r>
            <a:endParaRPr lang="en-US" sz="700" dirty="0"/>
          </a:p>
        </p:txBody>
      </p:sp>
      <p:sp>
        <p:nvSpPr>
          <p:cNvPr id="65535" name="wm:hwcld:2026-09-22T15:18:02:12ebfcdb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3032"/>
            <a:ext cx="4243388" cy="1071563"/>
          </a:xfrm>
          <a:prstGeom prst="rect">
            <a:avLst/>
          </a:prstGeom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313" y="1958225"/>
            <a:ext cx="4243388" cy="1428750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1456" y="2433284"/>
            <a:ext cx="4229100" cy="471488"/>
          </a:xfrm>
          <a:prstGeom prst="rect">
            <a:avLst/>
          </a:prstGeom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456" y="2433284"/>
            <a:ext cx="4229100" cy="471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1456" y="2906892"/>
            <a:ext cx="4229100" cy="471488"/>
          </a:xfrm>
          <a:prstGeom prst="rect">
            <a:avLst/>
          </a:prstGeom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456" y="2906892"/>
            <a:ext cx="4229100" cy="4714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4313" y="3500605"/>
            <a:ext cx="4243388" cy="107156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86300" y="772418"/>
            <a:ext cx="4243388" cy="38004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236369" y="4141589"/>
            <a:ext cx="337185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236369" y="3612952"/>
            <a:ext cx="337185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236369" y="3084314"/>
            <a:ext cx="337185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36369" y="2555677"/>
            <a:ext cx="337185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36369" y="2027039"/>
            <a:ext cx="337185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236369" y="1498402"/>
            <a:ext cx="337185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94835" y="1281232"/>
            <a:ext cx="168306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渲染耗时（相对水平）</a:t>
            </a:r>
            <a:endParaRPr lang="en-US" sz="788" dirty="0"/>
          </a:p>
        </p:txBody>
      </p:sp>
      <p:sp>
        <p:nvSpPr>
          <p:cNvPr id="18" name="Shape 14"/>
          <p:cNvSpPr/>
          <p:nvPr/>
        </p:nvSpPr>
        <p:spPr>
          <a:xfrm>
            <a:off x="5236369" y="4141589"/>
            <a:ext cx="337185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96301" y="4078010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0%</a:t>
            </a:r>
            <a:endParaRPr lang="en-US" sz="788" dirty="0"/>
          </a:p>
        </p:txBody>
      </p:sp>
      <p:sp>
        <p:nvSpPr>
          <p:cNvPr id="20" name="Text 16"/>
          <p:cNvSpPr/>
          <p:nvPr/>
        </p:nvSpPr>
        <p:spPr>
          <a:xfrm>
            <a:off x="4546282" y="3549372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20%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4546282" y="3020735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40%</a:t>
            </a:r>
            <a:endParaRPr lang="en-US" sz="788" dirty="0"/>
          </a:p>
        </p:txBody>
      </p:sp>
      <p:sp>
        <p:nvSpPr>
          <p:cNvPr id="22" name="Text 18"/>
          <p:cNvSpPr/>
          <p:nvPr/>
        </p:nvSpPr>
        <p:spPr>
          <a:xfrm>
            <a:off x="4546282" y="2492097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60%</a:t>
            </a:r>
            <a:endParaRPr lang="en-US" sz="788" dirty="0"/>
          </a:p>
        </p:txBody>
      </p:sp>
      <p:sp>
        <p:nvSpPr>
          <p:cNvPr id="23" name="Text 19"/>
          <p:cNvSpPr/>
          <p:nvPr/>
        </p:nvSpPr>
        <p:spPr>
          <a:xfrm>
            <a:off x="4546282" y="1963460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80%</a:t>
            </a:r>
            <a:endParaRPr lang="en-US" sz="788" dirty="0"/>
          </a:p>
        </p:txBody>
      </p:sp>
      <p:sp>
        <p:nvSpPr>
          <p:cNvPr id="24" name="Text 20"/>
          <p:cNvSpPr/>
          <p:nvPr/>
        </p:nvSpPr>
        <p:spPr>
          <a:xfrm>
            <a:off x="4396264" y="1434822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100%</a:t>
            </a:r>
            <a:endParaRPr lang="en-US" sz="788" dirty="0"/>
          </a:p>
        </p:txBody>
      </p:sp>
      <p:sp>
        <p:nvSpPr>
          <p:cNvPr id="25" name="Text 21"/>
          <p:cNvSpPr/>
          <p:nvPr/>
        </p:nvSpPr>
        <p:spPr>
          <a:xfrm>
            <a:off x="5023485" y="4184452"/>
            <a:ext cx="211169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优化前（v3.2 之前）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6950512" y="4184452"/>
            <a:ext cx="162948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优化后（v3.2）</a:t>
            </a:r>
            <a:endParaRPr lang="en-US" sz="844" dirty="0"/>
          </a:p>
        </p:txBody>
      </p:sp>
      <p:sp>
        <p:nvSpPr>
          <p:cNvPr id="27" name="Shape 23"/>
          <p:cNvSpPr/>
          <p:nvPr/>
        </p:nvSpPr>
        <p:spPr>
          <a:xfrm>
            <a:off x="5736431" y="1494830"/>
            <a:ext cx="685800" cy="2643188"/>
          </a:xfrm>
          <a:custGeom>
            <a:avLst/>
            <a:gdLst/>
            <a:ahLst/>
            <a:cxnLst/>
            <a:rect l="l" t="t" r="r" b="b"/>
            <a:pathLst>
              <a:path w="685800" h="2643188">
                <a:moveTo>
                  <a:pt x="0" y="2643188"/>
                </a:moveTo>
                <a:lnTo>
                  <a:pt x="685800" y="2643188"/>
                </a:lnTo>
                <a:lnTo>
                  <a:pt x="685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55757"/>
          </a:solidFill>
          <a:ln/>
        </p:spPr>
      </p:sp>
      <p:sp>
        <p:nvSpPr>
          <p:cNvPr id="28" name="Shape 24"/>
          <p:cNvSpPr/>
          <p:nvPr/>
        </p:nvSpPr>
        <p:spPr>
          <a:xfrm>
            <a:off x="7422356" y="2552105"/>
            <a:ext cx="685800" cy="1585913"/>
          </a:xfrm>
          <a:custGeom>
            <a:avLst/>
            <a:gdLst/>
            <a:ahLst/>
            <a:cxnLst/>
            <a:rect l="l" t="t" r="r" b="b"/>
            <a:pathLst>
              <a:path w="685800" h="1585913">
                <a:moveTo>
                  <a:pt x="0" y="1585913"/>
                </a:moveTo>
                <a:lnTo>
                  <a:pt x="685800" y="1585913"/>
                </a:lnTo>
                <a:lnTo>
                  <a:pt x="685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33941"/>
          </a:solidFill>
          <a:ln/>
        </p:spPr>
      </p:sp>
      <p:sp>
        <p:nvSpPr>
          <p:cNvPr id="29" name="Text 25"/>
          <p:cNvSpPr/>
          <p:nvPr/>
        </p:nvSpPr>
        <p:spPr>
          <a:xfrm>
            <a:off x="5602129" y="1317665"/>
            <a:ext cx="95440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100%</a:t>
            </a:r>
            <a:endParaRPr lang="en-US" sz="1013" dirty="0"/>
          </a:p>
        </p:txBody>
      </p:sp>
      <p:sp>
        <p:nvSpPr>
          <p:cNvPr id="30" name="Text 26"/>
          <p:cNvSpPr/>
          <p:nvPr/>
        </p:nvSpPr>
        <p:spPr>
          <a:xfrm>
            <a:off x="7384494" y="2374940"/>
            <a:ext cx="761524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60%</a:t>
            </a:r>
            <a:endParaRPr lang="en-US" sz="1013" dirty="0"/>
          </a:p>
        </p:txBody>
      </p:sp>
      <p:sp>
        <p:nvSpPr>
          <p:cNvPr id="31" name="Text 27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数据量再大，列表打开也快了近一半，等页面转圈的烦恼少了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221456" y="780455"/>
            <a:ext cx="1350169" cy="2143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列表页首屏加载提速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221456" y="1006878"/>
            <a:ext cx="1107281" cy="4429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↓40%</a:t>
            </a:r>
            <a:endParaRPr lang="en-US" sz="2700" dirty="0"/>
          </a:p>
        </p:txBody>
      </p:sp>
      <p:sp>
        <p:nvSpPr>
          <p:cNvPr id="34" name="Text 30"/>
          <p:cNvSpPr/>
          <p:nvPr/>
        </p:nvSpPr>
        <p:spPr>
          <a:xfrm>
            <a:off x="1414463" y="1241227"/>
            <a:ext cx="12573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大数据量下渲染耗时降幅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221456" y="1494048"/>
            <a:ext cx="42291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优化后渲染耗时约为优化前的 60%，"快了近一半"有明确数据支撑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307181" y="2084636"/>
            <a:ext cx="164306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01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57213" y="2006054"/>
            <a:ext cx="3128963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优化锁定"首屏加载"：点开列表后第一屏呈现的速度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557213" y="2220813"/>
            <a:ext cx="3128963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这直接决定业务用户对"快不快"的第一印象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07181" y="2558244"/>
            <a:ext cx="178594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02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71500" y="2479663"/>
            <a:ext cx="2035969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属于体验升级，不用学任何新操作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571500" y="2694422"/>
            <a:ext cx="2035969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对既有列表页的性能打磨，打开即受益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307181" y="3031852"/>
            <a:ext cx="178594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03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71500" y="2953271"/>
            <a:ext cx="2628900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收益人群：日常使用列表页的业务用户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571500" y="3168030"/>
            <a:ext cx="26289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打开次数越多、数据量越大，累计节省的等待越可观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307181" y="3599669"/>
            <a:ext cx="9286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大数据量列表页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307181" y="3900599"/>
            <a:ext cx="4057650" cy="3714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数据规模越大，优化效果越显性，长清单、厚台账类业务受益最明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显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307181" y="4301542"/>
            <a:ext cx="405765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从"点开"到"看到数据"的空档期明显变短，减少反复刷新或干等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4779169" y="866180"/>
            <a:ext cx="405765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大数据量下列表页渲染耗时对比（以优化前为基准 100%）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数据来源：版本更新日志 v3.2——[Optimize] 列表页首屏加载性能优化，大数据量下渲染耗时降低约 40%；优化后约 60% 的相对水平由该降幅推算。</a:t>
            </a:r>
            <a:endParaRPr lang="en-US" sz="700" dirty="0"/>
          </a:p>
        </p:txBody>
      </p:sp>
      <p:sp>
        <p:nvSpPr>
          <p:cNvPr id="65535" name="wm:hwcld:2026-09-22T15:18:02:12ebfcdb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1525"/>
            <a:ext cx="4243388" cy="1971675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5756" y="1148358"/>
            <a:ext cx="4000500" cy="257175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335756" y="1405533"/>
            <a:ext cx="4000500" cy="414338"/>
          </a:xfrm>
          <a:prstGeom prst="rect">
            <a:avLst/>
          </a:prstGeom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756" y="1405533"/>
            <a:ext cx="4000500" cy="4143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5756" y="1819870"/>
            <a:ext cx="4000500" cy="414338"/>
          </a:xfrm>
          <a:prstGeom prst="rect">
            <a:avLst/>
          </a:prstGeom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756" y="1819870"/>
            <a:ext cx="4000500" cy="41433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5756" y="2234208"/>
            <a:ext cx="4000500" cy="414338"/>
          </a:xfrm>
          <a:prstGeom prst="rect">
            <a:avLst/>
          </a:prstGeom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756" y="2234208"/>
            <a:ext cx="4000500" cy="41433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4313" y="2853928"/>
            <a:ext cx="4243388" cy="110013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686300" y="773311"/>
            <a:ext cx="4243388" cy="1357313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807744" y="1148358"/>
            <a:ext cx="4000500" cy="257175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14" name="Shape 9"/>
          <p:cNvSpPr/>
          <p:nvPr/>
        </p:nvSpPr>
        <p:spPr>
          <a:xfrm>
            <a:off x="4807744" y="1403747"/>
            <a:ext cx="4000500" cy="214313"/>
          </a:xfrm>
          <a:prstGeom prst="rect">
            <a:avLst/>
          </a:prstGeom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7744" y="1403747"/>
            <a:ext cx="4000500" cy="214313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807744" y="1614488"/>
            <a:ext cx="4000500" cy="214313"/>
          </a:xfrm>
          <a:prstGeom prst="rect">
            <a:avLst/>
          </a:prstGeom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7744" y="1614488"/>
            <a:ext cx="4000500" cy="214313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807744" y="1825228"/>
            <a:ext cx="4000500" cy="214313"/>
          </a:xfrm>
          <a:prstGeom prst="rect">
            <a:avLst/>
          </a:prstGeom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7744" y="1825228"/>
            <a:ext cx="4000500" cy="214313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686300" y="2244923"/>
            <a:ext cx="4243388" cy="107870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谁能看到哪个字段都能精细管控，敏感信息不再"全员可见"</a:t>
            </a:r>
            <a:endParaRPr lang="en-US" sz="2000" dirty="0"/>
          </a:p>
        </p:txBody>
      </p:sp>
      <p:sp>
        <p:nvSpPr>
          <p:cNvPr id="22" name="Text 14"/>
          <p:cNvSpPr/>
          <p:nvPr/>
        </p:nvSpPr>
        <p:spPr>
          <a:xfrm>
            <a:off x="335756" y="864394"/>
            <a:ext cx="4000500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升级前后对比：从"模块级"到"字段级"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335756" y="1148358"/>
            <a:ext cx="1214438" cy="257175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对比维度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550194" y="1148358"/>
            <a:ext cx="1393031" cy="257175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升级前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2943225" y="1148358"/>
            <a:ext cx="1393031" cy="257175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升级后（v3.2）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335756" y="1512689"/>
            <a:ext cx="1214438" cy="207169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权限粒度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550194" y="1512689"/>
            <a:ext cx="1393031" cy="207169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模块/页面级为主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2943225" y="1412677"/>
            <a:ext cx="1393031" cy="407194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字段级，单字段可见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性可控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335756" y="1927027"/>
            <a:ext cx="1214438" cy="207169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敏感字段可见性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550194" y="1827014"/>
            <a:ext cx="1393031" cy="407194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进入页面即可见整条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记录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2943225" y="1827014"/>
            <a:ext cx="1393031" cy="407194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按角色控制，未授权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不可见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335756" y="2341364"/>
            <a:ext cx="1214438" cy="207169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管理方式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550194" y="2341364"/>
            <a:ext cx="1393031" cy="207169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粗放授权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2943225" y="2241352"/>
            <a:ext cx="1393031" cy="407194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按角色配置字段可见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范围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35756" y="2948583"/>
            <a:ext cx="8143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权限管理升级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207294" y="2948583"/>
            <a:ext cx="700088" cy="242888"/>
          </a:xfrm>
          <a:prstGeom prst="rect">
            <a:avLst/>
          </a:prstGeom>
          <a:solidFill>
            <a:srgbClr val="F5F5F5"/>
          </a:solidFill>
          <a:ln w="6191">
            <a:solidFill>
              <a:srgbClr val="B5B5B5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字段级权限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335756" y="3246834"/>
            <a:ext cx="4000500" cy="6143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不再只是"谁能进哪个模块"，而是"谁能看到哪个字段"：手机号、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价格、合同金额等具体字段可单独控制可见性；底层架构焕新，使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用体验更简单。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4807744" y="864394"/>
            <a:ext cx="4000500" cy="22860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谁能看到哪个字段——典型角色示例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4807744" y="1148358"/>
            <a:ext cx="1357313" cy="257175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敏感字段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166228" y="1148358"/>
            <a:ext cx="878681" cy="257175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销售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7047254" y="1148358"/>
            <a:ext cx="878681" cy="257175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财务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928279" y="1148358"/>
            <a:ext cx="878681" cy="257175"/>
          </a:xfrm>
          <a:prstGeom prst="rect">
            <a:avLst/>
          </a:prstGeom>
          <a:ln/>
        </p:spPr>
        <p:txBody>
          <a:bodyPr wrap="none" lIns="48578" tIns="36433" rIns="48578" bIns="36433" rtlCol="0" anchor="t">
            <a:no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管理员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4807744" y="1410891"/>
            <a:ext cx="1357313" cy="207169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手机号（联系方式）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6166228" y="1410891"/>
            <a:ext cx="8786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2B23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7047254" y="1410891"/>
            <a:ext cx="8786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不可见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7928279" y="1410891"/>
            <a:ext cx="8786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按需配置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4807744" y="1621631"/>
            <a:ext cx="1357313" cy="207169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价格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6166228" y="1621631"/>
            <a:ext cx="8786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不可见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7047254" y="1621631"/>
            <a:ext cx="8786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2B23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7928279" y="1621631"/>
            <a:ext cx="8786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按需配置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4807744" y="1832372"/>
            <a:ext cx="1357313" cy="207169"/>
          </a:xfrm>
          <a:prstGeom prst="rect">
            <a:avLst/>
          </a:prstGeom>
          <a:ln/>
        </p:spPr>
        <p:txBody>
          <a:bodyPr wrap="none" lIns="48578" tIns="0" rIns="48578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合同金额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6166228" y="1832372"/>
            <a:ext cx="8786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不可见</a:t>
            </a:r>
            <a:endParaRPr lang="en-US" sz="1000" dirty="0"/>
          </a:p>
        </p:txBody>
      </p:sp>
      <p:sp>
        <p:nvSpPr>
          <p:cNvPr id="53" name="Text 45"/>
          <p:cNvSpPr/>
          <p:nvPr/>
        </p:nvSpPr>
        <p:spPr>
          <a:xfrm>
            <a:off x="7047254" y="1832372"/>
            <a:ext cx="8786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2B23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可见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7928279" y="1832372"/>
            <a:ext cx="8786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按需配置</a:t>
            </a:r>
            <a:endParaRPr lang="en-US" sz="1000" dirty="0"/>
          </a:p>
        </p:txBody>
      </p:sp>
      <p:sp>
        <p:nvSpPr>
          <p:cNvPr id="55" name="Text 47"/>
          <p:cNvSpPr/>
          <p:nvPr/>
        </p:nvSpPr>
        <p:spPr>
          <a:xfrm>
            <a:off x="4807744" y="2336006"/>
            <a:ext cx="400050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敏感信息不再"全员可见"</a:t>
            </a:r>
            <a:endParaRPr lang="en-US" sz="1100" dirty="0"/>
          </a:p>
        </p:txBody>
      </p:sp>
      <p:sp>
        <p:nvSpPr>
          <p:cNvPr id="56" name="Text 48"/>
          <p:cNvSpPr/>
          <p:nvPr/>
        </p:nvSpPr>
        <p:spPr>
          <a:xfrm>
            <a:off x="4807744" y="2618184"/>
            <a:ext cx="4000500" cy="6143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未获授权的角色打开同一页面，敏感字段对其不可见，从源头缩小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敏感数据暴露面；可见范围收窄有助于落实最小权限原则，满足数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据安全管理与审计要求。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来源：版本更新日志 v3.2。注：角色示例为基于字段级权限能力的典型演示场景，供举例使用；合规价值为基于升级能力的通用推断。</a:t>
            </a:r>
            <a:endParaRPr lang="en-US" sz="700" dirty="0"/>
          </a:p>
        </p:txBody>
      </p:sp>
      <p:sp>
        <p:nvSpPr>
          <p:cNvPr id="65535" name="wm:hwcld:2026-09-22T15:18:02:12ebfcdb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3311"/>
            <a:ext cx="8715375" cy="814388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456" y="780455"/>
            <a:ext cx="785813" cy="80010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6779419" y="780455"/>
            <a:ext cx="2143125" cy="800100"/>
          </a:xfrm>
          <a:prstGeom prst="rect">
            <a:avLst/>
          </a:prstGeom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79419" y="780455"/>
            <a:ext cx="2143125" cy="800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4313" y="1701105"/>
            <a:ext cx="4243388" cy="1907381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1456" y="1709142"/>
            <a:ext cx="4229100" cy="392906"/>
          </a:xfrm>
          <a:prstGeom prst="rect">
            <a:avLst/>
          </a:prstGeom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456" y="1709142"/>
            <a:ext cx="4229100" cy="39290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86300" y="1701105"/>
            <a:ext cx="4243388" cy="1907381"/>
          </a:xfrm>
          <a:prstGeom prst="rect">
            <a:avLst/>
          </a:prstGeom>
          <a:solidFill>
            <a:srgbClr val="FFFFFF"/>
          </a:solidFill>
          <a:ln w="6191">
            <a:solidFill>
              <a:srgbClr val="D3394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93444" y="1709142"/>
            <a:ext cx="4229100" cy="392906"/>
          </a:xfrm>
          <a:prstGeom prst="rect">
            <a:avLst/>
          </a:prstGeom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3444" y="1709142"/>
            <a:ext cx="4229100" cy="39290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14313" y="3721894"/>
            <a:ext cx="8715375" cy="850106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导出大表不再担心丢数据，10 万行以上的 Excel 也能完整到手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307181" y="864394"/>
            <a:ext cx="700088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已修复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07181" y="1323380"/>
            <a:ext cx="7000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 版本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1569" y="850106"/>
            <a:ext cx="5543550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版本日志原文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21569" y="1103709"/>
            <a:ext cx="5543550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「[Fix] 修复了导出 Excel 时超过 10 万行偶发丢数据的问题」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1569" y="1337667"/>
            <a:ext cx="554355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该缺陷随 v3.2 发布正式关闭，无需客户做任何额外配置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900863" y="851836"/>
            <a:ext cx="1585913" cy="442912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100,000+</a:t>
            </a:r>
            <a:endParaRPr lang="en-US" sz="2700" dirty="0"/>
          </a:p>
        </p:txBody>
      </p:sp>
      <p:sp>
        <p:nvSpPr>
          <p:cNvPr id="21" name="Text 16"/>
          <p:cNvSpPr/>
          <p:nvPr/>
        </p:nvSpPr>
        <p:spPr>
          <a:xfrm>
            <a:off x="8543925" y="1086185"/>
            <a:ext cx="1143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行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900863" y="1339007"/>
            <a:ext cx="1907381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修复覆盖的导出量级下限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35756" y="1787723"/>
            <a:ext cx="124301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修复前 · v3.2 之前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664494" y="1780580"/>
            <a:ext cx="585788" cy="242888"/>
          </a:xfrm>
          <a:prstGeom prst="rect">
            <a:avLst/>
          </a:prstGeom>
          <a:solidFill>
            <a:srgbClr val="FFFFFF"/>
          </a:solidFill>
          <a:ln w="6191">
            <a:solidFill>
              <a:srgbClr val="B5B5B5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偶发风险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35756" y="2181523"/>
            <a:ext cx="96440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超 10 万行导出结果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35756" y="2365474"/>
            <a:ext cx="4000500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偶发丢数据，文件"看起来正常但少了数据"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35756" y="2656582"/>
            <a:ext cx="9144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交数前的人工核对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35756" y="2840534"/>
            <a:ext cx="4000500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需抽查核对、反复确认行数，提心吊胆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35756" y="3131641"/>
            <a:ext cx="6858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问题可预期性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335756" y="3315593"/>
            <a:ext cx="4000500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偶发、难以提前发现，下游对账汇报数字出错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807744" y="1787723"/>
            <a:ext cx="1092994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修复后 · v3.2 起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986463" y="1780580"/>
            <a:ext cx="8143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数据完整到手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807744" y="2181523"/>
            <a:ext cx="96440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超 10 万行导出结果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807744" y="2365474"/>
            <a:ext cx="4000500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数据完整到手，这一量级的大表导出不再偶发丢行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807744" y="2656582"/>
            <a:ext cx="9144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交数前的人工核对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807744" y="2840534"/>
            <a:ext cx="4000500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可放心直接使用，无需再反复核对行数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807744" y="3131641"/>
            <a:ext cx="685800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问题可预期性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4807744" y="3315593"/>
            <a:ext cx="4000500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该缺陷已消除，导出完整性有版本级保障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335756" y="3807619"/>
            <a:ext cx="2100263" cy="22860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典型场景 · 月底对账与汇报交数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2521744" y="3800475"/>
            <a:ext cx="700088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更稳更省心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335756" y="4086225"/>
            <a:ext cx="8472488" cy="4071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每月月底导出超 10 万行明细大表做对账与汇报交数：修复前导出的文件可能"看起来正常但偶发少了数据"，交数前不得不反复核对行数；v3.2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 修复后导出结果完整可靠，交出去的数字不再缺行，隐性返工成本随之消除。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数据来源：版本更新日志 v3.2；修复覆盖量级为超过 10 万行的 Excel 导出，问题发生频率为偶发（非必现）。</a:t>
            </a:r>
            <a:endParaRPr lang="en-US" sz="700" dirty="0"/>
          </a:p>
        </p:txBody>
      </p:sp>
      <p:sp>
        <p:nvSpPr>
          <p:cNvPr id="65535" name="wm:hwcld:2026-09-22T15:18:02:12ebfcdb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773311"/>
            <a:ext cx="8715375" cy="428625"/>
          </a:xfrm>
          <a:prstGeom prst="rect">
            <a:avLst/>
          </a:prstGeom>
          <a:solidFill>
            <a:srgbClr val="F5F5F5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5485" y="1560909"/>
            <a:ext cx="4986338" cy="1464469"/>
          </a:xfrm>
          <a:prstGeom prst="rect">
            <a:avLst/>
          </a:prstGeom>
          <a:solidFill>
            <a:srgbClr val="FFFFFF"/>
          </a:solidFill>
          <a:ln w="6191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2628" y="1568053"/>
            <a:ext cx="4972050" cy="2857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6" name="Shape 4"/>
          <p:cNvSpPr/>
          <p:nvPr/>
        </p:nvSpPr>
        <p:spPr>
          <a:xfrm>
            <a:off x="222628" y="1910953"/>
            <a:ext cx="4972050" cy="350044"/>
          </a:xfrm>
          <a:prstGeom prst="rect">
            <a:avLst/>
          </a:prstGeom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2628" y="1910953"/>
            <a:ext cx="4972050" cy="3500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2628" y="2260997"/>
            <a:ext cx="4972050" cy="350044"/>
          </a:xfrm>
          <a:prstGeom prst="rect">
            <a:avLst/>
          </a:prstGeom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628" y="2260997"/>
            <a:ext cx="4972050" cy="3500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2628" y="2611041"/>
            <a:ext cx="4972050" cy="350044"/>
          </a:xfrm>
          <a:prstGeom prst="rect">
            <a:avLst/>
          </a:prstGeom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2628" y="2611041"/>
            <a:ext cx="4972050" cy="3500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30422" y="1561802"/>
            <a:ext cx="3500437" cy="7000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30422" y="1561802"/>
            <a:ext cx="3500437" cy="70008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30422" y="2377976"/>
            <a:ext cx="3500437" cy="7000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30422" y="2377976"/>
            <a:ext cx="3500437" cy="70008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430422" y="3194149"/>
            <a:ext cx="3500437" cy="70008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30422" y="3194149"/>
            <a:ext cx="3500437" cy="7000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4313" y="329505"/>
            <a:ext cx="8715375" cy="3286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日期显示错位问题已修复，各浏览器上填写表单都整齐准确</a:t>
            </a:r>
            <a:endParaRPr lang="en-US" sz="2000" dirty="0"/>
          </a:p>
        </p:txBody>
      </p:sp>
      <p:sp>
        <p:nvSpPr>
          <p:cNvPr id="19" name="Text 11"/>
          <p:cNvSpPr/>
          <p:nvPr/>
        </p:nvSpPr>
        <p:spPr>
          <a:xfrm>
            <a:off x="335756" y="866180"/>
            <a:ext cx="942975" cy="242888"/>
          </a:xfrm>
          <a:prstGeom prst="rect">
            <a:avLst/>
          </a:prstGeom>
          <a:solidFill>
            <a:srgbClr val="FFF1EF"/>
          </a:solidFill>
          <a:ln w="6191">
            <a:solidFill>
              <a:srgbClr val="D33941"/>
            </a:solidFill>
            <a:prstDash val="solid"/>
          </a:ln>
        </p:spPr>
        <p:txBody>
          <a:bodyPr wrap="none" lIns="48578" tIns="24289" rIns="48578" bIns="24289" rtlCol="0" anchor="ctr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 · 问题修复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1393031" y="884039"/>
            <a:ext cx="7193756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更新记录：</a:t>
            </a:r>
            <a:pPr algn="l" indent="0" marL="0">
              <a:buNone/>
            </a:pPr>
            <a:r>
              <a:rPr lang="en-US" sz="10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修复了部分浏览器下日期控件显示错位</a:t>
            </a:r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——填写日期的选择框从此在各类浏览器上整齐、准确地展示。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215485" y="1317129"/>
            <a:ext cx="4986338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修复前后的变化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307181" y="1625203"/>
            <a:ext cx="9286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对比维度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236427" y="1625203"/>
            <a:ext cx="19359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修复前（v3.2 之前）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3173555" y="1625203"/>
            <a:ext cx="1935956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修复后（v3.2）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307181" y="2003822"/>
            <a:ext cx="9286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日期选择框显示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236427" y="2010966"/>
            <a:ext cx="1935956" cy="157163"/>
          </a:xfrm>
          <a:prstGeom prst="rect">
            <a:avLst/>
          </a:prstGeom>
          <a:ln/>
        </p:spPr>
        <p:txBody>
          <a:bodyPr wrap="none" lIns="48578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部分浏览器下显示错位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3173555" y="2010966"/>
            <a:ext cx="1935956" cy="157163"/>
          </a:xfrm>
          <a:prstGeom prst="rect">
            <a:avLst/>
          </a:prstGeom>
          <a:ln/>
        </p:spPr>
        <p:txBody>
          <a:bodyPr wrap="none" lIns="48578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各浏览器上整齐、准确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307181" y="2353866"/>
            <a:ext cx="9286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客户填写结果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236427" y="2361009"/>
            <a:ext cx="1935956" cy="157163"/>
          </a:xfrm>
          <a:prstGeom prst="rect">
            <a:avLst/>
          </a:prstGeom>
          <a:ln/>
        </p:spPr>
        <p:txBody>
          <a:bodyPr wrap="none" lIns="48578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易因界面错位看错、填错日期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3173555" y="2361009"/>
            <a:ext cx="1935956" cy="157163"/>
          </a:xfrm>
          <a:prstGeom prst="rect">
            <a:avLst/>
          </a:prstGeom>
          <a:ln/>
        </p:spPr>
        <p:txBody>
          <a:bodyPr wrap="none" lIns="48578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日期展示准确，不再填错日子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307181" y="2703909"/>
            <a:ext cx="928688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浏览器选择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236427" y="2711053"/>
            <a:ext cx="1935956" cy="157163"/>
          </a:xfrm>
          <a:prstGeom prst="rect">
            <a:avLst/>
          </a:prstGeom>
          <a:ln/>
        </p:spPr>
        <p:txBody>
          <a:bodyPr wrap="none" lIns="48578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需更换浏览器规避错位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3173555" y="2711053"/>
            <a:ext cx="1935956" cy="157163"/>
          </a:xfrm>
          <a:prstGeom prst="rect">
            <a:avLst/>
          </a:prstGeom>
          <a:ln/>
        </p:spPr>
        <p:txBody>
          <a:bodyPr wrap="none" lIns="48578" tIns="0" rIns="48578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惯用浏览器即可正常填写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215485" y="3068241"/>
            <a:ext cx="4986338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影响范围：仅部分浏览器曾出现错位，并非所有环境都受影响；修复后原本错位的浏览器也恢复正常。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5430422" y="1317129"/>
            <a:ext cx="3500437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客户直接收益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544722" y="1640384"/>
            <a:ext cx="3293269" cy="1857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日期显示整齐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544722" y="1869877"/>
            <a:ext cx="3293269" cy="3143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修复后，填写日期的选择框在各浏览器上的位置与排版统一、整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齐，客户看到的是规整的表单界面。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5544722" y="2456557"/>
            <a:ext cx="3293269" cy="1857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日期填写准确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5544722" y="2686050"/>
            <a:ext cx="3293269" cy="3143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显示错位容易导致看错、选错日期；修复后日期展示准确，排期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和截止日期不再出错，减少改单与沟通成本。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5544722" y="3272730"/>
            <a:ext cx="3293269" cy="1857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填写体验更省心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5544722" y="3502223"/>
            <a:ext cx="3293269" cy="31432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无需再刻意更换浏览器来规避错位问题，使用惯用的浏览器即可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顺利完成日期填写。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214313" y="4686300"/>
            <a:ext cx="8715375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数据来源：产品 v3.2 版本更新日志（[Fix] 修复了部分浏览器下日期控件显示错位）。本页为问题修复说明，素材未提供趋势类数值数据，故以定性对比呈现。</a:t>
            </a:r>
            <a:endParaRPr lang="en-US" sz="700" dirty="0"/>
          </a:p>
        </p:txBody>
      </p:sp>
      <p:sp>
        <p:nvSpPr>
          <p:cNvPr id="65535" name="wm:hwcld:2026-09-22T15:18:02:12ebfcdb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271462"/>
            <a:ext cx="42863" cy="1714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1246584"/>
            <a:ext cx="71438" cy="628650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5" name="Shape 3"/>
          <p:cNvSpPr/>
          <p:nvPr/>
        </p:nvSpPr>
        <p:spPr>
          <a:xfrm>
            <a:off x="214312" y="2319821"/>
            <a:ext cx="285750" cy="14288"/>
          </a:xfrm>
          <a:prstGeom prst="rect">
            <a:avLst/>
          </a:prstGeom>
          <a:solidFill>
            <a:srgbClr val="D33941"/>
          </a:solidFill>
          <a:ln/>
        </p:spPr>
      </p:sp>
      <p:sp>
        <p:nvSpPr>
          <p:cNvPr id="6" name="Shape 4"/>
          <p:cNvSpPr/>
          <p:nvPr/>
        </p:nvSpPr>
        <p:spPr>
          <a:xfrm>
            <a:off x="214313" y="3886200"/>
            <a:ext cx="8715375" cy="857250"/>
          </a:xfrm>
          <a:prstGeom prst="rect">
            <a:avLst/>
          </a:prstGeom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3" y="3886200"/>
            <a:ext cx="8715375" cy="857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00" y="253603"/>
            <a:ext cx="1678781" cy="2071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 v3.2 版本更新客户宣讲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9544" y="282178"/>
            <a:ext cx="607219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 版本更新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443913" y="282178"/>
            <a:ext cx="28575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5B5B5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|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529638" y="282178"/>
            <a:ext cx="400050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客户宣讲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7200" y="1089422"/>
            <a:ext cx="6686550" cy="9429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感谢您的信任与陪伴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585788" y="2176946"/>
            <a:ext cx="6643688" cy="30003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v3.2，帮您多做成一件事——7 个更新点，为您的业务效率与安心而来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14313" y="2648434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7 个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14313" y="2962759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更新点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14313" y="3169927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新增能力 · 体验与管控升级 · 问题修复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436019" y="2648434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1000 条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436019" y="2962759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单次批量处理上限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436019" y="3169927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新增、修改、删除一次完成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657725" y="2648434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5 层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657725" y="2962759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报表最大下钻层级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657725" y="3169927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异常数字原因自主定位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879431" y="2648434"/>
            <a:ext cx="2050256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3941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约 40%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879431" y="2962759"/>
            <a:ext cx="205025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大数据量列表展示耗时降低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879431" y="3169927"/>
            <a:ext cx="2050256" cy="12858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首屏加载性能优化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15485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REPORTER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15485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产品团队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15485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本次更新宣讲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196772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DEPARTMENT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3196772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客户成功团队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196772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如需协助迁移对接方式，可随时联系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178116" y="4036219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DATE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178116" y="4243388"/>
            <a:ext cx="2750344" cy="2571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2026 年 9 月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178116" y="4557713"/>
            <a:ext cx="2750344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55757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本次宣讲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214312" y="4772025"/>
            <a:ext cx="1064419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产品 v3.2 版本更新客户宣讲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443913" y="4772025"/>
            <a:ext cx="485775" cy="1285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898989"/>
                </a:solidFill>
                <a:latin typeface="WenYuan Sans SC" pitchFamily="34" charset="0"/>
                <a:ea typeface="WenYuan Sans SC" pitchFamily="34" charset="-122"/>
                <a:cs typeface="WenYuan Sans SC" pitchFamily="34" charset="-120"/>
              </a:rPr>
              <a:t>2026 年 9 月</a:t>
            </a:r>
            <a:endParaRPr lang="en-US" sz="700" dirty="0"/>
          </a:p>
        </p:txBody>
      </p:sp>
      <p:sp>
        <p:nvSpPr>
          <p:cNvPr id="65535" name="wm:hwcld:2026-09-22T15:18:02:12ebfcdb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2026-09-22T15:18:16Z</dcterms:created>
  <dcterms:modified xsi:type="dcterms:W3CDTF">2026-09-22T15:18:16Z</dcterms:modified>
</cp:coreProperties>
</file>