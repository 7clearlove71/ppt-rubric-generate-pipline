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领导、各位专家，现在由区住房和城乡建设局就老旧小区改造工作情况作汇报。本次汇报的数据期间为二零二三年一月至二零二六年八月，全部数据截至二零二六年八月三十一日，金额单位统一为万元，比率统一保留一位小数。三项总体情况是：三年改造任务的四项总量完成率均落在百分之九十二点五至百分之九十三的区间，按统一判定阈值属基本达标；资金到位率为百分之九十、支出执行率为百分之八十六；居民总体满意度为百分之九十三点八。需要提请评审组重点关注的是，尚未闭合的四千二百八十万元资金缺口，与加装电梯、停车泊位、施工期现场管理三个低于百分之九十的满意度分项，构成本次汇报所列全部五个问题的来源。全篇比率均按同一口径计算，即完成数、到位数、支出数或满意数除以相应的计划数或到位数，再乘以百分之百，不作口径切换。本次汇报不使用实景照片，全部结论由原生表格与图表承载，评审组可对每一格数据逐项核对。</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次汇报按五个纲目依次进行：一、改造任务完成情况；二、资金使用情况；三、居民满意度；四、存在问题；五、下一步计划。为避免各页数据出现口径分歧，纲要页先把全篇共用的一套统计口径和一套判定阈值固定下来。统计口径为：各项比率等于完成、到位、支出或满意数除以计划或到位数，再乘以百分之百，比率一律保留一位小数，金额一律以万元计。判定阈值为：完成率或满意度大于等于百分之九十五判定为达标，百分之九十含至百分之九十五判定为基本达标，低于百分之九十判定为滞后或短板。这套阈值在改造任务、资金使用和居民满意度三个部分同时适用，第四部分所列每一项问题都标注数据出处页与具体比率，第五部分的验收口径也沿用同一阈值。如评审组对某一项比率的分母有疑问，可直接对照该页底部的口径行，全篇不设第二种算法。</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改造任务完成情况。截至二零二六年八月三十一日，累计开工六十八个小区、开工率百分之百；已竣工验收六十三个小区、小区完工率百分之九十二点六，按统一判定阈值属基本达标。计划总盘子为二零二三至二零二五年、两千年年底前建成的老旧小区，共六十八个小区、五百一十二栋、二点一四万户、建筑面积一百八十六点五万平方米。四项总量指标使用同一口径，即完成数除以计划数乘以百分之百：改造小区计划六十八个、已竣工六十三个，完工率百分之九十二点六；改造楼栋计划五百一十二栋、已完成四百七十六栋，完成率百分之九十三；惠及居民计划二点一四万户、已完成一点九八万户，完成率百分之九十二点五；建筑面积计划一百八十六点五万平方米、已完成一百七十三点四万平方米，完成率百分之九十三。进度轨上的标尺同时标注了百分之九十的滞后线、百分之九十五的达标线和百分之百，四条完成率均落在百分之九十至百分之九十五的基本达标区间内，因此总体判定为基本达标，而不是达标。尚未竣工的五个小区涉及三十六栋、一千六百户、十三点一万平方米，占计划小区数的百分之七点四。此处需要说明口径：完工率指已通过竣工验收的小区数占计划改造小区数的比例，在建指已开工未竣工，两者不重复计算；数据来自改造工作台账与竣工验收备案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总体完成率之下，九项分项任务的进度并不均衡。基础设施类两项：水电气路及雨污分流覆盖六十八个小区，已完成六十三个，完成率百分之九十二点六，基本达标；光纤及五代移动通信覆盖六十八个小区，已完成六十六个，完成率百分之九十七点一，是九项中唯一达标的一项。完善类四项：加装电梯计划一百二十部、完成九十六部，完成率百分之八十；新增停车泊位计划三千二百个、完成二千八百六十个，完成率百分之八十九点四；电动自行车充电设施计划二百六十处、完成二百四十一处，完成率百分之九十二点七；无障碍及适老化改造计划一百八十处、完成一百六十三处，完成率百分之九十点六。提升类三项：社区服务及养老托幼设施计划二十四处、完成十九处，完成率百分之七十九点二；智慧安防覆盖六十八个小区、完成六十一个，完成率百分之八十九点七；绿化及公共空间计划十五点六万平方米、完成十四点一万平方米，完成率百分之九十点四。汇总起来是达标一项、基本达标四项、滞后四项，四项滞后任务全部集中在完善类与提升类，其中加装电梯百分之八十和社区服务及养老托幼设施百分之七十九点二最低。判定标准与前页一致，大于等于百分之九十五为达标，百分之九十含至百分之九十五为基本达标，低于百分之九十为滞后；正是这四项低于百分之九十的分项，使总体完工率停在百分之九十二点六而未能达标，也是第四部分问题三的直接依据。</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再看资金使用情况。计划总投资四万二千八百万元，实际到位三万八千五百二十万元，到位缺口四千二百八十万元，资金到位率百分之九十；已支出三万三千一百二十七万元，支出执行率百分之八十六；账面积余五千三百九十三万元，结余率百分之十四。资金流转按五段呈现：从计划总投资四万二千八百万元出发，减去到位缺口四千二百八十万元，得到实际到位三万八千五百二十万元；再减去已支出三万三千一百二十七万元，余下账面积余五千三百九十三万元。按已到位资金除以已完成的一万九千八百户计算，户均投入一点九万元。这里必须把三个比率的分母讲清楚，因为它们并不相同：资金到位率的分母是计划总投资，即三万八千五百二十除以四万二千八百；支出执行率的分母是实际到位资金，即三万三千一百二十七除以三万八千五百二十；结余率的分母同样是实际到位资金，即五千三百九十三除以三万八千五百二十。三个比率分母不同、不可相互替代，但都保留一位小数，全篇一致。按同一判定阈值，到位率百分之九十属基本达标，支出执行率百分之八十六低于百分之九十，属滞后，这一落差是第四部分问题二的来源。数据来自专项资金决算表与财政拨付台账。</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资金缺口产生在哪几个渠道，这一页逐项列出。资金来源六渠道中，中央补助资金七千七百零四万元、省级补助资金四千六百二十二万元、市级财政资金一万一千五百五十六万元，三级财政资金均百分之百到位，差额为零。缺口全部来自另外三个渠道：区级财政配套计划一万一千七百七十万元、到位九千六百三十万元，到位率百分之八十一点八，缺口二千一百四十万元；管线单位及社会资本计划四千二百二十二万元、到位三千零八十二万元，到位率百分之七十三，缺口一千一百四十万元；居民出资计划二千九百二十六万元、到位一千九百二十六万元，到位率百分之六十五点八，缺口一千万元。三项合计正好是四千二百八十万元，与来源小计的到位率百分之九十相互印证。支出侧按四类列示：基础设施类安排一万八千四百九十万元、支出一万六千五百六十四万元，执行率百分之八十九点六；完善类含加装电梯安排一万一千五百五十六万元、支出九千九百三十八万元，执行率百分之八十六；提升类安排六千五百四十八万元、支出四千九百六十九万元，执行率百分之七十五点九，为四类最低；前期及管理费安排一千九百二十六万元、支出一千六百五十六万元，执行率百分之八十六。支出小计为安排三万八千五百二十万元、支出三万三千一百二十七万元，结余五千三百九十三万元。表中需要说明两处口径：来源组的执行数指实际到位数、执行率即到位率，分母为计划数；支出组的执行数指已支出数、执行率为支出执行率，分母为该类资金安排数，四类安排数合计等于已到位资金三万八千五百二十万元，因此不会出现支出超过到位的情况。资金监管方面，六十八个小区全部纳入专户核算、专款专用，覆盖率百分之百；已开展全过程跟踪审计四十一个项目，占已竣工项目的百分之六十五点一；资金使用情况按小区公示六十八个，公示率百分之百。结余的五千三百九十三万元中，有三千二百三十六万元因竣工结算审计未完成暂不能拨付，占结余总额的百分之六十，这一点将在问题二中作为直接原因引用。</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部分是居民满意度。本次调查委托第三方机构于二零二六年七月一日至八月十五日开展，采取入户走访与线上问卷并行的方式，覆盖全部六十八个改造小区，每小区随机抽取一百户，共发放问卷六千八百份，回收六千五百三十二份，其中有效问卷六千二百一十四份，有效回收率百分之九十一点四，无效问卷三百一十八份，均为填答不完整。总体结果为：满意四千四百二十四人、占百分之七十一点二；基本满意一千四百零五人、占百分之二十二点六；不满意三百八十五人、占百分之六点二；总体满意度即满意与基本满意之和占有效问卷的比重，为百分之九十三点八。口径需要明确两点：总体满意度等于满意加基本满意人数除以有效问卷数乘以百分之百，下一页各分项满意度使用完全相同的公式，只是题项不同；总体满意度是对改造工作的整体评价，与分项满意度分属不同题项，二者不能相互替代，也不宜简单相加或相减。三档占比合计为百分之百，人数合计为六千二百一十四人，与有效问卷数一致，可逐项核对。</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分项满意度按同一口径、同一份有效问卷库计算，七个分项由高到低为：基础设施百分之九十六点四，环境绿化及公共空间百分之九十五点一，房屋本体修缮百分之九十三点七，安防及智能化改造百分之九十二点三，加装电梯百分之八十四点六，停车泊位及充电设施百分之八十二点一，施工期现场管理百分之七十九点四。按统一阈值判定，前两项高于达标线百分之九十五，分别为达标，高出一点四个和零点一个百分点；房屋本体修缮与安防及智能化改造落在百分之九十至百分之九十五之间，为基本达标，分别低于达标线一点三个和二点七个百分点；加装电梯、停车泊位及充电设施、施工期现场管理三项低于滞后线百分之九十，判定为滞后，分别低五点四个、七点九个和十点六个百分点，图中竖直虚线即为百分之九十的滞后线。三个滞后分项与前面的任务数据一一对应：加装电梯满意度百分之八十四点六，对应加装电梯完成率百分之八十；停车泊位及充电设施满意度百分之八十二点一，对应停车泊位完成率百分之八十九点四和充电设施完成率百分之九十二点七；施工期现场管理满意度百分之七十九点四为七项最低，对应未办结诉求中施工噪声扬尘三十二件。口径与前页完全一致，即该分项满意与基本满意人数除以有效问卷六千二百一十四份乘以百分之百，达标线百分之九十五、滞后线百分之九十，与纲要页和分项任务明细页使用同一套阈值。</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居民诉求办理情况直接反映不满意的百分之六点二由什么构成。全期共受理居民诉求一千二百八十六件，已办结一千一百零二件，办结率百分之八十五点七，未办结一百八十四件；办结率的口径为已办结件数除以受理件数乘以百分之百。未办结的一百八十四件按件数降序分为四类：加装电梯进度慢六十八件，占百分之三十七，累计百分之三十七；停车泊位不足五十件，累计百分之六十四点一；设施移交与物业衔接三十四件，累计百分之八十二点六；施工噪声扬尘三十二件，累计百分之百。前两类合计一百一十八件、占未办结诉求的百分之六十四点一，说明未办结事项高度集中，而不是分散在各类问题上。这一结果与前面两部分互为印证：加装电梯进度慢和停车泊位不足，正对应分项满意度中百分之八十四点六和百分之八十二点一的两个滞后分项，也对应分项任务中完成率百分之八十和百分之八十九点四的两项滞后任务；施工噪声扬尘三十二件对应施工期现场管理百分之七十九点四的最低满意度；设施移交与物业衔接三十四件则指向改造与后续管养的衔接问题。数据来自一千二百三十四号热线工单、居民议事会记录及诉求办理台账，四类件数相加等于一百八十四件，与未办结总数一致。</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部分列出五个问题，其中资金方面两个，全部由第二部分的资金数据直接导出，逐项标注出处。问题一是资金筹措渠道未闭合，四千二百八十万元缺口集中于三类渠道。数据溯源为资金来源明细页：区级配套到位率百分之八十一点八、缺口二千一百四十万元，社会资本到位率百分之七十三、缺口一千一百四十万元，居民出资到位率百分之六十五点八、缺口一千万元。主要表现是这三类渠道到位率均低于百分之九十，而三级财政资金已百分之百到位，缺口全部来自上述三类渠道。影响是五个在建小区的工程尾款和二十四部电梯的补贴暂无法拨付，直接影响完工率与居民满意度。问题二是支出进度滞后于资金到位，五千三百九十三万元结余未形成实物工作量。数据溯源为资金总体页的支出执行率百分之八十六、低于到位率百分之九十，以及资金来源与支出构成页的提升类支出执行率百分之七十五点九、结余一千五百七十九万元。主要表现是已到位三万八千五百二十万元中仅支出三万三千一百二十七万元，账面积余五千三百九十三万元，其中三千二百三十六万元因竣工结算审计未完成暂不能拨付。影响是提升类支出执行率最低，直接拖累社区服务及养老托幼设施百分之七十九点二的完成率。两个问题的关系需要说明：问题一出在来源结构，问题二出在支出进度，到位率与执行率之间四个百分点的落差，就是资金既没筹齐、也没花出去的症结所在，因此第五部分的措施一、二、三针对问题一，措施四针对问题二。</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施与居民诉求方面三个问题，同样逐项可回溯，出处依次为分项任务明细、分项满意度和未办结诉求分布三页。问题三是提升类与完善类任务推进不均衡。数据溯源为：加装电梯完成率百分之八十、新增停车泊位百分之八十九点四、社区服务及养老托幼设施百分之七十九点二、智慧安防百分之八十九点七，以及分项满意度中加装电梯百分之八十四点六、停车泊位百分之八十二点一。主要表现是四项滞后任务全部集中在完善类与提升类，基础设施类已完成。影响是居民最关心的出行与养老需求未同步兑现。问题四是施工期现场管理不到位，影响居民满意度。数据溯源为施工期现场管理满意度百分之七十九点四、为七个分项中最低，以及未办结诉求中施工噪声扬尘三十二件。主要表现是围挡、降尘、噪声控制及文明施工公示在部分标段未落实。影响是直接拉低总体满意度百分之九十三点八，并引发投诉。问题五是改造与后续管养衔接不畅。数据溯源为设施移交与物业衔接未办结三十四件、诉求办结率百分之八十五点七，以及社区服务及养老托幼设施完成率百分之七十九点二。主要表现是已建成的十九处社区服务及养老托幼设施未及时移交运营。影响是设施闲置风险上升，居民获得感打折扣。三个问题与前两个资金问题合起来共五项，分别指向资金、任务、管理、衔接四个环节，第五部分的七项措施按此逐项对应。</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五部分首先是整改措施与责任分工。七项措施逐条对应五个问题，每一项都明确责任单位、完成时限和可量化的验收口径，验收比率沿用纲要页的统一阈值。措施一对应问题一，追加区级配套资金安排，将二千一百四十万元缺口纳入年度预算调整方案，由区财政局、区住建局牵头，二零二六年十月底前完成，验收口径为区级到位率百分之百。措施二对应问题一，建立管线单位出资联席会议制度，签订共建共担协议并明确付费节点，由区住建局与管线单位负责，二零二六年十一月底前完成，验收口径为社会资本到位率百分之九十五。措施三对应问题一，推行居民出资先改造后付费及分期缴纳，公示出资标准与使用去向，由街道办事处和社区负责，二零二六年十二月底前完成，验收口径为居民出资到位率百分之九十。措施四对应问题二，建立结余资金月调度机制，对三千二百三十六万元待审计资金实行竣工结算限时办结，由区财政局、审计局负责，二零二六年十一月底前完成，验收口径为支出执行率百分之九十五。措施五对应问题三，加装电梯与停车泊位项目单独建档、单独调度，实行一小区一方案，由区住建局、规划分局负责，二零二六年十一月底前完成，验收口径为两项完成率均达到百分之九十。措施六对应问题四，落实文明施工标准，设置公示牌与噪声扬尘监测点，实行投诉二十四小时响应，由区住建局、城管局负责，二零二六年十月底前完成，验收口径为施工管理满意度百分之九十。措施七对应问题五，明确设施移交清单与物业接管主体，同步签订后期管养协议，由区住建局、民政局负责，二零二六年十二月底前完成，验收口径为设施移交率百分之百。整改要求是：七项措施自本报告审定之日起执行，每月五日前报送进展；验收口径中的比率均按纲要页统一口径计算，达标线百分之九十五、滞后线百分之九十；表中责任单位为牵头单位，配合单位另行文明确。这样安排的考虑是，目标值全部落在与现状同一口径的比率上，评审组可以直接用现状值与目标值作差核验进度。</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改之外，同步建立四项长效机制。第一，资金保障长效化，将区级配套、管线单位及居民出资纳入年度预算与合同管理，实行到位率月通报，对应问题一。第二，支出进度闭环管理，建立结余资金台账与月度调度机制，竣工结算审计限时三十个工作日办结，对应问题二。第三，居民全程参与机制，改造前问需、改造中问计、改造后问效，分项满意度低于百分之九十的项目一律回头看，对应问题四。第四，改造与管养衔接，改造方案同步编制后期管养方案，明确物业接管主体与经费来源，设施建成即移交，对应问题五。同时提请评审组审议三项事项：一，追加区级配套资金，恳请区政府同意将二千一百四十万元区级配套缺口纳入年度预算调整方案，十月底前拨付到位；二，顺延在建项目工期，恳请同意五个在建小区完工时限顺延至二零二六年十一月底，并按月报送进度；三，支持管线单位共建共担，恳请将管线单位共建共担出资机制纳入市级文件，明确付费节点与比例。需要说明的是，五项验收比率的目标值已在整改措施页按同一口径给出，本页不再另设一套目标数据，以免出现两种口径。以上汇报，请予审议。</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old_community_renovation_repor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old_community_renovation_repor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cover-credit-field"/>
          <p:cNvSpPr/>
          <p:nvPr/>
        </p:nvSpPr>
        <p:spPr>
          <a:xfrm>
            <a:off x="0" y="5295900"/>
            <a:ext cx="12192000" cy="1562100"/>
          </a:xfrm>
          <a:prstGeom prst="rect">
            <a:avLst/>
          </a:prstGeom>
          <a:solidFill>
            <a:srgbClr val="12293F"/>
          </a:solidFill>
          <a:ln>
            <a:noFill/>
          </a:ln>
        </p:spPr>
      </p:sp>
      <p:sp>
        <p:nvSpPr>
          <p:cNvPr id="3" name="cover-side-rule"/>
          <p:cNvSpPr/>
          <p:nvPr/>
        </p:nvSpPr>
        <p:spPr>
          <a:xfrm>
            <a:off x="0" y="0"/>
            <a:ext cx="95250" cy="6858000"/>
          </a:xfrm>
          <a:prstGeom prst="rect">
            <a:avLst/>
          </a:prstGeom>
          <a:solidFill>
            <a:schemeClr val="accent2"/>
          </a:solidFill>
          <a:ln>
            <a:noFill/>
          </a:ln>
        </p:spPr>
      </p:sp>
      <p:grpSp>
        <p:nvGrpSpPr>
          <p:cNvPr id="5" name="cover-kicker"/>
          <p:cNvGrpSpPr/>
          <p:nvPr/>
        </p:nvGrpSpPr>
        <p:grpSpPr>
          <a:xfrm>
            <a:off x="601980" y="1285875"/>
            <a:ext cx="3705987" cy="293370"/>
            <a:chOff x="601980" y="1285875"/>
            <a:chExt cx="3705987" cy="293370"/>
          </a:xfrm>
        </p:grpSpPr>
        <p:sp>
          <p:nvSpPr>
            <p:cNvPr id="4" name="TextBox 4"/>
            <p:cNvSpPr txBox="1"/>
            <p:nvPr/>
          </p:nvSpPr>
          <p:spPr>
            <a:xfrm>
              <a:off x="601980" y="1285875"/>
              <a:ext cx="3705987" cy="293370"/>
            </a:xfrm>
            <a:prstGeom prst="rect">
              <a:avLst/>
            </a:prstGeom>
            <a:noFill/>
            <a:ln>
              <a:noFill/>
            </a:ln>
          </p:spPr>
          <p:txBody>
            <a:bodyPr wrap="none" lIns="0" tIns="0" rIns="0" bIns="0" anchor="t" anchorCtr="0">
              <a:spAutoFit/>
            </a:bodyPr>
            <a:lstStyle/>
            <a:p>
              <a:pPr algn="l"/>
              <a:r>
                <a:rPr lang="zh-CN" sz="1500" spc="150" dirty="0">
                  <a:solidFill>
                    <a:schemeClr val="accent2"/>
                  </a:solidFill>
                  <a:latin typeface="+mn-lt"/>
                  <a:ea typeface="+mn-ea"/>
                  <a:cs typeface="+mn-cs"/>
                </a:rPr>
                <a:t>专项工作汇报 ｜ 提请政府评审组审议</a:t>
              </a:r>
            </a:p>
          </p:txBody>
        </p:sp>
      </p:grpSp>
      <p:grpSp>
        <p:nvGrpSpPr>
          <p:cNvPr id="9" name="cover-title"/>
          <p:cNvGrpSpPr/>
          <p:nvPr/>
        </p:nvGrpSpPr>
        <p:grpSpPr>
          <a:xfrm>
            <a:off x="590550" y="1866900"/>
            <a:ext cx="8743188" cy="1721167"/>
            <a:chOff x="590550" y="1866900"/>
            <a:chExt cx="8743188" cy="1721167"/>
          </a:xfrm>
        </p:grpSpPr>
        <p:sp>
          <p:nvSpPr>
            <p:cNvPr id="6" name="Rectangle 6"/>
            <p:cNvSpPr/>
            <p:nvPr/>
          </p:nvSpPr>
          <p:spPr>
            <a:xfrm>
              <a:off x="609600" y="1866900"/>
              <a:ext cx="1143000" cy="28575"/>
            </a:xfrm>
            <a:prstGeom prst="rect">
              <a:avLst/>
            </a:prstGeom>
            <a:solidFill>
              <a:schemeClr val="accent2"/>
            </a:solidFill>
            <a:ln>
              <a:noFill/>
            </a:ln>
          </p:spPr>
        </p:sp>
        <p:sp>
          <p:nvSpPr>
            <p:cNvPr id="7" name="TextBox 7"/>
            <p:cNvSpPr txBox="1"/>
            <p:nvPr/>
          </p:nvSpPr>
          <p:spPr>
            <a:xfrm>
              <a:off x="590550" y="2268855"/>
              <a:ext cx="8743188" cy="990600"/>
            </a:xfrm>
            <a:prstGeom prst="rect">
              <a:avLst/>
            </a:prstGeom>
            <a:noFill/>
            <a:ln>
              <a:noFill/>
            </a:ln>
          </p:spPr>
          <p:txBody>
            <a:bodyPr wrap="none" lIns="0" tIns="0" rIns="0" bIns="0" anchor="t" anchorCtr="0">
              <a:spAutoFit/>
            </a:bodyPr>
            <a:lstStyle/>
            <a:p>
              <a:pPr algn="l"/>
              <a:r>
                <a:rPr lang="zh-CN" sz="5100" b="1" dirty="0">
                  <a:solidFill>
                    <a:srgbClr val="FFFFFF"/>
                  </a:solidFill>
                  <a:latin typeface="+mj-lt"/>
                  <a:ea typeface="+mj-ea"/>
                  <a:cs typeface="+mj-cs"/>
                </a:rPr>
                <a:t>老旧小区改造工作情况汇报</a:t>
              </a:r>
            </a:p>
          </p:txBody>
        </p:sp>
        <p:sp>
          <p:nvSpPr>
            <p:cNvPr id="8" name="TextBox 8"/>
            <p:cNvSpPr txBox="1"/>
            <p:nvPr/>
          </p:nvSpPr>
          <p:spPr>
            <a:xfrm>
              <a:off x="598170" y="3148012"/>
              <a:ext cx="7882985"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2023—2025年改造任务实施情况 · 数据截至2026年8月31日</a:t>
              </a:r>
            </a:p>
          </p:txBody>
        </p:sp>
      </p:grpSp>
      <p:grpSp>
        <p:nvGrpSpPr>
          <p:cNvPr id="21" name="cover-kpi-band"/>
          <p:cNvGrpSpPr/>
          <p:nvPr/>
        </p:nvGrpSpPr>
        <p:grpSpPr>
          <a:xfrm>
            <a:off x="590550" y="3848100"/>
            <a:ext cx="10367162" cy="1286256"/>
            <a:chOff x="590550" y="3848100"/>
            <a:chExt cx="10367162" cy="1286256"/>
          </a:xfrm>
        </p:grpSpPr>
        <p:sp>
          <p:nvSpPr>
            <p:cNvPr id="10" name="Line 10"/>
            <p:cNvSpPr/>
            <p:nvPr/>
          </p:nvSpPr>
          <p:spPr>
            <a:xfrm>
              <a:off x="4191000" y="3848100"/>
              <a:ext cx="9525" cy="1257300"/>
            </a:xfrm>
            <a:custGeom>
              <a:avLst/>
              <a:gdLst/>
              <a:ahLst/>
              <a:cxnLst/>
              <a:rect l="l" t="t" r="r" b="b"/>
              <a:pathLst>
                <a:path w="9525" h="1257300">
                  <a:moveTo>
                    <a:pt x="0" y="0"/>
                  </a:moveTo>
                  <a:lnTo>
                    <a:pt x="0" y="1257300"/>
                  </a:lnTo>
                </a:path>
              </a:pathLst>
            </a:custGeom>
            <a:noFill/>
            <a:ln w="9525">
              <a:solidFill>
                <a:schemeClr val="accent3"/>
              </a:solidFill>
            </a:ln>
          </p:spPr>
        </p:sp>
        <p:sp>
          <p:nvSpPr>
            <p:cNvPr id="11" name="Line 11"/>
            <p:cNvSpPr/>
            <p:nvPr/>
          </p:nvSpPr>
          <p:spPr>
            <a:xfrm>
              <a:off x="7924800" y="3848100"/>
              <a:ext cx="9525" cy="1257300"/>
            </a:xfrm>
            <a:custGeom>
              <a:avLst/>
              <a:gdLst/>
              <a:ahLst/>
              <a:cxnLst/>
              <a:rect l="l" t="t" r="r" b="b"/>
              <a:pathLst>
                <a:path w="9525" h="1257300">
                  <a:moveTo>
                    <a:pt x="0" y="0"/>
                  </a:moveTo>
                  <a:lnTo>
                    <a:pt x="0" y="1257300"/>
                  </a:lnTo>
                </a:path>
              </a:pathLst>
            </a:custGeom>
            <a:noFill/>
            <a:ln w="9525">
              <a:solidFill>
                <a:schemeClr val="accent3"/>
              </a:solidFill>
            </a:ln>
          </p:spPr>
        </p:sp>
        <p:sp>
          <p:nvSpPr>
            <p:cNvPr id="12" name="TextBox 12"/>
            <p:cNvSpPr txBox="1"/>
            <p:nvPr/>
          </p:nvSpPr>
          <p:spPr>
            <a:xfrm>
              <a:off x="601980" y="3952875"/>
              <a:ext cx="1024890" cy="293370"/>
            </a:xfrm>
            <a:prstGeom prst="rect">
              <a:avLst/>
            </a:prstGeom>
            <a:noFill/>
            <a:ln>
              <a:noFill/>
            </a:ln>
          </p:spPr>
          <p:txBody>
            <a:bodyPr wrap="none" lIns="0" tIns="0" rIns="0" bIns="0" anchor="t" anchorCtr="0">
              <a:spAutoFit/>
            </a:bodyPr>
            <a:lstStyle/>
            <a:p>
              <a:pPr algn="l"/>
              <a:r>
                <a:rPr lang="zh-CN" sz="1500" dirty="0">
                  <a:solidFill>
                    <a:srgbClr val="A9BDD1"/>
                  </a:solidFill>
                  <a:latin typeface="+mn-lt"/>
                  <a:ea typeface="+mn-ea"/>
                  <a:cs typeface="+mn-cs"/>
                </a:rPr>
                <a:t>小区完工率</a:t>
              </a:r>
            </a:p>
          </p:txBody>
        </p:sp>
        <p:sp>
          <p:nvSpPr>
            <p:cNvPr id="13" name="TextBox 13"/>
            <p:cNvSpPr txBox="1"/>
            <p:nvPr/>
          </p:nvSpPr>
          <p:spPr>
            <a:xfrm>
              <a:off x="590550" y="4341495"/>
              <a:ext cx="1664343" cy="762000"/>
            </a:xfrm>
            <a:prstGeom prst="rect">
              <a:avLst/>
            </a:prstGeom>
            <a:noFill/>
            <a:ln>
              <a:noFill/>
            </a:ln>
          </p:spPr>
          <p:txBody>
            <a:bodyPr wrap="none" lIns="0" tIns="0" rIns="0" bIns="0" anchor="t" anchorCtr="0">
              <a:spAutoFit/>
            </a:bodyPr>
            <a:lstStyle/>
            <a:p>
              <a:pPr algn="l"/>
              <a:r>
                <a:rPr lang="zh-CN" sz="3900" b="1" dirty="0">
                  <a:solidFill>
                    <a:srgbClr val="FFFFFF"/>
                  </a:solidFill>
                  <a:latin typeface="+mn-lt"/>
                  <a:ea typeface="+mn-ea"/>
                  <a:cs typeface="+mn-cs"/>
                </a:rPr>
                <a:t>92.6%</a:t>
              </a:r>
            </a:p>
          </p:txBody>
        </p:sp>
        <p:sp>
          <p:nvSpPr>
            <p:cNvPr id="14" name="TextBox 14"/>
            <p:cNvSpPr txBox="1"/>
            <p:nvPr/>
          </p:nvSpPr>
          <p:spPr>
            <a:xfrm>
              <a:off x="603504" y="4899660"/>
              <a:ext cx="2944216" cy="234696"/>
            </a:xfrm>
            <a:prstGeom prst="rect">
              <a:avLst/>
            </a:prstGeom>
            <a:noFill/>
            <a:ln>
              <a:noFill/>
            </a:ln>
          </p:spPr>
          <p:txBody>
            <a:bodyPr wrap="none" lIns="0" tIns="0" rIns="0" bIns="0" anchor="t" anchorCtr="0">
              <a:spAutoFit/>
            </a:bodyPr>
            <a:lstStyle/>
            <a:p>
              <a:pPr algn="l"/>
              <a:r>
                <a:rPr lang="zh-CN" sz="1200" dirty="0">
                  <a:solidFill>
                    <a:srgbClr val="8FA6BC"/>
                  </a:solidFill>
                  <a:latin typeface="+mn-lt"/>
                  <a:ea typeface="+mn-ea"/>
                  <a:cs typeface="+mn-cs"/>
                </a:rPr>
                <a:t>口径：竣工验收小区数 ÷ 计划改造小区数</a:t>
              </a:r>
            </a:p>
          </p:txBody>
        </p:sp>
        <p:sp>
          <p:nvSpPr>
            <p:cNvPr id="15" name="TextBox 15"/>
            <p:cNvSpPr txBox="1"/>
            <p:nvPr/>
          </p:nvSpPr>
          <p:spPr>
            <a:xfrm>
              <a:off x="4488180" y="3952875"/>
              <a:ext cx="1024890" cy="293370"/>
            </a:xfrm>
            <a:prstGeom prst="rect">
              <a:avLst/>
            </a:prstGeom>
            <a:noFill/>
            <a:ln>
              <a:noFill/>
            </a:ln>
          </p:spPr>
          <p:txBody>
            <a:bodyPr wrap="none" lIns="0" tIns="0" rIns="0" bIns="0" anchor="t" anchorCtr="0">
              <a:spAutoFit/>
            </a:bodyPr>
            <a:lstStyle/>
            <a:p>
              <a:pPr algn="l"/>
              <a:r>
                <a:rPr lang="zh-CN" sz="1500" dirty="0">
                  <a:solidFill>
                    <a:srgbClr val="A9BDD1"/>
                  </a:solidFill>
                  <a:latin typeface="+mn-lt"/>
                  <a:ea typeface="+mn-ea"/>
                  <a:cs typeface="+mn-cs"/>
                </a:rPr>
                <a:t>资金到位率</a:t>
              </a:r>
            </a:p>
          </p:txBody>
        </p:sp>
        <p:sp>
          <p:nvSpPr>
            <p:cNvPr id="16" name="TextBox 16"/>
            <p:cNvSpPr txBox="1"/>
            <p:nvPr/>
          </p:nvSpPr>
          <p:spPr>
            <a:xfrm>
              <a:off x="4476750" y="4341495"/>
              <a:ext cx="1664343" cy="762000"/>
            </a:xfrm>
            <a:prstGeom prst="rect">
              <a:avLst/>
            </a:prstGeom>
            <a:noFill/>
            <a:ln>
              <a:noFill/>
            </a:ln>
          </p:spPr>
          <p:txBody>
            <a:bodyPr wrap="none" lIns="0" tIns="0" rIns="0" bIns="0" anchor="t" anchorCtr="0">
              <a:spAutoFit/>
            </a:bodyPr>
            <a:lstStyle/>
            <a:p>
              <a:pPr algn="l"/>
              <a:r>
                <a:rPr lang="zh-CN" sz="3900" b="1" dirty="0">
                  <a:solidFill>
                    <a:srgbClr val="FFFFFF"/>
                  </a:solidFill>
                  <a:latin typeface="+mn-lt"/>
                  <a:ea typeface="+mn-ea"/>
                  <a:cs typeface="+mn-cs"/>
                </a:rPr>
                <a:t>90.0%</a:t>
              </a:r>
            </a:p>
          </p:txBody>
        </p:sp>
        <p:sp>
          <p:nvSpPr>
            <p:cNvPr id="17" name="TextBox 17"/>
            <p:cNvSpPr txBox="1"/>
            <p:nvPr/>
          </p:nvSpPr>
          <p:spPr>
            <a:xfrm>
              <a:off x="4489704" y="4899660"/>
              <a:ext cx="2459584" cy="234696"/>
            </a:xfrm>
            <a:prstGeom prst="rect">
              <a:avLst/>
            </a:prstGeom>
            <a:noFill/>
            <a:ln>
              <a:noFill/>
            </a:ln>
          </p:spPr>
          <p:txBody>
            <a:bodyPr wrap="none" lIns="0" tIns="0" rIns="0" bIns="0" anchor="t" anchorCtr="0">
              <a:spAutoFit/>
            </a:bodyPr>
            <a:lstStyle/>
            <a:p>
              <a:pPr algn="l"/>
              <a:r>
                <a:rPr lang="zh-CN" sz="1200" dirty="0">
                  <a:solidFill>
                    <a:srgbClr val="8FA6BC"/>
                  </a:solidFill>
                  <a:latin typeface="+mn-lt"/>
                  <a:ea typeface="+mn-ea"/>
                  <a:cs typeface="+mn-cs"/>
                </a:rPr>
                <a:t>口径：实际到位资金 ÷ 计划总投资</a:t>
              </a:r>
            </a:p>
          </p:txBody>
        </p:sp>
        <p:sp>
          <p:nvSpPr>
            <p:cNvPr id="18" name="TextBox 18"/>
            <p:cNvSpPr txBox="1"/>
            <p:nvPr/>
          </p:nvSpPr>
          <p:spPr>
            <a:xfrm>
              <a:off x="8221980" y="3952875"/>
              <a:ext cx="1024890" cy="293370"/>
            </a:xfrm>
            <a:prstGeom prst="rect">
              <a:avLst/>
            </a:prstGeom>
            <a:noFill/>
            <a:ln>
              <a:noFill/>
            </a:ln>
          </p:spPr>
          <p:txBody>
            <a:bodyPr wrap="none" lIns="0" tIns="0" rIns="0" bIns="0" anchor="t" anchorCtr="0">
              <a:spAutoFit/>
            </a:bodyPr>
            <a:lstStyle/>
            <a:p>
              <a:pPr algn="l"/>
              <a:r>
                <a:rPr lang="zh-CN" sz="1500" dirty="0">
                  <a:solidFill>
                    <a:srgbClr val="A9BDD1"/>
                  </a:solidFill>
                  <a:latin typeface="+mn-lt"/>
                  <a:ea typeface="+mn-ea"/>
                  <a:cs typeface="+mn-cs"/>
                </a:rPr>
                <a:t>居民满意度</a:t>
              </a:r>
            </a:p>
          </p:txBody>
        </p:sp>
        <p:sp>
          <p:nvSpPr>
            <p:cNvPr id="19" name="TextBox 19"/>
            <p:cNvSpPr txBox="1"/>
            <p:nvPr/>
          </p:nvSpPr>
          <p:spPr>
            <a:xfrm>
              <a:off x="8210550" y="4341495"/>
              <a:ext cx="1664343" cy="762000"/>
            </a:xfrm>
            <a:prstGeom prst="rect">
              <a:avLst/>
            </a:prstGeom>
            <a:noFill/>
            <a:ln>
              <a:noFill/>
            </a:ln>
          </p:spPr>
          <p:txBody>
            <a:bodyPr wrap="none" lIns="0" tIns="0" rIns="0" bIns="0" anchor="t" anchorCtr="0">
              <a:spAutoFit/>
            </a:bodyPr>
            <a:lstStyle/>
            <a:p>
              <a:pPr algn="l"/>
              <a:r>
                <a:rPr lang="zh-CN" sz="3900" b="1" dirty="0">
                  <a:solidFill>
                    <a:srgbClr val="FFFFFF"/>
                  </a:solidFill>
                  <a:latin typeface="+mn-lt"/>
                  <a:ea typeface="+mn-ea"/>
                  <a:cs typeface="+mn-cs"/>
                </a:rPr>
                <a:t>93.8%</a:t>
              </a:r>
            </a:p>
          </p:txBody>
        </p:sp>
        <p:sp>
          <p:nvSpPr>
            <p:cNvPr id="20" name="TextBox 20"/>
            <p:cNvSpPr txBox="1"/>
            <p:nvPr/>
          </p:nvSpPr>
          <p:spPr>
            <a:xfrm>
              <a:off x="8223504" y="4899660"/>
              <a:ext cx="2734208" cy="234696"/>
            </a:xfrm>
            <a:prstGeom prst="rect">
              <a:avLst/>
            </a:prstGeom>
            <a:noFill/>
            <a:ln>
              <a:noFill/>
            </a:ln>
          </p:spPr>
          <p:txBody>
            <a:bodyPr wrap="none" lIns="0" tIns="0" rIns="0" bIns="0" anchor="t" anchorCtr="0">
              <a:spAutoFit/>
            </a:bodyPr>
            <a:lstStyle/>
            <a:p>
              <a:pPr algn="l"/>
              <a:r>
                <a:rPr lang="zh-CN" sz="1200" dirty="0">
                  <a:solidFill>
                    <a:srgbClr val="8FA6BC"/>
                  </a:solidFill>
                  <a:latin typeface="+mn-lt"/>
                  <a:ea typeface="+mn-ea"/>
                  <a:cs typeface="+mn-cs"/>
                </a:rPr>
                <a:t>口径：（满意＋基本满意）÷ 有效问卷</a:t>
              </a:r>
            </a:p>
          </p:txBody>
        </p:sp>
      </p:grpSp>
      <p:grpSp>
        <p:nvGrpSpPr>
          <p:cNvPr id="23" name="cover-agenda-line"/>
          <p:cNvGrpSpPr/>
          <p:nvPr/>
        </p:nvGrpSpPr>
        <p:grpSpPr>
          <a:xfrm>
            <a:off x="601980" y="5495925"/>
            <a:ext cx="9505950" cy="293370"/>
            <a:chOff x="601980" y="5495925"/>
            <a:chExt cx="9505950" cy="293370"/>
          </a:xfrm>
        </p:grpSpPr>
        <p:sp>
          <p:nvSpPr>
            <p:cNvPr id="22" name="TextBox 22"/>
            <p:cNvSpPr txBox="1"/>
            <p:nvPr/>
          </p:nvSpPr>
          <p:spPr>
            <a:xfrm>
              <a:off x="601980" y="5495925"/>
              <a:ext cx="9505950" cy="293370"/>
            </a:xfrm>
            <a:prstGeom prst="rect">
              <a:avLst/>
            </a:prstGeom>
            <a:noFill/>
            <a:ln>
              <a:noFill/>
            </a:ln>
          </p:spPr>
          <p:txBody>
            <a:bodyPr wrap="none" lIns="0" tIns="0" rIns="0" bIns="0" anchor="t" anchorCtr="0">
              <a:spAutoFit/>
            </a:bodyPr>
            <a:lstStyle/>
            <a:p>
              <a:pPr algn="l"/>
              <a:r>
                <a:rPr lang="zh-CN" sz="1500" dirty="0">
                  <a:solidFill>
                    <a:srgbClr val="A9BDD1"/>
                  </a:solidFill>
                  <a:latin typeface="+mn-lt"/>
                  <a:ea typeface="+mn-ea"/>
                  <a:cs typeface="+mn-cs"/>
                </a:rPr>
                <a:t>汇报纲目：一、改造任务完成情况　二、资金使用情况　三、居民满意度　四、存在问题　五、下一步计划</a:t>
              </a:r>
            </a:p>
          </p:txBody>
        </p:sp>
      </p:grpSp>
      <p:grpSp>
        <p:nvGrpSpPr>
          <p:cNvPr id="27" name="cover-credit"/>
          <p:cNvGrpSpPr/>
          <p:nvPr/>
        </p:nvGrpSpPr>
        <p:grpSpPr>
          <a:xfrm>
            <a:off x="600456" y="5901690"/>
            <a:ext cx="10988040" cy="668655"/>
            <a:chOff x="600456" y="5901690"/>
            <a:chExt cx="10988040" cy="668655"/>
          </a:xfrm>
        </p:grpSpPr>
        <p:sp>
          <p:nvSpPr>
            <p:cNvPr id="24" name="TextBox 24"/>
            <p:cNvSpPr txBox="1"/>
            <p:nvPr/>
          </p:nvSpPr>
          <p:spPr>
            <a:xfrm>
              <a:off x="600456" y="5901690"/>
              <a:ext cx="631850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区住房和城乡建设局　区老旧小区改造工作领导小组办公室</a:t>
              </a:r>
            </a:p>
          </p:txBody>
        </p:sp>
        <p:sp>
          <p:nvSpPr>
            <p:cNvPr id="25" name="TextBox 25"/>
            <p:cNvSpPr txBox="1"/>
            <p:nvPr/>
          </p:nvSpPr>
          <p:spPr>
            <a:xfrm>
              <a:off x="601980" y="6276975"/>
              <a:ext cx="1428750" cy="293370"/>
            </a:xfrm>
            <a:prstGeom prst="rect">
              <a:avLst/>
            </a:prstGeom>
            <a:noFill/>
            <a:ln>
              <a:noFill/>
            </a:ln>
          </p:spPr>
          <p:txBody>
            <a:bodyPr wrap="none" lIns="0" tIns="0" rIns="0" bIns="0" anchor="t" anchorCtr="0">
              <a:spAutoFit/>
            </a:bodyPr>
            <a:lstStyle/>
            <a:p>
              <a:pPr algn="l"/>
              <a:r>
                <a:rPr lang="zh-CN" sz="1500" dirty="0">
                  <a:solidFill>
                    <a:srgbClr val="A9BDD1"/>
                  </a:solidFill>
                  <a:latin typeface="+mn-lt"/>
                  <a:ea typeface="+mn-ea"/>
                  <a:cs typeface="+mn-cs"/>
                </a:rPr>
                <a:t>二〇二六年九月</a:t>
              </a:r>
            </a:p>
          </p:txBody>
        </p:sp>
        <p:sp>
          <p:nvSpPr>
            <p:cNvPr id="26" name="TextBox 26"/>
            <p:cNvSpPr txBox="1"/>
            <p:nvPr/>
          </p:nvSpPr>
          <p:spPr>
            <a:xfrm>
              <a:off x="7936497" y="6309360"/>
              <a:ext cx="3651999" cy="234696"/>
            </a:xfrm>
            <a:prstGeom prst="rect">
              <a:avLst/>
            </a:prstGeom>
            <a:noFill/>
            <a:ln>
              <a:noFill/>
            </a:ln>
          </p:spPr>
          <p:txBody>
            <a:bodyPr wrap="none" lIns="0" tIns="0" rIns="0" bIns="0" anchor="t" anchorCtr="0">
              <a:spAutoFit/>
            </a:bodyPr>
            <a:lstStyle/>
            <a:p>
              <a:pPr algn="r"/>
              <a:r>
                <a:rPr lang="zh-CN" sz="1200" dirty="0">
                  <a:solidFill>
                    <a:srgbClr val="8FA6BC"/>
                  </a:solidFill>
                  <a:latin typeface="+mn-lt"/>
                  <a:ea typeface="+mn-ea"/>
                  <a:cs typeface="+mn-cs"/>
                </a:rPr>
                <a:t>情景数据（Scenario data）· 比率均保留一位小数</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948996" y="578168"/>
              <a:ext cx="1640262"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汇报纲要 ｜ 02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汇报纲目与统一口径</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898398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五项纲目依次汇报，全篇共用一套统计口径与一套判定阈值，各页数据可逐格核对。</a:t>
              </a:r>
            </a:p>
          </p:txBody>
        </p:sp>
      </p:grpSp>
      <p:grpSp>
        <p:nvGrpSpPr>
          <p:cNvPr id="24" name="agenda-note-panel"/>
          <p:cNvGrpSpPr/>
          <p:nvPr/>
        </p:nvGrpSpPr>
        <p:grpSpPr>
          <a:xfrm>
            <a:off x="609600" y="2000250"/>
            <a:ext cx="2971800" cy="3814001"/>
            <a:chOff x="609600" y="2000250"/>
            <a:chExt cx="2971800" cy="3814001"/>
          </a:xfrm>
        </p:grpSpPr>
        <p:sp>
          <p:nvSpPr>
            <p:cNvPr id="11" name="Rectangle 11"/>
            <p:cNvSpPr/>
            <p:nvPr/>
          </p:nvSpPr>
          <p:spPr>
            <a:xfrm>
              <a:off x="609600" y="2000250"/>
              <a:ext cx="2971800" cy="3810000"/>
            </a:xfrm>
            <a:prstGeom prst="rect">
              <a:avLst/>
            </a:prstGeom>
            <a:solidFill>
              <a:schemeClr val="lt2"/>
            </a:solidFill>
            <a:ln>
              <a:noFill/>
            </a:ln>
          </p:spPr>
        </p:sp>
        <p:sp>
          <p:nvSpPr>
            <p:cNvPr id="12" name="Rectangle 12"/>
            <p:cNvSpPr/>
            <p:nvPr/>
          </p:nvSpPr>
          <p:spPr>
            <a:xfrm>
              <a:off x="609600" y="2000250"/>
              <a:ext cx="2971800" cy="28575"/>
            </a:xfrm>
            <a:prstGeom prst="rect">
              <a:avLst/>
            </a:prstGeom>
            <a:solidFill>
              <a:schemeClr val="accent1"/>
            </a:solidFill>
            <a:ln>
              <a:noFill/>
            </a:ln>
          </p:spPr>
        </p:sp>
        <p:sp>
          <p:nvSpPr>
            <p:cNvPr id="13" name="TextBox 13"/>
            <p:cNvSpPr txBox="1"/>
            <p:nvPr/>
          </p:nvSpPr>
          <p:spPr>
            <a:xfrm>
              <a:off x="829056" y="22059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汇报说明</a:t>
              </a:r>
            </a:p>
          </p:txBody>
        </p:sp>
        <p:sp>
          <p:nvSpPr>
            <p:cNvPr id="14" name="TextBox 14"/>
            <p:cNvSpPr txBox="1"/>
            <p:nvPr/>
          </p:nvSpPr>
          <p:spPr>
            <a:xfrm>
              <a:off x="832104" y="263271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数据期间</a:t>
              </a:r>
            </a:p>
          </p:txBody>
        </p:sp>
        <p:sp>
          <p:nvSpPr>
            <p:cNvPr id="15" name="TextBox 15"/>
            <p:cNvSpPr txBox="1"/>
            <p:nvPr/>
          </p:nvSpPr>
          <p:spPr>
            <a:xfrm>
              <a:off x="831342" y="2864168"/>
              <a:ext cx="18401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2023年1月—2026年8月</a:t>
              </a:r>
            </a:p>
          </p:txBody>
        </p:sp>
        <p:sp>
          <p:nvSpPr>
            <p:cNvPr id="16" name="TextBox 16"/>
            <p:cNvSpPr txBox="1"/>
            <p:nvPr/>
          </p:nvSpPr>
          <p:spPr>
            <a:xfrm>
              <a:off x="832104" y="322326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数据截至</a:t>
              </a:r>
            </a:p>
          </p:txBody>
        </p:sp>
        <p:sp>
          <p:nvSpPr>
            <p:cNvPr id="17" name="TextBox 17"/>
            <p:cNvSpPr txBox="1"/>
            <p:nvPr/>
          </p:nvSpPr>
          <p:spPr>
            <a:xfrm>
              <a:off x="831342" y="3454718"/>
              <a:ext cx="125861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2026年8月31日</a:t>
              </a:r>
            </a:p>
          </p:txBody>
        </p:sp>
        <p:sp>
          <p:nvSpPr>
            <p:cNvPr id="18" name="TextBox 18"/>
            <p:cNvSpPr txBox="1"/>
            <p:nvPr/>
          </p:nvSpPr>
          <p:spPr>
            <a:xfrm>
              <a:off x="832104" y="3813810"/>
              <a:ext cx="162763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统计口径（全篇一致）</a:t>
              </a:r>
            </a:p>
          </p:txBody>
        </p:sp>
        <p:sp>
          <p:nvSpPr>
            <p:cNvPr id="19" name="TextBox 19"/>
            <p:cNvSpPr txBox="1"/>
            <p:nvPr/>
          </p:nvSpPr>
          <p:spPr>
            <a:xfrm>
              <a:off x="831342" y="4045268"/>
              <a:ext cx="1899666" cy="7212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各项比率＝完成（到位、</a:t>
              </a:r>
              <a:br/>
              <a:r>
                <a:rPr lang="zh-CN" sz="1350" dirty="0">
                  <a:solidFill>
                    <a:schemeClr val="dk1"/>
                  </a:solidFill>
                  <a:latin typeface="+mn-lt"/>
                  <a:ea typeface="+mn-ea"/>
                  <a:cs typeface="+mn-cs"/>
                </a:rPr>
                <a:t>支出、满意）数 ÷ 计划</a:t>
              </a:r>
              <a:br/>
              <a:r>
                <a:rPr lang="zh-CN" sz="1350" dirty="0">
                  <a:solidFill>
                    <a:schemeClr val="dk1"/>
                  </a:solidFill>
                  <a:latin typeface="+mn-lt"/>
                  <a:ea typeface="+mn-ea"/>
                  <a:cs typeface="+mn-cs"/>
                </a:rPr>
                <a:t>（到位）数 × 100%</a:t>
              </a:r>
            </a:p>
          </p:txBody>
        </p:sp>
        <p:sp>
          <p:nvSpPr>
            <p:cNvPr id="20" name="TextBox 20"/>
            <p:cNvSpPr txBox="1"/>
            <p:nvPr/>
          </p:nvSpPr>
          <p:spPr>
            <a:xfrm>
              <a:off x="832104" y="4861560"/>
              <a:ext cx="162763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判定阈值（全篇一致）</a:t>
              </a:r>
            </a:p>
          </p:txBody>
        </p:sp>
        <p:sp>
          <p:nvSpPr>
            <p:cNvPr id="21" name="TextBox 21"/>
            <p:cNvSpPr txBox="1"/>
            <p:nvPr/>
          </p:nvSpPr>
          <p:spPr>
            <a:xfrm>
              <a:off x="831342" y="5093018"/>
              <a:ext cx="995096"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≥95%　达标</a:t>
              </a:r>
            </a:p>
          </p:txBody>
        </p:sp>
        <p:sp>
          <p:nvSpPr>
            <p:cNvPr id="22" name="TextBox 22"/>
            <p:cNvSpPr txBox="1"/>
            <p:nvPr/>
          </p:nvSpPr>
          <p:spPr>
            <a:xfrm>
              <a:off x="831342" y="5321618"/>
              <a:ext cx="2239994" cy="264033"/>
            </a:xfrm>
            <a:prstGeom prst="rect">
              <a:avLst/>
            </a:prstGeom>
            <a:noFill/>
            <a:ln>
              <a:noFill/>
            </a:ln>
          </p:spPr>
          <p:txBody>
            <a:bodyPr wrap="none" lIns="0" tIns="0" rIns="0" bIns="0" anchor="t" anchorCtr="0">
              <a:spAutoFit/>
            </a:bodyPr>
            <a:lstStyle/>
            <a:p>
              <a:pPr algn="l"/>
              <a:r>
                <a:rPr lang="zh-CN" sz="1350" dirty="0">
                  <a:solidFill>
                    <a:srgbClr val="B26A00"/>
                  </a:solidFill>
                  <a:latin typeface="+mn-lt"/>
                  <a:ea typeface="+mn-ea"/>
                  <a:cs typeface="+mn-cs"/>
                </a:rPr>
                <a:t>90%（含）—95%　基本达标</a:t>
              </a:r>
            </a:p>
          </p:txBody>
        </p:sp>
        <p:sp>
          <p:nvSpPr>
            <p:cNvPr id="23" name="TextBox 23"/>
            <p:cNvSpPr txBox="1"/>
            <p:nvPr/>
          </p:nvSpPr>
          <p:spPr>
            <a:xfrm>
              <a:off x="831342" y="5550218"/>
              <a:ext cx="1622088" cy="264033"/>
            </a:xfrm>
            <a:prstGeom prst="rect">
              <a:avLst/>
            </a:prstGeom>
            <a:noFill/>
            <a:ln>
              <a:noFill/>
            </a:ln>
          </p:spPr>
          <p:txBody>
            <a:bodyPr wrap="none" lIns="0" tIns="0" rIns="0" bIns="0" anchor="t" anchorCtr="0">
              <a:spAutoFit/>
            </a:bodyPr>
            <a:lstStyle/>
            <a:p>
              <a:pPr algn="l"/>
              <a:r>
                <a:rPr lang="zh-CN" sz="1350" dirty="0">
                  <a:solidFill>
                    <a:srgbClr val="C0392B"/>
                  </a:solidFill>
                  <a:latin typeface="+mn-lt"/>
                  <a:ea typeface="+mn-ea"/>
                  <a:cs typeface="+mn-cs"/>
                </a:rPr>
                <a:t>＜90%　滞后／短板</a:t>
              </a:r>
            </a:p>
          </p:txBody>
        </p:sp>
      </p:grpSp>
      <p:grpSp>
        <p:nvGrpSpPr>
          <p:cNvPr id="30" name="agenda-entry-1"/>
          <p:cNvGrpSpPr/>
          <p:nvPr/>
        </p:nvGrpSpPr>
        <p:grpSpPr>
          <a:xfrm>
            <a:off x="3810000" y="2019300"/>
            <a:ext cx="7779258" cy="695325"/>
            <a:chOff x="3810000" y="2019300"/>
            <a:chExt cx="7779258" cy="695325"/>
          </a:xfrm>
        </p:grpSpPr>
        <p:sp>
          <p:nvSpPr>
            <p:cNvPr id="25" name="Rectangle 25"/>
            <p:cNvSpPr/>
            <p:nvPr/>
          </p:nvSpPr>
          <p:spPr>
            <a:xfrm>
              <a:off x="3810000" y="2019300"/>
              <a:ext cx="38100" cy="533400"/>
            </a:xfrm>
            <a:prstGeom prst="rect">
              <a:avLst/>
            </a:prstGeom>
            <a:solidFill>
              <a:schemeClr val="accent2"/>
            </a:solidFill>
            <a:ln>
              <a:noFill/>
            </a:ln>
          </p:spPr>
        </p:sp>
        <p:sp>
          <p:nvSpPr>
            <p:cNvPr id="26" name="TextBox 26"/>
            <p:cNvSpPr txBox="1"/>
            <p:nvPr/>
          </p:nvSpPr>
          <p:spPr>
            <a:xfrm>
              <a:off x="4027932" y="2097405"/>
              <a:ext cx="300837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一、改造任务完成情况</a:t>
              </a:r>
            </a:p>
          </p:txBody>
        </p:sp>
        <p:sp>
          <p:nvSpPr>
            <p:cNvPr id="27" name="TextBox 27"/>
            <p:cNvSpPr txBox="1"/>
            <p:nvPr/>
          </p:nvSpPr>
          <p:spPr>
            <a:xfrm>
              <a:off x="4031742" y="2426018"/>
              <a:ext cx="618368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口径：完成率＝完成数÷计划数×100%　｜　小区完工率 92.6%（63／68个）</a:t>
              </a:r>
            </a:p>
          </p:txBody>
        </p:sp>
        <p:sp>
          <p:nvSpPr>
            <p:cNvPr id="28" name="TextBox 28"/>
            <p:cNvSpPr txBox="1"/>
            <p:nvPr/>
          </p:nvSpPr>
          <p:spPr>
            <a:xfrm>
              <a:off x="10836250" y="2178368"/>
              <a:ext cx="75300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P03—P04</a:t>
              </a:r>
            </a:p>
          </p:txBody>
        </p:sp>
        <p:sp>
          <p:nvSpPr>
            <p:cNvPr id="29" name="Line 29"/>
            <p:cNvSpPr/>
            <p:nvPr/>
          </p:nvSpPr>
          <p:spPr>
            <a:xfrm>
              <a:off x="3810000" y="2705100"/>
              <a:ext cx="7772400" cy="9525"/>
            </a:xfrm>
            <a:custGeom>
              <a:avLst/>
              <a:gdLst/>
              <a:ahLst/>
              <a:cxnLst/>
              <a:rect l="l" t="t" r="r" b="b"/>
              <a:pathLst>
                <a:path w="7772400" h="9525">
                  <a:moveTo>
                    <a:pt x="0" y="0"/>
                  </a:moveTo>
                  <a:lnTo>
                    <a:pt x="7772400" y="0"/>
                  </a:lnTo>
                </a:path>
              </a:pathLst>
            </a:custGeom>
            <a:noFill/>
            <a:ln w="9525">
              <a:solidFill>
                <a:srgbClr val="E6EAEF"/>
              </a:solidFill>
            </a:ln>
          </p:spPr>
        </p:sp>
      </p:grpSp>
      <p:grpSp>
        <p:nvGrpSpPr>
          <p:cNvPr id="36" name="agenda-entry-2"/>
          <p:cNvGrpSpPr/>
          <p:nvPr/>
        </p:nvGrpSpPr>
        <p:grpSpPr>
          <a:xfrm>
            <a:off x="3810000" y="2781300"/>
            <a:ext cx="7779258" cy="695325"/>
            <a:chOff x="3810000" y="2781300"/>
            <a:chExt cx="7779258" cy="695325"/>
          </a:xfrm>
        </p:grpSpPr>
        <p:sp>
          <p:nvSpPr>
            <p:cNvPr id="31" name="Rectangle 31"/>
            <p:cNvSpPr/>
            <p:nvPr/>
          </p:nvSpPr>
          <p:spPr>
            <a:xfrm>
              <a:off x="3810000" y="2781300"/>
              <a:ext cx="38100" cy="533400"/>
            </a:xfrm>
            <a:prstGeom prst="rect">
              <a:avLst/>
            </a:prstGeom>
            <a:solidFill>
              <a:schemeClr val="accent2"/>
            </a:solidFill>
            <a:ln>
              <a:noFill/>
            </a:ln>
          </p:spPr>
        </p:sp>
        <p:sp>
          <p:nvSpPr>
            <p:cNvPr id="32" name="TextBox 32"/>
            <p:cNvSpPr txBox="1"/>
            <p:nvPr/>
          </p:nvSpPr>
          <p:spPr>
            <a:xfrm>
              <a:off x="4027932" y="2859405"/>
              <a:ext cx="241096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二、资金使用情况</a:t>
              </a:r>
            </a:p>
          </p:txBody>
        </p:sp>
        <p:sp>
          <p:nvSpPr>
            <p:cNvPr id="33" name="TextBox 33"/>
            <p:cNvSpPr txBox="1"/>
            <p:nvPr/>
          </p:nvSpPr>
          <p:spPr>
            <a:xfrm>
              <a:off x="4031742" y="3188018"/>
              <a:ext cx="71014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口径：到位率＝到位数÷计划总投资；支出执行率＝已支出÷已到位　｜　90.0%、86.0%</a:t>
              </a:r>
            </a:p>
          </p:txBody>
        </p:sp>
        <p:sp>
          <p:nvSpPr>
            <p:cNvPr id="34" name="TextBox 34"/>
            <p:cNvSpPr txBox="1"/>
            <p:nvPr/>
          </p:nvSpPr>
          <p:spPr>
            <a:xfrm>
              <a:off x="10836250" y="2940368"/>
              <a:ext cx="75300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P05—P06</a:t>
              </a:r>
            </a:p>
          </p:txBody>
        </p:sp>
        <p:sp>
          <p:nvSpPr>
            <p:cNvPr id="35" name="Line 35"/>
            <p:cNvSpPr/>
            <p:nvPr/>
          </p:nvSpPr>
          <p:spPr>
            <a:xfrm>
              <a:off x="3810000" y="3467100"/>
              <a:ext cx="7772400" cy="9525"/>
            </a:xfrm>
            <a:custGeom>
              <a:avLst/>
              <a:gdLst/>
              <a:ahLst/>
              <a:cxnLst/>
              <a:rect l="l" t="t" r="r" b="b"/>
              <a:pathLst>
                <a:path w="7772400" h="9525">
                  <a:moveTo>
                    <a:pt x="0" y="0"/>
                  </a:moveTo>
                  <a:lnTo>
                    <a:pt x="7772400" y="0"/>
                  </a:lnTo>
                </a:path>
              </a:pathLst>
            </a:custGeom>
            <a:noFill/>
            <a:ln w="9525">
              <a:solidFill>
                <a:srgbClr val="E6EAEF"/>
              </a:solidFill>
            </a:ln>
          </p:spPr>
        </p:sp>
      </p:grpSp>
      <p:grpSp>
        <p:nvGrpSpPr>
          <p:cNvPr id="42" name="agenda-entry-3"/>
          <p:cNvGrpSpPr/>
          <p:nvPr/>
        </p:nvGrpSpPr>
        <p:grpSpPr>
          <a:xfrm>
            <a:off x="3810000" y="3543300"/>
            <a:ext cx="7779258" cy="695325"/>
            <a:chOff x="3810000" y="3543300"/>
            <a:chExt cx="7779258" cy="695325"/>
          </a:xfrm>
        </p:grpSpPr>
        <p:sp>
          <p:nvSpPr>
            <p:cNvPr id="37" name="Rectangle 37"/>
            <p:cNvSpPr/>
            <p:nvPr/>
          </p:nvSpPr>
          <p:spPr>
            <a:xfrm>
              <a:off x="3810000" y="3543300"/>
              <a:ext cx="38100" cy="533400"/>
            </a:xfrm>
            <a:prstGeom prst="rect">
              <a:avLst/>
            </a:prstGeom>
            <a:solidFill>
              <a:schemeClr val="accent2"/>
            </a:solidFill>
            <a:ln>
              <a:noFill/>
            </a:ln>
          </p:spPr>
        </p:sp>
        <p:sp>
          <p:nvSpPr>
            <p:cNvPr id="38" name="TextBox 38"/>
            <p:cNvSpPr txBox="1"/>
            <p:nvPr/>
          </p:nvSpPr>
          <p:spPr>
            <a:xfrm>
              <a:off x="4027932" y="3621405"/>
              <a:ext cx="211226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三、居民满意度</a:t>
              </a:r>
            </a:p>
          </p:txBody>
        </p:sp>
        <p:sp>
          <p:nvSpPr>
            <p:cNvPr id="39" name="TextBox 39"/>
            <p:cNvSpPr txBox="1"/>
            <p:nvPr/>
          </p:nvSpPr>
          <p:spPr>
            <a:xfrm>
              <a:off x="4031742" y="3950018"/>
              <a:ext cx="704693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口径：满意度＝（满意＋基本满意）÷有效问卷×100%　｜　93.8%、诉求办结率 85.7%</a:t>
              </a:r>
            </a:p>
          </p:txBody>
        </p:sp>
        <p:sp>
          <p:nvSpPr>
            <p:cNvPr id="40" name="TextBox 40"/>
            <p:cNvSpPr txBox="1"/>
            <p:nvPr/>
          </p:nvSpPr>
          <p:spPr>
            <a:xfrm>
              <a:off x="10836250" y="3702368"/>
              <a:ext cx="75300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P07—P09</a:t>
              </a:r>
            </a:p>
          </p:txBody>
        </p:sp>
        <p:sp>
          <p:nvSpPr>
            <p:cNvPr id="41" name="Line 41"/>
            <p:cNvSpPr/>
            <p:nvPr/>
          </p:nvSpPr>
          <p:spPr>
            <a:xfrm>
              <a:off x="3810000" y="4229100"/>
              <a:ext cx="7772400" cy="9525"/>
            </a:xfrm>
            <a:custGeom>
              <a:avLst/>
              <a:gdLst/>
              <a:ahLst/>
              <a:cxnLst/>
              <a:rect l="l" t="t" r="r" b="b"/>
              <a:pathLst>
                <a:path w="7772400" h="9525">
                  <a:moveTo>
                    <a:pt x="0" y="0"/>
                  </a:moveTo>
                  <a:lnTo>
                    <a:pt x="7772400" y="0"/>
                  </a:lnTo>
                </a:path>
              </a:pathLst>
            </a:custGeom>
            <a:noFill/>
            <a:ln w="9525">
              <a:solidFill>
                <a:srgbClr val="E6EAEF"/>
              </a:solidFill>
            </a:ln>
          </p:spPr>
        </p:sp>
      </p:grpSp>
      <p:grpSp>
        <p:nvGrpSpPr>
          <p:cNvPr id="48" name="agenda-entry-4"/>
          <p:cNvGrpSpPr/>
          <p:nvPr/>
        </p:nvGrpSpPr>
        <p:grpSpPr>
          <a:xfrm>
            <a:off x="3810000" y="4305300"/>
            <a:ext cx="7779258" cy="695325"/>
            <a:chOff x="3810000" y="4305300"/>
            <a:chExt cx="7779258" cy="695325"/>
          </a:xfrm>
        </p:grpSpPr>
        <p:sp>
          <p:nvSpPr>
            <p:cNvPr id="43" name="Rectangle 43"/>
            <p:cNvSpPr/>
            <p:nvPr/>
          </p:nvSpPr>
          <p:spPr>
            <a:xfrm>
              <a:off x="3810000" y="4305300"/>
              <a:ext cx="38100" cy="533400"/>
            </a:xfrm>
            <a:prstGeom prst="rect">
              <a:avLst/>
            </a:prstGeom>
            <a:solidFill>
              <a:schemeClr val="accent2"/>
            </a:solidFill>
            <a:ln>
              <a:noFill/>
            </a:ln>
          </p:spPr>
        </p:sp>
        <p:sp>
          <p:nvSpPr>
            <p:cNvPr id="44" name="TextBox 44"/>
            <p:cNvSpPr txBox="1"/>
            <p:nvPr/>
          </p:nvSpPr>
          <p:spPr>
            <a:xfrm>
              <a:off x="4027932" y="4383405"/>
              <a:ext cx="181356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四、存在问题</a:t>
              </a:r>
            </a:p>
          </p:txBody>
        </p:sp>
        <p:sp>
          <p:nvSpPr>
            <p:cNvPr id="45" name="TextBox 45"/>
            <p:cNvSpPr txBox="1"/>
            <p:nvPr/>
          </p:nvSpPr>
          <p:spPr>
            <a:xfrm>
              <a:off x="4031742" y="4712018"/>
              <a:ext cx="710145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口径：每项问题标注数据出处页与具体比率　｜　五个问题，全部回溯至第二、第三部分</a:t>
              </a:r>
            </a:p>
          </p:txBody>
        </p:sp>
        <p:sp>
          <p:nvSpPr>
            <p:cNvPr id="46" name="TextBox 46"/>
            <p:cNvSpPr txBox="1"/>
            <p:nvPr/>
          </p:nvSpPr>
          <p:spPr>
            <a:xfrm>
              <a:off x="10836250" y="4464368"/>
              <a:ext cx="75300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P10—P11</a:t>
              </a:r>
            </a:p>
          </p:txBody>
        </p:sp>
        <p:sp>
          <p:nvSpPr>
            <p:cNvPr id="47" name="Line 47"/>
            <p:cNvSpPr/>
            <p:nvPr/>
          </p:nvSpPr>
          <p:spPr>
            <a:xfrm>
              <a:off x="3810000" y="4991100"/>
              <a:ext cx="7772400" cy="9525"/>
            </a:xfrm>
            <a:custGeom>
              <a:avLst/>
              <a:gdLst/>
              <a:ahLst/>
              <a:cxnLst/>
              <a:rect l="l" t="t" r="r" b="b"/>
              <a:pathLst>
                <a:path w="7772400" h="9525">
                  <a:moveTo>
                    <a:pt x="0" y="0"/>
                  </a:moveTo>
                  <a:lnTo>
                    <a:pt x="7772400" y="0"/>
                  </a:lnTo>
                </a:path>
              </a:pathLst>
            </a:custGeom>
            <a:noFill/>
            <a:ln w="9525">
              <a:solidFill>
                <a:srgbClr val="E6EAEF"/>
              </a:solidFill>
            </a:ln>
          </p:spPr>
        </p:sp>
      </p:grpSp>
      <p:grpSp>
        <p:nvGrpSpPr>
          <p:cNvPr id="54" name="agenda-entry-5"/>
          <p:cNvGrpSpPr/>
          <p:nvPr/>
        </p:nvGrpSpPr>
        <p:grpSpPr>
          <a:xfrm>
            <a:off x="3810000" y="5067300"/>
            <a:ext cx="7779258" cy="695325"/>
            <a:chOff x="3810000" y="5067300"/>
            <a:chExt cx="7779258" cy="695325"/>
          </a:xfrm>
        </p:grpSpPr>
        <p:sp>
          <p:nvSpPr>
            <p:cNvPr id="49" name="Rectangle 49"/>
            <p:cNvSpPr/>
            <p:nvPr/>
          </p:nvSpPr>
          <p:spPr>
            <a:xfrm>
              <a:off x="3810000" y="5067300"/>
              <a:ext cx="38100" cy="533400"/>
            </a:xfrm>
            <a:prstGeom prst="rect">
              <a:avLst/>
            </a:prstGeom>
            <a:solidFill>
              <a:schemeClr val="accent2"/>
            </a:solidFill>
            <a:ln>
              <a:noFill/>
            </a:ln>
          </p:spPr>
        </p:sp>
        <p:sp>
          <p:nvSpPr>
            <p:cNvPr id="50" name="TextBox 50"/>
            <p:cNvSpPr txBox="1"/>
            <p:nvPr/>
          </p:nvSpPr>
          <p:spPr>
            <a:xfrm>
              <a:off x="4027932" y="5145405"/>
              <a:ext cx="211226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五、下一步计划</a:t>
              </a:r>
            </a:p>
          </p:txBody>
        </p:sp>
        <p:sp>
          <p:nvSpPr>
            <p:cNvPr id="51" name="TextBox 51"/>
            <p:cNvSpPr txBox="1"/>
            <p:nvPr/>
          </p:nvSpPr>
          <p:spPr>
            <a:xfrm>
              <a:off x="4031742" y="5474018"/>
              <a:ext cx="5692997"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口径：目标值以“现状 → 目标”表述　｜　七项措施、三项提请审议事项</a:t>
              </a:r>
            </a:p>
          </p:txBody>
        </p:sp>
        <p:sp>
          <p:nvSpPr>
            <p:cNvPr id="52" name="TextBox 52"/>
            <p:cNvSpPr txBox="1"/>
            <p:nvPr/>
          </p:nvSpPr>
          <p:spPr>
            <a:xfrm>
              <a:off x="10836250" y="5226368"/>
              <a:ext cx="753008"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P12—P13</a:t>
              </a:r>
            </a:p>
          </p:txBody>
        </p:sp>
        <p:sp>
          <p:nvSpPr>
            <p:cNvPr id="53" name="Line 53"/>
            <p:cNvSpPr/>
            <p:nvPr/>
          </p:nvSpPr>
          <p:spPr>
            <a:xfrm>
              <a:off x="3810000" y="5753100"/>
              <a:ext cx="7772400" cy="9525"/>
            </a:xfrm>
            <a:custGeom>
              <a:avLst/>
              <a:gdLst/>
              <a:ahLst/>
              <a:cxnLst/>
              <a:rect l="l" t="t" r="r" b="b"/>
              <a:pathLst>
                <a:path w="7772400" h="9525">
                  <a:moveTo>
                    <a:pt x="0" y="0"/>
                  </a:moveTo>
                  <a:lnTo>
                    <a:pt x="7772400" y="0"/>
                  </a:lnTo>
                </a:path>
              </a:pathLst>
            </a:custGeom>
            <a:noFill/>
            <a:ln w="9525">
              <a:solidFill>
                <a:srgbClr val="E6EAEF"/>
              </a:solidFill>
            </a:ln>
          </p:spPr>
        </p:sp>
      </p:grpSp>
      <p:grpSp>
        <p:nvGrpSpPr>
          <p:cNvPr id="58" name="page-footer"/>
          <p:cNvGrpSpPr/>
          <p:nvPr/>
        </p:nvGrpSpPr>
        <p:grpSpPr>
          <a:xfrm>
            <a:off x="603504" y="6134100"/>
            <a:ext cx="10984992" cy="314706"/>
            <a:chOff x="603504" y="6134100"/>
            <a:chExt cx="10984992" cy="314706"/>
          </a:xfrm>
        </p:grpSpPr>
        <p:sp>
          <p:nvSpPr>
            <p:cNvPr id="55" name="Line 55"/>
            <p:cNvSpPr/>
            <p:nvPr/>
          </p:nvSpPr>
          <p:spPr>
            <a:xfrm>
              <a:off x="609600" y="61341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6" name="TextBox 56"/>
            <p:cNvSpPr txBox="1"/>
            <p:nvPr/>
          </p:nvSpPr>
          <p:spPr>
            <a:xfrm>
              <a:off x="603504" y="6214110"/>
              <a:ext cx="453542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数据来源：改造工作台账、专项资金决算表、第三方满意度调查</a:t>
              </a:r>
            </a:p>
          </p:txBody>
        </p:sp>
        <p:sp>
          <p:nvSpPr>
            <p:cNvPr id="57" name="TextBox 57"/>
            <p:cNvSpPr txBox="1"/>
            <p:nvPr/>
          </p:nvSpPr>
          <p:spPr>
            <a:xfrm>
              <a:off x="7513472" y="621411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8858574" y="578168"/>
              <a:ext cx="2730684"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一、改造任务完成情况 ｜ 03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429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改造任务总体完成情况</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37729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累计开工68个小区、开工率100.0%；完工63个、完工率92.6%，按统一判定阈值属“基本达标”。</a:t>
              </a:r>
            </a:p>
          </p:txBody>
        </p:sp>
      </p:grpSp>
      <p:grpSp>
        <p:nvGrpSpPr>
          <p:cNvPr id="48" name="progress-tracks"/>
          <p:cNvGrpSpPr/>
          <p:nvPr/>
        </p:nvGrpSpPr>
        <p:grpSpPr>
          <a:xfrm>
            <a:off x="601218" y="1946910"/>
            <a:ext cx="7358829" cy="3714941"/>
            <a:chOff x="601218" y="1946910"/>
            <a:chExt cx="7358829" cy="3714941"/>
          </a:xfrm>
        </p:grpSpPr>
        <p:sp>
          <p:nvSpPr>
            <p:cNvPr id="11" name="TextBox 11"/>
            <p:cNvSpPr txBox="1"/>
            <p:nvPr/>
          </p:nvSpPr>
          <p:spPr>
            <a:xfrm>
              <a:off x="2851404" y="1946910"/>
              <a:ext cx="178917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完成率标尺（判定阈值）</a:t>
              </a:r>
            </a:p>
          </p:txBody>
        </p:sp>
        <p:sp>
          <p:nvSpPr>
            <p:cNvPr id="12" name="TextBox 12"/>
            <p:cNvSpPr txBox="1"/>
            <p:nvPr/>
          </p:nvSpPr>
          <p:spPr>
            <a:xfrm>
              <a:off x="6658051" y="1946910"/>
              <a:ext cx="399898"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100%</a:t>
              </a:r>
            </a:p>
          </p:txBody>
        </p:sp>
        <p:sp>
          <p:nvSpPr>
            <p:cNvPr id="13" name="TextBox 13"/>
            <p:cNvSpPr txBox="1"/>
            <p:nvPr/>
          </p:nvSpPr>
          <p:spPr>
            <a:xfrm>
              <a:off x="2806979" y="2137410"/>
              <a:ext cx="101041"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a:t>
              </a:r>
            </a:p>
          </p:txBody>
        </p:sp>
        <p:sp>
          <p:nvSpPr>
            <p:cNvPr id="14" name="TextBox 14"/>
            <p:cNvSpPr txBox="1"/>
            <p:nvPr/>
          </p:nvSpPr>
          <p:spPr>
            <a:xfrm>
              <a:off x="6133948" y="2137410"/>
              <a:ext cx="311048" cy="234696"/>
            </a:xfrm>
            <a:prstGeom prst="rect">
              <a:avLst/>
            </a:prstGeom>
            <a:noFill/>
            <a:ln>
              <a:noFill/>
            </a:ln>
          </p:spPr>
          <p:txBody>
            <a:bodyPr wrap="none" lIns="0" tIns="0" rIns="0" bIns="0" anchor="t" anchorCtr="0">
              <a:spAutoFit/>
            </a:bodyPr>
            <a:lstStyle/>
            <a:p>
              <a:pPr algn="r"/>
              <a:r>
                <a:rPr lang="zh-CN" sz="1200" dirty="0">
                  <a:solidFill>
                    <a:srgbClr val="B26A00"/>
                  </a:solidFill>
                  <a:latin typeface="+mn-lt"/>
                  <a:ea typeface="+mn-ea"/>
                  <a:cs typeface="+mn-cs"/>
                </a:rPr>
                <a:t>90%</a:t>
              </a:r>
            </a:p>
          </p:txBody>
        </p:sp>
        <p:sp>
          <p:nvSpPr>
            <p:cNvPr id="15" name="TextBox 15"/>
            <p:cNvSpPr txBox="1"/>
            <p:nvPr/>
          </p:nvSpPr>
          <p:spPr>
            <a:xfrm>
              <a:off x="6670929" y="2137410"/>
              <a:ext cx="311048" cy="234696"/>
            </a:xfrm>
            <a:prstGeom prst="rect">
              <a:avLst/>
            </a:prstGeom>
            <a:noFill/>
            <a:ln>
              <a:noFill/>
            </a:ln>
          </p:spPr>
          <p:txBody>
            <a:bodyPr wrap="none" lIns="0" tIns="0" rIns="0" bIns="0" anchor="t" anchorCtr="0">
              <a:spAutoFit/>
            </a:bodyPr>
            <a:lstStyle/>
            <a:p>
              <a:pPr algn="l"/>
              <a:r>
                <a:rPr lang="zh-CN" sz="1200" dirty="0">
                  <a:solidFill>
                    <a:srgbClr val="B26A00"/>
                  </a:solidFill>
                  <a:latin typeface="+mn-lt"/>
                  <a:ea typeface="+mn-ea"/>
                  <a:cs typeface="+mn-cs"/>
                </a:rPr>
                <a:t>95%</a:t>
              </a:r>
            </a:p>
          </p:txBody>
        </p:sp>
        <p:sp>
          <p:nvSpPr>
            <p:cNvPr id="16" name="TextBox 16"/>
            <p:cNvSpPr txBox="1"/>
            <p:nvPr/>
          </p:nvSpPr>
          <p:spPr>
            <a:xfrm>
              <a:off x="601218" y="2222182"/>
              <a:ext cx="15716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改造小区（个）</a:t>
              </a:r>
            </a:p>
          </p:txBody>
        </p:sp>
        <p:sp>
          <p:nvSpPr>
            <p:cNvPr id="17" name="TextBox 17"/>
            <p:cNvSpPr txBox="1"/>
            <p:nvPr/>
          </p:nvSpPr>
          <p:spPr>
            <a:xfrm>
              <a:off x="602742" y="2540318"/>
              <a:ext cx="172204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计划 68 ｜ 已竣工 63</a:t>
              </a:r>
            </a:p>
          </p:txBody>
        </p:sp>
        <p:sp>
          <p:nvSpPr>
            <p:cNvPr id="18" name="Rectangle 18"/>
            <p:cNvSpPr/>
            <p:nvPr/>
          </p:nvSpPr>
          <p:spPr>
            <a:xfrm>
              <a:off x="2857500" y="2362200"/>
              <a:ext cx="4000500" cy="152400"/>
            </a:xfrm>
            <a:prstGeom prst="rect">
              <a:avLst/>
            </a:prstGeom>
            <a:solidFill>
              <a:srgbClr val="E6EAEF"/>
            </a:solidFill>
            <a:ln>
              <a:noFill/>
            </a:ln>
          </p:spPr>
        </p:sp>
        <p:sp>
          <p:nvSpPr>
            <p:cNvPr id="19" name="Rectangle 19"/>
            <p:cNvSpPr/>
            <p:nvPr/>
          </p:nvSpPr>
          <p:spPr>
            <a:xfrm>
              <a:off x="6457950" y="2362200"/>
              <a:ext cx="200025" cy="152400"/>
            </a:xfrm>
            <a:prstGeom prst="rect">
              <a:avLst/>
            </a:prstGeom>
            <a:solidFill>
              <a:srgbClr val="B26A00">
                <a:alpha val="18000"/>
              </a:srgbClr>
            </a:solidFill>
            <a:ln>
              <a:noFill/>
            </a:ln>
          </p:spPr>
        </p:sp>
        <p:sp>
          <p:nvSpPr>
            <p:cNvPr id="20" name="Rectangle 20"/>
            <p:cNvSpPr/>
            <p:nvPr/>
          </p:nvSpPr>
          <p:spPr>
            <a:xfrm>
              <a:off x="2857500" y="2362200"/>
              <a:ext cx="3704272" cy="152400"/>
            </a:xfrm>
            <a:prstGeom prst="rect">
              <a:avLst/>
            </a:prstGeom>
            <a:solidFill>
              <a:schemeClr val="accent1"/>
            </a:solidFill>
            <a:ln>
              <a:noFill/>
            </a:ln>
          </p:spPr>
        </p:sp>
        <p:sp>
          <p:nvSpPr>
            <p:cNvPr id="21" name="Line 21"/>
            <p:cNvSpPr/>
            <p:nvPr/>
          </p:nvSpPr>
          <p:spPr>
            <a:xfrm>
              <a:off x="6858000" y="2324100"/>
              <a:ext cx="9525" cy="228600"/>
            </a:xfrm>
            <a:custGeom>
              <a:avLst/>
              <a:gdLst/>
              <a:ahLst/>
              <a:cxnLst/>
              <a:rect l="l" t="t" r="r" b="b"/>
              <a:pathLst>
                <a:path w="9525" h="228600">
                  <a:moveTo>
                    <a:pt x="0" y="0"/>
                  </a:moveTo>
                  <a:lnTo>
                    <a:pt x="0" y="228600"/>
                  </a:lnTo>
                </a:path>
              </a:pathLst>
            </a:custGeom>
            <a:noFill/>
            <a:ln w="9525">
              <a:solidFill>
                <a:srgbClr val="5B6672"/>
              </a:solidFill>
            </a:ln>
          </p:spPr>
        </p:sp>
        <p:sp>
          <p:nvSpPr>
            <p:cNvPr id="22" name="TextBox 22"/>
            <p:cNvSpPr txBox="1"/>
            <p:nvPr/>
          </p:nvSpPr>
          <p:spPr>
            <a:xfrm>
              <a:off x="6998970" y="2290762"/>
              <a:ext cx="961077" cy="440055"/>
            </a:xfrm>
            <a:prstGeom prst="rect">
              <a:avLst/>
            </a:prstGeom>
            <a:noFill/>
            <a:ln>
              <a:noFill/>
            </a:ln>
          </p:spPr>
          <p:txBody>
            <a:bodyPr wrap="none" lIns="0" tIns="0" rIns="0" bIns="0" anchor="t" anchorCtr="0">
              <a:spAutoFit/>
            </a:bodyPr>
            <a:lstStyle/>
            <a:p>
              <a:pPr algn="l"/>
              <a:r>
                <a:rPr lang="zh-CN" sz="2250" b="1" dirty="0">
                  <a:solidFill>
                    <a:srgbClr val="B26A00"/>
                  </a:solidFill>
                  <a:latin typeface="+mn-lt"/>
                  <a:ea typeface="+mn-ea"/>
                  <a:cs typeface="+mn-cs"/>
                </a:rPr>
                <a:t>92.6%</a:t>
              </a:r>
            </a:p>
          </p:txBody>
        </p:sp>
        <p:sp>
          <p:nvSpPr>
            <p:cNvPr id="23" name="TextBox 23"/>
            <p:cNvSpPr txBox="1"/>
            <p:nvPr/>
          </p:nvSpPr>
          <p:spPr>
            <a:xfrm>
              <a:off x="7003542" y="2654618"/>
              <a:ext cx="740664" cy="264033"/>
            </a:xfrm>
            <a:prstGeom prst="rect">
              <a:avLst/>
            </a:prstGeom>
            <a:noFill/>
            <a:ln>
              <a:noFill/>
            </a:ln>
          </p:spPr>
          <p:txBody>
            <a:bodyPr wrap="none" lIns="0" tIns="0" rIns="0" bIns="0" anchor="t" anchorCtr="0">
              <a:spAutoFit/>
            </a:bodyPr>
            <a:lstStyle/>
            <a:p>
              <a:pPr algn="l"/>
              <a:r>
                <a:rPr lang="zh-CN" sz="1350" dirty="0">
                  <a:solidFill>
                    <a:srgbClr val="B26A00"/>
                  </a:solidFill>
                  <a:latin typeface="+mn-lt"/>
                  <a:ea typeface="+mn-ea"/>
                  <a:cs typeface="+mn-cs"/>
                </a:rPr>
                <a:t>基本达标</a:t>
              </a:r>
            </a:p>
          </p:txBody>
        </p:sp>
        <p:sp>
          <p:nvSpPr>
            <p:cNvPr id="24" name="TextBox 24"/>
            <p:cNvSpPr txBox="1"/>
            <p:nvPr/>
          </p:nvSpPr>
          <p:spPr>
            <a:xfrm>
              <a:off x="601218" y="3136582"/>
              <a:ext cx="15716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改造楼栋（栋）</a:t>
              </a:r>
            </a:p>
          </p:txBody>
        </p:sp>
        <p:sp>
          <p:nvSpPr>
            <p:cNvPr id="25" name="TextBox 25"/>
            <p:cNvSpPr txBox="1"/>
            <p:nvPr/>
          </p:nvSpPr>
          <p:spPr>
            <a:xfrm>
              <a:off x="602742" y="3454718"/>
              <a:ext cx="192195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计划 512 ｜ 已完成 476</a:t>
              </a:r>
            </a:p>
          </p:txBody>
        </p:sp>
        <p:sp>
          <p:nvSpPr>
            <p:cNvPr id="26" name="Rectangle 26"/>
            <p:cNvSpPr/>
            <p:nvPr/>
          </p:nvSpPr>
          <p:spPr>
            <a:xfrm>
              <a:off x="2857500" y="3276600"/>
              <a:ext cx="4000500" cy="152400"/>
            </a:xfrm>
            <a:prstGeom prst="rect">
              <a:avLst/>
            </a:prstGeom>
            <a:solidFill>
              <a:srgbClr val="E6EAEF"/>
            </a:solidFill>
            <a:ln>
              <a:noFill/>
            </a:ln>
          </p:spPr>
        </p:sp>
        <p:sp>
          <p:nvSpPr>
            <p:cNvPr id="27" name="Rectangle 27"/>
            <p:cNvSpPr/>
            <p:nvPr/>
          </p:nvSpPr>
          <p:spPr>
            <a:xfrm>
              <a:off x="6457950" y="3276600"/>
              <a:ext cx="200025" cy="152400"/>
            </a:xfrm>
            <a:prstGeom prst="rect">
              <a:avLst/>
            </a:prstGeom>
            <a:solidFill>
              <a:srgbClr val="B26A00">
                <a:alpha val="18000"/>
              </a:srgbClr>
            </a:solidFill>
            <a:ln>
              <a:noFill/>
            </a:ln>
          </p:spPr>
        </p:sp>
        <p:sp>
          <p:nvSpPr>
            <p:cNvPr id="28" name="Rectangle 28"/>
            <p:cNvSpPr/>
            <p:nvPr/>
          </p:nvSpPr>
          <p:spPr>
            <a:xfrm>
              <a:off x="2857500" y="3276600"/>
              <a:ext cx="3720465" cy="152400"/>
            </a:xfrm>
            <a:prstGeom prst="rect">
              <a:avLst/>
            </a:prstGeom>
            <a:solidFill>
              <a:schemeClr val="accent1"/>
            </a:solidFill>
            <a:ln>
              <a:noFill/>
            </a:ln>
          </p:spPr>
        </p:sp>
        <p:sp>
          <p:nvSpPr>
            <p:cNvPr id="29" name="Line 29"/>
            <p:cNvSpPr/>
            <p:nvPr/>
          </p:nvSpPr>
          <p:spPr>
            <a:xfrm>
              <a:off x="6858000" y="3238500"/>
              <a:ext cx="9525" cy="228600"/>
            </a:xfrm>
            <a:custGeom>
              <a:avLst/>
              <a:gdLst/>
              <a:ahLst/>
              <a:cxnLst/>
              <a:rect l="l" t="t" r="r" b="b"/>
              <a:pathLst>
                <a:path w="9525" h="228600">
                  <a:moveTo>
                    <a:pt x="0" y="0"/>
                  </a:moveTo>
                  <a:lnTo>
                    <a:pt x="0" y="228600"/>
                  </a:lnTo>
                </a:path>
              </a:pathLst>
            </a:custGeom>
            <a:noFill/>
            <a:ln w="9525">
              <a:solidFill>
                <a:srgbClr val="5B6672"/>
              </a:solidFill>
            </a:ln>
          </p:spPr>
        </p:sp>
        <p:sp>
          <p:nvSpPr>
            <p:cNvPr id="30" name="TextBox 30"/>
            <p:cNvSpPr txBox="1"/>
            <p:nvPr/>
          </p:nvSpPr>
          <p:spPr>
            <a:xfrm>
              <a:off x="6998970" y="3205162"/>
              <a:ext cx="961077" cy="440055"/>
            </a:xfrm>
            <a:prstGeom prst="rect">
              <a:avLst/>
            </a:prstGeom>
            <a:noFill/>
            <a:ln>
              <a:noFill/>
            </a:ln>
          </p:spPr>
          <p:txBody>
            <a:bodyPr wrap="none" lIns="0" tIns="0" rIns="0" bIns="0" anchor="t" anchorCtr="0">
              <a:spAutoFit/>
            </a:bodyPr>
            <a:lstStyle/>
            <a:p>
              <a:pPr algn="l"/>
              <a:r>
                <a:rPr lang="zh-CN" sz="2250" b="1" dirty="0">
                  <a:solidFill>
                    <a:srgbClr val="B26A00"/>
                  </a:solidFill>
                  <a:latin typeface="+mn-lt"/>
                  <a:ea typeface="+mn-ea"/>
                  <a:cs typeface="+mn-cs"/>
                </a:rPr>
                <a:t>93.0%</a:t>
              </a:r>
            </a:p>
          </p:txBody>
        </p:sp>
        <p:sp>
          <p:nvSpPr>
            <p:cNvPr id="31" name="TextBox 31"/>
            <p:cNvSpPr txBox="1"/>
            <p:nvPr/>
          </p:nvSpPr>
          <p:spPr>
            <a:xfrm>
              <a:off x="7003542" y="3569018"/>
              <a:ext cx="740664" cy="264033"/>
            </a:xfrm>
            <a:prstGeom prst="rect">
              <a:avLst/>
            </a:prstGeom>
            <a:noFill/>
            <a:ln>
              <a:noFill/>
            </a:ln>
          </p:spPr>
          <p:txBody>
            <a:bodyPr wrap="none" lIns="0" tIns="0" rIns="0" bIns="0" anchor="t" anchorCtr="0">
              <a:spAutoFit/>
            </a:bodyPr>
            <a:lstStyle/>
            <a:p>
              <a:pPr algn="l"/>
              <a:r>
                <a:rPr lang="zh-CN" sz="1350" dirty="0">
                  <a:solidFill>
                    <a:srgbClr val="B26A00"/>
                  </a:solidFill>
                  <a:latin typeface="+mn-lt"/>
                  <a:ea typeface="+mn-ea"/>
                  <a:cs typeface="+mn-cs"/>
                </a:rPr>
                <a:t>基本达标</a:t>
              </a:r>
            </a:p>
          </p:txBody>
        </p:sp>
        <p:sp>
          <p:nvSpPr>
            <p:cNvPr id="32" name="TextBox 32"/>
            <p:cNvSpPr txBox="1"/>
            <p:nvPr/>
          </p:nvSpPr>
          <p:spPr>
            <a:xfrm>
              <a:off x="601218" y="4050982"/>
              <a:ext cx="179374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惠及居民（万户）</a:t>
              </a:r>
            </a:p>
          </p:txBody>
        </p:sp>
        <p:sp>
          <p:nvSpPr>
            <p:cNvPr id="33" name="TextBox 33"/>
            <p:cNvSpPr txBox="1"/>
            <p:nvPr/>
          </p:nvSpPr>
          <p:spPr>
            <a:xfrm>
              <a:off x="602742" y="4369118"/>
              <a:ext cx="2121865"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计划 2.14 ｜ 已完成 1.98</a:t>
              </a:r>
            </a:p>
          </p:txBody>
        </p:sp>
        <p:sp>
          <p:nvSpPr>
            <p:cNvPr id="34" name="Rectangle 34"/>
            <p:cNvSpPr/>
            <p:nvPr/>
          </p:nvSpPr>
          <p:spPr>
            <a:xfrm>
              <a:off x="2857500" y="4191000"/>
              <a:ext cx="4000500" cy="152400"/>
            </a:xfrm>
            <a:prstGeom prst="rect">
              <a:avLst/>
            </a:prstGeom>
            <a:solidFill>
              <a:srgbClr val="E6EAEF"/>
            </a:solidFill>
            <a:ln>
              <a:noFill/>
            </a:ln>
          </p:spPr>
        </p:sp>
        <p:sp>
          <p:nvSpPr>
            <p:cNvPr id="35" name="Rectangle 35"/>
            <p:cNvSpPr/>
            <p:nvPr/>
          </p:nvSpPr>
          <p:spPr>
            <a:xfrm>
              <a:off x="6457950" y="4191000"/>
              <a:ext cx="200025" cy="152400"/>
            </a:xfrm>
            <a:prstGeom prst="rect">
              <a:avLst/>
            </a:prstGeom>
            <a:solidFill>
              <a:srgbClr val="B26A00">
                <a:alpha val="18000"/>
              </a:srgbClr>
            </a:solidFill>
            <a:ln>
              <a:noFill/>
            </a:ln>
          </p:spPr>
        </p:sp>
        <p:sp>
          <p:nvSpPr>
            <p:cNvPr id="36" name="Rectangle 36"/>
            <p:cNvSpPr/>
            <p:nvPr/>
          </p:nvSpPr>
          <p:spPr>
            <a:xfrm>
              <a:off x="2857500" y="4191000"/>
              <a:ext cx="3700462" cy="152400"/>
            </a:xfrm>
            <a:prstGeom prst="rect">
              <a:avLst/>
            </a:prstGeom>
            <a:solidFill>
              <a:schemeClr val="accent1"/>
            </a:solidFill>
            <a:ln>
              <a:noFill/>
            </a:ln>
          </p:spPr>
        </p:sp>
        <p:sp>
          <p:nvSpPr>
            <p:cNvPr id="37" name="Line 37"/>
            <p:cNvSpPr/>
            <p:nvPr/>
          </p:nvSpPr>
          <p:spPr>
            <a:xfrm>
              <a:off x="6858000" y="4152900"/>
              <a:ext cx="9525" cy="228600"/>
            </a:xfrm>
            <a:custGeom>
              <a:avLst/>
              <a:gdLst/>
              <a:ahLst/>
              <a:cxnLst/>
              <a:rect l="l" t="t" r="r" b="b"/>
              <a:pathLst>
                <a:path w="9525" h="228600">
                  <a:moveTo>
                    <a:pt x="0" y="0"/>
                  </a:moveTo>
                  <a:lnTo>
                    <a:pt x="0" y="228600"/>
                  </a:lnTo>
                </a:path>
              </a:pathLst>
            </a:custGeom>
            <a:noFill/>
            <a:ln w="9525">
              <a:solidFill>
                <a:srgbClr val="5B6672"/>
              </a:solidFill>
            </a:ln>
          </p:spPr>
        </p:sp>
        <p:sp>
          <p:nvSpPr>
            <p:cNvPr id="38" name="TextBox 38"/>
            <p:cNvSpPr txBox="1"/>
            <p:nvPr/>
          </p:nvSpPr>
          <p:spPr>
            <a:xfrm>
              <a:off x="6998970" y="4119562"/>
              <a:ext cx="961077" cy="440055"/>
            </a:xfrm>
            <a:prstGeom prst="rect">
              <a:avLst/>
            </a:prstGeom>
            <a:noFill/>
            <a:ln>
              <a:noFill/>
            </a:ln>
          </p:spPr>
          <p:txBody>
            <a:bodyPr wrap="none" lIns="0" tIns="0" rIns="0" bIns="0" anchor="t" anchorCtr="0">
              <a:spAutoFit/>
            </a:bodyPr>
            <a:lstStyle/>
            <a:p>
              <a:pPr algn="l"/>
              <a:r>
                <a:rPr lang="zh-CN" sz="2250" b="1" dirty="0">
                  <a:solidFill>
                    <a:srgbClr val="B26A00"/>
                  </a:solidFill>
                  <a:latin typeface="+mn-lt"/>
                  <a:ea typeface="+mn-ea"/>
                  <a:cs typeface="+mn-cs"/>
                </a:rPr>
                <a:t>92.5%</a:t>
              </a:r>
            </a:p>
          </p:txBody>
        </p:sp>
        <p:sp>
          <p:nvSpPr>
            <p:cNvPr id="39" name="TextBox 39"/>
            <p:cNvSpPr txBox="1"/>
            <p:nvPr/>
          </p:nvSpPr>
          <p:spPr>
            <a:xfrm>
              <a:off x="7003542" y="4483418"/>
              <a:ext cx="740664" cy="264033"/>
            </a:xfrm>
            <a:prstGeom prst="rect">
              <a:avLst/>
            </a:prstGeom>
            <a:noFill/>
            <a:ln>
              <a:noFill/>
            </a:ln>
          </p:spPr>
          <p:txBody>
            <a:bodyPr wrap="none" lIns="0" tIns="0" rIns="0" bIns="0" anchor="t" anchorCtr="0">
              <a:spAutoFit/>
            </a:bodyPr>
            <a:lstStyle/>
            <a:p>
              <a:pPr algn="l"/>
              <a:r>
                <a:rPr lang="zh-CN" sz="1350" dirty="0">
                  <a:solidFill>
                    <a:srgbClr val="B26A00"/>
                  </a:solidFill>
                  <a:latin typeface="+mn-lt"/>
                  <a:ea typeface="+mn-ea"/>
                  <a:cs typeface="+mn-cs"/>
                </a:rPr>
                <a:t>基本达标</a:t>
              </a:r>
            </a:p>
          </p:txBody>
        </p:sp>
        <p:sp>
          <p:nvSpPr>
            <p:cNvPr id="40" name="TextBox 40"/>
            <p:cNvSpPr txBox="1"/>
            <p:nvPr/>
          </p:nvSpPr>
          <p:spPr>
            <a:xfrm>
              <a:off x="601218" y="4965382"/>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建筑面积（万平方米）</a:t>
              </a:r>
            </a:p>
          </p:txBody>
        </p:sp>
        <p:sp>
          <p:nvSpPr>
            <p:cNvPr id="41" name="TextBox 41"/>
            <p:cNvSpPr txBox="1"/>
            <p:nvPr/>
          </p:nvSpPr>
          <p:spPr>
            <a:xfrm>
              <a:off x="602742" y="5283518"/>
              <a:ext cx="2321776"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计划 186.5 ｜ 已完成 173.4</a:t>
              </a:r>
            </a:p>
          </p:txBody>
        </p:sp>
        <p:sp>
          <p:nvSpPr>
            <p:cNvPr id="42" name="Rectangle 42"/>
            <p:cNvSpPr/>
            <p:nvPr/>
          </p:nvSpPr>
          <p:spPr>
            <a:xfrm>
              <a:off x="2857500" y="5105400"/>
              <a:ext cx="4000500" cy="152400"/>
            </a:xfrm>
            <a:prstGeom prst="rect">
              <a:avLst/>
            </a:prstGeom>
            <a:solidFill>
              <a:srgbClr val="E6EAEF"/>
            </a:solidFill>
            <a:ln>
              <a:noFill/>
            </a:ln>
          </p:spPr>
        </p:sp>
        <p:sp>
          <p:nvSpPr>
            <p:cNvPr id="43" name="Rectangle 43"/>
            <p:cNvSpPr/>
            <p:nvPr/>
          </p:nvSpPr>
          <p:spPr>
            <a:xfrm>
              <a:off x="6457950" y="5105400"/>
              <a:ext cx="200025" cy="152400"/>
            </a:xfrm>
            <a:prstGeom prst="rect">
              <a:avLst/>
            </a:prstGeom>
            <a:solidFill>
              <a:srgbClr val="B26A00">
                <a:alpha val="18000"/>
              </a:srgbClr>
            </a:solidFill>
            <a:ln>
              <a:noFill/>
            </a:ln>
          </p:spPr>
        </p:sp>
        <p:sp>
          <p:nvSpPr>
            <p:cNvPr id="44" name="Rectangle 44"/>
            <p:cNvSpPr/>
            <p:nvPr/>
          </p:nvSpPr>
          <p:spPr>
            <a:xfrm>
              <a:off x="2857500" y="5105400"/>
              <a:ext cx="3720465" cy="152400"/>
            </a:xfrm>
            <a:prstGeom prst="rect">
              <a:avLst/>
            </a:prstGeom>
            <a:solidFill>
              <a:schemeClr val="accent1"/>
            </a:solidFill>
            <a:ln>
              <a:noFill/>
            </a:ln>
          </p:spPr>
        </p:sp>
        <p:sp>
          <p:nvSpPr>
            <p:cNvPr id="45" name="Line 45"/>
            <p:cNvSpPr/>
            <p:nvPr/>
          </p:nvSpPr>
          <p:spPr>
            <a:xfrm>
              <a:off x="6858000" y="5067300"/>
              <a:ext cx="9525" cy="228600"/>
            </a:xfrm>
            <a:custGeom>
              <a:avLst/>
              <a:gdLst/>
              <a:ahLst/>
              <a:cxnLst/>
              <a:rect l="l" t="t" r="r" b="b"/>
              <a:pathLst>
                <a:path w="9525" h="228600">
                  <a:moveTo>
                    <a:pt x="0" y="0"/>
                  </a:moveTo>
                  <a:lnTo>
                    <a:pt x="0" y="228600"/>
                  </a:lnTo>
                </a:path>
              </a:pathLst>
            </a:custGeom>
            <a:noFill/>
            <a:ln w="9525">
              <a:solidFill>
                <a:srgbClr val="5B6672"/>
              </a:solidFill>
            </a:ln>
          </p:spPr>
        </p:sp>
        <p:sp>
          <p:nvSpPr>
            <p:cNvPr id="46" name="TextBox 46"/>
            <p:cNvSpPr txBox="1"/>
            <p:nvPr/>
          </p:nvSpPr>
          <p:spPr>
            <a:xfrm>
              <a:off x="6998970" y="5033962"/>
              <a:ext cx="961077" cy="440055"/>
            </a:xfrm>
            <a:prstGeom prst="rect">
              <a:avLst/>
            </a:prstGeom>
            <a:noFill/>
            <a:ln>
              <a:noFill/>
            </a:ln>
          </p:spPr>
          <p:txBody>
            <a:bodyPr wrap="none" lIns="0" tIns="0" rIns="0" bIns="0" anchor="t" anchorCtr="0">
              <a:spAutoFit/>
            </a:bodyPr>
            <a:lstStyle/>
            <a:p>
              <a:pPr algn="l"/>
              <a:r>
                <a:rPr lang="zh-CN" sz="2250" b="1" dirty="0">
                  <a:solidFill>
                    <a:srgbClr val="B26A00"/>
                  </a:solidFill>
                  <a:latin typeface="+mn-lt"/>
                  <a:ea typeface="+mn-ea"/>
                  <a:cs typeface="+mn-cs"/>
                </a:rPr>
                <a:t>93.0%</a:t>
              </a:r>
            </a:p>
          </p:txBody>
        </p:sp>
        <p:sp>
          <p:nvSpPr>
            <p:cNvPr id="47" name="TextBox 47"/>
            <p:cNvSpPr txBox="1"/>
            <p:nvPr/>
          </p:nvSpPr>
          <p:spPr>
            <a:xfrm>
              <a:off x="7003542" y="5397818"/>
              <a:ext cx="740664" cy="264033"/>
            </a:xfrm>
            <a:prstGeom prst="rect">
              <a:avLst/>
            </a:prstGeom>
            <a:noFill/>
            <a:ln>
              <a:noFill/>
            </a:ln>
          </p:spPr>
          <p:txBody>
            <a:bodyPr wrap="none" lIns="0" tIns="0" rIns="0" bIns="0" anchor="t" anchorCtr="0">
              <a:spAutoFit/>
            </a:bodyPr>
            <a:lstStyle/>
            <a:p>
              <a:pPr algn="l"/>
              <a:r>
                <a:rPr lang="zh-CN" sz="1350" dirty="0">
                  <a:solidFill>
                    <a:srgbClr val="B26A00"/>
                  </a:solidFill>
                  <a:latin typeface="+mn-lt"/>
                  <a:ea typeface="+mn-ea"/>
                  <a:cs typeface="+mn-cs"/>
                </a:rPr>
                <a:t>基本达标</a:t>
              </a:r>
            </a:p>
          </p:txBody>
        </p:sp>
      </p:grpSp>
      <p:grpSp>
        <p:nvGrpSpPr>
          <p:cNvPr id="67" name="task-scale-panel"/>
          <p:cNvGrpSpPr/>
          <p:nvPr/>
        </p:nvGrpSpPr>
        <p:grpSpPr>
          <a:xfrm>
            <a:off x="8382000" y="1943100"/>
            <a:ext cx="3200400" cy="4086606"/>
            <a:chOff x="8382000" y="1943100"/>
            <a:chExt cx="3200400" cy="4086606"/>
          </a:xfrm>
        </p:grpSpPr>
        <p:sp>
          <p:nvSpPr>
            <p:cNvPr id="49" name="Rectangle 49"/>
            <p:cNvSpPr/>
            <p:nvPr/>
          </p:nvSpPr>
          <p:spPr>
            <a:xfrm>
              <a:off x="8382000" y="1943100"/>
              <a:ext cx="3200400" cy="4076700"/>
            </a:xfrm>
            <a:prstGeom prst="rect">
              <a:avLst/>
            </a:prstGeom>
            <a:solidFill>
              <a:schemeClr val="lt2"/>
            </a:solidFill>
            <a:ln>
              <a:noFill/>
            </a:ln>
          </p:spPr>
        </p:sp>
        <p:sp>
          <p:nvSpPr>
            <p:cNvPr id="50" name="Rectangle 50"/>
            <p:cNvSpPr/>
            <p:nvPr/>
          </p:nvSpPr>
          <p:spPr>
            <a:xfrm>
              <a:off x="8382000" y="1943100"/>
              <a:ext cx="3200400" cy="28575"/>
            </a:xfrm>
            <a:prstGeom prst="rect">
              <a:avLst/>
            </a:prstGeom>
            <a:solidFill>
              <a:schemeClr val="accent1"/>
            </a:solidFill>
            <a:ln>
              <a:noFill/>
            </a:ln>
          </p:spPr>
        </p:sp>
        <p:sp>
          <p:nvSpPr>
            <p:cNvPr id="51" name="TextBox 51"/>
            <p:cNvSpPr txBox="1"/>
            <p:nvPr/>
          </p:nvSpPr>
          <p:spPr>
            <a:xfrm>
              <a:off x="8602980" y="2162175"/>
              <a:ext cx="102489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计划总盘子</a:t>
              </a:r>
            </a:p>
          </p:txBody>
        </p:sp>
        <p:sp>
          <p:nvSpPr>
            <p:cNvPr id="52" name="TextBox 52"/>
            <p:cNvSpPr txBox="1"/>
            <p:nvPr/>
          </p:nvSpPr>
          <p:spPr>
            <a:xfrm>
              <a:off x="8604504" y="2442210"/>
              <a:ext cx="229804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2023—2025年，2000年底前建成</a:t>
              </a:r>
            </a:p>
          </p:txBody>
        </p:sp>
        <p:sp>
          <p:nvSpPr>
            <p:cNvPr id="53" name="TextBox 53"/>
            <p:cNvSpPr txBox="1"/>
            <p:nvPr/>
          </p:nvSpPr>
          <p:spPr>
            <a:xfrm>
              <a:off x="8604504" y="278511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改造小区</a:t>
              </a:r>
            </a:p>
          </p:txBody>
        </p:sp>
        <p:sp>
          <p:nvSpPr>
            <p:cNvPr id="54" name="TextBox 54"/>
            <p:cNvSpPr txBox="1"/>
            <p:nvPr/>
          </p:nvSpPr>
          <p:spPr>
            <a:xfrm>
              <a:off x="9804654" y="278511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涉及楼栋</a:t>
              </a:r>
            </a:p>
          </p:txBody>
        </p:sp>
        <p:sp>
          <p:nvSpPr>
            <p:cNvPr id="55" name="TextBox 55"/>
            <p:cNvSpPr txBox="1"/>
            <p:nvPr/>
          </p:nvSpPr>
          <p:spPr>
            <a:xfrm>
              <a:off x="8602218" y="3022282"/>
              <a:ext cx="56540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68 个</a:t>
              </a:r>
            </a:p>
          </p:txBody>
        </p:sp>
        <p:sp>
          <p:nvSpPr>
            <p:cNvPr id="56" name="TextBox 56"/>
            <p:cNvSpPr txBox="1"/>
            <p:nvPr/>
          </p:nvSpPr>
          <p:spPr>
            <a:xfrm>
              <a:off x="9802368" y="3022282"/>
              <a:ext cx="69368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512 栋</a:t>
              </a:r>
            </a:p>
          </p:txBody>
        </p:sp>
        <p:sp>
          <p:nvSpPr>
            <p:cNvPr id="57" name="TextBox 57"/>
            <p:cNvSpPr txBox="1"/>
            <p:nvPr/>
          </p:nvSpPr>
          <p:spPr>
            <a:xfrm>
              <a:off x="8604504" y="348996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涉及居民</a:t>
              </a:r>
            </a:p>
          </p:txBody>
        </p:sp>
        <p:sp>
          <p:nvSpPr>
            <p:cNvPr id="58" name="TextBox 58"/>
            <p:cNvSpPr txBox="1"/>
            <p:nvPr/>
          </p:nvSpPr>
          <p:spPr>
            <a:xfrm>
              <a:off x="9804654" y="348996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建筑面积</a:t>
              </a:r>
            </a:p>
          </p:txBody>
        </p:sp>
        <p:sp>
          <p:nvSpPr>
            <p:cNvPr id="59" name="TextBox 59"/>
            <p:cNvSpPr txBox="1"/>
            <p:nvPr/>
          </p:nvSpPr>
          <p:spPr>
            <a:xfrm>
              <a:off x="8602218" y="3727132"/>
              <a:ext cx="104408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2.14 万户</a:t>
              </a:r>
            </a:p>
          </p:txBody>
        </p:sp>
        <p:sp>
          <p:nvSpPr>
            <p:cNvPr id="60" name="TextBox 60"/>
            <p:cNvSpPr txBox="1"/>
            <p:nvPr/>
          </p:nvSpPr>
          <p:spPr>
            <a:xfrm>
              <a:off x="9802368" y="3727132"/>
              <a:ext cx="161660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186.5 万平方米</a:t>
              </a:r>
            </a:p>
          </p:txBody>
        </p:sp>
        <p:sp>
          <p:nvSpPr>
            <p:cNvPr id="61" name="Line 61"/>
            <p:cNvSpPr/>
            <p:nvPr/>
          </p:nvSpPr>
          <p:spPr>
            <a:xfrm>
              <a:off x="8610600" y="415290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62" name="TextBox 62"/>
            <p:cNvSpPr txBox="1"/>
            <p:nvPr/>
          </p:nvSpPr>
          <p:spPr>
            <a:xfrm>
              <a:off x="8602980" y="427672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在建情况</a:t>
              </a:r>
            </a:p>
          </p:txBody>
        </p:sp>
        <p:sp>
          <p:nvSpPr>
            <p:cNvPr id="63" name="TextBox 63"/>
            <p:cNvSpPr txBox="1"/>
            <p:nvPr/>
          </p:nvSpPr>
          <p:spPr>
            <a:xfrm>
              <a:off x="8603742" y="4559618"/>
              <a:ext cx="238829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在建5个小区、36栋、1600户、</a:t>
              </a:r>
              <a:br/>
              <a:r>
                <a:rPr lang="zh-CN" sz="1350" dirty="0">
                  <a:solidFill>
                    <a:schemeClr val="dk1"/>
                  </a:solidFill>
                  <a:latin typeface="+mn-lt"/>
                  <a:ea typeface="+mn-ea"/>
                  <a:cs typeface="+mn-cs"/>
                </a:rPr>
                <a:t>13.1万平方米，占计划7.4%</a:t>
              </a:r>
            </a:p>
          </p:txBody>
        </p:sp>
        <p:sp>
          <p:nvSpPr>
            <p:cNvPr id="64" name="Line 64"/>
            <p:cNvSpPr/>
            <p:nvPr/>
          </p:nvSpPr>
          <p:spPr>
            <a:xfrm>
              <a:off x="8610600" y="518160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65" name="TextBox 65"/>
            <p:cNvSpPr txBox="1"/>
            <p:nvPr/>
          </p:nvSpPr>
          <p:spPr>
            <a:xfrm>
              <a:off x="8602980" y="530542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总体判定</a:t>
              </a:r>
            </a:p>
          </p:txBody>
        </p:sp>
        <p:sp>
          <p:nvSpPr>
            <p:cNvPr id="66" name="TextBox 66"/>
            <p:cNvSpPr txBox="1"/>
            <p:nvPr/>
          </p:nvSpPr>
          <p:spPr>
            <a:xfrm>
              <a:off x="8604504" y="5585460"/>
              <a:ext cx="2298192" cy="444246"/>
            </a:xfrm>
            <a:prstGeom prst="rect">
              <a:avLst/>
            </a:prstGeom>
            <a:noFill/>
            <a:ln>
              <a:noFill/>
            </a:ln>
          </p:spPr>
          <p:txBody>
            <a:bodyPr wrap="none" lIns="0" tIns="0" rIns="0" bIns="0" anchor="t" anchorCtr="0">
              <a:spAutoFit/>
            </a:bodyPr>
            <a:lstStyle/>
            <a:p>
              <a:pPr algn="l">
                <a:lnSpc>
                  <a:spcPts val="1650"/>
                </a:lnSpc>
              </a:pPr>
              <a:r>
                <a:rPr lang="zh-CN" sz="1200" dirty="0">
                  <a:solidFill>
                    <a:schemeClr val="dk1"/>
                  </a:solidFill>
                  <a:latin typeface="+mn-lt"/>
                  <a:ea typeface="+mn-ea"/>
                  <a:cs typeface="+mn-cs"/>
                </a:rPr>
                <a:t>四项总量完成率均落在90%—95%</a:t>
              </a:r>
              <a:br/>
              <a:r>
                <a:rPr lang="zh-CN" sz="1200" dirty="0">
                  <a:solidFill>
                    <a:schemeClr val="dk1"/>
                  </a:solidFill>
                  <a:latin typeface="+mn-lt"/>
                  <a:ea typeface="+mn-ea"/>
                  <a:cs typeface="+mn-cs"/>
                </a:rPr>
                <a:t>区间，按统一阈值判定为基本达标</a:t>
              </a:r>
            </a:p>
          </p:txBody>
        </p:sp>
      </p:grpSp>
      <p:grpSp>
        <p:nvGrpSpPr>
          <p:cNvPr id="69" name="calibre-note"/>
          <p:cNvGrpSpPr/>
          <p:nvPr/>
        </p:nvGrpSpPr>
        <p:grpSpPr>
          <a:xfrm>
            <a:off x="603504" y="5795010"/>
            <a:ext cx="6255868" cy="234696"/>
            <a:chOff x="603504" y="5795010"/>
            <a:chExt cx="6255868" cy="234696"/>
          </a:xfrm>
        </p:grpSpPr>
        <p:sp>
          <p:nvSpPr>
            <p:cNvPr id="68" name="TextBox 68"/>
            <p:cNvSpPr txBox="1"/>
            <p:nvPr/>
          </p:nvSpPr>
          <p:spPr>
            <a:xfrm>
              <a:off x="603504" y="5795010"/>
              <a:ext cx="62558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口径说明：完工率＝已通过竣工验收小区数÷计划改造小区数；“在建”指已开工未竣工。</a:t>
              </a:r>
            </a:p>
          </p:txBody>
        </p:sp>
      </p:grpSp>
      <p:grpSp>
        <p:nvGrpSpPr>
          <p:cNvPr id="73" name="page-footer"/>
          <p:cNvGrpSpPr/>
          <p:nvPr/>
        </p:nvGrpSpPr>
        <p:grpSpPr>
          <a:xfrm>
            <a:off x="603504" y="6134100"/>
            <a:ext cx="10984992" cy="314706"/>
            <a:chOff x="603504" y="6134100"/>
            <a:chExt cx="10984992" cy="314706"/>
          </a:xfrm>
        </p:grpSpPr>
        <p:sp>
          <p:nvSpPr>
            <p:cNvPr id="70" name="Line 70"/>
            <p:cNvSpPr/>
            <p:nvPr/>
          </p:nvSpPr>
          <p:spPr>
            <a:xfrm>
              <a:off x="609600" y="61341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1" name="TextBox 71"/>
            <p:cNvSpPr txBox="1"/>
            <p:nvPr/>
          </p:nvSpPr>
          <p:spPr>
            <a:xfrm>
              <a:off x="603504" y="6214110"/>
              <a:ext cx="308152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数据来源：改造工作台账、竣工验收备案表</a:t>
              </a:r>
            </a:p>
          </p:txBody>
        </p:sp>
        <p:sp>
          <p:nvSpPr>
            <p:cNvPr id="72" name="TextBox 72"/>
            <p:cNvSpPr txBox="1"/>
            <p:nvPr/>
          </p:nvSpPr>
          <p:spPr>
            <a:xfrm>
              <a:off x="7513472" y="621411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8858574" y="578168"/>
              <a:ext cx="2730684"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一、改造任务完成情况 ｜ 04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429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分项改造任务完成明细</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54691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基础设施类完成率均高于90.0%，完善类与提升类有4项低于90.0%，是总体完工率未达标的主因。</a:t>
              </a:r>
            </a:p>
          </p:txBody>
        </p:sp>
      </p:grpSp>
      <p:grpSp>
        <p:nvGrpSpPr>
          <p:cNvPr id="106" name="subtask-metric-table"/>
          <p:cNvGrpSpPr/>
          <p:nvPr/>
        </p:nvGrpSpPr>
        <p:grpSpPr>
          <a:xfrm>
            <a:off x="609600" y="1943100"/>
            <a:ext cx="10972800" cy="3709225"/>
            <a:chOff x="609600" y="1943100"/>
            <a:chExt cx="10972800" cy="3709225"/>
          </a:xfrm>
        </p:grpSpPr>
        <p:sp>
          <p:nvSpPr>
            <p:cNvPr id="11" name="Rectangle 11"/>
            <p:cNvSpPr/>
            <p:nvPr/>
          </p:nvSpPr>
          <p:spPr>
            <a:xfrm>
              <a:off x="609600" y="1943100"/>
              <a:ext cx="10972800" cy="304800"/>
            </a:xfrm>
            <a:prstGeom prst="rect">
              <a:avLst/>
            </a:prstGeom>
            <a:solidFill>
              <a:schemeClr val="accent1"/>
            </a:solidFill>
            <a:ln>
              <a:noFill/>
            </a:ln>
          </p:spPr>
        </p:sp>
        <p:grpSp>
          <p:nvGrpSpPr>
            <p:cNvPr id="19" name="Group 19"/>
            <p:cNvGrpSpPr/>
            <p:nvPr/>
          </p:nvGrpSpPr>
          <p:grpSpPr>
            <a:xfrm>
              <a:off x="1011555" y="1997392"/>
              <a:ext cx="10007727" cy="264033"/>
              <a:chOff x="1011555" y="1997392"/>
              <a:chExt cx="10007727" cy="264033"/>
            </a:xfrm>
          </p:grpSpPr>
          <p:sp>
            <p:nvSpPr>
              <p:cNvPr id="12" name="TextBox 12"/>
              <p:cNvSpPr txBox="1"/>
              <p:nvPr/>
            </p:nvSpPr>
            <p:spPr>
              <a:xfrm>
                <a:off x="1011555" y="199739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类别</a:t>
                </a:r>
              </a:p>
            </p:txBody>
          </p:sp>
          <p:sp>
            <p:nvSpPr>
              <p:cNvPr id="13" name="TextBox 13"/>
              <p:cNvSpPr txBox="1"/>
              <p:nvPr/>
            </p:nvSpPr>
            <p:spPr>
              <a:xfrm>
                <a:off x="1898142" y="1997392"/>
                <a:ext cx="7406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改造内容</a:t>
                </a:r>
              </a:p>
            </p:txBody>
          </p:sp>
          <p:sp>
            <p:nvSpPr>
              <p:cNvPr id="14" name="TextBox 14"/>
              <p:cNvSpPr txBox="1"/>
              <p:nvPr/>
            </p:nvSpPr>
            <p:spPr>
              <a:xfrm>
                <a:off x="5602605" y="199739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单位</a:t>
                </a:r>
              </a:p>
            </p:txBody>
          </p:sp>
          <p:sp>
            <p:nvSpPr>
              <p:cNvPr id="15" name="TextBox 15"/>
              <p:cNvSpPr txBox="1"/>
              <p:nvPr/>
            </p:nvSpPr>
            <p:spPr>
              <a:xfrm>
                <a:off x="6686931" y="1997392"/>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计划量</a:t>
                </a:r>
              </a:p>
            </p:txBody>
          </p:sp>
          <p:sp>
            <p:nvSpPr>
              <p:cNvPr id="16" name="TextBox 16"/>
              <p:cNvSpPr txBox="1"/>
              <p:nvPr/>
            </p:nvSpPr>
            <p:spPr>
              <a:xfrm>
                <a:off x="7791831" y="1997392"/>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完成量</a:t>
                </a:r>
              </a:p>
            </p:txBody>
          </p:sp>
          <p:sp>
            <p:nvSpPr>
              <p:cNvPr id="17" name="TextBox 17"/>
              <p:cNvSpPr txBox="1"/>
              <p:nvPr/>
            </p:nvSpPr>
            <p:spPr>
              <a:xfrm>
                <a:off x="9049131" y="1997392"/>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完成率</a:t>
                </a:r>
              </a:p>
            </p:txBody>
          </p:sp>
          <p:sp>
            <p:nvSpPr>
              <p:cNvPr id="18" name="TextBox 18"/>
              <p:cNvSpPr txBox="1"/>
              <p:nvPr/>
            </p:nvSpPr>
            <p:spPr>
              <a:xfrm>
                <a:off x="10278618" y="199739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进度状态</a:t>
                </a:r>
              </a:p>
            </p:txBody>
          </p:sp>
        </p:grpSp>
        <p:sp>
          <p:nvSpPr>
            <p:cNvPr id="20" name="Rectangle 20"/>
            <p:cNvSpPr/>
            <p:nvPr/>
          </p:nvSpPr>
          <p:spPr>
            <a:xfrm>
              <a:off x="609600" y="2247900"/>
              <a:ext cx="1181100" cy="685800"/>
            </a:xfrm>
            <a:prstGeom prst="rect">
              <a:avLst/>
            </a:prstGeom>
            <a:solidFill>
              <a:schemeClr val="lt2"/>
            </a:solidFill>
            <a:ln>
              <a:noFill/>
            </a:ln>
          </p:spPr>
        </p:sp>
        <p:sp>
          <p:nvSpPr>
            <p:cNvPr id="21" name="Rectangle 21"/>
            <p:cNvSpPr/>
            <p:nvPr/>
          </p:nvSpPr>
          <p:spPr>
            <a:xfrm>
              <a:off x="609600" y="2933700"/>
              <a:ext cx="1181100" cy="1371600"/>
            </a:xfrm>
            <a:prstGeom prst="rect">
              <a:avLst/>
            </a:prstGeom>
            <a:solidFill>
              <a:schemeClr val="lt2"/>
            </a:solidFill>
            <a:ln>
              <a:noFill/>
            </a:ln>
          </p:spPr>
        </p:sp>
        <p:sp>
          <p:nvSpPr>
            <p:cNvPr id="22" name="Rectangle 22"/>
            <p:cNvSpPr/>
            <p:nvPr/>
          </p:nvSpPr>
          <p:spPr>
            <a:xfrm>
              <a:off x="609600" y="4305300"/>
              <a:ext cx="1181100" cy="1028700"/>
            </a:xfrm>
            <a:prstGeom prst="rect">
              <a:avLst/>
            </a:prstGeom>
            <a:solidFill>
              <a:schemeClr val="lt2"/>
            </a:solidFill>
            <a:ln>
              <a:noFill/>
            </a:ln>
          </p:spPr>
        </p:sp>
        <p:grpSp>
          <p:nvGrpSpPr>
            <p:cNvPr id="26" name="Group 26"/>
            <p:cNvGrpSpPr/>
            <p:nvPr/>
          </p:nvGrpSpPr>
          <p:grpSpPr>
            <a:xfrm>
              <a:off x="687705" y="2495550"/>
              <a:ext cx="1024890" cy="2522220"/>
              <a:chOff x="687705" y="2495550"/>
              <a:chExt cx="1024890" cy="2522220"/>
            </a:xfrm>
          </p:grpSpPr>
          <p:sp>
            <p:nvSpPr>
              <p:cNvPr id="23" name="TextBox 23"/>
              <p:cNvSpPr txBox="1"/>
              <p:nvPr/>
            </p:nvSpPr>
            <p:spPr>
              <a:xfrm>
                <a:off x="687705" y="2495550"/>
                <a:ext cx="102489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基础设施类</a:t>
                </a:r>
              </a:p>
            </p:txBody>
          </p:sp>
          <p:sp>
            <p:nvSpPr>
              <p:cNvPr id="24" name="TextBox 24"/>
              <p:cNvSpPr txBox="1"/>
              <p:nvPr/>
            </p:nvSpPr>
            <p:spPr>
              <a:xfrm>
                <a:off x="889635" y="3524250"/>
                <a:ext cx="62103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完善类</a:t>
                </a:r>
              </a:p>
            </p:txBody>
          </p:sp>
          <p:sp>
            <p:nvSpPr>
              <p:cNvPr id="25" name="TextBox 25"/>
              <p:cNvSpPr txBox="1"/>
              <p:nvPr/>
            </p:nvSpPr>
            <p:spPr>
              <a:xfrm>
                <a:off x="889635" y="4724400"/>
                <a:ext cx="62103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提升类</a:t>
                </a:r>
              </a:p>
            </p:txBody>
          </p:sp>
        </p:grpSp>
        <p:grpSp>
          <p:nvGrpSpPr>
            <p:cNvPr id="36" name="Group 36"/>
            <p:cNvGrpSpPr/>
            <p:nvPr/>
          </p:nvGrpSpPr>
          <p:grpSpPr>
            <a:xfrm>
              <a:off x="1897380" y="2314575"/>
              <a:ext cx="2640330" cy="3036570"/>
              <a:chOff x="1897380" y="2314575"/>
              <a:chExt cx="2640330" cy="3036570"/>
            </a:xfrm>
          </p:grpSpPr>
          <p:sp>
            <p:nvSpPr>
              <p:cNvPr id="27" name="TextBox 27"/>
              <p:cNvSpPr txBox="1"/>
              <p:nvPr/>
            </p:nvSpPr>
            <p:spPr>
              <a:xfrm>
                <a:off x="1897380" y="2314575"/>
                <a:ext cx="18326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水电气路及雨污分流</a:t>
                </a:r>
              </a:p>
            </p:txBody>
          </p:sp>
          <p:sp>
            <p:nvSpPr>
              <p:cNvPr id="28" name="TextBox 28"/>
              <p:cNvSpPr txBox="1"/>
              <p:nvPr/>
            </p:nvSpPr>
            <p:spPr>
              <a:xfrm>
                <a:off x="1897380" y="2657475"/>
                <a:ext cx="12595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光纤及5G覆盖</a:t>
                </a:r>
              </a:p>
            </p:txBody>
          </p:sp>
          <p:sp>
            <p:nvSpPr>
              <p:cNvPr id="29" name="TextBox 29"/>
              <p:cNvSpPr txBox="1"/>
              <p:nvPr/>
            </p:nvSpPr>
            <p:spPr>
              <a:xfrm>
                <a:off x="1897380" y="3000375"/>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加装电梯</a:t>
                </a:r>
              </a:p>
            </p:txBody>
          </p:sp>
          <p:sp>
            <p:nvSpPr>
              <p:cNvPr id="30" name="TextBox 30"/>
              <p:cNvSpPr txBox="1"/>
              <p:nvPr/>
            </p:nvSpPr>
            <p:spPr>
              <a:xfrm>
                <a:off x="1897380" y="3343275"/>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新增停车泊位</a:t>
                </a:r>
              </a:p>
            </p:txBody>
          </p:sp>
          <p:sp>
            <p:nvSpPr>
              <p:cNvPr id="31" name="TextBox 31"/>
              <p:cNvSpPr txBox="1"/>
              <p:nvPr/>
            </p:nvSpPr>
            <p:spPr>
              <a:xfrm>
                <a:off x="1897380" y="3686175"/>
                <a:ext cx="18326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电动自行车充电设施</a:t>
                </a:r>
              </a:p>
            </p:txBody>
          </p:sp>
          <p:sp>
            <p:nvSpPr>
              <p:cNvPr id="32" name="TextBox 32"/>
              <p:cNvSpPr txBox="1"/>
              <p:nvPr/>
            </p:nvSpPr>
            <p:spPr>
              <a:xfrm>
                <a:off x="1897380" y="4029075"/>
                <a:ext cx="18326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无障碍及适老化改造</a:t>
                </a:r>
              </a:p>
            </p:txBody>
          </p:sp>
          <p:sp>
            <p:nvSpPr>
              <p:cNvPr id="33" name="TextBox 33"/>
              <p:cNvSpPr txBox="1"/>
              <p:nvPr/>
            </p:nvSpPr>
            <p:spPr>
              <a:xfrm>
                <a:off x="1897380" y="4371975"/>
                <a:ext cx="223647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社区服务及养老托幼设施</a:t>
                </a:r>
              </a:p>
            </p:txBody>
          </p:sp>
          <p:sp>
            <p:nvSpPr>
              <p:cNvPr id="34" name="TextBox 34"/>
              <p:cNvSpPr txBox="1"/>
              <p:nvPr/>
            </p:nvSpPr>
            <p:spPr>
              <a:xfrm>
                <a:off x="1897380" y="4714875"/>
                <a:ext cx="26403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智慧安防（视频监控、门禁）</a:t>
                </a:r>
              </a:p>
            </p:txBody>
          </p:sp>
          <p:sp>
            <p:nvSpPr>
              <p:cNvPr id="35" name="TextBox 35"/>
              <p:cNvSpPr txBox="1"/>
              <p:nvPr/>
            </p:nvSpPr>
            <p:spPr>
              <a:xfrm>
                <a:off x="1897380" y="5057775"/>
                <a:ext cx="142875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绿化及公共空间</a:t>
                </a:r>
              </a:p>
            </p:txBody>
          </p:sp>
        </p:grpSp>
        <p:grpSp>
          <p:nvGrpSpPr>
            <p:cNvPr id="46" name="Group 46"/>
            <p:cNvGrpSpPr/>
            <p:nvPr/>
          </p:nvGrpSpPr>
          <p:grpSpPr>
            <a:xfrm>
              <a:off x="5379720" y="2314575"/>
              <a:ext cx="822960" cy="3036570"/>
              <a:chOff x="5379720" y="2314575"/>
              <a:chExt cx="822960" cy="3036570"/>
            </a:xfrm>
          </p:grpSpPr>
          <p:sp>
            <p:nvSpPr>
              <p:cNvPr id="37" name="TextBox 37"/>
              <p:cNvSpPr txBox="1"/>
              <p:nvPr/>
            </p:nvSpPr>
            <p:spPr>
              <a:xfrm>
                <a:off x="5480685" y="2314575"/>
                <a:ext cx="62103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个小区</a:t>
                </a:r>
              </a:p>
            </p:txBody>
          </p:sp>
          <p:sp>
            <p:nvSpPr>
              <p:cNvPr id="38" name="TextBox 38"/>
              <p:cNvSpPr txBox="1"/>
              <p:nvPr/>
            </p:nvSpPr>
            <p:spPr>
              <a:xfrm>
                <a:off x="5480685" y="2657475"/>
                <a:ext cx="62103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个小区</a:t>
                </a:r>
              </a:p>
            </p:txBody>
          </p:sp>
          <p:sp>
            <p:nvSpPr>
              <p:cNvPr id="39" name="TextBox 39"/>
              <p:cNvSpPr txBox="1"/>
              <p:nvPr/>
            </p:nvSpPr>
            <p:spPr>
              <a:xfrm>
                <a:off x="5682615" y="3000375"/>
                <a:ext cx="21717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部</a:t>
                </a:r>
              </a:p>
            </p:txBody>
          </p:sp>
          <p:sp>
            <p:nvSpPr>
              <p:cNvPr id="40" name="TextBox 40"/>
              <p:cNvSpPr txBox="1"/>
              <p:nvPr/>
            </p:nvSpPr>
            <p:spPr>
              <a:xfrm>
                <a:off x="5682615" y="3343275"/>
                <a:ext cx="21717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个</a:t>
                </a:r>
              </a:p>
            </p:txBody>
          </p:sp>
          <p:sp>
            <p:nvSpPr>
              <p:cNvPr id="41" name="TextBox 41"/>
              <p:cNvSpPr txBox="1"/>
              <p:nvPr/>
            </p:nvSpPr>
            <p:spPr>
              <a:xfrm>
                <a:off x="5682615" y="3686175"/>
                <a:ext cx="21717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处</a:t>
                </a:r>
              </a:p>
            </p:txBody>
          </p:sp>
          <p:sp>
            <p:nvSpPr>
              <p:cNvPr id="42" name="TextBox 42"/>
              <p:cNvSpPr txBox="1"/>
              <p:nvPr/>
            </p:nvSpPr>
            <p:spPr>
              <a:xfrm>
                <a:off x="5682615" y="4029075"/>
                <a:ext cx="21717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处</a:t>
                </a:r>
              </a:p>
            </p:txBody>
          </p:sp>
          <p:sp>
            <p:nvSpPr>
              <p:cNvPr id="43" name="TextBox 43"/>
              <p:cNvSpPr txBox="1"/>
              <p:nvPr/>
            </p:nvSpPr>
            <p:spPr>
              <a:xfrm>
                <a:off x="5682615" y="4371975"/>
                <a:ext cx="21717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处</a:t>
                </a:r>
              </a:p>
            </p:txBody>
          </p:sp>
          <p:sp>
            <p:nvSpPr>
              <p:cNvPr id="44" name="TextBox 44"/>
              <p:cNvSpPr txBox="1"/>
              <p:nvPr/>
            </p:nvSpPr>
            <p:spPr>
              <a:xfrm>
                <a:off x="5480685" y="4714875"/>
                <a:ext cx="62103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个小区</a:t>
                </a:r>
              </a:p>
            </p:txBody>
          </p:sp>
          <p:sp>
            <p:nvSpPr>
              <p:cNvPr id="45" name="TextBox 45"/>
              <p:cNvSpPr txBox="1"/>
              <p:nvPr/>
            </p:nvSpPr>
            <p:spPr>
              <a:xfrm>
                <a:off x="5379720" y="5057775"/>
                <a:ext cx="822960" cy="293370"/>
              </a:xfrm>
              <a:prstGeom prst="rect">
                <a:avLst/>
              </a:prstGeom>
              <a:noFill/>
              <a:ln>
                <a:noFill/>
              </a:ln>
            </p:spPr>
            <p:txBody>
              <a:bodyPr wrap="none" lIns="0" tIns="0" rIns="0" bIns="0" anchor="t" anchorCtr="0">
                <a:spAutoFit/>
              </a:bodyPr>
              <a:lstStyle/>
              <a:p>
                <a:pPr algn="ctr"/>
                <a:r>
                  <a:rPr lang="zh-CN" sz="1500" dirty="0">
                    <a:solidFill>
                      <a:schemeClr val="accent6"/>
                    </a:solidFill>
                    <a:latin typeface="+mn-lt"/>
                    <a:ea typeface="+mn-ea"/>
                    <a:cs typeface="+mn-cs"/>
                  </a:rPr>
                  <a:t>万平方米</a:t>
                </a:r>
              </a:p>
            </p:txBody>
          </p:sp>
        </p:grpSp>
        <p:grpSp>
          <p:nvGrpSpPr>
            <p:cNvPr id="56" name="Group 56"/>
            <p:cNvGrpSpPr/>
            <p:nvPr/>
          </p:nvGrpSpPr>
          <p:grpSpPr>
            <a:xfrm>
              <a:off x="6787134" y="2314575"/>
              <a:ext cx="459487" cy="3036570"/>
              <a:chOff x="6787134" y="2314575"/>
              <a:chExt cx="459487" cy="3036570"/>
            </a:xfrm>
          </p:grpSpPr>
          <p:sp>
            <p:nvSpPr>
              <p:cNvPr id="47" name="TextBox 47"/>
              <p:cNvSpPr txBox="1"/>
              <p:nvPr/>
            </p:nvSpPr>
            <p:spPr>
              <a:xfrm>
                <a:off x="7009257" y="23145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68</a:t>
                </a:r>
              </a:p>
            </p:txBody>
          </p:sp>
          <p:sp>
            <p:nvSpPr>
              <p:cNvPr id="48" name="TextBox 48"/>
              <p:cNvSpPr txBox="1"/>
              <p:nvPr/>
            </p:nvSpPr>
            <p:spPr>
              <a:xfrm>
                <a:off x="7009257" y="26574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68</a:t>
                </a:r>
              </a:p>
            </p:txBody>
          </p:sp>
          <p:sp>
            <p:nvSpPr>
              <p:cNvPr id="49" name="TextBox 49"/>
              <p:cNvSpPr txBox="1"/>
              <p:nvPr/>
            </p:nvSpPr>
            <p:spPr>
              <a:xfrm>
                <a:off x="6898196" y="3000375"/>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120</a:t>
                </a:r>
              </a:p>
            </p:txBody>
          </p:sp>
          <p:sp>
            <p:nvSpPr>
              <p:cNvPr id="50" name="TextBox 50"/>
              <p:cNvSpPr txBox="1"/>
              <p:nvPr/>
            </p:nvSpPr>
            <p:spPr>
              <a:xfrm>
                <a:off x="6787134" y="33432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3200</a:t>
                </a:r>
              </a:p>
            </p:txBody>
          </p:sp>
          <p:sp>
            <p:nvSpPr>
              <p:cNvPr id="51" name="TextBox 51"/>
              <p:cNvSpPr txBox="1"/>
              <p:nvPr/>
            </p:nvSpPr>
            <p:spPr>
              <a:xfrm>
                <a:off x="6898196" y="3686175"/>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260</a:t>
                </a:r>
              </a:p>
            </p:txBody>
          </p:sp>
          <p:sp>
            <p:nvSpPr>
              <p:cNvPr id="52" name="TextBox 52"/>
              <p:cNvSpPr txBox="1"/>
              <p:nvPr/>
            </p:nvSpPr>
            <p:spPr>
              <a:xfrm>
                <a:off x="6898196" y="4029075"/>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180</a:t>
                </a:r>
              </a:p>
            </p:txBody>
          </p:sp>
          <p:sp>
            <p:nvSpPr>
              <p:cNvPr id="53" name="TextBox 53"/>
              <p:cNvSpPr txBox="1"/>
              <p:nvPr/>
            </p:nvSpPr>
            <p:spPr>
              <a:xfrm>
                <a:off x="7009257" y="43719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24</a:t>
                </a:r>
              </a:p>
            </p:txBody>
          </p:sp>
          <p:sp>
            <p:nvSpPr>
              <p:cNvPr id="54" name="TextBox 54"/>
              <p:cNvSpPr txBox="1"/>
              <p:nvPr/>
            </p:nvSpPr>
            <p:spPr>
              <a:xfrm>
                <a:off x="7009257" y="47148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68</a:t>
                </a:r>
              </a:p>
            </p:txBody>
          </p:sp>
          <p:sp>
            <p:nvSpPr>
              <p:cNvPr id="55" name="TextBox 55"/>
              <p:cNvSpPr txBox="1"/>
              <p:nvPr/>
            </p:nvSpPr>
            <p:spPr>
              <a:xfrm>
                <a:off x="6787134" y="50577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15.6</a:t>
                </a:r>
              </a:p>
            </p:txBody>
          </p:sp>
        </p:grpSp>
        <p:grpSp>
          <p:nvGrpSpPr>
            <p:cNvPr id="66" name="Group 66"/>
            <p:cNvGrpSpPr/>
            <p:nvPr/>
          </p:nvGrpSpPr>
          <p:grpSpPr>
            <a:xfrm>
              <a:off x="7892034" y="2314575"/>
              <a:ext cx="459487" cy="3036570"/>
              <a:chOff x="7892034" y="2314575"/>
              <a:chExt cx="459487" cy="3036570"/>
            </a:xfrm>
          </p:grpSpPr>
          <p:sp>
            <p:nvSpPr>
              <p:cNvPr id="57" name="TextBox 57"/>
              <p:cNvSpPr txBox="1"/>
              <p:nvPr/>
            </p:nvSpPr>
            <p:spPr>
              <a:xfrm>
                <a:off x="8114157" y="23145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63</a:t>
                </a:r>
              </a:p>
            </p:txBody>
          </p:sp>
          <p:sp>
            <p:nvSpPr>
              <p:cNvPr id="58" name="TextBox 58"/>
              <p:cNvSpPr txBox="1"/>
              <p:nvPr/>
            </p:nvSpPr>
            <p:spPr>
              <a:xfrm>
                <a:off x="8114157" y="26574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66</a:t>
                </a:r>
              </a:p>
            </p:txBody>
          </p:sp>
          <p:sp>
            <p:nvSpPr>
              <p:cNvPr id="59" name="TextBox 59"/>
              <p:cNvSpPr txBox="1"/>
              <p:nvPr/>
            </p:nvSpPr>
            <p:spPr>
              <a:xfrm>
                <a:off x="8114157" y="30003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96</a:t>
                </a:r>
              </a:p>
            </p:txBody>
          </p:sp>
          <p:sp>
            <p:nvSpPr>
              <p:cNvPr id="60" name="TextBox 60"/>
              <p:cNvSpPr txBox="1"/>
              <p:nvPr/>
            </p:nvSpPr>
            <p:spPr>
              <a:xfrm>
                <a:off x="7892034" y="33432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2860</a:t>
                </a:r>
              </a:p>
            </p:txBody>
          </p:sp>
          <p:sp>
            <p:nvSpPr>
              <p:cNvPr id="61" name="TextBox 61"/>
              <p:cNvSpPr txBox="1"/>
              <p:nvPr/>
            </p:nvSpPr>
            <p:spPr>
              <a:xfrm>
                <a:off x="8003096" y="3686175"/>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241</a:t>
                </a:r>
              </a:p>
            </p:txBody>
          </p:sp>
          <p:sp>
            <p:nvSpPr>
              <p:cNvPr id="62" name="TextBox 62"/>
              <p:cNvSpPr txBox="1"/>
              <p:nvPr/>
            </p:nvSpPr>
            <p:spPr>
              <a:xfrm>
                <a:off x="8003096" y="4029075"/>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163</a:t>
                </a:r>
              </a:p>
            </p:txBody>
          </p:sp>
          <p:sp>
            <p:nvSpPr>
              <p:cNvPr id="63" name="TextBox 63"/>
              <p:cNvSpPr txBox="1"/>
              <p:nvPr/>
            </p:nvSpPr>
            <p:spPr>
              <a:xfrm>
                <a:off x="8114157" y="43719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19</a:t>
                </a:r>
              </a:p>
            </p:txBody>
          </p:sp>
          <p:sp>
            <p:nvSpPr>
              <p:cNvPr id="64" name="TextBox 64"/>
              <p:cNvSpPr txBox="1"/>
              <p:nvPr/>
            </p:nvSpPr>
            <p:spPr>
              <a:xfrm>
                <a:off x="8114157" y="4714875"/>
                <a:ext cx="237363"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61</a:t>
                </a:r>
              </a:p>
            </p:txBody>
          </p:sp>
          <p:sp>
            <p:nvSpPr>
              <p:cNvPr id="65" name="TextBox 65"/>
              <p:cNvSpPr txBox="1"/>
              <p:nvPr/>
            </p:nvSpPr>
            <p:spPr>
              <a:xfrm>
                <a:off x="7892034" y="50577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14.1</a:t>
                </a:r>
              </a:p>
            </p:txBody>
          </p:sp>
        </p:grpSp>
        <p:grpSp>
          <p:nvGrpSpPr>
            <p:cNvPr id="76" name="Group 76"/>
            <p:cNvGrpSpPr/>
            <p:nvPr/>
          </p:nvGrpSpPr>
          <p:grpSpPr>
            <a:xfrm>
              <a:off x="8968102" y="2314575"/>
              <a:ext cx="640718" cy="3036570"/>
              <a:chOff x="8968102" y="2314575"/>
              <a:chExt cx="640718" cy="3036570"/>
            </a:xfrm>
          </p:grpSpPr>
          <p:sp>
            <p:nvSpPr>
              <p:cNvPr id="67" name="TextBox 67"/>
              <p:cNvSpPr txBox="1"/>
              <p:nvPr/>
            </p:nvSpPr>
            <p:spPr>
              <a:xfrm>
                <a:off x="8968102" y="2314575"/>
                <a:ext cx="640718" cy="293370"/>
              </a:xfrm>
              <a:prstGeom prst="rect">
                <a:avLst/>
              </a:prstGeom>
              <a:noFill/>
              <a:ln>
                <a:noFill/>
              </a:ln>
            </p:spPr>
            <p:txBody>
              <a:bodyPr wrap="none" lIns="0" tIns="0" rIns="0" bIns="0" anchor="t" anchorCtr="0">
                <a:spAutoFit/>
              </a:bodyPr>
              <a:lstStyle/>
              <a:p>
                <a:pPr algn="r"/>
                <a:r>
                  <a:rPr lang="zh-CN" sz="1500" b="1" dirty="0">
                    <a:solidFill>
                      <a:srgbClr val="B26A00"/>
                    </a:solidFill>
                    <a:latin typeface="+mn-lt"/>
                    <a:ea typeface="+mn-ea"/>
                    <a:cs typeface="+mn-cs"/>
                  </a:rPr>
                  <a:t>92.6%</a:t>
                </a:r>
              </a:p>
            </p:txBody>
          </p:sp>
          <p:sp>
            <p:nvSpPr>
              <p:cNvPr id="68" name="TextBox 68"/>
              <p:cNvSpPr txBox="1"/>
              <p:nvPr/>
            </p:nvSpPr>
            <p:spPr>
              <a:xfrm>
                <a:off x="8968102" y="2657475"/>
                <a:ext cx="640718"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97.1%</a:t>
                </a:r>
              </a:p>
            </p:txBody>
          </p:sp>
          <p:sp>
            <p:nvSpPr>
              <p:cNvPr id="69" name="TextBox 69"/>
              <p:cNvSpPr txBox="1"/>
              <p:nvPr/>
            </p:nvSpPr>
            <p:spPr>
              <a:xfrm>
                <a:off x="8968102" y="30003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80.0%</a:t>
                </a:r>
              </a:p>
            </p:txBody>
          </p:sp>
          <p:sp>
            <p:nvSpPr>
              <p:cNvPr id="70" name="TextBox 70"/>
              <p:cNvSpPr txBox="1"/>
              <p:nvPr/>
            </p:nvSpPr>
            <p:spPr>
              <a:xfrm>
                <a:off x="8968102" y="33432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89.4%</a:t>
                </a:r>
              </a:p>
            </p:txBody>
          </p:sp>
          <p:sp>
            <p:nvSpPr>
              <p:cNvPr id="71" name="TextBox 71"/>
              <p:cNvSpPr txBox="1"/>
              <p:nvPr/>
            </p:nvSpPr>
            <p:spPr>
              <a:xfrm>
                <a:off x="8968102" y="3686175"/>
                <a:ext cx="640718" cy="293370"/>
              </a:xfrm>
              <a:prstGeom prst="rect">
                <a:avLst/>
              </a:prstGeom>
              <a:noFill/>
              <a:ln>
                <a:noFill/>
              </a:ln>
            </p:spPr>
            <p:txBody>
              <a:bodyPr wrap="none" lIns="0" tIns="0" rIns="0" bIns="0" anchor="t" anchorCtr="0">
                <a:spAutoFit/>
              </a:bodyPr>
              <a:lstStyle/>
              <a:p>
                <a:pPr algn="r"/>
                <a:r>
                  <a:rPr lang="zh-CN" sz="1500" b="1" dirty="0">
                    <a:solidFill>
                      <a:srgbClr val="B26A00"/>
                    </a:solidFill>
                    <a:latin typeface="+mn-lt"/>
                    <a:ea typeface="+mn-ea"/>
                    <a:cs typeface="+mn-cs"/>
                  </a:rPr>
                  <a:t>92.7%</a:t>
                </a:r>
              </a:p>
            </p:txBody>
          </p:sp>
          <p:sp>
            <p:nvSpPr>
              <p:cNvPr id="72" name="TextBox 72"/>
              <p:cNvSpPr txBox="1"/>
              <p:nvPr/>
            </p:nvSpPr>
            <p:spPr>
              <a:xfrm>
                <a:off x="8968102" y="4029075"/>
                <a:ext cx="640718" cy="293370"/>
              </a:xfrm>
              <a:prstGeom prst="rect">
                <a:avLst/>
              </a:prstGeom>
              <a:noFill/>
              <a:ln>
                <a:noFill/>
              </a:ln>
            </p:spPr>
            <p:txBody>
              <a:bodyPr wrap="none" lIns="0" tIns="0" rIns="0" bIns="0" anchor="t" anchorCtr="0">
                <a:spAutoFit/>
              </a:bodyPr>
              <a:lstStyle/>
              <a:p>
                <a:pPr algn="r"/>
                <a:r>
                  <a:rPr lang="zh-CN" sz="1500" b="1" dirty="0">
                    <a:solidFill>
                      <a:srgbClr val="B26A00"/>
                    </a:solidFill>
                    <a:latin typeface="+mn-lt"/>
                    <a:ea typeface="+mn-ea"/>
                    <a:cs typeface="+mn-cs"/>
                  </a:rPr>
                  <a:t>90.6%</a:t>
                </a:r>
              </a:p>
            </p:txBody>
          </p:sp>
          <p:sp>
            <p:nvSpPr>
              <p:cNvPr id="73" name="TextBox 73"/>
              <p:cNvSpPr txBox="1"/>
              <p:nvPr/>
            </p:nvSpPr>
            <p:spPr>
              <a:xfrm>
                <a:off x="8968102" y="43719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79.2%</a:t>
                </a:r>
              </a:p>
            </p:txBody>
          </p:sp>
          <p:sp>
            <p:nvSpPr>
              <p:cNvPr id="74" name="TextBox 74"/>
              <p:cNvSpPr txBox="1"/>
              <p:nvPr/>
            </p:nvSpPr>
            <p:spPr>
              <a:xfrm>
                <a:off x="8968102" y="47148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89.7%</a:t>
                </a:r>
              </a:p>
            </p:txBody>
          </p:sp>
          <p:sp>
            <p:nvSpPr>
              <p:cNvPr id="75" name="TextBox 75"/>
              <p:cNvSpPr txBox="1"/>
              <p:nvPr/>
            </p:nvSpPr>
            <p:spPr>
              <a:xfrm>
                <a:off x="8968102" y="5057775"/>
                <a:ext cx="640718" cy="293370"/>
              </a:xfrm>
              <a:prstGeom prst="rect">
                <a:avLst/>
              </a:prstGeom>
              <a:noFill/>
              <a:ln>
                <a:noFill/>
              </a:ln>
            </p:spPr>
            <p:txBody>
              <a:bodyPr wrap="none" lIns="0" tIns="0" rIns="0" bIns="0" anchor="t" anchorCtr="0">
                <a:spAutoFit/>
              </a:bodyPr>
              <a:lstStyle/>
              <a:p>
                <a:pPr algn="r"/>
                <a:r>
                  <a:rPr lang="zh-CN" sz="1500" b="1" dirty="0">
                    <a:solidFill>
                      <a:srgbClr val="B26A00"/>
                    </a:solidFill>
                    <a:latin typeface="+mn-lt"/>
                    <a:ea typeface="+mn-ea"/>
                    <a:cs typeface="+mn-cs"/>
                  </a:rPr>
                  <a:t>90.4%</a:t>
                </a:r>
              </a:p>
            </p:txBody>
          </p:sp>
        </p:grpSp>
        <p:grpSp>
          <p:nvGrpSpPr>
            <p:cNvPr id="86" name="Group 86"/>
            <p:cNvGrpSpPr/>
            <p:nvPr/>
          </p:nvGrpSpPr>
          <p:grpSpPr>
            <a:xfrm>
              <a:off x="10237470" y="2314575"/>
              <a:ext cx="822960" cy="3036570"/>
              <a:chOff x="10237470" y="2314575"/>
              <a:chExt cx="822960" cy="3036570"/>
            </a:xfrm>
          </p:grpSpPr>
          <p:sp>
            <p:nvSpPr>
              <p:cNvPr id="77" name="TextBox 77"/>
              <p:cNvSpPr txBox="1"/>
              <p:nvPr/>
            </p:nvSpPr>
            <p:spPr>
              <a:xfrm>
                <a:off x="10237470" y="2314575"/>
                <a:ext cx="822960" cy="293370"/>
              </a:xfrm>
              <a:prstGeom prst="rect">
                <a:avLst/>
              </a:prstGeom>
              <a:noFill/>
              <a:ln>
                <a:noFill/>
              </a:ln>
            </p:spPr>
            <p:txBody>
              <a:bodyPr wrap="none" lIns="0" tIns="0" rIns="0" bIns="0" anchor="t" anchorCtr="0">
                <a:spAutoFit/>
              </a:bodyPr>
              <a:lstStyle/>
              <a:p>
                <a:pPr algn="ctr"/>
                <a:r>
                  <a:rPr lang="zh-CN" sz="1500" b="1" dirty="0">
                    <a:solidFill>
                      <a:srgbClr val="B26A00"/>
                    </a:solidFill>
                    <a:latin typeface="+mn-lt"/>
                    <a:ea typeface="+mn-ea"/>
                    <a:cs typeface="+mn-cs"/>
                  </a:rPr>
                  <a:t>基本达标</a:t>
                </a:r>
              </a:p>
            </p:txBody>
          </p:sp>
          <p:sp>
            <p:nvSpPr>
              <p:cNvPr id="78" name="TextBox 78"/>
              <p:cNvSpPr txBox="1"/>
              <p:nvPr/>
            </p:nvSpPr>
            <p:spPr>
              <a:xfrm>
                <a:off x="10439400" y="2657475"/>
                <a:ext cx="419100" cy="293370"/>
              </a:xfrm>
              <a:prstGeom prst="rect">
                <a:avLst/>
              </a:prstGeom>
              <a:noFill/>
              <a:ln>
                <a:noFill/>
              </a:ln>
            </p:spPr>
            <p:txBody>
              <a:bodyPr wrap="none" lIns="0" tIns="0" rIns="0" bIns="0" anchor="t" anchorCtr="0">
                <a:spAutoFit/>
              </a:bodyPr>
              <a:lstStyle/>
              <a:p>
                <a:pPr algn="ctr"/>
                <a:r>
                  <a:rPr lang="zh-CN" sz="1500" b="1" dirty="0">
                    <a:solidFill>
                      <a:srgbClr val="2E7D32"/>
                    </a:solidFill>
                    <a:latin typeface="+mn-lt"/>
                    <a:ea typeface="+mn-ea"/>
                    <a:cs typeface="+mn-cs"/>
                  </a:rPr>
                  <a:t>达标</a:t>
                </a:r>
              </a:p>
            </p:txBody>
          </p:sp>
          <p:sp>
            <p:nvSpPr>
              <p:cNvPr id="79" name="TextBox 79"/>
              <p:cNvSpPr txBox="1"/>
              <p:nvPr/>
            </p:nvSpPr>
            <p:spPr>
              <a:xfrm>
                <a:off x="10439400" y="3000375"/>
                <a:ext cx="419100" cy="293370"/>
              </a:xfrm>
              <a:prstGeom prst="rect">
                <a:avLst/>
              </a:prstGeom>
              <a:noFill/>
              <a:ln>
                <a:noFill/>
              </a:ln>
            </p:spPr>
            <p:txBody>
              <a:bodyPr wrap="none" lIns="0" tIns="0" rIns="0" bIns="0" anchor="t" anchorCtr="0">
                <a:spAutoFit/>
              </a:bodyPr>
              <a:lstStyle/>
              <a:p>
                <a:pPr algn="ctr"/>
                <a:r>
                  <a:rPr lang="zh-CN" sz="1500" b="1" dirty="0">
                    <a:solidFill>
                      <a:srgbClr val="C0392B"/>
                    </a:solidFill>
                    <a:latin typeface="+mn-lt"/>
                    <a:ea typeface="+mn-ea"/>
                    <a:cs typeface="+mn-cs"/>
                  </a:rPr>
                  <a:t>滞后</a:t>
                </a:r>
              </a:p>
            </p:txBody>
          </p:sp>
          <p:sp>
            <p:nvSpPr>
              <p:cNvPr id="80" name="TextBox 80"/>
              <p:cNvSpPr txBox="1"/>
              <p:nvPr/>
            </p:nvSpPr>
            <p:spPr>
              <a:xfrm>
                <a:off x="10439400" y="3343275"/>
                <a:ext cx="419100" cy="293370"/>
              </a:xfrm>
              <a:prstGeom prst="rect">
                <a:avLst/>
              </a:prstGeom>
              <a:noFill/>
              <a:ln>
                <a:noFill/>
              </a:ln>
            </p:spPr>
            <p:txBody>
              <a:bodyPr wrap="none" lIns="0" tIns="0" rIns="0" bIns="0" anchor="t" anchorCtr="0">
                <a:spAutoFit/>
              </a:bodyPr>
              <a:lstStyle/>
              <a:p>
                <a:pPr algn="ctr"/>
                <a:r>
                  <a:rPr lang="zh-CN" sz="1500" b="1" dirty="0">
                    <a:solidFill>
                      <a:srgbClr val="C0392B"/>
                    </a:solidFill>
                    <a:latin typeface="+mn-lt"/>
                    <a:ea typeface="+mn-ea"/>
                    <a:cs typeface="+mn-cs"/>
                  </a:rPr>
                  <a:t>滞后</a:t>
                </a:r>
              </a:p>
            </p:txBody>
          </p:sp>
          <p:sp>
            <p:nvSpPr>
              <p:cNvPr id="81" name="TextBox 81"/>
              <p:cNvSpPr txBox="1"/>
              <p:nvPr/>
            </p:nvSpPr>
            <p:spPr>
              <a:xfrm>
                <a:off x="10237470" y="3686175"/>
                <a:ext cx="822960" cy="293370"/>
              </a:xfrm>
              <a:prstGeom prst="rect">
                <a:avLst/>
              </a:prstGeom>
              <a:noFill/>
              <a:ln>
                <a:noFill/>
              </a:ln>
            </p:spPr>
            <p:txBody>
              <a:bodyPr wrap="none" lIns="0" tIns="0" rIns="0" bIns="0" anchor="t" anchorCtr="0">
                <a:spAutoFit/>
              </a:bodyPr>
              <a:lstStyle/>
              <a:p>
                <a:pPr algn="ctr"/>
                <a:r>
                  <a:rPr lang="zh-CN" sz="1500" b="1" dirty="0">
                    <a:solidFill>
                      <a:srgbClr val="B26A00"/>
                    </a:solidFill>
                    <a:latin typeface="+mn-lt"/>
                    <a:ea typeface="+mn-ea"/>
                    <a:cs typeface="+mn-cs"/>
                  </a:rPr>
                  <a:t>基本达标</a:t>
                </a:r>
              </a:p>
            </p:txBody>
          </p:sp>
          <p:sp>
            <p:nvSpPr>
              <p:cNvPr id="82" name="TextBox 82"/>
              <p:cNvSpPr txBox="1"/>
              <p:nvPr/>
            </p:nvSpPr>
            <p:spPr>
              <a:xfrm>
                <a:off x="10237470" y="4029075"/>
                <a:ext cx="822960" cy="293370"/>
              </a:xfrm>
              <a:prstGeom prst="rect">
                <a:avLst/>
              </a:prstGeom>
              <a:noFill/>
              <a:ln>
                <a:noFill/>
              </a:ln>
            </p:spPr>
            <p:txBody>
              <a:bodyPr wrap="none" lIns="0" tIns="0" rIns="0" bIns="0" anchor="t" anchorCtr="0">
                <a:spAutoFit/>
              </a:bodyPr>
              <a:lstStyle/>
              <a:p>
                <a:pPr algn="ctr"/>
                <a:r>
                  <a:rPr lang="zh-CN" sz="1500" b="1" dirty="0">
                    <a:solidFill>
                      <a:srgbClr val="B26A00"/>
                    </a:solidFill>
                    <a:latin typeface="+mn-lt"/>
                    <a:ea typeface="+mn-ea"/>
                    <a:cs typeface="+mn-cs"/>
                  </a:rPr>
                  <a:t>基本达标</a:t>
                </a:r>
              </a:p>
            </p:txBody>
          </p:sp>
          <p:sp>
            <p:nvSpPr>
              <p:cNvPr id="83" name="TextBox 83"/>
              <p:cNvSpPr txBox="1"/>
              <p:nvPr/>
            </p:nvSpPr>
            <p:spPr>
              <a:xfrm>
                <a:off x="10439400" y="4371975"/>
                <a:ext cx="419100" cy="293370"/>
              </a:xfrm>
              <a:prstGeom prst="rect">
                <a:avLst/>
              </a:prstGeom>
              <a:noFill/>
              <a:ln>
                <a:noFill/>
              </a:ln>
            </p:spPr>
            <p:txBody>
              <a:bodyPr wrap="none" lIns="0" tIns="0" rIns="0" bIns="0" anchor="t" anchorCtr="0">
                <a:spAutoFit/>
              </a:bodyPr>
              <a:lstStyle/>
              <a:p>
                <a:pPr algn="ctr"/>
                <a:r>
                  <a:rPr lang="zh-CN" sz="1500" b="1" dirty="0">
                    <a:solidFill>
                      <a:srgbClr val="C0392B"/>
                    </a:solidFill>
                    <a:latin typeface="+mn-lt"/>
                    <a:ea typeface="+mn-ea"/>
                    <a:cs typeface="+mn-cs"/>
                  </a:rPr>
                  <a:t>滞后</a:t>
                </a:r>
              </a:p>
            </p:txBody>
          </p:sp>
          <p:sp>
            <p:nvSpPr>
              <p:cNvPr id="84" name="TextBox 84"/>
              <p:cNvSpPr txBox="1"/>
              <p:nvPr/>
            </p:nvSpPr>
            <p:spPr>
              <a:xfrm>
                <a:off x="10439400" y="4714875"/>
                <a:ext cx="419100" cy="293370"/>
              </a:xfrm>
              <a:prstGeom prst="rect">
                <a:avLst/>
              </a:prstGeom>
              <a:noFill/>
              <a:ln>
                <a:noFill/>
              </a:ln>
            </p:spPr>
            <p:txBody>
              <a:bodyPr wrap="none" lIns="0" tIns="0" rIns="0" bIns="0" anchor="t" anchorCtr="0">
                <a:spAutoFit/>
              </a:bodyPr>
              <a:lstStyle/>
              <a:p>
                <a:pPr algn="ctr"/>
                <a:r>
                  <a:rPr lang="zh-CN" sz="1500" b="1" dirty="0">
                    <a:solidFill>
                      <a:srgbClr val="C0392B"/>
                    </a:solidFill>
                    <a:latin typeface="+mn-lt"/>
                    <a:ea typeface="+mn-ea"/>
                    <a:cs typeface="+mn-cs"/>
                  </a:rPr>
                  <a:t>滞后</a:t>
                </a:r>
              </a:p>
            </p:txBody>
          </p:sp>
          <p:sp>
            <p:nvSpPr>
              <p:cNvPr id="85" name="TextBox 85"/>
              <p:cNvSpPr txBox="1"/>
              <p:nvPr/>
            </p:nvSpPr>
            <p:spPr>
              <a:xfrm>
                <a:off x="10237470" y="5057775"/>
                <a:ext cx="822960" cy="293370"/>
              </a:xfrm>
              <a:prstGeom prst="rect">
                <a:avLst/>
              </a:prstGeom>
              <a:noFill/>
              <a:ln>
                <a:noFill/>
              </a:ln>
            </p:spPr>
            <p:txBody>
              <a:bodyPr wrap="none" lIns="0" tIns="0" rIns="0" bIns="0" anchor="t" anchorCtr="0">
                <a:spAutoFit/>
              </a:bodyPr>
              <a:lstStyle/>
              <a:p>
                <a:pPr algn="ctr"/>
                <a:r>
                  <a:rPr lang="zh-CN" sz="1500" b="1" dirty="0">
                    <a:solidFill>
                      <a:srgbClr val="B26A00"/>
                    </a:solidFill>
                    <a:latin typeface="+mn-lt"/>
                    <a:ea typeface="+mn-ea"/>
                    <a:cs typeface="+mn-cs"/>
                  </a:rPr>
                  <a:t>基本达标</a:t>
                </a:r>
              </a:p>
            </p:txBody>
          </p:sp>
        </p:grpSp>
        <p:sp>
          <p:nvSpPr>
            <p:cNvPr id="87" name="TextBox 87"/>
            <p:cNvSpPr txBox="1"/>
            <p:nvPr/>
          </p:nvSpPr>
          <p:spPr>
            <a:xfrm>
              <a:off x="1898142" y="5388292"/>
              <a:ext cx="703285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九项分项任务：达标 1 项、基本达标 4 项、滞后 4 项（滞后项集中在完善类与提升类）</a:t>
              </a:r>
            </a:p>
          </p:txBody>
        </p:sp>
        <p:grpSp>
          <p:nvGrpSpPr>
            <p:cNvPr id="104" name="Group 104"/>
            <p:cNvGrpSpPr/>
            <p:nvPr/>
          </p:nvGrpSpPr>
          <p:grpSpPr>
            <a:xfrm>
              <a:off x="609600" y="1943100"/>
              <a:ext cx="10972800" cy="3695700"/>
              <a:chOff x="609600" y="1943100"/>
              <a:chExt cx="10972800" cy="3695700"/>
            </a:xfrm>
          </p:grpSpPr>
          <p:sp>
            <p:nvSpPr>
              <p:cNvPr id="88" name="Line 88"/>
              <p:cNvSpPr/>
              <p:nvPr/>
            </p:nvSpPr>
            <p:spPr>
              <a:xfrm>
                <a:off x="17907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89" name="Line 89"/>
              <p:cNvSpPr/>
              <p:nvPr/>
            </p:nvSpPr>
            <p:spPr>
              <a:xfrm>
                <a:off x="53340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90" name="Line 90"/>
              <p:cNvSpPr/>
              <p:nvPr/>
            </p:nvSpPr>
            <p:spPr>
              <a:xfrm>
                <a:off x="62484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91" name="Line 91"/>
              <p:cNvSpPr/>
              <p:nvPr/>
            </p:nvSpPr>
            <p:spPr>
              <a:xfrm>
                <a:off x="73533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92" name="Line 92"/>
              <p:cNvSpPr/>
              <p:nvPr/>
            </p:nvSpPr>
            <p:spPr>
              <a:xfrm>
                <a:off x="84582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93" name="Line 93"/>
              <p:cNvSpPr/>
              <p:nvPr/>
            </p:nvSpPr>
            <p:spPr>
              <a:xfrm>
                <a:off x="9715500" y="1943100"/>
                <a:ext cx="9525" cy="3695700"/>
              </a:xfrm>
              <a:custGeom>
                <a:avLst/>
                <a:gdLst/>
                <a:ahLst/>
                <a:cxnLst/>
                <a:rect l="l" t="t" r="r" b="b"/>
                <a:pathLst>
                  <a:path w="9525" h="3695700">
                    <a:moveTo>
                      <a:pt x="0" y="0"/>
                    </a:moveTo>
                    <a:lnTo>
                      <a:pt x="0" y="3695700"/>
                    </a:lnTo>
                  </a:path>
                </a:pathLst>
              </a:custGeom>
              <a:noFill/>
              <a:ln w="9525">
                <a:solidFill>
                  <a:srgbClr val="D3D9DF"/>
                </a:solidFill>
              </a:ln>
            </p:spPr>
          </p:sp>
          <p:sp>
            <p:nvSpPr>
              <p:cNvPr id="94" name="Line 94"/>
              <p:cNvSpPr/>
              <p:nvPr/>
            </p:nvSpPr>
            <p:spPr>
              <a:xfrm>
                <a:off x="609600" y="22479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95" name="Line 95"/>
              <p:cNvSpPr/>
              <p:nvPr/>
            </p:nvSpPr>
            <p:spPr>
              <a:xfrm>
                <a:off x="1790700" y="25908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96" name="Line 96"/>
              <p:cNvSpPr/>
              <p:nvPr/>
            </p:nvSpPr>
            <p:spPr>
              <a:xfrm>
                <a:off x="1790700" y="29337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97" name="Line 97"/>
              <p:cNvSpPr/>
              <p:nvPr/>
            </p:nvSpPr>
            <p:spPr>
              <a:xfrm>
                <a:off x="1790700" y="32766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98" name="Line 98"/>
              <p:cNvSpPr/>
              <p:nvPr/>
            </p:nvSpPr>
            <p:spPr>
              <a:xfrm>
                <a:off x="1790700" y="36195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99" name="Line 99"/>
              <p:cNvSpPr/>
              <p:nvPr/>
            </p:nvSpPr>
            <p:spPr>
              <a:xfrm>
                <a:off x="1790700" y="39624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100" name="Line 100"/>
              <p:cNvSpPr/>
              <p:nvPr/>
            </p:nvSpPr>
            <p:spPr>
              <a:xfrm>
                <a:off x="1790700" y="43053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101" name="Line 101"/>
              <p:cNvSpPr/>
              <p:nvPr/>
            </p:nvSpPr>
            <p:spPr>
              <a:xfrm>
                <a:off x="1790700" y="46482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102" name="Line 102"/>
              <p:cNvSpPr/>
              <p:nvPr/>
            </p:nvSpPr>
            <p:spPr>
              <a:xfrm>
                <a:off x="1790700" y="4991100"/>
                <a:ext cx="9791700" cy="9525"/>
              </a:xfrm>
              <a:custGeom>
                <a:avLst/>
                <a:gdLst/>
                <a:ahLst/>
                <a:cxnLst/>
                <a:rect l="l" t="t" r="r" b="b"/>
                <a:pathLst>
                  <a:path w="9791700" h="9525">
                    <a:moveTo>
                      <a:pt x="0" y="0"/>
                    </a:moveTo>
                    <a:lnTo>
                      <a:pt x="9791700" y="0"/>
                    </a:lnTo>
                  </a:path>
                </a:pathLst>
              </a:custGeom>
              <a:noFill/>
              <a:ln w="9525">
                <a:solidFill>
                  <a:srgbClr val="D3D9DF"/>
                </a:solidFill>
              </a:ln>
            </p:spPr>
          </p:sp>
          <p:sp>
            <p:nvSpPr>
              <p:cNvPr id="103" name="Line 103"/>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rgbClr val="D3D9DF"/>
                </a:solidFill>
              </a:ln>
            </p:spPr>
          </p:sp>
        </p:grpSp>
        <p:sp>
          <p:nvSpPr>
            <p:cNvPr id="105" name="Rectangle 105"/>
            <p:cNvSpPr/>
            <p:nvPr/>
          </p:nvSpPr>
          <p:spPr>
            <a:xfrm>
              <a:off x="609600" y="1943100"/>
              <a:ext cx="10972800" cy="3695700"/>
            </a:xfrm>
            <a:prstGeom prst="rect">
              <a:avLst/>
            </a:prstGeom>
            <a:noFill/>
            <a:ln w="14288">
              <a:solidFill>
                <a:schemeClr val="accent1"/>
              </a:solidFill>
            </a:ln>
          </p:spPr>
        </p:sp>
      </p:grpSp>
      <p:grpSp>
        <p:nvGrpSpPr>
          <p:cNvPr id="114" name="threshold-note"/>
          <p:cNvGrpSpPr/>
          <p:nvPr/>
        </p:nvGrpSpPr>
        <p:grpSpPr>
          <a:xfrm>
            <a:off x="603504" y="5775960"/>
            <a:ext cx="9288780" cy="234696"/>
            <a:chOff x="603504" y="5775960"/>
            <a:chExt cx="9288780" cy="234696"/>
          </a:xfrm>
        </p:grpSpPr>
        <p:sp>
          <p:nvSpPr>
            <p:cNvPr id="107" name="TextBox 107"/>
            <p:cNvSpPr txBox="1"/>
            <p:nvPr/>
          </p:nvSpPr>
          <p:spPr>
            <a:xfrm>
              <a:off x="603504" y="5775960"/>
              <a:ext cx="667481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判定阈值（与P02一致）：完成率≥95%为达标，90%（含）—95%为基本达标，＜90%为滞后。</a:t>
              </a:r>
            </a:p>
          </p:txBody>
        </p:sp>
        <p:sp>
          <p:nvSpPr>
            <p:cNvPr id="108" name="Rectangle 108"/>
            <p:cNvSpPr/>
            <p:nvPr/>
          </p:nvSpPr>
          <p:spPr>
            <a:xfrm>
              <a:off x="7620000" y="5810250"/>
              <a:ext cx="95250" cy="95250"/>
            </a:xfrm>
            <a:prstGeom prst="rect">
              <a:avLst/>
            </a:prstGeom>
            <a:solidFill>
              <a:srgbClr val="2E7D32"/>
            </a:solidFill>
            <a:ln>
              <a:noFill/>
            </a:ln>
          </p:spPr>
        </p:sp>
        <p:sp>
          <p:nvSpPr>
            <p:cNvPr id="109" name="TextBox 109"/>
            <p:cNvSpPr txBox="1"/>
            <p:nvPr/>
          </p:nvSpPr>
          <p:spPr>
            <a:xfrm>
              <a:off x="7785354" y="5775960"/>
              <a:ext cx="33528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达标</a:t>
              </a:r>
            </a:p>
          </p:txBody>
        </p:sp>
        <p:sp>
          <p:nvSpPr>
            <p:cNvPr id="110" name="Rectangle 110"/>
            <p:cNvSpPr/>
            <p:nvPr/>
          </p:nvSpPr>
          <p:spPr>
            <a:xfrm>
              <a:off x="8343900" y="5810250"/>
              <a:ext cx="95250" cy="95250"/>
            </a:xfrm>
            <a:prstGeom prst="rect">
              <a:avLst/>
            </a:prstGeom>
            <a:solidFill>
              <a:srgbClr val="B26A00"/>
            </a:solidFill>
            <a:ln>
              <a:noFill/>
            </a:ln>
          </p:spPr>
        </p:sp>
        <p:sp>
          <p:nvSpPr>
            <p:cNvPr id="111" name="TextBox 111"/>
            <p:cNvSpPr txBox="1"/>
            <p:nvPr/>
          </p:nvSpPr>
          <p:spPr>
            <a:xfrm>
              <a:off x="8509254" y="5775960"/>
              <a:ext cx="65836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基本达标</a:t>
              </a:r>
            </a:p>
          </p:txBody>
        </p:sp>
        <p:sp>
          <p:nvSpPr>
            <p:cNvPr id="112" name="Rectangle 112"/>
            <p:cNvSpPr/>
            <p:nvPr/>
          </p:nvSpPr>
          <p:spPr>
            <a:xfrm>
              <a:off x="9391650" y="5810250"/>
              <a:ext cx="95250" cy="95250"/>
            </a:xfrm>
            <a:prstGeom prst="rect">
              <a:avLst/>
            </a:prstGeom>
            <a:solidFill>
              <a:srgbClr val="C0392B"/>
            </a:solidFill>
            <a:ln>
              <a:noFill/>
            </a:ln>
          </p:spPr>
        </p:sp>
        <p:sp>
          <p:nvSpPr>
            <p:cNvPr id="113" name="TextBox 113"/>
            <p:cNvSpPr txBox="1"/>
            <p:nvPr/>
          </p:nvSpPr>
          <p:spPr>
            <a:xfrm>
              <a:off x="9557004" y="5775960"/>
              <a:ext cx="33528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滞后</a:t>
              </a:r>
            </a:p>
          </p:txBody>
        </p:sp>
      </p:grpSp>
      <p:grpSp>
        <p:nvGrpSpPr>
          <p:cNvPr id="118" name="page-footer"/>
          <p:cNvGrpSpPr/>
          <p:nvPr/>
        </p:nvGrpSpPr>
        <p:grpSpPr>
          <a:xfrm>
            <a:off x="603504" y="6134100"/>
            <a:ext cx="10984992" cy="314706"/>
            <a:chOff x="603504" y="6134100"/>
            <a:chExt cx="10984992" cy="314706"/>
          </a:xfrm>
        </p:grpSpPr>
        <p:sp>
          <p:nvSpPr>
            <p:cNvPr id="115" name="Line 115"/>
            <p:cNvSpPr/>
            <p:nvPr/>
          </p:nvSpPr>
          <p:spPr>
            <a:xfrm>
              <a:off x="609600" y="61341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116" name="TextBox 116"/>
            <p:cNvSpPr txBox="1"/>
            <p:nvPr/>
          </p:nvSpPr>
          <p:spPr>
            <a:xfrm>
              <a:off x="603504" y="6214110"/>
              <a:ext cx="372770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数据来源：改造工作台账、分项工程竣工验收备案表</a:t>
              </a:r>
            </a:p>
          </p:txBody>
        </p:sp>
        <p:sp>
          <p:nvSpPr>
            <p:cNvPr id="117" name="TextBox 117"/>
            <p:cNvSpPr txBox="1"/>
            <p:nvPr/>
          </p:nvSpPr>
          <p:spPr>
            <a:xfrm>
              <a:off x="7513472" y="621411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222048" y="578168"/>
              <a:ext cx="236721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二、资金使用情况 ｜ 05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55778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资金到位与支出执行总体情况</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09863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资金到位38520万元、到位率90.0%，已支出33127万元、执行率86.0%，账面积余5393万元。</a:t>
              </a:r>
            </a:p>
          </p:txBody>
        </p:sp>
      </p:grpSp>
      <p:grpSp>
        <p:nvGrpSpPr>
          <p:cNvPr id="38" name="fund-flow-waterfall"/>
          <p:cNvGrpSpPr/>
          <p:nvPr/>
        </p:nvGrpSpPr>
        <p:grpSpPr>
          <a:xfrm>
            <a:off x="1047750" y="2225992"/>
            <a:ext cx="7048500" cy="3340609"/>
            <a:chOff x="1047750" y="2225992"/>
            <a:chExt cx="7048500" cy="3340609"/>
          </a:xfrm>
        </p:grpSpPr>
        <p:sp>
          <p:nvSpPr>
            <p:cNvPr id="11" name="Line 11"/>
            <p:cNvSpPr/>
            <p:nvPr/>
          </p:nvSpPr>
          <p:spPr>
            <a:xfrm>
              <a:off x="1047750" y="4561522"/>
              <a:ext cx="7048500" cy="9525"/>
            </a:xfrm>
            <a:custGeom>
              <a:avLst/>
              <a:gdLst/>
              <a:ahLst/>
              <a:cxnLst/>
              <a:rect l="l" t="t" r="r" b="b"/>
              <a:pathLst>
                <a:path w="7048500" h="9525">
                  <a:moveTo>
                    <a:pt x="0" y="0"/>
                  </a:moveTo>
                  <a:lnTo>
                    <a:pt x="7048500" y="0"/>
                  </a:lnTo>
                </a:path>
              </a:pathLst>
            </a:custGeom>
            <a:noFill/>
            <a:ln w="9525">
              <a:solidFill>
                <a:srgbClr val="E6EAEF"/>
              </a:solidFill>
            </a:ln>
          </p:spPr>
        </p:sp>
        <p:sp>
          <p:nvSpPr>
            <p:cNvPr id="12" name="Line 12"/>
            <p:cNvSpPr/>
            <p:nvPr/>
          </p:nvSpPr>
          <p:spPr>
            <a:xfrm>
              <a:off x="1047750" y="3922395"/>
              <a:ext cx="7048500" cy="9525"/>
            </a:xfrm>
            <a:custGeom>
              <a:avLst/>
              <a:gdLst/>
              <a:ahLst/>
              <a:cxnLst/>
              <a:rect l="l" t="t" r="r" b="b"/>
              <a:pathLst>
                <a:path w="7048500" h="9525">
                  <a:moveTo>
                    <a:pt x="0" y="0"/>
                  </a:moveTo>
                  <a:lnTo>
                    <a:pt x="7048500" y="0"/>
                  </a:lnTo>
                </a:path>
              </a:pathLst>
            </a:custGeom>
            <a:noFill/>
            <a:ln w="9525">
              <a:solidFill>
                <a:srgbClr val="E6EAEF"/>
              </a:solidFill>
            </a:ln>
          </p:spPr>
        </p:sp>
        <p:sp>
          <p:nvSpPr>
            <p:cNvPr id="13" name="Line 13"/>
            <p:cNvSpPr/>
            <p:nvPr/>
          </p:nvSpPr>
          <p:spPr>
            <a:xfrm>
              <a:off x="1047750" y="3283268"/>
              <a:ext cx="7048500" cy="9525"/>
            </a:xfrm>
            <a:custGeom>
              <a:avLst/>
              <a:gdLst/>
              <a:ahLst/>
              <a:cxnLst/>
              <a:rect l="l" t="t" r="r" b="b"/>
              <a:pathLst>
                <a:path w="7048500" h="9525">
                  <a:moveTo>
                    <a:pt x="0" y="0"/>
                  </a:moveTo>
                  <a:lnTo>
                    <a:pt x="7048500" y="0"/>
                  </a:lnTo>
                </a:path>
              </a:pathLst>
            </a:custGeom>
            <a:noFill/>
            <a:ln w="9525">
              <a:solidFill>
                <a:srgbClr val="E6EAEF"/>
              </a:solidFill>
            </a:ln>
          </p:spPr>
        </p:sp>
        <p:sp>
          <p:nvSpPr>
            <p:cNvPr id="14" name="Line 14"/>
            <p:cNvSpPr/>
            <p:nvPr/>
          </p:nvSpPr>
          <p:spPr>
            <a:xfrm>
              <a:off x="1047750" y="2644140"/>
              <a:ext cx="7048500" cy="9525"/>
            </a:xfrm>
            <a:custGeom>
              <a:avLst/>
              <a:gdLst/>
              <a:ahLst/>
              <a:cxnLst/>
              <a:rect l="l" t="t" r="r" b="b"/>
              <a:pathLst>
                <a:path w="7048500" h="9525">
                  <a:moveTo>
                    <a:pt x="0" y="0"/>
                  </a:moveTo>
                  <a:lnTo>
                    <a:pt x="7048500" y="0"/>
                  </a:lnTo>
                </a:path>
              </a:pathLst>
            </a:custGeom>
            <a:noFill/>
            <a:ln w="9525">
              <a:solidFill>
                <a:srgbClr val="E6EAEF"/>
              </a:solidFill>
            </a:ln>
          </p:spPr>
        </p:sp>
        <p:sp>
          <p:nvSpPr>
            <p:cNvPr id="15" name="Line 15"/>
            <p:cNvSpPr/>
            <p:nvPr/>
          </p:nvSpPr>
          <p:spPr>
            <a:xfrm>
              <a:off x="1047750" y="5200650"/>
              <a:ext cx="7048500" cy="9525"/>
            </a:xfrm>
            <a:custGeom>
              <a:avLst/>
              <a:gdLst/>
              <a:ahLst/>
              <a:cxnLst/>
              <a:rect l="l" t="t" r="r" b="b"/>
              <a:pathLst>
                <a:path w="7048500" h="9525">
                  <a:moveTo>
                    <a:pt x="0" y="0"/>
                  </a:moveTo>
                  <a:lnTo>
                    <a:pt x="7048500" y="0"/>
                  </a:lnTo>
                </a:path>
              </a:pathLst>
            </a:custGeom>
            <a:noFill/>
            <a:ln w="14288">
              <a:solidFill>
                <a:srgbClr val="5B6672"/>
              </a:solidFill>
            </a:ln>
          </p:spPr>
        </p:sp>
        <p:sp>
          <p:nvSpPr>
            <p:cNvPr id="16" name="Rectangle 16"/>
            <p:cNvSpPr/>
            <p:nvPr/>
          </p:nvSpPr>
          <p:spPr>
            <a:xfrm>
              <a:off x="1143000" y="2465070"/>
              <a:ext cx="838200" cy="2735580"/>
            </a:xfrm>
            <a:prstGeom prst="rect">
              <a:avLst/>
            </a:prstGeom>
            <a:solidFill>
              <a:schemeClr val="accent1"/>
            </a:solidFill>
            <a:ln>
              <a:noFill/>
            </a:ln>
          </p:spPr>
        </p:sp>
        <p:sp>
          <p:nvSpPr>
            <p:cNvPr id="17" name="Rectangle 17"/>
            <p:cNvSpPr/>
            <p:nvPr/>
          </p:nvSpPr>
          <p:spPr>
            <a:xfrm>
              <a:off x="2647950" y="2465070"/>
              <a:ext cx="838200" cy="273368"/>
            </a:xfrm>
            <a:prstGeom prst="rect">
              <a:avLst/>
            </a:prstGeom>
            <a:solidFill>
              <a:srgbClr val="C0392B"/>
            </a:solidFill>
            <a:ln>
              <a:noFill/>
            </a:ln>
          </p:spPr>
        </p:sp>
        <p:sp>
          <p:nvSpPr>
            <p:cNvPr id="18" name="Rectangle 18"/>
            <p:cNvSpPr/>
            <p:nvPr/>
          </p:nvSpPr>
          <p:spPr>
            <a:xfrm>
              <a:off x="4152900" y="2738438"/>
              <a:ext cx="838200" cy="2462212"/>
            </a:xfrm>
            <a:prstGeom prst="rect">
              <a:avLst/>
            </a:prstGeom>
            <a:solidFill>
              <a:schemeClr val="accent1"/>
            </a:solidFill>
            <a:ln>
              <a:noFill/>
            </a:ln>
          </p:spPr>
        </p:sp>
        <p:sp>
          <p:nvSpPr>
            <p:cNvPr id="19" name="Rectangle 19"/>
            <p:cNvSpPr/>
            <p:nvPr/>
          </p:nvSpPr>
          <p:spPr>
            <a:xfrm>
              <a:off x="5657850" y="2738438"/>
              <a:ext cx="838200" cy="2117408"/>
            </a:xfrm>
            <a:prstGeom prst="rect">
              <a:avLst/>
            </a:prstGeom>
            <a:solidFill>
              <a:srgbClr val="C0392B"/>
            </a:solidFill>
            <a:ln>
              <a:noFill/>
            </a:ln>
          </p:spPr>
        </p:sp>
        <p:sp>
          <p:nvSpPr>
            <p:cNvPr id="20" name="Rectangle 20"/>
            <p:cNvSpPr/>
            <p:nvPr/>
          </p:nvSpPr>
          <p:spPr>
            <a:xfrm>
              <a:off x="7162800" y="4855845"/>
              <a:ext cx="838200" cy="344805"/>
            </a:xfrm>
            <a:prstGeom prst="rect">
              <a:avLst/>
            </a:prstGeom>
            <a:solidFill>
              <a:schemeClr val="accent1"/>
            </a:solidFill>
            <a:ln>
              <a:noFill/>
            </a:ln>
          </p:spPr>
        </p:sp>
        <p:grpSp>
          <p:nvGrpSpPr>
            <p:cNvPr id="25" name="Group 25"/>
            <p:cNvGrpSpPr/>
            <p:nvPr/>
          </p:nvGrpSpPr>
          <p:grpSpPr>
            <a:xfrm>
              <a:off x="1981200" y="2465070"/>
              <a:ext cx="5181600" cy="2400300"/>
              <a:chOff x="1981200" y="2465070"/>
              <a:chExt cx="5181600" cy="2400300"/>
            </a:xfrm>
          </p:grpSpPr>
          <p:sp>
            <p:nvSpPr>
              <p:cNvPr id="21" name="Line 21"/>
              <p:cNvSpPr/>
              <p:nvPr/>
            </p:nvSpPr>
            <p:spPr>
              <a:xfrm>
                <a:off x="1981200" y="2465070"/>
                <a:ext cx="666750" cy="9525"/>
              </a:xfrm>
              <a:custGeom>
                <a:avLst/>
                <a:gdLst/>
                <a:ahLst/>
                <a:cxnLst/>
                <a:rect l="l" t="t" r="r" b="b"/>
                <a:pathLst>
                  <a:path w="666750" h="9525">
                    <a:moveTo>
                      <a:pt x="0" y="0"/>
                    </a:moveTo>
                    <a:lnTo>
                      <a:pt x="666750" y="0"/>
                    </a:lnTo>
                  </a:path>
                </a:pathLst>
              </a:custGeom>
              <a:noFill/>
              <a:ln w="9525">
                <a:solidFill>
                  <a:srgbClr val="D3D9DF"/>
                </a:solidFill>
                <a:prstDash val="dash"/>
              </a:ln>
            </p:spPr>
          </p:sp>
          <p:sp>
            <p:nvSpPr>
              <p:cNvPr id="22" name="Line 22"/>
              <p:cNvSpPr/>
              <p:nvPr/>
            </p:nvSpPr>
            <p:spPr>
              <a:xfrm>
                <a:off x="3486150" y="2738438"/>
                <a:ext cx="666750" cy="9525"/>
              </a:xfrm>
              <a:custGeom>
                <a:avLst/>
                <a:gdLst/>
                <a:ahLst/>
                <a:cxnLst/>
                <a:rect l="l" t="t" r="r" b="b"/>
                <a:pathLst>
                  <a:path w="666750" h="9525">
                    <a:moveTo>
                      <a:pt x="0" y="0"/>
                    </a:moveTo>
                    <a:lnTo>
                      <a:pt x="666750" y="0"/>
                    </a:lnTo>
                  </a:path>
                </a:pathLst>
              </a:custGeom>
              <a:noFill/>
              <a:ln w="9525">
                <a:solidFill>
                  <a:srgbClr val="D3D9DF"/>
                </a:solidFill>
                <a:prstDash val="dash"/>
              </a:ln>
            </p:spPr>
          </p:sp>
          <p:sp>
            <p:nvSpPr>
              <p:cNvPr id="23" name="Line 23"/>
              <p:cNvSpPr/>
              <p:nvPr/>
            </p:nvSpPr>
            <p:spPr>
              <a:xfrm>
                <a:off x="4991100" y="2738438"/>
                <a:ext cx="666750" cy="9525"/>
              </a:xfrm>
              <a:custGeom>
                <a:avLst/>
                <a:gdLst/>
                <a:ahLst/>
                <a:cxnLst/>
                <a:rect l="l" t="t" r="r" b="b"/>
                <a:pathLst>
                  <a:path w="666750" h="9525">
                    <a:moveTo>
                      <a:pt x="0" y="0"/>
                    </a:moveTo>
                    <a:lnTo>
                      <a:pt x="666750" y="0"/>
                    </a:lnTo>
                  </a:path>
                </a:pathLst>
              </a:custGeom>
              <a:noFill/>
              <a:ln w="9525">
                <a:solidFill>
                  <a:srgbClr val="D3D9DF"/>
                </a:solidFill>
                <a:prstDash val="dash"/>
              </a:ln>
            </p:spPr>
          </p:sp>
          <p:sp>
            <p:nvSpPr>
              <p:cNvPr id="24" name="Line 24"/>
              <p:cNvSpPr/>
              <p:nvPr/>
            </p:nvSpPr>
            <p:spPr>
              <a:xfrm>
                <a:off x="6496050" y="4855845"/>
                <a:ext cx="666750" cy="9525"/>
              </a:xfrm>
              <a:custGeom>
                <a:avLst/>
                <a:gdLst/>
                <a:ahLst/>
                <a:cxnLst/>
                <a:rect l="l" t="t" r="r" b="b"/>
                <a:pathLst>
                  <a:path w="666750" h="9525">
                    <a:moveTo>
                      <a:pt x="0" y="0"/>
                    </a:moveTo>
                    <a:lnTo>
                      <a:pt x="666750" y="0"/>
                    </a:lnTo>
                  </a:path>
                </a:pathLst>
              </a:custGeom>
              <a:noFill/>
              <a:ln w="9525">
                <a:solidFill>
                  <a:srgbClr val="D3D9DF"/>
                </a:solidFill>
                <a:prstDash val="dash"/>
              </a:ln>
            </p:spPr>
          </p:sp>
        </p:grpSp>
        <p:grpSp>
          <p:nvGrpSpPr>
            <p:cNvPr id="31" name="Group 31"/>
            <p:cNvGrpSpPr/>
            <p:nvPr/>
          </p:nvGrpSpPr>
          <p:grpSpPr>
            <a:xfrm>
              <a:off x="1292859" y="2225992"/>
              <a:ext cx="6505805" cy="2654809"/>
              <a:chOff x="1292859" y="2225992"/>
              <a:chExt cx="6505805" cy="2654809"/>
            </a:xfrm>
          </p:grpSpPr>
          <p:sp>
            <p:nvSpPr>
              <p:cNvPr id="26" name="TextBox 26"/>
              <p:cNvSpPr txBox="1"/>
              <p:nvPr/>
            </p:nvSpPr>
            <p:spPr>
              <a:xfrm>
                <a:off x="1292859" y="2225992"/>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42800</a:t>
                </a:r>
              </a:p>
            </p:txBody>
          </p:sp>
          <p:sp>
            <p:nvSpPr>
              <p:cNvPr id="27" name="TextBox 27"/>
              <p:cNvSpPr txBox="1"/>
              <p:nvPr/>
            </p:nvSpPr>
            <p:spPr>
              <a:xfrm>
                <a:off x="2797809" y="2225992"/>
                <a:ext cx="538482" cy="264033"/>
              </a:xfrm>
              <a:prstGeom prst="rect">
                <a:avLst/>
              </a:prstGeom>
              <a:noFill/>
              <a:ln>
                <a:noFill/>
              </a:ln>
            </p:spPr>
            <p:txBody>
              <a:bodyPr wrap="none" lIns="0" tIns="0" rIns="0" bIns="0" anchor="t" anchorCtr="0">
                <a:spAutoFit/>
              </a:bodyPr>
              <a:lstStyle/>
              <a:p>
                <a:pPr algn="ctr"/>
                <a:r>
                  <a:rPr lang="zh-CN" sz="1350" b="1" dirty="0">
                    <a:solidFill>
                      <a:srgbClr val="C0392B"/>
                    </a:solidFill>
                    <a:latin typeface="+mn-lt"/>
                    <a:ea typeface="+mn-ea"/>
                    <a:cs typeface="+mn-cs"/>
                  </a:rPr>
                  <a:t>-4280</a:t>
                </a:r>
              </a:p>
            </p:txBody>
          </p:sp>
          <p:sp>
            <p:nvSpPr>
              <p:cNvPr id="28" name="TextBox 28"/>
              <p:cNvSpPr txBox="1"/>
              <p:nvPr/>
            </p:nvSpPr>
            <p:spPr>
              <a:xfrm>
                <a:off x="4302759" y="2502218"/>
                <a:ext cx="53848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38520</a:t>
                </a:r>
              </a:p>
            </p:txBody>
          </p:sp>
          <p:sp>
            <p:nvSpPr>
              <p:cNvPr id="29" name="TextBox 29"/>
              <p:cNvSpPr txBox="1"/>
              <p:nvPr/>
            </p:nvSpPr>
            <p:spPr>
              <a:xfrm>
                <a:off x="5755233" y="2502218"/>
                <a:ext cx="643435" cy="264033"/>
              </a:xfrm>
              <a:prstGeom prst="rect">
                <a:avLst/>
              </a:prstGeom>
              <a:noFill/>
              <a:ln>
                <a:noFill/>
              </a:ln>
            </p:spPr>
            <p:txBody>
              <a:bodyPr wrap="none" lIns="0" tIns="0" rIns="0" bIns="0" anchor="t" anchorCtr="0">
                <a:spAutoFit/>
              </a:bodyPr>
              <a:lstStyle/>
              <a:p>
                <a:pPr algn="ctr"/>
                <a:r>
                  <a:rPr lang="zh-CN" sz="1350" b="1" dirty="0">
                    <a:solidFill>
                      <a:srgbClr val="C0392B"/>
                    </a:solidFill>
                    <a:latin typeface="+mn-lt"/>
                    <a:ea typeface="+mn-ea"/>
                    <a:cs typeface="+mn-cs"/>
                  </a:rPr>
                  <a:t>-33127</a:t>
                </a:r>
              </a:p>
            </p:txBody>
          </p:sp>
          <p:sp>
            <p:nvSpPr>
              <p:cNvPr id="30" name="TextBox 30"/>
              <p:cNvSpPr txBox="1"/>
              <p:nvPr/>
            </p:nvSpPr>
            <p:spPr>
              <a:xfrm>
                <a:off x="7365136" y="4616768"/>
                <a:ext cx="433528"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5393</a:t>
                </a:r>
              </a:p>
            </p:txBody>
          </p:sp>
        </p:grpSp>
        <p:grpSp>
          <p:nvGrpSpPr>
            <p:cNvPr id="37" name="Group 37"/>
            <p:cNvGrpSpPr/>
            <p:nvPr/>
          </p:nvGrpSpPr>
          <p:grpSpPr>
            <a:xfrm>
              <a:off x="1100900" y="5302568"/>
              <a:ext cx="6851332" cy="264033"/>
              <a:chOff x="1100900" y="5302568"/>
              <a:chExt cx="6851332" cy="264033"/>
            </a:xfrm>
          </p:grpSpPr>
          <p:sp>
            <p:nvSpPr>
              <p:cNvPr id="32" name="TextBox 32"/>
              <p:cNvSpPr txBox="1"/>
              <p:nvPr/>
            </p:nvSpPr>
            <p:spPr>
              <a:xfrm>
                <a:off x="1100900" y="5302568"/>
                <a:ext cx="92240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计划总投资</a:t>
                </a:r>
              </a:p>
            </p:txBody>
          </p:sp>
          <p:sp>
            <p:nvSpPr>
              <p:cNvPr id="33" name="TextBox 33"/>
              <p:cNvSpPr txBox="1"/>
              <p:nvPr/>
            </p:nvSpPr>
            <p:spPr>
              <a:xfrm>
                <a:off x="2696718" y="53025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到位缺口</a:t>
                </a:r>
              </a:p>
            </p:txBody>
          </p:sp>
          <p:sp>
            <p:nvSpPr>
              <p:cNvPr id="34" name="TextBox 34"/>
              <p:cNvSpPr txBox="1"/>
              <p:nvPr/>
            </p:nvSpPr>
            <p:spPr>
              <a:xfrm>
                <a:off x="4201668" y="53025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实际到位</a:t>
                </a:r>
              </a:p>
            </p:txBody>
          </p:sp>
          <p:sp>
            <p:nvSpPr>
              <p:cNvPr id="35" name="TextBox 35"/>
              <p:cNvSpPr txBox="1"/>
              <p:nvPr/>
            </p:nvSpPr>
            <p:spPr>
              <a:xfrm>
                <a:off x="5797486" y="5302568"/>
                <a:ext cx="55892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已支出</a:t>
                </a:r>
              </a:p>
            </p:txBody>
          </p:sp>
          <p:sp>
            <p:nvSpPr>
              <p:cNvPr id="36" name="TextBox 36"/>
              <p:cNvSpPr txBox="1"/>
              <p:nvPr/>
            </p:nvSpPr>
            <p:spPr>
              <a:xfrm>
                <a:off x="7211568" y="530256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账面积余</a:t>
                </a:r>
              </a:p>
            </p:txBody>
          </p:sp>
        </p:grpSp>
      </p:grpSp>
      <p:grpSp>
        <p:nvGrpSpPr>
          <p:cNvPr id="58" name="fund-kpi-panel"/>
          <p:cNvGrpSpPr/>
          <p:nvPr/>
        </p:nvGrpSpPr>
        <p:grpSpPr>
          <a:xfrm>
            <a:off x="8382000" y="1943100"/>
            <a:ext cx="3200400" cy="3743706"/>
            <a:chOff x="8382000" y="1943100"/>
            <a:chExt cx="3200400" cy="3743706"/>
          </a:xfrm>
        </p:grpSpPr>
        <p:sp>
          <p:nvSpPr>
            <p:cNvPr id="39" name="Rectangle 39"/>
            <p:cNvSpPr/>
            <p:nvPr/>
          </p:nvSpPr>
          <p:spPr>
            <a:xfrm>
              <a:off x="8382000" y="1943100"/>
              <a:ext cx="3200400" cy="3695700"/>
            </a:xfrm>
            <a:prstGeom prst="rect">
              <a:avLst/>
            </a:prstGeom>
            <a:solidFill>
              <a:schemeClr val="lt2"/>
            </a:solidFill>
            <a:ln>
              <a:noFill/>
            </a:ln>
          </p:spPr>
        </p:sp>
        <p:sp>
          <p:nvSpPr>
            <p:cNvPr id="40" name="Rectangle 40"/>
            <p:cNvSpPr/>
            <p:nvPr/>
          </p:nvSpPr>
          <p:spPr>
            <a:xfrm>
              <a:off x="8382000" y="1943100"/>
              <a:ext cx="3200400" cy="28575"/>
            </a:xfrm>
            <a:prstGeom prst="rect">
              <a:avLst/>
            </a:prstGeom>
            <a:solidFill>
              <a:schemeClr val="accent1"/>
            </a:solidFill>
            <a:ln>
              <a:noFill/>
            </a:ln>
          </p:spPr>
        </p:sp>
        <p:sp>
          <p:nvSpPr>
            <p:cNvPr id="41" name="TextBox 41"/>
            <p:cNvSpPr txBox="1"/>
            <p:nvPr/>
          </p:nvSpPr>
          <p:spPr>
            <a:xfrm>
              <a:off x="8602980" y="212407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关键指标</a:t>
              </a:r>
            </a:p>
          </p:txBody>
        </p:sp>
        <p:sp>
          <p:nvSpPr>
            <p:cNvPr id="42" name="Line 42"/>
            <p:cNvSpPr/>
            <p:nvPr/>
          </p:nvSpPr>
          <p:spPr>
            <a:xfrm>
              <a:off x="8610600" y="241935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43" name="TextBox 43"/>
            <p:cNvSpPr txBox="1"/>
            <p:nvPr/>
          </p:nvSpPr>
          <p:spPr>
            <a:xfrm>
              <a:off x="8603742" y="2616518"/>
              <a:ext cx="9224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计划总投资</a:t>
              </a:r>
            </a:p>
          </p:txBody>
        </p:sp>
        <p:sp>
          <p:nvSpPr>
            <p:cNvPr id="44" name="TextBox 44"/>
            <p:cNvSpPr txBox="1"/>
            <p:nvPr/>
          </p:nvSpPr>
          <p:spPr>
            <a:xfrm>
              <a:off x="9872375" y="2535555"/>
              <a:ext cx="1492093"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42800 万元</a:t>
              </a:r>
            </a:p>
          </p:txBody>
        </p:sp>
        <p:sp>
          <p:nvSpPr>
            <p:cNvPr id="45" name="TextBox 45"/>
            <p:cNvSpPr txBox="1"/>
            <p:nvPr/>
          </p:nvSpPr>
          <p:spPr>
            <a:xfrm>
              <a:off x="8604504" y="2861310"/>
              <a:ext cx="211226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含四级财政及社会、居民出资</a:t>
              </a:r>
            </a:p>
          </p:txBody>
        </p:sp>
        <p:sp>
          <p:nvSpPr>
            <p:cNvPr id="46" name="TextBox 46"/>
            <p:cNvSpPr txBox="1"/>
            <p:nvPr/>
          </p:nvSpPr>
          <p:spPr>
            <a:xfrm>
              <a:off x="8603742" y="3264218"/>
              <a:ext cx="110413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实际到位资金</a:t>
              </a:r>
            </a:p>
          </p:txBody>
        </p:sp>
        <p:sp>
          <p:nvSpPr>
            <p:cNvPr id="47" name="TextBox 47"/>
            <p:cNvSpPr txBox="1"/>
            <p:nvPr/>
          </p:nvSpPr>
          <p:spPr>
            <a:xfrm>
              <a:off x="9872375" y="3183255"/>
              <a:ext cx="1492093"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38520 万元</a:t>
              </a:r>
            </a:p>
          </p:txBody>
        </p:sp>
        <p:sp>
          <p:nvSpPr>
            <p:cNvPr id="48" name="TextBox 48"/>
            <p:cNvSpPr txBox="1"/>
            <p:nvPr/>
          </p:nvSpPr>
          <p:spPr>
            <a:xfrm>
              <a:off x="8604504" y="3509010"/>
              <a:ext cx="2281885" cy="234696"/>
            </a:xfrm>
            <a:prstGeom prst="rect">
              <a:avLst/>
            </a:prstGeom>
            <a:noFill/>
            <a:ln>
              <a:noFill/>
            </a:ln>
          </p:spPr>
          <p:txBody>
            <a:bodyPr wrap="none" lIns="0" tIns="0" rIns="0" bIns="0" anchor="t" anchorCtr="0">
              <a:spAutoFit/>
            </a:bodyPr>
            <a:lstStyle/>
            <a:p>
              <a:pPr algn="l"/>
              <a:r>
                <a:rPr lang="zh-CN" sz="1200" dirty="0">
                  <a:solidFill>
                    <a:srgbClr val="B26A00"/>
                  </a:solidFill>
                  <a:latin typeface="+mn-lt"/>
                  <a:ea typeface="+mn-ea"/>
                  <a:cs typeface="+mn-cs"/>
                </a:rPr>
                <a:t>到位率 90.0%，缺口 4280 万元</a:t>
              </a:r>
            </a:p>
          </p:txBody>
        </p:sp>
        <p:sp>
          <p:nvSpPr>
            <p:cNvPr id="49" name="TextBox 49"/>
            <p:cNvSpPr txBox="1"/>
            <p:nvPr/>
          </p:nvSpPr>
          <p:spPr>
            <a:xfrm>
              <a:off x="8603742" y="3911918"/>
              <a:ext cx="9224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已支出资金</a:t>
              </a:r>
            </a:p>
          </p:txBody>
        </p:sp>
        <p:sp>
          <p:nvSpPr>
            <p:cNvPr id="50" name="TextBox 50"/>
            <p:cNvSpPr txBox="1"/>
            <p:nvPr/>
          </p:nvSpPr>
          <p:spPr>
            <a:xfrm>
              <a:off x="9872375" y="3830955"/>
              <a:ext cx="1492093"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33127 万元</a:t>
              </a:r>
            </a:p>
          </p:txBody>
        </p:sp>
        <p:sp>
          <p:nvSpPr>
            <p:cNvPr id="51" name="TextBox 51"/>
            <p:cNvSpPr txBox="1"/>
            <p:nvPr/>
          </p:nvSpPr>
          <p:spPr>
            <a:xfrm>
              <a:off x="8604504" y="4156710"/>
              <a:ext cx="1344930" cy="234696"/>
            </a:xfrm>
            <a:prstGeom prst="rect">
              <a:avLst/>
            </a:prstGeom>
            <a:noFill/>
            <a:ln>
              <a:noFill/>
            </a:ln>
          </p:spPr>
          <p:txBody>
            <a:bodyPr wrap="none" lIns="0" tIns="0" rIns="0" bIns="0" anchor="t" anchorCtr="0">
              <a:spAutoFit/>
            </a:bodyPr>
            <a:lstStyle/>
            <a:p>
              <a:pPr algn="l"/>
              <a:r>
                <a:rPr lang="zh-CN" sz="1200" dirty="0">
                  <a:solidFill>
                    <a:srgbClr val="C0392B"/>
                  </a:solidFill>
                  <a:latin typeface="+mn-lt"/>
                  <a:ea typeface="+mn-ea"/>
                  <a:cs typeface="+mn-cs"/>
                </a:rPr>
                <a:t>支出执行率 86.0%</a:t>
              </a:r>
            </a:p>
          </p:txBody>
        </p:sp>
        <p:sp>
          <p:nvSpPr>
            <p:cNvPr id="52" name="TextBox 52"/>
            <p:cNvSpPr txBox="1"/>
            <p:nvPr/>
          </p:nvSpPr>
          <p:spPr>
            <a:xfrm>
              <a:off x="8603742" y="4559618"/>
              <a:ext cx="110413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账面积余资金</a:t>
              </a:r>
            </a:p>
          </p:txBody>
        </p:sp>
        <p:sp>
          <p:nvSpPr>
            <p:cNvPr id="53" name="TextBox 53"/>
            <p:cNvSpPr txBox="1"/>
            <p:nvPr/>
          </p:nvSpPr>
          <p:spPr>
            <a:xfrm>
              <a:off x="10035635" y="4478655"/>
              <a:ext cx="1328833"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5393 万元</a:t>
              </a:r>
            </a:p>
          </p:txBody>
        </p:sp>
        <p:sp>
          <p:nvSpPr>
            <p:cNvPr id="54" name="TextBox 54"/>
            <p:cNvSpPr txBox="1"/>
            <p:nvPr/>
          </p:nvSpPr>
          <p:spPr>
            <a:xfrm>
              <a:off x="8604504" y="4804410"/>
              <a:ext cx="1021842" cy="234696"/>
            </a:xfrm>
            <a:prstGeom prst="rect">
              <a:avLst/>
            </a:prstGeom>
            <a:noFill/>
            <a:ln>
              <a:noFill/>
            </a:ln>
          </p:spPr>
          <p:txBody>
            <a:bodyPr wrap="none" lIns="0" tIns="0" rIns="0" bIns="0" anchor="t" anchorCtr="0">
              <a:spAutoFit/>
            </a:bodyPr>
            <a:lstStyle/>
            <a:p>
              <a:pPr algn="l"/>
              <a:r>
                <a:rPr lang="zh-CN" sz="1200" dirty="0">
                  <a:solidFill>
                    <a:srgbClr val="C0392B"/>
                  </a:solidFill>
                  <a:latin typeface="+mn-lt"/>
                  <a:ea typeface="+mn-ea"/>
                  <a:cs typeface="+mn-cs"/>
                </a:rPr>
                <a:t>结余率 14.0%</a:t>
              </a:r>
            </a:p>
          </p:txBody>
        </p:sp>
        <p:sp>
          <p:nvSpPr>
            <p:cNvPr id="55" name="Line 55"/>
            <p:cNvSpPr/>
            <p:nvPr/>
          </p:nvSpPr>
          <p:spPr>
            <a:xfrm>
              <a:off x="8610600" y="514350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56" name="TextBox 56"/>
            <p:cNvSpPr txBox="1"/>
            <p:nvPr/>
          </p:nvSpPr>
          <p:spPr>
            <a:xfrm>
              <a:off x="8604504" y="5261610"/>
              <a:ext cx="134493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户均投入 1.9 万元</a:t>
              </a:r>
            </a:p>
          </p:txBody>
        </p:sp>
        <p:sp>
          <p:nvSpPr>
            <p:cNvPr id="57" name="TextBox 57"/>
            <p:cNvSpPr txBox="1"/>
            <p:nvPr/>
          </p:nvSpPr>
          <p:spPr>
            <a:xfrm>
              <a:off x="8604504" y="5452110"/>
              <a:ext cx="220111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按已到位资金÷已完成户数计算</a:t>
              </a:r>
            </a:p>
          </p:txBody>
        </p:sp>
      </p:grpSp>
      <p:grpSp>
        <p:nvGrpSpPr>
          <p:cNvPr id="62" name="ratio-calibre-strip"/>
          <p:cNvGrpSpPr/>
          <p:nvPr/>
        </p:nvGrpSpPr>
        <p:grpSpPr>
          <a:xfrm>
            <a:off x="603504" y="5695950"/>
            <a:ext cx="10978896" cy="448056"/>
            <a:chOff x="603504" y="5695950"/>
            <a:chExt cx="10978896" cy="448056"/>
          </a:xfrm>
        </p:grpSpPr>
        <p:sp>
          <p:nvSpPr>
            <p:cNvPr id="59" name="Line 59"/>
            <p:cNvSpPr/>
            <p:nvPr/>
          </p:nvSpPr>
          <p:spPr>
            <a:xfrm>
              <a:off x="609600" y="56959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60" name="TextBox 60"/>
            <p:cNvSpPr txBox="1"/>
            <p:nvPr/>
          </p:nvSpPr>
          <p:spPr>
            <a:xfrm>
              <a:off x="603504" y="5756910"/>
              <a:ext cx="904250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比率口径（全篇一致）：资金到位率＝实际到位÷计划总投资×100%＝90.0%；支出执行率＝已支出÷实际到位×100%＝86.0%；</a:t>
              </a:r>
            </a:p>
          </p:txBody>
        </p:sp>
        <p:sp>
          <p:nvSpPr>
            <p:cNvPr id="61" name="TextBox 61"/>
            <p:cNvSpPr txBox="1"/>
            <p:nvPr/>
          </p:nvSpPr>
          <p:spPr>
            <a:xfrm>
              <a:off x="603504" y="5909310"/>
              <a:ext cx="606201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结余率＝账面积余÷实际到位×100%＝14.0%。金额单位为万元，比率保留一位小数。</a:t>
              </a:r>
            </a:p>
          </p:txBody>
        </p:sp>
      </p:grpSp>
      <p:grpSp>
        <p:nvGrpSpPr>
          <p:cNvPr id="66" name="page-footer"/>
          <p:cNvGrpSpPr/>
          <p:nvPr/>
        </p:nvGrpSpPr>
        <p:grpSpPr>
          <a:xfrm>
            <a:off x="603504" y="6172200"/>
            <a:ext cx="10984992" cy="295656"/>
            <a:chOff x="603504" y="6172200"/>
            <a:chExt cx="10984992" cy="295656"/>
          </a:xfrm>
        </p:grpSpPr>
        <p:sp>
          <p:nvSpPr>
            <p:cNvPr id="63" name="Line 6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64" name="TextBox 64"/>
            <p:cNvSpPr txBox="1"/>
            <p:nvPr/>
          </p:nvSpPr>
          <p:spPr>
            <a:xfrm>
              <a:off x="603504" y="6233160"/>
              <a:ext cx="308152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数据来源：专项资金决算表、财政拨付台账</a:t>
              </a:r>
            </a:p>
          </p:txBody>
        </p:sp>
        <p:sp>
          <p:nvSpPr>
            <p:cNvPr id="65" name="TextBox 65"/>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222048" y="578168"/>
              <a:ext cx="2367210"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二、资金使用情况 ｜ 06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47244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资金来源与支出构成明细</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57115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三级财政资金100.0%到位；区级配套81.8%、社会资本73.0%、居民出资65.8%，缺口4280万元。</a:t>
              </a:r>
            </a:p>
          </p:txBody>
        </p:sp>
      </p:grpSp>
      <p:grpSp>
        <p:nvGrpSpPr>
          <p:cNvPr id="12" name="fund-table-caption"/>
          <p:cNvGrpSpPr/>
          <p:nvPr/>
        </p:nvGrpSpPr>
        <p:grpSpPr>
          <a:xfrm>
            <a:off x="602742" y="1968818"/>
            <a:ext cx="3284982" cy="264033"/>
            <a:chOff x="602742" y="1968818"/>
            <a:chExt cx="3284982" cy="264033"/>
          </a:xfrm>
        </p:grpSpPr>
        <p:sp>
          <p:nvSpPr>
            <p:cNvPr id="11" name="TextBox 11"/>
            <p:cNvSpPr txBox="1"/>
            <p:nvPr/>
          </p:nvSpPr>
          <p:spPr>
            <a:xfrm>
              <a:off x="602742" y="1968818"/>
              <a:ext cx="328498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资金来源与支出执行情况（单位：万元）</a:t>
              </a:r>
            </a:p>
          </p:txBody>
        </p:sp>
      </p:grpSp>
      <p:grpSp>
        <p:nvGrpSpPr>
          <p:cNvPr id="115" name="fund-hierarchy-table"/>
          <p:cNvGrpSpPr/>
          <p:nvPr/>
        </p:nvGrpSpPr>
        <p:grpSpPr>
          <a:xfrm>
            <a:off x="609600" y="2209800"/>
            <a:ext cx="7772400" cy="3427095"/>
            <a:chOff x="609600" y="2209800"/>
            <a:chExt cx="7772400" cy="3427095"/>
          </a:xfrm>
        </p:grpSpPr>
        <p:sp>
          <p:nvSpPr>
            <p:cNvPr id="13" name="Rectangle 13"/>
            <p:cNvSpPr/>
            <p:nvPr/>
          </p:nvSpPr>
          <p:spPr>
            <a:xfrm>
              <a:off x="609600" y="2209800"/>
              <a:ext cx="7772400" cy="285750"/>
            </a:xfrm>
            <a:prstGeom prst="rect">
              <a:avLst/>
            </a:prstGeom>
            <a:solidFill>
              <a:schemeClr val="accent1"/>
            </a:solidFill>
            <a:ln>
              <a:noFill/>
            </a:ln>
          </p:spPr>
        </p:sp>
        <p:sp>
          <p:nvSpPr>
            <p:cNvPr id="14" name="Rectangle 14"/>
            <p:cNvSpPr/>
            <p:nvPr/>
          </p:nvSpPr>
          <p:spPr>
            <a:xfrm>
              <a:off x="609600" y="2495550"/>
              <a:ext cx="952500" cy="1800225"/>
            </a:xfrm>
            <a:prstGeom prst="rect">
              <a:avLst/>
            </a:prstGeom>
            <a:solidFill>
              <a:schemeClr val="lt2"/>
            </a:solidFill>
            <a:ln>
              <a:noFill/>
            </a:ln>
          </p:spPr>
        </p:sp>
        <p:sp>
          <p:nvSpPr>
            <p:cNvPr id="15" name="Rectangle 15"/>
            <p:cNvSpPr/>
            <p:nvPr/>
          </p:nvSpPr>
          <p:spPr>
            <a:xfrm>
              <a:off x="609600" y="4295775"/>
              <a:ext cx="952500" cy="1285875"/>
            </a:xfrm>
            <a:prstGeom prst="rect">
              <a:avLst/>
            </a:prstGeom>
            <a:solidFill>
              <a:schemeClr val="lt2"/>
            </a:solidFill>
            <a:ln>
              <a:noFill/>
            </a:ln>
          </p:spPr>
        </p:sp>
        <p:sp>
          <p:nvSpPr>
            <p:cNvPr id="16" name="Rectangle 16"/>
            <p:cNvSpPr/>
            <p:nvPr/>
          </p:nvSpPr>
          <p:spPr>
            <a:xfrm>
              <a:off x="1562100" y="4038600"/>
              <a:ext cx="6819900" cy="257175"/>
            </a:xfrm>
            <a:prstGeom prst="rect">
              <a:avLst/>
            </a:prstGeom>
            <a:solidFill>
              <a:schemeClr val="lt2"/>
            </a:solidFill>
            <a:ln>
              <a:noFill/>
            </a:ln>
          </p:spPr>
        </p:sp>
        <p:sp>
          <p:nvSpPr>
            <p:cNvPr id="17" name="Rectangle 17"/>
            <p:cNvSpPr/>
            <p:nvPr/>
          </p:nvSpPr>
          <p:spPr>
            <a:xfrm>
              <a:off x="1562100" y="5324475"/>
              <a:ext cx="6819900" cy="257175"/>
            </a:xfrm>
            <a:prstGeom prst="rect">
              <a:avLst/>
            </a:prstGeom>
            <a:solidFill>
              <a:schemeClr val="lt2"/>
            </a:solidFill>
            <a:ln>
              <a:noFill/>
            </a:ln>
          </p:spPr>
        </p:sp>
        <p:sp>
          <p:nvSpPr>
            <p:cNvPr id="18" name="Rectangle 18"/>
            <p:cNvSpPr/>
            <p:nvPr/>
          </p:nvSpPr>
          <p:spPr>
            <a:xfrm>
              <a:off x="1562100" y="3267075"/>
              <a:ext cx="6819900" cy="257175"/>
            </a:xfrm>
            <a:prstGeom prst="rect">
              <a:avLst/>
            </a:prstGeom>
            <a:solidFill>
              <a:srgbClr val="FBEEEC"/>
            </a:solidFill>
            <a:ln>
              <a:noFill/>
            </a:ln>
          </p:spPr>
        </p:sp>
        <p:sp>
          <p:nvSpPr>
            <p:cNvPr id="19" name="Rectangle 19"/>
            <p:cNvSpPr/>
            <p:nvPr/>
          </p:nvSpPr>
          <p:spPr>
            <a:xfrm>
              <a:off x="1562100" y="4810125"/>
              <a:ext cx="6819900" cy="257175"/>
            </a:xfrm>
            <a:prstGeom prst="rect">
              <a:avLst/>
            </a:prstGeom>
            <a:solidFill>
              <a:srgbClr val="FBEEEC"/>
            </a:solidFill>
            <a:ln>
              <a:noFill/>
            </a:ln>
          </p:spPr>
        </p:sp>
        <p:grpSp>
          <p:nvGrpSpPr>
            <p:cNvPr id="26" name="Group 26"/>
            <p:cNvGrpSpPr/>
            <p:nvPr/>
          </p:nvGrpSpPr>
          <p:grpSpPr>
            <a:xfrm>
              <a:off x="897255" y="2254568"/>
              <a:ext cx="7377303" cy="264033"/>
              <a:chOff x="897255" y="2254568"/>
              <a:chExt cx="7377303" cy="264033"/>
            </a:xfrm>
          </p:grpSpPr>
          <p:sp>
            <p:nvSpPr>
              <p:cNvPr id="20" name="TextBox 20"/>
              <p:cNvSpPr txBox="1"/>
              <p:nvPr/>
            </p:nvSpPr>
            <p:spPr>
              <a:xfrm>
                <a:off x="897255" y="225456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类别</a:t>
                </a:r>
              </a:p>
            </p:txBody>
          </p:sp>
          <p:sp>
            <p:nvSpPr>
              <p:cNvPr id="21" name="TextBox 21"/>
              <p:cNvSpPr txBox="1"/>
              <p:nvPr/>
            </p:nvSpPr>
            <p:spPr>
              <a:xfrm>
                <a:off x="1669542" y="225456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a:t>
                </a:r>
              </a:p>
            </p:txBody>
          </p:sp>
          <p:sp>
            <p:nvSpPr>
              <p:cNvPr id="22" name="TextBox 22"/>
              <p:cNvSpPr txBox="1"/>
              <p:nvPr/>
            </p:nvSpPr>
            <p:spPr>
              <a:xfrm>
                <a:off x="4286631" y="2254568"/>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计划数</a:t>
                </a:r>
              </a:p>
            </p:txBody>
          </p:sp>
          <p:sp>
            <p:nvSpPr>
              <p:cNvPr id="23" name="TextBox 23"/>
              <p:cNvSpPr txBox="1"/>
              <p:nvPr/>
            </p:nvSpPr>
            <p:spPr>
              <a:xfrm>
                <a:off x="5353431" y="2254568"/>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执行数</a:t>
                </a:r>
              </a:p>
            </p:txBody>
          </p:sp>
          <p:sp>
            <p:nvSpPr>
              <p:cNvPr id="24" name="TextBox 24"/>
              <p:cNvSpPr txBox="1"/>
              <p:nvPr/>
            </p:nvSpPr>
            <p:spPr>
              <a:xfrm>
                <a:off x="6458331" y="2254568"/>
                <a:ext cx="558927"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执行率</a:t>
                </a:r>
              </a:p>
            </p:txBody>
          </p:sp>
          <p:sp>
            <p:nvSpPr>
              <p:cNvPr id="25" name="TextBox 25"/>
              <p:cNvSpPr txBox="1"/>
              <p:nvPr/>
            </p:nvSpPr>
            <p:spPr>
              <a:xfrm>
                <a:off x="7897368" y="2254568"/>
                <a:ext cx="377190"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差额</a:t>
                </a:r>
              </a:p>
            </p:txBody>
          </p:sp>
        </p:grpSp>
        <p:grpSp>
          <p:nvGrpSpPr>
            <p:cNvPr id="29" name="Group 29"/>
            <p:cNvGrpSpPr/>
            <p:nvPr/>
          </p:nvGrpSpPr>
          <p:grpSpPr>
            <a:xfrm>
              <a:off x="674370" y="3295650"/>
              <a:ext cx="822960" cy="1836420"/>
              <a:chOff x="674370" y="3295650"/>
              <a:chExt cx="822960" cy="1836420"/>
            </a:xfrm>
          </p:grpSpPr>
          <p:sp>
            <p:nvSpPr>
              <p:cNvPr id="27" name="TextBox 27"/>
              <p:cNvSpPr txBox="1"/>
              <p:nvPr/>
            </p:nvSpPr>
            <p:spPr>
              <a:xfrm>
                <a:off x="674370" y="3295650"/>
                <a:ext cx="82296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资金来源</a:t>
                </a:r>
              </a:p>
            </p:txBody>
          </p:sp>
          <p:sp>
            <p:nvSpPr>
              <p:cNvPr id="28" name="TextBox 28"/>
              <p:cNvSpPr txBox="1"/>
              <p:nvPr/>
            </p:nvSpPr>
            <p:spPr>
              <a:xfrm>
                <a:off x="674370" y="4838700"/>
                <a:ext cx="822960"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mn-lt"/>
                    <a:ea typeface="+mn-ea"/>
                    <a:cs typeface="+mn-cs"/>
                  </a:rPr>
                  <a:t>资金支出</a:t>
                </a:r>
              </a:p>
            </p:txBody>
          </p:sp>
        </p:grpSp>
        <p:grpSp>
          <p:nvGrpSpPr>
            <p:cNvPr id="40" name="Group 40"/>
            <p:cNvGrpSpPr/>
            <p:nvPr/>
          </p:nvGrpSpPr>
          <p:grpSpPr>
            <a:xfrm>
              <a:off x="1668780" y="2514600"/>
              <a:ext cx="2034540" cy="2865120"/>
              <a:chOff x="1668780" y="2514600"/>
              <a:chExt cx="2034540" cy="2865120"/>
            </a:xfrm>
          </p:grpSpPr>
          <p:sp>
            <p:nvSpPr>
              <p:cNvPr id="30" name="TextBox 30"/>
              <p:cNvSpPr txBox="1"/>
              <p:nvPr/>
            </p:nvSpPr>
            <p:spPr>
              <a:xfrm>
                <a:off x="1668780" y="2514600"/>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中央补助资金</a:t>
                </a:r>
              </a:p>
            </p:txBody>
          </p:sp>
          <p:sp>
            <p:nvSpPr>
              <p:cNvPr id="31" name="TextBox 31"/>
              <p:cNvSpPr txBox="1"/>
              <p:nvPr/>
            </p:nvSpPr>
            <p:spPr>
              <a:xfrm>
                <a:off x="1668780" y="2771775"/>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省级补助资金</a:t>
                </a:r>
              </a:p>
            </p:txBody>
          </p:sp>
          <p:sp>
            <p:nvSpPr>
              <p:cNvPr id="32" name="TextBox 32"/>
              <p:cNvSpPr txBox="1"/>
              <p:nvPr/>
            </p:nvSpPr>
            <p:spPr>
              <a:xfrm>
                <a:off x="1668780" y="3028950"/>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市级财政资金</a:t>
                </a:r>
              </a:p>
            </p:txBody>
          </p:sp>
          <p:sp>
            <p:nvSpPr>
              <p:cNvPr id="33" name="TextBox 33"/>
              <p:cNvSpPr txBox="1"/>
              <p:nvPr/>
            </p:nvSpPr>
            <p:spPr>
              <a:xfrm>
                <a:off x="1668780" y="3286125"/>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区级财政配套</a:t>
                </a:r>
              </a:p>
            </p:txBody>
          </p:sp>
          <p:sp>
            <p:nvSpPr>
              <p:cNvPr id="34" name="TextBox 34"/>
              <p:cNvSpPr txBox="1"/>
              <p:nvPr/>
            </p:nvSpPr>
            <p:spPr>
              <a:xfrm>
                <a:off x="1668780" y="3543300"/>
                <a:ext cx="183261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管线单位及社会资本</a:t>
                </a:r>
              </a:p>
            </p:txBody>
          </p:sp>
          <p:sp>
            <p:nvSpPr>
              <p:cNvPr id="35" name="TextBox 35"/>
              <p:cNvSpPr txBox="1"/>
              <p:nvPr/>
            </p:nvSpPr>
            <p:spPr>
              <a:xfrm>
                <a:off x="1668780" y="3800475"/>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居民出资</a:t>
                </a:r>
              </a:p>
            </p:txBody>
          </p:sp>
          <p:sp>
            <p:nvSpPr>
              <p:cNvPr id="36" name="TextBox 36"/>
              <p:cNvSpPr txBox="1"/>
              <p:nvPr/>
            </p:nvSpPr>
            <p:spPr>
              <a:xfrm>
                <a:off x="1668780" y="4314825"/>
                <a:ext cx="10248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基础设施类</a:t>
                </a:r>
              </a:p>
            </p:txBody>
          </p:sp>
          <p:sp>
            <p:nvSpPr>
              <p:cNvPr id="37" name="TextBox 37"/>
              <p:cNvSpPr txBox="1"/>
              <p:nvPr/>
            </p:nvSpPr>
            <p:spPr>
              <a:xfrm>
                <a:off x="1668780" y="4572000"/>
                <a:ext cx="203454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完善类（含加装电梯）</a:t>
                </a:r>
              </a:p>
            </p:txBody>
          </p:sp>
          <p:sp>
            <p:nvSpPr>
              <p:cNvPr id="38" name="TextBox 38"/>
              <p:cNvSpPr txBox="1"/>
              <p:nvPr/>
            </p:nvSpPr>
            <p:spPr>
              <a:xfrm>
                <a:off x="1668780" y="4829175"/>
                <a:ext cx="6210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提升类</a:t>
                </a:r>
              </a:p>
            </p:txBody>
          </p:sp>
          <p:sp>
            <p:nvSpPr>
              <p:cNvPr id="39" name="TextBox 39"/>
              <p:cNvSpPr txBox="1"/>
              <p:nvPr/>
            </p:nvSpPr>
            <p:spPr>
              <a:xfrm>
                <a:off x="1668780" y="5086350"/>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前期及管理费</a:t>
                </a:r>
              </a:p>
            </p:txBody>
          </p:sp>
        </p:grpSp>
        <p:grpSp>
          <p:nvGrpSpPr>
            <p:cNvPr id="43" name="Group 43"/>
            <p:cNvGrpSpPr/>
            <p:nvPr/>
          </p:nvGrpSpPr>
          <p:grpSpPr>
            <a:xfrm>
              <a:off x="1668780" y="4057650"/>
              <a:ext cx="822960" cy="1579245"/>
              <a:chOff x="1668780" y="4057650"/>
              <a:chExt cx="822960" cy="1579245"/>
            </a:xfrm>
          </p:grpSpPr>
          <p:sp>
            <p:nvSpPr>
              <p:cNvPr id="41" name="TextBox 41"/>
              <p:cNvSpPr txBox="1"/>
              <p:nvPr/>
            </p:nvSpPr>
            <p:spPr>
              <a:xfrm>
                <a:off x="1668780" y="4057650"/>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来源小计</a:t>
                </a:r>
              </a:p>
            </p:txBody>
          </p:sp>
          <p:sp>
            <p:nvSpPr>
              <p:cNvPr id="42" name="TextBox 42"/>
              <p:cNvSpPr txBox="1"/>
              <p:nvPr/>
            </p:nvSpPr>
            <p:spPr>
              <a:xfrm>
                <a:off x="1668780" y="534352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支出小计</a:t>
                </a:r>
              </a:p>
            </p:txBody>
          </p:sp>
        </p:grpSp>
        <p:grpSp>
          <p:nvGrpSpPr>
            <p:cNvPr id="64" name="Group 64"/>
            <p:cNvGrpSpPr/>
            <p:nvPr/>
          </p:nvGrpSpPr>
          <p:grpSpPr>
            <a:xfrm>
              <a:off x="4275772" y="2514600"/>
              <a:ext cx="1637349" cy="2865120"/>
              <a:chOff x="4275772" y="2514600"/>
              <a:chExt cx="1637349" cy="2865120"/>
            </a:xfrm>
          </p:grpSpPr>
          <p:sp>
            <p:nvSpPr>
              <p:cNvPr id="44" name="TextBox 44"/>
              <p:cNvSpPr txBox="1"/>
              <p:nvPr/>
            </p:nvSpPr>
            <p:spPr>
              <a:xfrm>
                <a:off x="4386834" y="251460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7704</a:t>
                </a:r>
              </a:p>
            </p:txBody>
          </p:sp>
          <p:sp>
            <p:nvSpPr>
              <p:cNvPr id="45" name="TextBox 45"/>
              <p:cNvSpPr txBox="1"/>
              <p:nvPr/>
            </p:nvSpPr>
            <p:spPr>
              <a:xfrm>
                <a:off x="4386834" y="27717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4622</a:t>
                </a:r>
              </a:p>
            </p:txBody>
          </p:sp>
          <p:sp>
            <p:nvSpPr>
              <p:cNvPr id="46" name="TextBox 46"/>
              <p:cNvSpPr txBox="1"/>
              <p:nvPr/>
            </p:nvSpPr>
            <p:spPr>
              <a:xfrm>
                <a:off x="4275772" y="30289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11556</a:t>
                </a:r>
              </a:p>
            </p:txBody>
          </p:sp>
          <p:sp>
            <p:nvSpPr>
              <p:cNvPr id="47" name="TextBox 47"/>
              <p:cNvSpPr txBox="1"/>
              <p:nvPr/>
            </p:nvSpPr>
            <p:spPr>
              <a:xfrm>
                <a:off x="4275772" y="3286125"/>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11770</a:t>
                </a:r>
              </a:p>
            </p:txBody>
          </p:sp>
          <p:sp>
            <p:nvSpPr>
              <p:cNvPr id="48" name="TextBox 48"/>
              <p:cNvSpPr txBox="1"/>
              <p:nvPr/>
            </p:nvSpPr>
            <p:spPr>
              <a:xfrm>
                <a:off x="4386834" y="354330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4222</a:t>
                </a:r>
              </a:p>
            </p:txBody>
          </p:sp>
          <p:sp>
            <p:nvSpPr>
              <p:cNvPr id="49" name="TextBox 49"/>
              <p:cNvSpPr txBox="1"/>
              <p:nvPr/>
            </p:nvSpPr>
            <p:spPr>
              <a:xfrm>
                <a:off x="4386834" y="38004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2926</a:t>
                </a:r>
              </a:p>
            </p:txBody>
          </p:sp>
          <p:sp>
            <p:nvSpPr>
              <p:cNvPr id="50" name="TextBox 50"/>
              <p:cNvSpPr txBox="1"/>
              <p:nvPr/>
            </p:nvSpPr>
            <p:spPr>
              <a:xfrm>
                <a:off x="4275772" y="4314825"/>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18490</a:t>
                </a:r>
              </a:p>
            </p:txBody>
          </p:sp>
          <p:sp>
            <p:nvSpPr>
              <p:cNvPr id="51" name="TextBox 51"/>
              <p:cNvSpPr txBox="1"/>
              <p:nvPr/>
            </p:nvSpPr>
            <p:spPr>
              <a:xfrm>
                <a:off x="4275772" y="457200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11556</a:t>
                </a:r>
              </a:p>
            </p:txBody>
          </p:sp>
          <p:sp>
            <p:nvSpPr>
              <p:cNvPr id="52" name="TextBox 52"/>
              <p:cNvSpPr txBox="1"/>
              <p:nvPr/>
            </p:nvSpPr>
            <p:spPr>
              <a:xfrm>
                <a:off x="4386834" y="48291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6548</a:t>
                </a:r>
              </a:p>
            </p:txBody>
          </p:sp>
          <p:sp>
            <p:nvSpPr>
              <p:cNvPr id="53" name="TextBox 53"/>
              <p:cNvSpPr txBox="1"/>
              <p:nvPr/>
            </p:nvSpPr>
            <p:spPr>
              <a:xfrm>
                <a:off x="4386834" y="50863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1926</a:t>
                </a:r>
              </a:p>
            </p:txBody>
          </p:sp>
          <p:sp>
            <p:nvSpPr>
              <p:cNvPr id="54" name="TextBox 54"/>
              <p:cNvSpPr txBox="1"/>
              <p:nvPr/>
            </p:nvSpPr>
            <p:spPr>
              <a:xfrm>
                <a:off x="5453634" y="251460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7704</a:t>
                </a:r>
              </a:p>
            </p:txBody>
          </p:sp>
          <p:sp>
            <p:nvSpPr>
              <p:cNvPr id="55" name="TextBox 55"/>
              <p:cNvSpPr txBox="1"/>
              <p:nvPr/>
            </p:nvSpPr>
            <p:spPr>
              <a:xfrm>
                <a:off x="5453634" y="27717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4622</a:t>
                </a:r>
              </a:p>
            </p:txBody>
          </p:sp>
          <p:sp>
            <p:nvSpPr>
              <p:cNvPr id="56" name="TextBox 56"/>
              <p:cNvSpPr txBox="1"/>
              <p:nvPr/>
            </p:nvSpPr>
            <p:spPr>
              <a:xfrm>
                <a:off x="5342573" y="30289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11556</a:t>
                </a:r>
              </a:p>
            </p:txBody>
          </p:sp>
          <p:sp>
            <p:nvSpPr>
              <p:cNvPr id="57" name="TextBox 57"/>
              <p:cNvSpPr txBox="1"/>
              <p:nvPr/>
            </p:nvSpPr>
            <p:spPr>
              <a:xfrm>
                <a:off x="5453634" y="328612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9630</a:t>
                </a:r>
              </a:p>
            </p:txBody>
          </p:sp>
          <p:sp>
            <p:nvSpPr>
              <p:cNvPr id="58" name="TextBox 58"/>
              <p:cNvSpPr txBox="1"/>
              <p:nvPr/>
            </p:nvSpPr>
            <p:spPr>
              <a:xfrm>
                <a:off x="5453634" y="354330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3082</a:t>
                </a:r>
              </a:p>
            </p:txBody>
          </p:sp>
          <p:sp>
            <p:nvSpPr>
              <p:cNvPr id="59" name="TextBox 59"/>
              <p:cNvSpPr txBox="1"/>
              <p:nvPr/>
            </p:nvSpPr>
            <p:spPr>
              <a:xfrm>
                <a:off x="5453634" y="38004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1926</a:t>
                </a:r>
              </a:p>
            </p:txBody>
          </p:sp>
          <p:sp>
            <p:nvSpPr>
              <p:cNvPr id="60" name="TextBox 60"/>
              <p:cNvSpPr txBox="1"/>
              <p:nvPr/>
            </p:nvSpPr>
            <p:spPr>
              <a:xfrm>
                <a:off x="5342573" y="4314825"/>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16564</a:t>
                </a:r>
              </a:p>
            </p:txBody>
          </p:sp>
          <p:sp>
            <p:nvSpPr>
              <p:cNvPr id="61" name="TextBox 61"/>
              <p:cNvSpPr txBox="1"/>
              <p:nvPr/>
            </p:nvSpPr>
            <p:spPr>
              <a:xfrm>
                <a:off x="5453634" y="457200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9938</a:t>
                </a:r>
              </a:p>
            </p:txBody>
          </p:sp>
          <p:sp>
            <p:nvSpPr>
              <p:cNvPr id="62" name="TextBox 62"/>
              <p:cNvSpPr txBox="1"/>
              <p:nvPr/>
            </p:nvSpPr>
            <p:spPr>
              <a:xfrm>
                <a:off x="5453634" y="4829175"/>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4969</a:t>
                </a:r>
              </a:p>
            </p:txBody>
          </p:sp>
          <p:sp>
            <p:nvSpPr>
              <p:cNvPr id="63" name="TextBox 63"/>
              <p:cNvSpPr txBox="1"/>
              <p:nvPr/>
            </p:nvSpPr>
            <p:spPr>
              <a:xfrm>
                <a:off x="5453634" y="50863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mn-lt"/>
                    <a:ea typeface="+mn-ea"/>
                    <a:cs typeface="+mn-cs"/>
                  </a:rPr>
                  <a:t>1656</a:t>
                </a:r>
              </a:p>
            </p:txBody>
          </p:sp>
        </p:grpSp>
        <p:grpSp>
          <p:nvGrpSpPr>
            <p:cNvPr id="69" name="Group 69"/>
            <p:cNvGrpSpPr/>
            <p:nvPr/>
          </p:nvGrpSpPr>
          <p:grpSpPr>
            <a:xfrm>
              <a:off x="4248007" y="4057650"/>
              <a:ext cx="1665113" cy="1579245"/>
              <a:chOff x="4248007" y="4057650"/>
              <a:chExt cx="1665113" cy="1579245"/>
            </a:xfrm>
          </p:grpSpPr>
          <p:sp>
            <p:nvSpPr>
              <p:cNvPr id="65" name="TextBox 65"/>
              <p:cNvSpPr txBox="1"/>
              <p:nvPr/>
            </p:nvSpPr>
            <p:spPr>
              <a:xfrm>
                <a:off x="4248007" y="4057650"/>
                <a:ext cx="59831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mn-lt"/>
                    <a:ea typeface="+mn-ea"/>
                    <a:cs typeface="+mn-cs"/>
                  </a:rPr>
                  <a:t>42800</a:t>
                </a:r>
              </a:p>
            </p:txBody>
          </p:sp>
          <p:sp>
            <p:nvSpPr>
              <p:cNvPr id="66" name="TextBox 66"/>
              <p:cNvSpPr txBox="1"/>
              <p:nvPr/>
            </p:nvSpPr>
            <p:spPr>
              <a:xfrm>
                <a:off x="5314807" y="4057650"/>
                <a:ext cx="59831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mn-lt"/>
                    <a:ea typeface="+mn-ea"/>
                    <a:cs typeface="+mn-cs"/>
                  </a:rPr>
                  <a:t>38520</a:t>
                </a:r>
              </a:p>
            </p:txBody>
          </p:sp>
          <p:sp>
            <p:nvSpPr>
              <p:cNvPr id="67" name="TextBox 67"/>
              <p:cNvSpPr txBox="1"/>
              <p:nvPr/>
            </p:nvSpPr>
            <p:spPr>
              <a:xfrm>
                <a:off x="4248007" y="5343525"/>
                <a:ext cx="59831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mn-lt"/>
                    <a:ea typeface="+mn-ea"/>
                    <a:cs typeface="+mn-cs"/>
                  </a:rPr>
                  <a:t>38520</a:t>
                </a:r>
              </a:p>
            </p:txBody>
          </p:sp>
          <p:sp>
            <p:nvSpPr>
              <p:cNvPr id="68" name="TextBox 68"/>
              <p:cNvSpPr txBox="1"/>
              <p:nvPr/>
            </p:nvSpPr>
            <p:spPr>
              <a:xfrm>
                <a:off x="5314807" y="5343525"/>
                <a:ext cx="59831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mn-lt"/>
                    <a:ea typeface="+mn-ea"/>
                    <a:cs typeface="+mn-cs"/>
                  </a:rPr>
                  <a:t>33127</a:t>
                </a:r>
              </a:p>
            </p:txBody>
          </p:sp>
        </p:grpSp>
        <p:grpSp>
          <p:nvGrpSpPr>
            <p:cNvPr id="82" name="Group 82"/>
            <p:cNvGrpSpPr/>
            <p:nvPr/>
          </p:nvGrpSpPr>
          <p:grpSpPr>
            <a:xfrm>
              <a:off x="6260687" y="2514600"/>
              <a:ext cx="757333" cy="3122295"/>
              <a:chOff x="6260687" y="2514600"/>
              <a:chExt cx="757333" cy="3122295"/>
            </a:xfrm>
          </p:grpSpPr>
          <p:sp>
            <p:nvSpPr>
              <p:cNvPr id="70" name="TextBox 70"/>
              <p:cNvSpPr txBox="1"/>
              <p:nvPr/>
            </p:nvSpPr>
            <p:spPr>
              <a:xfrm>
                <a:off x="6260687" y="2514600"/>
                <a:ext cx="757333"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100.0%</a:t>
                </a:r>
              </a:p>
            </p:txBody>
          </p:sp>
          <p:sp>
            <p:nvSpPr>
              <p:cNvPr id="71" name="TextBox 71"/>
              <p:cNvSpPr txBox="1"/>
              <p:nvPr/>
            </p:nvSpPr>
            <p:spPr>
              <a:xfrm>
                <a:off x="6260687" y="2771775"/>
                <a:ext cx="757333"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100.0%</a:t>
                </a:r>
              </a:p>
            </p:txBody>
          </p:sp>
          <p:sp>
            <p:nvSpPr>
              <p:cNvPr id="72" name="TextBox 72"/>
              <p:cNvSpPr txBox="1"/>
              <p:nvPr/>
            </p:nvSpPr>
            <p:spPr>
              <a:xfrm>
                <a:off x="6260687" y="3028950"/>
                <a:ext cx="757333"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100.0%</a:t>
                </a:r>
              </a:p>
            </p:txBody>
          </p:sp>
          <p:sp>
            <p:nvSpPr>
              <p:cNvPr id="73" name="TextBox 73"/>
              <p:cNvSpPr txBox="1"/>
              <p:nvPr/>
            </p:nvSpPr>
            <p:spPr>
              <a:xfrm>
                <a:off x="6377302" y="328612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81.8%</a:t>
                </a:r>
              </a:p>
            </p:txBody>
          </p:sp>
          <p:sp>
            <p:nvSpPr>
              <p:cNvPr id="74" name="TextBox 74"/>
              <p:cNvSpPr txBox="1"/>
              <p:nvPr/>
            </p:nvSpPr>
            <p:spPr>
              <a:xfrm>
                <a:off x="6377302" y="3543300"/>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73.0%</a:t>
                </a:r>
              </a:p>
            </p:txBody>
          </p:sp>
          <p:sp>
            <p:nvSpPr>
              <p:cNvPr id="75" name="TextBox 75"/>
              <p:cNvSpPr txBox="1"/>
              <p:nvPr/>
            </p:nvSpPr>
            <p:spPr>
              <a:xfrm>
                <a:off x="6377302" y="38004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65.8%</a:t>
                </a:r>
              </a:p>
            </p:txBody>
          </p:sp>
          <p:sp>
            <p:nvSpPr>
              <p:cNvPr id="76" name="TextBox 76"/>
              <p:cNvSpPr txBox="1"/>
              <p:nvPr/>
            </p:nvSpPr>
            <p:spPr>
              <a:xfrm>
                <a:off x="6377302" y="4057650"/>
                <a:ext cx="640718" cy="293370"/>
              </a:xfrm>
              <a:prstGeom prst="rect">
                <a:avLst/>
              </a:prstGeom>
              <a:noFill/>
              <a:ln>
                <a:noFill/>
              </a:ln>
            </p:spPr>
            <p:txBody>
              <a:bodyPr wrap="none" lIns="0" tIns="0" rIns="0" bIns="0" anchor="t" anchorCtr="0">
                <a:spAutoFit/>
              </a:bodyPr>
              <a:lstStyle/>
              <a:p>
                <a:pPr algn="r"/>
                <a:r>
                  <a:rPr lang="zh-CN" sz="1500" b="1" dirty="0">
                    <a:solidFill>
                      <a:srgbClr val="B26A00"/>
                    </a:solidFill>
                    <a:latin typeface="+mn-lt"/>
                    <a:ea typeface="+mn-ea"/>
                    <a:cs typeface="+mn-cs"/>
                  </a:rPr>
                  <a:t>90.0%</a:t>
                </a:r>
              </a:p>
            </p:txBody>
          </p:sp>
          <p:sp>
            <p:nvSpPr>
              <p:cNvPr id="77" name="TextBox 77"/>
              <p:cNvSpPr txBox="1"/>
              <p:nvPr/>
            </p:nvSpPr>
            <p:spPr>
              <a:xfrm>
                <a:off x="6377302" y="431482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89.6%</a:t>
                </a:r>
              </a:p>
            </p:txBody>
          </p:sp>
          <p:sp>
            <p:nvSpPr>
              <p:cNvPr id="78" name="TextBox 78"/>
              <p:cNvSpPr txBox="1"/>
              <p:nvPr/>
            </p:nvSpPr>
            <p:spPr>
              <a:xfrm>
                <a:off x="6377302" y="4572000"/>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86.0%</a:t>
                </a:r>
              </a:p>
            </p:txBody>
          </p:sp>
          <p:sp>
            <p:nvSpPr>
              <p:cNvPr id="79" name="TextBox 79"/>
              <p:cNvSpPr txBox="1"/>
              <p:nvPr/>
            </p:nvSpPr>
            <p:spPr>
              <a:xfrm>
                <a:off x="6377302" y="482917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75.9%</a:t>
                </a:r>
              </a:p>
            </p:txBody>
          </p:sp>
          <p:sp>
            <p:nvSpPr>
              <p:cNvPr id="80" name="TextBox 80"/>
              <p:cNvSpPr txBox="1"/>
              <p:nvPr/>
            </p:nvSpPr>
            <p:spPr>
              <a:xfrm>
                <a:off x="6377302" y="5086350"/>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86.0%</a:t>
                </a:r>
              </a:p>
            </p:txBody>
          </p:sp>
          <p:sp>
            <p:nvSpPr>
              <p:cNvPr id="81" name="TextBox 81"/>
              <p:cNvSpPr txBox="1"/>
              <p:nvPr/>
            </p:nvSpPr>
            <p:spPr>
              <a:xfrm>
                <a:off x="6377302" y="5343525"/>
                <a:ext cx="64071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86.0%</a:t>
                </a:r>
              </a:p>
            </p:txBody>
          </p:sp>
        </p:grpSp>
        <p:grpSp>
          <p:nvGrpSpPr>
            <p:cNvPr id="95" name="Group 95"/>
            <p:cNvGrpSpPr/>
            <p:nvPr/>
          </p:nvGrpSpPr>
          <p:grpSpPr>
            <a:xfrm>
              <a:off x="7793622" y="2514600"/>
              <a:ext cx="481699" cy="3122295"/>
              <a:chOff x="7793622" y="2514600"/>
              <a:chExt cx="481699" cy="3122295"/>
            </a:xfrm>
          </p:grpSpPr>
          <p:sp>
            <p:nvSpPr>
              <p:cNvPr id="83" name="TextBox 83"/>
              <p:cNvSpPr txBox="1"/>
              <p:nvPr/>
            </p:nvSpPr>
            <p:spPr>
              <a:xfrm>
                <a:off x="8149019" y="2514600"/>
                <a:ext cx="126302"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0</a:t>
                </a:r>
              </a:p>
            </p:txBody>
          </p:sp>
          <p:sp>
            <p:nvSpPr>
              <p:cNvPr id="84" name="TextBox 84"/>
              <p:cNvSpPr txBox="1"/>
              <p:nvPr/>
            </p:nvSpPr>
            <p:spPr>
              <a:xfrm>
                <a:off x="8149019" y="2771775"/>
                <a:ext cx="126302"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0</a:t>
                </a:r>
              </a:p>
            </p:txBody>
          </p:sp>
          <p:sp>
            <p:nvSpPr>
              <p:cNvPr id="85" name="TextBox 85"/>
              <p:cNvSpPr txBox="1"/>
              <p:nvPr/>
            </p:nvSpPr>
            <p:spPr>
              <a:xfrm>
                <a:off x="8149019" y="3028950"/>
                <a:ext cx="126302" cy="293370"/>
              </a:xfrm>
              <a:prstGeom prst="rect">
                <a:avLst/>
              </a:prstGeom>
              <a:noFill/>
              <a:ln>
                <a:noFill/>
              </a:ln>
            </p:spPr>
            <p:txBody>
              <a:bodyPr wrap="none" lIns="0" tIns="0" rIns="0" bIns="0" anchor="t" anchorCtr="0">
                <a:spAutoFit/>
              </a:bodyPr>
              <a:lstStyle/>
              <a:p>
                <a:pPr algn="r"/>
                <a:r>
                  <a:rPr lang="zh-CN" sz="1500" dirty="0">
                    <a:solidFill>
                      <a:schemeClr val="accent6"/>
                    </a:solidFill>
                    <a:latin typeface="+mn-lt"/>
                    <a:ea typeface="+mn-ea"/>
                    <a:cs typeface="+mn-cs"/>
                  </a:rPr>
                  <a:t>0</a:t>
                </a:r>
              </a:p>
            </p:txBody>
          </p:sp>
          <p:sp>
            <p:nvSpPr>
              <p:cNvPr id="86" name="TextBox 86"/>
              <p:cNvSpPr txBox="1"/>
              <p:nvPr/>
            </p:nvSpPr>
            <p:spPr>
              <a:xfrm>
                <a:off x="7793622" y="3286125"/>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2140</a:t>
                </a:r>
              </a:p>
            </p:txBody>
          </p:sp>
          <p:sp>
            <p:nvSpPr>
              <p:cNvPr id="87" name="TextBox 87"/>
              <p:cNvSpPr txBox="1"/>
              <p:nvPr/>
            </p:nvSpPr>
            <p:spPr>
              <a:xfrm>
                <a:off x="7793622" y="3543300"/>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1140</a:t>
                </a:r>
              </a:p>
            </p:txBody>
          </p:sp>
          <p:sp>
            <p:nvSpPr>
              <p:cNvPr id="88" name="TextBox 88"/>
              <p:cNvSpPr txBox="1"/>
              <p:nvPr/>
            </p:nvSpPr>
            <p:spPr>
              <a:xfrm>
                <a:off x="7793622" y="3800475"/>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1000</a:t>
                </a:r>
              </a:p>
            </p:txBody>
          </p:sp>
          <p:sp>
            <p:nvSpPr>
              <p:cNvPr id="89" name="TextBox 89"/>
              <p:cNvSpPr txBox="1"/>
              <p:nvPr/>
            </p:nvSpPr>
            <p:spPr>
              <a:xfrm>
                <a:off x="7793622" y="4057650"/>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4280</a:t>
                </a:r>
              </a:p>
            </p:txBody>
          </p:sp>
          <p:sp>
            <p:nvSpPr>
              <p:cNvPr id="90" name="TextBox 90"/>
              <p:cNvSpPr txBox="1"/>
              <p:nvPr/>
            </p:nvSpPr>
            <p:spPr>
              <a:xfrm>
                <a:off x="7793622" y="4314825"/>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1926</a:t>
                </a:r>
              </a:p>
            </p:txBody>
          </p:sp>
          <p:sp>
            <p:nvSpPr>
              <p:cNvPr id="91" name="TextBox 91"/>
              <p:cNvSpPr txBox="1"/>
              <p:nvPr/>
            </p:nvSpPr>
            <p:spPr>
              <a:xfrm>
                <a:off x="7793622" y="4572000"/>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1618</a:t>
                </a:r>
              </a:p>
            </p:txBody>
          </p:sp>
          <p:sp>
            <p:nvSpPr>
              <p:cNvPr id="92" name="TextBox 92"/>
              <p:cNvSpPr txBox="1"/>
              <p:nvPr/>
            </p:nvSpPr>
            <p:spPr>
              <a:xfrm>
                <a:off x="7793622" y="4829175"/>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1579</a:t>
                </a:r>
              </a:p>
            </p:txBody>
          </p:sp>
          <p:sp>
            <p:nvSpPr>
              <p:cNvPr id="93" name="TextBox 93"/>
              <p:cNvSpPr txBox="1"/>
              <p:nvPr/>
            </p:nvSpPr>
            <p:spPr>
              <a:xfrm>
                <a:off x="7910236" y="5086350"/>
                <a:ext cx="365084"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270</a:t>
                </a:r>
              </a:p>
            </p:txBody>
          </p:sp>
          <p:sp>
            <p:nvSpPr>
              <p:cNvPr id="94" name="TextBox 94"/>
              <p:cNvSpPr txBox="1"/>
              <p:nvPr/>
            </p:nvSpPr>
            <p:spPr>
              <a:xfrm>
                <a:off x="7793622" y="5343525"/>
                <a:ext cx="481698" cy="293370"/>
              </a:xfrm>
              <a:prstGeom prst="rect">
                <a:avLst/>
              </a:prstGeom>
              <a:noFill/>
              <a:ln>
                <a:noFill/>
              </a:ln>
            </p:spPr>
            <p:txBody>
              <a:bodyPr wrap="none" lIns="0" tIns="0" rIns="0" bIns="0" anchor="t" anchorCtr="0">
                <a:spAutoFit/>
              </a:bodyPr>
              <a:lstStyle/>
              <a:p>
                <a:pPr algn="r"/>
                <a:r>
                  <a:rPr lang="zh-CN" sz="1500" b="1" dirty="0">
                    <a:solidFill>
                      <a:srgbClr val="C0392B"/>
                    </a:solidFill>
                    <a:latin typeface="+mn-lt"/>
                    <a:ea typeface="+mn-ea"/>
                    <a:cs typeface="+mn-cs"/>
                  </a:rPr>
                  <a:t>5393</a:t>
                </a:r>
              </a:p>
            </p:txBody>
          </p:sp>
        </p:grpSp>
        <p:grpSp>
          <p:nvGrpSpPr>
            <p:cNvPr id="113" name="Group 113"/>
            <p:cNvGrpSpPr/>
            <p:nvPr/>
          </p:nvGrpSpPr>
          <p:grpSpPr>
            <a:xfrm>
              <a:off x="609600" y="2209800"/>
              <a:ext cx="7772400" cy="3371850"/>
              <a:chOff x="609600" y="2209800"/>
              <a:chExt cx="7772400" cy="3371850"/>
            </a:xfrm>
          </p:grpSpPr>
          <p:sp>
            <p:nvSpPr>
              <p:cNvPr id="96" name="Line 96"/>
              <p:cNvSpPr/>
              <p:nvPr/>
            </p:nvSpPr>
            <p:spPr>
              <a:xfrm>
                <a:off x="1562100" y="22098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97" name="Line 97"/>
              <p:cNvSpPr/>
              <p:nvPr/>
            </p:nvSpPr>
            <p:spPr>
              <a:xfrm>
                <a:off x="3886200" y="22098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98" name="Line 98"/>
              <p:cNvSpPr/>
              <p:nvPr/>
            </p:nvSpPr>
            <p:spPr>
              <a:xfrm>
                <a:off x="4953000" y="22098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99" name="Line 99"/>
              <p:cNvSpPr/>
              <p:nvPr/>
            </p:nvSpPr>
            <p:spPr>
              <a:xfrm>
                <a:off x="6019800" y="22098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100" name="Line 100"/>
              <p:cNvSpPr/>
              <p:nvPr/>
            </p:nvSpPr>
            <p:spPr>
              <a:xfrm>
                <a:off x="7124700" y="22098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101" name="Line 101"/>
              <p:cNvSpPr/>
              <p:nvPr/>
            </p:nvSpPr>
            <p:spPr>
              <a:xfrm>
                <a:off x="609600" y="2495550"/>
                <a:ext cx="7772400" cy="9525"/>
              </a:xfrm>
              <a:custGeom>
                <a:avLst/>
                <a:gdLst/>
                <a:ahLst/>
                <a:cxnLst/>
                <a:rect l="l" t="t" r="r" b="b"/>
                <a:pathLst>
                  <a:path w="7772400" h="9525">
                    <a:moveTo>
                      <a:pt x="0" y="0"/>
                    </a:moveTo>
                    <a:lnTo>
                      <a:pt x="7772400" y="0"/>
                    </a:lnTo>
                  </a:path>
                </a:pathLst>
              </a:custGeom>
              <a:noFill/>
              <a:ln w="9525">
                <a:solidFill>
                  <a:srgbClr val="D3D9DF"/>
                </a:solidFill>
              </a:ln>
            </p:spPr>
          </p:sp>
          <p:sp>
            <p:nvSpPr>
              <p:cNvPr id="102" name="Line 102"/>
              <p:cNvSpPr/>
              <p:nvPr/>
            </p:nvSpPr>
            <p:spPr>
              <a:xfrm>
                <a:off x="1562100" y="2752725"/>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3" name="Line 103"/>
              <p:cNvSpPr/>
              <p:nvPr/>
            </p:nvSpPr>
            <p:spPr>
              <a:xfrm>
                <a:off x="1562100" y="3009900"/>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4" name="Line 104"/>
              <p:cNvSpPr/>
              <p:nvPr/>
            </p:nvSpPr>
            <p:spPr>
              <a:xfrm>
                <a:off x="1562100" y="3267075"/>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5" name="Line 105"/>
              <p:cNvSpPr/>
              <p:nvPr/>
            </p:nvSpPr>
            <p:spPr>
              <a:xfrm>
                <a:off x="1562100" y="3524250"/>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6" name="Line 106"/>
              <p:cNvSpPr/>
              <p:nvPr/>
            </p:nvSpPr>
            <p:spPr>
              <a:xfrm>
                <a:off x="1562100" y="3781425"/>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7" name="Line 107"/>
              <p:cNvSpPr/>
              <p:nvPr/>
            </p:nvSpPr>
            <p:spPr>
              <a:xfrm>
                <a:off x="1562100" y="4038600"/>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08" name="Line 108"/>
              <p:cNvSpPr/>
              <p:nvPr/>
            </p:nvSpPr>
            <p:spPr>
              <a:xfrm>
                <a:off x="609600" y="4295775"/>
                <a:ext cx="7772400" cy="9525"/>
              </a:xfrm>
              <a:custGeom>
                <a:avLst/>
                <a:gdLst/>
                <a:ahLst/>
                <a:cxnLst/>
                <a:rect l="l" t="t" r="r" b="b"/>
                <a:pathLst>
                  <a:path w="7772400" h="9525">
                    <a:moveTo>
                      <a:pt x="0" y="0"/>
                    </a:moveTo>
                    <a:lnTo>
                      <a:pt x="7772400" y="0"/>
                    </a:lnTo>
                  </a:path>
                </a:pathLst>
              </a:custGeom>
              <a:noFill/>
              <a:ln w="9525">
                <a:solidFill>
                  <a:srgbClr val="D3D9DF"/>
                </a:solidFill>
              </a:ln>
            </p:spPr>
          </p:sp>
          <p:sp>
            <p:nvSpPr>
              <p:cNvPr id="109" name="Line 109"/>
              <p:cNvSpPr/>
              <p:nvPr/>
            </p:nvSpPr>
            <p:spPr>
              <a:xfrm>
                <a:off x="1562100" y="4552950"/>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10" name="Line 110"/>
              <p:cNvSpPr/>
              <p:nvPr/>
            </p:nvSpPr>
            <p:spPr>
              <a:xfrm>
                <a:off x="1562100" y="4810125"/>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11" name="Line 111"/>
              <p:cNvSpPr/>
              <p:nvPr/>
            </p:nvSpPr>
            <p:spPr>
              <a:xfrm>
                <a:off x="1562100" y="5067300"/>
                <a:ext cx="6819900" cy="9525"/>
              </a:xfrm>
              <a:custGeom>
                <a:avLst/>
                <a:gdLst/>
                <a:ahLst/>
                <a:cxnLst/>
                <a:rect l="l" t="t" r="r" b="b"/>
                <a:pathLst>
                  <a:path w="6819900" h="9525">
                    <a:moveTo>
                      <a:pt x="0" y="0"/>
                    </a:moveTo>
                    <a:lnTo>
                      <a:pt x="6819900" y="0"/>
                    </a:lnTo>
                  </a:path>
                </a:pathLst>
              </a:custGeom>
              <a:noFill/>
              <a:ln w="9525">
                <a:solidFill>
                  <a:srgbClr val="D3D9DF"/>
                </a:solidFill>
              </a:ln>
            </p:spPr>
          </p:sp>
          <p:sp>
            <p:nvSpPr>
              <p:cNvPr id="112" name="Line 112"/>
              <p:cNvSpPr/>
              <p:nvPr/>
            </p:nvSpPr>
            <p:spPr>
              <a:xfrm>
                <a:off x="1562100" y="5324475"/>
                <a:ext cx="6819900" cy="9525"/>
              </a:xfrm>
              <a:custGeom>
                <a:avLst/>
                <a:gdLst/>
                <a:ahLst/>
                <a:cxnLst/>
                <a:rect l="l" t="t" r="r" b="b"/>
                <a:pathLst>
                  <a:path w="6819900" h="9525">
                    <a:moveTo>
                      <a:pt x="0" y="0"/>
                    </a:moveTo>
                    <a:lnTo>
                      <a:pt x="6819900" y="0"/>
                    </a:lnTo>
                  </a:path>
                </a:pathLst>
              </a:custGeom>
              <a:noFill/>
              <a:ln w="9525">
                <a:solidFill>
                  <a:srgbClr val="D3D9DF"/>
                </a:solidFill>
              </a:ln>
            </p:spPr>
          </p:sp>
        </p:grpSp>
        <p:sp>
          <p:nvSpPr>
            <p:cNvPr id="114" name="Rectangle 114"/>
            <p:cNvSpPr/>
            <p:nvPr/>
          </p:nvSpPr>
          <p:spPr>
            <a:xfrm>
              <a:off x="609600" y="2209800"/>
              <a:ext cx="7772400" cy="3371850"/>
            </a:xfrm>
            <a:prstGeom prst="rect">
              <a:avLst/>
            </a:prstGeom>
            <a:noFill/>
            <a:ln w="14288">
              <a:solidFill>
                <a:schemeClr val="accent1"/>
              </a:solidFill>
            </a:ln>
          </p:spPr>
        </p:sp>
      </p:grpSp>
      <p:grpSp>
        <p:nvGrpSpPr>
          <p:cNvPr id="138" name="fund-supervision-panel"/>
          <p:cNvGrpSpPr/>
          <p:nvPr/>
        </p:nvGrpSpPr>
        <p:grpSpPr>
          <a:xfrm>
            <a:off x="8610600" y="1943100"/>
            <a:ext cx="2971800" cy="3638550"/>
            <a:chOff x="8610600" y="1943100"/>
            <a:chExt cx="2971800" cy="3638550"/>
          </a:xfrm>
        </p:grpSpPr>
        <p:sp>
          <p:nvSpPr>
            <p:cNvPr id="116" name="Rectangle 116"/>
            <p:cNvSpPr/>
            <p:nvPr/>
          </p:nvSpPr>
          <p:spPr>
            <a:xfrm>
              <a:off x="8610600" y="1943100"/>
              <a:ext cx="2971800" cy="3638550"/>
            </a:xfrm>
            <a:prstGeom prst="rect">
              <a:avLst/>
            </a:prstGeom>
            <a:solidFill>
              <a:schemeClr val="lt2"/>
            </a:solidFill>
            <a:ln>
              <a:noFill/>
            </a:ln>
          </p:spPr>
        </p:sp>
        <p:sp>
          <p:nvSpPr>
            <p:cNvPr id="117" name="Rectangle 117"/>
            <p:cNvSpPr/>
            <p:nvPr/>
          </p:nvSpPr>
          <p:spPr>
            <a:xfrm>
              <a:off x="8610600" y="1943100"/>
              <a:ext cx="2971800" cy="28575"/>
            </a:xfrm>
            <a:prstGeom prst="rect">
              <a:avLst/>
            </a:prstGeom>
            <a:solidFill>
              <a:schemeClr val="accent1"/>
            </a:solidFill>
            <a:ln>
              <a:noFill/>
            </a:ln>
          </p:spPr>
        </p:sp>
        <p:sp>
          <p:nvSpPr>
            <p:cNvPr id="118" name="TextBox 118"/>
            <p:cNvSpPr txBox="1"/>
            <p:nvPr/>
          </p:nvSpPr>
          <p:spPr>
            <a:xfrm>
              <a:off x="8831580" y="2124075"/>
              <a:ext cx="122682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资金监管情况</a:t>
              </a:r>
            </a:p>
          </p:txBody>
        </p:sp>
        <p:grpSp>
          <p:nvGrpSpPr>
            <p:cNvPr id="121" name="Group 121"/>
            <p:cNvGrpSpPr/>
            <p:nvPr/>
          </p:nvGrpSpPr>
          <p:grpSpPr>
            <a:xfrm>
              <a:off x="8857541" y="2490788"/>
              <a:ext cx="217008" cy="200025"/>
              <a:chOff x="8857541" y="2490788"/>
              <a:chExt cx="217008" cy="200025"/>
            </a:xfrm>
          </p:grpSpPr>
          <p:sp>
            <p:nvSpPr>
              <p:cNvPr id="119" name="Freeform 119"/>
              <p:cNvSpPr/>
              <p:nvPr/>
            </p:nvSpPr>
            <p:spPr>
              <a:xfrm>
                <a:off x="8857541" y="249078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1"/>
                </a:solidFill>
              </a:ln>
            </p:spPr>
          </p:sp>
          <p:sp>
            <p:nvSpPr>
              <p:cNvPr id="120" name="Freeform 120"/>
              <p:cNvSpPr/>
              <p:nvPr/>
            </p:nvSpPr>
            <p:spPr>
              <a:xfrm>
                <a:off x="9005888" y="2646363"/>
                <a:ext cx="66675" cy="44450"/>
              </a:xfrm>
              <a:custGeom>
                <a:avLst/>
                <a:gdLst/>
                <a:ahLst/>
                <a:cxnLst/>
                <a:rect l="l" t="t" r="r" b="b"/>
                <a:pathLst>
                  <a:path w="66675" h="44450">
                    <a:moveTo>
                      <a:pt x="0" y="22225"/>
                    </a:moveTo>
                    <a:lnTo>
                      <a:pt x="22225" y="44450"/>
                    </a:lnTo>
                    <a:lnTo>
                      <a:pt x="66675" y="0"/>
                    </a:lnTo>
                  </a:path>
                </a:pathLst>
              </a:custGeom>
              <a:noFill/>
              <a:ln w="22225">
                <a:solidFill>
                  <a:schemeClr val="accent1"/>
                </a:solidFill>
              </a:ln>
            </p:spPr>
          </p:sp>
        </p:grpSp>
        <p:sp>
          <p:nvSpPr>
            <p:cNvPr id="122" name="TextBox 122"/>
            <p:cNvSpPr txBox="1"/>
            <p:nvPr/>
          </p:nvSpPr>
          <p:spPr>
            <a:xfrm>
              <a:off x="9194292" y="2502218"/>
              <a:ext cx="164934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专户核算、专款专用</a:t>
              </a:r>
            </a:p>
          </p:txBody>
        </p:sp>
        <p:sp>
          <p:nvSpPr>
            <p:cNvPr id="123" name="TextBox 123"/>
            <p:cNvSpPr txBox="1"/>
            <p:nvPr/>
          </p:nvSpPr>
          <p:spPr>
            <a:xfrm>
              <a:off x="8833104" y="2766060"/>
              <a:ext cx="1703832" cy="4251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6"/>
                  </a:solidFill>
                  <a:latin typeface="+mn-lt"/>
                  <a:ea typeface="+mn-ea"/>
                  <a:cs typeface="+mn-cs"/>
                </a:rPr>
                <a:t>68个小区全部纳入专户，</a:t>
              </a:r>
              <a:br/>
              <a:r>
                <a:rPr lang="zh-CN" sz="1200" dirty="0">
                  <a:solidFill>
                    <a:schemeClr val="accent6"/>
                  </a:solidFill>
                  <a:latin typeface="+mn-lt"/>
                  <a:ea typeface="+mn-ea"/>
                  <a:cs typeface="+mn-cs"/>
                </a:rPr>
                <a:t>覆盖率100.0%</a:t>
              </a:r>
            </a:p>
          </p:txBody>
        </p:sp>
        <p:sp>
          <p:nvSpPr>
            <p:cNvPr id="124" name="Freeform 124"/>
            <p:cNvSpPr/>
            <p:nvPr/>
          </p:nvSpPr>
          <p:spPr>
            <a:xfrm>
              <a:off x="8894763" y="3309938"/>
              <a:ext cx="155575" cy="200026"/>
            </a:xfrm>
            <a:custGeom>
              <a:avLst/>
              <a:gdLst/>
              <a:ahLst/>
              <a:cxnLst/>
              <a:rect l="l" t="t" r="r" b="b"/>
              <a:pathLst>
                <a:path w="155575" h="200026">
                  <a:moveTo>
                    <a:pt x="0" y="200026"/>
                  </a:moveTo>
                  <a:lnTo>
                    <a:pt x="0" y="22225"/>
                  </a:lnTo>
                  <a:cubicBezTo>
                    <a:pt x="0" y="9950"/>
                    <a:pt x="9950" y="0"/>
                    <a:pt x="22225" y="0"/>
                  </a:cubicBezTo>
                  <a:lnTo>
                    <a:pt x="133350" y="0"/>
                  </a:lnTo>
                  <a:cubicBezTo>
                    <a:pt x="145625" y="0"/>
                    <a:pt x="155575" y="9950"/>
                    <a:pt x="155575" y="22225"/>
                  </a:cubicBezTo>
                  <a:lnTo>
                    <a:pt x="155575" y="200026"/>
                  </a:lnTo>
                  <a:lnTo>
                    <a:pt x="122238" y="177801"/>
                  </a:lnTo>
                  <a:lnTo>
                    <a:pt x="100013" y="200026"/>
                  </a:lnTo>
                  <a:lnTo>
                    <a:pt x="77788" y="177801"/>
                  </a:lnTo>
                  <a:lnTo>
                    <a:pt x="55563" y="200026"/>
                  </a:lnTo>
                  <a:lnTo>
                    <a:pt x="33338" y="177801"/>
                  </a:lnTo>
                  <a:lnTo>
                    <a:pt x="0" y="200026"/>
                  </a:lnTo>
                  <a:moveTo>
                    <a:pt x="44450" y="44450"/>
                  </a:moveTo>
                  <a:lnTo>
                    <a:pt x="111125" y="44450"/>
                  </a:lnTo>
                  <a:moveTo>
                    <a:pt x="44450" y="88900"/>
                  </a:moveTo>
                  <a:lnTo>
                    <a:pt x="111125" y="88900"/>
                  </a:lnTo>
                  <a:moveTo>
                    <a:pt x="88900" y="133350"/>
                  </a:moveTo>
                  <a:lnTo>
                    <a:pt x="111125" y="133350"/>
                  </a:lnTo>
                </a:path>
              </a:pathLst>
            </a:custGeom>
            <a:noFill/>
            <a:ln w="22225">
              <a:solidFill>
                <a:schemeClr val="accent1"/>
              </a:solidFill>
            </a:ln>
          </p:spPr>
        </p:sp>
        <p:sp>
          <p:nvSpPr>
            <p:cNvPr id="125" name="TextBox 125"/>
            <p:cNvSpPr txBox="1"/>
            <p:nvPr/>
          </p:nvSpPr>
          <p:spPr>
            <a:xfrm>
              <a:off x="9194292" y="3321368"/>
              <a:ext cx="128587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全过程跟踪审计</a:t>
              </a:r>
            </a:p>
          </p:txBody>
        </p:sp>
        <p:sp>
          <p:nvSpPr>
            <p:cNvPr id="126" name="TextBox 126"/>
            <p:cNvSpPr txBox="1"/>
            <p:nvPr/>
          </p:nvSpPr>
          <p:spPr>
            <a:xfrm>
              <a:off x="8833104" y="3585210"/>
              <a:ext cx="1856232" cy="4251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6"/>
                  </a:solidFill>
                  <a:latin typeface="+mn-lt"/>
                  <a:ea typeface="+mn-ea"/>
                  <a:cs typeface="+mn-cs"/>
                </a:rPr>
                <a:t>已审计41个项目，占已竣工</a:t>
              </a:r>
              <a:br/>
              <a:r>
                <a:rPr lang="zh-CN" sz="1200" dirty="0">
                  <a:solidFill>
                    <a:schemeClr val="accent6"/>
                  </a:solidFill>
                  <a:latin typeface="+mn-lt"/>
                  <a:ea typeface="+mn-ea"/>
                  <a:cs typeface="+mn-cs"/>
                </a:rPr>
                <a:t>项目的65.1%</a:t>
              </a:r>
            </a:p>
          </p:txBody>
        </p:sp>
        <p:grpSp>
          <p:nvGrpSpPr>
            <p:cNvPr id="132" name="Group 132"/>
            <p:cNvGrpSpPr/>
            <p:nvPr/>
          </p:nvGrpSpPr>
          <p:grpSpPr>
            <a:xfrm>
              <a:off x="8894763" y="4129088"/>
              <a:ext cx="155575" cy="200026"/>
              <a:chOff x="8894763" y="4129088"/>
              <a:chExt cx="155575" cy="200026"/>
            </a:xfrm>
          </p:grpSpPr>
          <p:sp>
            <p:nvSpPr>
              <p:cNvPr id="127" name="Freeform 127"/>
              <p:cNvSpPr/>
              <p:nvPr/>
            </p:nvSpPr>
            <p:spPr>
              <a:xfrm>
                <a:off x="8994775" y="4129088"/>
                <a:ext cx="55563" cy="55563"/>
              </a:xfrm>
              <a:custGeom>
                <a:avLst/>
                <a:gdLst/>
                <a:ahLst/>
                <a:cxnLst/>
                <a:rect l="l" t="t" r="r" b="b"/>
                <a:pathLst>
                  <a:path w="55563" h="55563">
                    <a:moveTo>
                      <a:pt x="0" y="0"/>
                    </a:moveTo>
                    <a:lnTo>
                      <a:pt x="0" y="44450"/>
                    </a:lnTo>
                    <a:cubicBezTo>
                      <a:pt x="0" y="50587"/>
                      <a:pt x="4975" y="55563"/>
                      <a:pt x="11113" y="55563"/>
                    </a:cubicBezTo>
                    <a:lnTo>
                      <a:pt x="55563" y="55563"/>
                    </a:lnTo>
                  </a:path>
                </a:pathLst>
              </a:custGeom>
              <a:noFill/>
              <a:ln w="22225">
                <a:solidFill>
                  <a:schemeClr val="accent1"/>
                </a:solidFill>
              </a:ln>
            </p:spPr>
          </p:sp>
          <p:sp>
            <p:nvSpPr>
              <p:cNvPr id="128" name="Freeform 128"/>
              <p:cNvSpPr/>
              <p:nvPr/>
            </p:nvSpPr>
            <p:spPr>
              <a:xfrm>
                <a:off x="8894763" y="4129088"/>
                <a:ext cx="155575" cy="200026"/>
              </a:xfrm>
              <a:custGeom>
                <a:avLst/>
                <a:gdLst/>
                <a:ahLst/>
                <a:cxnLst/>
                <a:rect l="l" t="t" r="r" b="b"/>
                <a:pathLst>
                  <a:path w="155575" h="200026">
                    <a:moveTo>
                      <a:pt x="133350" y="200026"/>
                    </a:moveTo>
                    <a:lnTo>
                      <a:pt x="22225" y="200026"/>
                    </a:lnTo>
                    <a:cubicBezTo>
                      <a:pt x="9950" y="200026"/>
                      <a:pt x="0" y="190075"/>
                      <a:pt x="0" y="177801"/>
                    </a:cubicBezTo>
                    <a:lnTo>
                      <a:pt x="0" y="22225"/>
                    </a:lnTo>
                    <a:cubicBezTo>
                      <a:pt x="0" y="9950"/>
                      <a:pt x="9950" y="0"/>
                      <a:pt x="22225" y="0"/>
                    </a:cubicBezTo>
                    <a:lnTo>
                      <a:pt x="100013" y="0"/>
                    </a:lnTo>
                    <a:lnTo>
                      <a:pt x="155575" y="55563"/>
                    </a:lnTo>
                    <a:lnTo>
                      <a:pt x="155575" y="177801"/>
                    </a:lnTo>
                    <a:cubicBezTo>
                      <a:pt x="155575" y="190075"/>
                      <a:pt x="145625" y="200026"/>
                      <a:pt x="133350" y="200026"/>
                    </a:cubicBezTo>
                  </a:path>
                </a:pathLst>
              </a:custGeom>
              <a:noFill/>
              <a:ln w="22225">
                <a:solidFill>
                  <a:schemeClr val="accent1"/>
                </a:solidFill>
              </a:ln>
            </p:spPr>
          </p:sp>
          <p:sp>
            <p:nvSpPr>
              <p:cNvPr id="129" name="Freeform 129"/>
              <p:cNvSpPr/>
              <p:nvPr/>
            </p:nvSpPr>
            <p:spPr>
              <a:xfrm>
                <a:off x="8939213" y="4195763"/>
                <a:ext cx="11113" cy="9525"/>
              </a:xfrm>
              <a:custGeom>
                <a:avLst/>
                <a:gdLst/>
                <a:ahLst/>
                <a:cxnLst/>
                <a:rect l="l" t="t" r="r" b="b"/>
                <a:pathLst>
                  <a:path w="11113" h="9525">
                    <a:moveTo>
                      <a:pt x="0" y="0"/>
                    </a:moveTo>
                    <a:lnTo>
                      <a:pt x="11113" y="0"/>
                    </a:lnTo>
                  </a:path>
                </a:pathLst>
              </a:custGeom>
              <a:noFill/>
              <a:ln w="22225">
                <a:solidFill>
                  <a:schemeClr val="accent1"/>
                </a:solidFill>
              </a:ln>
            </p:spPr>
          </p:sp>
          <p:sp>
            <p:nvSpPr>
              <p:cNvPr id="130" name="Freeform 130"/>
              <p:cNvSpPr/>
              <p:nvPr/>
            </p:nvSpPr>
            <p:spPr>
              <a:xfrm>
                <a:off x="8939213" y="4240213"/>
                <a:ext cx="66675" cy="9525"/>
              </a:xfrm>
              <a:custGeom>
                <a:avLst/>
                <a:gdLst/>
                <a:ahLst/>
                <a:cxnLst/>
                <a:rect l="l" t="t" r="r" b="b"/>
                <a:pathLst>
                  <a:path w="66675" h="9525">
                    <a:moveTo>
                      <a:pt x="0" y="0"/>
                    </a:moveTo>
                    <a:lnTo>
                      <a:pt x="66675" y="0"/>
                    </a:lnTo>
                  </a:path>
                </a:pathLst>
              </a:custGeom>
              <a:noFill/>
              <a:ln w="22225">
                <a:solidFill>
                  <a:schemeClr val="accent1"/>
                </a:solidFill>
              </a:ln>
            </p:spPr>
          </p:sp>
          <p:sp>
            <p:nvSpPr>
              <p:cNvPr id="131" name="Freeform 131"/>
              <p:cNvSpPr/>
              <p:nvPr/>
            </p:nvSpPr>
            <p:spPr>
              <a:xfrm>
                <a:off x="8939213" y="4284663"/>
                <a:ext cx="66675" cy="9525"/>
              </a:xfrm>
              <a:custGeom>
                <a:avLst/>
                <a:gdLst/>
                <a:ahLst/>
                <a:cxnLst/>
                <a:rect l="l" t="t" r="r" b="b"/>
                <a:pathLst>
                  <a:path w="66675" h="9525">
                    <a:moveTo>
                      <a:pt x="0" y="0"/>
                    </a:moveTo>
                    <a:lnTo>
                      <a:pt x="66675" y="0"/>
                    </a:lnTo>
                  </a:path>
                </a:pathLst>
              </a:custGeom>
              <a:noFill/>
              <a:ln w="22225">
                <a:solidFill>
                  <a:schemeClr val="accent1"/>
                </a:solidFill>
              </a:ln>
            </p:spPr>
          </p:sp>
        </p:grpSp>
        <p:sp>
          <p:nvSpPr>
            <p:cNvPr id="133" name="TextBox 133"/>
            <p:cNvSpPr txBox="1"/>
            <p:nvPr/>
          </p:nvSpPr>
          <p:spPr>
            <a:xfrm>
              <a:off x="9194292" y="4140518"/>
              <a:ext cx="201282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按小区公示资金使用情况</a:t>
              </a:r>
            </a:p>
          </p:txBody>
        </p:sp>
        <p:sp>
          <p:nvSpPr>
            <p:cNvPr id="134" name="TextBox 134"/>
            <p:cNvSpPr txBox="1"/>
            <p:nvPr/>
          </p:nvSpPr>
          <p:spPr>
            <a:xfrm>
              <a:off x="8833104" y="4404360"/>
              <a:ext cx="220919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公示68个小区，公示率100.0%</a:t>
              </a:r>
            </a:p>
          </p:txBody>
        </p:sp>
        <p:sp>
          <p:nvSpPr>
            <p:cNvPr id="135" name="Line 135"/>
            <p:cNvSpPr/>
            <p:nvPr/>
          </p:nvSpPr>
          <p:spPr>
            <a:xfrm>
              <a:off x="8839200" y="4762500"/>
              <a:ext cx="2514600" cy="9525"/>
            </a:xfrm>
            <a:custGeom>
              <a:avLst/>
              <a:gdLst/>
              <a:ahLst/>
              <a:cxnLst/>
              <a:rect l="l" t="t" r="r" b="b"/>
              <a:pathLst>
                <a:path w="2514600" h="9525">
                  <a:moveTo>
                    <a:pt x="0" y="0"/>
                  </a:moveTo>
                  <a:lnTo>
                    <a:pt x="2514600" y="0"/>
                  </a:lnTo>
                </a:path>
              </a:pathLst>
            </a:custGeom>
            <a:noFill/>
            <a:ln w="9525">
              <a:solidFill>
                <a:srgbClr val="D3D9DF"/>
              </a:solidFill>
            </a:ln>
          </p:spPr>
        </p:sp>
        <p:sp>
          <p:nvSpPr>
            <p:cNvPr id="136" name="TextBox 136"/>
            <p:cNvSpPr txBox="1"/>
            <p:nvPr/>
          </p:nvSpPr>
          <p:spPr>
            <a:xfrm>
              <a:off x="8832342" y="4883468"/>
              <a:ext cx="1104138"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结余资金构成</a:t>
              </a:r>
            </a:p>
          </p:txBody>
        </p:sp>
        <p:sp>
          <p:nvSpPr>
            <p:cNvPr id="137" name="TextBox 137"/>
            <p:cNvSpPr txBox="1"/>
            <p:nvPr/>
          </p:nvSpPr>
          <p:spPr>
            <a:xfrm>
              <a:off x="8833104" y="5147310"/>
              <a:ext cx="1871472" cy="425196"/>
            </a:xfrm>
            <a:prstGeom prst="rect">
              <a:avLst/>
            </a:prstGeom>
            <a:noFill/>
            <a:ln>
              <a:noFill/>
            </a:ln>
          </p:spPr>
          <p:txBody>
            <a:bodyPr wrap="none" lIns="0" tIns="0" rIns="0" bIns="0" anchor="t" anchorCtr="0">
              <a:spAutoFit/>
            </a:bodyPr>
            <a:lstStyle/>
            <a:p>
              <a:pPr algn="l">
                <a:lnSpc>
                  <a:spcPts val="1500"/>
                </a:lnSpc>
              </a:pPr>
              <a:r>
                <a:rPr lang="zh-CN" sz="1200" dirty="0">
                  <a:solidFill>
                    <a:schemeClr val="dk1"/>
                  </a:solidFill>
                  <a:latin typeface="+mn-lt"/>
                  <a:ea typeface="+mn-ea"/>
                  <a:cs typeface="+mn-cs"/>
                </a:rPr>
                <a:t>3236万元因结算审计未完成</a:t>
              </a:r>
              <a:br/>
              <a:r>
                <a:rPr lang="zh-CN" sz="1200" dirty="0">
                  <a:solidFill>
                    <a:schemeClr val="dk1"/>
                  </a:solidFill>
                  <a:latin typeface="+mn-lt"/>
                  <a:ea typeface="+mn-ea"/>
                  <a:cs typeface="+mn-cs"/>
                </a:rPr>
                <a:t>暂不能拨付，占结余60.0%</a:t>
              </a:r>
            </a:p>
          </p:txBody>
        </p:sp>
      </p:grpSp>
      <p:grpSp>
        <p:nvGrpSpPr>
          <p:cNvPr id="141" name="fund-calibre-note"/>
          <p:cNvGrpSpPr/>
          <p:nvPr/>
        </p:nvGrpSpPr>
        <p:grpSpPr>
          <a:xfrm>
            <a:off x="603504" y="5695950"/>
            <a:ext cx="10978896" cy="467106"/>
            <a:chOff x="603504" y="5695950"/>
            <a:chExt cx="10978896" cy="467106"/>
          </a:xfrm>
        </p:grpSpPr>
        <p:sp>
          <p:nvSpPr>
            <p:cNvPr id="139" name="Line 139"/>
            <p:cNvSpPr/>
            <p:nvPr/>
          </p:nvSpPr>
          <p:spPr>
            <a:xfrm>
              <a:off x="609600" y="56959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140" name="TextBox 140"/>
            <p:cNvSpPr txBox="1"/>
            <p:nvPr/>
          </p:nvSpPr>
          <p:spPr>
            <a:xfrm>
              <a:off x="603504" y="5756910"/>
              <a:ext cx="9598152" cy="406146"/>
            </a:xfrm>
            <a:prstGeom prst="rect">
              <a:avLst/>
            </a:prstGeom>
            <a:noFill/>
            <a:ln>
              <a:noFill/>
            </a:ln>
          </p:spPr>
          <p:txBody>
            <a:bodyPr wrap="none" lIns="0" tIns="0" rIns="0" bIns="0" anchor="t" anchorCtr="0">
              <a:spAutoFit/>
            </a:bodyPr>
            <a:lstStyle/>
            <a:p>
              <a:pPr algn="l">
                <a:lnSpc>
                  <a:spcPts val="1350"/>
                </a:lnSpc>
              </a:pPr>
              <a:r>
                <a:rPr lang="zh-CN" sz="1200" dirty="0">
                  <a:solidFill>
                    <a:schemeClr val="accent6"/>
                  </a:solidFill>
                  <a:latin typeface="+mn-lt"/>
                  <a:ea typeface="+mn-ea"/>
                  <a:cs typeface="+mn-cs"/>
                </a:rPr>
                <a:t>表内口径：来源组“执行数／执行率”为实际到位数／到位率（分母为计划数）；支出组为已支出数／支出执行率</a:t>
              </a:r>
              <a:br/>
              <a:r>
                <a:rPr lang="zh-CN" sz="1200" dirty="0">
                  <a:solidFill>
                    <a:schemeClr val="accent6"/>
                  </a:solidFill>
                  <a:latin typeface="+mn-lt"/>
                  <a:ea typeface="+mn-ea"/>
                  <a:cs typeface="+mn-cs"/>
                </a:rPr>
                <a:t>（分母为该类资金安排数，安排数合计＝已到位资金38520万元）；判定阈值与P02一致：≥95%达标、90%（含）—95%基本达标、＜90%滞后。</a:t>
              </a:r>
            </a:p>
          </p:txBody>
        </p:sp>
      </p:grpSp>
      <p:grpSp>
        <p:nvGrpSpPr>
          <p:cNvPr id="145" name="page-footer"/>
          <p:cNvGrpSpPr/>
          <p:nvPr/>
        </p:nvGrpSpPr>
        <p:grpSpPr>
          <a:xfrm>
            <a:off x="603504" y="6191250"/>
            <a:ext cx="10984992" cy="295656"/>
            <a:chOff x="603504" y="6191250"/>
            <a:chExt cx="10984992" cy="295656"/>
          </a:xfrm>
        </p:grpSpPr>
        <p:sp>
          <p:nvSpPr>
            <p:cNvPr id="142" name="Line 142"/>
            <p:cNvSpPr/>
            <p:nvPr/>
          </p:nvSpPr>
          <p:spPr>
            <a:xfrm>
              <a:off x="609600" y="61912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143" name="TextBox 143"/>
            <p:cNvSpPr txBox="1"/>
            <p:nvPr/>
          </p:nvSpPr>
          <p:spPr>
            <a:xfrm>
              <a:off x="603504" y="6252210"/>
              <a:ext cx="405079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数据来源：专项资金决算表、财政拨付台账、审计意见书</a:t>
              </a:r>
            </a:p>
          </p:txBody>
        </p:sp>
        <p:sp>
          <p:nvSpPr>
            <p:cNvPr id="144" name="TextBox 144"/>
            <p:cNvSpPr txBox="1"/>
            <p:nvPr/>
          </p:nvSpPr>
          <p:spPr>
            <a:xfrm>
              <a:off x="7513472" y="625221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403785" y="578168"/>
              <a:ext cx="2185473"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三、居民满意度 ｜ 07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429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居民总体满意度及构成</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926264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有效问卷6214份、有效回收率91.4%，总体满意度93.8%，不满意占6.2%（385人）。</a:t>
              </a:r>
            </a:p>
          </p:txBody>
        </p:sp>
      </p:grpSp>
      <p:grpSp>
        <p:nvGrpSpPr>
          <p:cNvPr id="28" name="satisfaction-donut"/>
          <p:cNvGrpSpPr/>
          <p:nvPr/>
        </p:nvGrpSpPr>
        <p:grpSpPr>
          <a:xfrm>
            <a:off x="1198611" y="2285995"/>
            <a:ext cx="6965457" cy="3154703"/>
            <a:chOff x="1198611" y="2285995"/>
            <a:chExt cx="6965457" cy="3154703"/>
          </a:xfrm>
        </p:grpSpPr>
        <p:sp>
          <p:nvSpPr>
            <p:cNvPr id="11" name="Freeform 11"/>
            <p:cNvSpPr/>
            <p:nvPr/>
          </p:nvSpPr>
          <p:spPr>
            <a:xfrm>
              <a:off x="1376744" y="2285995"/>
              <a:ext cx="3063126" cy="3154703"/>
            </a:xfrm>
            <a:custGeom>
              <a:avLst/>
              <a:gdLst/>
              <a:ahLst/>
              <a:cxnLst/>
              <a:rect l="l" t="t" r="r" b="b"/>
              <a:pathLst>
                <a:path w="3063126" h="3154703">
                  <a:moveTo>
                    <a:pt x="1480756" y="5"/>
                  </a:moveTo>
                  <a:cubicBezTo>
                    <a:pt x="2275454" y="0"/>
                    <a:pt x="2936757" y="610654"/>
                    <a:pt x="2999942" y="1402835"/>
                  </a:cubicBezTo>
                  <a:cubicBezTo>
                    <a:pt x="3063126" y="2195017"/>
                    <a:pt x="2506979" y="2902775"/>
                    <a:pt x="1722329" y="3028739"/>
                  </a:cubicBezTo>
                  <a:cubicBezTo>
                    <a:pt x="937678" y="3154703"/>
                    <a:pt x="187946" y="2656584"/>
                    <a:pt x="0" y="1884431"/>
                  </a:cubicBezTo>
                  <a:lnTo>
                    <a:pt x="592265" y="1740223"/>
                  </a:lnTo>
                  <a:cubicBezTo>
                    <a:pt x="705012" y="2203520"/>
                    <a:pt x="1154841" y="2502411"/>
                    <a:pt x="1625636" y="2426851"/>
                  </a:cubicBezTo>
                  <a:cubicBezTo>
                    <a:pt x="2096430" y="2351291"/>
                    <a:pt x="2430135" y="1926647"/>
                    <a:pt x="2392241" y="1451336"/>
                  </a:cubicBezTo>
                  <a:cubicBezTo>
                    <a:pt x="2354347" y="976024"/>
                    <a:pt x="1957576" y="609617"/>
                    <a:pt x="1480757" y="609605"/>
                  </a:cubicBezTo>
                  <a:close/>
                </a:path>
              </a:pathLst>
            </a:custGeom>
            <a:solidFill>
              <a:schemeClr val="accent1"/>
            </a:solidFill>
            <a:ln w="19050">
              <a:solidFill>
                <a:srgbClr val="FFFFFF"/>
              </a:solidFill>
            </a:ln>
          </p:spPr>
        </p:sp>
        <p:sp>
          <p:nvSpPr>
            <p:cNvPr id="12" name="Freeform 12"/>
            <p:cNvSpPr/>
            <p:nvPr/>
          </p:nvSpPr>
          <p:spPr>
            <a:xfrm>
              <a:off x="1198611" y="2400205"/>
              <a:ext cx="1311607" cy="1770221"/>
            </a:xfrm>
            <a:custGeom>
              <a:avLst/>
              <a:gdLst/>
              <a:ahLst/>
              <a:cxnLst/>
              <a:rect l="l" t="t" r="r" b="b"/>
              <a:pathLst>
                <a:path w="1311607" h="1770221">
                  <a:moveTo>
                    <a:pt x="178132" y="1770221"/>
                  </a:moveTo>
                  <a:cubicBezTo>
                    <a:pt x="0" y="1038315"/>
                    <a:pt x="383310" y="286064"/>
                    <a:pt x="1080150" y="0"/>
                  </a:cubicBezTo>
                  <a:lnTo>
                    <a:pt x="1311607" y="563880"/>
                  </a:lnTo>
                  <a:cubicBezTo>
                    <a:pt x="893504" y="735518"/>
                    <a:pt x="663517" y="1186869"/>
                    <a:pt x="770397" y="1626013"/>
                  </a:cubicBezTo>
                  <a:close/>
                </a:path>
              </a:pathLst>
            </a:custGeom>
            <a:solidFill>
              <a:schemeClr val="accent3"/>
            </a:solidFill>
            <a:ln w="19050">
              <a:solidFill>
                <a:srgbClr val="FFFFFF"/>
              </a:solidFill>
            </a:ln>
          </p:spPr>
        </p:sp>
        <p:sp>
          <p:nvSpPr>
            <p:cNvPr id="13" name="Freeform 13"/>
            <p:cNvSpPr/>
            <p:nvPr/>
          </p:nvSpPr>
          <p:spPr>
            <a:xfrm>
              <a:off x="2278761" y="2286000"/>
              <a:ext cx="578739" cy="678085"/>
            </a:xfrm>
            <a:custGeom>
              <a:avLst/>
              <a:gdLst/>
              <a:ahLst/>
              <a:cxnLst/>
              <a:rect l="l" t="t" r="r" b="b"/>
              <a:pathLst>
                <a:path w="578739" h="678085">
                  <a:moveTo>
                    <a:pt x="0" y="114205"/>
                  </a:moveTo>
                  <a:cubicBezTo>
                    <a:pt x="183634" y="38808"/>
                    <a:pt x="380229" y="13"/>
                    <a:pt x="578739" y="0"/>
                  </a:cubicBezTo>
                  <a:lnTo>
                    <a:pt x="578739" y="609600"/>
                  </a:lnTo>
                  <a:cubicBezTo>
                    <a:pt x="459623" y="609591"/>
                    <a:pt x="341652" y="632855"/>
                    <a:pt x="231458" y="678085"/>
                  </a:cubicBezTo>
                  <a:close/>
                </a:path>
              </a:pathLst>
            </a:custGeom>
            <a:solidFill>
              <a:schemeClr val="accent2"/>
            </a:solidFill>
            <a:ln w="19050">
              <a:solidFill>
                <a:srgbClr val="FFFFFF"/>
              </a:solidFill>
            </a:ln>
          </p:spPr>
        </p:sp>
        <p:sp>
          <p:nvSpPr>
            <p:cNvPr id="14" name="TextBox 14"/>
            <p:cNvSpPr txBox="1"/>
            <p:nvPr/>
          </p:nvSpPr>
          <p:spPr>
            <a:xfrm>
              <a:off x="2152710" y="3434715"/>
              <a:ext cx="1409580" cy="645414"/>
            </a:xfrm>
            <a:prstGeom prst="rect">
              <a:avLst/>
            </a:prstGeom>
            <a:noFill/>
            <a:ln>
              <a:noFill/>
            </a:ln>
          </p:spPr>
          <p:txBody>
            <a:bodyPr wrap="none" lIns="0" tIns="0" rIns="0" bIns="0" anchor="t" anchorCtr="0">
              <a:spAutoFit/>
            </a:bodyPr>
            <a:lstStyle/>
            <a:p>
              <a:pPr algn="ctr"/>
              <a:r>
                <a:rPr lang="zh-CN" sz="3300" b="1" dirty="0">
                  <a:solidFill>
                    <a:schemeClr val="accent1"/>
                  </a:solidFill>
                  <a:latin typeface="+mn-lt"/>
                  <a:ea typeface="+mn-ea"/>
                  <a:cs typeface="+mn-cs"/>
                </a:rPr>
                <a:t>93.8%</a:t>
              </a:r>
            </a:p>
          </p:txBody>
        </p:sp>
        <p:sp>
          <p:nvSpPr>
            <p:cNvPr id="15" name="TextBox 15"/>
            <p:cNvSpPr txBox="1"/>
            <p:nvPr/>
          </p:nvSpPr>
          <p:spPr>
            <a:xfrm>
              <a:off x="2396300" y="3930968"/>
              <a:ext cx="922401" cy="264033"/>
            </a:xfrm>
            <a:prstGeom prst="rect">
              <a:avLst/>
            </a:prstGeom>
            <a:noFill/>
            <a:ln>
              <a:noFill/>
            </a:ln>
          </p:spPr>
          <p:txBody>
            <a:bodyPr wrap="none" lIns="0" tIns="0" rIns="0" bIns="0" anchor="t" anchorCtr="0">
              <a:spAutoFit/>
            </a:bodyPr>
            <a:lstStyle/>
            <a:p>
              <a:pPr algn="ctr"/>
              <a:r>
                <a:rPr lang="zh-CN" sz="1350" dirty="0">
                  <a:solidFill>
                    <a:schemeClr val="accent6"/>
                  </a:solidFill>
                  <a:latin typeface="+mn-lt"/>
                  <a:ea typeface="+mn-ea"/>
                  <a:cs typeface="+mn-cs"/>
                </a:rPr>
                <a:t>总体满意度</a:t>
              </a:r>
            </a:p>
          </p:txBody>
        </p:sp>
        <p:sp>
          <p:nvSpPr>
            <p:cNvPr id="16" name="Rectangle 16"/>
            <p:cNvSpPr/>
            <p:nvPr/>
          </p:nvSpPr>
          <p:spPr>
            <a:xfrm>
              <a:off x="4953000" y="2895600"/>
              <a:ext cx="190500" cy="190500"/>
            </a:xfrm>
            <a:prstGeom prst="rect">
              <a:avLst/>
            </a:prstGeom>
            <a:solidFill>
              <a:schemeClr val="accent1"/>
            </a:solidFill>
            <a:ln>
              <a:noFill/>
            </a:ln>
          </p:spPr>
        </p:sp>
        <p:sp>
          <p:nvSpPr>
            <p:cNvPr id="17" name="TextBox 17"/>
            <p:cNvSpPr txBox="1"/>
            <p:nvPr/>
          </p:nvSpPr>
          <p:spPr>
            <a:xfrm>
              <a:off x="5250180" y="2905125"/>
              <a:ext cx="41910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满意</a:t>
              </a:r>
            </a:p>
          </p:txBody>
        </p:sp>
        <p:sp>
          <p:nvSpPr>
            <p:cNvPr id="18" name="TextBox 18"/>
            <p:cNvSpPr txBox="1"/>
            <p:nvPr/>
          </p:nvSpPr>
          <p:spPr>
            <a:xfrm>
              <a:off x="7267063" y="2840355"/>
              <a:ext cx="897005"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71.2%</a:t>
              </a:r>
            </a:p>
          </p:txBody>
        </p:sp>
        <p:sp>
          <p:nvSpPr>
            <p:cNvPr id="19" name="TextBox 19"/>
            <p:cNvSpPr txBox="1"/>
            <p:nvPr/>
          </p:nvSpPr>
          <p:spPr>
            <a:xfrm>
              <a:off x="5251704" y="3185160"/>
              <a:ext cx="52913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4424人</a:t>
              </a:r>
            </a:p>
          </p:txBody>
        </p:sp>
        <p:sp>
          <p:nvSpPr>
            <p:cNvPr id="20" name="Rectangle 20"/>
            <p:cNvSpPr/>
            <p:nvPr/>
          </p:nvSpPr>
          <p:spPr>
            <a:xfrm>
              <a:off x="4953000" y="3657600"/>
              <a:ext cx="190500" cy="190500"/>
            </a:xfrm>
            <a:prstGeom prst="rect">
              <a:avLst/>
            </a:prstGeom>
            <a:solidFill>
              <a:schemeClr val="accent3"/>
            </a:solidFill>
            <a:ln>
              <a:noFill/>
            </a:ln>
          </p:spPr>
        </p:sp>
        <p:sp>
          <p:nvSpPr>
            <p:cNvPr id="21" name="TextBox 21"/>
            <p:cNvSpPr txBox="1"/>
            <p:nvPr/>
          </p:nvSpPr>
          <p:spPr>
            <a:xfrm>
              <a:off x="5250180" y="3667125"/>
              <a:ext cx="82296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基本满意</a:t>
              </a:r>
            </a:p>
          </p:txBody>
        </p:sp>
        <p:sp>
          <p:nvSpPr>
            <p:cNvPr id="22" name="TextBox 22"/>
            <p:cNvSpPr txBox="1"/>
            <p:nvPr/>
          </p:nvSpPr>
          <p:spPr>
            <a:xfrm>
              <a:off x="7267063" y="3602355"/>
              <a:ext cx="897005" cy="410718"/>
            </a:xfrm>
            <a:prstGeom prst="rect">
              <a:avLst/>
            </a:prstGeom>
            <a:noFill/>
            <a:ln>
              <a:noFill/>
            </a:ln>
          </p:spPr>
          <p:txBody>
            <a:bodyPr wrap="none" lIns="0" tIns="0" rIns="0" bIns="0" anchor="t" anchorCtr="0">
              <a:spAutoFit/>
            </a:bodyPr>
            <a:lstStyle/>
            <a:p>
              <a:pPr algn="r"/>
              <a:r>
                <a:rPr lang="zh-CN" sz="2100" b="1" dirty="0">
                  <a:solidFill>
                    <a:schemeClr val="accent3"/>
                  </a:solidFill>
                  <a:latin typeface="+mn-lt"/>
                  <a:ea typeface="+mn-ea"/>
                  <a:cs typeface="+mn-cs"/>
                </a:rPr>
                <a:t>22.6%</a:t>
              </a:r>
            </a:p>
          </p:txBody>
        </p:sp>
        <p:sp>
          <p:nvSpPr>
            <p:cNvPr id="23" name="TextBox 23"/>
            <p:cNvSpPr txBox="1"/>
            <p:nvPr/>
          </p:nvSpPr>
          <p:spPr>
            <a:xfrm>
              <a:off x="5251704" y="3947160"/>
              <a:ext cx="529133"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1405人</a:t>
              </a:r>
            </a:p>
          </p:txBody>
        </p:sp>
        <p:sp>
          <p:nvSpPr>
            <p:cNvPr id="24" name="Rectangle 24"/>
            <p:cNvSpPr/>
            <p:nvPr/>
          </p:nvSpPr>
          <p:spPr>
            <a:xfrm>
              <a:off x="4953000" y="4419600"/>
              <a:ext cx="190500" cy="190500"/>
            </a:xfrm>
            <a:prstGeom prst="rect">
              <a:avLst/>
            </a:prstGeom>
            <a:solidFill>
              <a:schemeClr val="accent2"/>
            </a:solidFill>
            <a:ln>
              <a:noFill/>
            </a:ln>
          </p:spPr>
        </p:sp>
        <p:sp>
          <p:nvSpPr>
            <p:cNvPr id="25" name="TextBox 25"/>
            <p:cNvSpPr txBox="1"/>
            <p:nvPr/>
          </p:nvSpPr>
          <p:spPr>
            <a:xfrm>
              <a:off x="5250180" y="4429125"/>
              <a:ext cx="62103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不满意</a:t>
              </a:r>
            </a:p>
          </p:txBody>
        </p:sp>
        <p:sp>
          <p:nvSpPr>
            <p:cNvPr id="26" name="TextBox 26"/>
            <p:cNvSpPr txBox="1"/>
            <p:nvPr/>
          </p:nvSpPr>
          <p:spPr>
            <a:xfrm>
              <a:off x="7430323" y="4364355"/>
              <a:ext cx="733745" cy="410718"/>
            </a:xfrm>
            <a:prstGeom prst="rect">
              <a:avLst/>
            </a:prstGeom>
            <a:noFill/>
            <a:ln>
              <a:noFill/>
            </a:ln>
          </p:spPr>
          <p:txBody>
            <a:bodyPr wrap="none" lIns="0" tIns="0" rIns="0" bIns="0" anchor="t" anchorCtr="0">
              <a:spAutoFit/>
            </a:bodyPr>
            <a:lstStyle/>
            <a:p>
              <a:pPr algn="r"/>
              <a:r>
                <a:rPr lang="zh-CN" sz="2100" b="1" dirty="0">
                  <a:solidFill>
                    <a:schemeClr val="accent5"/>
                  </a:solidFill>
                  <a:latin typeface="+mn-lt"/>
                  <a:ea typeface="+mn-ea"/>
                  <a:cs typeface="+mn-cs"/>
                </a:rPr>
                <a:t>6.2%</a:t>
              </a:r>
            </a:p>
          </p:txBody>
        </p:sp>
        <p:sp>
          <p:nvSpPr>
            <p:cNvPr id="27" name="TextBox 27"/>
            <p:cNvSpPr txBox="1"/>
            <p:nvPr/>
          </p:nvSpPr>
          <p:spPr>
            <a:xfrm>
              <a:off x="5251704" y="4709160"/>
              <a:ext cx="4402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385人</a:t>
              </a:r>
            </a:p>
          </p:txBody>
        </p:sp>
      </p:grpSp>
      <p:grpSp>
        <p:nvGrpSpPr>
          <p:cNvPr id="32" name="survey-method-note"/>
          <p:cNvGrpSpPr/>
          <p:nvPr/>
        </p:nvGrpSpPr>
        <p:grpSpPr>
          <a:xfrm>
            <a:off x="603504" y="5581650"/>
            <a:ext cx="7626096" cy="505206"/>
            <a:chOff x="603504" y="5581650"/>
            <a:chExt cx="7626096" cy="505206"/>
          </a:xfrm>
        </p:grpSpPr>
        <p:sp>
          <p:nvSpPr>
            <p:cNvPr id="29" name="Line 29"/>
            <p:cNvSpPr/>
            <p:nvPr/>
          </p:nvSpPr>
          <p:spPr>
            <a:xfrm>
              <a:off x="609600" y="5581650"/>
              <a:ext cx="7620000" cy="9525"/>
            </a:xfrm>
            <a:custGeom>
              <a:avLst/>
              <a:gdLst/>
              <a:ahLst/>
              <a:cxnLst/>
              <a:rect l="l" t="t" r="r" b="b"/>
              <a:pathLst>
                <a:path w="7620000" h="9525">
                  <a:moveTo>
                    <a:pt x="0" y="0"/>
                  </a:moveTo>
                  <a:lnTo>
                    <a:pt x="7620000" y="0"/>
                  </a:lnTo>
                </a:path>
              </a:pathLst>
            </a:custGeom>
            <a:noFill/>
            <a:ln w="9525">
              <a:solidFill>
                <a:srgbClr val="D3D9DF"/>
              </a:solidFill>
            </a:ln>
          </p:spPr>
        </p:sp>
        <p:sp>
          <p:nvSpPr>
            <p:cNvPr id="30" name="TextBox 30"/>
            <p:cNvSpPr txBox="1"/>
            <p:nvPr/>
          </p:nvSpPr>
          <p:spPr>
            <a:xfrm>
              <a:off x="603504" y="5661660"/>
              <a:ext cx="562584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调查方式：入户走访＋线上问卷，覆盖68个改造小区，每小区随机抽取100户。</a:t>
              </a:r>
            </a:p>
          </p:txBody>
        </p:sp>
        <p:sp>
          <p:nvSpPr>
            <p:cNvPr id="31" name="TextBox 31"/>
            <p:cNvSpPr txBox="1"/>
            <p:nvPr/>
          </p:nvSpPr>
          <p:spPr>
            <a:xfrm>
              <a:off x="603504" y="5852160"/>
              <a:ext cx="643249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总体满意度为对改造工作的整体评价，与P08各分项满意度分属不同题项，不作相互替代。</a:t>
              </a:r>
            </a:p>
          </p:txBody>
        </p:sp>
      </p:grpSp>
      <p:grpSp>
        <p:nvGrpSpPr>
          <p:cNvPr id="52" name="survey-panel"/>
          <p:cNvGrpSpPr/>
          <p:nvPr/>
        </p:nvGrpSpPr>
        <p:grpSpPr>
          <a:xfrm>
            <a:off x="8382000" y="1943100"/>
            <a:ext cx="3200400" cy="4076700"/>
            <a:chOff x="8382000" y="1943100"/>
            <a:chExt cx="3200400" cy="4076700"/>
          </a:xfrm>
        </p:grpSpPr>
        <p:sp>
          <p:nvSpPr>
            <p:cNvPr id="33" name="Rectangle 33"/>
            <p:cNvSpPr/>
            <p:nvPr/>
          </p:nvSpPr>
          <p:spPr>
            <a:xfrm>
              <a:off x="8382000" y="1943100"/>
              <a:ext cx="3200400" cy="4076700"/>
            </a:xfrm>
            <a:prstGeom prst="rect">
              <a:avLst/>
            </a:prstGeom>
            <a:solidFill>
              <a:schemeClr val="lt2"/>
            </a:solidFill>
            <a:ln>
              <a:noFill/>
            </a:ln>
          </p:spPr>
        </p:sp>
        <p:sp>
          <p:nvSpPr>
            <p:cNvPr id="34" name="Rectangle 34"/>
            <p:cNvSpPr/>
            <p:nvPr/>
          </p:nvSpPr>
          <p:spPr>
            <a:xfrm>
              <a:off x="8382000" y="1943100"/>
              <a:ext cx="3200400" cy="28575"/>
            </a:xfrm>
            <a:prstGeom prst="rect">
              <a:avLst/>
            </a:prstGeom>
            <a:solidFill>
              <a:schemeClr val="accent1"/>
            </a:solidFill>
            <a:ln>
              <a:noFill/>
            </a:ln>
          </p:spPr>
        </p:sp>
        <p:sp>
          <p:nvSpPr>
            <p:cNvPr id="35" name="TextBox 35"/>
            <p:cNvSpPr txBox="1"/>
            <p:nvPr/>
          </p:nvSpPr>
          <p:spPr>
            <a:xfrm>
              <a:off x="8602980" y="2105025"/>
              <a:ext cx="122682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调查执行情况</a:t>
              </a:r>
            </a:p>
          </p:txBody>
        </p:sp>
        <p:sp>
          <p:nvSpPr>
            <p:cNvPr id="36" name="TextBox 36"/>
            <p:cNvSpPr txBox="1"/>
            <p:nvPr/>
          </p:nvSpPr>
          <p:spPr>
            <a:xfrm>
              <a:off x="8603742" y="2445068"/>
              <a:ext cx="74066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发放问卷</a:t>
              </a:r>
            </a:p>
          </p:txBody>
        </p:sp>
        <p:sp>
          <p:nvSpPr>
            <p:cNvPr id="37" name="TextBox 37"/>
            <p:cNvSpPr txBox="1"/>
            <p:nvPr/>
          </p:nvSpPr>
          <p:spPr>
            <a:xfrm>
              <a:off x="10688145" y="2445068"/>
              <a:ext cx="672513" cy="264033"/>
            </a:xfrm>
            <a:prstGeom prst="rect">
              <a:avLst/>
            </a:prstGeom>
            <a:noFill/>
            <a:ln>
              <a:noFill/>
            </a:ln>
          </p:spPr>
          <p:txBody>
            <a:bodyPr wrap="none" lIns="0" tIns="0" rIns="0" bIns="0" anchor="t" anchorCtr="0">
              <a:spAutoFit/>
            </a:bodyPr>
            <a:lstStyle/>
            <a:p>
              <a:pPr algn="r"/>
              <a:r>
                <a:rPr lang="zh-CN" sz="1350" b="1" dirty="0">
                  <a:solidFill>
                    <a:schemeClr val="accent1"/>
                  </a:solidFill>
                  <a:latin typeface="+mn-lt"/>
                  <a:ea typeface="+mn-ea"/>
                  <a:cs typeface="+mn-cs"/>
                </a:rPr>
                <a:t>6800 份</a:t>
              </a:r>
            </a:p>
          </p:txBody>
        </p:sp>
        <p:sp>
          <p:nvSpPr>
            <p:cNvPr id="38" name="TextBox 38"/>
            <p:cNvSpPr txBox="1"/>
            <p:nvPr/>
          </p:nvSpPr>
          <p:spPr>
            <a:xfrm>
              <a:off x="8603742" y="2711768"/>
              <a:ext cx="74066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回收问卷</a:t>
              </a:r>
            </a:p>
          </p:txBody>
        </p:sp>
        <p:sp>
          <p:nvSpPr>
            <p:cNvPr id="39" name="TextBox 39"/>
            <p:cNvSpPr txBox="1"/>
            <p:nvPr/>
          </p:nvSpPr>
          <p:spPr>
            <a:xfrm>
              <a:off x="10688145" y="2711768"/>
              <a:ext cx="672513" cy="264033"/>
            </a:xfrm>
            <a:prstGeom prst="rect">
              <a:avLst/>
            </a:prstGeom>
            <a:noFill/>
            <a:ln>
              <a:noFill/>
            </a:ln>
          </p:spPr>
          <p:txBody>
            <a:bodyPr wrap="none" lIns="0" tIns="0" rIns="0" bIns="0" anchor="t" anchorCtr="0">
              <a:spAutoFit/>
            </a:bodyPr>
            <a:lstStyle/>
            <a:p>
              <a:pPr algn="r"/>
              <a:r>
                <a:rPr lang="zh-CN" sz="1350" b="1" dirty="0">
                  <a:solidFill>
                    <a:schemeClr val="accent1"/>
                  </a:solidFill>
                  <a:latin typeface="+mn-lt"/>
                  <a:ea typeface="+mn-ea"/>
                  <a:cs typeface="+mn-cs"/>
                </a:rPr>
                <a:t>6532 份</a:t>
              </a:r>
            </a:p>
          </p:txBody>
        </p:sp>
        <p:sp>
          <p:nvSpPr>
            <p:cNvPr id="40" name="TextBox 40"/>
            <p:cNvSpPr txBox="1"/>
            <p:nvPr/>
          </p:nvSpPr>
          <p:spPr>
            <a:xfrm>
              <a:off x="8603742" y="2978468"/>
              <a:ext cx="74066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有效问卷</a:t>
              </a:r>
            </a:p>
          </p:txBody>
        </p:sp>
        <p:sp>
          <p:nvSpPr>
            <p:cNvPr id="41" name="TextBox 41"/>
            <p:cNvSpPr txBox="1"/>
            <p:nvPr/>
          </p:nvSpPr>
          <p:spPr>
            <a:xfrm>
              <a:off x="10688145" y="2978468"/>
              <a:ext cx="672513" cy="264033"/>
            </a:xfrm>
            <a:prstGeom prst="rect">
              <a:avLst/>
            </a:prstGeom>
            <a:noFill/>
            <a:ln>
              <a:noFill/>
            </a:ln>
          </p:spPr>
          <p:txBody>
            <a:bodyPr wrap="none" lIns="0" tIns="0" rIns="0" bIns="0" anchor="t" anchorCtr="0">
              <a:spAutoFit/>
            </a:bodyPr>
            <a:lstStyle/>
            <a:p>
              <a:pPr algn="r"/>
              <a:r>
                <a:rPr lang="zh-CN" sz="1350" b="1" dirty="0">
                  <a:solidFill>
                    <a:schemeClr val="accent1"/>
                  </a:solidFill>
                  <a:latin typeface="+mn-lt"/>
                  <a:ea typeface="+mn-ea"/>
                  <a:cs typeface="+mn-cs"/>
                </a:rPr>
                <a:t>6214 份</a:t>
              </a:r>
            </a:p>
          </p:txBody>
        </p:sp>
        <p:sp>
          <p:nvSpPr>
            <p:cNvPr id="42" name="TextBox 42"/>
            <p:cNvSpPr txBox="1"/>
            <p:nvPr/>
          </p:nvSpPr>
          <p:spPr>
            <a:xfrm>
              <a:off x="8603742" y="3245168"/>
              <a:ext cx="922401"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有效回收率</a:t>
              </a:r>
            </a:p>
          </p:txBody>
        </p:sp>
        <p:sp>
          <p:nvSpPr>
            <p:cNvPr id="43" name="TextBox 43"/>
            <p:cNvSpPr txBox="1"/>
            <p:nvPr/>
          </p:nvSpPr>
          <p:spPr>
            <a:xfrm>
              <a:off x="10784012" y="3245168"/>
              <a:ext cx="576646" cy="264033"/>
            </a:xfrm>
            <a:prstGeom prst="rect">
              <a:avLst/>
            </a:prstGeom>
            <a:noFill/>
            <a:ln>
              <a:noFill/>
            </a:ln>
          </p:spPr>
          <p:txBody>
            <a:bodyPr wrap="none" lIns="0" tIns="0" rIns="0" bIns="0" anchor="t" anchorCtr="0">
              <a:spAutoFit/>
            </a:bodyPr>
            <a:lstStyle/>
            <a:p>
              <a:pPr algn="r"/>
              <a:r>
                <a:rPr lang="zh-CN" sz="1350" b="1" dirty="0">
                  <a:solidFill>
                    <a:srgbClr val="2E7D32"/>
                  </a:solidFill>
                  <a:latin typeface="+mn-lt"/>
                  <a:ea typeface="+mn-ea"/>
                  <a:cs typeface="+mn-cs"/>
                </a:rPr>
                <a:t>91.4%</a:t>
              </a:r>
            </a:p>
          </p:txBody>
        </p:sp>
        <p:sp>
          <p:nvSpPr>
            <p:cNvPr id="44" name="Line 44"/>
            <p:cNvSpPr/>
            <p:nvPr/>
          </p:nvSpPr>
          <p:spPr>
            <a:xfrm>
              <a:off x="8610600" y="354330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45" name="TextBox 45"/>
            <p:cNvSpPr txBox="1"/>
            <p:nvPr/>
          </p:nvSpPr>
          <p:spPr>
            <a:xfrm>
              <a:off x="8603742" y="3645218"/>
              <a:ext cx="74066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调查时间</a:t>
              </a:r>
            </a:p>
          </p:txBody>
        </p:sp>
        <p:sp>
          <p:nvSpPr>
            <p:cNvPr id="46" name="TextBox 46"/>
            <p:cNvSpPr txBox="1"/>
            <p:nvPr/>
          </p:nvSpPr>
          <p:spPr>
            <a:xfrm>
              <a:off x="8604504" y="3870960"/>
              <a:ext cx="178109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2026年7月1日至8月15日</a:t>
              </a:r>
            </a:p>
          </p:txBody>
        </p:sp>
        <p:sp>
          <p:nvSpPr>
            <p:cNvPr id="47" name="TextBox 47"/>
            <p:cNvSpPr txBox="1"/>
            <p:nvPr/>
          </p:nvSpPr>
          <p:spPr>
            <a:xfrm>
              <a:off x="8603742" y="4140518"/>
              <a:ext cx="740664"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无效问卷</a:t>
              </a:r>
            </a:p>
          </p:txBody>
        </p:sp>
        <p:sp>
          <p:nvSpPr>
            <p:cNvPr id="48" name="TextBox 48"/>
            <p:cNvSpPr txBox="1"/>
            <p:nvPr/>
          </p:nvSpPr>
          <p:spPr>
            <a:xfrm>
              <a:off x="8604504" y="4366260"/>
              <a:ext cx="173263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318份，均为填答不完整</a:t>
              </a:r>
            </a:p>
          </p:txBody>
        </p:sp>
        <p:sp>
          <p:nvSpPr>
            <p:cNvPr id="49" name="Line 49"/>
            <p:cNvSpPr/>
            <p:nvPr/>
          </p:nvSpPr>
          <p:spPr>
            <a:xfrm>
              <a:off x="8610600" y="4686300"/>
              <a:ext cx="2743200" cy="9525"/>
            </a:xfrm>
            <a:custGeom>
              <a:avLst/>
              <a:gdLst/>
              <a:ahLst/>
              <a:cxnLst/>
              <a:rect l="l" t="t" r="r" b="b"/>
              <a:pathLst>
                <a:path w="2743200" h="9525">
                  <a:moveTo>
                    <a:pt x="0" y="0"/>
                  </a:moveTo>
                  <a:lnTo>
                    <a:pt x="2743200" y="0"/>
                  </a:lnTo>
                </a:path>
              </a:pathLst>
            </a:custGeom>
            <a:noFill/>
            <a:ln w="9525">
              <a:solidFill>
                <a:srgbClr val="D3D9DF"/>
              </a:solidFill>
            </a:ln>
          </p:spPr>
        </p:sp>
        <p:sp>
          <p:nvSpPr>
            <p:cNvPr id="50" name="TextBox 50"/>
            <p:cNvSpPr txBox="1"/>
            <p:nvPr/>
          </p:nvSpPr>
          <p:spPr>
            <a:xfrm>
              <a:off x="8603742" y="4788218"/>
              <a:ext cx="1285875"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满意度计算口径</a:t>
              </a:r>
            </a:p>
          </p:txBody>
        </p:sp>
        <p:sp>
          <p:nvSpPr>
            <p:cNvPr id="51" name="TextBox 51"/>
            <p:cNvSpPr txBox="1"/>
            <p:nvPr/>
          </p:nvSpPr>
          <p:spPr>
            <a:xfrm>
              <a:off x="8604504" y="5052060"/>
              <a:ext cx="2069592" cy="844296"/>
            </a:xfrm>
            <a:prstGeom prst="rect">
              <a:avLst/>
            </a:prstGeom>
            <a:noFill/>
            <a:ln>
              <a:noFill/>
            </a:ln>
          </p:spPr>
          <p:txBody>
            <a:bodyPr wrap="none" lIns="0" tIns="0" rIns="0" bIns="0" anchor="t" anchorCtr="0">
              <a:spAutoFit/>
            </a:bodyPr>
            <a:lstStyle/>
            <a:p>
              <a:pPr algn="l">
                <a:lnSpc>
                  <a:spcPts val="1500"/>
                </a:lnSpc>
              </a:pPr>
              <a:r>
                <a:rPr lang="zh-CN" sz="1200" dirty="0">
                  <a:solidFill>
                    <a:schemeClr val="dk1"/>
                  </a:solidFill>
                  <a:latin typeface="+mn-lt"/>
                  <a:ea typeface="+mn-ea"/>
                  <a:cs typeface="+mn-cs"/>
                </a:rPr>
                <a:t>总体满意度＝（满意＋基本</a:t>
              </a:r>
              <a:br/>
              <a:r>
                <a:rPr lang="zh-CN" sz="1200" dirty="0">
                  <a:solidFill>
                    <a:schemeClr val="dk1"/>
                  </a:solidFill>
                  <a:latin typeface="+mn-lt"/>
                  <a:ea typeface="+mn-ea"/>
                  <a:cs typeface="+mn-cs"/>
                </a:rPr>
                <a:t>满意）÷有效问卷×100%</a:t>
              </a:r>
            </a:p>
            <a:p>
              <a:pPr algn="l">
                <a:lnSpc>
                  <a:spcPts val="1500"/>
                </a:lnSpc>
                <a:spcBef>
                  <a:spcPts val="300"/>
                </a:spcBef>
              </a:pPr>
              <a:r>
                <a:rPr lang="zh-CN" sz="1200" dirty="0">
                  <a:solidFill>
                    <a:schemeClr val="dk1"/>
                  </a:solidFill>
                  <a:latin typeface="+mn-lt"/>
                  <a:ea typeface="+mn-ea"/>
                  <a:cs typeface="+mn-cs"/>
                </a:rPr>
                <a:t>各分项满意度＝该分项满意与</a:t>
              </a:r>
              <a:br/>
              <a:r>
                <a:rPr lang="zh-CN" sz="1200" dirty="0">
                  <a:solidFill>
                    <a:schemeClr val="dk1"/>
                  </a:solidFill>
                  <a:latin typeface="+mn-lt"/>
                  <a:ea typeface="+mn-ea"/>
                  <a:cs typeface="+mn-cs"/>
                </a:rPr>
                <a:t>基本满意人数÷有效问卷×100%</a:t>
              </a:r>
            </a:p>
          </p:txBody>
        </p:sp>
      </p:grpSp>
      <p:grpSp>
        <p:nvGrpSpPr>
          <p:cNvPr id="56" name="page-footer"/>
          <p:cNvGrpSpPr/>
          <p:nvPr/>
        </p:nvGrpSpPr>
        <p:grpSpPr>
          <a:xfrm>
            <a:off x="603504" y="6172200"/>
            <a:ext cx="10984992" cy="295656"/>
            <a:chOff x="603504" y="6172200"/>
            <a:chExt cx="10984992" cy="295656"/>
          </a:xfrm>
        </p:grpSpPr>
        <p:sp>
          <p:nvSpPr>
            <p:cNvPr id="53" name="Line 5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4" name="TextBox 54"/>
            <p:cNvSpPr txBox="1"/>
            <p:nvPr/>
          </p:nvSpPr>
          <p:spPr>
            <a:xfrm>
              <a:off x="603504" y="6233160"/>
              <a:ext cx="372770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数据来源：第三方机构居民满意度入户调查问卷汇总</a:t>
              </a:r>
            </a:p>
          </p:txBody>
        </p:sp>
        <p:sp>
          <p:nvSpPr>
            <p:cNvPr id="55" name="TextBox 55"/>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403785" y="578168"/>
              <a:ext cx="2185473"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三、居民满意度 ｜ 08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七个分项满意度对比</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61961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基础设施96.4%、环境绿化95.1%达标；加装电梯84.6%、停车泊位82.1%、施工管理79.4%滞后。</a:t>
              </a:r>
            </a:p>
          </p:txBody>
        </p:sp>
      </p:grpSp>
      <p:grpSp>
        <p:nvGrpSpPr>
          <p:cNvPr id="37" name="dimension-satisfaction-bars"/>
          <p:cNvGrpSpPr/>
          <p:nvPr/>
        </p:nvGrpSpPr>
        <p:grpSpPr>
          <a:xfrm>
            <a:off x="738759" y="2095500"/>
            <a:ext cx="7198617" cy="3477006"/>
            <a:chOff x="738759" y="2095500"/>
            <a:chExt cx="7198617" cy="3477006"/>
          </a:xfrm>
        </p:grpSpPr>
        <p:sp>
          <p:nvSpPr>
            <p:cNvPr id="11" name="Rectangle 11"/>
            <p:cNvSpPr/>
            <p:nvPr/>
          </p:nvSpPr>
          <p:spPr>
            <a:xfrm>
              <a:off x="2533650" y="2257425"/>
              <a:ext cx="4719638" cy="209550"/>
            </a:xfrm>
            <a:prstGeom prst="rect">
              <a:avLst/>
            </a:prstGeom>
            <a:solidFill>
              <a:srgbClr val="2E7D32"/>
            </a:solidFill>
            <a:ln>
              <a:noFill/>
            </a:ln>
          </p:spPr>
        </p:sp>
        <p:sp>
          <p:nvSpPr>
            <p:cNvPr id="12" name="Rectangle 12"/>
            <p:cNvSpPr/>
            <p:nvPr/>
          </p:nvSpPr>
          <p:spPr>
            <a:xfrm>
              <a:off x="2533650" y="2714625"/>
              <a:ext cx="4655820" cy="209550"/>
            </a:xfrm>
            <a:prstGeom prst="rect">
              <a:avLst/>
            </a:prstGeom>
            <a:solidFill>
              <a:srgbClr val="2E7D32"/>
            </a:solidFill>
            <a:ln>
              <a:noFill/>
            </a:ln>
          </p:spPr>
        </p:sp>
        <p:sp>
          <p:nvSpPr>
            <p:cNvPr id="13" name="Rectangle 13"/>
            <p:cNvSpPr/>
            <p:nvPr/>
          </p:nvSpPr>
          <p:spPr>
            <a:xfrm>
              <a:off x="2533650" y="3171825"/>
              <a:ext cx="4587240" cy="209550"/>
            </a:xfrm>
            <a:prstGeom prst="rect">
              <a:avLst/>
            </a:prstGeom>
            <a:solidFill>
              <a:srgbClr val="B26A00"/>
            </a:solidFill>
            <a:ln>
              <a:noFill/>
            </a:ln>
          </p:spPr>
        </p:sp>
        <p:sp>
          <p:nvSpPr>
            <p:cNvPr id="14" name="Rectangle 14"/>
            <p:cNvSpPr/>
            <p:nvPr/>
          </p:nvSpPr>
          <p:spPr>
            <a:xfrm>
              <a:off x="2533650" y="3629025"/>
              <a:ext cx="4518660" cy="209550"/>
            </a:xfrm>
            <a:prstGeom prst="rect">
              <a:avLst/>
            </a:prstGeom>
            <a:solidFill>
              <a:srgbClr val="B26A00"/>
            </a:solidFill>
            <a:ln>
              <a:noFill/>
            </a:ln>
          </p:spPr>
        </p:sp>
        <p:sp>
          <p:nvSpPr>
            <p:cNvPr id="15" name="Rectangle 15"/>
            <p:cNvSpPr/>
            <p:nvPr/>
          </p:nvSpPr>
          <p:spPr>
            <a:xfrm>
              <a:off x="2533650" y="4086225"/>
              <a:ext cx="4141470" cy="209550"/>
            </a:xfrm>
            <a:prstGeom prst="rect">
              <a:avLst/>
            </a:prstGeom>
            <a:solidFill>
              <a:srgbClr val="C0392B"/>
            </a:solidFill>
            <a:ln>
              <a:noFill/>
            </a:ln>
          </p:spPr>
        </p:sp>
        <p:sp>
          <p:nvSpPr>
            <p:cNvPr id="16" name="Rectangle 16"/>
            <p:cNvSpPr/>
            <p:nvPr/>
          </p:nvSpPr>
          <p:spPr>
            <a:xfrm>
              <a:off x="2533650" y="4543425"/>
              <a:ext cx="4019550" cy="209550"/>
            </a:xfrm>
            <a:prstGeom prst="rect">
              <a:avLst/>
            </a:prstGeom>
            <a:solidFill>
              <a:srgbClr val="C0392B"/>
            </a:solidFill>
            <a:ln>
              <a:noFill/>
            </a:ln>
          </p:spPr>
        </p:sp>
        <p:sp>
          <p:nvSpPr>
            <p:cNvPr id="17" name="Rectangle 17"/>
            <p:cNvSpPr/>
            <p:nvPr/>
          </p:nvSpPr>
          <p:spPr>
            <a:xfrm>
              <a:off x="2533650" y="5000625"/>
              <a:ext cx="3887152" cy="209550"/>
            </a:xfrm>
            <a:prstGeom prst="rect">
              <a:avLst/>
            </a:prstGeom>
            <a:solidFill>
              <a:srgbClr val="C0392B"/>
            </a:solidFill>
            <a:ln>
              <a:noFill/>
            </a:ln>
          </p:spPr>
        </p:sp>
        <p:sp>
          <p:nvSpPr>
            <p:cNvPr id="18" name="Line 18"/>
            <p:cNvSpPr/>
            <p:nvPr/>
          </p:nvSpPr>
          <p:spPr>
            <a:xfrm>
              <a:off x="6939915" y="2133600"/>
              <a:ext cx="9525" cy="3200400"/>
            </a:xfrm>
            <a:custGeom>
              <a:avLst/>
              <a:gdLst/>
              <a:ahLst/>
              <a:cxnLst/>
              <a:rect l="l" t="t" r="r" b="b"/>
              <a:pathLst>
                <a:path w="9525" h="3200400">
                  <a:moveTo>
                    <a:pt x="0" y="0"/>
                  </a:moveTo>
                  <a:lnTo>
                    <a:pt x="0" y="3200400"/>
                  </a:lnTo>
                </a:path>
              </a:pathLst>
            </a:custGeom>
            <a:noFill/>
            <a:ln w="14288">
              <a:solidFill>
                <a:srgbClr val="C0392B"/>
              </a:solidFill>
              <a:custDash>
                <a:ds d="333333" sp="266667"/>
              </a:custDash>
            </a:ln>
          </p:spPr>
        </p:sp>
        <p:sp>
          <p:nvSpPr>
            <p:cNvPr id="19" name="Line 19"/>
            <p:cNvSpPr/>
            <p:nvPr/>
          </p:nvSpPr>
          <p:spPr>
            <a:xfrm>
              <a:off x="2533650" y="2095500"/>
              <a:ext cx="9525" cy="3276600"/>
            </a:xfrm>
            <a:custGeom>
              <a:avLst/>
              <a:gdLst/>
              <a:ahLst/>
              <a:cxnLst/>
              <a:rect l="l" t="t" r="r" b="b"/>
              <a:pathLst>
                <a:path w="9525" h="3276600">
                  <a:moveTo>
                    <a:pt x="0" y="0"/>
                  </a:moveTo>
                  <a:lnTo>
                    <a:pt x="0" y="3276600"/>
                  </a:lnTo>
                </a:path>
              </a:pathLst>
            </a:custGeom>
            <a:noFill/>
            <a:ln w="14288">
              <a:solidFill>
                <a:srgbClr val="5B6672"/>
              </a:solidFill>
            </a:ln>
          </p:spPr>
        </p:sp>
        <p:grpSp>
          <p:nvGrpSpPr>
            <p:cNvPr id="27" name="Group 27"/>
            <p:cNvGrpSpPr/>
            <p:nvPr/>
          </p:nvGrpSpPr>
          <p:grpSpPr>
            <a:xfrm>
              <a:off x="738759" y="2273618"/>
              <a:ext cx="1649349" cy="3007233"/>
              <a:chOff x="738759" y="2273618"/>
              <a:chExt cx="1649349" cy="3007233"/>
            </a:xfrm>
          </p:grpSpPr>
          <p:sp>
            <p:nvSpPr>
              <p:cNvPr id="20" name="TextBox 20"/>
              <p:cNvSpPr txBox="1"/>
              <p:nvPr/>
            </p:nvSpPr>
            <p:spPr>
              <a:xfrm>
                <a:off x="1647444" y="22736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基础设施</a:t>
                </a:r>
              </a:p>
            </p:txBody>
          </p:sp>
          <p:sp>
            <p:nvSpPr>
              <p:cNvPr id="21" name="TextBox 21"/>
              <p:cNvSpPr txBox="1"/>
              <p:nvPr/>
            </p:nvSpPr>
            <p:spPr>
              <a:xfrm>
                <a:off x="738759" y="2730818"/>
                <a:ext cx="164934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环境绿化及公共空间</a:t>
                </a:r>
              </a:p>
            </p:txBody>
          </p:sp>
          <p:sp>
            <p:nvSpPr>
              <p:cNvPr id="22" name="TextBox 22"/>
              <p:cNvSpPr txBox="1"/>
              <p:nvPr/>
            </p:nvSpPr>
            <p:spPr>
              <a:xfrm>
                <a:off x="1283970" y="3188018"/>
                <a:ext cx="110413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房屋本体修缮</a:t>
                </a:r>
              </a:p>
            </p:txBody>
          </p:sp>
          <p:sp>
            <p:nvSpPr>
              <p:cNvPr id="23" name="TextBox 23"/>
              <p:cNvSpPr txBox="1"/>
              <p:nvPr/>
            </p:nvSpPr>
            <p:spPr>
              <a:xfrm>
                <a:off x="920496" y="3645218"/>
                <a:ext cx="1467612"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安防及智能化改造</a:t>
                </a:r>
              </a:p>
            </p:txBody>
          </p:sp>
          <p:sp>
            <p:nvSpPr>
              <p:cNvPr id="24" name="TextBox 24"/>
              <p:cNvSpPr txBox="1"/>
              <p:nvPr/>
            </p:nvSpPr>
            <p:spPr>
              <a:xfrm>
                <a:off x="1647444" y="41024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加装电梯</a:t>
                </a:r>
              </a:p>
            </p:txBody>
          </p:sp>
          <p:sp>
            <p:nvSpPr>
              <p:cNvPr id="25" name="TextBox 25"/>
              <p:cNvSpPr txBox="1"/>
              <p:nvPr/>
            </p:nvSpPr>
            <p:spPr>
              <a:xfrm>
                <a:off x="738759" y="4559618"/>
                <a:ext cx="1649349"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停车泊位及充电设施</a:t>
                </a:r>
              </a:p>
            </p:txBody>
          </p:sp>
          <p:sp>
            <p:nvSpPr>
              <p:cNvPr id="26" name="TextBox 26"/>
              <p:cNvSpPr txBox="1"/>
              <p:nvPr/>
            </p:nvSpPr>
            <p:spPr>
              <a:xfrm>
                <a:off x="1102233" y="5016818"/>
                <a:ext cx="1285875"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施工期现场管理</a:t>
                </a:r>
              </a:p>
            </p:txBody>
          </p:sp>
        </p:grpSp>
        <p:grpSp>
          <p:nvGrpSpPr>
            <p:cNvPr id="35" name="Group 35"/>
            <p:cNvGrpSpPr/>
            <p:nvPr/>
          </p:nvGrpSpPr>
          <p:grpSpPr>
            <a:xfrm>
              <a:off x="6528244" y="2273618"/>
              <a:ext cx="1409132" cy="3007233"/>
              <a:chOff x="6528244" y="2273618"/>
              <a:chExt cx="1409132" cy="3007233"/>
            </a:xfrm>
          </p:grpSpPr>
          <p:sp>
            <p:nvSpPr>
              <p:cNvPr id="28" name="TextBox 28"/>
              <p:cNvSpPr txBox="1"/>
              <p:nvPr/>
            </p:nvSpPr>
            <p:spPr>
              <a:xfrm>
                <a:off x="7360730" y="2273618"/>
                <a:ext cx="576646" cy="264033"/>
              </a:xfrm>
              <a:prstGeom prst="rect">
                <a:avLst/>
              </a:prstGeom>
              <a:noFill/>
              <a:ln>
                <a:noFill/>
              </a:ln>
            </p:spPr>
            <p:txBody>
              <a:bodyPr wrap="none" lIns="0" tIns="0" rIns="0" bIns="0" anchor="t" anchorCtr="0">
                <a:spAutoFit/>
              </a:bodyPr>
              <a:lstStyle/>
              <a:p>
                <a:pPr algn="l"/>
                <a:r>
                  <a:rPr lang="zh-CN" sz="1350" b="1" dirty="0">
                    <a:solidFill>
                      <a:srgbClr val="2E7D32"/>
                    </a:solidFill>
                    <a:latin typeface="+mn-lt"/>
                    <a:ea typeface="+mn-ea"/>
                    <a:cs typeface="+mn-cs"/>
                  </a:rPr>
                  <a:t>96.4%</a:t>
                </a:r>
              </a:p>
            </p:txBody>
          </p:sp>
          <p:sp>
            <p:nvSpPr>
              <p:cNvPr id="29" name="TextBox 29"/>
              <p:cNvSpPr txBox="1"/>
              <p:nvPr/>
            </p:nvSpPr>
            <p:spPr>
              <a:xfrm>
                <a:off x="7296912" y="2730818"/>
                <a:ext cx="576646" cy="264033"/>
              </a:xfrm>
              <a:prstGeom prst="rect">
                <a:avLst/>
              </a:prstGeom>
              <a:noFill/>
              <a:ln>
                <a:noFill/>
              </a:ln>
            </p:spPr>
            <p:txBody>
              <a:bodyPr wrap="none" lIns="0" tIns="0" rIns="0" bIns="0" anchor="t" anchorCtr="0">
                <a:spAutoFit/>
              </a:bodyPr>
              <a:lstStyle/>
              <a:p>
                <a:pPr algn="l"/>
                <a:r>
                  <a:rPr lang="zh-CN" sz="1350" b="1" dirty="0">
                    <a:solidFill>
                      <a:srgbClr val="2E7D32"/>
                    </a:solidFill>
                    <a:latin typeface="+mn-lt"/>
                    <a:ea typeface="+mn-ea"/>
                    <a:cs typeface="+mn-cs"/>
                  </a:rPr>
                  <a:t>95.1%</a:t>
                </a:r>
              </a:p>
            </p:txBody>
          </p:sp>
          <p:sp>
            <p:nvSpPr>
              <p:cNvPr id="30" name="TextBox 30"/>
              <p:cNvSpPr txBox="1"/>
              <p:nvPr/>
            </p:nvSpPr>
            <p:spPr>
              <a:xfrm>
                <a:off x="7228332" y="3188018"/>
                <a:ext cx="576646" cy="264033"/>
              </a:xfrm>
              <a:prstGeom prst="rect">
                <a:avLst/>
              </a:prstGeom>
              <a:noFill/>
              <a:ln>
                <a:noFill/>
              </a:ln>
            </p:spPr>
            <p:txBody>
              <a:bodyPr wrap="none" lIns="0" tIns="0" rIns="0" bIns="0" anchor="t" anchorCtr="0">
                <a:spAutoFit/>
              </a:bodyPr>
              <a:lstStyle/>
              <a:p>
                <a:pPr algn="l"/>
                <a:r>
                  <a:rPr lang="zh-CN" sz="1350" b="1" dirty="0">
                    <a:solidFill>
                      <a:srgbClr val="B26A00"/>
                    </a:solidFill>
                    <a:latin typeface="+mn-lt"/>
                    <a:ea typeface="+mn-ea"/>
                    <a:cs typeface="+mn-cs"/>
                  </a:rPr>
                  <a:t>93.7%</a:t>
                </a:r>
              </a:p>
            </p:txBody>
          </p:sp>
          <p:sp>
            <p:nvSpPr>
              <p:cNvPr id="31" name="TextBox 31"/>
              <p:cNvSpPr txBox="1"/>
              <p:nvPr/>
            </p:nvSpPr>
            <p:spPr>
              <a:xfrm>
                <a:off x="7159752" y="3645218"/>
                <a:ext cx="576646" cy="264033"/>
              </a:xfrm>
              <a:prstGeom prst="rect">
                <a:avLst/>
              </a:prstGeom>
              <a:noFill/>
              <a:ln>
                <a:noFill/>
              </a:ln>
            </p:spPr>
            <p:txBody>
              <a:bodyPr wrap="none" lIns="0" tIns="0" rIns="0" bIns="0" anchor="t" anchorCtr="0">
                <a:spAutoFit/>
              </a:bodyPr>
              <a:lstStyle/>
              <a:p>
                <a:pPr algn="l"/>
                <a:r>
                  <a:rPr lang="zh-CN" sz="1350" b="1" dirty="0">
                    <a:solidFill>
                      <a:srgbClr val="B26A00"/>
                    </a:solidFill>
                    <a:latin typeface="+mn-lt"/>
                    <a:ea typeface="+mn-ea"/>
                    <a:cs typeface="+mn-cs"/>
                  </a:rPr>
                  <a:t>92.3%</a:t>
                </a:r>
              </a:p>
            </p:txBody>
          </p:sp>
          <p:sp>
            <p:nvSpPr>
              <p:cNvPr id="32" name="TextBox 32"/>
              <p:cNvSpPr txBox="1"/>
              <p:nvPr/>
            </p:nvSpPr>
            <p:spPr>
              <a:xfrm>
                <a:off x="6782562" y="4102418"/>
                <a:ext cx="576646"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84.6%</a:t>
                </a:r>
              </a:p>
            </p:txBody>
          </p:sp>
          <p:sp>
            <p:nvSpPr>
              <p:cNvPr id="33" name="TextBox 33"/>
              <p:cNvSpPr txBox="1"/>
              <p:nvPr/>
            </p:nvSpPr>
            <p:spPr>
              <a:xfrm>
                <a:off x="6660642" y="4559618"/>
                <a:ext cx="576646"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82.1%</a:t>
                </a:r>
              </a:p>
            </p:txBody>
          </p:sp>
          <p:sp>
            <p:nvSpPr>
              <p:cNvPr id="34" name="TextBox 34"/>
              <p:cNvSpPr txBox="1"/>
              <p:nvPr/>
            </p:nvSpPr>
            <p:spPr>
              <a:xfrm>
                <a:off x="6528244" y="5016818"/>
                <a:ext cx="576646"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79.4%</a:t>
                </a:r>
              </a:p>
            </p:txBody>
          </p:sp>
        </p:grpSp>
        <p:sp>
          <p:nvSpPr>
            <p:cNvPr id="36" name="TextBox 36"/>
            <p:cNvSpPr txBox="1"/>
            <p:nvPr/>
          </p:nvSpPr>
          <p:spPr>
            <a:xfrm>
              <a:off x="6428994" y="5337810"/>
              <a:ext cx="1021842" cy="234696"/>
            </a:xfrm>
            <a:prstGeom prst="rect">
              <a:avLst/>
            </a:prstGeom>
            <a:noFill/>
            <a:ln>
              <a:noFill/>
            </a:ln>
          </p:spPr>
          <p:txBody>
            <a:bodyPr wrap="none" lIns="0" tIns="0" rIns="0" bIns="0" anchor="t" anchorCtr="0">
              <a:spAutoFit/>
            </a:bodyPr>
            <a:lstStyle/>
            <a:p>
              <a:pPr algn="ctr"/>
              <a:r>
                <a:rPr lang="zh-CN" sz="1200" dirty="0">
                  <a:solidFill>
                    <a:srgbClr val="C0392B"/>
                  </a:solidFill>
                  <a:latin typeface="+mn-lt"/>
                  <a:ea typeface="+mn-ea"/>
                  <a:cs typeface="+mn-cs"/>
                </a:rPr>
                <a:t>滞后线 90.0%</a:t>
              </a:r>
            </a:p>
          </p:txBody>
        </p:sp>
      </p:grpSp>
      <p:grpSp>
        <p:nvGrpSpPr>
          <p:cNvPr id="53" name="dimension-verdict-column"/>
          <p:cNvGrpSpPr/>
          <p:nvPr/>
        </p:nvGrpSpPr>
        <p:grpSpPr>
          <a:xfrm>
            <a:off x="8458200" y="2209800"/>
            <a:ext cx="2005889" cy="3191256"/>
            <a:chOff x="8458200" y="2209800"/>
            <a:chExt cx="2005889" cy="3191256"/>
          </a:xfrm>
        </p:grpSpPr>
        <p:sp>
          <p:nvSpPr>
            <p:cNvPr id="38" name="Line 38"/>
            <p:cNvSpPr/>
            <p:nvPr/>
          </p:nvSpPr>
          <p:spPr>
            <a:xfrm>
              <a:off x="8458200" y="2209800"/>
              <a:ext cx="9525" cy="3143250"/>
            </a:xfrm>
            <a:custGeom>
              <a:avLst/>
              <a:gdLst/>
              <a:ahLst/>
              <a:cxnLst/>
              <a:rect l="l" t="t" r="r" b="b"/>
              <a:pathLst>
                <a:path w="9525" h="3143250">
                  <a:moveTo>
                    <a:pt x="0" y="0"/>
                  </a:moveTo>
                  <a:lnTo>
                    <a:pt x="0" y="3143250"/>
                  </a:lnTo>
                </a:path>
              </a:pathLst>
            </a:custGeom>
            <a:noFill/>
            <a:ln w="9525">
              <a:solidFill>
                <a:srgbClr val="D3D9DF"/>
              </a:solidFill>
            </a:ln>
          </p:spPr>
        </p:sp>
        <p:sp>
          <p:nvSpPr>
            <p:cNvPr id="39" name="TextBox 39"/>
            <p:cNvSpPr txBox="1"/>
            <p:nvPr/>
          </p:nvSpPr>
          <p:spPr>
            <a:xfrm>
              <a:off x="8641842" y="2216468"/>
              <a:ext cx="377190" cy="264033"/>
            </a:xfrm>
            <a:prstGeom prst="rect">
              <a:avLst/>
            </a:prstGeom>
            <a:noFill/>
            <a:ln>
              <a:noFill/>
            </a:ln>
          </p:spPr>
          <p:txBody>
            <a:bodyPr wrap="none" lIns="0" tIns="0" rIns="0" bIns="0" anchor="t" anchorCtr="0">
              <a:spAutoFit/>
            </a:bodyPr>
            <a:lstStyle/>
            <a:p>
              <a:pPr algn="l"/>
              <a:r>
                <a:rPr lang="zh-CN" sz="1350" b="1" dirty="0">
                  <a:solidFill>
                    <a:srgbClr val="2E7D32"/>
                  </a:solidFill>
                  <a:latin typeface="+mn-lt"/>
                  <a:ea typeface="+mn-ea"/>
                  <a:cs typeface="+mn-cs"/>
                </a:rPr>
                <a:t>达标</a:t>
              </a:r>
            </a:p>
          </p:txBody>
        </p:sp>
        <p:sp>
          <p:nvSpPr>
            <p:cNvPr id="40" name="TextBox 40"/>
            <p:cNvSpPr txBox="1"/>
            <p:nvPr/>
          </p:nvSpPr>
          <p:spPr>
            <a:xfrm>
              <a:off x="8642604" y="24231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高于达标线1.4个百分点</a:t>
              </a:r>
            </a:p>
          </p:txBody>
        </p:sp>
        <p:sp>
          <p:nvSpPr>
            <p:cNvPr id="41" name="TextBox 41"/>
            <p:cNvSpPr txBox="1"/>
            <p:nvPr/>
          </p:nvSpPr>
          <p:spPr>
            <a:xfrm>
              <a:off x="8641842" y="2673668"/>
              <a:ext cx="377190" cy="264033"/>
            </a:xfrm>
            <a:prstGeom prst="rect">
              <a:avLst/>
            </a:prstGeom>
            <a:noFill/>
            <a:ln>
              <a:noFill/>
            </a:ln>
          </p:spPr>
          <p:txBody>
            <a:bodyPr wrap="none" lIns="0" tIns="0" rIns="0" bIns="0" anchor="t" anchorCtr="0">
              <a:spAutoFit/>
            </a:bodyPr>
            <a:lstStyle/>
            <a:p>
              <a:pPr algn="l"/>
              <a:r>
                <a:rPr lang="zh-CN" sz="1350" b="1" dirty="0">
                  <a:solidFill>
                    <a:srgbClr val="2E7D32"/>
                  </a:solidFill>
                  <a:latin typeface="+mn-lt"/>
                  <a:ea typeface="+mn-ea"/>
                  <a:cs typeface="+mn-cs"/>
                </a:rPr>
                <a:t>达标</a:t>
              </a:r>
            </a:p>
          </p:txBody>
        </p:sp>
        <p:sp>
          <p:nvSpPr>
            <p:cNvPr id="42" name="TextBox 42"/>
            <p:cNvSpPr txBox="1"/>
            <p:nvPr/>
          </p:nvSpPr>
          <p:spPr>
            <a:xfrm>
              <a:off x="8642604" y="28803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高于达标线0.1个百分点</a:t>
              </a:r>
            </a:p>
          </p:txBody>
        </p:sp>
        <p:sp>
          <p:nvSpPr>
            <p:cNvPr id="43" name="TextBox 43"/>
            <p:cNvSpPr txBox="1"/>
            <p:nvPr/>
          </p:nvSpPr>
          <p:spPr>
            <a:xfrm>
              <a:off x="8641842" y="3130868"/>
              <a:ext cx="740664" cy="264033"/>
            </a:xfrm>
            <a:prstGeom prst="rect">
              <a:avLst/>
            </a:prstGeom>
            <a:noFill/>
            <a:ln>
              <a:noFill/>
            </a:ln>
          </p:spPr>
          <p:txBody>
            <a:bodyPr wrap="none" lIns="0" tIns="0" rIns="0" bIns="0" anchor="t" anchorCtr="0">
              <a:spAutoFit/>
            </a:bodyPr>
            <a:lstStyle/>
            <a:p>
              <a:pPr algn="l"/>
              <a:r>
                <a:rPr lang="zh-CN" sz="1350" b="1" dirty="0">
                  <a:solidFill>
                    <a:srgbClr val="B26A00"/>
                  </a:solidFill>
                  <a:latin typeface="+mn-lt"/>
                  <a:ea typeface="+mn-ea"/>
                  <a:cs typeface="+mn-cs"/>
                </a:rPr>
                <a:t>基本达标</a:t>
              </a:r>
            </a:p>
          </p:txBody>
        </p:sp>
        <p:sp>
          <p:nvSpPr>
            <p:cNvPr id="44" name="TextBox 44"/>
            <p:cNvSpPr txBox="1"/>
            <p:nvPr/>
          </p:nvSpPr>
          <p:spPr>
            <a:xfrm>
              <a:off x="8642604" y="33375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低于达标线1.3个百分点</a:t>
              </a:r>
            </a:p>
          </p:txBody>
        </p:sp>
        <p:sp>
          <p:nvSpPr>
            <p:cNvPr id="45" name="TextBox 45"/>
            <p:cNvSpPr txBox="1"/>
            <p:nvPr/>
          </p:nvSpPr>
          <p:spPr>
            <a:xfrm>
              <a:off x="8641842" y="3588068"/>
              <a:ext cx="740664" cy="264033"/>
            </a:xfrm>
            <a:prstGeom prst="rect">
              <a:avLst/>
            </a:prstGeom>
            <a:noFill/>
            <a:ln>
              <a:noFill/>
            </a:ln>
          </p:spPr>
          <p:txBody>
            <a:bodyPr wrap="none" lIns="0" tIns="0" rIns="0" bIns="0" anchor="t" anchorCtr="0">
              <a:spAutoFit/>
            </a:bodyPr>
            <a:lstStyle/>
            <a:p>
              <a:pPr algn="l"/>
              <a:r>
                <a:rPr lang="zh-CN" sz="1350" b="1" dirty="0">
                  <a:solidFill>
                    <a:srgbClr val="B26A00"/>
                  </a:solidFill>
                  <a:latin typeface="+mn-lt"/>
                  <a:ea typeface="+mn-ea"/>
                  <a:cs typeface="+mn-cs"/>
                </a:rPr>
                <a:t>基本达标</a:t>
              </a:r>
            </a:p>
          </p:txBody>
        </p:sp>
        <p:sp>
          <p:nvSpPr>
            <p:cNvPr id="46" name="TextBox 46"/>
            <p:cNvSpPr txBox="1"/>
            <p:nvPr/>
          </p:nvSpPr>
          <p:spPr>
            <a:xfrm>
              <a:off x="8642604" y="37947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低于达标线2.7个百分点</a:t>
              </a:r>
            </a:p>
          </p:txBody>
        </p:sp>
        <p:sp>
          <p:nvSpPr>
            <p:cNvPr id="47" name="TextBox 47"/>
            <p:cNvSpPr txBox="1"/>
            <p:nvPr/>
          </p:nvSpPr>
          <p:spPr>
            <a:xfrm>
              <a:off x="8641842" y="4045268"/>
              <a:ext cx="377190"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滞后</a:t>
              </a:r>
            </a:p>
          </p:txBody>
        </p:sp>
        <p:sp>
          <p:nvSpPr>
            <p:cNvPr id="48" name="TextBox 48"/>
            <p:cNvSpPr txBox="1"/>
            <p:nvPr/>
          </p:nvSpPr>
          <p:spPr>
            <a:xfrm>
              <a:off x="8642604" y="42519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低于滞后线5.4个百分点</a:t>
              </a:r>
            </a:p>
          </p:txBody>
        </p:sp>
        <p:sp>
          <p:nvSpPr>
            <p:cNvPr id="49" name="TextBox 49"/>
            <p:cNvSpPr txBox="1"/>
            <p:nvPr/>
          </p:nvSpPr>
          <p:spPr>
            <a:xfrm>
              <a:off x="8641842" y="4502468"/>
              <a:ext cx="377190"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滞后</a:t>
              </a:r>
            </a:p>
          </p:txBody>
        </p:sp>
        <p:sp>
          <p:nvSpPr>
            <p:cNvPr id="50" name="TextBox 50"/>
            <p:cNvSpPr txBox="1"/>
            <p:nvPr/>
          </p:nvSpPr>
          <p:spPr>
            <a:xfrm>
              <a:off x="8642604" y="4709160"/>
              <a:ext cx="173263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低于滞后线7.9个百分点</a:t>
              </a:r>
            </a:p>
          </p:txBody>
        </p:sp>
        <p:sp>
          <p:nvSpPr>
            <p:cNvPr id="51" name="TextBox 51"/>
            <p:cNvSpPr txBox="1"/>
            <p:nvPr/>
          </p:nvSpPr>
          <p:spPr>
            <a:xfrm>
              <a:off x="8641842" y="4959668"/>
              <a:ext cx="377190"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滞后</a:t>
              </a:r>
            </a:p>
          </p:txBody>
        </p:sp>
        <p:sp>
          <p:nvSpPr>
            <p:cNvPr id="52" name="TextBox 52"/>
            <p:cNvSpPr txBox="1"/>
            <p:nvPr/>
          </p:nvSpPr>
          <p:spPr>
            <a:xfrm>
              <a:off x="8642604" y="5166360"/>
              <a:ext cx="1821485"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低于滞后线10.6个百分点</a:t>
              </a:r>
            </a:p>
          </p:txBody>
        </p:sp>
      </p:grpSp>
      <p:grpSp>
        <p:nvGrpSpPr>
          <p:cNvPr id="56" name="satisfaction-calibre-note"/>
          <p:cNvGrpSpPr/>
          <p:nvPr/>
        </p:nvGrpSpPr>
        <p:grpSpPr>
          <a:xfrm>
            <a:off x="603504" y="5715000"/>
            <a:ext cx="10978896" cy="295656"/>
            <a:chOff x="603504" y="5715000"/>
            <a:chExt cx="10978896" cy="295656"/>
          </a:xfrm>
        </p:grpSpPr>
        <p:sp>
          <p:nvSpPr>
            <p:cNvPr id="54" name="Line 54"/>
            <p:cNvSpPr/>
            <p:nvPr/>
          </p:nvSpPr>
          <p:spPr>
            <a:xfrm>
              <a:off x="609600" y="57150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5" name="TextBox 55"/>
            <p:cNvSpPr txBox="1"/>
            <p:nvPr/>
          </p:nvSpPr>
          <p:spPr>
            <a:xfrm>
              <a:off x="603504" y="5775960"/>
              <a:ext cx="976030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分项满意度口径：该分项（满意＋基本满意）人数÷有效问卷6214份×100%，与P07总体满意度同一口径；达标线95.0%、滞后线90.0%。</a:t>
              </a:r>
            </a:p>
          </p:txBody>
        </p:sp>
      </p:grpSp>
      <p:grpSp>
        <p:nvGrpSpPr>
          <p:cNvPr id="60" name="page-footer"/>
          <p:cNvGrpSpPr/>
          <p:nvPr/>
        </p:nvGrpSpPr>
        <p:grpSpPr>
          <a:xfrm>
            <a:off x="603504" y="6172200"/>
            <a:ext cx="10984992" cy="295656"/>
            <a:chOff x="603504" y="6172200"/>
            <a:chExt cx="10984992" cy="295656"/>
          </a:xfrm>
        </p:grpSpPr>
        <p:sp>
          <p:nvSpPr>
            <p:cNvPr id="57" name="Line 5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8" name="TextBox 58"/>
            <p:cNvSpPr txBox="1"/>
            <p:nvPr/>
          </p:nvSpPr>
          <p:spPr>
            <a:xfrm>
              <a:off x="603504" y="6233160"/>
              <a:ext cx="372770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数据来源：第三方机构居民满意度入户调查问卷汇总</a:t>
              </a:r>
            </a:p>
          </p:txBody>
        </p:sp>
        <p:sp>
          <p:nvSpPr>
            <p:cNvPr id="59" name="TextBox 59"/>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403785" y="578168"/>
              <a:ext cx="2185473"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三、居民满意度 ｜ 09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60045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居民诉求办理及未办结诉求分布</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966246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未办结诉求184件，其中加装电梯进度慢68件、停车泊位不足50件，两类累计占比64.1%。</a:t>
              </a:r>
            </a:p>
          </p:txBody>
        </p:sp>
      </p:grpSp>
      <p:grpSp>
        <p:nvGrpSpPr>
          <p:cNvPr id="25" name="complaint-kpi-strip"/>
          <p:cNvGrpSpPr/>
          <p:nvPr/>
        </p:nvGrpSpPr>
        <p:grpSpPr>
          <a:xfrm>
            <a:off x="609600" y="1943100"/>
            <a:ext cx="10972800" cy="620839"/>
            <a:chOff x="609600" y="1943100"/>
            <a:chExt cx="10972800" cy="620839"/>
          </a:xfrm>
        </p:grpSpPr>
        <p:sp>
          <p:nvSpPr>
            <p:cNvPr id="11" name="Rectangle 11"/>
            <p:cNvSpPr/>
            <p:nvPr/>
          </p:nvSpPr>
          <p:spPr>
            <a:xfrm>
              <a:off x="609600" y="1943100"/>
              <a:ext cx="10972800" cy="571500"/>
            </a:xfrm>
            <a:prstGeom prst="rect">
              <a:avLst/>
            </a:prstGeom>
            <a:solidFill>
              <a:schemeClr val="lt2"/>
            </a:solidFill>
            <a:ln>
              <a:noFill/>
            </a:ln>
          </p:spPr>
        </p:sp>
        <p:sp>
          <p:nvSpPr>
            <p:cNvPr id="12" name="Rectangle 12"/>
            <p:cNvSpPr/>
            <p:nvPr/>
          </p:nvSpPr>
          <p:spPr>
            <a:xfrm>
              <a:off x="609600" y="1943100"/>
              <a:ext cx="28575" cy="571500"/>
            </a:xfrm>
            <a:prstGeom prst="rect">
              <a:avLst/>
            </a:prstGeom>
            <a:solidFill>
              <a:schemeClr val="accent1"/>
            </a:solidFill>
            <a:ln>
              <a:noFill/>
            </a:ln>
          </p:spPr>
        </p:sp>
        <p:sp>
          <p:nvSpPr>
            <p:cNvPr id="13" name="TextBox 13"/>
            <p:cNvSpPr txBox="1"/>
            <p:nvPr/>
          </p:nvSpPr>
          <p:spPr>
            <a:xfrm>
              <a:off x="870204" y="2042160"/>
              <a:ext cx="98145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受理居民诉求</a:t>
              </a:r>
            </a:p>
          </p:txBody>
        </p:sp>
        <p:sp>
          <p:nvSpPr>
            <p:cNvPr id="14" name="TextBox 14"/>
            <p:cNvSpPr txBox="1"/>
            <p:nvPr/>
          </p:nvSpPr>
          <p:spPr>
            <a:xfrm>
              <a:off x="867918" y="2241232"/>
              <a:ext cx="82196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1286 件</a:t>
              </a:r>
            </a:p>
          </p:txBody>
        </p:sp>
        <p:sp>
          <p:nvSpPr>
            <p:cNvPr id="15" name="Line 15"/>
            <p:cNvSpPr/>
            <p:nvPr/>
          </p:nvSpPr>
          <p:spPr>
            <a:xfrm>
              <a:off x="3143250" y="2057400"/>
              <a:ext cx="9525" cy="342900"/>
            </a:xfrm>
            <a:custGeom>
              <a:avLst/>
              <a:gdLst/>
              <a:ahLst/>
              <a:cxnLst/>
              <a:rect l="l" t="t" r="r" b="b"/>
              <a:pathLst>
                <a:path w="9525" h="342900">
                  <a:moveTo>
                    <a:pt x="0" y="0"/>
                  </a:moveTo>
                  <a:lnTo>
                    <a:pt x="0" y="342900"/>
                  </a:lnTo>
                </a:path>
              </a:pathLst>
            </a:custGeom>
            <a:noFill/>
            <a:ln w="9525">
              <a:solidFill>
                <a:srgbClr val="D3D9DF"/>
              </a:solidFill>
            </a:ln>
          </p:spPr>
        </p:sp>
        <p:sp>
          <p:nvSpPr>
            <p:cNvPr id="16" name="TextBox 16"/>
            <p:cNvSpPr txBox="1"/>
            <p:nvPr/>
          </p:nvSpPr>
          <p:spPr>
            <a:xfrm>
              <a:off x="3403854" y="2042160"/>
              <a:ext cx="49682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已办结</a:t>
              </a:r>
            </a:p>
          </p:txBody>
        </p:sp>
        <p:sp>
          <p:nvSpPr>
            <p:cNvPr id="17" name="TextBox 17"/>
            <p:cNvSpPr txBox="1"/>
            <p:nvPr/>
          </p:nvSpPr>
          <p:spPr>
            <a:xfrm>
              <a:off x="3401568" y="2241232"/>
              <a:ext cx="821960"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1102 件</a:t>
              </a:r>
            </a:p>
          </p:txBody>
        </p:sp>
        <p:sp>
          <p:nvSpPr>
            <p:cNvPr id="18" name="Line 18"/>
            <p:cNvSpPr/>
            <p:nvPr/>
          </p:nvSpPr>
          <p:spPr>
            <a:xfrm>
              <a:off x="5676900" y="2057400"/>
              <a:ext cx="9525" cy="342900"/>
            </a:xfrm>
            <a:custGeom>
              <a:avLst/>
              <a:gdLst/>
              <a:ahLst/>
              <a:cxnLst/>
              <a:rect l="l" t="t" r="r" b="b"/>
              <a:pathLst>
                <a:path w="9525" h="342900">
                  <a:moveTo>
                    <a:pt x="0" y="0"/>
                  </a:moveTo>
                  <a:lnTo>
                    <a:pt x="0" y="342900"/>
                  </a:lnTo>
                </a:path>
              </a:pathLst>
            </a:custGeom>
            <a:noFill/>
            <a:ln w="9525">
              <a:solidFill>
                <a:srgbClr val="D3D9DF"/>
              </a:solidFill>
            </a:ln>
          </p:spPr>
        </p:sp>
        <p:sp>
          <p:nvSpPr>
            <p:cNvPr id="19" name="TextBox 19"/>
            <p:cNvSpPr txBox="1"/>
            <p:nvPr/>
          </p:nvSpPr>
          <p:spPr>
            <a:xfrm>
              <a:off x="5937504" y="2042160"/>
              <a:ext cx="49682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办结率</a:t>
              </a:r>
            </a:p>
          </p:txBody>
        </p:sp>
        <p:sp>
          <p:nvSpPr>
            <p:cNvPr id="20" name="TextBox 20"/>
            <p:cNvSpPr txBox="1"/>
            <p:nvPr/>
          </p:nvSpPr>
          <p:spPr>
            <a:xfrm>
              <a:off x="5935218" y="2241232"/>
              <a:ext cx="704790" cy="322707"/>
            </a:xfrm>
            <a:prstGeom prst="rect">
              <a:avLst/>
            </a:prstGeom>
            <a:noFill/>
            <a:ln>
              <a:noFill/>
            </a:ln>
          </p:spPr>
          <p:txBody>
            <a:bodyPr wrap="none" lIns="0" tIns="0" rIns="0" bIns="0" anchor="t" anchorCtr="0">
              <a:spAutoFit/>
            </a:bodyPr>
            <a:lstStyle/>
            <a:p>
              <a:pPr algn="l"/>
              <a:r>
                <a:rPr lang="zh-CN" sz="1650" b="1" dirty="0">
                  <a:solidFill>
                    <a:srgbClr val="B26A00"/>
                  </a:solidFill>
                  <a:latin typeface="+mn-lt"/>
                  <a:ea typeface="+mn-ea"/>
                  <a:cs typeface="+mn-cs"/>
                </a:rPr>
                <a:t>85.7%</a:t>
              </a:r>
            </a:p>
          </p:txBody>
        </p:sp>
        <p:sp>
          <p:nvSpPr>
            <p:cNvPr id="21" name="Line 21"/>
            <p:cNvSpPr/>
            <p:nvPr/>
          </p:nvSpPr>
          <p:spPr>
            <a:xfrm>
              <a:off x="8210550" y="2057400"/>
              <a:ext cx="9525" cy="342900"/>
            </a:xfrm>
            <a:custGeom>
              <a:avLst/>
              <a:gdLst/>
              <a:ahLst/>
              <a:cxnLst/>
              <a:rect l="l" t="t" r="r" b="b"/>
              <a:pathLst>
                <a:path w="9525" h="342900">
                  <a:moveTo>
                    <a:pt x="0" y="0"/>
                  </a:moveTo>
                  <a:lnTo>
                    <a:pt x="0" y="342900"/>
                  </a:lnTo>
                </a:path>
              </a:pathLst>
            </a:custGeom>
            <a:noFill/>
            <a:ln w="9525">
              <a:solidFill>
                <a:srgbClr val="D3D9DF"/>
              </a:solidFill>
            </a:ln>
          </p:spPr>
        </p:sp>
        <p:sp>
          <p:nvSpPr>
            <p:cNvPr id="22" name="TextBox 22"/>
            <p:cNvSpPr txBox="1"/>
            <p:nvPr/>
          </p:nvSpPr>
          <p:spPr>
            <a:xfrm>
              <a:off x="8471154" y="2042160"/>
              <a:ext cx="49682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未办结</a:t>
              </a:r>
            </a:p>
          </p:txBody>
        </p:sp>
        <p:sp>
          <p:nvSpPr>
            <p:cNvPr id="23" name="TextBox 23"/>
            <p:cNvSpPr txBox="1"/>
            <p:nvPr/>
          </p:nvSpPr>
          <p:spPr>
            <a:xfrm>
              <a:off x="8468868" y="2241232"/>
              <a:ext cx="693684" cy="322707"/>
            </a:xfrm>
            <a:prstGeom prst="rect">
              <a:avLst/>
            </a:prstGeom>
            <a:noFill/>
            <a:ln>
              <a:noFill/>
            </a:ln>
          </p:spPr>
          <p:txBody>
            <a:bodyPr wrap="none" lIns="0" tIns="0" rIns="0" bIns="0" anchor="t" anchorCtr="0">
              <a:spAutoFit/>
            </a:bodyPr>
            <a:lstStyle/>
            <a:p>
              <a:pPr algn="l"/>
              <a:r>
                <a:rPr lang="zh-CN" sz="1650" b="1" dirty="0">
                  <a:solidFill>
                    <a:srgbClr val="C0392B"/>
                  </a:solidFill>
                  <a:latin typeface="+mn-lt"/>
                  <a:ea typeface="+mn-ea"/>
                  <a:cs typeface="+mn-cs"/>
                </a:rPr>
                <a:t>184 件</a:t>
              </a:r>
            </a:p>
          </p:txBody>
        </p:sp>
        <p:sp>
          <p:nvSpPr>
            <p:cNvPr id="24" name="TextBox 24"/>
            <p:cNvSpPr txBox="1"/>
            <p:nvPr/>
          </p:nvSpPr>
          <p:spPr>
            <a:xfrm>
              <a:off x="9328404" y="2289810"/>
              <a:ext cx="2031492"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办结率＝已办结÷受理×100%</a:t>
              </a:r>
            </a:p>
          </p:txBody>
        </p:sp>
      </p:grpSp>
      <p:grpSp>
        <p:nvGrpSpPr>
          <p:cNvPr id="74" name="unresolved-pareto"/>
          <p:cNvGrpSpPr/>
          <p:nvPr/>
        </p:nvGrpSpPr>
        <p:grpSpPr>
          <a:xfrm>
            <a:off x="1225906" y="2632710"/>
            <a:ext cx="9759696" cy="2686241"/>
            <a:chOff x="1225906" y="2632710"/>
            <a:chExt cx="9759696" cy="2686241"/>
          </a:xfrm>
        </p:grpSpPr>
        <p:sp>
          <p:nvSpPr>
            <p:cNvPr id="26" name="Rectangle 26"/>
            <p:cNvSpPr/>
            <p:nvPr/>
          </p:nvSpPr>
          <p:spPr>
            <a:xfrm>
              <a:off x="1524000" y="2686050"/>
              <a:ext cx="133350" cy="133350"/>
            </a:xfrm>
            <a:prstGeom prst="rect">
              <a:avLst/>
            </a:prstGeom>
            <a:solidFill>
              <a:schemeClr val="accent1"/>
            </a:solidFill>
            <a:ln>
              <a:noFill/>
            </a:ln>
          </p:spPr>
        </p:sp>
        <p:sp>
          <p:nvSpPr>
            <p:cNvPr id="27" name="TextBox 27"/>
            <p:cNvSpPr txBox="1"/>
            <p:nvPr/>
          </p:nvSpPr>
          <p:spPr>
            <a:xfrm>
              <a:off x="1727454" y="267081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未办结诉求（件）</a:t>
              </a:r>
            </a:p>
          </p:txBody>
        </p:sp>
        <p:sp>
          <p:nvSpPr>
            <p:cNvPr id="28" name="Line 28"/>
            <p:cNvSpPr/>
            <p:nvPr/>
          </p:nvSpPr>
          <p:spPr>
            <a:xfrm>
              <a:off x="3333750" y="2752725"/>
              <a:ext cx="304800" cy="9525"/>
            </a:xfrm>
            <a:custGeom>
              <a:avLst/>
              <a:gdLst/>
              <a:ahLst/>
              <a:cxnLst/>
              <a:rect l="l" t="t" r="r" b="b"/>
              <a:pathLst>
                <a:path w="304800" h="9525">
                  <a:moveTo>
                    <a:pt x="0" y="0"/>
                  </a:moveTo>
                  <a:lnTo>
                    <a:pt x="304800" y="0"/>
                  </a:lnTo>
                </a:path>
              </a:pathLst>
            </a:custGeom>
            <a:noFill/>
            <a:ln w="23812">
              <a:solidFill>
                <a:schemeClr val="accent5"/>
              </a:solidFill>
            </a:ln>
          </p:spPr>
        </p:sp>
        <p:sp>
          <p:nvSpPr>
            <p:cNvPr id="29" name="Ellipse 29"/>
            <p:cNvSpPr/>
            <p:nvPr/>
          </p:nvSpPr>
          <p:spPr>
            <a:xfrm>
              <a:off x="3438525" y="2705100"/>
              <a:ext cx="95250" cy="95250"/>
            </a:xfrm>
            <a:prstGeom prst="ellipse">
              <a:avLst/>
            </a:prstGeom>
            <a:solidFill>
              <a:schemeClr val="accent5"/>
            </a:solidFill>
            <a:ln>
              <a:noFill/>
            </a:ln>
          </p:spPr>
        </p:sp>
        <p:sp>
          <p:nvSpPr>
            <p:cNvPr id="30" name="TextBox 30"/>
            <p:cNvSpPr txBox="1"/>
            <p:nvPr/>
          </p:nvSpPr>
          <p:spPr>
            <a:xfrm>
              <a:off x="3727704" y="2670810"/>
              <a:ext cx="110261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累计占比（%）</a:t>
              </a:r>
            </a:p>
          </p:txBody>
        </p:sp>
        <p:sp>
          <p:nvSpPr>
            <p:cNvPr id="31" name="Line 31"/>
            <p:cNvSpPr/>
            <p:nvPr/>
          </p:nvSpPr>
          <p:spPr>
            <a:xfrm>
              <a:off x="1524000" y="4429125"/>
              <a:ext cx="8953500" cy="9525"/>
            </a:xfrm>
            <a:custGeom>
              <a:avLst/>
              <a:gdLst/>
              <a:ahLst/>
              <a:cxnLst/>
              <a:rect l="l" t="t" r="r" b="b"/>
              <a:pathLst>
                <a:path w="8953500" h="9525">
                  <a:moveTo>
                    <a:pt x="0" y="0"/>
                  </a:moveTo>
                  <a:lnTo>
                    <a:pt x="8953500" y="0"/>
                  </a:lnTo>
                </a:path>
              </a:pathLst>
            </a:custGeom>
            <a:noFill/>
            <a:ln w="9525">
              <a:solidFill>
                <a:srgbClr val="E6EAEF"/>
              </a:solidFill>
            </a:ln>
          </p:spPr>
        </p:sp>
        <p:sp>
          <p:nvSpPr>
            <p:cNvPr id="32" name="Line 32"/>
            <p:cNvSpPr/>
            <p:nvPr/>
          </p:nvSpPr>
          <p:spPr>
            <a:xfrm>
              <a:off x="1524000" y="3905250"/>
              <a:ext cx="8953500" cy="9525"/>
            </a:xfrm>
            <a:custGeom>
              <a:avLst/>
              <a:gdLst/>
              <a:ahLst/>
              <a:cxnLst/>
              <a:rect l="l" t="t" r="r" b="b"/>
              <a:pathLst>
                <a:path w="8953500" h="9525">
                  <a:moveTo>
                    <a:pt x="0" y="0"/>
                  </a:moveTo>
                  <a:lnTo>
                    <a:pt x="8953500" y="0"/>
                  </a:lnTo>
                </a:path>
              </a:pathLst>
            </a:custGeom>
            <a:noFill/>
            <a:ln w="9525">
              <a:solidFill>
                <a:srgbClr val="E6EAEF"/>
              </a:solidFill>
            </a:ln>
          </p:spPr>
        </p:sp>
        <p:sp>
          <p:nvSpPr>
            <p:cNvPr id="33" name="Line 33"/>
            <p:cNvSpPr/>
            <p:nvPr/>
          </p:nvSpPr>
          <p:spPr>
            <a:xfrm>
              <a:off x="1524000" y="3381375"/>
              <a:ext cx="8953500" cy="9525"/>
            </a:xfrm>
            <a:custGeom>
              <a:avLst/>
              <a:gdLst/>
              <a:ahLst/>
              <a:cxnLst/>
              <a:rect l="l" t="t" r="r" b="b"/>
              <a:pathLst>
                <a:path w="8953500" h="9525">
                  <a:moveTo>
                    <a:pt x="0" y="0"/>
                  </a:moveTo>
                  <a:lnTo>
                    <a:pt x="8953500" y="0"/>
                  </a:lnTo>
                </a:path>
              </a:pathLst>
            </a:custGeom>
            <a:noFill/>
            <a:ln w="9525">
              <a:solidFill>
                <a:srgbClr val="E6EAEF"/>
              </a:solidFill>
            </a:ln>
          </p:spPr>
        </p:sp>
        <p:sp>
          <p:nvSpPr>
            <p:cNvPr id="34" name="Line 34"/>
            <p:cNvSpPr/>
            <p:nvPr/>
          </p:nvSpPr>
          <p:spPr>
            <a:xfrm>
              <a:off x="1524000" y="2857500"/>
              <a:ext cx="8953500" cy="9525"/>
            </a:xfrm>
            <a:custGeom>
              <a:avLst/>
              <a:gdLst/>
              <a:ahLst/>
              <a:cxnLst/>
              <a:rect l="l" t="t" r="r" b="b"/>
              <a:pathLst>
                <a:path w="8953500" h="9525">
                  <a:moveTo>
                    <a:pt x="0" y="0"/>
                  </a:moveTo>
                  <a:lnTo>
                    <a:pt x="8953500" y="0"/>
                  </a:lnTo>
                </a:path>
              </a:pathLst>
            </a:custGeom>
            <a:noFill/>
            <a:ln w="9525">
              <a:solidFill>
                <a:srgbClr val="E6EAEF"/>
              </a:solidFill>
            </a:ln>
          </p:spPr>
        </p:sp>
        <p:sp>
          <p:nvSpPr>
            <p:cNvPr id="35" name="Rectangle 35"/>
            <p:cNvSpPr/>
            <p:nvPr/>
          </p:nvSpPr>
          <p:spPr>
            <a:xfrm>
              <a:off x="2185988" y="3171825"/>
              <a:ext cx="914400" cy="1781175"/>
            </a:xfrm>
            <a:prstGeom prst="rect">
              <a:avLst/>
            </a:prstGeom>
            <a:solidFill>
              <a:schemeClr val="accent1"/>
            </a:solidFill>
            <a:ln>
              <a:noFill/>
            </a:ln>
          </p:spPr>
        </p:sp>
        <p:sp>
          <p:nvSpPr>
            <p:cNvPr id="36" name="Rectangle 36"/>
            <p:cNvSpPr/>
            <p:nvPr/>
          </p:nvSpPr>
          <p:spPr>
            <a:xfrm>
              <a:off x="4424362" y="3643312"/>
              <a:ext cx="914400" cy="1309688"/>
            </a:xfrm>
            <a:prstGeom prst="rect">
              <a:avLst/>
            </a:prstGeom>
            <a:solidFill>
              <a:schemeClr val="accent1"/>
            </a:solidFill>
            <a:ln>
              <a:noFill/>
            </a:ln>
          </p:spPr>
        </p:sp>
        <p:sp>
          <p:nvSpPr>
            <p:cNvPr id="37" name="Rectangle 37"/>
            <p:cNvSpPr/>
            <p:nvPr/>
          </p:nvSpPr>
          <p:spPr>
            <a:xfrm>
              <a:off x="6662738" y="4062412"/>
              <a:ext cx="914400" cy="890588"/>
            </a:xfrm>
            <a:prstGeom prst="rect">
              <a:avLst/>
            </a:prstGeom>
            <a:solidFill>
              <a:schemeClr val="accent1"/>
            </a:solidFill>
            <a:ln>
              <a:noFill/>
            </a:ln>
          </p:spPr>
        </p:sp>
        <p:sp>
          <p:nvSpPr>
            <p:cNvPr id="38" name="Rectangle 38"/>
            <p:cNvSpPr/>
            <p:nvPr/>
          </p:nvSpPr>
          <p:spPr>
            <a:xfrm>
              <a:off x="8901112" y="4114800"/>
              <a:ext cx="914400" cy="838200"/>
            </a:xfrm>
            <a:prstGeom prst="rect">
              <a:avLst/>
            </a:prstGeom>
            <a:solidFill>
              <a:schemeClr val="accent1"/>
            </a:solidFill>
            <a:ln>
              <a:noFill/>
            </a:ln>
          </p:spPr>
        </p:sp>
        <p:sp>
          <p:nvSpPr>
            <p:cNvPr id="39" name="Polyline 39"/>
            <p:cNvSpPr/>
            <p:nvPr/>
          </p:nvSpPr>
          <p:spPr>
            <a:xfrm>
              <a:off x="2643188" y="2857500"/>
              <a:ext cx="6715125" cy="1320165"/>
            </a:xfrm>
            <a:custGeom>
              <a:avLst/>
              <a:gdLst/>
              <a:ahLst/>
              <a:cxnLst/>
              <a:rect l="l" t="t" r="r" b="b"/>
              <a:pathLst>
                <a:path w="6715125" h="1320165">
                  <a:moveTo>
                    <a:pt x="0" y="1320165"/>
                  </a:moveTo>
                  <a:lnTo>
                    <a:pt x="2238375" y="752475"/>
                  </a:lnTo>
                  <a:lnTo>
                    <a:pt x="4476750" y="364808"/>
                  </a:lnTo>
                  <a:lnTo>
                    <a:pt x="6715125" y="0"/>
                  </a:lnTo>
                </a:path>
              </a:pathLst>
            </a:custGeom>
            <a:noFill/>
            <a:ln w="23812">
              <a:solidFill>
                <a:schemeClr val="accent5"/>
              </a:solidFill>
            </a:ln>
          </p:spPr>
        </p:sp>
        <p:sp>
          <p:nvSpPr>
            <p:cNvPr id="40" name="Ellipse 40"/>
            <p:cNvSpPr/>
            <p:nvPr/>
          </p:nvSpPr>
          <p:spPr>
            <a:xfrm>
              <a:off x="2595562" y="4130040"/>
              <a:ext cx="95250" cy="95250"/>
            </a:xfrm>
            <a:prstGeom prst="ellipse">
              <a:avLst/>
            </a:prstGeom>
            <a:solidFill>
              <a:schemeClr val="accent5"/>
            </a:solidFill>
            <a:ln>
              <a:noFill/>
            </a:ln>
          </p:spPr>
        </p:sp>
        <p:sp>
          <p:nvSpPr>
            <p:cNvPr id="41" name="Ellipse 41"/>
            <p:cNvSpPr/>
            <p:nvPr/>
          </p:nvSpPr>
          <p:spPr>
            <a:xfrm>
              <a:off x="4833938" y="3562350"/>
              <a:ext cx="95250" cy="95250"/>
            </a:xfrm>
            <a:prstGeom prst="ellipse">
              <a:avLst/>
            </a:prstGeom>
            <a:solidFill>
              <a:schemeClr val="accent5"/>
            </a:solidFill>
            <a:ln>
              <a:noFill/>
            </a:ln>
          </p:spPr>
        </p:sp>
        <p:sp>
          <p:nvSpPr>
            <p:cNvPr id="42" name="Ellipse 42"/>
            <p:cNvSpPr/>
            <p:nvPr/>
          </p:nvSpPr>
          <p:spPr>
            <a:xfrm>
              <a:off x="7072312" y="3174682"/>
              <a:ext cx="95250" cy="95250"/>
            </a:xfrm>
            <a:prstGeom prst="ellipse">
              <a:avLst/>
            </a:prstGeom>
            <a:solidFill>
              <a:schemeClr val="accent5"/>
            </a:solidFill>
            <a:ln>
              <a:noFill/>
            </a:ln>
          </p:spPr>
        </p:sp>
        <p:sp>
          <p:nvSpPr>
            <p:cNvPr id="43" name="Ellipse 43"/>
            <p:cNvSpPr/>
            <p:nvPr/>
          </p:nvSpPr>
          <p:spPr>
            <a:xfrm>
              <a:off x="9310688" y="2809875"/>
              <a:ext cx="95250" cy="95250"/>
            </a:xfrm>
            <a:prstGeom prst="ellipse">
              <a:avLst/>
            </a:prstGeom>
            <a:solidFill>
              <a:schemeClr val="accent5"/>
            </a:solidFill>
            <a:ln>
              <a:noFill/>
            </a:ln>
          </p:spPr>
        </p:sp>
        <p:sp>
          <p:nvSpPr>
            <p:cNvPr id="44" name="Line 44"/>
            <p:cNvSpPr/>
            <p:nvPr/>
          </p:nvSpPr>
          <p:spPr>
            <a:xfrm>
              <a:off x="1524000" y="2857500"/>
              <a:ext cx="9525" cy="2095500"/>
            </a:xfrm>
            <a:custGeom>
              <a:avLst/>
              <a:gdLst/>
              <a:ahLst/>
              <a:cxnLst/>
              <a:rect l="l" t="t" r="r" b="b"/>
              <a:pathLst>
                <a:path w="9525" h="2095500">
                  <a:moveTo>
                    <a:pt x="0" y="0"/>
                  </a:moveTo>
                  <a:lnTo>
                    <a:pt x="0" y="2095500"/>
                  </a:lnTo>
                </a:path>
              </a:pathLst>
            </a:custGeom>
            <a:noFill/>
            <a:ln w="14288">
              <a:solidFill>
                <a:srgbClr val="5B6672"/>
              </a:solidFill>
            </a:ln>
          </p:spPr>
        </p:sp>
        <p:sp>
          <p:nvSpPr>
            <p:cNvPr id="45" name="Line 45"/>
            <p:cNvSpPr/>
            <p:nvPr/>
          </p:nvSpPr>
          <p:spPr>
            <a:xfrm>
              <a:off x="1524000" y="4953000"/>
              <a:ext cx="8953500" cy="9525"/>
            </a:xfrm>
            <a:custGeom>
              <a:avLst/>
              <a:gdLst/>
              <a:ahLst/>
              <a:cxnLst/>
              <a:rect l="l" t="t" r="r" b="b"/>
              <a:pathLst>
                <a:path w="8953500" h="9525">
                  <a:moveTo>
                    <a:pt x="0" y="0"/>
                  </a:moveTo>
                  <a:lnTo>
                    <a:pt x="8953500" y="0"/>
                  </a:lnTo>
                </a:path>
              </a:pathLst>
            </a:custGeom>
            <a:noFill/>
            <a:ln w="14288">
              <a:solidFill>
                <a:srgbClr val="5B6672"/>
              </a:solidFill>
            </a:ln>
          </p:spPr>
        </p:sp>
        <p:sp>
          <p:nvSpPr>
            <p:cNvPr id="46" name="Line 46"/>
            <p:cNvSpPr/>
            <p:nvPr/>
          </p:nvSpPr>
          <p:spPr>
            <a:xfrm>
              <a:off x="10477500" y="2857500"/>
              <a:ext cx="9525" cy="2095500"/>
            </a:xfrm>
            <a:custGeom>
              <a:avLst/>
              <a:gdLst/>
              <a:ahLst/>
              <a:cxnLst/>
              <a:rect l="l" t="t" r="r" b="b"/>
              <a:pathLst>
                <a:path w="9525" h="2095500">
                  <a:moveTo>
                    <a:pt x="0" y="0"/>
                  </a:moveTo>
                  <a:lnTo>
                    <a:pt x="0" y="2095500"/>
                  </a:lnTo>
                </a:path>
              </a:pathLst>
            </a:custGeom>
            <a:noFill/>
            <a:ln w="14288">
              <a:solidFill>
                <a:srgbClr val="5B6672"/>
              </a:solidFill>
            </a:ln>
          </p:spPr>
        </p:sp>
        <p:grpSp>
          <p:nvGrpSpPr>
            <p:cNvPr id="52" name="Group 52"/>
            <p:cNvGrpSpPr/>
            <p:nvPr/>
          </p:nvGrpSpPr>
          <p:grpSpPr>
            <a:xfrm>
              <a:off x="1225906" y="2785110"/>
              <a:ext cx="189890" cy="2330196"/>
              <a:chOff x="1225906" y="2785110"/>
              <a:chExt cx="189890" cy="2330196"/>
            </a:xfrm>
          </p:grpSpPr>
          <p:sp>
            <p:nvSpPr>
              <p:cNvPr id="47" name="TextBox 47"/>
              <p:cNvSpPr txBox="1"/>
              <p:nvPr/>
            </p:nvSpPr>
            <p:spPr>
              <a:xfrm>
                <a:off x="1314755" y="4880610"/>
                <a:ext cx="101041"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a:t>
                </a:r>
              </a:p>
            </p:txBody>
          </p:sp>
          <p:sp>
            <p:nvSpPr>
              <p:cNvPr id="48" name="TextBox 48"/>
              <p:cNvSpPr txBox="1"/>
              <p:nvPr/>
            </p:nvSpPr>
            <p:spPr>
              <a:xfrm>
                <a:off x="1225906" y="435673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20</a:t>
                </a:r>
              </a:p>
            </p:txBody>
          </p:sp>
          <p:sp>
            <p:nvSpPr>
              <p:cNvPr id="49" name="TextBox 49"/>
              <p:cNvSpPr txBox="1"/>
              <p:nvPr/>
            </p:nvSpPr>
            <p:spPr>
              <a:xfrm>
                <a:off x="1225906" y="383286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40</a:t>
                </a:r>
              </a:p>
            </p:txBody>
          </p:sp>
          <p:sp>
            <p:nvSpPr>
              <p:cNvPr id="50" name="TextBox 50"/>
              <p:cNvSpPr txBox="1"/>
              <p:nvPr/>
            </p:nvSpPr>
            <p:spPr>
              <a:xfrm>
                <a:off x="1225906" y="3308985"/>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60</a:t>
                </a:r>
              </a:p>
            </p:txBody>
          </p:sp>
          <p:sp>
            <p:nvSpPr>
              <p:cNvPr id="51" name="TextBox 51"/>
              <p:cNvSpPr txBox="1"/>
              <p:nvPr/>
            </p:nvSpPr>
            <p:spPr>
              <a:xfrm>
                <a:off x="1225906" y="2785110"/>
                <a:ext cx="189890"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80</a:t>
                </a:r>
              </a:p>
            </p:txBody>
          </p:sp>
        </p:grpSp>
        <p:grpSp>
          <p:nvGrpSpPr>
            <p:cNvPr id="58" name="Group 58"/>
            <p:cNvGrpSpPr/>
            <p:nvPr/>
          </p:nvGrpSpPr>
          <p:grpSpPr>
            <a:xfrm>
              <a:off x="10585704" y="2785110"/>
              <a:ext cx="399898" cy="2330196"/>
              <a:chOff x="10585704" y="2785110"/>
              <a:chExt cx="399898" cy="2330196"/>
            </a:xfrm>
          </p:grpSpPr>
          <p:sp>
            <p:nvSpPr>
              <p:cNvPr id="53" name="TextBox 53"/>
              <p:cNvSpPr txBox="1"/>
              <p:nvPr/>
            </p:nvSpPr>
            <p:spPr>
              <a:xfrm>
                <a:off x="10585704" y="4880610"/>
                <a:ext cx="222199"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0%</a:t>
                </a:r>
              </a:p>
            </p:txBody>
          </p:sp>
          <p:sp>
            <p:nvSpPr>
              <p:cNvPr id="54" name="TextBox 54"/>
              <p:cNvSpPr txBox="1"/>
              <p:nvPr/>
            </p:nvSpPr>
            <p:spPr>
              <a:xfrm>
                <a:off x="10585704" y="4356735"/>
                <a:ext cx="31104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25%</a:t>
                </a:r>
              </a:p>
            </p:txBody>
          </p:sp>
          <p:sp>
            <p:nvSpPr>
              <p:cNvPr id="55" name="TextBox 55"/>
              <p:cNvSpPr txBox="1"/>
              <p:nvPr/>
            </p:nvSpPr>
            <p:spPr>
              <a:xfrm>
                <a:off x="10585704" y="3832860"/>
                <a:ext cx="31104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50%</a:t>
                </a:r>
              </a:p>
            </p:txBody>
          </p:sp>
          <p:sp>
            <p:nvSpPr>
              <p:cNvPr id="56" name="TextBox 56"/>
              <p:cNvSpPr txBox="1"/>
              <p:nvPr/>
            </p:nvSpPr>
            <p:spPr>
              <a:xfrm>
                <a:off x="10585704" y="3308985"/>
                <a:ext cx="31104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75%</a:t>
                </a:r>
              </a:p>
            </p:txBody>
          </p:sp>
          <p:sp>
            <p:nvSpPr>
              <p:cNvPr id="57" name="TextBox 57"/>
              <p:cNvSpPr txBox="1"/>
              <p:nvPr/>
            </p:nvSpPr>
            <p:spPr>
              <a:xfrm>
                <a:off x="10585704" y="2785110"/>
                <a:ext cx="39989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100%</a:t>
                </a:r>
              </a:p>
            </p:txBody>
          </p:sp>
        </p:grpSp>
        <p:grpSp>
          <p:nvGrpSpPr>
            <p:cNvPr id="63" name="Group 63"/>
            <p:cNvGrpSpPr/>
            <p:nvPr/>
          </p:nvGrpSpPr>
          <p:grpSpPr>
            <a:xfrm>
              <a:off x="2440508" y="2930842"/>
              <a:ext cx="7120484" cy="1207009"/>
              <a:chOff x="2440508" y="2930842"/>
              <a:chExt cx="7120484" cy="1207009"/>
            </a:xfrm>
          </p:grpSpPr>
          <p:sp>
            <p:nvSpPr>
              <p:cNvPr id="59" name="TextBox 59"/>
              <p:cNvSpPr txBox="1"/>
              <p:nvPr/>
            </p:nvSpPr>
            <p:spPr>
              <a:xfrm>
                <a:off x="2440508" y="2930842"/>
                <a:ext cx="405359"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68件</a:t>
                </a:r>
              </a:p>
            </p:txBody>
          </p:sp>
          <p:sp>
            <p:nvSpPr>
              <p:cNvPr id="60" name="TextBox 60"/>
              <p:cNvSpPr txBox="1"/>
              <p:nvPr/>
            </p:nvSpPr>
            <p:spPr>
              <a:xfrm>
                <a:off x="4678883" y="3402330"/>
                <a:ext cx="405359"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50件</a:t>
                </a:r>
              </a:p>
            </p:txBody>
          </p:sp>
          <p:sp>
            <p:nvSpPr>
              <p:cNvPr id="61" name="TextBox 61"/>
              <p:cNvSpPr txBox="1"/>
              <p:nvPr/>
            </p:nvSpPr>
            <p:spPr>
              <a:xfrm>
                <a:off x="6917258" y="3821430"/>
                <a:ext cx="405359"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34件</a:t>
                </a:r>
              </a:p>
            </p:txBody>
          </p:sp>
          <p:sp>
            <p:nvSpPr>
              <p:cNvPr id="62" name="TextBox 62"/>
              <p:cNvSpPr txBox="1"/>
              <p:nvPr/>
            </p:nvSpPr>
            <p:spPr>
              <a:xfrm>
                <a:off x="9155633" y="3873818"/>
                <a:ext cx="405359"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32件</a:t>
                </a:r>
              </a:p>
            </p:txBody>
          </p:sp>
        </p:grpSp>
        <p:grpSp>
          <p:nvGrpSpPr>
            <p:cNvPr id="68" name="Group 68"/>
            <p:cNvGrpSpPr/>
            <p:nvPr/>
          </p:nvGrpSpPr>
          <p:grpSpPr>
            <a:xfrm>
              <a:off x="1569971" y="2632710"/>
              <a:ext cx="8091274" cy="1692021"/>
              <a:chOff x="1569971" y="2632710"/>
              <a:chExt cx="8091274" cy="1692021"/>
            </a:xfrm>
          </p:grpSpPr>
          <p:sp>
            <p:nvSpPr>
              <p:cNvPr id="64" name="TextBox 64"/>
              <p:cNvSpPr txBox="1"/>
              <p:nvPr/>
            </p:nvSpPr>
            <p:spPr>
              <a:xfrm>
                <a:off x="1569971" y="4090035"/>
                <a:ext cx="512575" cy="234696"/>
              </a:xfrm>
              <a:prstGeom prst="rect">
                <a:avLst/>
              </a:prstGeom>
              <a:noFill/>
              <a:ln>
                <a:noFill/>
              </a:ln>
            </p:spPr>
            <p:txBody>
              <a:bodyPr wrap="none" lIns="0" tIns="0" rIns="0" bIns="0" anchor="t" anchorCtr="0">
                <a:spAutoFit/>
              </a:bodyPr>
              <a:lstStyle/>
              <a:p>
                <a:pPr algn="r"/>
                <a:r>
                  <a:rPr lang="zh-CN" sz="1200" b="1" dirty="0">
                    <a:solidFill>
                      <a:schemeClr val="accent5"/>
                    </a:solidFill>
                    <a:latin typeface="+mn-lt"/>
                    <a:ea typeface="+mn-ea"/>
                    <a:cs typeface="+mn-cs"/>
                  </a:rPr>
                  <a:t>37.0%</a:t>
                </a:r>
              </a:p>
            </p:txBody>
          </p:sp>
          <p:sp>
            <p:nvSpPr>
              <p:cNvPr id="65" name="TextBox 65"/>
              <p:cNvSpPr txBox="1"/>
              <p:nvPr/>
            </p:nvSpPr>
            <p:spPr>
              <a:xfrm>
                <a:off x="4625275" y="3385185"/>
                <a:ext cx="512575" cy="234696"/>
              </a:xfrm>
              <a:prstGeom prst="rect">
                <a:avLst/>
              </a:prstGeom>
              <a:noFill/>
              <a:ln>
                <a:noFill/>
              </a:ln>
            </p:spPr>
            <p:txBody>
              <a:bodyPr wrap="none" lIns="0" tIns="0" rIns="0" bIns="0" anchor="t" anchorCtr="0">
                <a:spAutoFit/>
              </a:bodyPr>
              <a:lstStyle/>
              <a:p>
                <a:pPr algn="ctr"/>
                <a:r>
                  <a:rPr lang="zh-CN" sz="1200" b="1" dirty="0">
                    <a:solidFill>
                      <a:schemeClr val="accent5"/>
                    </a:solidFill>
                    <a:latin typeface="+mn-lt"/>
                    <a:ea typeface="+mn-ea"/>
                    <a:cs typeface="+mn-cs"/>
                  </a:rPr>
                  <a:t>64.1%</a:t>
                </a:r>
              </a:p>
            </p:txBody>
          </p:sp>
          <p:sp>
            <p:nvSpPr>
              <p:cNvPr id="66" name="TextBox 66"/>
              <p:cNvSpPr txBox="1"/>
              <p:nvPr/>
            </p:nvSpPr>
            <p:spPr>
              <a:xfrm>
                <a:off x="6863650" y="2994660"/>
                <a:ext cx="512575" cy="234696"/>
              </a:xfrm>
              <a:prstGeom prst="rect">
                <a:avLst/>
              </a:prstGeom>
              <a:noFill/>
              <a:ln>
                <a:noFill/>
              </a:ln>
            </p:spPr>
            <p:txBody>
              <a:bodyPr wrap="none" lIns="0" tIns="0" rIns="0" bIns="0" anchor="t" anchorCtr="0">
                <a:spAutoFit/>
              </a:bodyPr>
              <a:lstStyle/>
              <a:p>
                <a:pPr algn="ctr"/>
                <a:r>
                  <a:rPr lang="zh-CN" sz="1200" b="1" dirty="0">
                    <a:solidFill>
                      <a:schemeClr val="accent5"/>
                    </a:solidFill>
                    <a:latin typeface="+mn-lt"/>
                    <a:ea typeface="+mn-ea"/>
                    <a:cs typeface="+mn-cs"/>
                  </a:rPr>
                  <a:t>82.6%</a:t>
                </a:r>
              </a:p>
            </p:txBody>
          </p:sp>
          <p:sp>
            <p:nvSpPr>
              <p:cNvPr id="67" name="TextBox 67"/>
              <p:cNvSpPr txBox="1"/>
              <p:nvPr/>
            </p:nvSpPr>
            <p:spPr>
              <a:xfrm>
                <a:off x="9055379" y="2632710"/>
                <a:ext cx="605866" cy="234696"/>
              </a:xfrm>
              <a:prstGeom prst="rect">
                <a:avLst/>
              </a:prstGeom>
              <a:noFill/>
              <a:ln>
                <a:noFill/>
              </a:ln>
            </p:spPr>
            <p:txBody>
              <a:bodyPr wrap="none" lIns="0" tIns="0" rIns="0" bIns="0" anchor="t" anchorCtr="0">
                <a:spAutoFit/>
              </a:bodyPr>
              <a:lstStyle/>
              <a:p>
                <a:pPr algn="ctr"/>
                <a:r>
                  <a:rPr lang="zh-CN" sz="1200" b="1" dirty="0">
                    <a:solidFill>
                      <a:schemeClr val="accent5"/>
                    </a:solidFill>
                    <a:latin typeface="+mn-lt"/>
                    <a:ea typeface="+mn-ea"/>
                    <a:cs typeface="+mn-cs"/>
                  </a:rPr>
                  <a:t>100.0%</a:t>
                </a:r>
              </a:p>
            </p:txBody>
          </p:sp>
        </p:grpSp>
        <p:grpSp>
          <p:nvGrpSpPr>
            <p:cNvPr id="73" name="Group 73"/>
            <p:cNvGrpSpPr/>
            <p:nvPr/>
          </p:nvGrpSpPr>
          <p:grpSpPr>
            <a:xfrm>
              <a:off x="2000250" y="5054918"/>
              <a:ext cx="7910132" cy="264033"/>
              <a:chOff x="2000250" y="5054918"/>
              <a:chExt cx="7910132" cy="264033"/>
            </a:xfrm>
          </p:grpSpPr>
          <p:sp>
            <p:nvSpPr>
              <p:cNvPr id="69" name="TextBox 69"/>
              <p:cNvSpPr txBox="1"/>
              <p:nvPr/>
            </p:nvSpPr>
            <p:spPr>
              <a:xfrm>
                <a:off x="2000250" y="5054918"/>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加装电梯进度慢</a:t>
                </a:r>
              </a:p>
            </p:txBody>
          </p:sp>
          <p:sp>
            <p:nvSpPr>
              <p:cNvPr id="70" name="TextBox 70"/>
              <p:cNvSpPr txBox="1"/>
              <p:nvPr/>
            </p:nvSpPr>
            <p:spPr>
              <a:xfrm>
                <a:off x="4329494" y="5054918"/>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停车泊位不足</a:t>
                </a:r>
              </a:p>
            </p:txBody>
          </p:sp>
          <p:sp>
            <p:nvSpPr>
              <p:cNvPr id="71" name="TextBox 71"/>
              <p:cNvSpPr txBox="1"/>
              <p:nvPr/>
            </p:nvSpPr>
            <p:spPr>
              <a:xfrm>
                <a:off x="6295263" y="5054918"/>
                <a:ext cx="1649349"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设施移交与物业衔接</a:t>
                </a:r>
              </a:p>
            </p:txBody>
          </p:sp>
          <p:sp>
            <p:nvSpPr>
              <p:cNvPr id="72" name="TextBox 72"/>
              <p:cNvSpPr txBox="1"/>
              <p:nvPr/>
            </p:nvSpPr>
            <p:spPr>
              <a:xfrm>
                <a:off x="8806244" y="5054918"/>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施工噪声扬尘</a:t>
                </a:r>
              </a:p>
            </p:txBody>
          </p:sp>
        </p:grpSp>
      </p:grpSp>
      <p:grpSp>
        <p:nvGrpSpPr>
          <p:cNvPr id="77" name="pareto-conclusion"/>
          <p:cNvGrpSpPr/>
          <p:nvPr/>
        </p:nvGrpSpPr>
        <p:grpSpPr>
          <a:xfrm>
            <a:off x="609600" y="5448300"/>
            <a:ext cx="8017383" cy="575501"/>
            <a:chOff x="609600" y="5448300"/>
            <a:chExt cx="8017383" cy="575501"/>
          </a:xfrm>
        </p:grpSpPr>
        <p:sp>
          <p:nvSpPr>
            <p:cNvPr id="75" name="Rectangle 75"/>
            <p:cNvSpPr/>
            <p:nvPr/>
          </p:nvSpPr>
          <p:spPr>
            <a:xfrm>
              <a:off x="609600" y="5448300"/>
              <a:ext cx="28575" cy="533400"/>
            </a:xfrm>
            <a:prstGeom prst="rect">
              <a:avLst/>
            </a:prstGeom>
            <a:solidFill>
              <a:schemeClr val="accent2"/>
            </a:solidFill>
            <a:ln>
              <a:noFill/>
            </a:ln>
          </p:spPr>
        </p:sp>
        <p:sp>
          <p:nvSpPr>
            <p:cNvPr id="76" name="TextBox 76"/>
            <p:cNvSpPr txBox="1"/>
            <p:nvPr/>
          </p:nvSpPr>
          <p:spPr>
            <a:xfrm>
              <a:off x="812292" y="5531168"/>
              <a:ext cx="781469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加装电梯进度慢与停车泊位不足两类合计118件、占未办结诉求64.1%，与P08中加装电梯84.6%、</a:t>
              </a:r>
              <a:br/>
              <a:r>
                <a:rPr lang="zh-CN" sz="1350" dirty="0">
                  <a:solidFill>
                    <a:schemeClr val="dk1"/>
                  </a:solidFill>
                  <a:latin typeface="+mn-lt"/>
                  <a:ea typeface="+mn-ea"/>
                  <a:cs typeface="+mn-cs"/>
                </a:rPr>
                <a:t>停车泊位及充电设施82.1%的低满意度互为印证，并对应P04中完成率80.0%、89.4%的两项滞后任务。</a:t>
              </a:r>
            </a:p>
          </p:txBody>
        </p:sp>
      </p:grpSp>
      <p:grpSp>
        <p:nvGrpSpPr>
          <p:cNvPr id="81" name="page-footer"/>
          <p:cNvGrpSpPr/>
          <p:nvPr/>
        </p:nvGrpSpPr>
        <p:grpSpPr>
          <a:xfrm>
            <a:off x="603504" y="6172200"/>
            <a:ext cx="10984992" cy="295656"/>
            <a:chOff x="603504" y="6172200"/>
            <a:chExt cx="10984992" cy="295656"/>
          </a:xfrm>
        </p:grpSpPr>
        <p:sp>
          <p:nvSpPr>
            <p:cNvPr id="78" name="Line 78"/>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9" name="TextBox 79"/>
            <p:cNvSpPr txBox="1"/>
            <p:nvPr/>
          </p:nvSpPr>
          <p:spPr>
            <a:xfrm>
              <a:off x="603504" y="6233160"/>
              <a:ext cx="433349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数据来源：12345热线工单、居民议事会记录及诉求办理台账</a:t>
              </a:r>
            </a:p>
          </p:txBody>
        </p:sp>
        <p:sp>
          <p:nvSpPr>
            <p:cNvPr id="80" name="TextBox 80"/>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585522" y="578168"/>
              <a:ext cx="200373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四、存在问题 ｜ 10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72847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存在问题（一）：资金筹措与支出进度</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100469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两个资金类问题均由P05、P06数据直接导出：到位率90.0%与执行率86.0%的落差即为症结。</a:t>
              </a:r>
            </a:p>
          </p:txBody>
        </p:sp>
      </p:grpSp>
      <p:grpSp>
        <p:nvGrpSpPr>
          <p:cNvPr id="26" name="problem-funding-1"/>
          <p:cNvGrpSpPr/>
          <p:nvPr/>
        </p:nvGrpSpPr>
        <p:grpSpPr>
          <a:xfrm>
            <a:off x="609600" y="2000250"/>
            <a:ext cx="10972800" cy="1928051"/>
            <a:chOff x="609600" y="2000250"/>
            <a:chExt cx="10972800" cy="1928051"/>
          </a:xfrm>
        </p:grpSpPr>
        <p:sp>
          <p:nvSpPr>
            <p:cNvPr id="11" name="Rectangle 11"/>
            <p:cNvSpPr/>
            <p:nvPr/>
          </p:nvSpPr>
          <p:spPr>
            <a:xfrm>
              <a:off x="609600" y="2000250"/>
              <a:ext cx="10972800" cy="1905000"/>
            </a:xfrm>
            <a:prstGeom prst="rect">
              <a:avLst/>
            </a:prstGeom>
            <a:solidFill>
              <a:schemeClr val="lt1"/>
            </a:solidFill>
            <a:ln w="9525">
              <a:solidFill>
                <a:srgbClr val="D3D9DF"/>
              </a:solidFill>
            </a:ln>
          </p:spPr>
        </p:sp>
        <p:sp>
          <p:nvSpPr>
            <p:cNvPr id="12" name="Rectangle 12"/>
            <p:cNvSpPr/>
            <p:nvPr/>
          </p:nvSpPr>
          <p:spPr>
            <a:xfrm>
              <a:off x="609600" y="2000250"/>
              <a:ext cx="38100" cy="1905000"/>
            </a:xfrm>
            <a:prstGeom prst="rect">
              <a:avLst/>
            </a:prstGeom>
            <a:solidFill>
              <a:srgbClr val="C0392B"/>
            </a:solidFill>
            <a:ln>
              <a:noFill/>
            </a:ln>
          </p:spPr>
        </p:sp>
        <p:sp>
          <p:nvSpPr>
            <p:cNvPr id="13" name="Rectangle 13"/>
            <p:cNvSpPr/>
            <p:nvPr/>
          </p:nvSpPr>
          <p:spPr>
            <a:xfrm>
              <a:off x="876300" y="2171700"/>
              <a:ext cx="838200" cy="323850"/>
            </a:xfrm>
            <a:prstGeom prst="rect">
              <a:avLst/>
            </a:prstGeom>
            <a:solidFill>
              <a:schemeClr val="accent1"/>
            </a:solidFill>
            <a:ln>
              <a:noFill/>
            </a:ln>
          </p:spPr>
        </p:sp>
        <p:sp>
          <p:nvSpPr>
            <p:cNvPr id="14" name="TextBox 14"/>
            <p:cNvSpPr txBox="1"/>
            <p:nvPr/>
          </p:nvSpPr>
          <p:spPr>
            <a:xfrm>
              <a:off x="1015936" y="224504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问题一</a:t>
              </a:r>
            </a:p>
          </p:txBody>
        </p:sp>
        <p:sp>
          <p:nvSpPr>
            <p:cNvPr id="15" name="TextBox 15"/>
            <p:cNvSpPr txBox="1"/>
            <p:nvPr/>
          </p:nvSpPr>
          <p:spPr>
            <a:xfrm>
              <a:off x="1856232" y="2221230"/>
              <a:ext cx="661112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资金筹措渠道未闭合，4280万元缺口集中于三类渠道</a:t>
              </a:r>
            </a:p>
          </p:txBody>
        </p:sp>
        <p:sp>
          <p:nvSpPr>
            <p:cNvPr id="16" name="Rectangle 16"/>
            <p:cNvSpPr/>
            <p:nvPr/>
          </p:nvSpPr>
          <p:spPr>
            <a:xfrm>
              <a:off x="876300" y="2628900"/>
              <a:ext cx="10477500" cy="419100"/>
            </a:xfrm>
            <a:prstGeom prst="rect">
              <a:avLst/>
            </a:prstGeom>
            <a:solidFill>
              <a:schemeClr val="lt2"/>
            </a:solidFill>
            <a:ln>
              <a:noFill/>
            </a:ln>
          </p:spPr>
        </p:sp>
        <p:sp>
          <p:nvSpPr>
            <p:cNvPr id="17" name="TextBox 17"/>
            <p:cNvSpPr txBox="1"/>
            <p:nvPr/>
          </p:nvSpPr>
          <p:spPr>
            <a:xfrm>
              <a:off x="1022604" y="2756535"/>
              <a:ext cx="658368" cy="234696"/>
            </a:xfrm>
            <a:prstGeom prst="rect">
              <a:avLst/>
            </a:prstGeom>
            <a:noFill/>
            <a:ln>
              <a:noFill/>
            </a:ln>
          </p:spPr>
          <p:txBody>
            <a:bodyPr wrap="none" lIns="0" tIns="0" rIns="0" bIns="0" anchor="t" anchorCtr="0">
              <a:spAutoFit/>
            </a:bodyPr>
            <a:lstStyle/>
            <a:p>
              <a:pPr algn="l"/>
              <a:r>
                <a:rPr lang="zh-CN" sz="1200" b="1" dirty="0">
                  <a:solidFill>
                    <a:schemeClr val="accent5"/>
                  </a:solidFill>
                  <a:latin typeface="+mn-lt"/>
                  <a:ea typeface="+mn-ea"/>
                  <a:cs typeface="+mn-cs"/>
                </a:rPr>
                <a:t>数据溯源</a:t>
              </a:r>
            </a:p>
          </p:txBody>
        </p:sp>
        <p:sp>
          <p:nvSpPr>
            <p:cNvPr id="18" name="Line 18"/>
            <p:cNvSpPr/>
            <p:nvPr/>
          </p:nvSpPr>
          <p:spPr>
            <a:xfrm>
              <a:off x="1790700" y="2705100"/>
              <a:ext cx="9525" cy="266700"/>
            </a:xfrm>
            <a:custGeom>
              <a:avLst/>
              <a:gdLst/>
              <a:ahLst/>
              <a:cxnLst/>
              <a:rect l="l" t="t" r="r" b="b"/>
              <a:pathLst>
                <a:path w="9525" h="266700">
                  <a:moveTo>
                    <a:pt x="0" y="0"/>
                  </a:moveTo>
                  <a:lnTo>
                    <a:pt x="0" y="266700"/>
                  </a:lnTo>
                </a:path>
              </a:pathLst>
            </a:custGeom>
            <a:noFill/>
            <a:ln w="9525">
              <a:solidFill>
                <a:srgbClr val="D3D9DF"/>
              </a:solidFill>
            </a:ln>
          </p:spPr>
        </p:sp>
        <p:sp>
          <p:nvSpPr>
            <p:cNvPr id="19" name="TextBox 19"/>
            <p:cNvSpPr txBox="1"/>
            <p:nvPr/>
          </p:nvSpPr>
          <p:spPr>
            <a:xfrm>
              <a:off x="1937004" y="2756535"/>
              <a:ext cx="29027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P06｜区级配套81.8%（缺口2140万元）</a:t>
              </a:r>
            </a:p>
          </p:txBody>
        </p:sp>
        <p:sp>
          <p:nvSpPr>
            <p:cNvPr id="20" name="TextBox 20"/>
            <p:cNvSpPr txBox="1"/>
            <p:nvPr/>
          </p:nvSpPr>
          <p:spPr>
            <a:xfrm>
              <a:off x="5099304" y="2756535"/>
              <a:ext cx="29027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P06｜社会资本73.0%（缺口1140万元）</a:t>
              </a:r>
            </a:p>
          </p:txBody>
        </p:sp>
        <p:sp>
          <p:nvSpPr>
            <p:cNvPr id="21" name="TextBox 21"/>
            <p:cNvSpPr txBox="1"/>
            <p:nvPr/>
          </p:nvSpPr>
          <p:spPr>
            <a:xfrm>
              <a:off x="8261604" y="2756535"/>
              <a:ext cx="29027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P06｜居民出资65.8%（缺口1000万元）</a:t>
              </a:r>
            </a:p>
          </p:txBody>
        </p:sp>
        <p:sp>
          <p:nvSpPr>
            <p:cNvPr id="22" name="TextBox 22"/>
            <p:cNvSpPr txBox="1"/>
            <p:nvPr/>
          </p:nvSpPr>
          <p:spPr>
            <a:xfrm>
              <a:off x="869442" y="320706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主要表现</a:t>
              </a:r>
            </a:p>
          </p:txBody>
        </p:sp>
        <p:sp>
          <p:nvSpPr>
            <p:cNvPr id="23" name="TextBox 23"/>
            <p:cNvSpPr txBox="1"/>
            <p:nvPr/>
          </p:nvSpPr>
          <p:spPr>
            <a:xfrm>
              <a:off x="869442" y="3454718"/>
              <a:ext cx="4805744"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dk1"/>
                  </a:solidFill>
                  <a:latin typeface="+mn-lt"/>
                  <a:ea typeface="+mn-ea"/>
                  <a:cs typeface="+mn-cs"/>
                </a:rPr>
                <a:t>区级配套、社会资本、居民出资三类渠道到位率均低于90.0%，</a:t>
              </a:r>
              <a:br/>
              <a:r>
                <a:rPr lang="zh-CN" sz="1350" dirty="0">
                  <a:solidFill>
                    <a:schemeClr val="dk1"/>
                  </a:solidFill>
                  <a:latin typeface="+mn-lt"/>
                  <a:ea typeface="+mn-ea"/>
                  <a:cs typeface="+mn-cs"/>
                </a:rPr>
                <a:t>三级财政资金已100.0%到位，缺口全部来自上述三类渠道。</a:t>
              </a:r>
            </a:p>
          </p:txBody>
        </p:sp>
        <p:sp>
          <p:nvSpPr>
            <p:cNvPr id="24" name="TextBox 24"/>
            <p:cNvSpPr txBox="1"/>
            <p:nvPr/>
          </p:nvSpPr>
          <p:spPr>
            <a:xfrm>
              <a:off x="6660642" y="3207068"/>
              <a:ext cx="377190"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影响</a:t>
              </a:r>
            </a:p>
          </p:txBody>
        </p:sp>
        <p:sp>
          <p:nvSpPr>
            <p:cNvPr id="25" name="TextBox 25"/>
            <p:cNvSpPr txBox="1"/>
            <p:nvPr/>
          </p:nvSpPr>
          <p:spPr>
            <a:xfrm>
              <a:off x="6660642" y="3454718"/>
              <a:ext cx="3039808"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5个在建小区尾款、24部电梯补贴暂无法</a:t>
              </a:r>
              <a:br/>
              <a:r>
                <a:rPr lang="zh-CN" sz="1350" dirty="0">
                  <a:solidFill>
                    <a:schemeClr val="accent6"/>
                  </a:solidFill>
                  <a:latin typeface="+mn-lt"/>
                  <a:ea typeface="+mn-ea"/>
                  <a:cs typeface="+mn-cs"/>
                </a:rPr>
                <a:t>拨付，直接影响完工率与居民满意度。</a:t>
              </a:r>
            </a:p>
          </p:txBody>
        </p:sp>
      </p:grpSp>
      <p:grpSp>
        <p:nvGrpSpPr>
          <p:cNvPr id="41" name="problem-funding-2"/>
          <p:cNvGrpSpPr/>
          <p:nvPr/>
        </p:nvGrpSpPr>
        <p:grpSpPr>
          <a:xfrm>
            <a:off x="609600" y="4114800"/>
            <a:ext cx="10972800" cy="1928051"/>
            <a:chOff x="609600" y="4114800"/>
            <a:chExt cx="10972800" cy="1928051"/>
          </a:xfrm>
        </p:grpSpPr>
        <p:sp>
          <p:nvSpPr>
            <p:cNvPr id="27" name="Rectangle 27"/>
            <p:cNvSpPr/>
            <p:nvPr/>
          </p:nvSpPr>
          <p:spPr>
            <a:xfrm>
              <a:off x="609600" y="4114800"/>
              <a:ext cx="10972800" cy="1905000"/>
            </a:xfrm>
            <a:prstGeom prst="rect">
              <a:avLst/>
            </a:prstGeom>
            <a:solidFill>
              <a:schemeClr val="lt1"/>
            </a:solidFill>
            <a:ln w="9525">
              <a:solidFill>
                <a:srgbClr val="D3D9DF"/>
              </a:solidFill>
            </a:ln>
          </p:spPr>
        </p:sp>
        <p:sp>
          <p:nvSpPr>
            <p:cNvPr id="28" name="Rectangle 28"/>
            <p:cNvSpPr/>
            <p:nvPr/>
          </p:nvSpPr>
          <p:spPr>
            <a:xfrm>
              <a:off x="609600" y="4114800"/>
              <a:ext cx="38100" cy="1905000"/>
            </a:xfrm>
            <a:prstGeom prst="rect">
              <a:avLst/>
            </a:prstGeom>
            <a:solidFill>
              <a:srgbClr val="C0392B"/>
            </a:solidFill>
            <a:ln>
              <a:noFill/>
            </a:ln>
          </p:spPr>
        </p:sp>
        <p:sp>
          <p:nvSpPr>
            <p:cNvPr id="29" name="Rectangle 29"/>
            <p:cNvSpPr/>
            <p:nvPr/>
          </p:nvSpPr>
          <p:spPr>
            <a:xfrm>
              <a:off x="876300" y="4286250"/>
              <a:ext cx="838200" cy="323850"/>
            </a:xfrm>
            <a:prstGeom prst="rect">
              <a:avLst/>
            </a:prstGeom>
            <a:solidFill>
              <a:schemeClr val="accent1"/>
            </a:solidFill>
            <a:ln>
              <a:noFill/>
            </a:ln>
          </p:spPr>
        </p:sp>
        <p:sp>
          <p:nvSpPr>
            <p:cNvPr id="30" name="TextBox 30"/>
            <p:cNvSpPr txBox="1"/>
            <p:nvPr/>
          </p:nvSpPr>
          <p:spPr>
            <a:xfrm>
              <a:off x="1015936" y="435959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问题二</a:t>
              </a:r>
            </a:p>
          </p:txBody>
        </p:sp>
        <p:sp>
          <p:nvSpPr>
            <p:cNvPr id="31" name="TextBox 31"/>
            <p:cNvSpPr txBox="1"/>
            <p:nvPr/>
          </p:nvSpPr>
          <p:spPr>
            <a:xfrm>
              <a:off x="1856232" y="4335780"/>
              <a:ext cx="745922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支出进度滞后于资金到位，5393万元结余未形成实物工作量</a:t>
              </a:r>
            </a:p>
          </p:txBody>
        </p:sp>
        <p:sp>
          <p:nvSpPr>
            <p:cNvPr id="32" name="Rectangle 32"/>
            <p:cNvSpPr/>
            <p:nvPr/>
          </p:nvSpPr>
          <p:spPr>
            <a:xfrm>
              <a:off x="876300" y="4743450"/>
              <a:ext cx="10477500" cy="419100"/>
            </a:xfrm>
            <a:prstGeom prst="rect">
              <a:avLst/>
            </a:prstGeom>
            <a:solidFill>
              <a:schemeClr val="lt2"/>
            </a:solidFill>
            <a:ln>
              <a:noFill/>
            </a:ln>
          </p:spPr>
        </p:sp>
        <p:sp>
          <p:nvSpPr>
            <p:cNvPr id="33" name="TextBox 33"/>
            <p:cNvSpPr txBox="1"/>
            <p:nvPr/>
          </p:nvSpPr>
          <p:spPr>
            <a:xfrm>
              <a:off x="1022604" y="4871085"/>
              <a:ext cx="658368" cy="234696"/>
            </a:xfrm>
            <a:prstGeom prst="rect">
              <a:avLst/>
            </a:prstGeom>
            <a:noFill/>
            <a:ln>
              <a:noFill/>
            </a:ln>
          </p:spPr>
          <p:txBody>
            <a:bodyPr wrap="none" lIns="0" tIns="0" rIns="0" bIns="0" anchor="t" anchorCtr="0">
              <a:spAutoFit/>
            </a:bodyPr>
            <a:lstStyle/>
            <a:p>
              <a:pPr algn="l"/>
              <a:r>
                <a:rPr lang="zh-CN" sz="1200" b="1" dirty="0">
                  <a:solidFill>
                    <a:schemeClr val="accent5"/>
                  </a:solidFill>
                  <a:latin typeface="+mn-lt"/>
                  <a:ea typeface="+mn-ea"/>
                  <a:cs typeface="+mn-cs"/>
                </a:rPr>
                <a:t>数据溯源</a:t>
              </a:r>
            </a:p>
          </p:txBody>
        </p:sp>
        <p:sp>
          <p:nvSpPr>
            <p:cNvPr id="34" name="Line 34"/>
            <p:cNvSpPr/>
            <p:nvPr/>
          </p:nvSpPr>
          <p:spPr>
            <a:xfrm>
              <a:off x="1790700" y="4819650"/>
              <a:ext cx="9525" cy="266700"/>
            </a:xfrm>
            <a:custGeom>
              <a:avLst/>
              <a:gdLst/>
              <a:ahLst/>
              <a:cxnLst/>
              <a:rect l="l" t="t" r="r" b="b"/>
              <a:pathLst>
                <a:path w="9525" h="266700">
                  <a:moveTo>
                    <a:pt x="0" y="0"/>
                  </a:moveTo>
                  <a:lnTo>
                    <a:pt x="0" y="266700"/>
                  </a:lnTo>
                </a:path>
              </a:pathLst>
            </a:custGeom>
            <a:noFill/>
            <a:ln w="9525">
              <a:solidFill>
                <a:srgbClr val="D3D9DF"/>
              </a:solidFill>
            </a:ln>
          </p:spPr>
        </p:sp>
        <p:sp>
          <p:nvSpPr>
            <p:cNvPr id="35" name="TextBox 35"/>
            <p:cNvSpPr txBox="1"/>
            <p:nvPr/>
          </p:nvSpPr>
          <p:spPr>
            <a:xfrm>
              <a:off x="1937004" y="4871085"/>
              <a:ext cx="334700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P05｜支出执行率86.0%（低于到位率90.0%）</a:t>
              </a:r>
            </a:p>
          </p:txBody>
        </p:sp>
        <p:sp>
          <p:nvSpPr>
            <p:cNvPr id="36" name="TextBox 36"/>
            <p:cNvSpPr txBox="1"/>
            <p:nvPr/>
          </p:nvSpPr>
          <p:spPr>
            <a:xfrm>
              <a:off x="5899404" y="4871085"/>
              <a:ext cx="3548939"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P06｜提升类支出执行率75.9%（结余1579万元）</a:t>
              </a:r>
            </a:p>
          </p:txBody>
        </p:sp>
        <p:sp>
          <p:nvSpPr>
            <p:cNvPr id="37" name="TextBox 37"/>
            <p:cNvSpPr txBox="1"/>
            <p:nvPr/>
          </p:nvSpPr>
          <p:spPr>
            <a:xfrm>
              <a:off x="869442" y="53216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主要表现</a:t>
              </a:r>
            </a:p>
          </p:txBody>
        </p:sp>
        <p:sp>
          <p:nvSpPr>
            <p:cNvPr id="38" name="TextBox 38"/>
            <p:cNvSpPr txBox="1"/>
            <p:nvPr/>
          </p:nvSpPr>
          <p:spPr>
            <a:xfrm>
              <a:off x="869442" y="5569268"/>
              <a:ext cx="4591431"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dk1"/>
                  </a:solidFill>
                  <a:latin typeface="+mn-lt"/>
                  <a:ea typeface="+mn-ea"/>
                  <a:cs typeface="+mn-cs"/>
                </a:rPr>
                <a:t>已到位38520万元中仅支出33127万元，账面积余5393万元，</a:t>
              </a:r>
              <a:br/>
              <a:r>
                <a:rPr lang="zh-CN" sz="1350" dirty="0">
                  <a:solidFill>
                    <a:schemeClr val="dk1"/>
                  </a:solidFill>
                  <a:latin typeface="+mn-lt"/>
                  <a:ea typeface="+mn-ea"/>
                  <a:cs typeface="+mn-cs"/>
                </a:rPr>
                <a:t>其中3236万元因竣工结算审计未完成暂不能拨付。</a:t>
              </a:r>
            </a:p>
          </p:txBody>
        </p:sp>
        <p:sp>
          <p:nvSpPr>
            <p:cNvPr id="39" name="TextBox 39"/>
            <p:cNvSpPr txBox="1"/>
            <p:nvPr/>
          </p:nvSpPr>
          <p:spPr>
            <a:xfrm>
              <a:off x="6660642" y="5321618"/>
              <a:ext cx="377190" cy="264033"/>
            </a:xfrm>
            <a:prstGeom prst="rect">
              <a:avLst/>
            </a:prstGeom>
            <a:noFill/>
            <a:ln>
              <a:noFill/>
            </a:ln>
          </p:spPr>
          <p:txBody>
            <a:bodyPr wrap="none" lIns="0" tIns="0" rIns="0" bIns="0" anchor="t" anchorCtr="0">
              <a:spAutoFit/>
            </a:bodyPr>
            <a:lstStyle/>
            <a:p>
              <a:pPr algn="l"/>
              <a:r>
                <a:rPr lang="zh-CN" sz="1350" b="1" dirty="0">
                  <a:solidFill>
                    <a:srgbClr val="C0392B"/>
                  </a:solidFill>
                  <a:latin typeface="+mn-lt"/>
                  <a:ea typeface="+mn-ea"/>
                  <a:cs typeface="+mn-cs"/>
                </a:rPr>
                <a:t>影响</a:t>
              </a:r>
            </a:p>
          </p:txBody>
        </p:sp>
        <p:sp>
          <p:nvSpPr>
            <p:cNvPr id="40" name="TextBox 40"/>
            <p:cNvSpPr txBox="1"/>
            <p:nvPr/>
          </p:nvSpPr>
          <p:spPr>
            <a:xfrm>
              <a:off x="6660642" y="5569268"/>
              <a:ext cx="3605594"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提升类支出执行率仅75.9%，直接拖累社区服务</a:t>
              </a:r>
              <a:br/>
              <a:r>
                <a:rPr lang="zh-CN" sz="1350" dirty="0">
                  <a:solidFill>
                    <a:schemeClr val="accent6"/>
                  </a:solidFill>
                  <a:latin typeface="+mn-lt"/>
                  <a:ea typeface="+mn-ea"/>
                  <a:cs typeface="+mn-cs"/>
                </a:rPr>
                <a:t>及养老托幼设施79.2%的完成率（见P04）。</a:t>
              </a:r>
            </a:p>
          </p:txBody>
        </p:sp>
      </p:grpSp>
      <p:grpSp>
        <p:nvGrpSpPr>
          <p:cNvPr id="45" name="page-footer"/>
          <p:cNvGrpSpPr/>
          <p:nvPr/>
        </p:nvGrpSpPr>
        <p:grpSpPr>
          <a:xfrm>
            <a:off x="603504" y="6172200"/>
            <a:ext cx="10984992" cy="295656"/>
            <a:chOff x="603504" y="6172200"/>
            <a:chExt cx="10984992" cy="295656"/>
          </a:xfrm>
        </p:grpSpPr>
        <p:sp>
          <p:nvSpPr>
            <p:cNvPr id="42" name="Line 42"/>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43" name="TextBox 43"/>
            <p:cNvSpPr txBox="1"/>
            <p:nvPr/>
          </p:nvSpPr>
          <p:spPr>
            <a:xfrm>
              <a:off x="603504" y="6233160"/>
              <a:ext cx="477560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问题来源：P05资金到位与支出执行、P06资金来源与支出构成明细</a:t>
              </a:r>
            </a:p>
          </p:txBody>
        </p:sp>
        <p:sp>
          <p:nvSpPr>
            <p:cNvPr id="44" name="TextBox 44"/>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585522" y="578168"/>
              <a:ext cx="2003736"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四、存在问题 ｜ 11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72847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存在问题（二）：任务推进与居民诉求</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97667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三个实施类问题分别对应P04分项完成率、P08分项满意度与P09未办结诉求，逐项可回溯。</a:t>
              </a:r>
            </a:p>
          </p:txBody>
        </p:sp>
      </p:grpSp>
      <p:grpSp>
        <p:nvGrpSpPr>
          <p:cNvPr id="26" name="problem-impl-3"/>
          <p:cNvGrpSpPr/>
          <p:nvPr/>
        </p:nvGrpSpPr>
        <p:grpSpPr>
          <a:xfrm>
            <a:off x="609600" y="2000250"/>
            <a:ext cx="10972800" cy="1261301"/>
            <a:chOff x="609600" y="2000250"/>
            <a:chExt cx="10972800" cy="1261301"/>
          </a:xfrm>
        </p:grpSpPr>
        <p:sp>
          <p:nvSpPr>
            <p:cNvPr id="11" name="Rectangle 11"/>
            <p:cNvSpPr/>
            <p:nvPr/>
          </p:nvSpPr>
          <p:spPr>
            <a:xfrm>
              <a:off x="609600" y="2000250"/>
              <a:ext cx="10972800" cy="1257300"/>
            </a:xfrm>
            <a:prstGeom prst="rect">
              <a:avLst/>
            </a:prstGeom>
            <a:solidFill>
              <a:schemeClr val="lt1"/>
            </a:solidFill>
            <a:ln w="9525">
              <a:solidFill>
                <a:srgbClr val="D3D9DF"/>
              </a:solidFill>
            </a:ln>
          </p:spPr>
        </p:sp>
        <p:sp>
          <p:nvSpPr>
            <p:cNvPr id="12" name="Rectangle 12"/>
            <p:cNvSpPr/>
            <p:nvPr/>
          </p:nvSpPr>
          <p:spPr>
            <a:xfrm>
              <a:off x="609600" y="2000250"/>
              <a:ext cx="38100" cy="1257300"/>
            </a:xfrm>
            <a:prstGeom prst="rect">
              <a:avLst/>
            </a:prstGeom>
            <a:solidFill>
              <a:srgbClr val="B26A00"/>
            </a:solidFill>
            <a:ln>
              <a:noFill/>
            </a:ln>
          </p:spPr>
        </p:sp>
        <p:sp>
          <p:nvSpPr>
            <p:cNvPr id="13" name="Rectangle 13"/>
            <p:cNvSpPr/>
            <p:nvPr/>
          </p:nvSpPr>
          <p:spPr>
            <a:xfrm>
              <a:off x="876300" y="2133600"/>
              <a:ext cx="838200" cy="304800"/>
            </a:xfrm>
            <a:prstGeom prst="rect">
              <a:avLst/>
            </a:prstGeom>
            <a:solidFill>
              <a:schemeClr val="accent1"/>
            </a:solidFill>
            <a:ln>
              <a:noFill/>
            </a:ln>
          </p:spPr>
        </p:sp>
        <p:sp>
          <p:nvSpPr>
            <p:cNvPr id="14" name="TextBox 14"/>
            <p:cNvSpPr txBox="1"/>
            <p:nvPr/>
          </p:nvSpPr>
          <p:spPr>
            <a:xfrm>
              <a:off x="1015936" y="220694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问题三</a:t>
              </a:r>
            </a:p>
          </p:txBody>
        </p:sp>
        <p:sp>
          <p:nvSpPr>
            <p:cNvPr id="15" name="TextBox 15"/>
            <p:cNvSpPr txBox="1"/>
            <p:nvPr/>
          </p:nvSpPr>
          <p:spPr>
            <a:xfrm>
              <a:off x="1856994" y="2161222"/>
              <a:ext cx="3694938"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提升类与完善类任务推进不均衡</a:t>
              </a:r>
            </a:p>
          </p:txBody>
        </p:sp>
        <p:sp>
          <p:nvSpPr>
            <p:cNvPr id="16" name="Rectangle 16"/>
            <p:cNvSpPr/>
            <p:nvPr/>
          </p:nvSpPr>
          <p:spPr>
            <a:xfrm>
              <a:off x="876300" y="2495550"/>
              <a:ext cx="10477500" cy="285750"/>
            </a:xfrm>
            <a:prstGeom prst="rect">
              <a:avLst/>
            </a:prstGeom>
            <a:solidFill>
              <a:schemeClr val="lt2"/>
            </a:solidFill>
            <a:ln>
              <a:noFill/>
            </a:ln>
          </p:spPr>
        </p:sp>
        <p:sp>
          <p:nvSpPr>
            <p:cNvPr id="17" name="TextBox 17"/>
            <p:cNvSpPr txBox="1"/>
            <p:nvPr/>
          </p:nvSpPr>
          <p:spPr>
            <a:xfrm>
              <a:off x="1022604" y="2556510"/>
              <a:ext cx="658368" cy="234696"/>
            </a:xfrm>
            <a:prstGeom prst="rect">
              <a:avLst/>
            </a:prstGeom>
            <a:noFill/>
            <a:ln>
              <a:noFill/>
            </a:ln>
          </p:spPr>
          <p:txBody>
            <a:bodyPr wrap="none" lIns="0" tIns="0" rIns="0" bIns="0" anchor="t" anchorCtr="0">
              <a:spAutoFit/>
            </a:bodyPr>
            <a:lstStyle/>
            <a:p>
              <a:pPr algn="l"/>
              <a:r>
                <a:rPr lang="zh-CN" sz="1200" b="1" dirty="0">
                  <a:solidFill>
                    <a:schemeClr val="accent5"/>
                  </a:solidFill>
                  <a:latin typeface="+mn-lt"/>
                  <a:ea typeface="+mn-ea"/>
                  <a:cs typeface="+mn-cs"/>
                </a:rPr>
                <a:t>数据溯源</a:t>
              </a:r>
            </a:p>
          </p:txBody>
        </p:sp>
        <p:sp>
          <p:nvSpPr>
            <p:cNvPr id="18" name="Line 18"/>
            <p:cNvSpPr/>
            <p:nvPr/>
          </p:nvSpPr>
          <p:spPr>
            <a:xfrm>
              <a:off x="1790700" y="2552700"/>
              <a:ext cx="9525" cy="171450"/>
            </a:xfrm>
            <a:custGeom>
              <a:avLst/>
              <a:gdLst/>
              <a:ahLst/>
              <a:cxnLst/>
              <a:rect l="l" t="t" r="r" b="b"/>
              <a:pathLst>
                <a:path w="9525" h="171450">
                  <a:moveTo>
                    <a:pt x="0" y="0"/>
                  </a:moveTo>
                  <a:lnTo>
                    <a:pt x="0" y="171450"/>
                  </a:lnTo>
                </a:path>
              </a:pathLst>
            </a:custGeom>
            <a:noFill/>
            <a:ln w="9525">
              <a:solidFill>
                <a:srgbClr val="D3D9DF"/>
              </a:solidFill>
            </a:ln>
          </p:spPr>
        </p:sp>
        <p:sp>
          <p:nvSpPr>
            <p:cNvPr id="19" name="TextBox 19"/>
            <p:cNvSpPr txBox="1"/>
            <p:nvPr/>
          </p:nvSpPr>
          <p:spPr>
            <a:xfrm>
              <a:off x="1937004" y="2556510"/>
              <a:ext cx="286237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P04｜加装电梯80.0%、停车泊位89.4%</a:t>
              </a:r>
            </a:p>
          </p:txBody>
        </p:sp>
        <p:sp>
          <p:nvSpPr>
            <p:cNvPr id="20" name="TextBox 20"/>
            <p:cNvSpPr txBox="1"/>
            <p:nvPr/>
          </p:nvSpPr>
          <p:spPr>
            <a:xfrm>
              <a:off x="5023104" y="2556510"/>
              <a:ext cx="286237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P04｜服务设施79.2%、智慧安防89.7%</a:t>
              </a:r>
            </a:p>
          </p:txBody>
        </p:sp>
        <p:sp>
          <p:nvSpPr>
            <p:cNvPr id="21" name="TextBox 21"/>
            <p:cNvSpPr txBox="1"/>
            <p:nvPr/>
          </p:nvSpPr>
          <p:spPr>
            <a:xfrm>
              <a:off x="8109204" y="2556510"/>
              <a:ext cx="2216201"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P08｜电梯84.6%、停车82.1%</a:t>
              </a:r>
            </a:p>
          </p:txBody>
        </p:sp>
        <p:sp>
          <p:nvSpPr>
            <p:cNvPr id="22" name="TextBox 22"/>
            <p:cNvSpPr txBox="1"/>
            <p:nvPr/>
          </p:nvSpPr>
          <p:spPr>
            <a:xfrm>
              <a:off x="870204" y="280416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主要表现</a:t>
              </a:r>
            </a:p>
          </p:txBody>
        </p:sp>
        <p:sp>
          <p:nvSpPr>
            <p:cNvPr id="23" name="TextBox 23"/>
            <p:cNvSpPr txBox="1"/>
            <p:nvPr/>
          </p:nvSpPr>
          <p:spPr>
            <a:xfrm>
              <a:off x="869442" y="2997518"/>
              <a:ext cx="510235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四项滞后任务全部集中在完善类与提升类，基础设施类已完成。</a:t>
              </a:r>
            </a:p>
          </p:txBody>
        </p:sp>
        <p:sp>
          <p:nvSpPr>
            <p:cNvPr id="24" name="TextBox 24"/>
            <p:cNvSpPr txBox="1"/>
            <p:nvPr/>
          </p:nvSpPr>
          <p:spPr>
            <a:xfrm>
              <a:off x="6661404" y="2804160"/>
              <a:ext cx="33528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mn-lt"/>
                  <a:ea typeface="+mn-ea"/>
                  <a:cs typeface="+mn-cs"/>
                </a:rPr>
                <a:t>影响</a:t>
              </a:r>
            </a:p>
          </p:txBody>
        </p:sp>
        <p:sp>
          <p:nvSpPr>
            <p:cNvPr id="25" name="TextBox 25"/>
            <p:cNvSpPr txBox="1"/>
            <p:nvPr/>
          </p:nvSpPr>
          <p:spPr>
            <a:xfrm>
              <a:off x="6660642" y="2997518"/>
              <a:ext cx="3466719"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居民最关心的出行与养老需求未同步兑现。</a:t>
              </a:r>
            </a:p>
          </p:txBody>
        </p:sp>
      </p:grpSp>
      <p:grpSp>
        <p:nvGrpSpPr>
          <p:cNvPr id="41" name="problem-impl-4"/>
          <p:cNvGrpSpPr/>
          <p:nvPr/>
        </p:nvGrpSpPr>
        <p:grpSpPr>
          <a:xfrm>
            <a:off x="609600" y="3381375"/>
            <a:ext cx="10972800" cy="1261300"/>
            <a:chOff x="609600" y="3381375"/>
            <a:chExt cx="10972800" cy="1261300"/>
          </a:xfrm>
        </p:grpSpPr>
        <p:sp>
          <p:nvSpPr>
            <p:cNvPr id="27" name="Rectangle 27"/>
            <p:cNvSpPr/>
            <p:nvPr/>
          </p:nvSpPr>
          <p:spPr>
            <a:xfrm>
              <a:off x="609600" y="3381375"/>
              <a:ext cx="10972800" cy="1257300"/>
            </a:xfrm>
            <a:prstGeom prst="rect">
              <a:avLst/>
            </a:prstGeom>
            <a:solidFill>
              <a:schemeClr val="lt1"/>
            </a:solidFill>
            <a:ln w="9525">
              <a:solidFill>
                <a:srgbClr val="D3D9DF"/>
              </a:solidFill>
            </a:ln>
          </p:spPr>
        </p:sp>
        <p:sp>
          <p:nvSpPr>
            <p:cNvPr id="28" name="Rectangle 28"/>
            <p:cNvSpPr/>
            <p:nvPr/>
          </p:nvSpPr>
          <p:spPr>
            <a:xfrm>
              <a:off x="609600" y="3381375"/>
              <a:ext cx="38100" cy="1257300"/>
            </a:xfrm>
            <a:prstGeom prst="rect">
              <a:avLst/>
            </a:prstGeom>
            <a:solidFill>
              <a:srgbClr val="B26A00"/>
            </a:solidFill>
            <a:ln>
              <a:noFill/>
            </a:ln>
          </p:spPr>
        </p:sp>
        <p:sp>
          <p:nvSpPr>
            <p:cNvPr id="29" name="Rectangle 29"/>
            <p:cNvSpPr/>
            <p:nvPr/>
          </p:nvSpPr>
          <p:spPr>
            <a:xfrm>
              <a:off x="876300" y="3514725"/>
              <a:ext cx="838200" cy="304800"/>
            </a:xfrm>
            <a:prstGeom prst="rect">
              <a:avLst/>
            </a:prstGeom>
            <a:solidFill>
              <a:schemeClr val="accent1"/>
            </a:solidFill>
            <a:ln>
              <a:noFill/>
            </a:ln>
          </p:spPr>
        </p:sp>
        <p:sp>
          <p:nvSpPr>
            <p:cNvPr id="30" name="TextBox 30"/>
            <p:cNvSpPr txBox="1"/>
            <p:nvPr/>
          </p:nvSpPr>
          <p:spPr>
            <a:xfrm>
              <a:off x="1015936" y="3588068"/>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问题四</a:t>
              </a:r>
            </a:p>
          </p:txBody>
        </p:sp>
        <p:sp>
          <p:nvSpPr>
            <p:cNvPr id="31" name="TextBox 31"/>
            <p:cNvSpPr txBox="1"/>
            <p:nvPr/>
          </p:nvSpPr>
          <p:spPr>
            <a:xfrm>
              <a:off x="1856994" y="3542348"/>
              <a:ext cx="4744974"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施工期现场管理不到位，影响居民满意度</a:t>
              </a:r>
            </a:p>
          </p:txBody>
        </p:sp>
        <p:sp>
          <p:nvSpPr>
            <p:cNvPr id="32" name="Rectangle 32"/>
            <p:cNvSpPr/>
            <p:nvPr/>
          </p:nvSpPr>
          <p:spPr>
            <a:xfrm>
              <a:off x="876300" y="3876675"/>
              <a:ext cx="10477500" cy="285750"/>
            </a:xfrm>
            <a:prstGeom prst="rect">
              <a:avLst/>
            </a:prstGeom>
            <a:solidFill>
              <a:schemeClr val="lt2"/>
            </a:solidFill>
            <a:ln>
              <a:noFill/>
            </a:ln>
          </p:spPr>
        </p:sp>
        <p:sp>
          <p:nvSpPr>
            <p:cNvPr id="33" name="TextBox 33"/>
            <p:cNvSpPr txBox="1"/>
            <p:nvPr/>
          </p:nvSpPr>
          <p:spPr>
            <a:xfrm>
              <a:off x="1022604" y="3937635"/>
              <a:ext cx="658368" cy="234696"/>
            </a:xfrm>
            <a:prstGeom prst="rect">
              <a:avLst/>
            </a:prstGeom>
            <a:noFill/>
            <a:ln>
              <a:noFill/>
            </a:ln>
          </p:spPr>
          <p:txBody>
            <a:bodyPr wrap="none" lIns="0" tIns="0" rIns="0" bIns="0" anchor="t" anchorCtr="0">
              <a:spAutoFit/>
            </a:bodyPr>
            <a:lstStyle/>
            <a:p>
              <a:pPr algn="l"/>
              <a:r>
                <a:rPr lang="zh-CN" sz="1200" b="1" dirty="0">
                  <a:solidFill>
                    <a:schemeClr val="accent5"/>
                  </a:solidFill>
                  <a:latin typeface="+mn-lt"/>
                  <a:ea typeface="+mn-ea"/>
                  <a:cs typeface="+mn-cs"/>
                </a:rPr>
                <a:t>数据溯源</a:t>
              </a:r>
            </a:p>
          </p:txBody>
        </p:sp>
        <p:sp>
          <p:nvSpPr>
            <p:cNvPr id="34" name="Line 34"/>
            <p:cNvSpPr/>
            <p:nvPr/>
          </p:nvSpPr>
          <p:spPr>
            <a:xfrm>
              <a:off x="1790700" y="3933825"/>
              <a:ext cx="9525" cy="171450"/>
            </a:xfrm>
            <a:custGeom>
              <a:avLst/>
              <a:gdLst/>
              <a:ahLst/>
              <a:cxnLst/>
              <a:rect l="l" t="t" r="r" b="b"/>
              <a:pathLst>
                <a:path w="9525" h="171450">
                  <a:moveTo>
                    <a:pt x="0" y="0"/>
                  </a:moveTo>
                  <a:lnTo>
                    <a:pt x="0" y="171450"/>
                  </a:lnTo>
                </a:path>
              </a:pathLst>
            </a:custGeom>
            <a:noFill/>
            <a:ln w="9525">
              <a:solidFill>
                <a:srgbClr val="D3D9DF"/>
              </a:solidFill>
            </a:ln>
          </p:spPr>
        </p:sp>
        <p:sp>
          <p:nvSpPr>
            <p:cNvPr id="35" name="TextBox 35"/>
            <p:cNvSpPr txBox="1"/>
            <p:nvPr/>
          </p:nvSpPr>
          <p:spPr>
            <a:xfrm>
              <a:off x="1937004" y="3937635"/>
              <a:ext cx="351663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P08｜施工期现场管理满意度79.4%，为七项最低</a:t>
              </a:r>
            </a:p>
          </p:txBody>
        </p:sp>
        <p:sp>
          <p:nvSpPr>
            <p:cNvPr id="36" name="TextBox 36"/>
            <p:cNvSpPr txBox="1"/>
            <p:nvPr/>
          </p:nvSpPr>
          <p:spPr>
            <a:xfrm>
              <a:off x="5832729" y="3937635"/>
              <a:ext cx="224851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P09｜施工噪声扬尘未办结32件</a:t>
              </a:r>
            </a:p>
          </p:txBody>
        </p:sp>
        <p:sp>
          <p:nvSpPr>
            <p:cNvPr id="37" name="TextBox 37"/>
            <p:cNvSpPr txBox="1"/>
            <p:nvPr/>
          </p:nvSpPr>
          <p:spPr>
            <a:xfrm>
              <a:off x="870204" y="4185285"/>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主要表现</a:t>
              </a:r>
            </a:p>
          </p:txBody>
        </p:sp>
        <p:sp>
          <p:nvSpPr>
            <p:cNvPr id="38" name="TextBox 38"/>
            <p:cNvSpPr txBox="1"/>
            <p:nvPr/>
          </p:nvSpPr>
          <p:spPr>
            <a:xfrm>
              <a:off x="869442" y="4378642"/>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围挡、降尘、噪声控制及文明施工公示在部分标段未落实。</a:t>
              </a:r>
            </a:p>
          </p:txBody>
        </p:sp>
        <p:sp>
          <p:nvSpPr>
            <p:cNvPr id="39" name="TextBox 39"/>
            <p:cNvSpPr txBox="1"/>
            <p:nvPr/>
          </p:nvSpPr>
          <p:spPr>
            <a:xfrm>
              <a:off x="6661404" y="4185285"/>
              <a:ext cx="33528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mn-lt"/>
                  <a:ea typeface="+mn-ea"/>
                  <a:cs typeface="+mn-cs"/>
                </a:rPr>
                <a:t>影响</a:t>
              </a:r>
            </a:p>
          </p:txBody>
        </p:sp>
        <p:sp>
          <p:nvSpPr>
            <p:cNvPr id="40" name="TextBox 40"/>
            <p:cNvSpPr txBox="1"/>
            <p:nvPr/>
          </p:nvSpPr>
          <p:spPr>
            <a:xfrm>
              <a:off x="6660642" y="4378642"/>
              <a:ext cx="3094158"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拉低总体满意度93.8%，并引发投诉。</a:t>
              </a:r>
            </a:p>
          </p:txBody>
        </p:sp>
      </p:grpSp>
      <p:grpSp>
        <p:nvGrpSpPr>
          <p:cNvPr id="56" name="problem-impl-5"/>
          <p:cNvGrpSpPr/>
          <p:nvPr/>
        </p:nvGrpSpPr>
        <p:grpSpPr>
          <a:xfrm>
            <a:off x="609600" y="4762500"/>
            <a:ext cx="10972800" cy="1261301"/>
            <a:chOff x="609600" y="4762500"/>
            <a:chExt cx="10972800" cy="1261301"/>
          </a:xfrm>
        </p:grpSpPr>
        <p:sp>
          <p:nvSpPr>
            <p:cNvPr id="42" name="Rectangle 42"/>
            <p:cNvSpPr/>
            <p:nvPr/>
          </p:nvSpPr>
          <p:spPr>
            <a:xfrm>
              <a:off x="609600" y="4762500"/>
              <a:ext cx="10972800" cy="1257300"/>
            </a:xfrm>
            <a:prstGeom prst="rect">
              <a:avLst/>
            </a:prstGeom>
            <a:solidFill>
              <a:schemeClr val="lt1"/>
            </a:solidFill>
            <a:ln w="9525">
              <a:solidFill>
                <a:srgbClr val="D3D9DF"/>
              </a:solidFill>
            </a:ln>
          </p:spPr>
        </p:sp>
        <p:sp>
          <p:nvSpPr>
            <p:cNvPr id="43" name="Rectangle 43"/>
            <p:cNvSpPr/>
            <p:nvPr/>
          </p:nvSpPr>
          <p:spPr>
            <a:xfrm>
              <a:off x="609600" y="4762500"/>
              <a:ext cx="38100" cy="1257300"/>
            </a:xfrm>
            <a:prstGeom prst="rect">
              <a:avLst/>
            </a:prstGeom>
            <a:solidFill>
              <a:srgbClr val="B26A00"/>
            </a:solidFill>
            <a:ln>
              <a:noFill/>
            </a:ln>
          </p:spPr>
        </p:sp>
        <p:sp>
          <p:nvSpPr>
            <p:cNvPr id="44" name="Rectangle 44"/>
            <p:cNvSpPr/>
            <p:nvPr/>
          </p:nvSpPr>
          <p:spPr>
            <a:xfrm>
              <a:off x="876300" y="4895850"/>
              <a:ext cx="838200" cy="304800"/>
            </a:xfrm>
            <a:prstGeom prst="rect">
              <a:avLst/>
            </a:prstGeom>
            <a:solidFill>
              <a:schemeClr val="accent1"/>
            </a:solidFill>
            <a:ln>
              <a:noFill/>
            </a:ln>
          </p:spPr>
        </p:sp>
        <p:sp>
          <p:nvSpPr>
            <p:cNvPr id="45" name="TextBox 45"/>
            <p:cNvSpPr txBox="1"/>
            <p:nvPr/>
          </p:nvSpPr>
          <p:spPr>
            <a:xfrm>
              <a:off x="1015936" y="496919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问题五</a:t>
              </a:r>
            </a:p>
          </p:txBody>
        </p:sp>
        <p:sp>
          <p:nvSpPr>
            <p:cNvPr id="46" name="TextBox 46"/>
            <p:cNvSpPr txBox="1"/>
            <p:nvPr/>
          </p:nvSpPr>
          <p:spPr>
            <a:xfrm>
              <a:off x="1856994" y="4923472"/>
              <a:ext cx="2907411"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mn-lt"/>
                  <a:ea typeface="+mn-ea"/>
                  <a:cs typeface="+mn-cs"/>
                </a:rPr>
                <a:t>改造与后续管养衔接不畅</a:t>
              </a:r>
            </a:p>
          </p:txBody>
        </p:sp>
        <p:sp>
          <p:nvSpPr>
            <p:cNvPr id="47" name="Rectangle 47"/>
            <p:cNvSpPr/>
            <p:nvPr/>
          </p:nvSpPr>
          <p:spPr>
            <a:xfrm>
              <a:off x="876300" y="5257800"/>
              <a:ext cx="10477500" cy="285750"/>
            </a:xfrm>
            <a:prstGeom prst="rect">
              <a:avLst/>
            </a:prstGeom>
            <a:solidFill>
              <a:schemeClr val="lt2"/>
            </a:solidFill>
            <a:ln>
              <a:noFill/>
            </a:ln>
          </p:spPr>
        </p:sp>
        <p:sp>
          <p:nvSpPr>
            <p:cNvPr id="48" name="TextBox 48"/>
            <p:cNvSpPr txBox="1"/>
            <p:nvPr/>
          </p:nvSpPr>
          <p:spPr>
            <a:xfrm>
              <a:off x="1022604" y="5318760"/>
              <a:ext cx="658368" cy="234696"/>
            </a:xfrm>
            <a:prstGeom prst="rect">
              <a:avLst/>
            </a:prstGeom>
            <a:noFill/>
            <a:ln>
              <a:noFill/>
            </a:ln>
          </p:spPr>
          <p:txBody>
            <a:bodyPr wrap="none" lIns="0" tIns="0" rIns="0" bIns="0" anchor="t" anchorCtr="0">
              <a:spAutoFit/>
            </a:bodyPr>
            <a:lstStyle/>
            <a:p>
              <a:pPr algn="l"/>
              <a:r>
                <a:rPr lang="zh-CN" sz="1200" b="1" dirty="0">
                  <a:solidFill>
                    <a:schemeClr val="accent5"/>
                  </a:solidFill>
                  <a:latin typeface="+mn-lt"/>
                  <a:ea typeface="+mn-ea"/>
                  <a:cs typeface="+mn-cs"/>
                </a:rPr>
                <a:t>数据溯源</a:t>
              </a:r>
            </a:p>
          </p:txBody>
        </p:sp>
        <p:sp>
          <p:nvSpPr>
            <p:cNvPr id="49" name="Line 49"/>
            <p:cNvSpPr/>
            <p:nvPr/>
          </p:nvSpPr>
          <p:spPr>
            <a:xfrm>
              <a:off x="1790700" y="5314950"/>
              <a:ext cx="9525" cy="171450"/>
            </a:xfrm>
            <a:custGeom>
              <a:avLst/>
              <a:gdLst/>
              <a:ahLst/>
              <a:cxnLst/>
              <a:rect l="l" t="t" r="r" b="b"/>
              <a:pathLst>
                <a:path w="9525" h="171450">
                  <a:moveTo>
                    <a:pt x="0" y="0"/>
                  </a:moveTo>
                  <a:lnTo>
                    <a:pt x="0" y="171450"/>
                  </a:lnTo>
                </a:path>
              </a:pathLst>
            </a:custGeom>
            <a:noFill/>
            <a:ln w="9525">
              <a:solidFill>
                <a:srgbClr val="D3D9DF"/>
              </a:solidFill>
            </a:ln>
          </p:spPr>
        </p:sp>
        <p:sp>
          <p:nvSpPr>
            <p:cNvPr id="50" name="TextBox 50"/>
            <p:cNvSpPr txBox="1"/>
            <p:nvPr/>
          </p:nvSpPr>
          <p:spPr>
            <a:xfrm>
              <a:off x="1937004" y="5318760"/>
              <a:ext cx="385587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P09｜设施移交与物业衔接未办结34件，办结率85.7%</a:t>
              </a:r>
            </a:p>
          </p:txBody>
        </p:sp>
        <p:sp>
          <p:nvSpPr>
            <p:cNvPr id="51" name="TextBox 51"/>
            <p:cNvSpPr txBox="1"/>
            <p:nvPr/>
          </p:nvSpPr>
          <p:spPr>
            <a:xfrm>
              <a:off x="6023229" y="5318760"/>
              <a:ext cx="206273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P04｜服务设施完成率79.2%</a:t>
              </a:r>
            </a:p>
          </p:txBody>
        </p:sp>
        <p:sp>
          <p:nvSpPr>
            <p:cNvPr id="52" name="TextBox 52"/>
            <p:cNvSpPr txBox="1"/>
            <p:nvPr/>
          </p:nvSpPr>
          <p:spPr>
            <a:xfrm>
              <a:off x="870204" y="5566410"/>
              <a:ext cx="658368"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主要表现</a:t>
              </a:r>
            </a:p>
          </p:txBody>
        </p:sp>
        <p:sp>
          <p:nvSpPr>
            <p:cNvPr id="53" name="TextBox 53"/>
            <p:cNvSpPr txBox="1"/>
            <p:nvPr/>
          </p:nvSpPr>
          <p:spPr>
            <a:xfrm>
              <a:off x="869442" y="5759768"/>
              <a:ext cx="43935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19处社区服务及养老托幼设施建成后未及时移交运营。</a:t>
              </a:r>
            </a:p>
          </p:txBody>
        </p:sp>
        <p:sp>
          <p:nvSpPr>
            <p:cNvPr id="54" name="TextBox 54"/>
            <p:cNvSpPr txBox="1"/>
            <p:nvPr/>
          </p:nvSpPr>
          <p:spPr>
            <a:xfrm>
              <a:off x="6661404" y="5566410"/>
              <a:ext cx="335280" cy="234696"/>
            </a:xfrm>
            <a:prstGeom prst="rect">
              <a:avLst/>
            </a:prstGeom>
            <a:noFill/>
            <a:ln>
              <a:noFill/>
            </a:ln>
          </p:spPr>
          <p:txBody>
            <a:bodyPr wrap="none" lIns="0" tIns="0" rIns="0" bIns="0" anchor="t" anchorCtr="0">
              <a:spAutoFit/>
            </a:bodyPr>
            <a:lstStyle/>
            <a:p>
              <a:pPr algn="l"/>
              <a:r>
                <a:rPr lang="zh-CN" sz="1200" b="1" dirty="0">
                  <a:solidFill>
                    <a:srgbClr val="C0392B"/>
                  </a:solidFill>
                  <a:latin typeface="+mn-lt"/>
                  <a:ea typeface="+mn-ea"/>
                  <a:cs typeface="+mn-cs"/>
                </a:rPr>
                <a:t>影响</a:t>
              </a:r>
            </a:p>
          </p:txBody>
        </p:sp>
        <p:sp>
          <p:nvSpPr>
            <p:cNvPr id="55" name="TextBox 55"/>
            <p:cNvSpPr txBox="1"/>
            <p:nvPr/>
          </p:nvSpPr>
          <p:spPr>
            <a:xfrm>
              <a:off x="6660642" y="5759768"/>
              <a:ext cx="3284982" cy="264033"/>
            </a:xfrm>
            <a:prstGeom prst="rect">
              <a:avLst/>
            </a:prstGeom>
            <a:noFill/>
            <a:ln>
              <a:noFill/>
            </a:ln>
          </p:spPr>
          <p:txBody>
            <a:bodyPr wrap="none" lIns="0" tIns="0" rIns="0" bIns="0" anchor="t" anchorCtr="0">
              <a:spAutoFit/>
            </a:bodyPr>
            <a:lstStyle/>
            <a:p>
              <a:pPr algn="l"/>
              <a:r>
                <a:rPr lang="zh-CN" sz="1350" dirty="0">
                  <a:solidFill>
                    <a:schemeClr val="accent6"/>
                  </a:solidFill>
                  <a:latin typeface="+mn-lt"/>
                  <a:ea typeface="+mn-ea"/>
                  <a:cs typeface="+mn-cs"/>
                </a:rPr>
                <a:t>设施闲置风险上升，居民获得感打折扣。</a:t>
              </a:r>
            </a:p>
          </p:txBody>
        </p:sp>
      </p:grpSp>
      <p:grpSp>
        <p:nvGrpSpPr>
          <p:cNvPr id="60" name="page-footer"/>
          <p:cNvGrpSpPr/>
          <p:nvPr/>
        </p:nvGrpSpPr>
        <p:grpSpPr>
          <a:xfrm>
            <a:off x="603504" y="6172200"/>
            <a:ext cx="10984992" cy="295656"/>
            <a:chOff x="603504" y="6172200"/>
            <a:chExt cx="10984992" cy="295656"/>
          </a:xfrm>
        </p:grpSpPr>
        <p:sp>
          <p:nvSpPr>
            <p:cNvPr id="57" name="Line 5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8" name="TextBox 58"/>
            <p:cNvSpPr txBox="1"/>
            <p:nvPr/>
          </p:nvSpPr>
          <p:spPr>
            <a:xfrm>
              <a:off x="603504" y="6233160"/>
              <a:ext cx="5218786"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问题来源：P04分项任务完成明细、P08分项满意度、P09未办结诉求分布</a:t>
              </a:r>
            </a:p>
          </p:txBody>
        </p:sp>
        <p:sp>
          <p:nvSpPr>
            <p:cNvPr id="59" name="TextBox 59"/>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403785" y="578168"/>
              <a:ext cx="2185473"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五、下一步计划 ｜ 12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整改措施与责任分工</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989106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七项措施逐条对应五项问题，明确责任单位、完成时限与验收口径，比率沿用P02统一阈值。</a:t>
              </a:r>
            </a:p>
          </p:txBody>
        </p:sp>
      </p:grpSp>
      <p:grpSp>
        <p:nvGrpSpPr>
          <p:cNvPr id="81" name="rectification-record-table"/>
          <p:cNvGrpSpPr/>
          <p:nvPr/>
        </p:nvGrpSpPr>
        <p:grpSpPr>
          <a:xfrm>
            <a:off x="609600" y="1943100"/>
            <a:ext cx="10972800" cy="3413951"/>
            <a:chOff x="609600" y="1943100"/>
            <a:chExt cx="10972800" cy="3413951"/>
          </a:xfrm>
        </p:grpSpPr>
        <p:sp>
          <p:nvSpPr>
            <p:cNvPr id="11" name="Rectangle 11"/>
            <p:cNvSpPr/>
            <p:nvPr/>
          </p:nvSpPr>
          <p:spPr>
            <a:xfrm>
              <a:off x="609600" y="1943100"/>
              <a:ext cx="10972800" cy="304800"/>
            </a:xfrm>
            <a:prstGeom prst="rect">
              <a:avLst/>
            </a:prstGeom>
            <a:solidFill>
              <a:schemeClr val="accent1"/>
            </a:solidFill>
            <a:ln>
              <a:noFill/>
            </a:ln>
          </p:spPr>
        </p:sp>
        <p:grpSp>
          <p:nvGrpSpPr>
            <p:cNvPr id="18" name="Group 18"/>
            <p:cNvGrpSpPr/>
            <p:nvPr/>
          </p:nvGrpSpPr>
          <p:grpSpPr>
            <a:xfrm>
              <a:off x="725805" y="1997392"/>
              <a:ext cx="9609201" cy="264033"/>
              <a:chOff x="725805" y="1997392"/>
              <a:chExt cx="9609201" cy="264033"/>
            </a:xfrm>
          </p:grpSpPr>
          <p:sp>
            <p:nvSpPr>
              <p:cNvPr id="12" name="TextBox 12"/>
              <p:cNvSpPr txBox="1"/>
              <p:nvPr/>
            </p:nvSpPr>
            <p:spPr>
              <a:xfrm>
                <a:off x="725805" y="199739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序号</a:t>
                </a:r>
              </a:p>
            </p:txBody>
          </p:sp>
          <p:sp>
            <p:nvSpPr>
              <p:cNvPr id="13" name="TextBox 13"/>
              <p:cNvSpPr txBox="1"/>
              <p:nvPr/>
            </p:nvSpPr>
            <p:spPr>
              <a:xfrm>
                <a:off x="1553718" y="199739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对应问题</a:t>
                </a:r>
              </a:p>
            </p:txBody>
          </p:sp>
          <p:sp>
            <p:nvSpPr>
              <p:cNvPr id="14" name="TextBox 14"/>
              <p:cNvSpPr txBox="1"/>
              <p:nvPr/>
            </p:nvSpPr>
            <p:spPr>
              <a:xfrm>
                <a:off x="2736342" y="1997392"/>
                <a:ext cx="7406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整改措施</a:t>
                </a:r>
              </a:p>
            </p:txBody>
          </p:sp>
          <p:sp>
            <p:nvSpPr>
              <p:cNvPr id="15" name="TextBox 15"/>
              <p:cNvSpPr txBox="1"/>
              <p:nvPr/>
            </p:nvSpPr>
            <p:spPr>
              <a:xfrm>
                <a:off x="6355842" y="1997392"/>
                <a:ext cx="7406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责任单位</a:t>
                </a:r>
              </a:p>
            </p:txBody>
          </p:sp>
          <p:sp>
            <p:nvSpPr>
              <p:cNvPr id="16" name="TextBox 16"/>
              <p:cNvSpPr txBox="1"/>
              <p:nvPr/>
            </p:nvSpPr>
            <p:spPr>
              <a:xfrm>
                <a:off x="8449818" y="199739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完成时限</a:t>
                </a:r>
              </a:p>
            </p:txBody>
          </p:sp>
          <p:sp>
            <p:nvSpPr>
              <p:cNvPr id="17" name="TextBox 17"/>
              <p:cNvSpPr txBox="1"/>
              <p:nvPr/>
            </p:nvSpPr>
            <p:spPr>
              <a:xfrm>
                <a:off x="9594342" y="1997392"/>
                <a:ext cx="7406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验收口径</a:t>
                </a:r>
              </a:p>
            </p:txBody>
          </p:sp>
        </p:grpSp>
        <p:grpSp>
          <p:nvGrpSpPr>
            <p:cNvPr id="26" name="Group 26"/>
            <p:cNvGrpSpPr/>
            <p:nvPr/>
          </p:nvGrpSpPr>
          <p:grpSpPr>
            <a:xfrm>
              <a:off x="819455" y="2394585"/>
              <a:ext cx="189890" cy="2863596"/>
              <a:chOff x="819455" y="2394585"/>
              <a:chExt cx="189890" cy="2863596"/>
            </a:xfrm>
          </p:grpSpPr>
          <p:sp>
            <p:nvSpPr>
              <p:cNvPr id="19" name="TextBox 19"/>
              <p:cNvSpPr txBox="1"/>
              <p:nvPr/>
            </p:nvSpPr>
            <p:spPr>
              <a:xfrm>
                <a:off x="819455" y="239458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01</a:t>
                </a:r>
              </a:p>
            </p:txBody>
          </p:sp>
          <p:sp>
            <p:nvSpPr>
              <p:cNvPr id="20" name="TextBox 20"/>
              <p:cNvSpPr txBox="1"/>
              <p:nvPr/>
            </p:nvSpPr>
            <p:spPr>
              <a:xfrm>
                <a:off x="819455" y="283273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02</a:t>
                </a:r>
              </a:p>
            </p:txBody>
          </p:sp>
          <p:sp>
            <p:nvSpPr>
              <p:cNvPr id="21" name="TextBox 21"/>
              <p:cNvSpPr txBox="1"/>
              <p:nvPr/>
            </p:nvSpPr>
            <p:spPr>
              <a:xfrm>
                <a:off x="819455" y="327088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03</a:t>
                </a:r>
              </a:p>
            </p:txBody>
          </p:sp>
          <p:sp>
            <p:nvSpPr>
              <p:cNvPr id="22" name="TextBox 22"/>
              <p:cNvSpPr txBox="1"/>
              <p:nvPr/>
            </p:nvSpPr>
            <p:spPr>
              <a:xfrm>
                <a:off x="819455" y="370903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04</a:t>
                </a:r>
              </a:p>
            </p:txBody>
          </p:sp>
          <p:sp>
            <p:nvSpPr>
              <p:cNvPr id="23" name="TextBox 23"/>
              <p:cNvSpPr txBox="1"/>
              <p:nvPr/>
            </p:nvSpPr>
            <p:spPr>
              <a:xfrm>
                <a:off x="819455" y="414718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05</a:t>
                </a:r>
              </a:p>
            </p:txBody>
          </p:sp>
          <p:sp>
            <p:nvSpPr>
              <p:cNvPr id="24" name="TextBox 24"/>
              <p:cNvSpPr txBox="1"/>
              <p:nvPr/>
            </p:nvSpPr>
            <p:spPr>
              <a:xfrm>
                <a:off x="819455" y="458533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06</a:t>
                </a:r>
              </a:p>
            </p:txBody>
          </p:sp>
          <p:sp>
            <p:nvSpPr>
              <p:cNvPr id="25" name="TextBox 25"/>
              <p:cNvSpPr txBox="1"/>
              <p:nvPr/>
            </p:nvSpPr>
            <p:spPr>
              <a:xfrm>
                <a:off x="819455" y="5023485"/>
                <a:ext cx="189890" cy="234696"/>
              </a:xfrm>
              <a:prstGeom prst="rect">
                <a:avLst/>
              </a:prstGeom>
              <a:noFill/>
              <a:ln>
                <a:noFill/>
              </a:ln>
            </p:spPr>
            <p:txBody>
              <a:bodyPr wrap="none" lIns="0" tIns="0" rIns="0" bIns="0" anchor="t" anchorCtr="0">
                <a:spAutoFit/>
              </a:bodyPr>
              <a:lstStyle/>
              <a:p>
                <a:pPr algn="ctr"/>
                <a:r>
                  <a:rPr lang="zh-CN" sz="1200" dirty="0">
                    <a:solidFill>
                      <a:schemeClr val="accent6"/>
                    </a:solidFill>
                    <a:latin typeface="+mn-lt"/>
                    <a:ea typeface="+mn-ea"/>
                    <a:cs typeface="+mn-cs"/>
                  </a:rPr>
                  <a:t>07</a:t>
                </a:r>
              </a:p>
            </p:txBody>
          </p:sp>
        </p:grpSp>
        <p:grpSp>
          <p:nvGrpSpPr>
            <p:cNvPr id="34" name="Group 34"/>
            <p:cNvGrpSpPr/>
            <p:nvPr/>
          </p:nvGrpSpPr>
          <p:grpSpPr>
            <a:xfrm>
              <a:off x="1675638" y="2394585"/>
              <a:ext cx="496824" cy="2863596"/>
              <a:chOff x="1675638" y="2394585"/>
              <a:chExt cx="496824" cy="2863596"/>
            </a:xfrm>
          </p:grpSpPr>
          <p:sp>
            <p:nvSpPr>
              <p:cNvPr id="27" name="TextBox 27"/>
              <p:cNvSpPr txBox="1"/>
              <p:nvPr/>
            </p:nvSpPr>
            <p:spPr>
              <a:xfrm>
                <a:off x="1675638" y="2394585"/>
                <a:ext cx="496824" cy="234696"/>
              </a:xfrm>
              <a:prstGeom prst="rect">
                <a:avLst/>
              </a:prstGeom>
              <a:noFill/>
              <a:ln>
                <a:noFill/>
              </a:ln>
            </p:spPr>
            <p:txBody>
              <a:bodyPr wrap="none" lIns="0" tIns="0" rIns="0" bIns="0" anchor="t" anchorCtr="0">
                <a:spAutoFit/>
              </a:bodyPr>
              <a:lstStyle/>
              <a:p>
                <a:pPr algn="ctr"/>
                <a:r>
                  <a:rPr lang="zh-CN" sz="1200" b="1" dirty="0">
                    <a:solidFill>
                      <a:srgbClr val="C0392B"/>
                    </a:solidFill>
                    <a:latin typeface="+mn-lt"/>
                    <a:ea typeface="+mn-ea"/>
                    <a:cs typeface="+mn-cs"/>
                  </a:rPr>
                  <a:t>问题一</a:t>
                </a:r>
              </a:p>
            </p:txBody>
          </p:sp>
          <p:sp>
            <p:nvSpPr>
              <p:cNvPr id="28" name="TextBox 28"/>
              <p:cNvSpPr txBox="1"/>
              <p:nvPr/>
            </p:nvSpPr>
            <p:spPr>
              <a:xfrm>
                <a:off x="1675638" y="2832735"/>
                <a:ext cx="496824" cy="234696"/>
              </a:xfrm>
              <a:prstGeom prst="rect">
                <a:avLst/>
              </a:prstGeom>
              <a:noFill/>
              <a:ln>
                <a:noFill/>
              </a:ln>
            </p:spPr>
            <p:txBody>
              <a:bodyPr wrap="none" lIns="0" tIns="0" rIns="0" bIns="0" anchor="t" anchorCtr="0">
                <a:spAutoFit/>
              </a:bodyPr>
              <a:lstStyle/>
              <a:p>
                <a:pPr algn="ctr"/>
                <a:r>
                  <a:rPr lang="zh-CN" sz="1200" b="1" dirty="0">
                    <a:solidFill>
                      <a:srgbClr val="C0392B"/>
                    </a:solidFill>
                    <a:latin typeface="+mn-lt"/>
                    <a:ea typeface="+mn-ea"/>
                    <a:cs typeface="+mn-cs"/>
                  </a:rPr>
                  <a:t>问题一</a:t>
                </a:r>
              </a:p>
            </p:txBody>
          </p:sp>
          <p:sp>
            <p:nvSpPr>
              <p:cNvPr id="29" name="TextBox 29"/>
              <p:cNvSpPr txBox="1"/>
              <p:nvPr/>
            </p:nvSpPr>
            <p:spPr>
              <a:xfrm>
                <a:off x="1675638" y="3270885"/>
                <a:ext cx="496824" cy="234696"/>
              </a:xfrm>
              <a:prstGeom prst="rect">
                <a:avLst/>
              </a:prstGeom>
              <a:noFill/>
              <a:ln>
                <a:noFill/>
              </a:ln>
            </p:spPr>
            <p:txBody>
              <a:bodyPr wrap="none" lIns="0" tIns="0" rIns="0" bIns="0" anchor="t" anchorCtr="0">
                <a:spAutoFit/>
              </a:bodyPr>
              <a:lstStyle/>
              <a:p>
                <a:pPr algn="ctr"/>
                <a:r>
                  <a:rPr lang="zh-CN" sz="1200" b="1" dirty="0">
                    <a:solidFill>
                      <a:srgbClr val="C0392B"/>
                    </a:solidFill>
                    <a:latin typeface="+mn-lt"/>
                    <a:ea typeface="+mn-ea"/>
                    <a:cs typeface="+mn-cs"/>
                  </a:rPr>
                  <a:t>问题一</a:t>
                </a:r>
              </a:p>
            </p:txBody>
          </p:sp>
          <p:sp>
            <p:nvSpPr>
              <p:cNvPr id="30" name="TextBox 30"/>
              <p:cNvSpPr txBox="1"/>
              <p:nvPr/>
            </p:nvSpPr>
            <p:spPr>
              <a:xfrm>
                <a:off x="1675638" y="3709035"/>
                <a:ext cx="496824" cy="234696"/>
              </a:xfrm>
              <a:prstGeom prst="rect">
                <a:avLst/>
              </a:prstGeom>
              <a:noFill/>
              <a:ln>
                <a:noFill/>
              </a:ln>
            </p:spPr>
            <p:txBody>
              <a:bodyPr wrap="none" lIns="0" tIns="0" rIns="0" bIns="0" anchor="t" anchorCtr="0">
                <a:spAutoFit/>
              </a:bodyPr>
              <a:lstStyle/>
              <a:p>
                <a:pPr algn="ctr"/>
                <a:r>
                  <a:rPr lang="zh-CN" sz="1200" b="1" dirty="0">
                    <a:solidFill>
                      <a:srgbClr val="C0392B"/>
                    </a:solidFill>
                    <a:latin typeface="+mn-lt"/>
                    <a:ea typeface="+mn-ea"/>
                    <a:cs typeface="+mn-cs"/>
                  </a:rPr>
                  <a:t>问题二</a:t>
                </a:r>
              </a:p>
            </p:txBody>
          </p:sp>
          <p:sp>
            <p:nvSpPr>
              <p:cNvPr id="31" name="TextBox 31"/>
              <p:cNvSpPr txBox="1"/>
              <p:nvPr/>
            </p:nvSpPr>
            <p:spPr>
              <a:xfrm>
                <a:off x="1675638" y="4147185"/>
                <a:ext cx="496824" cy="234696"/>
              </a:xfrm>
              <a:prstGeom prst="rect">
                <a:avLst/>
              </a:prstGeom>
              <a:noFill/>
              <a:ln>
                <a:noFill/>
              </a:ln>
            </p:spPr>
            <p:txBody>
              <a:bodyPr wrap="none" lIns="0" tIns="0" rIns="0" bIns="0" anchor="t" anchorCtr="0">
                <a:spAutoFit/>
              </a:bodyPr>
              <a:lstStyle/>
              <a:p>
                <a:pPr algn="ctr"/>
                <a:r>
                  <a:rPr lang="zh-CN" sz="1200" b="1" dirty="0">
                    <a:solidFill>
                      <a:srgbClr val="B26A00"/>
                    </a:solidFill>
                    <a:latin typeface="+mn-lt"/>
                    <a:ea typeface="+mn-ea"/>
                    <a:cs typeface="+mn-cs"/>
                  </a:rPr>
                  <a:t>问题三</a:t>
                </a:r>
              </a:p>
            </p:txBody>
          </p:sp>
          <p:sp>
            <p:nvSpPr>
              <p:cNvPr id="32" name="TextBox 32"/>
              <p:cNvSpPr txBox="1"/>
              <p:nvPr/>
            </p:nvSpPr>
            <p:spPr>
              <a:xfrm>
                <a:off x="1675638" y="4585335"/>
                <a:ext cx="496824" cy="234696"/>
              </a:xfrm>
              <a:prstGeom prst="rect">
                <a:avLst/>
              </a:prstGeom>
              <a:noFill/>
              <a:ln>
                <a:noFill/>
              </a:ln>
            </p:spPr>
            <p:txBody>
              <a:bodyPr wrap="none" lIns="0" tIns="0" rIns="0" bIns="0" anchor="t" anchorCtr="0">
                <a:spAutoFit/>
              </a:bodyPr>
              <a:lstStyle/>
              <a:p>
                <a:pPr algn="ctr"/>
                <a:r>
                  <a:rPr lang="zh-CN" sz="1200" b="1" dirty="0">
                    <a:solidFill>
                      <a:srgbClr val="B26A00"/>
                    </a:solidFill>
                    <a:latin typeface="+mn-lt"/>
                    <a:ea typeface="+mn-ea"/>
                    <a:cs typeface="+mn-cs"/>
                  </a:rPr>
                  <a:t>问题四</a:t>
                </a:r>
              </a:p>
            </p:txBody>
          </p:sp>
          <p:sp>
            <p:nvSpPr>
              <p:cNvPr id="33" name="TextBox 33"/>
              <p:cNvSpPr txBox="1"/>
              <p:nvPr/>
            </p:nvSpPr>
            <p:spPr>
              <a:xfrm>
                <a:off x="1675638" y="5023485"/>
                <a:ext cx="496824" cy="234696"/>
              </a:xfrm>
              <a:prstGeom prst="rect">
                <a:avLst/>
              </a:prstGeom>
              <a:noFill/>
              <a:ln>
                <a:noFill/>
              </a:ln>
            </p:spPr>
            <p:txBody>
              <a:bodyPr wrap="none" lIns="0" tIns="0" rIns="0" bIns="0" anchor="t" anchorCtr="0">
                <a:spAutoFit/>
              </a:bodyPr>
              <a:lstStyle/>
              <a:p>
                <a:pPr algn="ctr"/>
                <a:r>
                  <a:rPr lang="zh-CN" sz="1200" b="1" dirty="0">
                    <a:solidFill>
                      <a:srgbClr val="B26A00"/>
                    </a:solidFill>
                    <a:latin typeface="+mn-lt"/>
                    <a:ea typeface="+mn-ea"/>
                    <a:cs typeface="+mn-cs"/>
                  </a:rPr>
                  <a:t>问题五</a:t>
                </a:r>
              </a:p>
            </p:txBody>
          </p:sp>
        </p:grpSp>
        <p:grpSp>
          <p:nvGrpSpPr>
            <p:cNvPr id="42" name="Group 42"/>
            <p:cNvGrpSpPr/>
            <p:nvPr/>
          </p:nvGrpSpPr>
          <p:grpSpPr>
            <a:xfrm>
              <a:off x="2736342" y="2292668"/>
              <a:ext cx="3099816" cy="3064383"/>
              <a:chOff x="2736342" y="2292668"/>
              <a:chExt cx="3099816" cy="3064383"/>
            </a:xfrm>
          </p:grpSpPr>
          <p:sp>
            <p:nvSpPr>
              <p:cNvPr id="35" name="TextBox 35"/>
              <p:cNvSpPr txBox="1"/>
              <p:nvPr/>
            </p:nvSpPr>
            <p:spPr>
              <a:xfrm>
                <a:off x="2736342" y="2292668"/>
                <a:ext cx="279120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追加区级配套资金安排，将2140万元</a:t>
                </a:r>
                <a:br/>
                <a:r>
                  <a:rPr lang="zh-CN" sz="1350" dirty="0">
                    <a:solidFill>
                      <a:schemeClr val="dk1"/>
                    </a:solidFill>
                    <a:latin typeface="+mn-lt"/>
                    <a:ea typeface="+mn-ea"/>
                    <a:cs typeface="+mn-cs"/>
                  </a:rPr>
                  <a:t>缺口纳入年度预算调整方案</a:t>
                </a:r>
              </a:p>
            </p:txBody>
          </p:sp>
          <p:sp>
            <p:nvSpPr>
              <p:cNvPr id="36" name="TextBox 36"/>
              <p:cNvSpPr txBox="1"/>
              <p:nvPr/>
            </p:nvSpPr>
            <p:spPr>
              <a:xfrm>
                <a:off x="2736342" y="2730818"/>
                <a:ext cx="292836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建立管线单位出资联席会议制度，签订</a:t>
                </a:r>
                <a:br/>
                <a:r>
                  <a:rPr lang="zh-CN" sz="1350" dirty="0">
                    <a:solidFill>
                      <a:schemeClr val="dk1"/>
                    </a:solidFill>
                    <a:latin typeface="+mn-lt"/>
                    <a:ea typeface="+mn-ea"/>
                    <a:cs typeface="+mn-cs"/>
                  </a:rPr>
                  <a:t>“共建共担”协议并明确付费节点</a:t>
                </a:r>
              </a:p>
            </p:txBody>
          </p:sp>
          <p:sp>
            <p:nvSpPr>
              <p:cNvPr id="37" name="TextBox 37"/>
              <p:cNvSpPr txBox="1"/>
              <p:nvPr/>
            </p:nvSpPr>
            <p:spPr>
              <a:xfrm>
                <a:off x="2736342" y="3168968"/>
                <a:ext cx="309981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推行居民出资先改造后付费及分期缴纳，</a:t>
                </a:r>
                <a:br/>
                <a:r>
                  <a:rPr lang="zh-CN" sz="1350" dirty="0">
                    <a:solidFill>
                      <a:schemeClr val="dk1"/>
                    </a:solidFill>
                    <a:latin typeface="+mn-lt"/>
                    <a:ea typeface="+mn-ea"/>
                    <a:cs typeface="+mn-cs"/>
                  </a:rPr>
                  <a:t>公示出资标准与使用去向</a:t>
                </a:r>
              </a:p>
            </p:txBody>
          </p:sp>
          <p:sp>
            <p:nvSpPr>
              <p:cNvPr id="38" name="TextBox 38"/>
              <p:cNvSpPr txBox="1"/>
              <p:nvPr/>
            </p:nvSpPr>
            <p:spPr>
              <a:xfrm>
                <a:off x="2736342" y="3607118"/>
                <a:ext cx="296265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建立结余资金月调度机制，对3236万元</a:t>
                </a:r>
                <a:br/>
                <a:r>
                  <a:rPr lang="zh-CN" sz="1350" dirty="0">
                    <a:solidFill>
                      <a:schemeClr val="dk1"/>
                    </a:solidFill>
                    <a:latin typeface="+mn-lt"/>
                    <a:ea typeface="+mn-ea"/>
                    <a:cs typeface="+mn-cs"/>
                  </a:rPr>
                  <a:t>待审计资金实行竣工结算限时办结</a:t>
                </a:r>
              </a:p>
            </p:txBody>
          </p:sp>
          <p:sp>
            <p:nvSpPr>
              <p:cNvPr id="39" name="TextBox 39"/>
              <p:cNvSpPr txBox="1"/>
              <p:nvPr/>
            </p:nvSpPr>
            <p:spPr>
              <a:xfrm>
                <a:off x="2736342" y="4045268"/>
                <a:ext cx="309981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加装电梯与停车泊位项目单独建档、单独</a:t>
                </a:r>
                <a:br/>
                <a:r>
                  <a:rPr lang="zh-CN" sz="1350" dirty="0">
                    <a:solidFill>
                      <a:schemeClr val="dk1"/>
                    </a:solidFill>
                    <a:latin typeface="+mn-lt"/>
                    <a:ea typeface="+mn-ea"/>
                    <a:cs typeface="+mn-cs"/>
                  </a:rPr>
                  <a:t>调度，实行一小区一方案</a:t>
                </a:r>
              </a:p>
            </p:txBody>
          </p:sp>
          <p:sp>
            <p:nvSpPr>
              <p:cNvPr id="40" name="TextBox 40"/>
              <p:cNvSpPr txBox="1"/>
              <p:nvPr/>
            </p:nvSpPr>
            <p:spPr>
              <a:xfrm>
                <a:off x="2736342" y="4483418"/>
                <a:ext cx="309981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落实文明施工标准，设置公示牌与噪声扬</a:t>
                </a:r>
                <a:br/>
                <a:r>
                  <a:rPr lang="zh-CN" sz="1350" dirty="0">
                    <a:solidFill>
                      <a:schemeClr val="dk1"/>
                    </a:solidFill>
                    <a:latin typeface="+mn-lt"/>
                    <a:ea typeface="+mn-ea"/>
                    <a:cs typeface="+mn-cs"/>
                  </a:rPr>
                  <a:t>尘监测点，实行投诉24小时响应</a:t>
                </a:r>
              </a:p>
            </p:txBody>
          </p:sp>
          <p:sp>
            <p:nvSpPr>
              <p:cNvPr id="41" name="TextBox 41"/>
              <p:cNvSpPr txBox="1"/>
              <p:nvPr/>
            </p:nvSpPr>
            <p:spPr>
              <a:xfrm>
                <a:off x="2736342" y="4921568"/>
                <a:ext cx="3099816" cy="435483"/>
              </a:xfrm>
              <a:prstGeom prst="rect">
                <a:avLst/>
              </a:prstGeom>
              <a:noFill/>
              <a:ln>
                <a:noFill/>
              </a:ln>
            </p:spPr>
            <p:txBody>
              <a:bodyPr wrap="none" lIns="0" tIns="0" rIns="0" bIns="0" anchor="t" anchorCtr="0">
                <a:spAutoFit/>
              </a:bodyPr>
              <a:lstStyle/>
              <a:p>
                <a:pPr algn="l">
                  <a:lnSpc>
                    <a:spcPts val="1350"/>
                  </a:lnSpc>
                </a:pPr>
                <a:r>
                  <a:rPr lang="zh-CN" sz="1350" dirty="0">
                    <a:solidFill>
                      <a:schemeClr val="dk1"/>
                    </a:solidFill>
                    <a:latin typeface="+mn-lt"/>
                    <a:ea typeface="+mn-ea"/>
                    <a:cs typeface="+mn-cs"/>
                  </a:rPr>
                  <a:t>明确设施移交清单与物业接管主体，同步</a:t>
                </a:r>
                <a:br/>
                <a:r>
                  <a:rPr lang="zh-CN" sz="1350" dirty="0">
                    <a:solidFill>
                      <a:schemeClr val="dk1"/>
                    </a:solidFill>
                    <a:latin typeface="+mn-lt"/>
                    <a:ea typeface="+mn-ea"/>
                    <a:cs typeface="+mn-cs"/>
                  </a:rPr>
                  <a:t>签订后期管养协议</a:t>
                </a:r>
              </a:p>
            </p:txBody>
          </p:sp>
        </p:grpSp>
        <p:grpSp>
          <p:nvGrpSpPr>
            <p:cNvPr id="50" name="Group 50"/>
            <p:cNvGrpSpPr/>
            <p:nvPr/>
          </p:nvGrpSpPr>
          <p:grpSpPr>
            <a:xfrm>
              <a:off x="6355842" y="2378392"/>
              <a:ext cx="1649349" cy="2892933"/>
              <a:chOff x="6355842" y="2378392"/>
              <a:chExt cx="1649349" cy="2892933"/>
            </a:xfrm>
          </p:grpSpPr>
          <p:sp>
            <p:nvSpPr>
              <p:cNvPr id="43" name="TextBox 43"/>
              <p:cNvSpPr txBox="1"/>
              <p:nvPr/>
            </p:nvSpPr>
            <p:spPr>
              <a:xfrm>
                <a:off x="6355842" y="237839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区财政局、区住建局</a:t>
                </a:r>
              </a:p>
            </p:txBody>
          </p:sp>
          <p:sp>
            <p:nvSpPr>
              <p:cNvPr id="44" name="TextBox 44"/>
              <p:cNvSpPr txBox="1"/>
              <p:nvPr/>
            </p:nvSpPr>
            <p:spPr>
              <a:xfrm>
                <a:off x="6355842" y="281654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区住建局、管线单位</a:t>
                </a:r>
              </a:p>
            </p:txBody>
          </p:sp>
          <p:sp>
            <p:nvSpPr>
              <p:cNvPr id="45" name="TextBox 45"/>
              <p:cNvSpPr txBox="1"/>
              <p:nvPr/>
            </p:nvSpPr>
            <p:spPr>
              <a:xfrm>
                <a:off x="6355842" y="3254692"/>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街道办事处、社区</a:t>
                </a:r>
              </a:p>
            </p:txBody>
          </p:sp>
          <p:sp>
            <p:nvSpPr>
              <p:cNvPr id="46" name="TextBox 46"/>
              <p:cNvSpPr txBox="1"/>
              <p:nvPr/>
            </p:nvSpPr>
            <p:spPr>
              <a:xfrm>
                <a:off x="6355842" y="3692842"/>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区财政局、审计局</a:t>
                </a:r>
              </a:p>
            </p:txBody>
          </p:sp>
          <p:sp>
            <p:nvSpPr>
              <p:cNvPr id="47" name="TextBox 47"/>
              <p:cNvSpPr txBox="1"/>
              <p:nvPr/>
            </p:nvSpPr>
            <p:spPr>
              <a:xfrm>
                <a:off x="6355842" y="4130992"/>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区住建局、规划分局</a:t>
                </a:r>
              </a:p>
            </p:txBody>
          </p:sp>
          <p:sp>
            <p:nvSpPr>
              <p:cNvPr id="48" name="TextBox 48"/>
              <p:cNvSpPr txBox="1"/>
              <p:nvPr/>
            </p:nvSpPr>
            <p:spPr>
              <a:xfrm>
                <a:off x="6355842" y="4569142"/>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区住建局、城管局</a:t>
                </a:r>
              </a:p>
            </p:txBody>
          </p:sp>
          <p:sp>
            <p:nvSpPr>
              <p:cNvPr id="49" name="TextBox 49"/>
              <p:cNvSpPr txBox="1"/>
              <p:nvPr/>
            </p:nvSpPr>
            <p:spPr>
              <a:xfrm>
                <a:off x="6355842" y="5007292"/>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区住建局、民政局</a:t>
                </a:r>
              </a:p>
            </p:txBody>
          </p:sp>
        </p:grpSp>
        <p:grpSp>
          <p:nvGrpSpPr>
            <p:cNvPr id="58" name="Group 58"/>
            <p:cNvGrpSpPr/>
            <p:nvPr/>
          </p:nvGrpSpPr>
          <p:grpSpPr>
            <a:xfrm>
              <a:off x="8305190" y="2394585"/>
              <a:ext cx="1029919" cy="2863596"/>
              <a:chOff x="8305190" y="2394585"/>
              <a:chExt cx="1029919" cy="2863596"/>
            </a:xfrm>
          </p:grpSpPr>
          <p:sp>
            <p:nvSpPr>
              <p:cNvPr id="51" name="TextBox 51"/>
              <p:cNvSpPr txBox="1"/>
              <p:nvPr/>
            </p:nvSpPr>
            <p:spPr>
              <a:xfrm>
                <a:off x="8305190" y="239458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2026年10月底</a:t>
                </a:r>
              </a:p>
            </p:txBody>
          </p:sp>
          <p:sp>
            <p:nvSpPr>
              <p:cNvPr id="52" name="TextBox 52"/>
              <p:cNvSpPr txBox="1"/>
              <p:nvPr/>
            </p:nvSpPr>
            <p:spPr>
              <a:xfrm>
                <a:off x="8305190" y="283273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2026年11月底</a:t>
                </a:r>
              </a:p>
            </p:txBody>
          </p:sp>
          <p:sp>
            <p:nvSpPr>
              <p:cNvPr id="53" name="TextBox 53"/>
              <p:cNvSpPr txBox="1"/>
              <p:nvPr/>
            </p:nvSpPr>
            <p:spPr>
              <a:xfrm>
                <a:off x="8305190" y="327088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2026年12月底</a:t>
                </a:r>
              </a:p>
            </p:txBody>
          </p:sp>
          <p:sp>
            <p:nvSpPr>
              <p:cNvPr id="54" name="TextBox 54"/>
              <p:cNvSpPr txBox="1"/>
              <p:nvPr/>
            </p:nvSpPr>
            <p:spPr>
              <a:xfrm>
                <a:off x="8305190" y="370903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2026年11月底</a:t>
                </a:r>
              </a:p>
            </p:txBody>
          </p:sp>
          <p:sp>
            <p:nvSpPr>
              <p:cNvPr id="55" name="TextBox 55"/>
              <p:cNvSpPr txBox="1"/>
              <p:nvPr/>
            </p:nvSpPr>
            <p:spPr>
              <a:xfrm>
                <a:off x="8305190" y="414718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2026年11月底</a:t>
                </a:r>
              </a:p>
            </p:txBody>
          </p:sp>
          <p:sp>
            <p:nvSpPr>
              <p:cNvPr id="56" name="TextBox 56"/>
              <p:cNvSpPr txBox="1"/>
              <p:nvPr/>
            </p:nvSpPr>
            <p:spPr>
              <a:xfrm>
                <a:off x="8305190" y="458533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2026年10月底</a:t>
                </a:r>
              </a:p>
            </p:txBody>
          </p:sp>
          <p:sp>
            <p:nvSpPr>
              <p:cNvPr id="57" name="TextBox 57"/>
              <p:cNvSpPr txBox="1"/>
              <p:nvPr/>
            </p:nvSpPr>
            <p:spPr>
              <a:xfrm>
                <a:off x="8305190" y="5023485"/>
                <a:ext cx="1029919"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2026年12月底</a:t>
                </a:r>
              </a:p>
            </p:txBody>
          </p:sp>
        </p:grpSp>
        <p:grpSp>
          <p:nvGrpSpPr>
            <p:cNvPr id="66" name="Group 66"/>
            <p:cNvGrpSpPr/>
            <p:nvPr/>
          </p:nvGrpSpPr>
          <p:grpSpPr>
            <a:xfrm>
              <a:off x="9595104" y="2394585"/>
              <a:ext cx="1643383" cy="2863596"/>
              <a:chOff x="9595104" y="2394585"/>
              <a:chExt cx="1643383" cy="2863596"/>
            </a:xfrm>
          </p:grpSpPr>
          <p:sp>
            <p:nvSpPr>
              <p:cNvPr id="59" name="TextBox 59"/>
              <p:cNvSpPr txBox="1"/>
              <p:nvPr/>
            </p:nvSpPr>
            <p:spPr>
              <a:xfrm>
                <a:off x="9595104" y="2394585"/>
                <a:ext cx="1413586"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区级到位率100.0%</a:t>
                </a:r>
              </a:p>
            </p:txBody>
          </p:sp>
          <p:sp>
            <p:nvSpPr>
              <p:cNvPr id="60" name="TextBox 60"/>
              <p:cNvSpPr txBox="1"/>
              <p:nvPr/>
            </p:nvSpPr>
            <p:spPr>
              <a:xfrm>
                <a:off x="9595104" y="2832735"/>
                <a:ext cx="1643383"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社会资本到位率95.0%</a:t>
                </a:r>
              </a:p>
            </p:txBody>
          </p:sp>
          <p:sp>
            <p:nvSpPr>
              <p:cNvPr id="61" name="TextBox 61"/>
              <p:cNvSpPr txBox="1"/>
              <p:nvPr/>
            </p:nvSpPr>
            <p:spPr>
              <a:xfrm>
                <a:off x="9595104" y="3270885"/>
                <a:ext cx="1643383"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居民出资到位率90.0%</a:t>
                </a:r>
              </a:p>
            </p:txBody>
          </p:sp>
          <p:sp>
            <p:nvSpPr>
              <p:cNvPr id="62" name="TextBox 62"/>
              <p:cNvSpPr txBox="1"/>
              <p:nvPr/>
            </p:nvSpPr>
            <p:spPr>
              <a:xfrm>
                <a:off x="9595104" y="3709035"/>
                <a:ext cx="1320295"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支出执行率95.0%</a:t>
                </a:r>
              </a:p>
            </p:txBody>
          </p:sp>
          <p:sp>
            <p:nvSpPr>
              <p:cNvPr id="63" name="TextBox 63"/>
              <p:cNvSpPr txBox="1"/>
              <p:nvPr/>
            </p:nvSpPr>
            <p:spPr>
              <a:xfrm>
                <a:off x="9595104" y="4147185"/>
                <a:ext cx="1320295"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完成率均达90.0%</a:t>
                </a:r>
              </a:p>
            </p:txBody>
          </p:sp>
          <p:sp>
            <p:nvSpPr>
              <p:cNvPr id="64" name="TextBox 64"/>
              <p:cNvSpPr txBox="1"/>
              <p:nvPr/>
            </p:nvSpPr>
            <p:spPr>
              <a:xfrm>
                <a:off x="9595104" y="4585335"/>
                <a:ext cx="1643383"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施工管理满意度90.0%</a:t>
                </a:r>
              </a:p>
            </p:txBody>
          </p:sp>
          <p:sp>
            <p:nvSpPr>
              <p:cNvPr id="65" name="TextBox 65"/>
              <p:cNvSpPr txBox="1"/>
              <p:nvPr/>
            </p:nvSpPr>
            <p:spPr>
              <a:xfrm>
                <a:off x="9595104" y="5023485"/>
                <a:ext cx="1413586" cy="234696"/>
              </a:xfrm>
              <a:prstGeom prst="rect">
                <a:avLst/>
              </a:prstGeom>
              <a:noFill/>
              <a:ln>
                <a:noFill/>
              </a:ln>
            </p:spPr>
            <p:txBody>
              <a:bodyPr wrap="none" lIns="0" tIns="0" rIns="0" bIns="0" anchor="t" anchorCtr="0">
                <a:spAutoFit/>
              </a:bodyPr>
              <a:lstStyle/>
              <a:p>
                <a:pPr algn="l"/>
                <a:r>
                  <a:rPr lang="zh-CN" sz="1200" b="1" dirty="0">
                    <a:solidFill>
                      <a:srgbClr val="2E7D32"/>
                    </a:solidFill>
                    <a:latin typeface="+mn-lt"/>
                    <a:ea typeface="+mn-ea"/>
                    <a:cs typeface="+mn-cs"/>
                  </a:rPr>
                  <a:t>设施移交率100.0%</a:t>
                </a:r>
              </a:p>
            </p:txBody>
          </p:sp>
        </p:grpSp>
        <p:grpSp>
          <p:nvGrpSpPr>
            <p:cNvPr id="79" name="Group 79"/>
            <p:cNvGrpSpPr/>
            <p:nvPr/>
          </p:nvGrpSpPr>
          <p:grpSpPr>
            <a:xfrm>
              <a:off x="609600" y="1943100"/>
              <a:ext cx="10972800" cy="3371850"/>
              <a:chOff x="609600" y="1943100"/>
              <a:chExt cx="10972800" cy="3371850"/>
            </a:xfrm>
          </p:grpSpPr>
          <p:sp>
            <p:nvSpPr>
              <p:cNvPr id="67" name="Line 67"/>
              <p:cNvSpPr/>
              <p:nvPr/>
            </p:nvSpPr>
            <p:spPr>
              <a:xfrm>
                <a:off x="1219200" y="19431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68" name="Line 68"/>
              <p:cNvSpPr/>
              <p:nvPr/>
            </p:nvSpPr>
            <p:spPr>
              <a:xfrm>
                <a:off x="2628900" y="19431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69" name="Line 69"/>
              <p:cNvSpPr/>
              <p:nvPr/>
            </p:nvSpPr>
            <p:spPr>
              <a:xfrm>
                <a:off x="6248400" y="19431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70" name="Line 70"/>
              <p:cNvSpPr/>
              <p:nvPr/>
            </p:nvSpPr>
            <p:spPr>
              <a:xfrm>
                <a:off x="8153400" y="19431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71" name="Line 71"/>
              <p:cNvSpPr/>
              <p:nvPr/>
            </p:nvSpPr>
            <p:spPr>
              <a:xfrm>
                <a:off x="9486900" y="1943100"/>
                <a:ext cx="9525" cy="3371850"/>
              </a:xfrm>
              <a:custGeom>
                <a:avLst/>
                <a:gdLst/>
                <a:ahLst/>
                <a:cxnLst/>
                <a:rect l="l" t="t" r="r" b="b"/>
                <a:pathLst>
                  <a:path w="9525" h="3371850">
                    <a:moveTo>
                      <a:pt x="0" y="0"/>
                    </a:moveTo>
                    <a:lnTo>
                      <a:pt x="0" y="3371850"/>
                    </a:lnTo>
                  </a:path>
                </a:pathLst>
              </a:custGeom>
              <a:noFill/>
              <a:ln w="9525">
                <a:solidFill>
                  <a:srgbClr val="D3D9DF"/>
                </a:solidFill>
              </a:ln>
            </p:spPr>
          </p:sp>
          <p:sp>
            <p:nvSpPr>
              <p:cNvPr id="72" name="Line 72"/>
              <p:cNvSpPr/>
              <p:nvPr/>
            </p:nvSpPr>
            <p:spPr>
              <a:xfrm>
                <a:off x="609600" y="22479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3" name="Line 73"/>
              <p:cNvSpPr/>
              <p:nvPr/>
            </p:nvSpPr>
            <p:spPr>
              <a:xfrm>
                <a:off x="609600" y="26860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4" name="Line 74"/>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5" name="Line 75"/>
              <p:cNvSpPr/>
              <p:nvPr/>
            </p:nvSpPr>
            <p:spPr>
              <a:xfrm>
                <a:off x="609600" y="35623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6" name="Line 76"/>
              <p:cNvSpPr/>
              <p:nvPr/>
            </p:nvSpPr>
            <p:spPr>
              <a:xfrm>
                <a:off x="609600" y="40005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7" name="Line 77"/>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78" name="Line 78"/>
              <p:cNvSpPr/>
              <p:nvPr/>
            </p:nvSpPr>
            <p:spPr>
              <a:xfrm>
                <a:off x="609600" y="4876800"/>
                <a:ext cx="10972800" cy="9525"/>
              </a:xfrm>
              <a:custGeom>
                <a:avLst/>
                <a:gdLst/>
                <a:ahLst/>
                <a:cxnLst/>
                <a:rect l="l" t="t" r="r" b="b"/>
                <a:pathLst>
                  <a:path w="10972800" h="9525">
                    <a:moveTo>
                      <a:pt x="0" y="0"/>
                    </a:moveTo>
                    <a:lnTo>
                      <a:pt x="10972800" y="0"/>
                    </a:lnTo>
                  </a:path>
                </a:pathLst>
              </a:custGeom>
              <a:noFill/>
              <a:ln w="9525">
                <a:solidFill>
                  <a:srgbClr val="D3D9DF"/>
                </a:solidFill>
              </a:ln>
            </p:spPr>
          </p:sp>
        </p:grpSp>
        <p:sp>
          <p:nvSpPr>
            <p:cNvPr id="80" name="Rectangle 80"/>
            <p:cNvSpPr/>
            <p:nvPr/>
          </p:nvSpPr>
          <p:spPr>
            <a:xfrm>
              <a:off x="609600" y="1943100"/>
              <a:ext cx="10972800" cy="3371850"/>
            </a:xfrm>
            <a:prstGeom prst="rect">
              <a:avLst/>
            </a:prstGeom>
            <a:noFill/>
            <a:ln w="14288">
              <a:solidFill>
                <a:schemeClr val="accent1"/>
              </a:solidFill>
            </a:ln>
          </p:spPr>
        </p:sp>
      </p:grpSp>
      <p:grpSp>
        <p:nvGrpSpPr>
          <p:cNvPr id="85" name="measure-requirement-note"/>
          <p:cNvGrpSpPr/>
          <p:nvPr/>
        </p:nvGrpSpPr>
        <p:grpSpPr>
          <a:xfrm>
            <a:off x="609600" y="5467350"/>
            <a:ext cx="8501786" cy="505206"/>
            <a:chOff x="609600" y="5467350"/>
            <a:chExt cx="8501786" cy="505206"/>
          </a:xfrm>
        </p:grpSpPr>
        <p:sp>
          <p:nvSpPr>
            <p:cNvPr id="82" name="Rectangle 82"/>
            <p:cNvSpPr/>
            <p:nvPr/>
          </p:nvSpPr>
          <p:spPr>
            <a:xfrm>
              <a:off x="609600" y="5467350"/>
              <a:ext cx="28575" cy="438150"/>
            </a:xfrm>
            <a:prstGeom prst="rect">
              <a:avLst/>
            </a:prstGeom>
            <a:solidFill>
              <a:schemeClr val="accent2"/>
            </a:solidFill>
            <a:ln>
              <a:noFill/>
            </a:ln>
          </p:spPr>
        </p:sp>
        <p:sp>
          <p:nvSpPr>
            <p:cNvPr id="83" name="TextBox 83"/>
            <p:cNvSpPr txBox="1"/>
            <p:nvPr/>
          </p:nvSpPr>
          <p:spPr>
            <a:xfrm>
              <a:off x="813054" y="5509260"/>
              <a:ext cx="8298332"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整改要求：上述七项措施自本报告审定之日起执行，每月5日前报送进展；验收口径中的比率均按P02统一口径计算。</a:t>
              </a:r>
            </a:p>
          </p:txBody>
        </p:sp>
        <p:sp>
          <p:nvSpPr>
            <p:cNvPr id="84" name="TextBox 84"/>
            <p:cNvSpPr txBox="1"/>
            <p:nvPr/>
          </p:nvSpPr>
          <p:spPr>
            <a:xfrm>
              <a:off x="813054" y="5737860"/>
              <a:ext cx="750570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达标线95.0%、滞后线90.0%，与P02、P08判定阈值一致；责任单位为牵头单位，配合单位另行文明确。</a:t>
              </a:r>
            </a:p>
          </p:txBody>
        </p:sp>
      </p:grpSp>
      <p:grpSp>
        <p:nvGrpSpPr>
          <p:cNvPr id="89" name="page-footer"/>
          <p:cNvGrpSpPr/>
          <p:nvPr/>
        </p:nvGrpSpPr>
        <p:grpSpPr>
          <a:xfrm>
            <a:off x="603504" y="6172200"/>
            <a:ext cx="10984992" cy="295656"/>
            <a:chOff x="603504" y="6172200"/>
            <a:chExt cx="10984992" cy="295656"/>
          </a:xfrm>
        </p:grpSpPr>
        <p:sp>
          <p:nvSpPr>
            <p:cNvPr id="86" name="Line 86"/>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87" name="TextBox 87"/>
            <p:cNvSpPr txBox="1"/>
            <p:nvPr/>
          </p:nvSpPr>
          <p:spPr>
            <a:xfrm>
              <a:off x="603504" y="6233160"/>
              <a:ext cx="2513990"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措施依据：P10、P11所列五项问题</a:t>
              </a:r>
            </a:p>
          </p:txBody>
        </p:sp>
        <p:sp>
          <p:nvSpPr>
            <p:cNvPr id="88" name="TextBox 88"/>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page-header"/>
          <p:cNvGrpSpPr/>
          <p:nvPr/>
        </p:nvGrpSpPr>
        <p:grpSpPr>
          <a:xfrm>
            <a:off x="594360" y="578168"/>
            <a:ext cx="10994898" cy="1313116"/>
            <a:chOff x="594360" y="578168"/>
            <a:chExt cx="10994898" cy="1313116"/>
          </a:xfrm>
        </p:grpSpPr>
        <p:sp>
          <p:nvSpPr>
            <p:cNvPr id="2" name="TextBox 2"/>
            <p:cNvSpPr txBox="1"/>
            <p:nvPr/>
          </p:nvSpPr>
          <p:spPr>
            <a:xfrm>
              <a:off x="602742" y="578168"/>
              <a:ext cx="2305622" cy="264033"/>
            </a:xfrm>
            <a:prstGeom prst="rect">
              <a:avLst/>
            </a:prstGeom>
            <a:noFill/>
            <a:ln>
              <a:noFill/>
            </a:ln>
          </p:spPr>
          <p:txBody>
            <a:bodyPr wrap="none" lIns="0" tIns="0" rIns="0" bIns="0" anchor="t" anchorCtr="0">
              <a:spAutoFit/>
            </a:bodyPr>
            <a:lstStyle/>
            <a:p>
              <a:pPr algn="l"/>
              <a:r>
                <a:rPr lang="zh-CN" sz="1350" spc="75" dirty="0">
                  <a:solidFill>
                    <a:schemeClr val="accent5"/>
                  </a:solidFill>
                  <a:latin typeface="+mn-lt"/>
                  <a:ea typeface="+mn-ea"/>
                  <a:cs typeface="+mn-cs"/>
                </a:rPr>
                <a:t>老旧小区改造工作情况汇报</a:t>
              </a:r>
            </a:p>
          </p:txBody>
        </p:sp>
        <p:sp>
          <p:nvSpPr>
            <p:cNvPr id="3" name="TextBox 3"/>
            <p:cNvSpPr txBox="1"/>
            <p:nvPr/>
          </p:nvSpPr>
          <p:spPr>
            <a:xfrm>
              <a:off x="9403785" y="578168"/>
              <a:ext cx="2185473" cy="264033"/>
            </a:xfrm>
            <a:prstGeom prst="rect">
              <a:avLst/>
            </a:prstGeom>
            <a:noFill/>
            <a:ln>
              <a:noFill/>
            </a:ln>
          </p:spPr>
          <p:txBody>
            <a:bodyPr wrap="none" lIns="0" tIns="0" rIns="0" bIns="0" anchor="t" anchorCtr="0">
              <a:spAutoFit/>
            </a:bodyPr>
            <a:lstStyle/>
            <a:p>
              <a:pPr algn="r"/>
              <a:r>
                <a:rPr lang="zh-CN" sz="1350" dirty="0">
                  <a:solidFill>
                    <a:schemeClr val="accent6"/>
                  </a:solidFill>
                  <a:latin typeface="+mn-lt"/>
                  <a:ea typeface="+mn-ea"/>
                  <a:cs typeface="+mn-cs"/>
                </a:rPr>
                <a:t>五、下一步计划 ｜ 13 / 13</a:t>
              </a:r>
            </a:p>
          </p:txBody>
        </p:sp>
        <p:sp>
          <p:nvSpPr>
            <p:cNvPr id="4" name="Rectangle 4"/>
            <p:cNvSpPr/>
            <p:nvPr/>
          </p:nvSpPr>
          <p:spPr>
            <a:xfrm>
              <a:off x="609600" y="838200"/>
              <a:ext cx="1143000" cy="19050"/>
            </a:xfrm>
            <a:prstGeom prst="rect">
              <a:avLst/>
            </a:prstGeom>
            <a:solidFill>
              <a:schemeClr val="accent2"/>
            </a:solidFill>
            <a:ln>
              <a:noFill/>
            </a:ln>
          </p:spPr>
        </p:sp>
        <p:sp>
          <p:nvSpPr>
            <p:cNvPr id="5" name="Line 5"/>
            <p:cNvSpPr/>
            <p:nvPr/>
          </p:nvSpPr>
          <p:spPr>
            <a:xfrm>
              <a:off x="1752600" y="847725"/>
              <a:ext cx="9829800" cy="9525"/>
            </a:xfrm>
            <a:custGeom>
              <a:avLst/>
              <a:gdLst/>
              <a:ahLst/>
              <a:cxnLst/>
              <a:rect l="l" t="t" r="r" b="b"/>
              <a:pathLst>
                <a:path w="9829800" h="9525">
                  <a:moveTo>
                    <a:pt x="0" y="0"/>
                  </a:moveTo>
                  <a:lnTo>
                    <a:pt x="9829800" y="0"/>
                  </a:lnTo>
                </a:path>
              </a:pathLst>
            </a:custGeom>
            <a:noFill/>
            <a:ln w="9525">
              <a:solidFill>
                <a:srgbClr val="D3D9DF"/>
              </a:solidFill>
            </a:ln>
          </p:spPr>
        </p:sp>
        <p:sp>
          <p:nvSpPr>
            <p:cNvPr id="6" name="TextBox 6"/>
            <p:cNvSpPr txBox="1"/>
            <p:nvPr/>
          </p:nvSpPr>
          <p:spPr>
            <a:xfrm>
              <a:off x="594360" y="9906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长效机制与请示事项</a:t>
              </a:r>
            </a:p>
          </p:txBody>
        </p:sp>
        <p:sp>
          <p:nvSpPr>
            <p:cNvPr id="7" name="Rectangle 7"/>
            <p:cNvSpPr/>
            <p:nvPr/>
          </p:nvSpPr>
          <p:spPr>
            <a:xfrm>
              <a:off x="609600" y="1485900"/>
              <a:ext cx="10972800" cy="361950"/>
            </a:xfrm>
            <a:prstGeom prst="rect">
              <a:avLst/>
            </a:prstGeom>
            <a:solidFill>
              <a:schemeClr val="accent1">
                <a:alpha val="5000"/>
              </a:schemeClr>
            </a:solidFill>
            <a:ln>
              <a:noFill/>
            </a:ln>
          </p:spPr>
        </p:sp>
        <p:sp>
          <p:nvSpPr>
            <p:cNvPr id="8" name="Rectangle 8"/>
            <p:cNvSpPr/>
            <p:nvPr/>
          </p:nvSpPr>
          <p:spPr>
            <a:xfrm>
              <a:off x="609600" y="1485900"/>
              <a:ext cx="28575" cy="361950"/>
            </a:xfrm>
            <a:prstGeom prst="rect">
              <a:avLst/>
            </a:prstGeom>
            <a:solidFill>
              <a:schemeClr val="accent2"/>
            </a:solidFill>
            <a:ln>
              <a:noFill/>
            </a:ln>
          </p:spPr>
        </p:sp>
        <p:sp>
          <p:nvSpPr>
            <p:cNvPr id="9" name="TextBox 9"/>
            <p:cNvSpPr txBox="1"/>
            <p:nvPr/>
          </p:nvSpPr>
          <p:spPr>
            <a:xfrm>
              <a:off x="810006" y="1539240"/>
              <a:ext cx="84993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以四项长效机制巩固改造成效，并就资金、工期与共建机制三项事项提请审议。</a:t>
              </a:r>
            </a:p>
          </p:txBody>
        </p:sp>
      </p:grpSp>
      <p:grpSp>
        <p:nvGrpSpPr>
          <p:cNvPr id="29" name="longterm-mechanism-list"/>
          <p:cNvGrpSpPr/>
          <p:nvPr/>
        </p:nvGrpSpPr>
        <p:grpSpPr>
          <a:xfrm>
            <a:off x="598932" y="1945005"/>
            <a:ext cx="3732276" cy="3850196"/>
            <a:chOff x="598932" y="1945005"/>
            <a:chExt cx="3732276" cy="3850196"/>
          </a:xfrm>
        </p:grpSpPr>
        <p:sp>
          <p:nvSpPr>
            <p:cNvPr id="11" name="TextBox 11"/>
            <p:cNvSpPr txBox="1"/>
            <p:nvPr/>
          </p:nvSpPr>
          <p:spPr>
            <a:xfrm>
              <a:off x="598932" y="1945005"/>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建立长效机制</a:t>
              </a:r>
            </a:p>
          </p:txBody>
        </p:sp>
        <p:sp>
          <p:nvSpPr>
            <p:cNvPr id="12" name="Rectangle 12"/>
            <p:cNvSpPr/>
            <p:nvPr/>
          </p:nvSpPr>
          <p:spPr>
            <a:xfrm>
              <a:off x="609600" y="2286000"/>
              <a:ext cx="609600" cy="38100"/>
            </a:xfrm>
            <a:prstGeom prst="rect">
              <a:avLst/>
            </a:prstGeom>
            <a:solidFill>
              <a:schemeClr val="accent2"/>
            </a:solidFill>
            <a:ln>
              <a:noFill/>
            </a:ln>
          </p:spPr>
        </p:sp>
        <p:sp>
          <p:nvSpPr>
            <p:cNvPr id="13" name="Rectangle 13"/>
            <p:cNvSpPr/>
            <p:nvPr/>
          </p:nvSpPr>
          <p:spPr>
            <a:xfrm>
              <a:off x="609600" y="2457450"/>
              <a:ext cx="304800" cy="304800"/>
            </a:xfrm>
            <a:prstGeom prst="rect">
              <a:avLst/>
            </a:prstGeom>
            <a:solidFill>
              <a:schemeClr val="accent1"/>
            </a:solidFill>
            <a:ln>
              <a:noFill/>
            </a:ln>
          </p:spPr>
        </p:sp>
        <p:sp>
          <p:nvSpPr>
            <p:cNvPr id="14" name="TextBox 14"/>
            <p:cNvSpPr txBox="1"/>
            <p:nvPr/>
          </p:nvSpPr>
          <p:spPr>
            <a:xfrm>
              <a:off x="702665" y="2530792"/>
              <a:ext cx="11866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1</a:t>
              </a:r>
            </a:p>
          </p:txBody>
        </p:sp>
        <p:sp>
          <p:nvSpPr>
            <p:cNvPr id="15" name="TextBox 15"/>
            <p:cNvSpPr txBox="1"/>
            <p:nvPr/>
          </p:nvSpPr>
          <p:spPr>
            <a:xfrm>
              <a:off x="1059180" y="2524125"/>
              <a:ext cx="142875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资金保障长效化</a:t>
              </a:r>
            </a:p>
          </p:txBody>
        </p:sp>
        <p:sp>
          <p:nvSpPr>
            <p:cNvPr id="16" name="TextBox 16"/>
            <p:cNvSpPr txBox="1"/>
            <p:nvPr/>
          </p:nvSpPr>
          <p:spPr>
            <a:xfrm>
              <a:off x="1059942" y="2807018"/>
              <a:ext cx="3099816"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将区级配套、管线单位及居民出资纳入年</a:t>
              </a:r>
              <a:br/>
              <a:r>
                <a:rPr lang="zh-CN" sz="1350" dirty="0">
                  <a:solidFill>
                    <a:schemeClr val="accent6"/>
                  </a:solidFill>
                  <a:latin typeface="+mn-lt"/>
                  <a:ea typeface="+mn-ea"/>
                  <a:cs typeface="+mn-cs"/>
                </a:rPr>
                <a:t>度预算与合同管理，实行到位率月通报。</a:t>
              </a:r>
            </a:p>
          </p:txBody>
        </p:sp>
        <p:sp>
          <p:nvSpPr>
            <p:cNvPr id="17" name="Rectangle 17"/>
            <p:cNvSpPr/>
            <p:nvPr/>
          </p:nvSpPr>
          <p:spPr>
            <a:xfrm>
              <a:off x="609600" y="3295650"/>
              <a:ext cx="304800" cy="304800"/>
            </a:xfrm>
            <a:prstGeom prst="rect">
              <a:avLst/>
            </a:prstGeom>
            <a:solidFill>
              <a:schemeClr val="accent1"/>
            </a:solidFill>
            <a:ln>
              <a:noFill/>
            </a:ln>
          </p:spPr>
        </p:sp>
        <p:sp>
          <p:nvSpPr>
            <p:cNvPr id="18" name="TextBox 18"/>
            <p:cNvSpPr txBox="1"/>
            <p:nvPr/>
          </p:nvSpPr>
          <p:spPr>
            <a:xfrm>
              <a:off x="702665" y="3368992"/>
              <a:ext cx="11866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2</a:t>
              </a:r>
            </a:p>
          </p:txBody>
        </p:sp>
        <p:sp>
          <p:nvSpPr>
            <p:cNvPr id="19" name="TextBox 19"/>
            <p:cNvSpPr txBox="1"/>
            <p:nvPr/>
          </p:nvSpPr>
          <p:spPr>
            <a:xfrm>
              <a:off x="1059180" y="3362325"/>
              <a:ext cx="163068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支出进度闭环管理</a:t>
              </a:r>
            </a:p>
          </p:txBody>
        </p:sp>
        <p:sp>
          <p:nvSpPr>
            <p:cNvPr id="20" name="TextBox 20"/>
            <p:cNvSpPr txBox="1"/>
            <p:nvPr/>
          </p:nvSpPr>
          <p:spPr>
            <a:xfrm>
              <a:off x="1059942" y="3645218"/>
              <a:ext cx="3099816"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建立结余资金台账与月度调度机制，竣工</a:t>
              </a:r>
              <a:br/>
              <a:r>
                <a:rPr lang="zh-CN" sz="1350" dirty="0">
                  <a:solidFill>
                    <a:schemeClr val="accent6"/>
                  </a:solidFill>
                  <a:latin typeface="+mn-lt"/>
                  <a:ea typeface="+mn-ea"/>
                  <a:cs typeface="+mn-cs"/>
                </a:rPr>
                <a:t>结算审计限时30个工作日办结。</a:t>
              </a:r>
            </a:p>
          </p:txBody>
        </p:sp>
        <p:sp>
          <p:nvSpPr>
            <p:cNvPr id="21" name="Rectangle 21"/>
            <p:cNvSpPr/>
            <p:nvPr/>
          </p:nvSpPr>
          <p:spPr>
            <a:xfrm>
              <a:off x="609600" y="4133850"/>
              <a:ext cx="304800" cy="304800"/>
            </a:xfrm>
            <a:prstGeom prst="rect">
              <a:avLst/>
            </a:prstGeom>
            <a:solidFill>
              <a:schemeClr val="accent1"/>
            </a:solidFill>
            <a:ln>
              <a:noFill/>
            </a:ln>
          </p:spPr>
        </p:sp>
        <p:sp>
          <p:nvSpPr>
            <p:cNvPr id="22" name="TextBox 22"/>
            <p:cNvSpPr txBox="1"/>
            <p:nvPr/>
          </p:nvSpPr>
          <p:spPr>
            <a:xfrm>
              <a:off x="702665" y="4207192"/>
              <a:ext cx="11866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3</a:t>
              </a:r>
            </a:p>
          </p:txBody>
        </p:sp>
        <p:sp>
          <p:nvSpPr>
            <p:cNvPr id="23" name="TextBox 23"/>
            <p:cNvSpPr txBox="1"/>
            <p:nvPr/>
          </p:nvSpPr>
          <p:spPr>
            <a:xfrm>
              <a:off x="1059180" y="4200525"/>
              <a:ext cx="163068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居民全程参与机制</a:t>
              </a:r>
            </a:p>
          </p:txBody>
        </p:sp>
        <p:sp>
          <p:nvSpPr>
            <p:cNvPr id="24" name="TextBox 24"/>
            <p:cNvSpPr txBox="1"/>
            <p:nvPr/>
          </p:nvSpPr>
          <p:spPr>
            <a:xfrm>
              <a:off x="1059942" y="4483418"/>
              <a:ext cx="3262694"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改造前问需、改造中问计、改造后问效，</a:t>
              </a:r>
              <a:br/>
              <a:r>
                <a:rPr lang="zh-CN" sz="1350" dirty="0">
                  <a:solidFill>
                    <a:schemeClr val="accent6"/>
                  </a:solidFill>
                  <a:latin typeface="+mn-lt"/>
                  <a:ea typeface="+mn-ea"/>
                  <a:cs typeface="+mn-cs"/>
                </a:rPr>
                <a:t>分项满意度低于90.0%的项目一律回头看。</a:t>
              </a:r>
            </a:p>
          </p:txBody>
        </p:sp>
        <p:sp>
          <p:nvSpPr>
            <p:cNvPr id="25" name="Rectangle 25"/>
            <p:cNvSpPr/>
            <p:nvPr/>
          </p:nvSpPr>
          <p:spPr>
            <a:xfrm>
              <a:off x="609600" y="4972050"/>
              <a:ext cx="304800" cy="304800"/>
            </a:xfrm>
            <a:prstGeom prst="rect">
              <a:avLst/>
            </a:prstGeom>
            <a:solidFill>
              <a:schemeClr val="accent1"/>
            </a:solidFill>
            <a:ln>
              <a:noFill/>
            </a:ln>
          </p:spPr>
        </p:sp>
        <p:sp>
          <p:nvSpPr>
            <p:cNvPr id="26" name="TextBox 26"/>
            <p:cNvSpPr txBox="1"/>
            <p:nvPr/>
          </p:nvSpPr>
          <p:spPr>
            <a:xfrm>
              <a:off x="702665" y="5045392"/>
              <a:ext cx="118669"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4</a:t>
              </a:r>
            </a:p>
          </p:txBody>
        </p:sp>
        <p:sp>
          <p:nvSpPr>
            <p:cNvPr id="27" name="TextBox 27"/>
            <p:cNvSpPr txBox="1"/>
            <p:nvPr/>
          </p:nvSpPr>
          <p:spPr>
            <a:xfrm>
              <a:off x="1059180" y="5038725"/>
              <a:ext cx="142875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改造与管养衔接</a:t>
              </a:r>
            </a:p>
          </p:txBody>
        </p:sp>
        <p:sp>
          <p:nvSpPr>
            <p:cNvPr id="28" name="TextBox 28"/>
            <p:cNvSpPr txBox="1"/>
            <p:nvPr/>
          </p:nvSpPr>
          <p:spPr>
            <a:xfrm>
              <a:off x="1059942" y="5321618"/>
              <a:ext cx="3271266"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accent6"/>
                  </a:solidFill>
                  <a:latin typeface="+mn-lt"/>
                  <a:ea typeface="+mn-ea"/>
                  <a:cs typeface="+mn-cs"/>
                </a:rPr>
                <a:t>改造方案同步编制后期管养方案，明确物</a:t>
              </a:r>
              <a:br/>
              <a:r>
                <a:rPr lang="zh-CN" sz="1350" dirty="0">
                  <a:solidFill>
                    <a:schemeClr val="accent6"/>
                  </a:solidFill>
                  <a:latin typeface="+mn-lt"/>
                  <a:ea typeface="+mn-ea"/>
                  <a:cs typeface="+mn-cs"/>
                </a:rPr>
                <a:t>业接管主体与经费来源，设施建成即移交。</a:t>
              </a:r>
            </a:p>
          </p:txBody>
        </p:sp>
      </p:grpSp>
      <p:grpSp>
        <p:nvGrpSpPr>
          <p:cNvPr id="46" name="approval-request-panel"/>
          <p:cNvGrpSpPr/>
          <p:nvPr/>
        </p:nvGrpSpPr>
        <p:grpSpPr>
          <a:xfrm>
            <a:off x="6313932" y="1945005"/>
            <a:ext cx="5268468" cy="3926396"/>
            <a:chOff x="6313932" y="1945005"/>
            <a:chExt cx="5268468" cy="3926396"/>
          </a:xfrm>
        </p:grpSpPr>
        <p:sp>
          <p:nvSpPr>
            <p:cNvPr id="30" name="TextBox 30"/>
            <p:cNvSpPr txBox="1"/>
            <p:nvPr/>
          </p:nvSpPr>
          <p:spPr>
            <a:xfrm>
              <a:off x="6313932" y="194500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请示事项</a:t>
              </a:r>
            </a:p>
          </p:txBody>
        </p:sp>
        <p:sp>
          <p:nvSpPr>
            <p:cNvPr id="31" name="Rectangle 31"/>
            <p:cNvSpPr/>
            <p:nvPr/>
          </p:nvSpPr>
          <p:spPr>
            <a:xfrm>
              <a:off x="6324600" y="2286000"/>
              <a:ext cx="609600" cy="38100"/>
            </a:xfrm>
            <a:prstGeom prst="rect">
              <a:avLst/>
            </a:prstGeom>
            <a:solidFill>
              <a:schemeClr val="accent2"/>
            </a:solidFill>
            <a:ln>
              <a:noFill/>
            </a:ln>
          </p:spPr>
        </p:sp>
        <p:sp>
          <p:nvSpPr>
            <p:cNvPr id="32" name="Rectangle 32"/>
            <p:cNvSpPr/>
            <p:nvPr/>
          </p:nvSpPr>
          <p:spPr>
            <a:xfrm>
              <a:off x="6324600" y="2381250"/>
              <a:ext cx="5257800" cy="3486150"/>
            </a:xfrm>
            <a:prstGeom prst="rect">
              <a:avLst/>
            </a:prstGeom>
            <a:solidFill>
              <a:schemeClr val="accent1"/>
            </a:solidFill>
            <a:ln>
              <a:noFill/>
            </a:ln>
          </p:spPr>
        </p:sp>
        <p:sp>
          <p:nvSpPr>
            <p:cNvPr id="33" name="Rectangle 33"/>
            <p:cNvSpPr/>
            <p:nvPr/>
          </p:nvSpPr>
          <p:spPr>
            <a:xfrm>
              <a:off x="6324600" y="2381250"/>
              <a:ext cx="5257800" cy="38100"/>
            </a:xfrm>
            <a:prstGeom prst="rect">
              <a:avLst/>
            </a:prstGeom>
            <a:solidFill>
              <a:schemeClr val="accent2"/>
            </a:solidFill>
            <a:ln>
              <a:noFill/>
            </a:ln>
          </p:spPr>
        </p:sp>
        <p:sp>
          <p:nvSpPr>
            <p:cNvPr id="34" name="TextBox 34"/>
            <p:cNvSpPr txBox="1"/>
            <p:nvPr/>
          </p:nvSpPr>
          <p:spPr>
            <a:xfrm>
              <a:off x="6582156" y="2663190"/>
              <a:ext cx="26060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一</a:t>
              </a:r>
            </a:p>
          </p:txBody>
        </p:sp>
        <p:sp>
          <p:nvSpPr>
            <p:cNvPr id="35" name="TextBox 35"/>
            <p:cNvSpPr txBox="1"/>
            <p:nvPr/>
          </p:nvSpPr>
          <p:spPr>
            <a:xfrm>
              <a:off x="6926580" y="2695575"/>
              <a:ext cx="163068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追加区级配套资金</a:t>
              </a:r>
            </a:p>
          </p:txBody>
        </p:sp>
        <p:sp>
          <p:nvSpPr>
            <p:cNvPr id="36" name="TextBox 36"/>
            <p:cNvSpPr txBox="1"/>
            <p:nvPr/>
          </p:nvSpPr>
          <p:spPr>
            <a:xfrm>
              <a:off x="6927342" y="2978468"/>
              <a:ext cx="3802761" cy="473583"/>
            </a:xfrm>
            <a:prstGeom prst="rect">
              <a:avLst/>
            </a:prstGeom>
            <a:noFill/>
            <a:ln>
              <a:noFill/>
            </a:ln>
          </p:spPr>
          <p:txBody>
            <a:bodyPr wrap="none" lIns="0" tIns="0" rIns="0" bIns="0" anchor="t" anchorCtr="0">
              <a:spAutoFit/>
            </a:bodyPr>
            <a:lstStyle/>
            <a:p>
              <a:pPr algn="l">
                <a:lnSpc>
                  <a:spcPts val="1650"/>
                </a:lnSpc>
              </a:pPr>
              <a:r>
                <a:rPr lang="zh-CN" sz="1350" dirty="0">
                  <a:solidFill>
                    <a:srgbClr val="D3D9DF"/>
                  </a:solidFill>
                  <a:latin typeface="+mn-lt"/>
                  <a:ea typeface="+mn-ea"/>
                  <a:cs typeface="+mn-cs"/>
                </a:rPr>
                <a:t>恳请区政府同意将2140万元区级配套</a:t>
              </a:r>
              <a:br/>
              <a:r>
                <a:rPr lang="zh-CN" sz="1350" dirty="0">
                  <a:solidFill>
                    <a:srgbClr val="D3D9DF"/>
                  </a:solidFill>
                  <a:latin typeface="+mn-lt"/>
                  <a:ea typeface="+mn-ea"/>
                  <a:cs typeface="+mn-cs"/>
                </a:rPr>
                <a:t>缺口纳入年度预算调整方案，10月底前拨付到位。</a:t>
              </a:r>
            </a:p>
          </p:txBody>
        </p:sp>
        <p:sp>
          <p:nvSpPr>
            <p:cNvPr id="37" name="Line 37"/>
            <p:cNvSpPr/>
            <p:nvPr/>
          </p:nvSpPr>
          <p:spPr>
            <a:xfrm>
              <a:off x="6591300" y="3543300"/>
              <a:ext cx="4724400" cy="9525"/>
            </a:xfrm>
            <a:custGeom>
              <a:avLst/>
              <a:gdLst/>
              <a:ahLst/>
              <a:cxnLst/>
              <a:rect l="l" t="t" r="r" b="b"/>
              <a:pathLst>
                <a:path w="4724400" h="9525">
                  <a:moveTo>
                    <a:pt x="0" y="0"/>
                  </a:moveTo>
                  <a:lnTo>
                    <a:pt x="4724400" y="0"/>
                  </a:lnTo>
                </a:path>
              </a:pathLst>
            </a:custGeom>
            <a:noFill/>
            <a:ln w="9525">
              <a:solidFill>
                <a:srgbClr val="FFFFFF">
                  <a:alpha val="20000"/>
                </a:srgbClr>
              </a:solidFill>
            </a:ln>
          </p:spPr>
        </p:sp>
        <p:sp>
          <p:nvSpPr>
            <p:cNvPr id="38" name="TextBox 38"/>
            <p:cNvSpPr txBox="1"/>
            <p:nvPr/>
          </p:nvSpPr>
          <p:spPr>
            <a:xfrm>
              <a:off x="6582156" y="3729990"/>
              <a:ext cx="26060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二</a:t>
              </a:r>
            </a:p>
          </p:txBody>
        </p:sp>
        <p:sp>
          <p:nvSpPr>
            <p:cNvPr id="39" name="TextBox 39"/>
            <p:cNvSpPr txBox="1"/>
            <p:nvPr/>
          </p:nvSpPr>
          <p:spPr>
            <a:xfrm>
              <a:off x="6926580" y="3762375"/>
              <a:ext cx="163068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顺延在建项目工期</a:t>
              </a:r>
            </a:p>
          </p:txBody>
        </p:sp>
        <p:sp>
          <p:nvSpPr>
            <p:cNvPr id="40" name="TextBox 40"/>
            <p:cNvSpPr txBox="1"/>
            <p:nvPr/>
          </p:nvSpPr>
          <p:spPr>
            <a:xfrm>
              <a:off x="6927342" y="4045268"/>
              <a:ext cx="2851213" cy="473583"/>
            </a:xfrm>
            <a:prstGeom prst="rect">
              <a:avLst/>
            </a:prstGeom>
            <a:noFill/>
            <a:ln>
              <a:noFill/>
            </a:ln>
          </p:spPr>
          <p:txBody>
            <a:bodyPr wrap="none" lIns="0" tIns="0" rIns="0" bIns="0" anchor="t" anchorCtr="0">
              <a:spAutoFit/>
            </a:bodyPr>
            <a:lstStyle/>
            <a:p>
              <a:pPr algn="l">
                <a:lnSpc>
                  <a:spcPts val="1650"/>
                </a:lnSpc>
              </a:pPr>
              <a:r>
                <a:rPr lang="zh-CN" sz="1350" dirty="0">
                  <a:solidFill>
                    <a:srgbClr val="D3D9DF"/>
                  </a:solidFill>
                  <a:latin typeface="+mn-lt"/>
                  <a:ea typeface="+mn-ea"/>
                  <a:cs typeface="+mn-cs"/>
                </a:rPr>
                <a:t>恳请同意5个在建小区完工时限顺延至</a:t>
              </a:r>
              <a:br/>
              <a:r>
                <a:rPr lang="zh-CN" sz="1350" dirty="0">
                  <a:solidFill>
                    <a:srgbClr val="D3D9DF"/>
                  </a:solidFill>
                  <a:latin typeface="+mn-lt"/>
                  <a:ea typeface="+mn-ea"/>
                  <a:cs typeface="+mn-cs"/>
                </a:rPr>
                <a:t>2026年11月底，并按月报送进度。</a:t>
              </a:r>
            </a:p>
          </p:txBody>
        </p:sp>
        <p:sp>
          <p:nvSpPr>
            <p:cNvPr id="41" name="Line 41"/>
            <p:cNvSpPr/>
            <p:nvPr/>
          </p:nvSpPr>
          <p:spPr>
            <a:xfrm>
              <a:off x="6591300" y="4610100"/>
              <a:ext cx="4724400" cy="9525"/>
            </a:xfrm>
            <a:custGeom>
              <a:avLst/>
              <a:gdLst/>
              <a:ahLst/>
              <a:cxnLst/>
              <a:rect l="l" t="t" r="r" b="b"/>
              <a:pathLst>
                <a:path w="4724400" h="9525">
                  <a:moveTo>
                    <a:pt x="0" y="0"/>
                  </a:moveTo>
                  <a:lnTo>
                    <a:pt x="4724400" y="0"/>
                  </a:lnTo>
                </a:path>
              </a:pathLst>
            </a:custGeom>
            <a:noFill/>
            <a:ln w="9525">
              <a:solidFill>
                <a:srgbClr val="FFFFFF">
                  <a:alpha val="20000"/>
                </a:srgbClr>
              </a:solidFill>
            </a:ln>
          </p:spPr>
        </p:sp>
        <p:sp>
          <p:nvSpPr>
            <p:cNvPr id="42" name="TextBox 42"/>
            <p:cNvSpPr txBox="1"/>
            <p:nvPr/>
          </p:nvSpPr>
          <p:spPr>
            <a:xfrm>
              <a:off x="6582156" y="4796790"/>
              <a:ext cx="26060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三</a:t>
              </a:r>
            </a:p>
          </p:txBody>
        </p:sp>
        <p:sp>
          <p:nvSpPr>
            <p:cNvPr id="43" name="TextBox 43"/>
            <p:cNvSpPr txBox="1"/>
            <p:nvPr/>
          </p:nvSpPr>
          <p:spPr>
            <a:xfrm>
              <a:off x="6926580" y="4829175"/>
              <a:ext cx="203454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支持管线单位共建共担</a:t>
              </a:r>
            </a:p>
          </p:txBody>
        </p:sp>
        <p:sp>
          <p:nvSpPr>
            <p:cNvPr id="44" name="TextBox 44"/>
            <p:cNvSpPr txBox="1"/>
            <p:nvPr/>
          </p:nvSpPr>
          <p:spPr>
            <a:xfrm>
              <a:off x="6927342" y="5112068"/>
              <a:ext cx="2945511" cy="473583"/>
            </a:xfrm>
            <a:prstGeom prst="rect">
              <a:avLst/>
            </a:prstGeom>
            <a:noFill/>
            <a:ln>
              <a:noFill/>
            </a:ln>
          </p:spPr>
          <p:txBody>
            <a:bodyPr wrap="none" lIns="0" tIns="0" rIns="0" bIns="0" anchor="t" anchorCtr="0">
              <a:spAutoFit/>
            </a:bodyPr>
            <a:lstStyle/>
            <a:p>
              <a:pPr algn="l">
                <a:lnSpc>
                  <a:spcPts val="1650"/>
                </a:lnSpc>
              </a:pPr>
              <a:r>
                <a:rPr lang="zh-CN" sz="1350" dirty="0">
                  <a:solidFill>
                    <a:srgbClr val="D3D9DF"/>
                  </a:solidFill>
                  <a:latin typeface="+mn-lt"/>
                  <a:ea typeface="+mn-ea"/>
                  <a:cs typeface="+mn-cs"/>
                </a:rPr>
                <a:t>恳请将管线单位“共建共担”出资机制纳</a:t>
              </a:r>
              <a:br/>
              <a:r>
                <a:rPr lang="zh-CN" sz="1350" dirty="0">
                  <a:solidFill>
                    <a:srgbClr val="D3D9DF"/>
                  </a:solidFill>
                  <a:latin typeface="+mn-lt"/>
                  <a:ea typeface="+mn-ea"/>
                  <a:cs typeface="+mn-cs"/>
                </a:rPr>
                <a:t>入市级文件，明确付费节点与比例。</a:t>
              </a:r>
            </a:p>
          </p:txBody>
        </p:sp>
        <p:sp>
          <p:nvSpPr>
            <p:cNvPr id="45" name="TextBox 45"/>
            <p:cNvSpPr txBox="1"/>
            <p:nvPr/>
          </p:nvSpPr>
          <p:spPr>
            <a:xfrm>
              <a:off x="6584442" y="5607368"/>
              <a:ext cx="219456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以上请示事项，请予审议。</a:t>
              </a:r>
            </a:p>
          </p:txBody>
        </p:sp>
      </p:grpSp>
      <p:grpSp>
        <p:nvGrpSpPr>
          <p:cNvPr id="48" name="closing-line"/>
          <p:cNvGrpSpPr/>
          <p:nvPr/>
        </p:nvGrpSpPr>
        <p:grpSpPr>
          <a:xfrm>
            <a:off x="601980" y="5819775"/>
            <a:ext cx="2034540" cy="293370"/>
            <a:chOff x="601980" y="5819775"/>
            <a:chExt cx="2034540" cy="293370"/>
          </a:xfrm>
        </p:grpSpPr>
        <p:sp>
          <p:nvSpPr>
            <p:cNvPr id="47" name="TextBox 47"/>
            <p:cNvSpPr txBox="1"/>
            <p:nvPr/>
          </p:nvSpPr>
          <p:spPr>
            <a:xfrm>
              <a:off x="601980" y="5819775"/>
              <a:ext cx="203454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以上汇报，请予审议。</a:t>
              </a:r>
            </a:p>
          </p:txBody>
        </p:sp>
      </p:grpSp>
      <p:grpSp>
        <p:nvGrpSpPr>
          <p:cNvPr id="52" name="page-footer"/>
          <p:cNvGrpSpPr/>
          <p:nvPr/>
        </p:nvGrpSpPr>
        <p:grpSpPr>
          <a:xfrm>
            <a:off x="603504" y="6172200"/>
            <a:ext cx="10984992" cy="295656"/>
            <a:chOff x="603504" y="6172200"/>
            <a:chExt cx="10984992" cy="295656"/>
          </a:xfrm>
        </p:grpSpPr>
        <p:sp>
          <p:nvSpPr>
            <p:cNvPr id="49" name="Line 49"/>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rgbClr val="D3D9DF"/>
              </a:solidFill>
            </a:ln>
          </p:spPr>
        </p:sp>
        <p:sp>
          <p:nvSpPr>
            <p:cNvPr id="50" name="TextBox 50"/>
            <p:cNvSpPr txBox="1"/>
            <p:nvPr/>
          </p:nvSpPr>
          <p:spPr>
            <a:xfrm>
              <a:off x="603504" y="6233160"/>
              <a:ext cx="2273808"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汇报单位：区住房和城乡建设局</a:t>
              </a:r>
            </a:p>
          </p:txBody>
        </p:sp>
        <p:sp>
          <p:nvSpPr>
            <p:cNvPr id="51" name="TextBox 51"/>
            <p:cNvSpPr txBox="1"/>
            <p:nvPr/>
          </p:nvSpPr>
          <p:spPr>
            <a:xfrm>
              <a:off x="7513472" y="6233160"/>
              <a:ext cx="407502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数据截至2026年8月31日 · 比率保留一位小数 · 情景数据</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ld_community_renovation_report">
  <a:themeElements>
    <a:clrScheme name="old_community_renovation_report">
      <a:dk1>
        <a:srgbClr val="1A1D21"/>
      </a:dk1>
      <a:lt1>
        <a:srgbClr val="FFFFFF"/>
      </a:lt1>
      <a:dk2>
        <a:srgbClr val="1F497D"/>
      </a:dk2>
      <a:lt2>
        <a:srgbClr val="F3F5F7"/>
      </a:lt2>
      <a:accent1>
        <a:srgbClr val="16324F"/>
      </a:accent1>
      <a:accent2>
        <a:srgbClr val="C8A45C"/>
      </a:accent2>
      <a:accent3>
        <a:srgbClr val="4A7BA7"/>
      </a:accent3>
      <a:accent4>
        <a:srgbClr val="16324F"/>
      </a:accent4>
      <a:accent5>
        <a:srgbClr val="8C6D3F"/>
      </a:accent5>
      <a:accent6>
        <a:srgbClr val="5B6672"/>
      </a:accent6>
      <a:hlink>
        <a:srgbClr val="C8A45C"/>
      </a:hlink>
      <a:folHlink>
        <a:srgbClr val="4A7BA7"/>
      </a:folHlink>
    </a:clrScheme>
    <a:fontScheme name="old_community_renovation_report">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ld_community_renovation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ld_community_renovation_report">
  <a:themeElements>
    <a:clrScheme name="old_community_renovation_report">
      <a:dk1>
        <a:srgbClr val="1A1D21"/>
      </a:dk1>
      <a:lt1>
        <a:srgbClr val="FFFFFF"/>
      </a:lt1>
      <a:dk2>
        <a:srgbClr val="1F497D"/>
      </a:dk2>
      <a:lt2>
        <a:srgbClr val="F3F5F7"/>
      </a:lt2>
      <a:accent1>
        <a:srgbClr val="16324F"/>
      </a:accent1>
      <a:accent2>
        <a:srgbClr val="C8A45C"/>
      </a:accent2>
      <a:accent3>
        <a:srgbClr val="4A7BA7"/>
      </a:accent3>
      <a:accent4>
        <a:srgbClr val="16324F"/>
      </a:accent4>
      <a:accent5>
        <a:srgbClr val="8C6D3F"/>
      </a:accent5>
      <a:accent6>
        <a:srgbClr val="5B6672"/>
      </a:accent6>
      <a:hlink>
        <a:srgbClr val="C8A45C"/>
      </a:hlink>
      <a:folHlink>
        <a:srgbClr val="4A7BA7"/>
      </a:folHlink>
    </a:clrScheme>
    <a:fontScheme name="old_community_renovation_report">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ld_community_renovation_repor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2026-09-23T08:50:53Z</dcterms:created>
  <dcterms:modified xsi:type="dcterms:W3CDTF">2026-09-23T08:50:53Z</dcterms:modified>
  <cp:category/>
  <cp:contentStatus/>
</cp:coreProperties>
</file>