
<file path=[Content_Types].xml><?xml version="1.0" encoding="utf-8"?>
<Types xmlns="http://schemas.openxmlformats.org/package/2006/content-types">
  <Default Extension="ttf" ContentType="application/x-font-ttf"/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WenJin Mincho Plane 0"/>
      <p:regular r:id="rId2013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image" Target="../media/image-5-11.png"/><Relationship Id="rId12" Type="http://schemas.openxmlformats.org/officeDocument/2006/relationships/image" Target="../media/image-5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image" Target="../media/image-6-11.png"/><Relationship Id="rId12" Type="http://schemas.openxmlformats.org/officeDocument/2006/relationships/image" Target="../media/image-6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image" Target="../media/image-8-11.png"/><Relationship Id="rId12" Type="http://schemas.openxmlformats.org/officeDocument/2006/relationships/image" Target="../media/image-8-12.svg"/><Relationship Id="rId13" Type="http://schemas.openxmlformats.org/officeDocument/2006/relationships/image" Target="../media/image-8-13.png"/><Relationship Id="rId14" Type="http://schemas.openxmlformats.org/officeDocument/2006/relationships/image" Target="../media/image-8-14.sv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9.png"/><Relationship Id="rId10" Type="http://schemas.openxmlformats.org/officeDocument/2006/relationships/image" Target="../media/image-9-10.svg"/><Relationship Id="rId11" Type="http://schemas.openxmlformats.org/officeDocument/2006/relationships/image" Target="../media/image-9-11.png"/><Relationship Id="rId12" Type="http://schemas.openxmlformats.org/officeDocument/2006/relationships/image" Target="../media/image-9-12.svg"/><Relationship Id="rId13" Type="http://schemas.openxmlformats.org/officeDocument/2006/relationships/image" Target="../media/image-9-13.png"/><Relationship Id="rId14" Type="http://schemas.openxmlformats.org/officeDocument/2006/relationships/image" Target="../media/image-9-14.svg"/><Relationship Id="rId15" Type="http://schemas.openxmlformats.org/officeDocument/2006/relationships/image" Target="../media/image-9-15.png"/><Relationship Id="rId16" Type="http://schemas.openxmlformats.org/officeDocument/2006/relationships/image" Target="../media/image-9-16.svg"/><Relationship Id="rId17" Type="http://schemas.openxmlformats.org/officeDocument/2006/relationships/image" Target="../media/image-9-17.png"/><Relationship Id="rId18" Type="http://schemas.openxmlformats.org/officeDocument/2006/relationships/image" Target="../media/image-9-18.svg"/><Relationship Id="rId19" Type="http://schemas.openxmlformats.org/officeDocument/2006/relationships/image" Target="../media/image-9-19.png"/><Relationship Id="rId20" Type="http://schemas.openxmlformats.org/officeDocument/2006/relationships/image" Target="../media/image-9-20.svg"/><Relationship Id="rId21" Type="http://schemas.openxmlformats.org/officeDocument/2006/relationships/image" Target="../media/image-9-21.png"/><Relationship Id="rId22" Type="http://schemas.openxmlformats.org/officeDocument/2006/relationships/image" Target="../media/image-9-22.svg"/><Relationship Id="rId23" Type="http://schemas.openxmlformats.org/officeDocument/2006/relationships/image" Target="../media/image-9-23.png"/><Relationship Id="rId24" Type="http://schemas.openxmlformats.org/officeDocument/2006/relationships/image" Target="../media/image-9-24.svg"/><Relationship Id="rId25" Type="http://schemas.openxmlformats.org/officeDocument/2006/relationships/image" Target="../media/image-9-25.png"/><Relationship Id="rId26" Type="http://schemas.openxmlformats.org/officeDocument/2006/relationships/image" Target="../media/image-9-26.svg"/><Relationship Id="rId27" Type="http://schemas.openxmlformats.org/officeDocument/2006/relationships/image" Target="../media/image-9-27.png"/><Relationship Id="rId28" Type="http://schemas.openxmlformats.org/officeDocument/2006/relationships/image" Target="../media/image-9-28.svg"/><Relationship Id="rId29" Type="http://schemas.openxmlformats.org/officeDocument/2006/relationships/image" Target="../media/image-9-29.png"/><Relationship Id="rId30" Type="http://schemas.openxmlformats.org/officeDocument/2006/relationships/image" Target="../media/image-9-30.svg"/><Relationship Id="rId31" Type="http://schemas.openxmlformats.org/officeDocument/2006/relationships/image" Target="../media/image-9-31.png"/><Relationship Id="rId32" Type="http://schemas.openxmlformats.org/officeDocument/2006/relationships/image" Target="../media/image-9-32.svg"/><Relationship Id="rId33" Type="http://schemas.openxmlformats.org/officeDocument/2006/relationships/image" Target="../media/image-9-33.png"/><Relationship Id="rId34" Type="http://schemas.openxmlformats.org/officeDocument/2006/relationships/image" Target="../media/image-9-34.svg"/><Relationship Id="rId35" Type="http://schemas.openxmlformats.org/officeDocument/2006/relationships/image" Target="../media/image-9-35.png"/><Relationship Id="rId36" Type="http://schemas.openxmlformats.org/officeDocument/2006/relationships/image" Target="../media/image-9-36.svg"/><Relationship Id="rId37" Type="http://schemas.openxmlformats.org/officeDocument/2006/relationships/image" Target="../media/image-9-37.png"/><Relationship Id="rId38" Type="http://schemas.openxmlformats.org/officeDocument/2006/relationships/image" Target="../media/image-9-38.svg"/><Relationship Id="rId39" Type="http://schemas.openxmlformats.org/officeDocument/2006/relationships/slideLayout" Target="../slideLayouts/slideLayout1.xml"/><Relationship Id="rId4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857250" y="2255862"/>
            <a:ext cx="428625" cy="14288"/>
          </a:xfrm>
          <a:prstGeom prst="rect">
            <a:avLst/>
          </a:prstGeom>
          <a:solidFill>
            <a:srgbClr val="C96442"/>
          </a:solidFill>
          <a:ln/>
        </p:spPr>
      </p:sp>
      <p:sp>
        <p:nvSpPr>
          <p:cNvPr id="4" name="Shape 2"/>
          <p:cNvSpPr/>
          <p:nvPr/>
        </p:nvSpPr>
        <p:spPr>
          <a:xfrm>
            <a:off x="857250" y="4145161"/>
            <a:ext cx="300038" cy="300038"/>
          </a:xfrm>
          <a:prstGeom prst="ellipse">
            <a:avLst/>
          </a:prstGeom>
          <a:solidFill>
            <a:srgbClr val="C96442"/>
          </a:solidFill>
          <a:ln/>
        </p:spPr>
      </p:sp>
      <p:sp>
        <p:nvSpPr>
          <p:cNvPr id="5" name="Text 3"/>
          <p:cNvSpPr/>
          <p:nvPr/>
        </p:nvSpPr>
        <p:spPr>
          <a:xfrm>
            <a:off x="857250" y="685800"/>
            <a:ext cx="7429500" cy="150019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非遗竹编工坊产业扶持项目申报评审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857250" y="1035062"/>
            <a:ext cx="7429500" cy="1007269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36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非遗竹编工坊产业扶持项目申报评审</a:t>
            </a:r>
            <a:endParaRPr lang="en-US" sz="3600" dirty="0"/>
          </a:p>
          <a:p>
            <a:pPr algn="l" indent="0" marL="0">
              <a:buNone/>
            </a:pPr>
            <a:r>
              <a:rPr lang="en-US" sz="36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汇报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57250" y="2455887"/>
            <a:ext cx="7429500" cy="235744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省级非物质文化遗产竹编技艺·“公司+合作社+农户”带动120户·总投资280万元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71643" y="4132659"/>
            <a:ext cx="3314700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申报单位：××县××竹编工艺品有限公司／××竹编专业合作社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271643" y="4316611"/>
            <a:ext cx="3314700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报送对象：县文化和旅游局、县乡村振兴办公室</a:t>
            </a:r>
            <a:endParaRPr lang="en-US" sz="700" dirty="0"/>
          </a:p>
        </p:txBody>
      </p:sp>
      <p:sp>
        <p:nvSpPr>
          <p:cNvPr id="65535" name="wm:hwcld:2026-09-22T19:19:56:64984ecd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214313" y="746522"/>
            <a:ext cx="428625" cy="14288"/>
          </a:xfrm>
          <a:prstGeom prst="rect">
            <a:avLst/>
          </a:prstGeom>
          <a:solidFill>
            <a:srgbClr val="C96442"/>
          </a:solidFill>
          <a:ln/>
        </p:spPr>
      </p:sp>
      <p:sp>
        <p:nvSpPr>
          <p:cNvPr id="4" name="Shape 2"/>
          <p:cNvSpPr/>
          <p:nvPr/>
        </p:nvSpPr>
        <p:spPr>
          <a:xfrm>
            <a:off x="214982" y="1158404"/>
            <a:ext cx="1650206" cy="685800"/>
          </a:xfrm>
          <a:prstGeom prst="roundRect">
            <a:avLst>
              <a:gd name="adj" fmla="val 4167"/>
            </a:avLst>
          </a:prstGeom>
          <a:solidFill>
            <a:srgbClr val="FAF9F5"/>
          </a:solidFill>
          <a:ln w="6191">
            <a:solidFill>
              <a:srgbClr val="F0EE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80884" y="1158404"/>
            <a:ext cx="1650206" cy="685800"/>
          </a:xfrm>
          <a:prstGeom prst="roundRect">
            <a:avLst>
              <a:gd name="adj" fmla="val 4167"/>
            </a:avLst>
          </a:prstGeom>
          <a:solidFill>
            <a:srgbClr val="FAF9F5"/>
          </a:solidFill>
          <a:ln w="6191">
            <a:solidFill>
              <a:srgbClr val="F0EE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746841" y="1158404"/>
            <a:ext cx="1650206" cy="685800"/>
          </a:xfrm>
          <a:prstGeom prst="roundRect">
            <a:avLst>
              <a:gd name="adj" fmla="val 4167"/>
            </a:avLst>
          </a:prstGeom>
          <a:solidFill>
            <a:srgbClr val="FAF9F5"/>
          </a:solidFill>
          <a:ln w="6191">
            <a:solidFill>
              <a:srgbClr val="F0EE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512798" y="1158404"/>
            <a:ext cx="1650206" cy="685800"/>
          </a:xfrm>
          <a:prstGeom prst="roundRect">
            <a:avLst>
              <a:gd name="adj" fmla="val 4167"/>
            </a:avLst>
          </a:prstGeom>
          <a:solidFill>
            <a:srgbClr val="FAF9F5"/>
          </a:solidFill>
          <a:ln w="6191">
            <a:solidFill>
              <a:srgbClr val="F0EE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78700" y="1158404"/>
            <a:ext cx="1650206" cy="685800"/>
          </a:xfrm>
          <a:prstGeom prst="roundRect">
            <a:avLst>
              <a:gd name="adj" fmla="val 4167"/>
            </a:avLst>
          </a:prstGeom>
          <a:solidFill>
            <a:srgbClr val="FAF9F5"/>
          </a:solidFill>
          <a:ln w="6191">
            <a:solidFill>
              <a:srgbClr val="F0EE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4313" y="1930264"/>
            <a:ext cx="4986338" cy="1800225"/>
          </a:xfrm>
          <a:prstGeom prst="roundRect">
            <a:avLst>
              <a:gd name="adj" fmla="val 3225"/>
            </a:avLst>
          </a:prstGeom>
          <a:solidFill>
            <a:srgbClr val="FAF9F5"/>
          </a:solidFill>
          <a:ln w="6191">
            <a:solidFill>
              <a:srgbClr val="F0EE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8656" y="3468291"/>
            <a:ext cx="4014788" cy="0"/>
          </a:xfrm>
          <a:prstGeom prst="line">
            <a:avLst/>
          </a:prstGeom>
          <a:noFill/>
          <a:ln w="6350">
            <a:solidFill>
              <a:srgbClr val="F0EE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8656" y="3311128"/>
            <a:ext cx="4014788" cy="0"/>
          </a:xfrm>
          <a:prstGeom prst="line">
            <a:avLst/>
          </a:prstGeom>
          <a:noFill/>
          <a:ln w="6350">
            <a:solidFill>
              <a:srgbClr val="F0EE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8656" y="3146822"/>
            <a:ext cx="4014788" cy="0"/>
          </a:xfrm>
          <a:prstGeom prst="line">
            <a:avLst/>
          </a:prstGeom>
          <a:noFill/>
          <a:ln w="6350">
            <a:solidFill>
              <a:srgbClr val="F0EE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8656" y="2989659"/>
            <a:ext cx="4014788" cy="0"/>
          </a:xfrm>
          <a:prstGeom prst="line">
            <a:avLst/>
          </a:prstGeom>
          <a:noFill/>
          <a:ln w="6350">
            <a:solidFill>
              <a:srgbClr val="F0EE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8656" y="2832497"/>
            <a:ext cx="4014788" cy="0"/>
          </a:xfrm>
          <a:prstGeom prst="line">
            <a:avLst/>
          </a:prstGeom>
          <a:noFill/>
          <a:ln w="6350">
            <a:solidFill>
              <a:srgbClr val="F0EE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8656" y="2675334"/>
            <a:ext cx="4014788" cy="0"/>
          </a:xfrm>
          <a:prstGeom prst="line">
            <a:avLst/>
          </a:prstGeom>
          <a:noFill/>
          <a:ln w="6350">
            <a:solidFill>
              <a:srgbClr val="F0EE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8656" y="2518172"/>
            <a:ext cx="4014788" cy="0"/>
          </a:xfrm>
          <a:prstGeom prst="line">
            <a:avLst/>
          </a:prstGeom>
          <a:noFill/>
          <a:ln w="6350">
            <a:solidFill>
              <a:srgbClr val="F0EE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2207" y="2347436"/>
            <a:ext cx="33289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户</a:t>
            </a:r>
            <a:endParaRPr lang="en-US" sz="788" dirty="0"/>
          </a:p>
        </p:txBody>
      </p:sp>
      <p:sp>
        <p:nvSpPr>
          <p:cNvPr id="18" name="Text 16"/>
          <p:cNvSpPr/>
          <p:nvPr/>
        </p:nvSpPr>
        <p:spPr>
          <a:xfrm>
            <a:off x="4451985" y="2347436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万元</a:t>
            </a:r>
            <a:endParaRPr lang="en-US" sz="788" dirty="0"/>
          </a:p>
        </p:txBody>
      </p:sp>
      <p:sp>
        <p:nvSpPr>
          <p:cNvPr id="19" name="Shape 17"/>
          <p:cNvSpPr/>
          <p:nvPr/>
        </p:nvSpPr>
        <p:spPr>
          <a:xfrm>
            <a:off x="678656" y="3468291"/>
            <a:ext cx="4014788" cy="0"/>
          </a:xfrm>
          <a:prstGeom prst="line">
            <a:avLst/>
          </a:prstGeom>
          <a:noFill/>
          <a:ln w="6350">
            <a:solidFill>
              <a:srgbClr val="E8E6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8608" y="3404711"/>
            <a:ext cx="33289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0</a:t>
            </a:r>
            <a:endParaRPr lang="en-US" sz="788" dirty="0"/>
          </a:p>
        </p:txBody>
      </p:sp>
      <p:sp>
        <p:nvSpPr>
          <p:cNvPr id="21" name="Text 19"/>
          <p:cNvSpPr/>
          <p:nvPr/>
        </p:nvSpPr>
        <p:spPr>
          <a:xfrm>
            <a:off x="138589" y="3246358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20</a:t>
            </a:r>
            <a:endParaRPr lang="en-US" sz="788" dirty="0"/>
          </a:p>
        </p:txBody>
      </p:sp>
      <p:sp>
        <p:nvSpPr>
          <p:cNvPr id="22" name="Text 20"/>
          <p:cNvSpPr/>
          <p:nvPr/>
        </p:nvSpPr>
        <p:spPr>
          <a:xfrm>
            <a:off x="138589" y="3088005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40</a:t>
            </a:r>
            <a:endParaRPr lang="en-US" sz="788" dirty="0"/>
          </a:p>
        </p:txBody>
      </p:sp>
      <p:sp>
        <p:nvSpPr>
          <p:cNvPr id="23" name="Text 21"/>
          <p:cNvSpPr/>
          <p:nvPr/>
        </p:nvSpPr>
        <p:spPr>
          <a:xfrm>
            <a:off x="138589" y="2929652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60</a:t>
            </a:r>
            <a:endParaRPr lang="en-US" sz="788" dirty="0"/>
          </a:p>
        </p:txBody>
      </p:sp>
      <p:sp>
        <p:nvSpPr>
          <p:cNvPr id="24" name="Text 22"/>
          <p:cNvSpPr/>
          <p:nvPr/>
        </p:nvSpPr>
        <p:spPr>
          <a:xfrm>
            <a:off x="138589" y="2771299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80</a:t>
            </a:r>
            <a:endParaRPr lang="en-US" sz="788" dirty="0"/>
          </a:p>
        </p:txBody>
      </p:sp>
      <p:sp>
        <p:nvSpPr>
          <p:cNvPr id="25" name="Text 23"/>
          <p:cNvSpPr/>
          <p:nvPr/>
        </p:nvSpPr>
        <p:spPr>
          <a:xfrm>
            <a:off x="-11430" y="2612946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100</a:t>
            </a:r>
            <a:endParaRPr lang="en-US" sz="788" dirty="0"/>
          </a:p>
        </p:txBody>
      </p:sp>
      <p:sp>
        <p:nvSpPr>
          <p:cNvPr id="26" name="Text 24"/>
          <p:cNvSpPr/>
          <p:nvPr/>
        </p:nvSpPr>
        <p:spPr>
          <a:xfrm>
            <a:off x="-11430" y="2454593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120</a:t>
            </a:r>
            <a:endParaRPr lang="en-US" sz="788" dirty="0"/>
          </a:p>
        </p:txBody>
      </p:sp>
      <p:sp>
        <p:nvSpPr>
          <p:cNvPr id="27" name="Text 25"/>
          <p:cNvSpPr/>
          <p:nvPr/>
        </p:nvSpPr>
        <p:spPr>
          <a:xfrm>
            <a:off x="4750594" y="3404711"/>
            <a:ext cx="33289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0</a:t>
            </a:r>
            <a:endParaRPr lang="en-US" sz="788" dirty="0"/>
          </a:p>
        </p:txBody>
      </p:sp>
      <p:sp>
        <p:nvSpPr>
          <p:cNvPr id="28" name="Text 26"/>
          <p:cNvSpPr/>
          <p:nvPr/>
        </p:nvSpPr>
        <p:spPr>
          <a:xfrm>
            <a:off x="4750594" y="3214688"/>
            <a:ext cx="33289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5</a:t>
            </a:r>
            <a:endParaRPr lang="en-US" sz="788" dirty="0"/>
          </a:p>
        </p:txBody>
      </p:sp>
      <p:sp>
        <p:nvSpPr>
          <p:cNvPr id="29" name="Text 27"/>
          <p:cNvSpPr/>
          <p:nvPr/>
        </p:nvSpPr>
        <p:spPr>
          <a:xfrm>
            <a:off x="4750594" y="3024664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10</a:t>
            </a:r>
            <a:endParaRPr lang="en-US" sz="788" dirty="0"/>
          </a:p>
        </p:txBody>
      </p:sp>
      <p:sp>
        <p:nvSpPr>
          <p:cNvPr id="30" name="Text 28"/>
          <p:cNvSpPr/>
          <p:nvPr/>
        </p:nvSpPr>
        <p:spPr>
          <a:xfrm>
            <a:off x="4750594" y="2834640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15</a:t>
            </a:r>
            <a:endParaRPr lang="en-US" sz="788" dirty="0"/>
          </a:p>
        </p:txBody>
      </p:sp>
      <p:sp>
        <p:nvSpPr>
          <p:cNvPr id="31" name="Text 29"/>
          <p:cNvSpPr/>
          <p:nvPr/>
        </p:nvSpPr>
        <p:spPr>
          <a:xfrm>
            <a:off x="4750594" y="2644616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20</a:t>
            </a:r>
            <a:endParaRPr lang="en-US" sz="788" dirty="0"/>
          </a:p>
        </p:txBody>
      </p:sp>
      <p:sp>
        <p:nvSpPr>
          <p:cNvPr id="32" name="Text 30"/>
          <p:cNvSpPr/>
          <p:nvPr/>
        </p:nvSpPr>
        <p:spPr>
          <a:xfrm>
            <a:off x="4750594" y="2454593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25</a:t>
            </a:r>
            <a:endParaRPr lang="en-US" sz="788" dirty="0"/>
          </a:p>
        </p:txBody>
      </p:sp>
      <p:sp>
        <p:nvSpPr>
          <p:cNvPr id="33" name="Text 31"/>
          <p:cNvSpPr/>
          <p:nvPr/>
        </p:nvSpPr>
        <p:spPr>
          <a:xfrm>
            <a:off x="1365885" y="3511867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第一年</a:t>
            </a:r>
            <a:endParaRPr lang="en-US" sz="788" dirty="0"/>
          </a:p>
        </p:txBody>
      </p:sp>
      <p:sp>
        <p:nvSpPr>
          <p:cNvPr id="34" name="Text 32"/>
          <p:cNvSpPr/>
          <p:nvPr/>
        </p:nvSpPr>
        <p:spPr>
          <a:xfrm>
            <a:off x="3373279" y="3511867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第二年</a:t>
            </a:r>
            <a:endParaRPr lang="en-US" sz="788" dirty="0"/>
          </a:p>
        </p:txBody>
      </p:sp>
      <p:sp>
        <p:nvSpPr>
          <p:cNvPr id="35" name="Shape 33"/>
          <p:cNvSpPr/>
          <p:nvPr/>
        </p:nvSpPr>
        <p:spPr>
          <a:xfrm>
            <a:off x="1505545" y="2989659"/>
            <a:ext cx="157163" cy="475059"/>
          </a:xfrm>
          <a:custGeom>
            <a:avLst/>
            <a:gdLst/>
            <a:ahLst/>
            <a:cxnLst/>
            <a:rect l="l" t="t" r="r" b="b"/>
            <a:pathLst>
              <a:path w="157163" h="475059">
                <a:moveTo>
                  <a:pt x="14288" y="0"/>
                </a:moveTo>
                <a:lnTo>
                  <a:pt x="142875" y="0"/>
                </a:lnTo>
                <a:lnTo>
                  <a:pt x="143576" y="17"/>
                </a:lnTo>
                <a:lnTo>
                  <a:pt x="144275" y="69"/>
                </a:lnTo>
                <a:lnTo>
                  <a:pt x="144971" y="155"/>
                </a:lnTo>
                <a:lnTo>
                  <a:pt x="145662" y="275"/>
                </a:lnTo>
                <a:lnTo>
                  <a:pt x="146347" y="428"/>
                </a:lnTo>
                <a:lnTo>
                  <a:pt x="147022" y="615"/>
                </a:lnTo>
                <a:lnTo>
                  <a:pt x="147688" y="835"/>
                </a:lnTo>
                <a:lnTo>
                  <a:pt x="148343" y="1088"/>
                </a:lnTo>
                <a:lnTo>
                  <a:pt x="148984" y="1372"/>
                </a:lnTo>
                <a:lnTo>
                  <a:pt x="149610" y="1687"/>
                </a:lnTo>
                <a:lnTo>
                  <a:pt x="150220" y="2033"/>
                </a:lnTo>
                <a:lnTo>
                  <a:pt x="150813" y="2408"/>
                </a:lnTo>
                <a:lnTo>
                  <a:pt x="151386" y="2812"/>
                </a:lnTo>
                <a:lnTo>
                  <a:pt x="151939" y="3243"/>
                </a:lnTo>
                <a:lnTo>
                  <a:pt x="152470" y="3701"/>
                </a:lnTo>
                <a:lnTo>
                  <a:pt x="152978" y="4185"/>
                </a:lnTo>
                <a:lnTo>
                  <a:pt x="153461" y="4693"/>
                </a:lnTo>
                <a:lnTo>
                  <a:pt x="153919" y="5224"/>
                </a:lnTo>
                <a:lnTo>
                  <a:pt x="154351" y="5776"/>
                </a:lnTo>
                <a:lnTo>
                  <a:pt x="154755" y="6350"/>
                </a:lnTo>
                <a:lnTo>
                  <a:pt x="155130" y="6942"/>
                </a:lnTo>
                <a:lnTo>
                  <a:pt x="155475" y="7552"/>
                </a:lnTo>
                <a:lnTo>
                  <a:pt x="155791" y="8179"/>
                </a:lnTo>
                <a:lnTo>
                  <a:pt x="156075" y="8820"/>
                </a:lnTo>
                <a:lnTo>
                  <a:pt x="156327" y="9474"/>
                </a:lnTo>
                <a:lnTo>
                  <a:pt x="156547" y="10140"/>
                </a:lnTo>
                <a:lnTo>
                  <a:pt x="156734" y="10816"/>
                </a:lnTo>
                <a:lnTo>
                  <a:pt x="156888" y="11500"/>
                </a:lnTo>
                <a:lnTo>
                  <a:pt x="157008" y="12191"/>
                </a:lnTo>
                <a:lnTo>
                  <a:pt x="157094" y="12887"/>
                </a:lnTo>
                <a:lnTo>
                  <a:pt x="157145" y="13586"/>
                </a:lnTo>
                <a:lnTo>
                  <a:pt x="157163" y="14288"/>
                </a:lnTo>
                <a:lnTo>
                  <a:pt x="157163" y="475059"/>
                </a:lnTo>
                <a:lnTo>
                  <a:pt x="0" y="475059"/>
                </a:lnTo>
                <a:lnTo>
                  <a:pt x="0" y="14288"/>
                </a:lnTo>
                <a:lnTo>
                  <a:pt x="17" y="13586"/>
                </a:lnTo>
                <a:lnTo>
                  <a:pt x="69" y="12887"/>
                </a:lnTo>
                <a:lnTo>
                  <a:pt x="155" y="12191"/>
                </a:lnTo>
                <a:lnTo>
                  <a:pt x="275" y="11500"/>
                </a:lnTo>
                <a:lnTo>
                  <a:pt x="428" y="10816"/>
                </a:lnTo>
                <a:lnTo>
                  <a:pt x="615" y="10140"/>
                </a:lnTo>
                <a:lnTo>
                  <a:pt x="835" y="9474"/>
                </a:lnTo>
                <a:lnTo>
                  <a:pt x="1088" y="8820"/>
                </a:lnTo>
                <a:lnTo>
                  <a:pt x="1372" y="8179"/>
                </a:lnTo>
                <a:lnTo>
                  <a:pt x="1687" y="7552"/>
                </a:lnTo>
                <a:lnTo>
                  <a:pt x="2033" y="6942"/>
                </a:lnTo>
                <a:lnTo>
                  <a:pt x="2408" y="6350"/>
                </a:lnTo>
                <a:lnTo>
                  <a:pt x="2812" y="5776"/>
                </a:lnTo>
                <a:lnTo>
                  <a:pt x="3243" y="5224"/>
                </a:lnTo>
                <a:lnTo>
                  <a:pt x="3701" y="4693"/>
                </a:lnTo>
                <a:lnTo>
                  <a:pt x="4185" y="4185"/>
                </a:lnTo>
                <a:lnTo>
                  <a:pt x="4693" y="3701"/>
                </a:lnTo>
                <a:lnTo>
                  <a:pt x="5224" y="3243"/>
                </a:lnTo>
                <a:lnTo>
                  <a:pt x="5776" y="2812"/>
                </a:lnTo>
                <a:lnTo>
                  <a:pt x="6350" y="2408"/>
                </a:lnTo>
                <a:lnTo>
                  <a:pt x="6942" y="2033"/>
                </a:lnTo>
                <a:lnTo>
                  <a:pt x="7552" y="1687"/>
                </a:lnTo>
                <a:lnTo>
                  <a:pt x="8179" y="1372"/>
                </a:lnTo>
                <a:lnTo>
                  <a:pt x="8820" y="1088"/>
                </a:lnTo>
                <a:lnTo>
                  <a:pt x="9474" y="835"/>
                </a:lnTo>
                <a:lnTo>
                  <a:pt x="10140" y="615"/>
                </a:lnTo>
                <a:lnTo>
                  <a:pt x="10816" y="428"/>
                </a:lnTo>
                <a:lnTo>
                  <a:pt x="11500" y="275"/>
                </a:lnTo>
                <a:lnTo>
                  <a:pt x="12191" y="155"/>
                </a:lnTo>
                <a:lnTo>
                  <a:pt x="12887" y="69"/>
                </a:lnTo>
                <a:lnTo>
                  <a:pt x="13586" y="17"/>
                </a:lnTo>
                <a:lnTo>
                  <a:pt x="14288" y="0"/>
                </a:lnTo>
              </a:path>
            </a:pathLst>
          </a:custGeom>
          <a:solidFill>
            <a:srgbClr val="C96442"/>
          </a:solidFill>
          <a:ln/>
        </p:spPr>
      </p:sp>
      <p:sp>
        <p:nvSpPr>
          <p:cNvPr id="36" name="Shape 34"/>
          <p:cNvSpPr/>
          <p:nvPr/>
        </p:nvSpPr>
        <p:spPr>
          <a:xfrm>
            <a:off x="3512939" y="2514600"/>
            <a:ext cx="157163" cy="950119"/>
          </a:xfrm>
          <a:custGeom>
            <a:avLst/>
            <a:gdLst/>
            <a:ahLst/>
            <a:cxnLst/>
            <a:rect l="l" t="t" r="r" b="b"/>
            <a:pathLst>
              <a:path w="157163" h="950119">
                <a:moveTo>
                  <a:pt x="14288" y="0"/>
                </a:moveTo>
                <a:lnTo>
                  <a:pt x="142875" y="0"/>
                </a:lnTo>
                <a:lnTo>
                  <a:pt x="143576" y="17"/>
                </a:lnTo>
                <a:lnTo>
                  <a:pt x="144275" y="69"/>
                </a:lnTo>
                <a:lnTo>
                  <a:pt x="144971" y="155"/>
                </a:lnTo>
                <a:lnTo>
                  <a:pt x="145662" y="275"/>
                </a:lnTo>
                <a:lnTo>
                  <a:pt x="146347" y="428"/>
                </a:lnTo>
                <a:lnTo>
                  <a:pt x="147022" y="615"/>
                </a:lnTo>
                <a:lnTo>
                  <a:pt x="147688" y="835"/>
                </a:lnTo>
                <a:lnTo>
                  <a:pt x="148343" y="1088"/>
                </a:lnTo>
                <a:lnTo>
                  <a:pt x="148984" y="1372"/>
                </a:lnTo>
                <a:lnTo>
                  <a:pt x="149610" y="1687"/>
                </a:lnTo>
                <a:lnTo>
                  <a:pt x="150220" y="2033"/>
                </a:lnTo>
                <a:lnTo>
                  <a:pt x="150813" y="2408"/>
                </a:lnTo>
                <a:lnTo>
                  <a:pt x="151386" y="2812"/>
                </a:lnTo>
                <a:lnTo>
                  <a:pt x="151939" y="3243"/>
                </a:lnTo>
                <a:lnTo>
                  <a:pt x="152470" y="3701"/>
                </a:lnTo>
                <a:lnTo>
                  <a:pt x="152978" y="4185"/>
                </a:lnTo>
                <a:lnTo>
                  <a:pt x="153461" y="4693"/>
                </a:lnTo>
                <a:lnTo>
                  <a:pt x="153919" y="5224"/>
                </a:lnTo>
                <a:lnTo>
                  <a:pt x="154351" y="5776"/>
                </a:lnTo>
                <a:lnTo>
                  <a:pt x="154755" y="6350"/>
                </a:lnTo>
                <a:lnTo>
                  <a:pt x="155130" y="6942"/>
                </a:lnTo>
                <a:lnTo>
                  <a:pt x="155475" y="7552"/>
                </a:lnTo>
                <a:lnTo>
                  <a:pt x="155791" y="8179"/>
                </a:lnTo>
                <a:lnTo>
                  <a:pt x="156075" y="8820"/>
                </a:lnTo>
                <a:lnTo>
                  <a:pt x="156327" y="9474"/>
                </a:lnTo>
                <a:lnTo>
                  <a:pt x="156547" y="10140"/>
                </a:lnTo>
                <a:lnTo>
                  <a:pt x="156734" y="10816"/>
                </a:lnTo>
                <a:lnTo>
                  <a:pt x="156888" y="11500"/>
                </a:lnTo>
                <a:lnTo>
                  <a:pt x="157008" y="12191"/>
                </a:lnTo>
                <a:lnTo>
                  <a:pt x="157094" y="12887"/>
                </a:lnTo>
                <a:lnTo>
                  <a:pt x="157145" y="13586"/>
                </a:lnTo>
                <a:lnTo>
                  <a:pt x="157163" y="14288"/>
                </a:lnTo>
                <a:lnTo>
                  <a:pt x="157163" y="950119"/>
                </a:lnTo>
                <a:lnTo>
                  <a:pt x="0" y="950119"/>
                </a:lnTo>
                <a:lnTo>
                  <a:pt x="0" y="14288"/>
                </a:lnTo>
                <a:lnTo>
                  <a:pt x="17" y="13586"/>
                </a:lnTo>
                <a:lnTo>
                  <a:pt x="69" y="12887"/>
                </a:lnTo>
                <a:lnTo>
                  <a:pt x="155" y="12191"/>
                </a:lnTo>
                <a:lnTo>
                  <a:pt x="275" y="11500"/>
                </a:lnTo>
                <a:lnTo>
                  <a:pt x="428" y="10816"/>
                </a:lnTo>
                <a:lnTo>
                  <a:pt x="615" y="10140"/>
                </a:lnTo>
                <a:lnTo>
                  <a:pt x="835" y="9474"/>
                </a:lnTo>
                <a:lnTo>
                  <a:pt x="1088" y="8820"/>
                </a:lnTo>
                <a:lnTo>
                  <a:pt x="1372" y="8179"/>
                </a:lnTo>
                <a:lnTo>
                  <a:pt x="1687" y="7552"/>
                </a:lnTo>
                <a:lnTo>
                  <a:pt x="2033" y="6942"/>
                </a:lnTo>
                <a:lnTo>
                  <a:pt x="2408" y="6350"/>
                </a:lnTo>
                <a:lnTo>
                  <a:pt x="2812" y="5776"/>
                </a:lnTo>
                <a:lnTo>
                  <a:pt x="3243" y="5224"/>
                </a:lnTo>
                <a:lnTo>
                  <a:pt x="3701" y="4693"/>
                </a:lnTo>
                <a:lnTo>
                  <a:pt x="4185" y="4185"/>
                </a:lnTo>
                <a:lnTo>
                  <a:pt x="4693" y="3701"/>
                </a:lnTo>
                <a:lnTo>
                  <a:pt x="5224" y="3243"/>
                </a:lnTo>
                <a:lnTo>
                  <a:pt x="5776" y="2812"/>
                </a:lnTo>
                <a:lnTo>
                  <a:pt x="6350" y="2408"/>
                </a:lnTo>
                <a:lnTo>
                  <a:pt x="6942" y="2033"/>
                </a:lnTo>
                <a:lnTo>
                  <a:pt x="7552" y="1687"/>
                </a:lnTo>
                <a:lnTo>
                  <a:pt x="8179" y="1372"/>
                </a:lnTo>
                <a:lnTo>
                  <a:pt x="8820" y="1088"/>
                </a:lnTo>
                <a:lnTo>
                  <a:pt x="9474" y="835"/>
                </a:lnTo>
                <a:lnTo>
                  <a:pt x="10140" y="615"/>
                </a:lnTo>
                <a:lnTo>
                  <a:pt x="10816" y="428"/>
                </a:lnTo>
                <a:lnTo>
                  <a:pt x="11500" y="275"/>
                </a:lnTo>
                <a:lnTo>
                  <a:pt x="12191" y="155"/>
                </a:lnTo>
                <a:lnTo>
                  <a:pt x="12887" y="69"/>
                </a:lnTo>
                <a:lnTo>
                  <a:pt x="13586" y="17"/>
                </a:lnTo>
                <a:lnTo>
                  <a:pt x="14288" y="0"/>
                </a:lnTo>
              </a:path>
            </a:pathLst>
          </a:custGeom>
          <a:solidFill>
            <a:srgbClr val="C96442"/>
          </a:solidFill>
          <a:ln/>
        </p:spPr>
      </p:sp>
      <p:sp>
        <p:nvSpPr>
          <p:cNvPr id="37" name="Shape 35"/>
          <p:cNvSpPr/>
          <p:nvPr/>
        </p:nvSpPr>
        <p:spPr>
          <a:xfrm>
            <a:off x="1701998" y="3054267"/>
            <a:ext cx="157163" cy="410451"/>
          </a:xfrm>
          <a:custGeom>
            <a:avLst/>
            <a:gdLst/>
            <a:ahLst/>
            <a:cxnLst/>
            <a:rect l="l" t="t" r="r" b="b"/>
            <a:pathLst>
              <a:path w="157163" h="410451">
                <a:moveTo>
                  <a:pt x="14288" y="0"/>
                </a:moveTo>
                <a:lnTo>
                  <a:pt x="142875" y="0"/>
                </a:lnTo>
                <a:lnTo>
                  <a:pt x="143576" y="17"/>
                </a:lnTo>
                <a:lnTo>
                  <a:pt x="144275" y="69"/>
                </a:lnTo>
                <a:lnTo>
                  <a:pt x="144971" y="155"/>
                </a:lnTo>
                <a:lnTo>
                  <a:pt x="145662" y="275"/>
                </a:lnTo>
                <a:lnTo>
                  <a:pt x="146347" y="428"/>
                </a:lnTo>
                <a:lnTo>
                  <a:pt x="147022" y="615"/>
                </a:lnTo>
                <a:lnTo>
                  <a:pt x="147688" y="835"/>
                </a:lnTo>
                <a:lnTo>
                  <a:pt x="148343" y="1088"/>
                </a:lnTo>
                <a:lnTo>
                  <a:pt x="148984" y="1372"/>
                </a:lnTo>
                <a:lnTo>
                  <a:pt x="149610" y="1687"/>
                </a:lnTo>
                <a:lnTo>
                  <a:pt x="150220" y="2033"/>
                </a:lnTo>
                <a:lnTo>
                  <a:pt x="150813" y="2408"/>
                </a:lnTo>
                <a:lnTo>
                  <a:pt x="151386" y="2812"/>
                </a:lnTo>
                <a:lnTo>
                  <a:pt x="151939" y="3243"/>
                </a:lnTo>
                <a:lnTo>
                  <a:pt x="152470" y="3701"/>
                </a:lnTo>
                <a:lnTo>
                  <a:pt x="152978" y="4185"/>
                </a:lnTo>
                <a:lnTo>
                  <a:pt x="153461" y="4693"/>
                </a:lnTo>
                <a:lnTo>
                  <a:pt x="153919" y="5224"/>
                </a:lnTo>
                <a:lnTo>
                  <a:pt x="154351" y="5776"/>
                </a:lnTo>
                <a:lnTo>
                  <a:pt x="154755" y="6350"/>
                </a:lnTo>
                <a:lnTo>
                  <a:pt x="155130" y="6942"/>
                </a:lnTo>
                <a:lnTo>
                  <a:pt x="155475" y="7552"/>
                </a:lnTo>
                <a:lnTo>
                  <a:pt x="155791" y="8179"/>
                </a:lnTo>
                <a:lnTo>
                  <a:pt x="156075" y="8820"/>
                </a:lnTo>
                <a:lnTo>
                  <a:pt x="156327" y="9474"/>
                </a:lnTo>
                <a:lnTo>
                  <a:pt x="156547" y="10140"/>
                </a:lnTo>
                <a:lnTo>
                  <a:pt x="156734" y="10816"/>
                </a:lnTo>
                <a:lnTo>
                  <a:pt x="156888" y="11500"/>
                </a:lnTo>
                <a:lnTo>
                  <a:pt x="157008" y="12191"/>
                </a:lnTo>
                <a:lnTo>
                  <a:pt x="157094" y="12887"/>
                </a:lnTo>
                <a:lnTo>
                  <a:pt x="157145" y="13586"/>
                </a:lnTo>
                <a:lnTo>
                  <a:pt x="157163" y="14288"/>
                </a:lnTo>
                <a:lnTo>
                  <a:pt x="157163" y="410451"/>
                </a:lnTo>
                <a:lnTo>
                  <a:pt x="0" y="410451"/>
                </a:lnTo>
                <a:lnTo>
                  <a:pt x="0" y="14288"/>
                </a:lnTo>
                <a:lnTo>
                  <a:pt x="17" y="13586"/>
                </a:lnTo>
                <a:lnTo>
                  <a:pt x="69" y="12887"/>
                </a:lnTo>
                <a:lnTo>
                  <a:pt x="155" y="12191"/>
                </a:lnTo>
                <a:lnTo>
                  <a:pt x="275" y="11500"/>
                </a:lnTo>
                <a:lnTo>
                  <a:pt x="428" y="10816"/>
                </a:lnTo>
                <a:lnTo>
                  <a:pt x="615" y="10140"/>
                </a:lnTo>
                <a:lnTo>
                  <a:pt x="835" y="9474"/>
                </a:lnTo>
                <a:lnTo>
                  <a:pt x="1088" y="8820"/>
                </a:lnTo>
                <a:lnTo>
                  <a:pt x="1372" y="8179"/>
                </a:lnTo>
                <a:lnTo>
                  <a:pt x="1687" y="7552"/>
                </a:lnTo>
                <a:lnTo>
                  <a:pt x="2033" y="6942"/>
                </a:lnTo>
                <a:lnTo>
                  <a:pt x="2408" y="6350"/>
                </a:lnTo>
                <a:lnTo>
                  <a:pt x="2812" y="5776"/>
                </a:lnTo>
                <a:lnTo>
                  <a:pt x="3243" y="5224"/>
                </a:lnTo>
                <a:lnTo>
                  <a:pt x="3701" y="4693"/>
                </a:lnTo>
                <a:lnTo>
                  <a:pt x="4185" y="4185"/>
                </a:lnTo>
                <a:lnTo>
                  <a:pt x="4693" y="3701"/>
                </a:lnTo>
                <a:lnTo>
                  <a:pt x="5224" y="3243"/>
                </a:lnTo>
                <a:lnTo>
                  <a:pt x="5776" y="2812"/>
                </a:lnTo>
                <a:lnTo>
                  <a:pt x="6350" y="2408"/>
                </a:lnTo>
                <a:lnTo>
                  <a:pt x="6942" y="2033"/>
                </a:lnTo>
                <a:lnTo>
                  <a:pt x="7552" y="1687"/>
                </a:lnTo>
                <a:lnTo>
                  <a:pt x="8179" y="1372"/>
                </a:lnTo>
                <a:lnTo>
                  <a:pt x="8820" y="1088"/>
                </a:lnTo>
                <a:lnTo>
                  <a:pt x="9474" y="835"/>
                </a:lnTo>
                <a:lnTo>
                  <a:pt x="10140" y="615"/>
                </a:lnTo>
                <a:lnTo>
                  <a:pt x="10816" y="428"/>
                </a:lnTo>
                <a:lnTo>
                  <a:pt x="11500" y="275"/>
                </a:lnTo>
                <a:lnTo>
                  <a:pt x="12191" y="155"/>
                </a:lnTo>
                <a:lnTo>
                  <a:pt x="12887" y="69"/>
                </a:lnTo>
                <a:lnTo>
                  <a:pt x="13586" y="17"/>
                </a:lnTo>
                <a:lnTo>
                  <a:pt x="14288" y="0"/>
                </a:lnTo>
              </a:path>
            </a:pathLst>
          </a:custGeom>
          <a:solidFill>
            <a:srgbClr val="141413"/>
          </a:solidFill>
          <a:ln/>
        </p:spPr>
      </p:sp>
      <p:sp>
        <p:nvSpPr>
          <p:cNvPr id="38" name="Shape 36"/>
          <p:cNvSpPr/>
          <p:nvPr/>
        </p:nvSpPr>
        <p:spPr>
          <a:xfrm>
            <a:off x="3709392" y="2643816"/>
            <a:ext cx="157163" cy="820903"/>
          </a:xfrm>
          <a:custGeom>
            <a:avLst/>
            <a:gdLst/>
            <a:ahLst/>
            <a:cxnLst/>
            <a:rect l="l" t="t" r="r" b="b"/>
            <a:pathLst>
              <a:path w="157163" h="820903">
                <a:moveTo>
                  <a:pt x="14288" y="0"/>
                </a:moveTo>
                <a:lnTo>
                  <a:pt x="142875" y="0"/>
                </a:lnTo>
                <a:lnTo>
                  <a:pt x="143576" y="17"/>
                </a:lnTo>
                <a:lnTo>
                  <a:pt x="144275" y="69"/>
                </a:lnTo>
                <a:lnTo>
                  <a:pt x="144971" y="155"/>
                </a:lnTo>
                <a:lnTo>
                  <a:pt x="145662" y="275"/>
                </a:lnTo>
                <a:lnTo>
                  <a:pt x="146347" y="428"/>
                </a:lnTo>
                <a:lnTo>
                  <a:pt x="147022" y="615"/>
                </a:lnTo>
                <a:lnTo>
                  <a:pt x="147688" y="835"/>
                </a:lnTo>
                <a:lnTo>
                  <a:pt x="148343" y="1088"/>
                </a:lnTo>
                <a:lnTo>
                  <a:pt x="148984" y="1372"/>
                </a:lnTo>
                <a:lnTo>
                  <a:pt x="149610" y="1687"/>
                </a:lnTo>
                <a:lnTo>
                  <a:pt x="150220" y="2033"/>
                </a:lnTo>
                <a:lnTo>
                  <a:pt x="150813" y="2408"/>
                </a:lnTo>
                <a:lnTo>
                  <a:pt x="151386" y="2812"/>
                </a:lnTo>
                <a:lnTo>
                  <a:pt x="151939" y="3243"/>
                </a:lnTo>
                <a:lnTo>
                  <a:pt x="152470" y="3701"/>
                </a:lnTo>
                <a:lnTo>
                  <a:pt x="152978" y="4185"/>
                </a:lnTo>
                <a:lnTo>
                  <a:pt x="153461" y="4693"/>
                </a:lnTo>
                <a:lnTo>
                  <a:pt x="153919" y="5224"/>
                </a:lnTo>
                <a:lnTo>
                  <a:pt x="154351" y="5776"/>
                </a:lnTo>
                <a:lnTo>
                  <a:pt x="154755" y="6350"/>
                </a:lnTo>
                <a:lnTo>
                  <a:pt x="155130" y="6942"/>
                </a:lnTo>
                <a:lnTo>
                  <a:pt x="155475" y="7552"/>
                </a:lnTo>
                <a:lnTo>
                  <a:pt x="155791" y="8179"/>
                </a:lnTo>
                <a:lnTo>
                  <a:pt x="156075" y="8820"/>
                </a:lnTo>
                <a:lnTo>
                  <a:pt x="156327" y="9474"/>
                </a:lnTo>
                <a:lnTo>
                  <a:pt x="156547" y="10140"/>
                </a:lnTo>
                <a:lnTo>
                  <a:pt x="156734" y="10816"/>
                </a:lnTo>
                <a:lnTo>
                  <a:pt x="156888" y="11500"/>
                </a:lnTo>
                <a:lnTo>
                  <a:pt x="157008" y="12191"/>
                </a:lnTo>
                <a:lnTo>
                  <a:pt x="157094" y="12887"/>
                </a:lnTo>
                <a:lnTo>
                  <a:pt x="157145" y="13586"/>
                </a:lnTo>
                <a:lnTo>
                  <a:pt x="157163" y="14288"/>
                </a:lnTo>
                <a:lnTo>
                  <a:pt x="157163" y="820903"/>
                </a:lnTo>
                <a:lnTo>
                  <a:pt x="0" y="820903"/>
                </a:lnTo>
                <a:lnTo>
                  <a:pt x="0" y="14288"/>
                </a:lnTo>
                <a:lnTo>
                  <a:pt x="17" y="13586"/>
                </a:lnTo>
                <a:lnTo>
                  <a:pt x="69" y="12887"/>
                </a:lnTo>
                <a:lnTo>
                  <a:pt x="155" y="12191"/>
                </a:lnTo>
                <a:lnTo>
                  <a:pt x="275" y="11500"/>
                </a:lnTo>
                <a:lnTo>
                  <a:pt x="428" y="10816"/>
                </a:lnTo>
                <a:lnTo>
                  <a:pt x="615" y="10140"/>
                </a:lnTo>
                <a:lnTo>
                  <a:pt x="835" y="9474"/>
                </a:lnTo>
                <a:lnTo>
                  <a:pt x="1088" y="8820"/>
                </a:lnTo>
                <a:lnTo>
                  <a:pt x="1372" y="8179"/>
                </a:lnTo>
                <a:lnTo>
                  <a:pt x="1687" y="7552"/>
                </a:lnTo>
                <a:lnTo>
                  <a:pt x="2033" y="6942"/>
                </a:lnTo>
                <a:lnTo>
                  <a:pt x="2408" y="6350"/>
                </a:lnTo>
                <a:lnTo>
                  <a:pt x="2812" y="5776"/>
                </a:lnTo>
                <a:lnTo>
                  <a:pt x="3243" y="5224"/>
                </a:lnTo>
                <a:lnTo>
                  <a:pt x="3701" y="4693"/>
                </a:lnTo>
                <a:lnTo>
                  <a:pt x="4185" y="4185"/>
                </a:lnTo>
                <a:lnTo>
                  <a:pt x="4693" y="3701"/>
                </a:lnTo>
                <a:lnTo>
                  <a:pt x="5224" y="3243"/>
                </a:lnTo>
                <a:lnTo>
                  <a:pt x="5776" y="2812"/>
                </a:lnTo>
                <a:lnTo>
                  <a:pt x="6350" y="2408"/>
                </a:lnTo>
                <a:lnTo>
                  <a:pt x="6942" y="2033"/>
                </a:lnTo>
                <a:lnTo>
                  <a:pt x="7552" y="1687"/>
                </a:lnTo>
                <a:lnTo>
                  <a:pt x="8179" y="1372"/>
                </a:lnTo>
                <a:lnTo>
                  <a:pt x="8820" y="1088"/>
                </a:lnTo>
                <a:lnTo>
                  <a:pt x="9474" y="835"/>
                </a:lnTo>
                <a:lnTo>
                  <a:pt x="10140" y="615"/>
                </a:lnTo>
                <a:lnTo>
                  <a:pt x="10816" y="428"/>
                </a:lnTo>
                <a:lnTo>
                  <a:pt x="11500" y="275"/>
                </a:lnTo>
                <a:lnTo>
                  <a:pt x="12191" y="155"/>
                </a:lnTo>
                <a:lnTo>
                  <a:pt x="12887" y="69"/>
                </a:lnTo>
                <a:lnTo>
                  <a:pt x="13586" y="17"/>
                </a:lnTo>
                <a:lnTo>
                  <a:pt x="14288" y="0"/>
                </a:lnTo>
              </a:path>
            </a:pathLst>
          </a:custGeom>
          <a:solidFill>
            <a:srgbClr val="141413"/>
          </a:solidFill>
          <a:ln/>
        </p:spPr>
      </p:sp>
      <p:sp>
        <p:nvSpPr>
          <p:cNvPr id="39" name="Text 37"/>
          <p:cNvSpPr/>
          <p:nvPr/>
        </p:nvSpPr>
        <p:spPr>
          <a:xfrm>
            <a:off x="1342668" y="2858214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60</a:t>
            </a:r>
            <a:endParaRPr lang="en-US" sz="788" dirty="0"/>
          </a:p>
        </p:txBody>
      </p:sp>
      <p:sp>
        <p:nvSpPr>
          <p:cNvPr id="40" name="Text 38"/>
          <p:cNvSpPr/>
          <p:nvPr/>
        </p:nvSpPr>
        <p:spPr>
          <a:xfrm>
            <a:off x="3275052" y="2383155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120</a:t>
            </a:r>
            <a:endParaRPr lang="en-US" sz="788" dirty="0"/>
          </a:p>
        </p:txBody>
      </p:sp>
      <p:sp>
        <p:nvSpPr>
          <p:cNvPr id="41" name="Text 39"/>
          <p:cNvSpPr/>
          <p:nvPr/>
        </p:nvSpPr>
        <p:spPr>
          <a:xfrm>
            <a:off x="1389102" y="2922823"/>
            <a:ext cx="7829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10.8</a:t>
            </a:r>
            <a:endParaRPr lang="en-US" sz="788" dirty="0"/>
          </a:p>
        </p:txBody>
      </p:sp>
      <p:sp>
        <p:nvSpPr>
          <p:cNvPr id="42" name="Text 40"/>
          <p:cNvSpPr/>
          <p:nvPr/>
        </p:nvSpPr>
        <p:spPr>
          <a:xfrm>
            <a:off x="3396496" y="2512371"/>
            <a:ext cx="7829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21.6</a:t>
            </a:r>
            <a:endParaRPr lang="en-US" sz="788" dirty="0"/>
          </a:p>
        </p:txBody>
      </p:sp>
      <p:sp>
        <p:nvSpPr>
          <p:cNvPr id="43" name="Shape 41"/>
          <p:cNvSpPr/>
          <p:nvPr/>
        </p:nvSpPr>
        <p:spPr>
          <a:xfrm>
            <a:off x="350044" y="2257425"/>
            <a:ext cx="1724000" cy="142875"/>
          </a:xfrm>
          <a:custGeom>
            <a:avLst/>
            <a:gdLst/>
            <a:ahLst/>
            <a:cxnLst/>
            <a:rect l="l" t="t" r="r" b="b"/>
            <a:pathLst>
              <a:path w="1724000" h="142875">
                <a:moveTo>
                  <a:pt x="0" y="0"/>
                </a:moveTo>
                <a:lnTo>
                  <a:pt x="1724000" y="0"/>
                </a:lnTo>
                <a:lnTo>
                  <a:pt x="1724000" y="142875"/>
                </a:lnTo>
                <a:lnTo>
                  <a:pt x="0" y="142875"/>
                </a:lnTo>
                <a:close/>
              </a:path>
            </a:pathLst>
          </a:custGeom>
          <a:noFill/>
          <a:ln/>
        </p:spPr>
      </p:sp>
      <p:sp>
        <p:nvSpPr>
          <p:cNvPr id="44" name="Shape 42"/>
          <p:cNvSpPr/>
          <p:nvPr/>
        </p:nvSpPr>
        <p:spPr>
          <a:xfrm>
            <a:off x="385763" y="2293144"/>
            <a:ext cx="71438" cy="71438"/>
          </a:xfrm>
          <a:custGeom>
            <a:avLst/>
            <a:gdLst/>
            <a:ahLst/>
            <a:cxnLst/>
            <a:rect l="l" t="t" r="r" b="b"/>
            <a:pathLst>
              <a:path w="71438" h="71438">
                <a:moveTo>
                  <a:pt x="17859" y="0"/>
                </a:moveTo>
                <a:lnTo>
                  <a:pt x="53578" y="0"/>
                </a:lnTo>
                <a:lnTo>
                  <a:pt x="54454" y="22"/>
                </a:lnTo>
                <a:lnTo>
                  <a:pt x="55329" y="86"/>
                </a:lnTo>
                <a:lnTo>
                  <a:pt x="56199" y="193"/>
                </a:lnTo>
                <a:lnTo>
                  <a:pt x="57062" y="343"/>
                </a:lnTo>
                <a:lnTo>
                  <a:pt x="57918" y="535"/>
                </a:lnTo>
                <a:lnTo>
                  <a:pt x="58762" y="769"/>
                </a:lnTo>
                <a:lnTo>
                  <a:pt x="59595" y="1044"/>
                </a:lnTo>
                <a:lnTo>
                  <a:pt x="60413" y="1359"/>
                </a:lnTo>
                <a:lnTo>
                  <a:pt x="61214" y="1715"/>
                </a:lnTo>
                <a:lnTo>
                  <a:pt x="61997" y="2109"/>
                </a:lnTo>
                <a:lnTo>
                  <a:pt x="62760" y="2541"/>
                </a:lnTo>
                <a:lnTo>
                  <a:pt x="63500" y="3010"/>
                </a:lnTo>
                <a:lnTo>
                  <a:pt x="64217" y="3515"/>
                </a:lnTo>
                <a:lnTo>
                  <a:pt x="64908" y="4054"/>
                </a:lnTo>
                <a:lnTo>
                  <a:pt x="65572" y="4626"/>
                </a:lnTo>
                <a:lnTo>
                  <a:pt x="66207" y="5231"/>
                </a:lnTo>
                <a:lnTo>
                  <a:pt x="66811" y="5866"/>
                </a:lnTo>
                <a:lnTo>
                  <a:pt x="67384" y="6530"/>
                </a:lnTo>
                <a:lnTo>
                  <a:pt x="67923" y="7221"/>
                </a:lnTo>
                <a:lnTo>
                  <a:pt x="68428" y="7937"/>
                </a:lnTo>
                <a:lnTo>
                  <a:pt x="68897" y="8678"/>
                </a:lnTo>
                <a:lnTo>
                  <a:pt x="69329" y="9441"/>
                </a:lnTo>
                <a:lnTo>
                  <a:pt x="69723" y="10224"/>
                </a:lnTo>
                <a:lnTo>
                  <a:pt x="70078" y="11025"/>
                </a:lnTo>
                <a:lnTo>
                  <a:pt x="70394" y="11843"/>
                </a:lnTo>
                <a:lnTo>
                  <a:pt x="70668" y="12675"/>
                </a:lnTo>
                <a:lnTo>
                  <a:pt x="70902" y="13520"/>
                </a:lnTo>
                <a:lnTo>
                  <a:pt x="71094" y="14375"/>
                </a:lnTo>
                <a:lnTo>
                  <a:pt x="71244" y="15239"/>
                </a:lnTo>
                <a:lnTo>
                  <a:pt x="71352" y="16109"/>
                </a:lnTo>
                <a:lnTo>
                  <a:pt x="71416" y="16983"/>
                </a:lnTo>
                <a:lnTo>
                  <a:pt x="71438" y="17859"/>
                </a:lnTo>
                <a:lnTo>
                  <a:pt x="71438" y="53578"/>
                </a:lnTo>
                <a:lnTo>
                  <a:pt x="71416" y="54454"/>
                </a:lnTo>
                <a:lnTo>
                  <a:pt x="71352" y="55329"/>
                </a:lnTo>
                <a:lnTo>
                  <a:pt x="71244" y="56199"/>
                </a:lnTo>
                <a:lnTo>
                  <a:pt x="71094" y="57062"/>
                </a:lnTo>
                <a:lnTo>
                  <a:pt x="70902" y="57918"/>
                </a:lnTo>
                <a:lnTo>
                  <a:pt x="70668" y="58762"/>
                </a:lnTo>
                <a:lnTo>
                  <a:pt x="70394" y="59595"/>
                </a:lnTo>
                <a:lnTo>
                  <a:pt x="70078" y="60413"/>
                </a:lnTo>
                <a:lnTo>
                  <a:pt x="69723" y="61214"/>
                </a:lnTo>
                <a:lnTo>
                  <a:pt x="69329" y="61997"/>
                </a:lnTo>
                <a:lnTo>
                  <a:pt x="68897" y="62760"/>
                </a:lnTo>
                <a:lnTo>
                  <a:pt x="68428" y="63500"/>
                </a:lnTo>
                <a:lnTo>
                  <a:pt x="67923" y="64217"/>
                </a:lnTo>
                <a:lnTo>
                  <a:pt x="67384" y="64908"/>
                </a:lnTo>
                <a:lnTo>
                  <a:pt x="66811" y="65572"/>
                </a:lnTo>
                <a:lnTo>
                  <a:pt x="66207" y="66207"/>
                </a:lnTo>
                <a:lnTo>
                  <a:pt x="65572" y="66811"/>
                </a:lnTo>
                <a:lnTo>
                  <a:pt x="64908" y="67384"/>
                </a:lnTo>
                <a:lnTo>
                  <a:pt x="64217" y="67923"/>
                </a:lnTo>
                <a:lnTo>
                  <a:pt x="63500" y="68428"/>
                </a:lnTo>
                <a:lnTo>
                  <a:pt x="62760" y="68897"/>
                </a:lnTo>
                <a:lnTo>
                  <a:pt x="61997" y="69329"/>
                </a:lnTo>
                <a:lnTo>
                  <a:pt x="61214" y="69723"/>
                </a:lnTo>
                <a:lnTo>
                  <a:pt x="60413" y="70078"/>
                </a:lnTo>
                <a:lnTo>
                  <a:pt x="59595" y="70394"/>
                </a:lnTo>
                <a:lnTo>
                  <a:pt x="58762" y="70668"/>
                </a:lnTo>
                <a:lnTo>
                  <a:pt x="57918" y="70902"/>
                </a:lnTo>
                <a:lnTo>
                  <a:pt x="57062" y="71094"/>
                </a:lnTo>
                <a:lnTo>
                  <a:pt x="56199" y="71244"/>
                </a:lnTo>
                <a:lnTo>
                  <a:pt x="55329" y="71352"/>
                </a:lnTo>
                <a:lnTo>
                  <a:pt x="54454" y="71416"/>
                </a:lnTo>
                <a:lnTo>
                  <a:pt x="53578" y="71438"/>
                </a:lnTo>
                <a:lnTo>
                  <a:pt x="17859" y="71438"/>
                </a:lnTo>
                <a:lnTo>
                  <a:pt x="16983" y="71416"/>
                </a:lnTo>
                <a:lnTo>
                  <a:pt x="16109" y="71352"/>
                </a:lnTo>
                <a:lnTo>
                  <a:pt x="15239" y="71244"/>
                </a:lnTo>
                <a:lnTo>
                  <a:pt x="14375" y="71094"/>
                </a:lnTo>
                <a:lnTo>
                  <a:pt x="13520" y="70902"/>
                </a:lnTo>
                <a:lnTo>
                  <a:pt x="12675" y="70668"/>
                </a:lnTo>
                <a:lnTo>
                  <a:pt x="11843" y="70394"/>
                </a:lnTo>
                <a:lnTo>
                  <a:pt x="11025" y="70078"/>
                </a:lnTo>
                <a:lnTo>
                  <a:pt x="10224" y="69723"/>
                </a:lnTo>
                <a:lnTo>
                  <a:pt x="9441" y="69329"/>
                </a:lnTo>
                <a:lnTo>
                  <a:pt x="8678" y="68897"/>
                </a:lnTo>
                <a:lnTo>
                  <a:pt x="7937" y="68428"/>
                </a:lnTo>
                <a:lnTo>
                  <a:pt x="7221" y="67923"/>
                </a:lnTo>
                <a:lnTo>
                  <a:pt x="6530" y="67384"/>
                </a:lnTo>
                <a:lnTo>
                  <a:pt x="5866" y="66811"/>
                </a:lnTo>
                <a:lnTo>
                  <a:pt x="5231" y="66207"/>
                </a:lnTo>
                <a:lnTo>
                  <a:pt x="4626" y="65572"/>
                </a:lnTo>
                <a:lnTo>
                  <a:pt x="4054" y="64908"/>
                </a:lnTo>
                <a:lnTo>
                  <a:pt x="3515" y="64217"/>
                </a:lnTo>
                <a:lnTo>
                  <a:pt x="3010" y="63500"/>
                </a:lnTo>
                <a:lnTo>
                  <a:pt x="2541" y="62760"/>
                </a:lnTo>
                <a:lnTo>
                  <a:pt x="2109" y="61997"/>
                </a:lnTo>
                <a:lnTo>
                  <a:pt x="1715" y="61214"/>
                </a:lnTo>
                <a:lnTo>
                  <a:pt x="1359" y="60413"/>
                </a:lnTo>
                <a:lnTo>
                  <a:pt x="1044" y="59595"/>
                </a:lnTo>
                <a:lnTo>
                  <a:pt x="769" y="58762"/>
                </a:lnTo>
                <a:lnTo>
                  <a:pt x="535" y="57918"/>
                </a:lnTo>
                <a:lnTo>
                  <a:pt x="343" y="57062"/>
                </a:lnTo>
                <a:lnTo>
                  <a:pt x="193" y="56199"/>
                </a:lnTo>
                <a:lnTo>
                  <a:pt x="86" y="55329"/>
                </a:lnTo>
                <a:lnTo>
                  <a:pt x="22" y="54454"/>
                </a:lnTo>
                <a:lnTo>
                  <a:pt x="0" y="53578"/>
                </a:lnTo>
                <a:lnTo>
                  <a:pt x="0" y="17859"/>
                </a:lnTo>
                <a:lnTo>
                  <a:pt x="22" y="16983"/>
                </a:lnTo>
                <a:lnTo>
                  <a:pt x="86" y="16109"/>
                </a:lnTo>
                <a:lnTo>
                  <a:pt x="193" y="15239"/>
                </a:lnTo>
                <a:lnTo>
                  <a:pt x="343" y="14375"/>
                </a:lnTo>
                <a:lnTo>
                  <a:pt x="535" y="13520"/>
                </a:lnTo>
                <a:lnTo>
                  <a:pt x="769" y="12675"/>
                </a:lnTo>
                <a:lnTo>
                  <a:pt x="1044" y="11843"/>
                </a:lnTo>
                <a:lnTo>
                  <a:pt x="1359" y="11025"/>
                </a:lnTo>
                <a:lnTo>
                  <a:pt x="1715" y="10224"/>
                </a:lnTo>
                <a:lnTo>
                  <a:pt x="2109" y="9441"/>
                </a:lnTo>
                <a:lnTo>
                  <a:pt x="2541" y="8678"/>
                </a:lnTo>
                <a:lnTo>
                  <a:pt x="3010" y="7937"/>
                </a:lnTo>
                <a:lnTo>
                  <a:pt x="3515" y="7221"/>
                </a:lnTo>
                <a:lnTo>
                  <a:pt x="4054" y="6530"/>
                </a:lnTo>
                <a:lnTo>
                  <a:pt x="4626" y="5866"/>
                </a:lnTo>
                <a:lnTo>
                  <a:pt x="5231" y="5231"/>
                </a:lnTo>
                <a:lnTo>
                  <a:pt x="5866" y="4626"/>
                </a:lnTo>
                <a:lnTo>
                  <a:pt x="6530" y="4054"/>
                </a:lnTo>
                <a:lnTo>
                  <a:pt x="7221" y="3515"/>
                </a:lnTo>
                <a:lnTo>
                  <a:pt x="7937" y="3010"/>
                </a:lnTo>
                <a:lnTo>
                  <a:pt x="8678" y="2541"/>
                </a:lnTo>
                <a:lnTo>
                  <a:pt x="9441" y="2109"/>
                </a:lnTo>
                <a:lnTo>
                  <a:pt x="10224" y="1715"/>
                </a:lnTo>
                <a:lnTo>
                  <a:pt x="11025" y="1359"/>
                </a:lnTo>
                <a:lnTo>
                  <a:pt x="11843" y="1044"/>
                </a:lnTo>
                <a:lnTo>
                  <a:pt x="12675" y="769"/>
                </a:lnTo>
                <a:lnTo>
                  <a:pt x="13520" y="535"/>
                </a:lnTo>
                <a:lnTo>
                  <a:pt x="14375" y="343"/>
                </a:lnTo>
                <a:lnTo>
                  <a:pt x="15239" y="193"/>
                </a:lnTo>
                <a:lnTo>
                  <a:pt x="16109" y="86"/>
                </a:lnTo>
                <a:lnTo>
                  <a:pt x="16983" y="22"/>
                </a:lnTo>
                <a:lnTo>
                  <a:pt x="17859" y="0"/>
                </a:lnTo>
              </a:path>
            </a:pathLst>
          </a:custGeom>
          <a:solidFill>
            <a:srgbClr val="C96442"/>
          </a:solidFill>
          <a:ln/>
        </p:spPr>
      </p:sp>
      <p:sp>
        <p:nvSpPr>
          <p:cNvPr id="45" name="Text 43"/>
          <p:cNvSpPr/>
          <p:nvPr/>
        </p:nvSpPr>
        <p:spPr>
          <a:xfrm>
            <a:off x="492919" y="2268855"/>
            <a:ext cx="1233011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带动农户（户）</a:t>
            </a:r>
            <a:endParaRPr lang="en-US" sz="788" dirty="0"/>
          </a:p>
        </p:txBody>
      </p:sp>
      <p:sp>
        <p:nvSpPr>
          <p:cNvPr id="46" name="Shape 44"/>
          <p:cNvSpPr/>
          <p:nvPr/>
        </p:nvSpPr>
        <p:spPr>
          <a:xfrm>
            <a:off x="385763" y="2293144"/>
            <a:ext cx="607218" cy="71438"/>
          </a:xfrm>
          <a:custGeom>
            <a:avLst/>
            <a:gdLst/>
            <a:ahLst/>
            <a:cxnLst/>
            <a:rect l="l" t="t" r="r" b="b"/>
            <a:pathLst>
              <a:path w="607218" h="71438">
                <a:moveTo>
                  <a:pt x="0" y="0"/>
                </a:moveTo>
                <a:lnTo>
                  <a:pt x="607218" y="0"/>
                </a:lnTo>
                <a:lnTo>
                  <a:pt x="607218" y="71438"/>
                </a:lnTo>
                <a:lnTo>
                  <a:pt x="0" y="71438"/>
                </a:lnTo>
                <a:close/>
              </a:path>
            </a:pathLst>
          </a:custGeom>
          <a:noFill/>
          <a:ln/>
        </p:spPr>
      </p:sp>
      <p:sp>
        <p:nvSpPr>
          <p:cNvPr id="47" name="Shape 45"/>
          <p:cNvSpPr/>
          <p:nvPr/>
        </p:nvSpPr>
        <p:spPr>
          <a:xfrm>
            <a:off x="1121568" y="2293144"/>
            <a:ext cx="71438" cy="71438"/>
          </a:xfrm>
          <a:custGeom>
            <a:avLst/>
            <a:gdLst/>
            <a:ahLst/>
            <a:cxnLst/>
            <a:rect l="l" t="t" r="r" b="b"/>
            <a:pathLst>
              <a:path w="71438" h="71438">
                <a:moveTo>
                  <a:pt x="17859" y="0"/>
                </a:moveTo>
                <a:lnTo>
                  <a:pt x="53578" y="0"/>
                </a:lnTo>
                <a:lnTo>
                  <a:pt x="54454" y="22"/>
                </a:lnTo>
                <a:lnTo>
                  <a:pt x="55329" y="86"/>
                </a:lnTo>
                <a:lnTo>
                  <a:pt x="56199" y="193"/>
                </a:lnTo>
                <a:lnTo>
                  <a:pt x="57062" y="343"/>
                </a:lnTo>
                <a:lnTo>
                  <a:pt x="57918" y="535"/>
                </a:lnTo>
                <a:lnTo>
                  <a:pt x="58762" y="769"/>
                </a:lnTo>
                <a:lnTo>
                  <a:pt x="59595" y="1044"/>
                </a:lnTo>
                <a:lnTo>
                  <a:pt x="60413" y="1359"/>
                </a:lnTo>
                <a:lnTo>
                  <a:pt x="61214" y="1715"/>
                </a:lnTo>
                <a:lnTo>
                  <a:pt x="61997" y="2109"/>
                </a:lnTo>
                <a:lnTo>
                  <a:pt x="62760" y="2541"/>
                </a:lnTo>
                <a:lnTo>
                  <a:pt x="63500" y="3010"/>
                </a:lnTo>
                <a:lnTo>
                  <a:pt x="64217" y="3515"/>
                </a:lnTo>
                <a:lnTo>
                  <a:pt x="64908" y="4054"/>
                </a:lnTo>
                <a:lnTo>
                  <a:pt x="65572" y="4626"/>
                </a:lnTo>
                <a:lnTo>
                  <a:pt x="66207" y="5231"/>
                </a:lnTo>
                <a:lnTo>
                  <a:pt x="66811" y="5866"/>
                </a:lnTo>
                <a:lnTo>
                  <a:pt x="67384" y="6530"/>
                </a:lnTo>
                <a:lnTo>
                  <a:pt x="67923" y="7221"/>
                </a:lnTo>
                <a:lnTo>
                  <a:pt x="68428" y="7937"/>
                </a:lnTo>
                <a:lnTo>
                  <a:pt x="68897" y="8678"/>
                </a:lnTo>
                <a:lnTo>
                  <a:pt x="69329" y="9441"/>
                </a:lnTo>
                <a:lnTo>
                  <a:pt x="69723" y="10224"/>
                </a:lnTo>
                <a:lnTo>
                  <a:pt x="70078" y="11025"/>
                </a:lnTo>
                <a:lnTo>
                  <a:pt x="70394" y="11843"/>
                </a:lnTo>
                <a:lnTo>
                  <a:pt x="70668" y="12675"/>
                </a:lnTo>
                <a:lnTo>
                  <a:pt x="70902" y="13520"/>
                </a:lnTo>
                <a:lnTo>
                  <a:pt x="71094" y="14375"/>
                </a:lnTo>
                <a:lnTo>
                  <a:pt x="71244" y="15239"/>
                </a:lnTo>
                <a:lnTo>
                  <a:pt x="71352" y="16109"/>
                </a:lnTo>
                <a:lnTo>
                  <a:pt x="71416" y="16983"/>
                </a:lnTo>
                <a:lnTo>
                  <a:pt x="71438" y="17859"/>
                </a:lnTo>
                <a:lnTo>
                  <a:pt x="71438" y="53578"/>
                </a:lnTo>
                <a:lnTo>
                  <a:pt x="71416" y="54454"/>
                </a:lnTo>
                <a:lnTo>
                  <a:pt x="71352" y="55329"/>
                </a:lnTo>
                <a:lnTo>
                  <a:pt x="71244" y="56199"/>
                </a:lnTo>
                <a:lnTo>
                  <a:pt x="71094" y="57062"/>
                </a:lnTo>
                <a:lnTo>
                  <a:pt x="70902" y="57918"/>
                </a:lnTo>
                <a:lnTo>
                  <a:pt x="70668" y="58762"/>
                </a:lnTo>
                <a:lnTo>
                  <a:pt x="70394" y="59595"/>
                </a:lnTo>
                <a:lnTo>
                  <a:pt x="70078" y="60413"/>
                </a:lnTo>
                <a:lnTo>
                  <a:pt x="69723" y="61214"/>
                </a:lnTo>
                <a:lnTo>
                  <a:pt x="69329" y="61997"/>
                </a:lnTo>
                <a:lnTo>
                  <a:pt x="68897" y="62760"/>
                </a:lnTo>
                <a:lnTo>
                  <a:pt x="68428" y="63500"/>
                </a:lnTo>
                <a:lnTo>
                  <a:pt x="67923" y="64217"/>
                </a:lnTo>
                <a:lnTo>
                  <a:pt x="67384" y="64908"/>
                </a:lnTo>
                <a:lnTo>
                  <a:pt x="66811" y="65572"/>
                </a:lnTo>
                <a:lnTo>
                  <a:pt x="66207" y="66207"/>
                </a:lnTo>
                <a:lnTo>
                  <a:pt x="65572" y="66811"/>
                </a:lnTo>
                <a:lnTo>
                  <a:pt x="64908" y="67384"/>
                </a:lnTo>
                <a:lnTo>
                  <a:pt x="64217" y="67923"/>
                </a:lnTo>
                <a:lnTo>
                  <a:pt x="63500" y="68428"/>
                </a:lnTo>
                <a:lnTo>
                  <a:pt x="62760" y="68897"/>
                </a:lnTo>
                <a:lnTo>
                  <a:pt x="61997" y="69329"/>
                </a:lnTo>
                <a:lnTo>
                  <a:pt x="61214" y="69723"/>
                </a:lnTo>
                <a:lnTo>
                  <a:pt x="60413" y="70078"/>
                </a:lnTo>
                <a:lnTo>
                  <a:pt x="59595" y="70394"/>
                </a:lnTo>
                <a:lnTo>
                  <a:pt x="58762" y="70668"/>
                </a:lnTo>
                <a:lnTo>
                  <a:pt x="57918" y="70902"/>
                </a:lnTo>
                <a:lnTo>
                  <a:pt x="57062" y="71094"/>
                </a:lnTo>
                <a:lnTo>
                  <a:pt x="56199" y="71244"/>
                </a:lnTo>
                <a:lnTo>
                  <a:pt x="55329" y="71352"/>
                </a:lnTo>
                <a:lnTo>
                  <a:pt x="54454" y="71416"/>
                </a:lnTo>
                <a:lnTo>
                  <a:pt x="53578" y="71438"/>
                </a:lnTo>
                <a:lnTo>
                  <a:pt x="17859" y="71438"/>
                </a:lnTo>
                <a:lnTo>
                  <a:pt x="16983" y="71416"/>
                </a:lnTo>
                <a:lnTo>
                  <a:pt x="16109" y="71352"/>
                </a:lnTo>
                <a:lnTo>
                  <a:pt x="15239" y="71244"/>
                </a:lnTo>
                <a:lnTo>
                  <a:pt x="14375" y="71094"/>
                </a:lnTo>
                <a:lnTo>
                  <a:pt x="13520" y="70902"/>
                </a:lnTo>
                <a:lnTo>
                  <a:pt x="12675" y="70668"/>
                </a:lnTo>
                <a:lnTo>
                  <a:pt x="11843" y="70394"/>
                </a:lnTo>
                <a:lnTo>
                  <a:pt x="11025" y="70078"/>
                </a:lnTo>
                <a:lnTo>
                  <a:pt x="10224" y="69723"/>
                </a:lnTo>
                <a:lnTo>
                  <a:pt x="9441" y="69329"/>
                </a:lnTo>
                <a:lnTo>
                  <a:pt x="8678" y="68897"/>
                </a:lnTo>
                <a:lnTo>
                  <a:pt x="7937" y="68428"/>
                </a:lnTo>
                <a:lnTo>
                  <a:pt x="7221" y="67923"/>
                </a:lnTo>
                <a:lnTo>
                  <a:pt x="6530" y="67384"/>
                </a:lnTo>
                <a:lnTo>
                  <a:pt x="5866" y="66811"/>
                </a:lnTo>
                <a:lnTo>
                  <a:pt x="5231" y="66207"/>
                </a:lnTo>
                <a:lnTo>
                  <a:pt x="4626" y="65572"/>
                </a:lnTo>
                <a:lnTo>
                  <a:pt x="4054" y="64908"/>
                </a:lnTo>
                <a:lnTo>
                  <a:pt x="3515" y="64217"/>
                </a:lnTo>
                <a:lnTo>
                  <a:pt x="3010" y="63500"/>
                </a:lnTo>
                <a:lnTo>
                  <a:pt x="2541" y="62760"/>
                </a:lnTo>
                <a:lnTo>
                  <a:pt x="2109" y="61997"/>
                </a:lnTo>
                <a:lnTo>
                  <a:pt x="1715" y="61214"/>
                </a:lnTo>
                <a:lnTo>
                  <a:pt x="1359" y="60413"/>
                </a:lnTo>
                <a:lnTo>
                  <a:pt x="1044" y="59595"/>
                </a:lnTo>
                <a:lnTo>
                  <a:pt x="769" y="58762"/>
                </a:lnTo>
                <a:lnTo>
                  <a:pt x="535" y="57918"/>
                </a:lnTo>
                <a:lnTo>
                  <a:pt x="343" y="57062"/>
                </a:lnTo>
                <a:lnTo>
                  <a:pt x="193" y="56199"/>
                </a:lnTo>
                <a:lnTo>
                  <a:pt x="86" y="55329"/>
                </a:lnTo>
                <a:lnTo>
                  <a:pt x="22" y="54454"/>
                </a:lnTo>
                <a:lnTo>
                  <a:pt x="0" y="53578"/>
                </a:lnTo>
                <a:lnTo>
                  <a:pt x="0" y="17859"/>
                </a:lnTo>
                <a:lnTo>
                  <a:pt x="22" y="16983"/>
                </a:lnTo>
                <a:lnTo>
                  <a:pt x="86" y="16109"/>
                </a:lnTo>
                <a:lnTo>
                  <a:pt x="193" y="15239"/>
                </a:lnTo>
                <a:lnTo>
                  <a:pt x="343" y="14375"/>
                </a:lnTo>
                <a:lnTo>
                  <a:pt x="535" y="13520"/>
                </a:lnTo>
                <a:lnTo>
                  <a:pt x="769" y="12675"/>
                </a:lnTo>
                <a:lnTo>
                  <a:pt x="1044" y="11843"/>
                </a:lnTo>
                <a:lnTo>
                  <a:pt x="1359" y="11025"/>
                </a:lnTo>
                <a:lnTo>
                  <a:pt x="1715" y="10224"/>
                </a:lnTo>
                <a:lnTo>
                  <a:pt x="2109" y="9441"/>
                </a:lnTo>
                <a:lnTo>
                  <a:pt x="2541" y="8678"/>
                </a:lnTo>
                <a:lnTo>
                  <a:pt x="3010" y="7937"/>
                </a:lnTo>
                <a:lnTo>
                  <a:pt x="3515" y="7221"/>
                </a:lnTo>
                <a:lnTo>
                  <a:pt x="4054" y="6530"/>
                </a:lnTo>
                <a:lnTo>
                  <a:pt x="4626" y="5866"/>
                </a:lnTo>
                <a:lnTo>
                  <a:pt x="5231" y="5231"/>
                </a:lnTo>
                <a:lnTo>
                  <a:pt x="5866" y="4626"/>
                </a:lnTo>
                <a:lnTo>
                  <a:pt x="6530" y="4054"/>
                </a:lnTo>
                <a:lnTo>
                  <a:pt x="7221" y="3515"/>
                </a:lnTo>
                <a:lnTo>
                  <a:pt x="7937" y="3010"/>
                </a:lnTo>
                <a:lnTo>
                  <a:pt x="8678" y="2541"/>
                </a:lnTo>
                <a:lnTo>
                  <a:pt x="9441" y="2109"/>
                </a:lnTo>
                <a:lnTo>
                  <a:pt x="10224" y="1715"/>
                </a:lnTo>
                <a:lnTo>
                  <a:pt x="11025" y="1359"/>
                </a:lnTo>
                <a:lnTo>
                  <a:pt x="11843" y="1044"/>
                </a:lnTo>
                <a:lnTo>
                  <a:pt x="12675" y="769"/>
                </a:lnTo>
                <a:lnTo>
                  <a:pt x="13520" y="535"/>
                </a:lnTo>
                <a:lnTo>
                  <a:pt x="14375" y="343"/>
                </a:lnTo>
                <a:lnTo>
                  <a:pt x="15239" y="193"/>
                </a:lnTo>
                <a:lnTo>
                  <a:pt x="16109" y="86"/>
                </a:lnTo>
                <a:lnTo>
                  <a:pt x="16983" y="22"/>
                </a:lnTo>
                <a:lnTo>
                  <a:pt x="17859" y="0"/>
                </a:lnTo>
              </a:path>
            </a:pathLst>
          </a:custGeom>
          <a:solidFill>
            <a:srgbClr val="141413"/>
          </a:solidFill>
          <a:ln/>
        </p:spPr>
      </p:sp>
      <p:sp>
        <p:nvSpPr>
          <p:cNvPr id="48" name="Text 46"/>
          <p:cNvSpPr/>
          <p:nvPr/>
        </p:nvSpPr>
        <p:spPr>
          <a:xfrm>
            <a:off x="1228724" y="2268855"/>
            <a:ext cx="198310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月增收总额（万元·测算）</a:t>
            </a:r>
            <a:endParaRPr lang="en-US" sz="788" dirty="0"/>
          </a:p>
        </p:txBody>
      </p:sp>
      <p:sp>
        <p:nvSpPr>
          <p:cNvPr id="49" name="Shape 47"/>
          <p:cNvSpPr/>
          <p:nvPr/>
        </p:nvSpPr>
        <p:spPr>
          <a:xfrm>
            <a:off x="1121568" y="2293144"/>
            <a:ext cx="916757" cy="71438"/>
          </a:xfrm>
          <a:custGeom>
            <a:avLst/>
            <a:gdLst/>
            <a:ahLst/>
            <a:cxnLst/>
            <a:rect l="l" t="t" r="r" b="b"/>
            <a:pathLst>
              <a:path w="916757" h="71438">
                <a:moveTo>
                  <a:pt x="0" y="0"/>
                </a:moveTo>
                <a:lnTo>
                  <a:pt x="916757" y="0"/>
                </a:lnTo>
                <a:lnTo>
                  <a:pt x="916757" y="71438"/>
                </a:lnTo>
                <a:lnTo>
                  <a:pt x="0" y="71438"/>
                </a:lnTo>
                <a:close/>
              </a:path>
            </a:pathLst>
          </a:custGeom>
          <a:noFill/>
          <a:ln/>
        </p:spPr>
      </p:sp>
      <p:sp>
        <p:nvSpPr>
          <p:cNvPr id="50" name="Shape 48"/>
          <p:cNvSpPr/>
          <p:nvPr/>
        </p:nvSpPr>
        <p:spPr>
          <a:xfrm>
            <a:off x="5372100" y="1930264"/>
            <a:ext cx="3557588" cy="1800225"/>
          </a:xfrm>
          <a:prstGeom prst="roundRect">
            <a:avLst>
              <a:gd name="adj" fmla="val 3225"/>
            </a:avLst>
          </a:prstGeom>
          <a:solidFill>
            <a:srgbClr val="FAF9F5"/>
          </a:solidFill>
          <a:ln w="6191">
            <a:solidFill>
              <a:srgbClr val="F0EEE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564981" y="2315301"/>
            <a:ext cx="7144" cy="1264444"/>
          </a:xfrm>
          <a:prstGeom prst="rect">
            <a:avLst/>
          </a:prstGeom>
          <a:solidFill>
            <a:srgbClr val="E8E6DC"/>
          </a:solidFill>
          <a:ln/>
        </p:spPr>
      </p:sp>
      <p:sp>
        <p:nvSpPr>
          <p:cNvPr id="52" name="Shape 50"/>
          <p:cNvSpPr/>
          <p:nvPr/>
        </p:nvSpPr>
        <p:spPr>
          <a:xfrm>
            <a:off x="5536406" y="2309552"/>
            <a:ext cx="64294" cy="64294"/>
          </a:xfrm>
          <a:prstGeom prst="ellipse">
            <a:avLst/>
          </a:prstGeom>
          <a:solidFill>
            <a:srgbClr val="C96442"/>
          </a:solidFill>
          <a:ln/>
        </p:spPr>
      </p:sp>
      <p:sp>
        <p:nvSpPr>
          <p:cNvPr id="53" name="Shape 51"/>
          <p:cNvSpPr/>
          <p:nvPr/>
        </p:nvSpPr>
        <p:spPr>
          <a:xfrm>
            <a:off x="5536406" y="2551881"/>
            <a:ext cx="64294" cy="64294"/>
          </a:xfrm>
          <a:prstGeom prst="ellipse">
            <a:avLst/>
          </a:prstGeom>
          <a:solidFill>
            <a:srgbClr val="C96442"/>
          </a:solidFill>
          <a:ln/>
        </p:spPr>
      </p:sp>
      <p:sp>
        <p:nvSpPr>
          <p:cNvPr id="54" name="Shape 52"/>
          <p:cNvSpPr/>
          <p:nvPr/>
        </p:nvSpPr>
        <p:spPr>
          <a:xfrm>
            <a:off x="5536406" y="2794211"/>
            <a:ext cx="64294" cy="64294"/>
          </a:xfrm>
          <a:prstGeom prst="ellipse">
            <a:avLst/>
          </a:prstGeom>
          <a:solidFill>
            <a:srgbClr val="C96442"/>
          </a:solidFill>
          <a:ln/>
        </p:spPr>
      </p:sp>
      <p:sp>
        <p:nvSpPr>
          <p:cNvPr id="55" name="Shape 53"/>
          <p:cNvSpPr/>
          <p:nvPr/>
        </p:nvSpPr>
        <p:spPr>
          <a:xfrm>
            <a:off x="5536406" y="3036540"/>
            <a:ext cx="64294" cy="64294"/>
          </a:xfrm>
          <a:prstGeom prst="ellipse">
            <a:avLst/>
          </a:prstGeom>
          <a:solidFill>
            <a:srgbClr val="C96442"/>
          </a:solidFill>
          <a:ln/>
        </p:spPr>
      </p:sp>
      <p:sp>
        <p:nvSpPr>
          <p:cNvPr id="56" name="Shape 54"/>
          <p:cNvSpPr/>
          <p:nvPr/>
        </p:nvSpPr>
        <p:spPr>
          <a:xfrm>
            <a:off x="5536406" y="3278870"/>
            <a:ext cx="64294" cy="64294"/>
          </a:xfrm>
          <a:prstGeom prst="ellipse">
            <a:avLst/>
          </a:prstGeom>
          <a:solidFill>
            <a:srgbClr val="C96442"/>
          </a:solidFill>
          <a:ln/>
        </p:spPr>
      </p:sp>
      <p:sp>
        <p:nvSpPr>
          <p:cNvPr id="57" name="Shape 55"/>
          <p:cNvSpPr/>
          <p:nvPr/>
        </p:nvSpPr>
        <p:spPr>
          <a:xfrm>
            <a:off x="5536406" y="3521199"/>
            <a:ext cx="64294" cy="64294"/>
          </a:xfrm>
          <a:prstGeom prst="ellipse">
            <a:avLst/>
          </a:prstGeom>
          <a:solidFill>
            <a:srgbClr val="C96442"/>
          </a:solidFill>
          <a:ln/>
        </p:spPr>
      </p:sp>
      <p:sp>
        <p:nvSpPr>
          <p:cNvPr id="58" name="Shape 56"/>
          <p:cNvSpPr/>
          <p:nvPr/>
        </p:nvSpPr>
        <p:spPr>
          <a:xfrm>
            <a:off x="214313" y="3816883"/>
            <a:ext cx="8715375" cy="478631"/>
          </a:xfrm>
          <a:prstGeom prst="roundRect">
            <a:avLst>
              <a:gd name="adj" fmla="val 8554"/>
            </a:avLst>
          </a:prstGeom>
          <a:solidFill>
            <a:srgbClr val="141413"/>
          </a:solidFill>
          <a:ln/>
        </p:spPr>
      </p:sp>
      <p:sp>
        <p:nvSpPr>
          <p:cNvPr id="59" name="Text 57"/>
          <p:cNvSpPr/>
          <p:nvPr/>
        </p:nvSpPr>
        <p:spPr>
          <a:xfrm>
            <a:off x="214313" y="383977"/>
            <a:ext cx="8715375" cy="27860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申报要点：280万元扶持资金撬动120户增收</a:t>
            </a:r>
            <a:endParaRPr lang="en-US" sz="1900" dirty="0"/>
          </a:p>
        </p:txBody>
      </p:sp>
      <p:sp>
        <p:nvSpPr>
          <p:cNvPr id="60" name="Text 58"/>
          <p:cNvSpPr/>
          <p:nvPr/>
        </p:nvSpPr>
        <p:spPr>
          <a:xfrm>
            <a:off x="350713" y="1250938"/>
            <a:ext cx="1378744" cy="1143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技艺传承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350713" y="1409160"/>
            <a:ext cx="1378744" cy="178594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6代·逾150年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350713" y="1630952"/>
            <a:ext cx="1378744" cy="121444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现存12位师傅、平均62岁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2116615" y="1250938"/>
            <a:ext cx="1378744" cy="1143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认定层级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2116615" y="1409160"/>
            <a:ext cx="1378744" cy="178594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2018年省级非遗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2116615" y="1630952"/>
            <a:ext cx="1378744" cy="121444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非遗保护＋产业带动双线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3882572" y="1250938"/>
            <a:ext cx="1378744" cy="1143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总投资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3882572" y="1409160"/>
            <a:ext cx="1378744" cy="178594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280万元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3882572" y="1630952"/>
            <a:ext cx="1378744" cy="121444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公司＋合作社＋农户实施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5648530" y="1250938"/>
            <a:ext cx="1378744" cy="1143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带动农户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5648530" y="1409160"/>
            <a:ext cx="1378744" cy="178594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60户→120户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5648530" y="1630952"/>
            <a:ext cx="1378744" cy="121444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首年至第二年（＋100%，测算）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7414431" y="1250938"/>
            <a:ext cx="1378744" cy="1143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人均月增收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7414431" y="1409160"/>
            <a:ext cx="1378744" cy="178594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约1800元</a:t>
            </a:r>
            <a:endParaRPr lang="en-US" sz="1200" dirty="0"/>
          </a:p>
        </p:txBody>
      </p:sp>
      <p:sp>
        <p:nvSpPr>
          <p:cNvPr id="74" name="Text 72"/>
          <p:cNvSpPr/>
          <p:nvPr/>
        </p:nvSpPr>
        <p:spPr>
          <a:xfrm>
            <a:off x="7414431" y="1630952"/>
            <a:ext cx="1378744" cy="121444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在家编织、按件计酬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350100" y="2036694"/>
            <a:ext cx="2307431" cy="16430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带动农户与月增收总额（第一、二年）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3300245" y="2080282"/>
            <a:ext cx="1764506" cy="10715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户为申报锁定值·万元为测算（户数×1800元）</a:t>
            </a:r>
            <a:endParaRPr lang="en-US" sz="700" dirty="0"/>
          </a:p>
        </p:txBody>
      </p:sp>
      <p:sp>
        <p:nvSpPr>
          <p:cNvPr id="77" name="Text 75"/>
          <p:cNvSpPr/>
          <p:nvPr/>
        </p:nvSpPr>
        <p:spPr>
          <a:xfrm>
            <a:off x="5507887" y="2036694"/>
            <a:ext cx="814388" cy="16430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评审逻辑链条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8065238" y="2080282"/>
            <a:ext cx="728663" cy="10715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六段承接·对应页码</a:t>
            </a:r>
            <a:endParaRPr lang="en-US" sz="700" dirty="0"/>
          </a:p>
        </p:txBody>
      </p:sp>
      <p:sp>
        <p:nvSpPr>
          <p:cNvPr id="79" name="Text 77"/>
          <p:cNvSpPr/>
          <p:nvPr/>
        </p:nvSpPr>
        <p:spPr>
          <a:xfrm>
            <a:off x="5679281" y="2270261"/>
            <a:ext cx="400050" cy="142875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技艺濒危</a:t>
            </a:r>
            <a:endParaRPr lang="en-US" sz="700" dirty="0"/>
          </a:p>
        </p:txBody>
      </p:sp>
      <p:sp>
        <p:nvSpPr>
          <p:cNvPr id="80" name="Text 78"/>
          <p:cNvSpPr/>
          <p:nvPr/>
        </p:nvSpPr>
        <p:spPr>
          <a:xfrm>
            <a:off x="8693665" y="2288121"/>
            <a:ext cx="100012" cy="107156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P3</a:t>
            </a:r>
            <a:endParaRPr lang="en-US" sz="700" dirty="0"/>
          </a:p>
        </p:txBody>
      </p:sp>
      <p:sp>
        <p:nvSpPr>
          <p:cNvPr id="81" name="Text 79"/>
          <p:cNvSpPr/>
          <p:nvPr/>
        </p:nvSpPr>
        <p:spPr>
          <a:xfrm>
            <a:off x="5679281" y="2512591"/>
            <a:ext cx="600075" cy="142875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省级非遗价值</a:t>
            </a:r>
            <a:endParaRPr lang="en-US" sz="700" dirty="0"/>
          </a:p>
        </p:txBody>
      </p:sp>
      <p:sp>
        <p:nvSpPr>
          <p:cNvPr id="82" name="Text 80"/>
          <p:cNvSpPr/>
          <p:nvPr/>
        </p:nvSpPr>
        <p:spPr>
          <a:xfrm>
            <a:off x="8694837" y="2530450"/>
            <a:ext cx="100012" cy="107156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P4</a:t>
            </a:r>
            <a:endParaRPr lang="en-US" sz="700" dirty="0"/>
          </a:p>
        </p:txBody>
      </p:sp>
      <p:sp>
        <p:nvSpPr>
          <p:cNvPr id="83" name="Text 81"/>
          <p:cNvSpPr/>
          <p:nvPr/>
        </p:nvSpPr>
        <p:spPr>
          <a:xfrm>
            <a:off x="5679281" y="2754920"/>
            <a:ext cx="900113" cy="142875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利益联结与带农增收</a:t>
            </a:r>
            <a:endParaRPr lang="en-US" sz="700" dirty="0"/>
          </a:p>
        </p:txBody>
      </p:sp>
      <p:sp>
        <p:nvSpPr>
          <p:cNvPr id="84" name="Text 82"/>
          <p:cNvSpPr/>
          <p:nvPr/>
        </p:nvSpPr>
        <p:spPr>
          <a:xfrm>
            <a:off x="8507257" y="2772780"/>
            <a:ext cx="285750" cy="107156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P5、P6</a:t>
            </a:r>
            <a:endParaRPr lang="en-US" sz="700" dirty="0"/>
          </a:p>
        </p:txBody>
      </p:sp>
      <p:sp>
        <p:nvSpPr>
          <p:cNvPr id="85" name="Text 83"/>
          <p:cNvSpPr/>
          <p:nvPr/>
        </p:nvSpPr>
        <p:spPr>
          <a:xfrm>
            <a:off x="5679281" y="2997250"/>
            <a:ext cx="600075" cy="142875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三年递进规划</a:t>
            </a:r>
            <a:endParaRPr lang="en-US" sz="700" dirty="0"/>
          </a:p>
        </p:txBody>
      </p:sp>
      <p:sp>
        <p:nvSpPr>
          <p:cNvPr id="86" name="Text 84"/>
          <p:cNvSpPr/>
          <p:nvPr/>
        </p:nvSpPr>
        <p:spPr>
          <a:xfrm>
            <a:off x="8694613" y="3015109"/>
            <a:ext cx="100012" cy="107156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P7</a:t>
            </a:r>
            <a:endParaRPr lang="en-US" sz="700" dirty="0"/>
          </a:p>
        </p:txBody>
      </p:sp>
      <p:sp>
        <p:nvSpPr>
          <p:cNvPr id="87" name="Text 85"/>
          <p:cNvSpPr/>
          <p:nvPr/>
        </p:nvSpPr>
        <p:spPr>
          <a:xfrm>
            <a:off x="5678891" y="3239579"/>
            <a:ext cx="764381" cy="142875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280万元资金用途</a:t>
            </a:r>
            <a:endParaRPr lang="en-US" sz="700" dirty="0"/>
          </a:p>
        </p:txBody>
      </p:sp>
      <p:sp>
        <p:nvSpPr>
          <p:cNvPr id="88" name="Text 86"/>
          <p:cNvSpPr/>
          <p:nvPr/>
        </p:nvSpPr>
        <p:spPr>
          <a:xfrm>
            <a:off x="8693497" y="3257438"/>
            <a:ext cx="100012" cy="107156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P8</a:t>
            </a:r>
            <a:endParaRPr lang="en-US" sz="700" dirty="0"/>
          </a:p>
        </p:txBody>
      </p:sp>
      <p:sp>
        <p:nvSpPr>
          <p:cNvPr id="89" name="Text 87"/>
          <p:cNvSpPr/>
          <p:nvPr/>
        </p:nvSpPr>
        <p:spPr>
          <a:xfrm>
            <a:off x="5679281" y="3481908"/>
            <a:ext cx="700088" cy="142875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效益与风险防控</a:t>
            </a:r>
            <a:endParaRPr lang="en-US" sz="700" dirty="0"/>
          </a:p>
        </p:txBody>
      </p:sp>
      <p:sp>
        <p:nvSpPr>
          <p:cNvPr id="90" name="Text 88"/>
          <p:cNvSpPr/>
          <p:nvPr/>
        </p:nvSpPr>
        <p:spPr>
          <a:xfrm>
            <a:off x="8693107" y="3499768"/>
            <a:ext cx="100012" cy="107156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P9</a:t>
            </a:r>
            <a:endParaRPr lang="en-US" sz="700" dirty="0"/>
          </a:p>
        </p:txBody>
      </p:sp>
      <p:sp>
        <p:nvSpPr>
          <p:cNvPr id="91" name="Text 89"/>
          <p:cNvSpPr/>
          <p:nvPr/>
        </p:nvSpPr>
        <p:spPr>
          <a:xfrm>
            <a:off x="372814" y="4002621"/>
            <a:ext cx="450056" cy="107156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B0AEA5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申报请求</a:t>
            </a:r>
            <a:endParaRPr lang="en-US" sz="700" dirty="0"/>
          </a:p>
        </p:txBody>
      </p:sp>
      <p:sp>
        <p:nvSpPr>
          <p:cNvPr id="92" name="Text 90"/>
          <p:cNvSpPr/>
          <p:nvPr/>
        </p:nvSpPr>
        <p:spPr>
          <a:xfrm>
            <a:off x="936836" y="3901939"/>
            <a:ext cx="4572000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AF9F5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申请县级产业扶持资金280万元，分三年实施，资金用途与三年规划逐项对应，可核查、可考核。</a:t>
            </a:r>
            <a:endParaRPr lang="en-US" sz="800" dirty="0"/>
          </a:p>
        </p:txBody>
      </p:sp>
      <p:sp>
        <p:nvSpPr>
          <p:cNvPr id="93" name="Text 91"/>
          <p:cNvSpPr/>
          <p:nvPr/>
        </p:nvSpPr>
        <p:spPr>
          <a:xfrm>
            <a:off x="936836" y="4081202"/>
            <a:ext cx="4572000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B0AEA5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第一年建成800㎡工坊并培训50人｜第二年年产量扩至10万件｜第三年打造品牌、入驻电商平台</a:t>
            </a:r>
            <a:endParaRPr lang="en-US" sz="700" dirty="0"/>
          </a:p>
        </p:txBody>
      </p:sp>
      <p:sp>
        <p:nvSpPr>
          <p:cNvPr id="94" name="Text 92"/>
          <p:cNvSpPr/>
          <p:nvPr/>
        </p:nvSpPr>
        <p:spPr>
          <a:xfrm>
            <a:off x="7222945" y="3999049"/>
            <a:ext cx="1550194" cy="11430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B0AEA5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以下先说明为什么必须现在扶持 → P3</a:t>
            </a:r>
            <a:endParaRPr lang="en-US" sz="700" dirty="0"/>
          </a:p>
        </p:txBody>
      </p:sp>
      <p:sp>
        <p:nvSpPr>
          <p:cNvPr id="95" name="Text 93"/>
          <p:cNvSpPr/>
          <p:nvPr/>
        </p:nvSpPr>
        <p:spPr>
          <a:xfrm>
            <a:off x="214313" y="4664869"/>
            <a:ext cx="8715375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数据来源：本项目申报锁定口径；月增收总额10.8万元／21.6万元、户均撬动约2.33万元为算术换算（测算）；第三年带动户数与年产量以申报材料为准。</a:t>
            </a:r>
            <a:endParaRPr lang="en-US" sz="700" dirty="0"/>
          </a:p>
        </p:txBody>
      </p:sp>
      <p:sp>
        <p:nvSpPr>
          <p:cNvPr id="65535" name="wm:hwcld:2026-09-22T19:19:56:64984ecd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214313" y="746522"/>
            <a:ext cx="428625" cy="14288"/>
          </a:xfrm>
          <a:prstGeom prst="rect">
            <a:avLst/>
          </a:prstGeom>
          <a:solidFill>
            <a:srgbClr val="C96442"/>
          </a:solidFill>
          <a:ln/>
        </p:spPr>
      </p:sp>
      <p:sp>
        <p:nvSpPr>
          <p:cNvPr id="4" name="Shape 2"/>
          <p:cNvSpPr/>
          <p:nvPr/>
        </p:nvSpPr>
        <p:spPr>
          <a:xfrm>
            <a:off x="214313" y="844748"/>
            <a:ext cx="2714625" cy="3764756"/>
          </a:xfrm>
          <a:prstGeom prst="roundRect">
            <a:avLst>
              <a:gd name="adj" fmla="val 1418"/>
            </a:avLst>
          </a:prstGeom>
          <a:solidFill>
            <a:srgbClr val="FAF9F5"/>
          </a:solidFill>
          <a:ln w="6191">
            <a:solidFill>
              <a:srgbClr val="F0EE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07194" y="1636979"/>
            <a:ext cx="7144" cy="2171700"/>
          </a:xfrm>
          <a:prstGeom prst="rect">
            <a:avLst/>
          </a:prstGeom>
          <a:solidFill>
            <a:srgbClr val="E8E6DC"/>
          </a:solidFill>
          <a:ln/>
        </p:spPr>
      </p:sp>
      <p:sp>
        <p:nvSpPr>
          <p:cNvPr id="6" name="Shape 4"/>
          <p:cNvSpPr/>
          <p:nvPr/>
        </p:nvSpPr>
        <p:spPr>
          <a:xfrm>
            <a:off x="378619" y="1602321"/>
            <a:ext cx="64294" cy="64294"/>
          </a:xfrm>
          <a:prstGeom prst="ellipse">
            <a:avLst/>
          </a:prstGeom>
          <a:solidFill>
            <a:srgbClr val="D1CFC5"/>
          </a:solidFill>
          <a:ln/>
        </p:spPr>
      </p:sp>
      <p:sp>
        <p:nvSpPr>
          <p:cNvPr id="7" name="Shape 5"/>
          <p:cNvSpPr/>
          <p:nvPr/>
        </p:nvSpPr>
        <p:spPr>
          <a:xfrm>
            <a:off x="378619" y="1986744"/>
            <a:ext cx="64294" cy="64294"/>
          </a:xfrm>
          <a:prstGeom prst="ellipse">
            <a:avLst/>
          </a:prstGeom>
          <a:solidFill>
            <a:srgbClr val="D1CFC5"/>
          </a:solidFill>
          <a:ln/>
        </p:spPr>
      </p:sp>
      <p:sp>
        <p:nvSpPr>
          <p:cNvPr id="8" name="Shape 6"/>
          <p:cNvSpPr/>
          <p:nvPr/>
        </p:nvSpPr>
        <p:spPr>
          <a:xfrm>
            <a:off x="378619" y="2371167"/>
            <a:ext cx="64294" cy="64294"/>
          </a:xfrm>
          <a:prstGeom prst="ellipse">
            <a:avLst/>
          </a:prstGeom>
          <a:solidFill>
            <a:srgbClr val="D1CFC5"/>
          </a:solidFill>
          <a:ln/>
        </p:spPr>
      </p:sp>
      <p:sp>
        <p:nvSpPr>
          <p:cNvPr id="9" name="Shape 7"/>
          <p:cNvSpPr/>
          <p:nvPr/>
        </p:nvSpPr>
        <p:spPr>
          <a:xfrm>
            <a:off x="378619" y="2755590"/>
            <a:ext cx="64294" cy="64294"/>
          </a:xfrm>
          <a:prstGeom prst="ellipse">
            <a:avLst/>
          </a:prstGeom>
          <a:solidFill>
            <a:srgbClr val="D1CFC5"/>
          </a:solidFill>
          <a:ln/>
        </p:spPr>
      </p:sp>
      <p:sp>
        <p:nvSpPr>
          <p:cNvPr id="10" name="Shape 8"/>
          <p:cNvSpPr/>
          <p:nvPr/>
        </p:nvSpPr>
        <p:spPr>
          <a:xfrm>
            <a:off x="378619" y="3140013"/>
            <a:ext cx="64294" cy="64294"/>
          </a:xfrm>
          <a:prstGeom prst="ellipse">
            <a:avLst/>
          </a:prstGeom>
          <a:solidFill>
            <a:srgbClr val="D1CFC5"/>
          </a:solidFill>
          <a:ln/>
        </p:spPr>
      </p:sp>
      <p:sp>
        <p:nvSpPr>
          <p:cNvPr id="11" name="Shape 9"/>
          <p:cNvSpPr/>
          <p:nvPr/>
        </p:nvSpPr>
        <p:spPr>
          <a:xfrm>
            <a:off x="364331" y="3510149"/>
            <a:ext cx="92869" cy="92869"/>
          </a:xfrm>
          <a:prstGeom prst="ellipse">
            <a:avLst/>
          </a:prstGeom>
          <a:solidFill>
            <a:srgbClr val="C96442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4331" y="4007644"/>
            <a:ext cx="2414588" cy="464344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3128963" y="847651"/>
            <a:ext cx="5800725" cy="2093119"/>
          </a:xfrm>
          <a:prstGeom prst="roundRect">
            <a:avLst>
              <a:gd name="adj" fmla="val 2386"/>
            </a:avLst>
          </a:prstGeom>
          <a:solidFill>
            <a:srgbClr val="FAF9F5"/>
          </a:solidFill>
          <a:ln w="6191">
            <a:solidFill>
              <a:srgbClr val="F0EEE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78981" y="1186197"/>
            <a:ext cx="1685925" cy="514350"/>
          </a:xfrm>
          <a:prstGeom prst="roundRect">
            <a:avLst>
              <a:gd name="adj" fmla="val 7407"/>
            </a:avLst>
          </a:prstGeom>
          <a:solidFill>
            <a:srgbClr val="F5F4ED"/>
          </a:solidFill>
          <a:ln w="6191">
            <a:solidFill>
              <a:srgbClr val="F0EEE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78981" y="1754125"/>
            <a:ext cx="1685925" cy="514350"/>
          </a:xfrm>
          <a:prstGeom prst="roundRect">
            <a:avLst>
              <a:gd name="adj" fmla="val 7407"/>
            </a:avLst>
          </a:prstGeom>
          <a:solidFill>
            <a:srgbClr val="F5F4ED"/>
          </a:solidFill>
          <a:ln w="6191">
            <a:solidFill>
              <a:srgbClr val="F0EEE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278981" y="2322054"/>
            <a:ext cx="1685925" cy="514350"/>
          </a:xfrm>
          <a:prstGeom prst="roundRect">
            <a:avLst>
              <a:gd name="adj" fmla="val 7407"/>
            </a:avLst>
          </a:prstGeom>
          <a:solidFill>
            <a:srgbClr val="F5F4ED"/>
          </a:solidFill>
          <a:ln w="6191">
            <a:solidFill>
              <a:srgbClr val="F0EEE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025753" y="1422611"/>
            <a:ext cx="0" cy="1143000"/>
          </a:xfrm>
          <a:prstGeom prst="line">
            <a:avLst/>
          </a:prstGeom>
          <a:noFill/>
          <a:ln w="6350">
            <a:solidFill>
              <a:srgbClr val="F0EEE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361509" y="1422611"/>
            <a:ext cx="0" cy="1143000"/>
          </a:xfrm>
          <a:prstGeom prst="line">
            <a:avLst/>
          </a:prstGeom>
          <a:noFill/>
          <a:ln w="6350">
            <a:solidFill>
              <a:srgbClr val="F0EEE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704409" y="1422611"/>
            <a:ext cx="0" cy="1143000"/>
          </a:xfrm>
          <a:prstGeom prst="line">
            <a:avLst/>
          </a:prstGeom>
          <a:noFill/>
          <a:ln w="6350">
            <a:solidFill>
              <a:srgbClr val="F0EEE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047309" y="1422611"/>
            <a:ext cx="0" cy="1143000"/>
          </a:xfrm>
          <a:prstGeom prst="line">
            <a:avLst/>
          </a:prstGeom>
          <a:noFill/>
          <a:ln w="6350">
            <a:solidFill>
              <a:srgbClr val="F0EEE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390209" y="1422611"/>
            <a:ext cx="0" cy="1143000"/>
          </a:xfrm>
          <a:prstGeom prst="line">
            <a:avLst/>
          </a:prstGeom>
          <a:noFill/>
          <a:ln w="6350">
            <a:solidFill>
              <a:srgbClr val="F0EEE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725966" y="1422611"/>
            <a:ext cx="0" cy="1143000"/>
          </a:xfrm>
          <a:prstGeom prst="line">
            <a:avLst/>
          </a:prstGeom>
          <a:noFill/>
          <a:ln w="6350">
            <a:solidFill>
              <a:srgbClr val="F0EEE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068866" y="1422611"/>
            <a:ext cx="0" cy="1143000"/>
          </a:xfrm>
          <a:prstGeom prst="line">
            <a:avLst/>
          </a:prstGeom>
          <a:noFill/>
          <a:ln w="6350">
            <a:solidFill>
              <a:srgbClr val="F0EEE6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411766" y="1422611"/>
            <a:ext cx="0" cy="1143000"/>
          </a:xfrm>
          <a:prstGeom prst="line">
            <a:avLst/>
          </a:prstGeom>
          <a:noFill/>
          <a:ln w="6350">
            <a:solidFill>
              <a:srgbClr val="F0EEE6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025753" y="1422611"/>
            <a:ext cx="0" cy="1143000"/>
          </a:xfrm>
          <a:prstGeom prst="line">
            <a:avLst/>
          </a:prstGeom>
          <a:noFill/>
          <a:ln w="6350">
            <a:solidFill>
              <a:srgbClr val="E8E6D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022180" y="2569183"/>
            <a:ext cx="2386014" cy="0"/>
          </a:xfrm>
          <a:prstGeom prst="line">
            <a:avLst/>
          </a:prstGeom>
          <a:noFill/>
          <a:ln w="6350">
            <a:solidFill>
              <a:srgbClr val="E8E6D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464968" y="1579773"/>
            <a:ext cx="0" cy="257175"/>
          </a:xfrm>
          <a:custGeom>
            <a:avLst/>
            <a:gdLst/>
            <a:ahLst/>
            <a:cxnLst/>
            <a:rect l="l" t="t" r="r" b="b"/>
            <a:pathLst>
              <a:path w="0" h="257175">
                <a:moveTo>
                  <a:pt x="0" y="0"/>
                </a:moveTo>
                <a:lnTo>
                  <a:pt x="500062" y="0"/>
                </a:lnTo>
                <a:lnTo>
                  <a:pt x="500062" y="257175"/>
                </a:lnTo>
                <a:lnTo>
                  <a:pt x="0" y="257175"/>
                </a:lnTo>
                <a:close/>
              </a:path>
            </a:pathLst>
          </a:custGeom>
          <a:noFill/>
          <a:ln/>
        </p:spPr>
      </p:sp>
      <p:sp>
        <p:nvSpPr>
          <p:cNvPr id="28" name="Text 25"/>
          <p:cNvSpPr/>
          <p:nvPr/>
        </p:nvSpPr>
        <p:spPr>
          <a:xfrm>
            <a:off x="4732019" y="1584060"/>
            <a:ext cx="1233011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本项目竹编师傅</a:t>
            </a:r>
            <a:endParaRPr lang="en-US" sz="788" dirty="0"/>
          </a:p>
        </p:txBody>
      </p:sp>
      <p:sp>
        <p:nvSpPr>
          <p:cNvPr id="29" name="Text 26"/>
          <p:cNvSpPr/>
          <p:nvPr/>
        </p:nvSpPr>
        <p:spPr>
          <a:xfrm>
            <a:off x="4882037" y="1712647"/>
            <a:ext cx="1082993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（给定口径）</a:t>
            </a:r>
            <a:endParaRPr lang="en-US" sz="788" dirty="0"/>
          </a:p>
        </p:txBody>
      </p:sp>
      <p:sp>
        <p:nvSpPr>
          <p:cNvPr id="30" name="Shape 27"/>
          <p:cNvSpPr/>
          <p:nvPr/>
        </p:nvSpPr>
        <p:spPr>
          <a:xfrm>
            <a:off x="5107781" y="2151273"/>
            <a:ext cx="0" cy="257175"/>
          </a:xfrm>
          <a:custGeom>
            <a:avLst/>
            <a:gdLst/>
            <a:ahLst/>
            <a:cxnLst/>
            <a:rect l="l" t="t" r="r" b="b"/>
            <a:pathLst>
              <a:path w="0" h="257175">
                <a:moveTo>
                  <a:pt x="0" y="0"/>
                </a:moveTo>
                <a:lnTo>
                  <a:pt x="857249" y="0"/>
                </a:lnTo>
                <a:lnTo>
                  <a:pt x="857249" y="257175"/>
                </a:lnTo>
                <a:lnTo>
                  <a:pt x="0" y="257175"/>
                </a:lnTo>
                <a:close/>
              </a:path>
            </a:pathLst>
          </a:custGeom>
          <a:noFill/>
          <a:ln/>
        </p:spPr>
      </p:sp>
      <p:sp>
        <p:nvSpPr>
          <p:cNvPr id="31" name="Text 28"/>
          <p:cNvSpPr/>
          <p:nvPr/>
        </p:nvSpPr>
        <p:spPr>
          <a:xfrm>
            <a:off x="3981925" y="2155560"/>
            <a:ext cx="198310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第五批国家级代表性传承人</a:t>
            </a:r>
            <a:endParaRPr lang="en-US" sz="788" dirty="0"/>
          </a:p>
        </p:txBody>
      </p:sp>
      <p:sp>
        <p:nvSpPr>
          <p:cNvPr id="32" name="Text 29"/>
          <p:cNvSpPr/>
          <p:nvPr/>
        </p:nvSpPr>
        <p:spPr>
          <a:xfrm>
            <a:off x="4131944" y="2284147"/>
            <a:ext cx="183308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（参照口径·2018）</a:t>
            </a:r>
            <a:endParaRPr lang="en-US" sz="788" dirty="0"/>
          </a:p>
        </p:txBody>
      </p:sp>
      <p:sp>
        <p:nvSpPr>
          <p:cNvPr id="33" name="Text 30"/>
          <p:cNvSpPr/>
          <p:nvPr/>
        </p:nvSpPr>
        <p:spPr>
          <a:xfrm>
            <a:off x="5855730" y="2598472"/>
            <a:ext cx="33289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0</a:t>
            </a:r>
            <a:endParaRPr lang="en-US" sz="788" dirty="0"/>
          </a:p>
        </p:txBody>
      </p:sp>
      <p:sp>
        <p:nvSpPr>
          <p:cNvPr id="34" name="Text 31"/>
          <p:cNvSpPr/>
          <p:nvPr/>
        </p:nvSpPr>
        <p:spPr>
          <a:xfrm>
            <a:off x="6121580" y="2598472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10</a:t>
            </a:r>
            <a:endParaRPr lang="en-US" sz="788" dirty="0"/>
          </a:p>
        </p:txBody>
      </p:sp>
      <p:sp>
        <p:nvSpPr>
          <p:cNvPr id="35" name="Text 32"/>
          <p:cNvSpPr/>
          <p:nvPr/>
        </p:nvSpPr>
        <p:spPr>
          <a:xfrm>
            <a:off x="6462439" y="2598472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20</a:t>
            </a:r>
            <a:endParaRPr lang="en-US" sz="788" dirty="0"/>
          </a:p>
        </p:txBody>
      </p:sp>
      <p:sp>
        <p:nvSpPr>
          <p:cNvPr id="36" name="Text 33"/>
          <p:cNvSpPr/>
          <p:nvPr/>
        </p:nvSpPr>
        <p:spPr>
          <a:xfrm>
            <a:off x="6803299" y="2598472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30</a:t>
            </a:r>
            <a:endParaRPr lang="en-US" sz="788" dirty="0"/>
          </a:p>
        </p:txBody>
      </p:sp>
      <p:sp>
        <p:nvSpPr>
          <p:cNvPr id="37" name="Text 34"/>
          <p:cNvSpPr/>
          <p:nvPr/>
        </p:nvSpPr>
        <p:spPr>
          <a:xfrm>
            <a:off x="7144158" y="2598472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40</a:t>
            </a:r>
            <a:endParaRPr lang="en-US" sz="788" dirty="0"/>
          </a:p>
        </p:txBody>
      </p:sp>
      <p:sp>
        <p:nvSpPr>
          <p:cNvPr id="38" name="Text 35"/>
          <p:cNvSpPr/>
          <p:nvPr/>
        </p:nvSpPr>
        <p:spPr>
          <a:xfrm>
            <a:off x="7485017" y="2598472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50</a:t>
            </a:r>
            <a:endParaRPr lang="en-US" sz="788" dirty="0"/>
          </a:p>
        </p:txBody>
      </p:sp>
      <p:sp>
        <p:nvSpPr>
          <p:cNvPr id="39" name="Text 36"/>
          <p:cNvSpPr/>
          <p:nvPr/>
        </p:nvSpPr>
        <p:spPr>
          <a:xfrm>
            <a:off x="7825876" y="2598472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60</a:t>
            </a:r>
            <a:endParaRPr lang="en-US" sz="788" dirty="0"/>
          </a:p>
        </p:txBody>
      </p:sp>
      <p:sp>
        <p:nvSpPr>
          <p:cNvPr id="40" name="Text 37"/>
          <p:cNvSpPr/>
          <p:nvPr/>
        </p:nvSpPr>
        <p:spPr>
          <a:xfrm>
            <a:off x="8166735" y="2598472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70</a:t>
            </a:r>
            <a:endParaRPr lang="en-US" sz="788" dirty="0"/>
          </a:p>
        </p:txBody>
      </p:sp>
      <p:sp>
        <p:nvSpPr>
          <p:cNvPr id="41" name="Shape 38"/>
          <p:cNvSpPr/>
          <p:nvPr/>
        </p:nvSpPr>
        <p:spPr>
          <a:xfrm>
            <a:off x="6022180" y="1615492"/>
            <a:ext cx="2113327" cy="185738"/>
          </a:xfrm>
          <a:custGeom>
            <a:avLst/>
            <a:gdLst/>
            <a:ahLst/>
            <a:cxnLst/>
            <a:rect l="l" t="t" r="r" b="b"/>
            <a:pathLst>
              <a:path w="2113327" h="185738">
                <a:moveTo>
                  <a:pt x="0" y="0"/>
                </a:moveTo>
                <a:lnTo>
                  <a:pt x="2084752" y="0"/>
                </a:lnTo>
                <a:lnTo>
                  <a:pt x="2086154" y="34"/>
                </a:lnTo>
                <a:lnTo>
                  <a:pt x="2087553" y="138"/>
                </a:lnTo>
                <a:lnTo>
                  <a:pt x="2088945" y="309"/>
                </a:lnTo>
                <a:lnTo>
                  <a:pt x="2090327" y="549"/>
                </a:lnTo>
                <a:lnTo>
                  <a:pt x="2091695" y="856"/>
                </a:lnTo>
                <a:lnTo>
                  <a:pt x="2093047" y="1230"/>
                </a:lnTo>
                <a:lnTo>
                  <a:pt x="2094379" y="1670"/>
                </a:lnTo>
                <a:lnTo>
                  <a:pt x="2095687" y="2175"/>
                </a:lnTo>
                <a:lnTo>
                  <a:pt x="2096969" y="2744"/>
                </a:lnTo>
                <a:lnTo>
                  <a:pt x="2098222" y="3374"/>
                </a:lnTo>
                <a:lnTo>
                  <a:pt x="2099442" y="4065"/>
                </a:lnTo>
                <a:lnTo>
                  <a:pt x="2100627" y="4816"/>
                </a:lnTo>
                <a:lnTo>
                  <a:pt x="2101774" y="5623"/>
                </a:lnTo>
                <a:lnTo>
                  <a:pt x="2102880" y="6486"/>
                </a:lnTo>
                <a:lnTo>
                  <a:pt x="2103942" y="7402"/>
                </a:lnTo>
                <a:lnTo>
                  <a:pt x="2104958" y="8369"/>
                </a:lnTo>
                <a:lnTo>
                  <a:pt x="2105925" y="9385"/>
                </a:lnTo>
                <a:lnTo>
                  <a:pt x="2106841" y="10447"/>
                </a:lnTo>
                <a:lnTo>
                  <a:pt x="2107704" y="11553"/>
                </a:lnTo>
                <a:lnTo>
                  <a:pt x="2108511" y="12700"/>
                </a:lnTo>
                <a:lnTo>
                  <a:pt x="2109262" y="13885"/>
                </a:lnTo>
                <a:lnTo>
                  <a:pt x="2109953" y="15105"/>
                </a:lnTo>
                <a:lnTo>
                  <a:pt x="2110583" y="16358"/>
                </a:lnTo>
                <a:lnTo>
                  <a:pt x="2111152" y="17640"/>
                </a:lnTo>
                <a:lnTo>
                  <a:pt x="2111657" y="18948"/>
                </a:lnTo>
                <a:lnTo>
                  <a:pt x="2112097" y="20280"/>
                </a:lnTo>
                <a:lnTo>
                  <a:pt x="2112471" y="21632"/>
                </a:lnTo>
                <a:lnTo>
                  <a:pt x="2112778" y="23000"/>
                </a:lnTo>
                <a:lnTo>
                  <a:pt x="2113018" y="24382"/>
                </a:lnTo>
                <a:lnTo>
                  <a:pt x="2113189" y="25774"/>
                </a:lnTo>
                <a:lnTo>
                  <a:pt x="2113293" y="27173"/>
                </a:lnTo>
                <a:lnTo>
                  <a:pt x="2113327" y="28575"/>
                </a:lnTo>
                <a:lnTo>
                  <a:pt x="2113327" y="157163"/>
                </a:lnTo>
                <a:lnTo>
                  <a:pt x="2113293" y="158565"/>
                </a:lnTo>
                <a:lnTo>
                  <a:pt x="2113189" y="159963"/>
                </a:lnTo>
                <a:lnTo>
                  <a:pt x="2113018" y="161355"/>
                </a:lnTo>
                <a:lnTo>
                  <a:pt x="2112778" y="162737"/>
                </a:lnTo>
                <a:lnTo>
                  <a:pt x="2112471" y="164106"/>
                </a:lnTo>
                <a:lnTo>
                  <a:pt x="2112097" y="165457"/>
                </a:lnTo>
                <a:lnTo>
                  <a:pt x="2111657" y="166789"/>
                </a:lnTo>
                <a:lnTo>
                  <a:pt x="2111152" y="168098"/>
                </a:lnTo>
                <a:lnTo>
                  <a:pt x="2110583" y="169380"/>
                </a:lnTo>
                <a:lnTo>
                  <a:pt x="2109953" y="170633"/>
                </a:lnTo>
                <a:lnTo>
                  <a:pt x="2109262" y="171853"/>
                </a:lnTo>
                <a:lnTo>
                  <a:pt x="2108511" y="173038"/>
                </a:lnTo>
                <a:lnTo>
                  <a:pt x="2107704" y="174185"/>
                </a:lnTo>
                <a:lnTo>
                  <a:pt x="2106841" y="175290"/>
                </a:lnTo>
                <a:lnTo>
                  <a:pt x="2105925" y="176352"/>
                </a:lnTo>
                <a:lnTo>
                  <a:pt x="2104958" y="177368"/>
                </a:lnTo>
                <a:lnTo>
                  <a:pt x="2103942" y="178335"/>
                </a:lnTo>
                <a:lnTo>
                  <a:pt x="2102880" y="179251"/>
                </a:lnTo>
                <a:lnTo>
                  <a:pt x="2101774" y="180114"/>
                </a:lnTo>
                <a:lnTo>
                  <a:pt x="2100627" y="180922"/>
                </a:lnTo>
                <a:lnTo>
                  <a:pt x="2099442" y="181672"/>
                </a:lnTo>
                <a:lnTo>
                  <a:pt x="2098222" y="182363"/>
                </a:lnTo>
                <a:lnTo>
                  <a:pt x="2096969" y="182994"/>
                </a:lnTo>
                <a:lnTo>
                  <a:pt x="2095687" y="183562"/>
                </a:lnTo>
                <a:lnTo>
                  <a:pt x="2094379" y="184067"/>
                </a:lnTo>
                <a:lnTo>
                  <a:pt x="2093047" y="184507"/>
                </a:lnTo>
                <a:lnTo>
                  <a:pt x="2091695" y="184881"/>
                </a:lnTo>
                <a:lnTo>
                  <a:pt x="2090327" y="185188"/>
                </a:lnTo>
                <a:lnTo>
                  <a:pt x="2088945" y="185428"/>
                </a:lnTo>
                <a:lnTo>
                  <a:pt x="2087553" y="185600"/>
                </a:lnTo>
                <a:lnTo>
                  <a:pt x="2086154" y="185703"/>
                </a:lnTo>
                <a:lnTo>
                  <a:pt x="2084752" y="185738"/>
                </a:lnTo>
                <a:lnTo>
                  <a:pt x="0" y="185738"/>
                </a:lnTo>
                <a:lnTo>
                  <a:pt x="0" y="0"/>
                </a:lnTo>
              </a:path>
            </a:pathLst>
          </a:custGeom>
          <a:solidFill>
            <a:srgbClr val="C96442"/>
          </a:solidFill>
          <a:ln/>
        </p:spPr>
      </p:sp>
      <p:sp>
        <p:nvSpPr>
          <p:cNvPr id="42" name="Shape 39"/>
          <p:cNvSpPr/>
          <p:nvPr/>
        </p:nvSpPr>
        <p:spPr>
          <a:xfrm>
            <a:off x="6022180" y="2186992"/>
            <a:ext cx="2157297" cy="185738"/>
          </a:xfrm>
          <a:custGeom>
            <a:avLst/>
            <a:gdLst/>
            <a:ahLst/>
            <a:cxnLst/>
            <a:rect l="l" t="t" r="r" b="b"/>
            <a:pathLst>
              <a:path w="2157297" h="185738">
                <a:moveTo>
                  <a:pt x="0" y="0"/>
                </a:moveTo>
                <a:lnTo>
                  <a:pt x="2128722" y="0"/>
                </a:lnTo>
                <a:lnTo>
                  <a:pt x="2130125" y="34"/>
                </a:lnTo>
                <a:lnTo>
                  <a:pt x="2131523" y="138"/>
                </a:lnTo>
                <a:lnTo>
                  <a:pt x="2132915" y="309"/>
                </a:lnTo>
                <a:lnTo>
                  <a:pt x="2134297" y="549"/>
                </a:lnTo>
                <a:lnTo>
                  <a:pt x="2135666" y="856"/>
                </a:lnTo>
                <a:lnTo>
                  <a:pt x="2137017" y="1230"/>
                </a:lnTo>
                <a:lnTo>
                  <a:pt x="2138349" y="1670"/>
                </a:lnTo>
                <a:lnTo>
                  <a:pt x="2139658" y="2175"/>
                </a:lnTo>
                <a:lnTo>
                  <a:pt x="2140940" y="2744"/>
                </a:lnTo>
                <a:lnTo>
                  <a:pt x="2142193" y="3374"/>
                </a:lnTo>
                <a:lnTo>
                  <a:pt x="2143413" y="4065"/>
                </a:lnTo>
                <a:lnTo>
                  <a:pt x="2144598" y="4816"/>
                </a:lnTo>
                <a:lnTo>
                  <a:pt x="2145745" y="5623"/>
                </a:lnTo>
                <a:lnTo>
                  <a:pt x="2146850" y="6486"/>
                </a:lnTo>
                <a:lnTo>
                  <a:pt x="2147912" y="7402"/>
                </a:lnTo>
                <a:lnTo>
                  <a:pt x="2148928" y="8369"/>
                </a:lnTo>
                <a:lnTo>
                  <a:pt x="2149895" y="9385"/>
                </a:lnTo>
                <a:lnTo>
                  <a:pt x="2150811" y="10447"/>
                </a:lnTo>
                <a:lnTo>
                  <a:pt x="2151674" y="11553"/>
                </a:lnTo>
                <a:lnTo>
                  <a:pt x="2152482" y="12700"/>
                </a:lnTo>
                <a:lnTo>
                  <a:pt x="2153232" y="13885"/>
                </a:lnTo>
                <a:lnTo>
                  <a:pt x="2153923" y="15105"/>
                </a:lnTo>
                <a:lnTo>
                  <a:pt x="2154554" y="16358"/>
                </a:lnTo>
                <a:lnTo>
                  <a:pt x="2155122" y="17640"/>
                </a:lnTo>
                <a:lnTo>
                  <a:pt x="2155627" y="18948"/>
                </a:lnTo>
                <a:lnTo>
                  <a:pt x="2156067" y="20280"/>
                </a:lnTo>
                <a:lnTo>
                  <a:pt x="2156441" y="21632"/>
                </a:lnTo>
                <a:lnTo>
                  <a:pt x="2156748" y="23000"/>
                </a:lnTo>
                <a:lnTo>
                  <a:pt x="2156988" y="24382"/>
                </a:lnTo>
                <a:lnTo>
                  <a:pt x="2157160" y="25774"/>
                </a:lnTo>
                <a:lnTo>
                  <a:pt x="2157263" y="27173"/>
                </a:lnTo>
                <a:lnTo>
                  <a:pt x="2157297" y="28575"/>
                </a:lnTo>
                <a:lnTo>
                  <a:pt x="2157297" y="157163"/>
                </a:lnTo>
                <a:lnTo>
                  <a:pt x="2157263" y="158565"/>
                </a:lnTo>
                <a:lnTo>
                  <a:pt x="2157160" y="159963"/>
                </a:lnTo>
                <a:lnTo>
                  <a:pt x="2156988" y="161355"/>
                </a:lnTo>
                <a:lnTo>
                  <a:pt x="2156748" y="162737"/>
                </a:lnTo>
                <a:lnTo>
                  <a:pt x="2156441" y="164106"/>
                </a:lnTo>
                <a:lnTo>
                  <a:pt x="2156067" y="165457"/>
                </a:lnTo>
                <a:lnTo>
                  <a:pt x="2155627" y="166789"/>
                </a:lnTo>
                <a:lnTo>
                  <a:pt x="2155122" y="168098"/>
                </a:lnTo>
                <a:lnTo>
                  <a:pt x="2154554" y="169380"/>
                </a:lnTo>
                <a:lnTo>
                  <a:pt x="2153923" y="170633"/>
                </a:lnTo>
                <a:lnTo>
                  <a:pt x="2153232" y="171853"/>
                </a:lnTo>
                <a:lnTo>
                  <a:pt x="2152482" y="173038"/>
                </a:lnTo>
                <a:lnTo>
                  <a:pt x="2151674" y="174185"/>
                </a:lnTo>
                <a:lnTo>
                  <a:pt x="2150811" y="175290"/>
                </a:lnTo>
                <a:lnTo>
                  <a:pt x="2149895" y="176352"/>
                </a:lnTo>
                <a:lnTo>
                  <a:pt x="2148928" y="177368"/>
                </a:lnTo>
                <a:lnTo>
                  <a:pt x="2147912" y="178335"/>
                </a:lnTo>
                <a:lnTo>
                  <a:pt x="2146850" y="179251"/>
                </a:lnTo>
                <a:lnTo>
                  <a:pt x="2145745" y="180114"/>
                </a:lnTo>
                <a:lnTo>
                  <a:pt x="2144598" y="180922"/>
                </a:lnTo>
                <a:lnTo>
                  <a:pt x="2143413" y="181672"/>
                </a:lnTo>
                <a:lnTo>
                  <a:pt x="2142193" y="182363"/>
                </a:lnTo>
                <a:lnTo>
                  <a:pt x="2140940" y="182994"/>
                </a:lnTo>
                <a:lnTo>
                  <a:pt x="2139658" y="183562"/>
                </a:lnTo>
                <a:lnTo>
                  <a:pt x="2138349" y="184067"/>
                </a:lnTo>
                <a:lnTo>
                  <a:pt x="2137017" y="184507"/>
                </a:lnTo>
                <a:lnTo>
                  <a:pt x="2135666" y="184881"/>
                </a:lnTo>
                <a:lnTo>
                  <a:pt x="2134297" y="185188"/>
                </a:lnTo>
                <a:lnTo>
                  <a:pt x="2132915" y="185428"/>
                </a:lnTo>
                <a:lnTo>
                  <a:pt x="2131523" y="185600"/>
                </a:lnTo>
                <a:lnTo>
                  <a:pt x="2130125" y="185703"/>
                </a:lnTo>
                <a:lnTo>
                  <a:pt x="2128722" y="185738"/>
                </a:lnTo>
                <a:lnTo>
                  <a:pt x="0" y="185738"/>
                </a:lnTo>
                <a:lnTo>
                  <a:pt x="0" y="0"/>
                </a:lnTo>
              </a:path>
            </a:pathLst>
          </a:custGeom>
          <a:solidFill>
            <a:srgbClr val="141413"/>
          </a:solidFill>
          <a:ln/>
        </p:spPr>
      </p:sp>
      <p:sp>
        <p:nvSpPr>
          <p:cNvPr id="43" name="Text 40"/>
          <p:cNvSpPr/>
          <p:nvPr/>
        </p:nvSpPr>
        <p:spPr>
          <a:xfrm>
            <a:off x="8192657" y="1648353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62岁</a:t>
            </a:r>
            <a:endParaRPr lang="en-US" sz="788" dirty="0"/>
          </a:p>
        </p:txBody>
      </p:sp>
      <p:sp>
        <p:nvSpPr>
          <p:cNvPr id="44" name="Text 41"/>
          <p:cNvSpPr/>
          <p:nvPr/>
        </p:nvSpPr>
        <p:spPr>
          <a:xfrm>
            <a:off x="8236627" y="2219853"/>
            <a:ext cx="1082993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63.29岁</a:t>
            </a:r>
            <a:endParaRPr lang="en-US" sz="788" dirty="0"/>
          </a:p>
        </p:txBody>
      </p:sp>
      <p:sp>
        <p:nvSpPr>
          <p:cNvPr id="45" name="Shape 42"/>
          <p:cNvSpPr/>
          <p:nvPr/>
        </p:nvSpPr>
        <p:spPr>
          <a:xfrm>
            <a:off x="3128963" y="3042568"/>
            <a:ext cx="5800725" cy="1042988"/>
          </a:xfrm>
          <a:prstGeom prst="roundRect">
            <a:avLst>
              <a:gd name="adj" fmla="val 9608"/>
            </a:avLst>
          </a:prstGeom>
          <a:solidFill>
            <a:srgbClr val="FAF9F5"/>
          </a:solidFill>
          <a:ln w="6191">
            <a:solidFill>
              <a:srgbClr val="F0EEE6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3248620" y="3335462"/>
            <a:ext cx="1328738" cy="657225"/>
          </a:xfrm>
          <a:prstGeom prst="roundRect">
            <a:avLst>
              <a:gd name="adj" fmla="val 3025"/>
            </a:avLst>
          </a:prstGeom>
          <a:solidFill>
            <a:srgbClr val="F5F4ED"/>
          </a:solidFill>
          <a:ln/>
        </p:spPr>
      </p:sp>
      <p:pic>
        <p:nvPicPr>
          <p:cNvPr id="4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48620" y="3335462"/>
            <a:ext cx="1328738" cy="657225"/>
          </a:xfrm>
          <a:prstGeom prst="rect">
            <a:avLst/>
          </a:prstGeom>
        </p:spPr>
      </p:pic>
      <p:sp>
        <p:nvSpPr>
          <p:cNvPr id="48" name="Shape 44"/>
          <p:cNvSpPr/>
          <p:nvPr/>
        </p:nvSpPr>
        <p:spPr>
          <a:xfrm>
            <a:off x="4659511" y="3335462"/>
            <a:ext cx="1328738" cy="657225"/>
          </a:xfrm>
          <a:prstGeom prst="roundRect">
            <a:avLst>
              <a:gd name="adj" fmla="val 3025"/>
            </a:avLst>
          </a:prstGeom>
          <a:solidFill>
            <a:srgbClr val="F5F4ED"/>
          </a:solidFill>
          <a:ln/>
        </p:spPr>
      </p:sp>
      <p:pic>
        <p:nvPicPr>
          <p:cNvPr id="4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59511" y="3335462"/>
            <a:ext cx="1328738" cy="657225"/>
          </a:xfrm>
          <a:prstGeom prst="rect">
            <a:avLst/>
          </a:prstGeom>
        </p:spPr>
      </p:pic>
      <p:sp>
        <p:nvSpPr>
          <p:cNvPr id="50" name="Shape 45"/>
          <p:cNvSpPr/>
          <p:nvPr/>
        </p:nvSpPr>
        <p:spPr>
          <a:xfrm>
            <a:off x="6070402" y="3335462"/>
            <a:ext cx="1328738" cy="657225"/>
          </a:xfrm>
          <a:prstGeom prst="roundRect">
            <a:avLst>
              <a:gd name="adj" fmla="val 3025"/>
            </a:avLst>
          </a:prstGeom>
          <a:solidFill>
            <a:srgbClr val="F5F4ED"/>
          </a:solidFill>
          <a:ln/>
        </p:spPr>
      </p:sp>
      <p:pic>
        <p:nvPicPr>
          <p:cNvPr id="5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70402" y="3335462"/>
            <a:ext cx="1328738" cy="657225"/>
          </a:xfrm>
          <a:prstGeom prst="rect">
            <a:avLst/>
          </a:prstGeom>
        </p:spPr>
      </p:pic>
      <p:sp>
        <p:nvSpPr>
          <p:cNvPr id="52" name="Shape 46"/>
          <p:cNvSpPr/>
          <p:nvPr/>
        </p:nvSpPr>
        <p:spPr>
          <a:xfrm>
            <a:off x="7481292" y="3335462"/>
            <a:ext cx="1328738" cy="657225"/>
          </a:xfrm>
          <a:prstGeom prst="roundRect">
            <a:avLst>
              <a:gd name="adj" fmla="val 3025"/>
            </a:avLst>
          </a:prstGeom>
          <a:solidFill>
            <a:srgbClr val="F5F4ED"/>
          </a:solidFill>
          <a:ln/>
        </p:spPr>
      </p:sp>
      <p:pic>
        <p:nvPicPr>
          <p:cNvPr id="53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81292" y="3335462"/>
            <a:ext cx="1328738" cy="657225"/>
          </a:xfrm>
          <a:prstGeom prst="rect">
            <a:avLst/>
          </a:prstGeom>
        </p:spPr>
      </p:pic>
      <p:sp>
        <p:nvSpPr>
          <p:cNvPr id="54" name="Shape 47"/>
          <p:cNvSpPr/>
          <p:nvPr/>
        </p:nvSpPr>
        <p:spPr>
          <a:xfrm>
            <a:off x="3128963" y="4186238"/>
            <a:ext cx="5800725" cy="421481"/>
          </a:xfrm>
          <a:prstGeom prst="roundRect">
            <a:avLst>
              <a:gd name="adj" fmla="val 11031"/>
            </a:avLst>
          </a:prstGeom>
          <a:solidFill>
            <a:srgbClr val="30302E"/>
          </a:solidFill>
          <a:ln/>
        </p:spPr>
      </p:sp>
      <p:sp>
        <p:nvSpPr>
          <p:cNvPr id="55" name="Text 48"/>
          <p:cNvSpPr/>
          <p:nvPr/>
        </p:nvSpPr>
        <p:spPr>
          <a:xfrm>
            <a:off x="214313" y="383977"/>
            <a:ext cx="8715375" cy="27860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技艺濒危：12位师傅平均62岁，传承窗口收窄</a:t>
            </a:r>
            <a:endParaRPr lang="en-US" sz="1900" dirty="0"/>
          </a:p>
        </p:txBody>
      </p:sp>
      <p:sp>
        <p:nvSpPr>
          <p:cNvPr id="56" name="Text 49"/>
          <p:cNvSpPr/>
          <p:nvPr/>
        </p:nvSpPr>
        <p:spPr>
          <a:xfrm>
            <a:off x="364331" y="981540"/>
            <a:ext cx="2414588" cy="16430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六代传承 · 逾150年</a:t>
            </a:r>
            <a:endParaRPr lang="en-US" sz="1000" dirty="0"/>
          </a:p>
        </p:txBody>
      </p:sp>
      <p:sp>
        <p:nvSpPr>
          <p:cNvPr id="57" name="Text 50"/>
          <p:cNvSpPr/>
          <p:nvPr/>
        </p:nvSpPr>
        <p:spPr>
          <a:xfrm>
            <a:off x="364331" y="1187983"/>
            <a:ext cx="2414588" cy="27860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纵向时间轴按等距示意刻度排布：逾150年÷6代≈每代约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25年（测算，非史实年表）</a:t>
            </a:r>
            <a:endParaRPr lang="en-US" sz="700" dirty="0"/>
          </a:p>
        </p:txBody>
      </p:sp>
      <p:sp>
        <p:nvSpPr>
          <p:cNvPr id="58" name="Text 51"/>
          <p:cNvSpPr/>
          <p:nvPr/>
        </p:nvSpPr>
        <p:spPr>
          <a:xfrm>
            <a:off x="521494" y="1565709"/>
            <a:ext cx="2257425" cy="135731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第一代</a:t>
            </a:r>
            <a:endParaRPr lang="en-US" sz="800" dirty="0"/>
          </a:p>
        </p:txBody>
      </p:sp>
      <p:sp>
        <p:nvSpPr>
          <p:cNvPr id="59" name="Text 52"/>
          <p:cNvSpPr/>
          <p:nvPr/>
        </p:nvSpPr>
        <p:spPr>
          <a:xfrm>
            <a:off x="521494" y="1716230"/>
            <a:ext cx="2257425" cy="121444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距今约150年前（等距示意）</a:t>
            </a:r>
            <a:endParaRPr lang="en-US" sz="700" dirty="0"/>
          </a:p>
        </p:txBody>
      </p:sp>
      <p:sp>
        <p:nvSpPr>
          <p:cNvPr id="60" name="Text 53"/>
          <p:cNvSpPr/>
          <p:nvPr/>
        </p:nvSpPr>
        <p:spPr>
          <a:xfrm>
            <a:off x="521494" y="1950132"/>
            <a:ext cx="2257425" cy="135731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第二代</a:t>
            </a:r>
            <a:endParaRPr lang="en-US" sz="800" dirty="0"/>
          </a:p>
        </p:txBody>
      </p:sp>
      <p:sp>
        <p:nvSpPr>
          <p:cNvPr id="61" name="Text 54"/>
          <p:cNvSpPr/>
          <p:nvPr/>
        </p:nvSpPr>
        <p:spPr>
          <a:xfrm>
            <a:off x="521494" y="2100653"/>
            <a:ext cx="2257425" cy="121444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距今约125年前（等距示意）</a:t>
            </a:r>
            <a:endParaRPr lang="en-US" sz="700" dirty="0"/>
          </a:p>
        </p:txBody>
      </p:sp>
      <p:sp>
        <p:nvSpPr>
          <p:cNvPr id="62" name="Text 55"/>
          <p:cNvSpPr/>
          <p:nvPr/>
        </p:nvSpPr>
        <p:spPr>
          <a:xfrm>
            <a:off x="521494" y="2334555"/>
            <a:ext cx="2257425" cy="135731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第三代</a:t>
            </a:r>
            <a:endParaRPr lang="en-US" sz="800" dirty="0"/>
          </a:p>
        </p:txBody>
      </p:sp>
      <p:sp>
        <p:nvSpPr>
          <p:cNvPr id="63" name="Text 56"/>
          <p:cNvSpPr/>
          <p:nvPr/>
        </p:nvSpPr>
        <p:spPr>
          <a:xfrm>
            <a:off x="521494" y="2485076"/>
            <a:ext cx="2257425" cy="121444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距今约100年前（等距示意）</a:t>
            </a:r>
            <a:endParaRPr lang="en-US" sz="700" dirty="0"/>
          </a:p>
        </p:txBody>
      </p:sp>
      <p:sp>
        <p:nvSpPr>
          <p:cNvPr id="64" name="Text 57"/>
          <p:cNvSpPr/>
          <p:nvPr/>
        </p:nvSpPr>
        <p:spPr>
          <a:xfrm>
            <a:off x="521494" y="2718978"/>
            <a:ext cx="2257425" cy="135731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第四代</a:t>
            </a:r>
            <a:endParaRPr lang="en-US" sz="800" dirty="0"/>
          </a:p>
        </p:txBody>
      </p:sp>
      <p:sp>
        <p:nvSpPr>
          <p:cNvPr id="65" name="Text 58"/>
          <p:cNvSpPr/>
          <p:nvPr/>
        </p:nvSpPr>
        <p:spPr>
          <a:xfrm>
            <a:off x="521494" y="2869499"/>
            <a:ext cx="2257425" cy="121444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距今约75年前（等距示意）</a:t>
            </a:r>
            <a:endParaRPr lang="en-US" sz="700" dirty="0"/>
          </a:p>
        </p:txBody>
      </p:sp>
      <p:sp>
        <p:nvSpPr>
          <p:cNvPr id="66" name="Text 59"/>
          <p:cNvSpPr/>
          <p:nvPr/>
        </p:nvSpPr>
        <p:spPr>
          <a:xfrm>
            <a:off x="521494" y="3103401"/>
            <a:ext cx="2257425" cy="135731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第五代</a:t>
            </a:r>
            <a:endParaRPr lang="en-US" sz="800" dirty="0"/>
          </a:p>
        </p:txBody>
      </p:sp>
      <p:sp>
        <p:nvSpPr>
          <p:cNvPr id="67" name="Text 60"/>
          <p:cNvSpPr/>
          <p:nvPr/>
        </p:nvSpPr>
        <p:spPr>
          <a:xfrm>
            <a:off x="521494" y="3253922"/>
            <a:ext cx="2257425" cy="121444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距今约50年前（等距示意）</a:t>
            </a:r>
            <a:endParaRPr lang="en-US" sz="700" dirty="0"/>
          </a:p>
        </p:txBody>
      </p:sp>
      <p:sp>
        <p:nvSpPr>
          <p:cNvPr id="68" name="Text 61"/>
          <p:cNvSpPr/>
          <p:nvPr/>
        </p:nvSpPr>
        <p:spPr>
          <a:xfrm>
            <a:off x="521494" y="3487824"/>
            <a:ext cx="2257425" cy="135731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第六代 · 当代（现存）</a:t>
            </a:r>
            <a:endParaRPr lang="en-US" sz="800" dirty="0"/>
          </a:p>
        </p:txBody>
      </p:sp>
      <p:sp>
        <p:nvSpPr>
          <p:cNvPr id="69" name="Text 62"/>
          <p:cNvSpPr/>
          <p:nvPr/>
        </p:nvSpPr>
        <p:spPr>
          <a:xfrm>
            <a:off x="521494" y="3642308"/>
            <a:ext cx="2257425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现存师傅12位、平均年龄62岁（给定口径）</a:t>
            </a:r>
            <a:endParaRPr lang="en-US" sz="700" dirty="0"/>
          </a:p>
        </p:txBody>
      </p:sp>
      <p:sp>
        <p:nvSpPr>
          <p:cNvPr id="70" name="Text 63"/>
          <p:cNvSpPr/>
          <p:nvPr/>
        </p:nvSpPr>
        <p:spPr>
          <a:xfrm>
            <a:off x="521494" y="3799080"/>
            <a:ext cx="2257425" cy="121444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后继乏人，队伍冗余度接近于零</a:t>
            </a:r>
            <a:endParaRPr lang="en-US" sz="700" dirty="0"/>
          </a:p>
        </p:txBody>
      </p:sp>
      <p:sp>
        <p:nvSpPr>
          <p:cNvPr id="71" name="Text 64"/>
          <p:cNvSpPr/>
          <p:nvPr/>
        </p:nvSpPr>
        <p:spPr>
          <a:xfrm>
            <a:off x="364331" y="4007644"/>
            <a:ext cx="2414588" cy="464344"/>
          </a:xfrm>
          <a:prstGeom prst="rect">
            <a:avLst/>
          </a:prstGeom>
          <a:ln/>
        </p:spPr>
        <p:txBody>
          <a:bodyPr wrap="none" lIns="0" tIns="60722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代际节点的姓名与年份以申报材料为准，缺失留空、不编造；一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旦断代，工序失传、产品品质不可复制，省级非遗项目面临存续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风险。</a:t>
            </a:r>
            <a:endParaRPr lang="en-US" sz="700" dirty="0"/>
          </a:p>
        </p:txBody>
      </p:sp>
      <p:sp>
        <p:nvSpPr>
          <p:cNvPr id="72" name="Text 65"/>
          <p:cNvSpPr/>
          <p:nvPr/>
        </p:nvSpPr>
        <p:spPr>
          <a:xfrm>
            <a:off x="3279037" y="952965"/>
            <a:ext cx="3257550" cy="16430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师傅队伍现状：规模极小，平均年龄处于传艺窗口后段</a:t>
            </a:r>
            <a:endParaRPr lang="en-US" sz="1000" dirty="0"/>
          </a:p>
        </p:txBody>
      </p:sp>
      <p:sp>
        <p:nvSpPr>
          <p:cNvPr id="73" name="Text 66"/>
          <p:cNvSpPr/>
          <p:nvPr/>
        </p:nvSpPr>
        <p:spPr>
          <a:xfrm>
            <a:off x="7322288" y="995828"/>
            <a:ext cx="1457325" cy="121444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仅两条可比口径，不绘制年龄分布明细</a:t>
            </a:r>
            <a:endParaRPr lang="en-US" sz="700" dirty="0"/>
          </a:p>
        </p:txBody>
      </p:sp>
      <p:sp>
        <p:nvSpPr>
          <p:cNvPr id="74" name="Text 67"/>
          <p:cNvSpPr/>
          <p:nvPr/>
        </p:nvSpPr>
        <p:spPr>
          <a:xfrm>
            <a:off x="3386138" y="1272592"/>
            <a:ext cx="1471612" cy="200025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6代 · 逾150年</a:t>
            </a:r>
            <a:endParaRPr lang="en-US" sz="1300" dirty="0"/>
          </a:p>
        </p:txBody>
      </p:sp>
      <p:sp>
        <p:nvSpPr>
          <p:cNvPr id="75" name="Text 68"/>
          <p:cNvSpPr/>
          <p:nvPr/>
        </p:nvSpPr>
        <p:spPr>
          <a:xfrm>
            <a:off x="3386138" y="1491872"/>
            <a:ext cx="1471612" cy="121444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传承代数与年限（给定口径）</a:t>
            </a:r>
            <a:endParaRPr lang="en-US" sz="700" dirty="0"/>
          </a:p>
        </p:txBody>
      </p:sp>
      <p:sp>
        <p:nvSpPr>
          <p:cNvPr id="76" name="Text 69"/>
          <p:cNvSpPr/>
          <p:nvPr/>
        </p:nvSpPr>
        <p:spPr>
          <a:xfrm>
            <a:off x="3386138" y="1840520"/>
            <a:ext cx="1471612" cy="200025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12位</a:t>
            </a:r>
            <a:endParaRPr lang="en-US" sz="1300" dirty="0"/>
          </a:p>
        </p:txBody>
      </p:sp>
      <p:sp>
        <p:nvSpPr>
          <p:cNvPr id="77" name="Text 70"/>
          <p:cNvSpPr/>
          <p:nvPr/>
        </p:nvSpPr>
        <p:spPr>
          <a:xfrm>
            <a:off x="3386138" y="2059800"/>
            <a:ext cx="1471612" cy="121444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现存师傅人数（给定口径）</a:t>
            </a:r>
            <a:endParaRPr lang="en-US" sz="700" dirty="0"/>
          </a:p>
        </p:txBody>
      </p:sp>
      <p:sp>
        <p:nvSpPr>
          <p:cNvPr id="78" name="Text 71"/>
          <p:cNvSpPr/>
          <p:nvPr/>
        </p:nvSpPr>
        <p:spPr>
          <a:xfrm>
            <a:off x="3386138" y="2408448"/>
            <a:ext cx="1471612" cy="200025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62岁</a:t>
            </a:r>
            <a:endParaRPr lang="en-US" sz="1300" dirty="0"/>
          </a:p>
        </p:txBody>
      </p:sp>
      <p:sp>
        <p:nvSpPr>
          <p:cNvPr id="79" name="Text 72"/>
          <p:cNvSpPr/>
          <p:nvPr/>
        </p:nvSpPr>
        <p:spPr>
          <a:xfrm>
            <a:off x="3386138" y="2627728"/>
            <a:ext cx="1471612" cy="121444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师傅平均年龄（给定口径）</a:t>
            </a:r>
            <a:endParaRPr lang="en-US" sz="700" dirty="0"/>
          </a:p>
        </p:txBody>
      </p:sp>
      <p:sp>
        <p:nvSpPr>
          <p:cNvPr id="80" name="Text 73"/>
          <p:cNvSpPr/>
          <p:nvPr/>
        </p:nvSpPr>
        <p:spPr>
          <a:xfrm>
            <a:off x="5079206" y="1187425"/>
            <a:ext cx="3700463" cy="135731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师傅平均年龄对比：本项目给定口径 vs 公开参照口径（单位：岁）</a:t>
            </a:r>
            <a:endParaRPr lang="en-US" sz="700" dirty="0"/>
          </a:p>
        </p:txBody>
      </p:sp>
      <p:sp>
        <p:nvSpPr>
          <p:cNvPr id="81" name="Text 74"/>
          <p:cNvSpPr/>
          <p:nvPr/>
        </p:nvSpPr>
        <p:spPr>
          <a:xfrm>
            <a:off x="3250406" y="3134767"/>
            <a:ext cx="5557838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濒危信号：人数、年龄、徒弟三项可核查事实</a:t>
            </a:r>
            <a:endParaRPr lang="en-US" sz="900" dirty="0"/>
          </a:p>
        </p:txBody>
      </p:sp>
      <p:sp>
        <p:nvSpPr>
          <p:cNvPr id="82" name="Text 75"/>
          <p:cNvSpPr/>
          <p:nvPr/>
        </p:nvSpPr>
        <p:spPr>
          <a:xfrm>
            <a:off x="3355777" y="3392612"/>
            <a:ext cx="1135856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人数少</a:t>
            </a:r>
            <a:endParaRPr lang="en-US" sz="700" dirty="0"/>
          </a:p>
        </p:txBody>
      </p:sp>
      <p:sp>
        <p:nvSpPr>
          <p:cNvPr id="83" name="Text 76"/>
          <p:cNvSpPr/>
          <p:nvPr/>
        </p:nvSpPr>
        <p:spPr>
          <a:xfrm>
            <a:off x="3355777" y="3550444"/>
            <a:ext cx="1135856" cy="385763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现存师傅12位，单人退出即造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成局部工序空心化（给定口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径）</a:t>
            </a:r>
            <a:endParaRPr lang="en-US" sz="700" dirty="0"/>
          </a:p>
        </p:txBody>
      </p:sp>
      <p:sp>
        <p:nvSpPr>
          <p:cNvPr id="84" name="Text 77"/>
          <p:cNvSpPr/>
          <p:nvPr/>
        </p:nvSpPr>
        <p:spPr>
          <a:xfrm>
            <a:off x="4766667" y="3392612"/>
            <a:ext cx="1135856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年龄高</a:t>
            </a:r>
            <a:endParaRPr lang="en-US" sz="700" dirty="0"/>
          </a:p>
        </p:txBody>
      </p:sp>
      <p:sp>
        <p:nvSpPr>
          <p:cNvPr id="85" name="Text 78"/>
          <p:cNvSpPr/>
          <p:nvPr/>
        </p:nvSpPr>
        <p:spPr>
          <a:xfrm>
            <a:off x="4766667" y="3550444"/>
            <a:ext cx="1135856" cy="2571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平均62岁，已越过主要劳动年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龄区间上沿（给定口径）</a:t>
            </a:r>
            <a:endParaRPr lang="en-US" sz="700" dirty="0"/>
          </a:p>
        </p:txBody>
      </p:sp>
      <p:sp>
        <p:nvSpPr>
          <p:cNvPr id="86" name="Text 79"/>
          <p:cNvSpPr/>
          <p:nvPr/>
        </p:nvSpPr>
        <p:spPr>
          <a:xfrm>
            <a:off x="6177558" y="3392612"/>
            <a:ext cx="1135856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后继乏人</a:t>
            </a:r>
            <a:endParaRPr lang="en-US" sz="700" dirty="0"/>
          </a:p>
        </p:txBody>
      </p:sp>
      <p:sp>
        <p:nvSpPr>
          <p:cNvPr id="87" name="Text 80"/>
          <p:cNvSpPr/>
          <p:nvPr/>
        </p:nvSpPr>
        <p:spPr>
          <a:xfrm>
            <a:off x="6177558" y="3550444"/>
            <a:ext cx="1135856" cy="385763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全国口径55%传承人无正式徒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弟、40岁以下不足8%（中国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社会科学网，2025，参照）</a:t>
            </a:r>
            <a:endParaRPr lang="en-US" sz="700" dirty="0"/>
          </a:p>
        </p:txBody>
      </p:sp>
      <p:sp>
        <p:nvSpPr>
          <p:cNvPr id="88" name="Text 81"/>
          <p:cNvSpPr/>
          <p:nvPr/>
        </p:nvSpPr>
        <p:spPr>
          <a:xfrm>
            <a:off x="7588448" y="3392612"/>
            <a:ext cx="1135856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青年学艺意愿待提升</a:t>
            </a:r>
            <a:endParaRPr lang="en-US" sz="700" dirty="0"/>
          </a:p>
        </p:txBody>
      </p:sp>
      <p:sp>
        <p:nvSpPr>
          <p:cNvPr id="89" name="Text 82"/>
          <p:cNvSpPr/>
          <p:nvPr/>
        </p:nvSpPr>
        <p:spPr>
          <a:xfrm>
            <a:off x="7588448" y="3550444"/>
            <a:ext cx="1135856" cy="385763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执法检查报告：传承人断代严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重、年轻人学艺积极性不高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（2024，参照）</a:t>
            </a:r>
            <a:endParaRPr lang="en-US" sz="700" dirty="0"/>
          </a:p>
        </p:txBody>
      </p:sp>
      <p:sp>
        <p:nvSpPr>
          <p:cNvPr id="90" name="Text 83"/>
          <p:cNvSpPr/>
          <p:nvPr/>
        </p:nvSpPr>
        <p:spPr>
          <a:xfrm>
            <a:off x="3256936" y="4257675"/>
            <a:ext cx="2643188" cy="27860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FAF9F5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时间窗口：</a:t>
            </a:r>
            <a:pPr algn="l" indent="0" marL="0">
              <a:buNone/>
            </a:pPr>
            <a:r>
              <a:rPr lang="en-US" sz="700" dirty="0">
                <a:solidFill>
                  <a:srgbClr val="B0AEA5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以劳动年龄与退休制度的一般参照衡量，平均62岁已进入传艺窗口后段（定性参照，非本项目数据）。</a:t>
            </a:r>
            <a:endParaRPr lang="en-US" sz="700" dirty="0"/>
          </a:p>
        </p:txBody>
      </p:sp>
      <p:sp>
        <p:nvSpPr>
          <p:cNvPr id="91" name="Text 84"/>
          <p:cNvSpPr/>
          <p:nvPr/>
        </p:nvSpPr>
        <p:spPr>
          <a:xfrm>
            <a:off x="6014424" y="4257675"/>
            <a:ext cx="1885950" cy="27860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FAF9F5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机会成本：</a:t>
            </a:r>
            <a:pPr algn="l" indent="0" marL="0">
              <a:buNone/>
            </a:pPr>
            <a:r>
              <a:rPr lang="en-US" sz="700" dirty="0">
                <a:solidFill>
                  <a:srgbClr val="B0AEA5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自然消亡不可逆，选竹、破篾、编织、定型等隐性经验无法复制。</a:t>
            </a:r>
            <a:endParaRPr lang="en-US" sz="700" dirty="0"/>
          </a:p>
        </p:txBody>
      </p:sp>
      <p:sp>
        <p:nvSpPr>
          <p:cNvPr id="92" name="Text 85"/>
          <p:cNvSpPr/>
          <p:nvPr/>
        </p:nvSpPr>
        <p:spPr>
          <a:xfrm>
            <a:off x="8015288" y="4257675"/>
            <a:ext cx="785813" cy="27860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D97757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这门技艺的分量，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D97757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先看它的认定层级</a:t>
            </a:r>
            <a:endParaRPr lang="en-US" sz="700" dirty="0"/>
          </a:p>
        </p:txBody>
      </p:sp>
      <p:sp>
        <p:nvSpPr>
          <p:cNvPr id="93" name="Text 86"/>
          <p:cNvSpPr/>
          <p:nvPr/>
        </p:nvSpPr>
        <p:spPr>
          <a:xfrm>
            <a:off x="214313" y="4664869"/>
            <a:ext cx="8715375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数据来源：项目申报材料（给定口径：传承6代、逾150年、现存师傅12位、平均年龄62岁）；外部参照口径：中国非遗网（2018）、中国社会科学网（2025），均为参照、非本项目数据。</a:t>
            </a:r>
            <a:endParaRPr lang="en-US" sz="700" dirty="0"/>
          </a:p>
        </p:txBody>
      </p:sp>
      <p:sp>
        <p:nvSpPr>
          <p:cNvPr id="65535" name="wm:hwcld:2026-09-22T19:19:56:64984ecd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214313" y="746522"/>
            <a:ext cx="428625" cy="14288"/>
          </a:xfrm>
          <a:prstGeom prst="rect">
            <a:avLst/>
          </a:prstGeom>
          <a:solidFill>
            <a:srgbClr val="C96442"/>
          </a:solidFill>
          <a:ln/>
        </p:spPr>
      </p:sp>
      <p:sp>
        <p:nvSpPr>
          <p:cNvPr id="4" name="Shape 2"/>
          <p:cNvSpPr/>
          <p:nvPr/>
        </p:nvSpPr>
        <p:spPr>
          <a:xfrm>
            <a:off x="214313" y="1148358"/>
            <a:ext cx="8715375" cy="1421606"/>
          </a:xfrm>
          <a:prstGeom prst="roundRect">
            <a:avLst>
              <a:gd name="adj" fmla="val 3879"/>
            </a:avLst>
          </a:prstGeom>
          <a:solidFill>
            <a:srgbClr val="FAF9F5"/>
          </a:solidFill>
          <a:ln w="6191">
            <a:solidFill>
              <a:srgbClr val="F0EE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8619" y="2391817"/>
            <a:ext cx="4150519" cy="200025"/>
          </a:xfrm>
          <a:prstGeom prst="roundRect">
            <a:avLst>
              <a:gd name="adj" fmla="val 32653"/>
            </a:avLst>
          </a:prstGeom>
          <a:solidFill>
            <a:srgbClr val="FFFFFF"/>
          </a:solidFill>
          <a:ln w="6191">
            <a:solidFill>
              <a:srgbClr val="F0EE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14862" y="2391817"/>
            <a:ext cx="4150519" cy="200025"/>
          </a:xfrm>
          <a:prstGeom prst="roundRect">
            <a:avLst>
              <a:gd name="adj" fmla="val 32653"/>
            </a:avLst>
          </a:prstGeom>
          <a:solidFill>
            <a:srgbClr val="FFFFFF"/>
          </a:solidFill>
          <a:ln w="6191">
            <a:solidFill>
              <a:srgbClr val="F0EE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8619" y="2634704"/>
            <a:ext cx="4150519" cy="200025"/>
          </a:xfrm>
          <a:prstGeom prst="roundRect">
            <a:avLst>
              <a:gd name="adj" fmla="val 32653"/>
            </a:avLst>
          </a:prstGeom>
          <a:solidFill>
            <a:srgbClr val="FFFFFF"/>
          </a:solidFill>
          <a:ln w="6191">
            <a:solidFill>
              <a:srgbClr val="F0EE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14862" y="2634704"/>
            <a:ext cx="4150519" cy="200025"/>
          </a:xfrm>
          <a:prstGeom prst="roundRect">
            <a:avLst>
              <a:gd name="adj" fmla="val 32653"/>
            </a:avLst>
          </a:prstGeom>
          <a:solidFill>
            <a:srgbClr val="FFFFFF"/>
          </a:solidFill>
          <a:ln w="6191">
            <a:solidFill>
              <a:srgbClr val="F0EE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4313" y="2569741"/>
            <a:ext cx="8715375" cy="542925"/>
          </a:xfrm>
          <a:prstGeom prst="roundRect">
            <a:avLst>
              <a:gd name="adj" fmla="val 6648"/>
            </a:avLst>
          </a:prstGeom>
          <a:solidFill>
            <a:srgbClr val="FAF9F5"/>
          </a:solidFill>
          <a:ln w="6191">
            <a:solidFill>
              <a:srgbClr val="F0EE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7670" y="2734326"/>
            <a:ext cx="1921669" cy="414338"/>
          </a:xfrm>
          <a:prstGeom prst="roundRect">
            <a:avLst>
              <a:gd name="adj" fmla="val 7610"/>
            </a:avLst>
          </a:prstGeom>
          <a:solidFill>
            <a:srgbClr val="FFFFFF"/>
          </a:solidFill>
          <a:ln w="6191">
            <a:solidFill>
              <a:srgbClr val="F0EE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33297" y="2734326"/>
            <a:ext cx="1921669" cy="414338"/>
          </a:xfrm>
          <a:prstGeom prst="roundRect">
            <a:avLst>
              <a:gd name="adj" fmla="val 7610"/>
            </a:avLst>
          </a:prstGeom>
          <a:solidFill>
            <a:srgbClr val="FFFFFF"/>
          </a:solidFill>
          <a:ln w="6191">
            <a:solidFill>
              <a:srgbClr val="F0EE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88923" y="2734326"/>
            <a:ext cx="1921669" cy="414338"/>
          </a:xfrm>
          <a:prstGeom prst="roundRect">
            <a:avLst>
              <a:gd name="adj" fmla="val 7610"/>
            </a:avLst>
          </a:prstGeom>
          <a:solidFill>
            <a:srgbClr val="FFFFFF"/>
          </a:solidFill>
          <a:ln w="6191">
            <a:solidFill>
              <a:srgbClr val="F0EE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44550" y="2734326"/>
            <a:ext cx="1921669" cy="414338"/>
          </a:xfrm>
          <a:prstGeom prst="roundRect">
            <a:avLst>
              <a:gd name="adj" fmla="val 7610"/>
            </a:avLst>
          </a:prstGeom>
          <a:solidFill>
            <a:srgbClr val="FFFFFF"/>
          </a:solidFill>
          <a:ln w="6191">
            <a:solidFill>
              <a:srgbClr val="F0EE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4313" y="3226910"/>
            <a:ext cx="8715375" cy="492919"/>
          </a:xfrm>
          <a:prstGeom prst="roundRect">
            <a:avLst>
              <a:gd name="adj" fmla="val 8066"/>
            </a:avLst>
          </a:prstGeom>
          <a:solidFill>
            <a:srgbClr val="FAF9F5"/>
          </a:solidFill>
          <a:ln w="6191">
            <a:solidFill>
              <a:srgbClr val="F0EE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8619" y="3570312"/>
            <a:ext cx="2728913" cy="442912"/>
          </a:xfrm>
          <a:prstGeom prst="roundRect">
            <a:avLst>
              <a:gd name="adj" fmla="val 6660"/>
            </a:avLst>
          </a:prstGeom>
          <a:solidFill>
            <a:srgbClr val="FFFFFF"/>
          </a:solidFill>
          <a:ln w="6191">
            <a:solidFill>
              <a:srgbClr val="F0EE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7544" y="3570312"/>
            <a:ext cx="2728913" cy="442912"/>
          </a:xfrm>
          <a:prstGeom prst="roundRect">
            <a:avLst>
              <a:gd name="adj" fmla="val 6660"/>
            </a:avLst>
          </a:prstGeom>
          <a:solidFill>
            <a:srgbClr val="FFFFFF"/>
          </a:solidFill>
          <a:ln w="6191">
            <a:solidFill>
              <a:srgbClr val="F0EE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6469" y="3570312"/>
            <a:ext cx="2728913" cy="442912"/>
          </a:xfrm>
          <a:prstGeom prst="roundRect">
            <a:avLst>
              <a:gd name="adj" fmla="val 6660"/>
            </a:avLst>
          </a:prstGeom>
          <a:solidFill>
            <a:srgbClr val="FFFFFF"/>
          </a:solidFill>
          <a:ln w="6191">
            <a:solidFill>
              <a:srgbClr val="F0EE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14313" y="3834408"/>
            <a:ext cx="8715375" cy="321469"/>
          </a:xfrm>
          <a:prstGeom prst="roundRect">
            <a:avLst>
              <a:gd name="adj" fmla="val 12642"/>
            </a:avLst>
          </a:prstGeom>
          <a:solidFill>
            <a:srgbClr val="FAF9F5"/>
          </a:solidFill>
          <a:ln w="6191">
            <a:solidFill>
              <a:srgbClr val="F0EE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5756" y="3920133"/>
            <a:ext cx="21431" cy="150019"/>
          </a:xfrm>
          <a:prstGeom prst="roundRect">
            <a:avLst>
              <a:gd name="adj" fmla="val 533340"/>
            </a:avLst>
          </a:prstGeom>
          <a:solidFill>
            <a:srgbClr val="C96442"/>
          </a:solidFill>
          <a:ln/>
        </p:spPr>
      </p:sp>
      <p:sp>
        <p:nvSpPr>
          <p:cNvPr id="20" name="Text 18"/>
          <p:cNvSpPr/>
          <p:nvPr/>
        </p:nvSpPr>
        <p:spPr>
          <a:xfrm>
            <a:off x="214313" y="383977"/>
            <a:ext cx="8715375" cy="27860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非遗分量：2018年获批省级，三重价值可核查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378675" y="1283364"/>
            <a:ext cx="2307431" cy="16430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认定层级：国家—省—市—县四级名录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072549" y="1319808"/>
            <a:ext cx="692944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本项目处于第二级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2643188" y="1519833"/>
            <a:ext cx="3857625" cy="271463"/>
          </a:xfrm>
          <a:prstGeom prst="roundRect">
            <a:avLst>
              <a:gd name="adj" fmla="val 17728"/>
            </a:avLst>
          </a:prstGeom>
          <a:solidFill>
            <a:srgbClr val="141413"/>
          </a:solidFill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AF9F5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国家级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78619" y="1849841"/>
            <a:ext cx="8386763" cy="121444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国务院文化主管部门评审、国务院公布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378619" y="1972456"/>
            <a:ext cx="8386763" cy="1143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1557项、3610个子项，五批次（背景参照）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1889466" y="2143683"/>
            <a:ext cx="5364956" cy="271463"/>
          </a:xfrm>
          <a:prstGeom prst="roundRect">
            <a:avLst>
              <a:gd name="adj" fmla="val 17728"/>
            </a:avLst>
          </a:prstGeom>
          <a:solidFill>
            <a:srgbClr val="C96442"/>
          </a:solidFill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AF9F5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省级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78619" y="2473691"/>
            <a:ext cx="8386763" cy="121444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2018年获批省级代表性项目（本项目）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378619" y="2596307"/>
            <a:ext cx="8386763" cy="1143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省级文旅主管部门评审、省级人民政府公布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378619" y="2710160"/>
            <a:ext cx="8386763" cy="1143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原则上从市级名录中遴选产生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1132229" y="2881387"/>
            <a:ext cx="6879431" cy="271463"/>
          </a:xfrm>
          <a:prstGeom prst="roundRect">
            <a:avLst>
              <a:gd name="adj" fmla="val 17728"/>
            </a:avLst>
          </a:prstGeom>
          <a:solidFill>
            <a:srgbClr val="B0AEA5"/>
          </a:solidFill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市级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78619" y="3211395"/>
            <a:ext cx="8386763" cy="121444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市级文化主管部门评审、市级人民政府公布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378619" y="3334010"/>
            <a:ext cx="8386763" cy="1143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一般从县级名录中遴选产生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378619" y="3505237"/>
            <a:ext cx="8386763" cy="271463"/>
          </a:xfrm>
          <a:prstGeom prst="roundRect">
            <a:avLst>
              <a:gd name="adj" fmla="val 17728"/>
            </a:avLst>
          </a:prstGeom>
          <a:solidFill>
            <a:srgbClr val="E8E6DC"/>
          </a:solidFill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县级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78619" y="3835245"/>
            <a:ext cx="8386763" cy="121444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县级文化主管部门评审、县级人民政府公布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378619" y="3957861"/>
            <a:ext cx="8386763" cy="1143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本级直接申报受理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378619" y="2228236"/>
            <a:ext cx="8386763" cy="121444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省级认定程序：四环节闭环，文件与公示记录可核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471934" y="2427536"/>
            <a:ext cx="85725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01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615311" y="2427536"/>
            <a:ext cx="771525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材料审核与实地复核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4707954" y="2427536"/>
            <a:ext cx="92869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02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4858252" y="2427536"/>
            <a:ext cx="942975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专家评审（初评＋审议）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471599" y="2670423"/>
            <a:ext cx="92869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03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621785" y="2670423"/>
            <a:ext cx="342900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社会公示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4707675" y="2670423"/>
            <a:ext cx="92869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04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4857694" y="2670423"/>
            <a:ext cx="857250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省级人民政府批准公布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378675" y="2704970"/>
            <a:ext cx="1628775" cy="16430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技艺体系：四阶段工序链条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727919" y="2741414"/>
            <a:ext cx="1035844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工序名称取公开可核查口径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456251" y="2800796"/>
            <a:ext cx="1764506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选竹伐竹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456251" y="2960024"/>
            <a:ext cx="1764506" cy="121444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选竹、锯竹、砍伐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2369883" y="2870002"/>
            <a:ext cx="92869" cy="142875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→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2611878" y="2800796"/>
            <a:ext cx="1764506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刮青分篾分层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2611878" y="2960024"/>
            <a:ext cx="1764506" cy="121444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刮青、分层、破篾、分篾、拉丝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4525510" y="2870002"/>
            <a:ext cx="92869" cy="142875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→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4767504" y="2800796"/>
            <a:ext cx="1764506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编织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4767504" y="2960024"/>
            <a:ext cx="1764506" cy="121444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编织、竹丝篾片成形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6681136" y="2870002"/>
            <a:ext cx="92869" cy="142875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→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6923131" y="2800796"/>
            <a:ext cx="1764506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收口定型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6923131" y="2960024"/>
            <a:ext cx="1764506" cy="121444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收边、收口、打磨、烘干定型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378619" y="2998366"/>
            <a:ext cx="8386763" cy="1143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公开口径为四川文旅厅8道、文旅中国7道工序；本项目实际工序名称与数量以申报材料为准，不虚构本地独有工序。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378675" y="3347461"/>
            <a:ext cx="1764506" cy="16430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三重价值：逐条对应政策接口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7035143" y="3383905"/>
            <a:ext cx="1728787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省级身份可直接进入县域文旅与工坊申报叙事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471488" y="3648894"/>
            <a:ext cx="2543175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文化认同价值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471488" y="3806726"/>
            <a:ext cx="2543175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六代传承的集体记忆与乡土认同，对应真实性、整体性、传承性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3300413" y="3648894"/>
            <a:ext cx="2543175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地方名片价值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3300413" y="3806726"/>
            <a:ext cx="2543175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可纳入县域文旅叙事，参与非遗购物节、展示展销与电商平台推广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6129338" y="3648894"/>
            <a:ext cx="2543175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产业转化价值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6129338" y="3806726"/>
            <a:ext cx="2543175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满足非遗工坊依托代表性项目的硬条件，提供品牌与品质背书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443805" y="3923705"/>
            <a:ext cx="185738" cy="142875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结论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716161" y="3920133"/>
            <a:ext cx="7100888" cy="150019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省级认定为项目合规性与扶持必要性提供制度依据，对应非遗工坊遴选认定与县级乡村振兴项目库入库要求；认定层级说明它值得保，机制说明它如何带动农户。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214313" y="4514850"/>
            <a:ext cx="8715375" cy="30003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来源：《中华人民共和国非物质文化遗产法》、中国非物质文化遗产网／中国非物质文化遗产数字博物馆、湖北省与安徽省文化和旅游厅通知、广东省非遗申报指南、文旅部非遗工坊认定通知、四川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文旅厅眉山竹编非遗技艺、文旅中国非遗工坊竹编培训；本项目2018年获批省级口径逐字沿用，名录编号、批次文号与代表性传承人姓名以申报材料为准，国家级项目数据仅作背景参照。</a:t>
            </a:r>
            <a:endParaRPr lang="en-US" sz="700" dirty="0"/>
          </a:p>
        </p:txBody>
      </p:sp>
      <p:sp>
        <p:nvSpPr>
          <p:cNvPr id="65535" name="wm:hwcld:2026-09-22T19:19:56:64984ecd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214313" y="746522"/>
            <a:ext cx="428625" cy="14288"/>
          </a:xfrm>
          <a:prstGeom prst="rect">
            <a:avLst/>
          </a:prstGeom>
          <a:solidFill>
            <a:srgbClr val="C96442"/>
          </a:solidFill>
          <a:ln/>
        </p:spPr>
      </p:sp>
      <p:sp>
        <p:nvSpPr>
          <p:cNvPr id="4" name="Shape 2"/>
          <p:cNvSpPr/>
          <p:nvPr/>
        </p:nvSpPr>
        <p:spPr>
          <a:xfrm>
            <a:off x="214313" y="1144786"/>
            <a:ext cx="8715375" cy="1028700"/>
          </a:xfrm>
          <a:prstGeom prst="roundRect">
            <a:avLst>
              <a:gd name="adj" fmla="val 9877"/>
            </a:avLst>
          </a:prstGeom>
          <a:solidFill>
            <a:srgbClr val="FAF9F5"/>
          </a:solidFill>
          <a:ln w="6191">
            <a:solidFill>
              <a:srgbClr val="F0EE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92906" y="1301055"/>
            <a:ext cx="3871913" cy="7144"/>
          </a:xfrm>
          <a:prstGeom prst="rect">
            <a:avLst/>
          </a:prstGeom>
          <a:solidFill>
            <a:srgbClr val="E8E6DC"/>
          </a:solidFill>
          <a:ln/>
        </p:spPr>
      </p:sp>
      <p:sp>
        <p:nvSpPr>
          <p:cNvPr id="6" name="Shape 4"/>
          <p:cNvSpPr/>
          <p:nvPr/>
        </p:nvSpPr>
        <p:spPr>
          <a:xfrm>
            <a:off x="4879293" y="1301055"/>
            <a:ext cx="3871913" cy="7144"/>
          </a:xfrm>
          <a:prstGeom prst="rect">
            <a:avLst/>
          </a:prstGeom>
          <a:solidFill>
            <a:srgbClr val="E8E6DC"/>
          </a:solidFill>
          <a:ln/>
        </p:spPr>
      </p:sp>
      <p:sp>
        <p:nvSpPr>
          <p:cNvPr id="7" name="Shape 5"/>
          <p:cNvSpPr/>
          <p:nvPr/>
        </p:nvSpPr>
        <p:spPr>
          <a:xfrm>
            <a:off x="2951485" y="1457325"/>
            <a:ext cx="5650706" cy="7144"/>
          </a:xfrm>
          <a:prstGeom prst="rect">
            <a:avLst/>
          </a:prstGeom>
          <a:solidFill>
            <a:srgbClr val="D1CFC5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0" y="1433036"/>
            <a:ext cx="57150" cy="55721"/>
          </a:xfrm>
          <a:custGeom>
            <a:avLst/>
            <a:gdLst/>
            <a:ahLst/>
            <a:cxnLst/>
            <a:rect l="l" t="t" r="r" b="b"/>
            <a:pathLst>
              <a:path w="57150" h="55721">
                <a:moveTo>
                  <a:pt x="0" y="0"/>
                </a:moveTo>
                <a:lnTo>
                  <a:pt x="57150" y="27861"/>
                </a:lnTo>
                <a:lnTo>
                  <a:pt x="0" y="55721"/>
                </a:lnTo>
                <a:close/>
              </a:path>
            </a:pathLst>
          </a:custGeom>
          <a:solidFill>
            <a:srgbClr val="C96442"/>
          </a:solidFill>
          <a:ln/>
        </p:spPr>
      </p:sp>
      <p:sp>
        <p:nvSpPr>
          <p:cNvPr id="9" name="Shape 7"/>
          <p:cNvSpPr/>
          <p:nvPr/>
        </p:nvSpPr>
        <p:spPr>
          <a:xfrm>
            <a:off x="394078" y="1550194"/>
            <a:ext cx="2650331" cy="371475"/>
          </a:xfrm>
          <a:prstGeom prst="roundRect">
            <a:avLst>
              <a:gd name="adj" fmla="val 14201"/>
            </a:avLst>
          </a:prstGeom>
          <a:solidFill>
            <a:srgbClr val="FFFFFF"/>
          </a:solidFill>
          <a:ln w="6191">
            <a:solidFill>
              <a:srgbClr val="E8E6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95588" y="1735931"/>
            <a:ext cx="100013" cy="0"/>
          </a:xfrm>
          <a:prstGeom prst="line">
            <a:avLst/>
          </a:prstGeom>
          <a:noFill/>
          <a:ln w="8890">
            <a:solidFill>
              <a:srgbClr val="C9644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65584" y="1711643"/>
            <a:ext cx="31433" cy="48578"/>
          </a:xfrm>
          <a:custGeom>
            <a:avLst/>
            <a:gdLst/>
            <a:ahLst/>
            <a:cxnLst/>
            <a:rect l="l" t="t" r="r" b="b"/>
            <a:pathLst>
              <a:path w="31433" h="48578">
                <a:moveTo>
                  <a:pt x="0" y="24289"/>
                </a:moveTo>
                <a:lnTo>
                  <a:pt x="31433" y="0"/>
                </a:lnTo>
                <a:lnTo>
                  <a:pt x="31433" y="48578"/>
                </a:lnTo>
                <a:close/>
              </a:path>
            </a:pathLst>
          </a:custGeom>
          <a:solidFill>
            <a:srgbClr val="C96442"/>
          </a:solidFill>
          <a:ln/>
        </p:spPr>
      </p:sp>
      <p:sp>
        <p:nvSpPr>
          <p:cNvPr id="12" name="Shape 10"/>
          <p:cNvSpPr/>
          <p:nvPr/>
        </p:nvSpPr>
        <p:spPr>
          <a:xfrm>
            <a:off x="3194172" y="1711643"/>
            <a:ext cx="31432" cy="48578"/>
          </a:xfrm>
          <a:custGeom>
            <a:avLst/>
            <a:gdLst/>
            <a:ahLst/>
            <a:cxnLst/>
            <a:rect l="l" t="t" r="r" b="b"/>
            <a:pathLst>
              <a:path w="31432" h="48578">
                <a:moveTo>
                  <a:pt x="31432" y="24289"/>
                </a:moveTo>
                <a:lnTo>
                  <a:pt x="0" y="0"/>
                </a:lnTo>
                <a:lnTo>
                  <a:pt x="0" y="48578"/>
                </a:lnTo>
                <a:close/>
              </a:path>
            </a:pathLst>
          </a:custGeom>
          <a:solidFill>
            <a:srgbClr val="C96442"/>
          </a:solidFill>
          <a:ln/>
        </p:spPr>
      </p:sp>
      <p:sp>
        <p:nvSpPr>
          <p:cNvPr id="13" name="Shape 11"/>
          <p:cNvSpPr/>
          <p:nvPr/>
        </p:nvSpPr>
        <p:spPr>
          <a:xfrm>
            <a:off x="3246779" y="1550194"/>
            <a:ext cx="2650331" cy="371475"/>
          </a:xfrm>
          <a:prstGeom prst="roundRect">
            <a:avLst>
              <a:gd name="adj" fmla="val 14201"/>
            </a:avLst>
          </a:prstGeom>
          <a:solidFill>
            <a:srgbClr val="FFFFFF"/>
          </a:solidFill>
          <a:ln w="6191">
            <a:solidFill>
              <a:srgbClr val="E8E6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8288" y="1735931"/>
            <a:ext cx="100013" cy="0"/>
          </a:xfrm>
          <a:prstGeom prst="line">
            <a:avLst/>
          </a:prstGeom>
          <a:noFill/>
          <a:ln w="8890">
            <a:solidFill>
              <a:srgbClr val="C9644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18284" y="1711643"/>
            <a:ext cx="31433" cy="48578"/>
          </a:xfrm>
          <a:custGeom>
            <a:avLst/>
            <a:gdLst/>
            <a:ahLst/>
            <a:cxnLst/>
            <a:rect l="l" t="t" r="r" b="b"/>
            <a:pathLst>
              <a:path w="31433" h="48578">
                <a:moveTo>
                  <a:pt x="0" y="24289"/>
                </a:moveTo>
                <a:lnTo>
                  <a:pt x="31433" y="0"/>
                </a:lnTo>
                <a:lnTo>
                  <a:pt x="31433" y="48578"/>
                </a:lnTo>
                <a:close/>
              </a:path>
            </a:pathLst>
          </a:custGeom>
          <a:solidFill>
            <a:srgbClr val="C96442"/>
          </a:solidFill>
          <a:ln/>
        </p:spPr>
      </p:sp>
      <p:sp>
        <p:nvSpPr>
          <p:cNvPr id="16" name="Shape 14"/>
          <p:cNvSpPr/>
          <p:nvPr/>
        </p:nvSpPr>
        <p:spPr>
          <a:xfrm>
            <a:off x="6046872" y="1711643"/>
            <a:ext cx="31432" cy="48578"/>
          </a:xfrm>
          <a:custGeom>
            <a:avLst/>
            <a:gdLst/>
            <a:ahLst/>
            <a:cxnLst/>
            <a:rect l="l" t="t" r="r" b="b"/>
            <a:pathLst>
              <a:path w="31432" h="48578">
                <a:moveTo>
                  <a:pt x="31432" y="24289"/>
                </a:moveTo>
                <a:lnTo>
                  <a:pt x="0" y="0"/>
                </a:lnTo>
                <a:lnTo>
                  <a:pt x="0" y="48578"/>
                </a:lnTo>
                <a:close/>
              </a:path>
            </a:pathLst>
          </a:custGeom>
          <a:solidFill>
            <a:srgbClr val="C96442"/>
          </a:solidFill>
          <a:ln/>
        </p:spPr>
      </p:sp>
      <p:sp>
        <p:nvSpPr>
          <p:cNvPr id="17" name="Shape 15"/>
          <p:cNvSpPr/>
          <p:nvPr/>
        </p:nvSpPr>
        <p:spPr>
          <a:xfrm>
            <a:off x="6099535" y="1550194"/>
            <a:ext cx="2650331" cy="371475"/>
          </a:xfrm>
          <a:prstGeom prst="roundRect">
            <a:avLst>
              <a:gd name="adj" fmla="val 14201"/>
            </a:avLst>
          </a:prstGeom>
          <a:solidFill>
            <a:srgbClr val="FFFFFF"/>
          </a:solidFill>
          <a:ln w="6191">
            <a:solidFill>
              <a:srgbClr val="C9644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00050" y="1983105"/>
            <a:ext cx="57150" cy="55721"/>
          </a:xfrm>
          <a:custGeom>
            <a:avLst/>
            <a:gdLst/>
            <a:ahLst/>
            <a:cxnLst/>
            <a:rect l="l" t="t" r="r" b="b"/>
            <a:pathLst>
              <a:path w="57150" h="55721">
                <a:moveTo>
                  <a:pt x="57150" y="0"/>
                </a:moveTo>
                <a:lnTo>
                  <a:pt x="0" y="27861"/>
                </a:lnTo>
                <a:lnTo>
                  <a:pt x="57150" y="55721"/>
                </a:lnTo>
                <a:close/>
              </a:path>
            </a:pathLst>
          </a:custGeom>
          <a:solidFill>
            <a:srgbClr val="C96442"/>
          </a:solidFill>
          <a:ln/>
        </p:spPr>
      </p:sp>
      <p:sp>
        <p:nvSpPr>
          <p:cNvPr id="19" name="Shape 17"/>
          <p:cNvSpPr/>
          <p:nvPr/>
        </p:nvSpPr>
        <p:spPr>
          <a:xfrm>
            <a:off x="542367" y="2007394"/>
            <a:ext cx="6379369" cy="7144"/>
          </a:xfrm>
          <a:prstGeom prst="rect">
            <a:avLst/>
          </a:prstGeom>
          <a:solidFill>
            <a:srgbClr val="D1CFC5"/>
          </a:solidFill>
          <a:ln/>
        </p:spPr>
      </p:sp>
      <p:sp>
        <p:nvSpPr>
          <p:cNvPr id="20" name="Shape 18"/>
          <p:cNvSpPr/>
          <p:nvPr/>
        </p:nvSpPr>
        <p:spPr>
          <a:xfrm>
            <a:off x="215875" y="2488704"/>
            <a:ext cx="4793456" cy="1157288"/>
          </a:xfrm>
          <a:prstGeom prst="roundRect">
            <a:avLst>
              <a:gd name="adj" fmla="val 5853"/>
            </a:avLst>
          </a:prstGeom>
          <a:solidFill>
            <a:srgbClr val="FFFFFF"/>
          </a:solidFill>
          <a:ln w="6191">
            <a:solidFill>
              <a:srgbClr val="E8E6D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3019" y="2496741"/>
            <a:ext cx="4779169" cy="185738"/>
          </a:xfrm>
          <a:prstGeom prst="rect">
            <a:avLst/>
          </a:prstGeom>
          <a:solidFill>
            <a:srgbClr val="E8E6DC"/>
          </a:solidFill>
          <a:ln/>
        </p:spPr>
      </p:sp>
      <p:sp>
        <p:nvSpPr>
          <p:cNvPr id="22" name="Shape 20"/>
          <p:cNvSpPr/>
          <p:nvPr/>
        </p:nvSpPr>
        <p:spPr>
          <a:xfrm>
            <a:off x="223019" y="2680971"/>
            <a:ext cx="4779169" cy="321469"/>
          </a:xfrm>
          <a:prstGeom prst="rect">
            <a:avLst/>
          </a:prstGeom>
          <a:ln/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3019" y="2680971"/>
            <a:ext cx="4779169" cy="321469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223019" y="2999426"/>
            <a:ext cx="4779169" cy="321469"/>
          </a:xfrm>
          <a:prstGeom prst="rect">
            <a:avLst/>
          </a:prstGeom>
          <a:ln/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3019" y="2999426"/>
            <a:ext cx="4779169" cy="321469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223019" y="3317881"/>
            <a:ext cx="4779169" cy="321469"/>
          </a:xfrm>
          <a:prstGeom prst="rect">
            <a:avLst/>
          </a:prstGeom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3019" y="3317881"/>
            <a:ext cx="4779169" cy="321469"/>
          </a:xfrm>
          <a:prstGeom prst="rect">
            <a:avLst/>
          </a:prstGeom>
        </p:spPr>
      </p:pic>
      <p:sp>
        <p:nvSpPr>
          <p:cNvPr id="28" name="Shape 23"/>
          <p:cNvSpPr/>
          <p:nvPr/>
        </p:nvSpPr>
        <p:spPr>
          <a:xfrm>
            <a:off x="5180781" y="2488704"/>
            <a:ext cx="3750469" cy="1157288"/>
          </a:xfrm>
          <a:prstGeom prst="roundRect">
            <a:avLst>
              <a:gd name="adj" fmla="val 5853"/>
            </a:avLst>
          </a:prstGeom>
          <a:solidFill>
            <a:srgbClr val="FAF9F5"/>
          </a:solidFill>
          <a:ln w="6191">
            <a:solidFill>
              <a:srgbClr val="E8E6DC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5655841" y="2653903"/>
            <a:ext cx="2800350" cy="7144"/>
          </a:xfrm>
          <a:prstGeom prst="rect">
            <a:avLst/>
          </a:prstGeom>
          <a:solidFill>
            <a:srgbClr val="E8E6DC"/>
          </a:solidFill>
          <a:ln/>
        </p:spPr>
      </p:sp>
      <p:sp>
        <p:nvSpPr>
          <p:cNvPr id="30" name="Shape 25"/>
          <p:cNvSpPr/>
          <p:nvPr/>
        </p:nvSpPr>
        <p:spPr>
          <a:xfrm>
            <a:off x="5302225" y="3267149"/>
            <a:ext cx="3507581" cy="285750"/>
          </a:xfrm>
          <a:prstGeom prst="rect">
            <a:avLst/>
          </a:prstGeom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02225" y="3267149"/>
            <a:ext cx="3507581" cy="285750"/>
          </a:xfrm>
          <a:prstGeom prst="rect">
            <a:avLst/>
          </a:prstGeom>
        </p:spPr>
      </p:pic>
      <p:sp>
        <p:nvSpPr>
          <p:cNvPr id="32" name="Shape 26"/>
          <p:cNvSpPr/>
          <p:nvPr/>
        </p:nvSpPr>
        <p:spPr>
          <a:xfrm>
            <a:off x="214313" y="3759398"/>
            <a:ext cx="8715375" cy="400050"/>
          </a:xfrm>
          <a:prstGeom prst="roundRect">
            <a:avLst>
              <a:gd name="adj" fmla="val 12245"/>
            </a:avLst>
          </a:prstGeom>
          <a:solidFill>
            <a:srgbClr val="30302E"/>
          </a:solidFill>
          <a:ln/>
        </p:spPr>
      </p:sp>
      <p:sp>
        <p:nvSpPr>
          <p:cNvPr id="33" name="Shape 27"/>
          <p:cNvSpPr/>
          <p:nvPr/>
        </p:nvSpPr>
        <p:spPr>
          <a:xfrm>
            <a:off x="3232491" y="3834408"/>
            <a:ext cx="2678906" cy="250031"/>
          </a:xfrm>
          <a:prstGeom prst="rect">
            <a:avLst/>
          </a:prstGeom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232491" y="3834408"/>
            <a:ext cx="2678906" cy="250031"/>
          </a:xfrm>
          <a:prstGeom prst="rect">
            <a:avLst/>
          </a:prstGeom>
        </p:spPr>
      </p:pic>
      <p:sp>
        <p:nvSpPr>
          <p:cNvPr id="35" name="Shape 28"/>
          <p:cNvSpPr/>
          <p:nvPr/>
        </p:nvSpPr>
        <p:spPr>
          <a:xfrm>
            <a:off x="6080447" y="3834408"/>
            <a:ext cx="2678906" cy="250031"/>
          </a:xfrm>
          <a:prstGeom prst="rect">
            <a:avLst/>
          </a:prstGeom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080447" y="3834408"/>
            <a:ext cx="2678906" cy="250031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214313" y="383977"/>
            <a:ext cx="8715375" cy="27860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利益联结：三方分工到人，在家编织按件计酬</a:t>
            </a:r>
            <a:endParaRPr lang="en-US" sz="1900" dirty="0"/>
          </a:p>
        </p:txBody>
      </p:sp>
      <p:sp>
        <p:nvSpPr>
          <p:cNvPr id="38" name="Text 30"/>
          <p:cNvSpPr/>
          <p:nvPr/>
        </p:nvSpPr>
        <p:spPr>
          <a:xfrm>
            <a:off x="4350600" y="1236762"/>
            <a:ext cx="442912" cy="135731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利益联结</a:t>
            </a:r>
            <a:endParaRPr lang="en-US" sz="700" dirty="0"/>
          </a:p>
        </p:txBody>
      </p:sp>
      <p:sp>
        <p:nvSpPr>
          <p:cNvPr id="39" name="Text 31"/>
          <p:cNvSpPr/>
          <p:nvPr/>
        </p:nvSpPr>
        <p:spPr>
          <a:xfrm>
            <a:off x="392906" y="1400175"/>
            <a:ext cx="357187" cy="121444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逐级下达</a:t>
            </a:r>
            <a:endParaRPr lang="en-US" sz="700" dirty="0"/>
          </a:p>
        </p:txBody>
      </p:sp>
      <p:sp>
        <p:nvSpPr>
          <p:cNvPr id="40" name="Text 32"/>
          <p:cNvSpPr/>
          <p:nvPr/>
        </p:nvSpPr>
        <p:spPr>
          <a:xfrm>
            <a:off x="836935" y="1389459"/>
            <a:ext cx="2028825" cy="142875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订单 / 设计标准 · 统一原料 · 集中培训 · 技术指导</a:t>
            </a:r>
            <a:endParaRPr lang="en-US" sz="700" dirty="0"/>
          </a:p>
        </p:txBody>
      </p:sp>
      <p:sp>
        <p:nvSpPr>
          <p:cNvPr id="41" name="Text 33"/>
          <p:cNvSpPr/>
          <p:nvPr/>
        </p:nvSpPr>
        <p:spPr>
          <a:xfrm>
            <a:off x="514406" y="1593726"/>
            <a:ext cx="228600" cy="135731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公司</a:t>
            </a:r>
            <a:endParaRPr lang="en-US" sz="900" dirty="0"/>
          </a:p>
        </p:txBody>
      </p:sp>
      <p:sp>
        <p:nvSpPr>
          <p:cNvPr id="42" name="Text 34"/>
          <p:cNvSpPr/>
          <p:nvPr/>
        </p:nvSpPr>
        <p:spPr>
          <a:xfrm>
            <a:off x="800212" y="1612702"/>
            <a:ext cx="257175" cy="121444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市场端</a:t>
            </a:r>
            <a:endParaRPr lang="en-US" sz="700" dirty="0"/>
          </a:p>
        </p:txBody>
      </p:sp>
      <p:sp>
        <p:nvSpPr>
          <p:cNvPr id="43" name="Text 35"/>
          <p:cNvSpPr/>
          <p:nvPr/>
        </p:nvSpPr>
        <p:spPr>
          <a:xfrm>
            <a:off x="515522" y="1752005"/>
            <a:ext cx="2407444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产品设计与市场销售</a:t>
            </a:r>
            <a:endParaRPr lang="en-US" sz="700" dirty="0"/>
          </a:p>
        </p:txBody>
      </p:sp>
      <p:sp>
        <p:nvSpPr>
          <p:cNvPr id="44" name="Text 36"/>
          <p:cNvSpPr/>
          <p:nvPr/>
        </p:nvSpPr>
        <p:spPr>
          <a:xfrm>
            <a:off x="3367106" y="1593726"/>
            <a:ext cx="342900" cy="135731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合作社</a:t>
            </a:r>
            <a:endParaRPr lang="en-US" sz="900" dirty="0"/>
          </a:p>
        </p:txBody>
      </p:sp>
      <p:sp>
        <p:nvSpPr>
          <p:cNvPr id="45" name="Text 37"/>
          <p:cNvSpPr/>
          <p:nvPr/>
        </p:nvSpPr>
        <p:spPr>
          <a:xfrm>
            <a:off x="3767212" y="1612702"/>
            <a:ext cx="257175" cy="121444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组织端</a:t>
            </a:r>
            <a:endParaRPr lang="en-US" sz="700" dirty="0"/>
          </a:p>
        </p:txBody>
      </p:sp>
      <p:sp>
        <p:nvSpPr>
          <p:cNvPr id="46" name="Text 38"/>
          <p:cNvSpPr/>
          <p:nvPr/>
        </p:nvSpPr>
        <p:spPr>
          <a:xfrm>
            <a:off x="3368222" y="1752005"/>
            <a:ext cx="2407444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统一采购原料并组织培训</a:t>
            </a:r>
            <a:endParaRPr lang="en-US" sz="700" dirty="0"/>
          </a:p>
        </p:txBody>
      </p:sp>
      <p:sp>
        <p:nvSpPr>
          <p:cNvPr id="47" name="Text 39"/>
          <p:cNvSpPr/>
          <p:nvPr/>
        </p:nvSpPr>
        <p:spPr>
          <a:xfrm>
            <a:off x="6219806" y="1593726"/>
            <a:ext cx="228600" cy="135731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农户</a:t>
            </a:r>
            <a:endParaRPr lang="en-US" sz="900" dirty="0"/>
          </a:p>
        </p:txBody>
      </p:sp>
      <p:sp>
        <p:nvSpPr>
          <p:cNvPr id="48" name="Text 40"/>
          <p:cNvSpPr/>
          <p:nvPr/>
        </p:nvSpPr>
        <p:spPr>
          <a:xfrm>
            <a:off x="6505612" y="1612702"/>
            <a:ext cx="257175" cy="121444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生产端</a:t>
            </a:r>
            <a:endParaRPr lang="en-US" sz="700" dirty="0"/>
          </a:p>
        </p:txBody>
      </p:sp>
      <p:sp>
        <p:nvSpPr>
          <p:cNvPr id="49" name="Text 41"/>
          <p:cNvSpPr/>
          <p:nvPr/>
        </p:nvSpPr>
        <p:spPr>
          <a:xfrm>
            <a:off x="6220978" y="1752005"/>
            <a:ext cx="2407444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在家编织、按件计酬</a:t>
            </a:r>
            <a:endParaRPr lang="en-US" sz="700" dirty="0"/>
          </a:p>
        </p:txBody>
      </p:sp>
      <p:sp>
        <p:nvSpPr>
          <p:cNvPr id="50" name="Text 42"/>
          <p:cNvSpPr/>
          <p:nvPr/>
        </p:nvSpPr>
        <p:spPr>
          <a:xfrm>
            <a:off x="7007461" y="1939528"/>
            <a:ext cx="1300163" cy="142875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成品交验 · 计件核算 · 按月兑付</a:t>
            </a:r>
            <a:endParaRPr lang="en-US" sz="700" dirty="0"/>
          </a:p>
        </p:txBody>
      </p:sp>
      <p:sp>
        <p:nvSpPr>
          <p:cNvPr id="51" name="Text 43"/>
          <p:cNvSpPr/>
          <p:nvPr/>
        </p:nvSpPr>
        <p:spPr>
          <a:xfrm>
            <a:off x="8393906" y="1950244"/>
            <a:ext cx="357187" cy="121444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逐级归集</a:t>
            </a:r>
            <a:endParaRPr lang="en-US" sz="700" dirty="0"/>
          </a:p>
        </p:txBody>
      </p:sp>
      <p:sp>
        <p:nvSpPr>
          <p:cNvPr id="52" name="Text 44"/>
          <p:cNvSpPr/>
          <p:nvPr/>
        </p:nvSpPr>
        <p:spPr>
          <a:xfrm>
            <a:off x="214368" y="2288456"/>
            <a:ext cx="685800" cy="135731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三方权责对照</a:t>
            </a:r>
            <a:endParaRPr lang="en-US" sz="900" dirty="0"/>
          </a:p>
        </p:txBody>
      </p:sp>
      <p:sp>
        <p:nvSpPr>
          <p:cNvPr id="53" name="Text 45"/>
          <p:cNvSpPr/>
          <p:nvPr/>
        </p:nvSpPr>
        <p:spPr>
          <a:xfrm>
            <a:off x="957876" y="2310110"/>
            <a:ext cx="1807369" cy="121444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承担职能 · 收益方式 · 承担风险（项目申报口径）</a:t>
            </a:r>
            <a:endParaRPr lang="en-US" sz="700" dirty="0"/>
          </a:p>
        </p:txBody>
      </p:sp>
      <p:sp>
        <p:nvSpPr>
          <p:cNvPr id="54" name="Text 46"/>
          <p:cNvSpPr/>
          <p:nvPr/>
        </p:nvSpPr>
        <p:spPr>
          <a:xfrm>
            <a:off x="307181" y="2528888"/>
            <a:ext cx="542925" cy="121444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主体</a:t>
            </a:r>
            <a:endParaRPr lang="en-US" sz="700" dirty="0"/>
          </a:p>
        </p:txBody>
      </p:sp>
      <p:sp>
        <p:nvSpPr>
          <p:cNvPr id="55" name="Text 47"/>
          <p:cNvSpPr/>
          <p:nvPr/>
        </p:nvSpPr>
        <p:spPr>
          <a:xfrm>
            <a:off x="851167" y="2528888"/>
            <a:ext cx="1235869" cy="121444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承担职能</a:t>
            </a:r>
            <a:endParaRPr lang="en-US" sz="700" dirty="0"/>
          </a:p>
        </p:txBody>
      </p:sp>
      <p:sp>
        <p:nvSpPr>
          <p:cNvPr id="56" name="Text 48"/>
          <p:cNvSpPr/>
          <p:nvPr/>
        </p:nvSpPr>
        <p:spPr>
          <a:xfrm>
            <a:off x="2089268" y="2528888"/>
            <a:ext cx="1707356" cy="121444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收益方式</a:t>
            </a:r>
            <a:endParaRPr lang="en-US" sz="700" dirty="0"/>
          </a:p>
        </p:txBody>
      </p:sp>
      <p:sp>
        <p:nvSpPr>
          <p:cNvPr id="57" name="Text 49"/>
          <p:cNvSpPr/>
          <p:nvPr/>
        </p:nvSpPr>
        <p:spPr>
          <a:xfrm>
            <a:off x="3797126" y="2528888"/>
            <a:ext cx="1121569" cy="121444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承担风险</a:t>
            </a:r>
            <a:endParaRPr lang="en-US" sz="700" dirty="0"/>
          </a:p>
        </p:txBody>
      </p:sp>
      <p:sp>
        <p:nvSpPr>
          <p:cNvPr id="58" name="Text 50"/>
          <p:cNvSpPr/>
          <p:nvPr/>
        </p:nvSpPr>
        <p:spPr>
          <a:xfrm>
            <a:off x="307181" y="2773840"/>
            <a:ext cx="542925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公司</a:t>
            </a:r>
            <a:endParaRPr lang="en-US" sz="700" dirty="0"/>
          </a:p>
        </p:txBody>
      </p:sp>
      <p:sp>
        <p:nvSpPr>
          <p:cNvPr id="59" name="Text 51"/>
          <p:cNvSpPr/>
          <p:nvPr/>
        </p:nvSpPr>
        <p:spPr>
          <a:xfrm>
            <a:off x="851167" y="2780928"/>
            <a:ext cx="1235869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产品设计与市场销售</a:t>
            </a:r>
            <a:endParaRPr lang="en-US" sz="700" dirty="0"/>
          </a:p>
        </p:txBody>
      </p:sp>
      <p:sp>
        <p:nvSpPr>
          <p:cNvPr id="60" name="Text 52"/>
          <p:cNvSpPr/>
          <p:nvPr/>
        </p:nvSpPr>
        <p:spPr>
          <a:xfrm>
            <a:off x="2089268" y="2716634"/>
            <a:ext cx="1707356" cy="2571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设计与销售渠道收益（分配比例按公司章程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约定）</a:t>
            </a:r>
            <a:endParaRPr lang="en-US" sz="700" dirty="0"/>
          </a:p>
        </p:txBody>
      </p:sp>
      <p:sp>
        <p:nvSpPr>
          <p:cNvPr id="61" name="Text 53"/>
          <p:cNvSpPr/>
          <p:nvPr/>
        </p:nvSpPr>
        <p:spPr>
          <a:xfrm>
            <a:off x="3797126" y="2780928"/>
            <a:ext cx="1121569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市场与订单波动风险</a:t>
            </a:r>
            <a:endParaRPr lang="en-US" sz="700" dirty="0"/>
          </a:p>
        </p:txBody>
      </p:sp>
      <p:sp>
        <p:nvSpPr>
          <p:cNvPr id="62" name="Text 54"/>
          <p:cNvSpPr/>
          <p:nvPr/>
        </p:nvSpPr>
        <p:spPr>
          <a:xfrm>
            <a:off x="307181" y="3092295"/>
            <a:ext cx="542925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合作社</a:t>
            </a:r>
            <a:endParaRPr lang="en-US" sz="700" dirty="0"/>
          </a:p>
        </p:txBody>
      </p:sp>
      <p:sp>
        <p:nvSpPr>
          <p:cNvPr id="63" name="Text 55"/>
          <p:cNvSpPr/>
          <p:nvPr/>
        </p:nvSpPr>
        <p:spPr>
          <a:xfrm>
            <a:off x="851167" y="3099383"/>
            <a:ext cx="1235869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统一采购原料并组织培训</a:t>
            </a:r>
            <a:endParaRPr lang="en-US" sz="700" dirty="0"/>
          </a:p>
        </p:txBody>
      </p:sp>
      <p:sp>
        <p:nvSpPr>
          <p:cNvPr id="64" name="Text 56"/>
          <p:cNvSpPr/>
          <p:nvPr/>
        </p:nvSpPr>
        <p:spPr>
          <a:xfrm>
            <a:off x="2089268" y="3035089"/>
            <a:ext cx="1707356" cy="2571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组织服务收益（分配比例按合作社章程约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定）</a:t>
            </a:r>
            <a:endParaRPr lang="en-US" sz="700" dirty="0"/>
          </a:p>
        </p:txBody>
      </p:sp>
      <p:sp>
        <p:nvSpPr>
          <p:cNvPr id="65" name="Text 57"/>
          <p:cNvSpPr/>
          <p:nvPr/>
        </p:nvSpPr>
        <p:spPr>
          <a:xfrm>
            <a:off x="3797126" y="3099383"/>
            <a:ext cx="1121569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原料供应与质量、品控风险</a:t>
            </a:r>
            <a:endParaRPr lang="en-US" sz="700" dirty="0"/>
          </a:p>
        </p:txBody>
      </p:sp>
      <p:sp>
        <p:nvSpPr>
          <p:cNvPr id="66" name="Text 58"/>
          <p:cNvSpPr/>
          <p:nvPr/>
        </p:nvSpPr>
        <p:spPr>
          <a:xfrm>
            <a:off x="307181" y="3410750"/>
            <a:ext cx="542925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农户</a:t>
            </a:r>
            <a:endParaRPr lang="en-US" sz="700" dirty="0"/>
          </a:p>
        </p:txBody>
      </p:sp>
      <p:sp>
        <p:nvSpPr>
          <p:cNvPr id="67" name="Text 59"/>
          <p:cNvSpPr/>
          <p:nvPr/>
        </p:nvSpPr>
        <p:spPr>
          <a:xfrm>
            <a:off x="851167" y="3417838"/>
            <a:ext cx="1235869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在家编织</a:t>
            </a:r>
            <a:endParaRPr lang="en-US" sz="700" dirty="0"/>
          </a:p>
        </p:txBody>
      </p:sp>
      <p:sp>
        <p:nvSpPr>
          <p:cNvPr id="68" name="Text 60"/>
          <p:cNvSpPr/>
          <p:nvPr/>
        </p:nvSpPr>
        <p:spPr>
          <a:xfrm>
            <a:off x="2089268" y="3417838"/>
            <a:ext cx="1707356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按件计酬，人均月增收约 1800 元</a:t>
            </a:r>
            <a:endParaRPr lang="en-US" sz="700" dirty="0"/>
          </a:p>
        </p:txBody>
      </p:sp>
      <p:sp>
        <p:nvSpPr>
          <p:cNvPr id="69" name="Text 61"/>
          <p:cNvSpPr/>
          <p:nvPr/>
        </p:nvSpPr>
        <p:spPr>
          <a:xfrm>
            <a:off x="3797126" y="3417838"/>
            <a:ext cx="1121569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不承担销售风险</a:t>
            </a:r>
            <a:endParaRPr lang="en-US" sz="700" dirty="0"/>
          </a:p>
        </p:txBody>
      </p:sp>
      <p:sp>
        <p:nvSpPr>
          <p:cNvPr id="70" name="Text 62"/>
          <p:cNvSpPr/>
          <p:nvPr/>
        </p:nvSpPr>
        <p:spPr>
          <a:xfrm>
            <a:off x="5181786" y="2288456"/>
            <a:ext cx="921544" cy="135731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按件计酬 5 步兑付</a:t>
            </a:r>
            <a:endParaRPr lang="en-US" sz="900" dirty="0"/>
          </a:p>
        </p:txBody>
      </p:sp>
      <p:sp>
        <p:nvSpPr>
          <p:cNvPr id="71" name="Text 63"/>
          <p:cNvSpPr/>
          <p:nvPr/>
        </p:nvSpPr>
        <p:spPr>
          <a:xfrm>
            <a:off x="6158136" y="2310110"/>
            <a:ext cx="1400175" cy="121444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与统一供料、统一质检、统一销售对应</a:t>
            </a:r>
            <a:endParaRPr lang="en-US" sz="700" dirty="0"/>
          </a:p>
        </p:txBody>
      </p:sp>
      <p:sp>
        <p:nvSpPr>
          <p:cNvPr id="72" name="Text 64"/>
          <p:cNvSpPr/>
          <p:nvPr/>
        </p:nvSpPr>
        <p:spPr>
          <a:xfrm>
            <a:off x="5582729" y="2582466"/>
            <a:ext cx="142875" cy="142875"/>
          </a:xfrm>
          <a:prstGeom prst="ellipse">
            <a:avLst/>
          </a:prstGeom>
          <a:solidFill>
            <a:srgbClr val="C96442"/>
          </a:solidFill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FAF9F5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1</a:t>
            </a:r>
            <a:endParaRPr lang="en-US" sz="700" dirty="0"/>
          </a:p>
        </p:txBody>
      </p:sp>
      <p:sp>
        <p:nvSpPr>
          <p:cNvPr id="73" name="Text 65"/>
          <p:cNvSpPr/>
          <p:nvPr/>
        </p:nvSpPr>
        <p:spPr>
          <a:xfrm>
            <a:off x="5468485" y="2753525"/>
            <a:ext cx="371475" cy="121444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领料登记</a:t>
            </a:r>
            <a:endParaRPr lang="en-US" sz="700" dirty="0"/>
          </a:p>
        </p:txBody>
      </p:sp>
      <p:sp>
        <p:nvSpPr>
          <p:cNvPr id="74" name="Text 66"/>
          <p:cNvSpPr/>
          <p:nvPr/>
        </p:nvSpPr>
        <p:spPr>
          <a:xfrm>
            <a:off x="6283598" y="2582466"/>
            <a:ext cx="142875" cy="142875"/>
          </a:xfrm>
          <a:prstGeom prst="ellipse">
            <a:avLst/>
          </a:prstGeom>
          <a:solidFill>
            <a:srgbClr val="C96442"/>
          </a:solidFill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FAF9F5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2</a:t>
            </a:r>
            <a:endParaRPr lang="en-US" sz="700" dirty="0"/>
          </a:p>
        </p:txBody>
      </p:sp>
      <p:sp>
        <p:nvSpPr>
          <p:cNvPr id="75" name="Text 67"/>
          <p:cNvSpPr/>
          <p:nvPr/>
        </p:nvSpPr>
        <p:spPr>
          <a:xfrm>
            <a:off x="6169354" y="2753525"/>
            <a:ext cx="371475" cy="121444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在家编织</a:t>
            </a:r>
            <a:endParaRPr lang="en-US" sz="700" dirty="0"/>
          </a:p>
        </p:txBody>
      </p:sp>
      <p:sp>
        <p:nvSpPr>
          <p:cNvPr id="76" name="Text 68"/>
          <p:cNvSpPr/>
          <p:nvPr/>
        </p:nvSpPr>
        <p:spPr>
          <a:xfrm>
            <a:off x="6984467" y="2582466"/>
            <a:ext cx="142875" cy="142875"/>
          </a:xfrm>
          <a:prstGeom prst="ellipse">
            <a:avLst/>
          </a:prstGeom>
          <a:solidFill>
            <a:srgbClr val="C96442"/>
          </a:solidFill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FAF9F5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3</a:t>
            </a:r>
            <a:endParaRPr lang="en-US" sz="700" dirty="0"/>
          </a:p>
        </p:txBody>
      </p:sp>
      <p:sp>
        <p:nvSpPr>
          <p:cNvPr id="77" name="Text 69"/>
          <p:cNvSpPr/>
          <p:nvPr/>
        </p:nvSpPr>
        <p:spPr>
          <a:xfrm>
            <a:off x="6870223" y="2753525"/>
            <a:ext cx="371475" cy="121444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交验质检</a:t>
            </a:r>
            <a:endParaRPr lang="en-US" sz="700" dirty="0"/>
          </a:p>
        </p:txBody>
      </p:sp>
      <p:sp>
        <p:nvSpPr>
          <p:cNvPr id="78" name="Text 70"/>
          <p:cNvSpPr/>
          <p:nvPr/>
        </p:nvSpPr>
        <p:spPr>
          <a:xfrm>
            <a:off x="7685336" y="2582466"/>
            <a:ext cx="142875" cy="142875"/>
          </a:xfrm>
          <a:prstGeom prst="ellipse">
            <a:avLst/>
          </a:prstGeom>
          <a:solidFill>
            <a:srgbClr val="C96442"/>
          </a:solidFill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FAF9F5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4</a:t>
            </a:r>
            <a:endParaRPr lang="en-US" sz="700" dirty="0"/>
          </a:p>
        </p:txBody>
      </p:sp>
      <p:sp>
        <p:nvSpPr>
          <p:cNvPr id="79" name="Text 71"/>
          <p:cNvSpPr/>
          <p:nvPr/>
        </p:nvSpPr>
        <p:spPr>
          <a:xfrm>
            <a:off x="7571091" y="2753525"/>
            <a:ext cx="371475" cy="121444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计件核算</a:t>
            </a:r>
            <a:endParaRPr lang="en-US" sz="700" dirty="0"/>
          </a:p>
        </p:txBody>
      </p:sp>
      <p:sp>
        <p:nvSpPr>
          <p:cNvPr id="80" name="Text 72"/>
          <p:cNvSpPr/>
          <p:nvPr/>
        </p:nvSpPr>
        <p:spPr>
          <a:xfrm>
            <a:off x="8386316" y="2582466"/>
            <a:ext cx="142875" cy="142875"/>
          </a:xfrm>
          <a:prstGeom prst="ellipse">
            <a:avLst/>
          </a:prstGeom>
          <a:solidFill>
            <a:srgbClr val="C96442"/>
          </a:solidFill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FAF9F5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5</a:t>
            </a:r>
            <a:endParaRPr lang="en-US" sz="700" dirty="0"/>
          </a:p>
        </p:txBody>
      </p:sp>
      <p:sp>
        <p:nvSpPr>
          <p:cNvPr id="81" name="Text 73"/>
          <p:cNvSpPr/>
          <p:nvPr/>
        </p:nvSpPr>
        <p:spPr>
          <a:xfrm>
            <a:off x="8271960" y="2753525"/>
            <a:ext cx="371475" cy="121444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按月兑付</a:t>
            </a:r>
            <a:endParaRPr lang="en-US" sz="700" dirty="0"/>
          </a:p>
        </p:txBody>
      </p:sp>
      <p:sp>
        <p:nvSpPr>
          <p:cNvPr id="82" name="Text 74"/>
          <p:cNvSpPr/>
          <p:nvPr/>
        </p:nvSpPr>
        <p:spPr>
          <a:xfrm>
            <a:off x="5303788" y="2992673"/>
            <a:ext cx="500063" cy="157163"/>
          </a:xfrm>
          <a:prstGeom prst="roundRect">
            <a:avLst>
              <a:gd name="adj" fmla="val 72727"/>
            </a:avLst>
          </a:prstGeom>
          <a:solidFill>
            <a:srgbClr val="E8E6DC"/>
          </a:solidFill>
          <a:ln/>
        </p:spPr>
        <p:txBody>
          <a:bodyPr wrap="none" lIns="72866" tIns="18217" rIns="72866" bIns="18217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统一供料</a:t>
            </a:r>
            <a:endParaRPr lang="en-US" sz="700" dirty="0"/>
          </a:p>
        </p:txBody>
      </p:sp>
      <p:sp>
        <p:nvSpPr>
          <p:cNvPr id="83" name="Text 75"/>
          <p:cNvSpPr/>
          <p:nvPr/>
        </p:nvSpPr>
        <p:spPr>
          <a:xfrm>
            <a:off x="5861000" y="2992673"/>
            <a:ext cx="500063" cy="157163"/>
          </a:xfrm>
          <a:prstGeom prst="roundRect">
            <a:avLst>
              <a:gd name="adj" fmla="val 72727"/>
            </a:avLst>
          </a:prstGeom>
          <a:solidFill>
            <a:srgbClr val="E8E6DC"/>
          </a:solidFill>
          <a:ln/>
        </p:spPr>
        <p:txBody>
          <a:bodyPr wrap="none" lIns="72866" tIns="18217" rIns="72866" bIns="18217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统一质检</a:t>
            </a:r>
            <a:endParaRPr lang="en-US" sz="700" dirty="0"/>
          </a:p>
        </p:txBody>
      </p:sp>
      <p:sp>
        <p:nvSpPr>
          <p:cNvPr id="84" name="Text 76"/>
          <p:cNvSpPr/>
          <p:nvPr/>
        </p:nvSpPr>
        <p:spPr>
          <a:xfrm>
            <a:off x="6418213" y="2992673"/>
            <a:ext cx="500063" cy="157163"/>
          </a:xfrm>
          <a:prstGeom prst="roundRect">
            <a:avLst>
              <a:gd name="adj" fmla="val 72727"/>
            </a:avLst>
          </a:prstGeom>
          <a:solidFill>
            <a:srgbClr val="E8E6DC"/>
          </a:solidFill>
          <a:ln/>
        </p:spPr>
        <p:txBody>
          <a:bodyPr wrap="none" lIns="72866" tIns="18217" rIns="72866" bIns="18217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统一销售</a:t>
            </a:r>
            <a:endParaRPr lang="en-US" sz="700" dirty="0"/>
          </a:p>
        </p:txBody>
      </p:sp>
      <p:sp>
        <p:nvSpPr>
          <p:cNvPr id="85" name="Text 77"/>
          <p:cNvSpPr/>
          <p:nvPr/>
        </p:nvSpPr>
        <p:spPr>
          <a:xfrm>
            <a:off x="5302002" y="3429781"/>
            <a:ext cx="414338" cy="121444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人均月增收</a:t>
            </a:r>
            <a:endParaRPr lang="en-US" sz="700" dirty="0"/>
          </a:p>
        </p:txBody>
      </p:sp>
      <p:sp>
        <p:nvSpPr>
          <p:cNvPr id="86" name="Text 78"/>
          <p:cNvSpPr/>
          <p:nvPr/>
        </p:nvSpPr>
        <p:spPr>
          <a:xfrm>
            <a:off x="5769918" y="3350307"/>
            <a:ext cx="999554" cy="18573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约1800</a:t>
            </a:r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 元/人·月</a:t>
            </a:r>
            <a:endParaRPr lang="en-US" sz="1400" dirty="0"/>
          </a:p>
        </p:txBody>
      </p:sp>
      <p:sp>
        <p:nvSpPr>
          <p:cNvPr id="87" name="Text 79"/>
          <p:cNvSpPr/>
          <p:nvPr/>
        </p:nvSpPr>
        <p:spPr>
          <a:xfrm>
            <a:off x="6823844" y="3331443"/>
            <a:ext cx="1985963" cy="221456"/>
          </a:xfrm>
          <a:prstGeom prst="rect">
            <a:avLst/>
          </a:prstGeom>
          <a:ln/>
        </p:spPr>
        <p:txBody>
          <a:bodyPr wrap="none" lIns="0" tIns="0" rIns="0" bIns="0" rtlCol="0" anchor="b">
            <a:no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按件计酬结算，农户不承担销售风险；计件单价按品类与</a:t>
            </a:r>
            <a:endParaRPr lang="en-US" sz="700" dirty="0"/>
          </a:p>
          <a:p>
            <a:pPr algn="r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工序核定</a:t>
            </a:r>
            <a:endParaRPr lang="en-US" sz="700" dirty="0"/>
          </a:p>
        </p:txBody>
      </p:sp>
      <p:sp>
        <p:nvSpPr>
          <p:cNvPr id="88" name="Text 80"/>
          <p:cNvSpPr/>
          <p:nvPr/>
        </p:nvSpPr>
        <p:spPr>
          <a:xfrm>
            <a:off x="384535" y="3833738"/>
            <a:ext cx="2678906" cy="1143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D97757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低门槛就业</a:t>
            </a:r>
            <a:endParaRPr lang="en-US" sz="700" dirty="0"/>
          </a:p>
        </p:txBody>
      </p:sp>
      <p:sp>
        <p:nvSpPr>
          <p:cNvPr id="89" name="Text 81"/>
          <p:cNvSpPr/>
          <p:nvPr/>
        </p:nvSpPr>
        <p:spPr>
          <a:xfrm>
            <a:off x="384535" y="3970809"/>
            <a:ext cx="2678906" cy="1143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B0AEA5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不出村、不误农，妇女与留守劳动力可参与</a:t>
            </a:r>
            <a:endParaRPr lang="en-US" sz="700" dirty="0"/>
          </a:p>
        </p:txBody>
      </p:sp>
      <p:sp>
        <p:nvSpPr>
          <p:cNvPr id="90" name="Text 82"/>
          <p:cNvSpPr/>
          <p:nvPr/>
        </p:nvSpPr>
        <p:spPr>
          <a:xfrm>
            <a:off x="3411085" y="3833738"/>
            <a:ext cx="2500313" cy="1143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D97757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统一品控</a:t>
            </a:r>
            <a:endParaRPr lang="en-US" sz="700" dirty="0"/>
          </a:p>
        </p:txBody>
      </p:sp>
      <p:sp>
        <p:nvSpPr>
          <p:cNvPr id="91" name="Text 83"/>
          <p:cNvSpPr/>
          <p:nvPr/>
        </p:nvSpPr>
        <p:spPr>
          <a:xfrm>
            <a:off x="3411085" y="3970809"/>
            <a:ext cx="2500313" cy="1143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B0AEA5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合作社集中培训＋交验质检，计件与质量挂钩</a:t>
            </a:r>
            <a:endParaRPr lang="en-US" sz="700" dirty="0"/>
          </a:p>
        </p:txBody>
      </p:sp>
      <p:sp>
        <p:nvSpPr>
          <p:cNvPr id="92" name="Text 84"/>
          <p:cNvSpPr/>
          <p:nvPr/>
        </p:nvSpPr>
        <p:spPr>
          <a:xfrm>
            <a:off x="6259041" y="3833738"/>
            <a:ext cx="2500313" cy="1143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D97757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风险分层</a:t>
            </a:r>
            <a:endParaRPr lang="en-US" sz="700" dirty="0"/>
          </a:p>
        </p:txBody>
      </p:sp>
      <p:sp>
        <p:nvSpPr>
          <p:cNvPr id="93" name="Text 85"/>
          <p:cNvSpPr/>
          <p:nvPr/>
        </p:nvSpPr>
        <p:spPr>
          <a:xfrm>
            <a:off x="6259041" y="3970809"/>
            <a:ext cx="2500313" cy="1143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B0AEA5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市场风险由公司承担，农户不承担销售风险</a:t>
            </a:r>
            <a:endParaRPr lang="en-US" sz="700" dirty="0"/>
          </a:p>
        </p:txBody>
      </p:sp>
      <p:sp>
        <p:nvSpPr>
          <p:cNvPr id="94" name="Text 86"/>
          <p:cNvSpPr/>
          <p:nvPr/>
        </p:nvSpPr>
        <p:spPr>
          <a:xfrm>
            <a:off x="214313" y="4514850"/>
            <a:ext cx="8715375" cy="30003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资料来源：项目申报口径（三方分工、在家编织按件计酬、人均月增收约1800元为锁定口径）；背景参照：封面新闻2025竹编、国家林草局雅安竹编、新华社2025非遗工坊。收益分配比例、计件单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价与保底收购价以公司章程、合作协议及申报材料为准。</a:t>
            </a:r>
            <a:endParaRPr lang="en-US" sz="700" dirty="0"/>
          </a:p>
        </p:txBody>
      </p:sp>
      <p:sp>
        <p:nvSpPr>
          <p:cNvPr id="65535" name="wm:hwcld:2026-09-22T19:19:56:64984ecd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214313" y="746522"/>
            <a:ext cx="428625" cy="14288"/>
          </a:xfrm>
          <a:prstGeom prst="rect">
            <a:avLst/>
          </a:prstGeom>
          <a:solidFill>
            <a:srgbClr val="C96442"/>
          </a:solidFill>
          <a:ln/>
        </p:spPr>
      </p:sp>
      <p:sp>
        <p:nvSpPr>
          <p:cNvPr id="4" name="Shape 2"/>
          <p:cNvSpPr/>
          <p:nvPr/>
        </p:nvSpPr>
        <p:spPr>
          <a:xfrm>
            <a:off x="212527" y="1091208"/>
            <a:ext cx="4143375" cy="2757488"/>
          </a:xfrm>
          <a:prstGeom prst="roundRect">
            <a:avLst>
              <a:gd name="adj" fmla="val 1031"/>
            </a:avLst>
          </a:prstGeom>
          <a:solidFill>
            <a:srgbClr val="FAF9F5"/>
          </a:solidFill>
          <a:ln w="6191">
            <a:solidFill>
              <a:srgbClr val="F0EEE6"/>
            </a:solidFill>
            <a:prstDash val="solid"/>
          </a:ln>
          <a:effectLst>
            <a:outerShdw sx="100000" sy="100000" kx="0" ky="0" algn="bl" rotWithShape="0" blurRad="171450" dist="28575" dir="5400000">
              <a:srgbClr val="000000">
                <a:alpha val="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6397" y="3504009"/>
            <a:ext cx="3438397" cy="0"/>
          </a:xfrm>
          <a:prstGeom prst="line">
            <a:avLst/>
          </a:prstGeom>
          <a:noFill/>
          <a:ln w="6350">
            <a:solidFill>
              <a:srgbClr val="F0EE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6397" y="3253978"/>
            <a:ext cx="3438397" cy="0"/>
          </a:xfrm>
          <a:prstGeom prst="line">
            <a:avLst/>
          </a:prstGeom>
          <a:noFill/>
          <a:ln w="6350">
            <a:solidFill>
              <a:srgbClr val="F0EE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6397" y="2996803"/>
            <a:ext cx="3438397" cy="0"/>
          </a:xfrm>
          <a:prstGeom prst="line">
            <a:avLst/>
          </a:prstGeom>
          <a:noFill/>
          <a:ln w="6350">
            <a:solidFill>
              <a:srgbClr val="F0EE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6397" y="2746772"/>
            <a:ext cx="3438397" cy="0"/>
          </a:xfrm>
          <a:prstGeom prst="line">
            <a:avLst/>
          </a:prstGeom>
          <a:noFill/>
          <a:ln w="6350">
            <a:solidFill>
              <a:srgbClr val="F0EE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6397" y="2496741"/>
            <a:ext cx="3438397" cy="0"/>
          </a:xfrm>
          <a:prstGeom prst="line">
            <a:avLst/>
          </a:prstGeom>
          <a:noFill/>
          <a:ln w="6350">
            <a:solidFill>
              <a:srgbClr val="F0EE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97" y="2246709"/>
            <a:ext cx="3438397" cy="0"/>
          </a:xfrm>
          <a:prstGeom prst="line">
            <a:avLst/>
          </a:prstGeom>
          <a:noFill/>
          <a:ln w="6350">
            <a:solidFill>
              <a:srgbClr val="F0EE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97" y="1996678"/>
            <a:ext cx="3438397" cy="0"/>
          </a:xfrm>
          <a:prstGeom prst="line">
            <a:avLst/>
          </a:prstGeom>
          <a:noFill/>
          <a:ln w="6350">
            <a:solidFill>
              <a:srgbClr val="F0EE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97" y="1746647"/>
            <a:ext cx="3438397" cy="0"/>
          </a:xfrm>
          <a:prstGeom prst="line">
            <a:avLst/>
          </a:prstGeom>
          <a:noFill/>
          <a:ln w="6350">
            <a:solidFill>
              <a:srgbClr val="F0EE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6397" y="1540193"/>
            <a:ext cx="33289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户</a:t>
            </a:r>
            <a:endParaRPr lang="en-US" sz="788" dirty="0"/>
          </a:p>
        </p:txBody>
      </p:sp>
      <p:sp>
        <p:nvSpPr>
          <p:cNvPr id="14" name="Shape 12"/>
          <p:cNvSpPr/>
          <p:nvPr/>
        </p:nvSpPr>
        <p:spPr>
          <a:xfrm>
            <a:off x="626397" y="3504009"/>
            <a:ext cx="3438397" cy="0"/>
          </a:xfrm>
          <a:prstGeom prst="line">
            <a:avLst/>
          </a:prstGeom>
          <a:noFill/>
          <a:ln w="6350">
            <a:solidFill>
              <a:srgbClr val="E8E6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6348" y="3440430"/>
            <a:ext cx="33289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0</a:t>
            </a:r>
            <a:endParaRPr lang="en-US" sz="788" dirty="0"/>
          </a:p>
        </p:txBody>
      </p:sp>
      <p:sp>
        <p:nvSpPr>
          <p:cNvPr id="16" name="Text 14"/>
          <p:cNvSpPr/>
          <p:nvPr/>
        </p:nvSpPr>
        <p:spPr>
          <a:xfrm>
            <a:off x="86329" y="3189379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20</a:t>
            </a:r>
            <a:endParaRPr lang="en-US" sz="788" dirty="0"/>
          </a:p>
        </p:txBody>
      </p:sp>
      <p:sp>
        <p:nvSpPr>
          <p:cNvPr id="17" name="Text 15"/>
          <p:cNvSpPr/>
          <p:nvPr/>
        </p:nvSpPr>
        <p:spPr>
          <a:xfrm>
            <a:off x="86329" y="2938327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40</a:t>
            </a:r>
            <a:endParaRPr lang="en-US" sz="788" dirty="0"/>
          </a:p>
        </p:txBody>
      </p:sp>
      <p:sp>
        <p:nvSpPr>
          <p:cNvPr id="18" name="Text 16"/>
          <p:cNvSpPr/>
          <p:nvPr/>
        </p:nvSpPr>
        <p:spPr>
          <a:xfrm>
            <a:off x="86329" y="2687274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60</a:t>
            </a:r>
            <a:endParaRPr lang="en-US" sz="788" dirty="0"/>
          </a:p>
        </p:txBody>
      </p:sp>
      <p:sp>
        <p:nvSpPr>
          <p:cNvPr id="19" name="Text 17"/>
          <p:cNvSpPr/>
          <p:nvPr/>
        </p:nvSpPr>
        <p:spPr>
          <a:xfrm>
            <a:off x="86329" y="2436223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80</a:t>
            </a:r>
            <a:endParaRPr lang="en-US" sz="788" dirty="0"/>
          </a:p>
        </p:txBody>
      </p:sp>
      <p:sp>
        <p:nvSpPr>
          <p:cNvPr id="20" name="Text 18"/>
          <p:cNvSpPr/>
          <p:nvPr/>
        </p:nvSpPr>
        <p:spPr>
          <a:xfrm>
            <a:off x="-63689" y="2185171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100</a:t>
            </a:r>
            <a:endParaRPr lang="en-US" sz="788" dirty="0"/>
          </a:p>
        </p:txBody>
      </p:sp>
      <p:sp>
        <p:nvSpPr>
          <p:cNvPr id="21" name="Text 19"/>
          <p:cNvSpPr/>
          <p:nvPr/>
        </p:nvSpPr>
        <p:spPr>
          <a:xfrm>
            <a:off x="-63689" y="1934120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120</a:t>
            </a:r>
            <a:endParaRPr lang="en-US" sz="788" dirty="0"/>
          </a:p>
        </p:txBody>
      </p:sp>
      <p:sp>
        <p:nvSpPr>
          <p:cNvPr id="22" name="Text 20"/>
          <p:cNvSpPr/>
          <p:nvPr/>
        </p:nvSpPr>
        <p:spPr>
          <a:xfrm>
            <a:off x="-63689" y="1683068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140</a:t>
            </a:r>
            <a:endParaRPr lang="en-US" sz="788" dirty="0"/>
          </a:p>
        </p:txBody>
      </p:sp>
      <p:sp>
        <p:nvSpPr>
          <p:cNvPr id="23" name="Text 21"/>
          <p:cNvSpPr/>
          <p:nvPr/>
        </p:nvSpPr>
        <p:spPr>
          <a:xfrm>
            <a:off x="1169528" y="3533299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第一年</a:t>
            </a:r>
            <a:endParaRPr lang="en-US" sz="788" dirty="0"/>
          </a:p>
        </p:txBody>
      </p:sp>
      <p:sp>
        <p:nvSpPr>
          <p:cNvPr id="24" name="Text 22"/>
          <p:cNvSpPr/>
          <p:nvPr/>
        </p:nvSpPr>
        <p:spPr>
          <a:xfrm>
            <a:off x="2888726" y="3533299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第二年</a:t>
            </a:r>
            <a:endParaRPr lang="en-US" sz="788" dirty="0"/>
          </a:p>
        </p:txBody>
      </p:sp>
      <p:sp>
        <p:nvSpPr>
          <p:cNvPr id="25" name="Shape 23"/>
          <p:cNvSpPr/>
          <p:nvPr/>
        </p:nvSpPr>
        <p:spPr>
          <a:xfrm>
            <a:off x="1090581" y="2747282"/>
            <a:ext cx="790831" cy="753156"/>
          </a:xfrm>
          <a:custGeom>
            <a:avLst/>
            <a:gdLst/>
            <a:ahLst/>
            <a:cxnLst/>
            <a:rect l="l" t="t" r="r" b="b"/>
            <a:pathLst>
              <a:path w="790831" h="753156">
                <a:moveTo>
                  <a:pt x="42863" y="0"/>
                </a:moveTo>
                <a:lnTo>
                  <a:pt x="747968" y="0"/>
                </a:lnTo>
                <a:lnTo>
                  <a:pt x="750072" y="52"/>
                </a:lnTo>
                <a:lnTo>
                  <a:pt x="752170" y="206"/>
                </a:lnTo>
                <a:lnTo>
                  <a:pt x="754258" y="464"/>
                </a:lnTo>
                <a:lnTo>
                  <a:pt x="756331" y="824"/>
                </a:lnTo>
                <a:lnTo>
                  <a:pt x="758383" y="1285"/>
                </a:lnTo>
                <a:lnTo>
                  <a:pt x="760411" y="1846"/>
                </a:lnTo>
                <a:lnTo>
                  <a:pt x="762408" y="2506"/>
                </a:lnTo>
                <a:lnTo>
                  <a:pt x="764371" y="3263"/>
                </a:lnTo>
                <a:lnTo>
                  <a:pt x="766295" y="4115"/>
                </a:lnTo>
                <a:lnTo>
                  <a:pt x="768174" y="5061"/>
                </a:lnTo>
                <a:lnTo>
                  <a:pt x="770004" y="6098"/>
                </a:lnTo>
                <a:lnTo>
                  <a:pt x="771782" y="7224"/>
                </a:lnTo>
                <a:lnTo>
                  <a:pt x="773502" y="8435"/>
                </a:lnTo>
                <a:lnTo>
                  <a:pt x="775160" y="9729"/>
                </a:lnTo>
                <a:lnTo>
                  <a:pt x="776753" y="11103"/>
                </a:lnTo>
                <a:lnTo>
                  <a:pt x="778277" y="12554"/>
                </a:lnTo>
                <a:lnTo>
                  <a:pt x="779728" y="14078"/>
                </a:lnTo>
                <a:lnTo>
                  <a:pt x="781102" y="15671"/>
                </a:lnTo>
                <a:lnTo>
                  <a:pt x="782396" y="17329"/>
                </a:lnTo>
                <a:lnTo>
                  <a:pt x="783607" y="19049"/>
                </a:lnTo>
                <a:lnTo>
                  <a:pt x="784733" y="20827"/>
                </a:lnTo>
                <a:lnTo>
                  <a:pt x="785770" y="22657"/>
                </a:lnTo>
                <a:lnTo>
                  <a:pt x="786716" y="24536"/>
                </a:lnTo>
                <a:lnTo>
                  <a:pt x="787568" y="26460"/>
                </a:lnTo>
                <a:lnTo>
                  <a:pt x="788325" y="28423"/>
                </a:lnTo>
                <a:lnTo>
                  <a:pt x="788985" y="30420"/>
                </a:lnTo>
                <a:lnTo>
                  <a:pt x="789546" y="32448"/>
                </a:lnTo>
                <a:lnTo>
                  <a:pt x="790007" y="34500"/>
                </a:lnTo>
                <a:lnTo>
                  <a:pt x="790367" y="36573"/>
                </a:lnTo>
                <a:lnTo>
                  <a:pt x="790625" y="38661"/>
                </a:lnTo>
                <a:lnTo>
                  <a:pt x="790779" y="40759"/>
                </a:lnTo>
                <a:lnTo>
                  <a:pt x="790831" y="42863"/>
                </a:lnTo>
                <a:lnTo>
                  <a:pt x="790831" y="753156"/>
                </a:lnTo>
                <a:lnTo>
                  <a:pt x="0" y="753156"/>
                </a:lnTo>
                <a:lnTo>
                  <a:pt x="0" y="42863"/>
                </a:lnTo>
                <a:lnTo>
                  <a:pt x="52" y="40759"/>
                </a:lnTo>
                <a:lnTo>
                  <a:pt x="206" y="38661"/>
                </a:lnTo>
                <a:lnTo>
                  <a:pt x="464" y="36573"/>
                </a:lnTo>
                <a:lnTo>
                  <a:pt x="824" y="34500"/>
                </a:lnTo>
                <a:lnTo>
                  <a:pt x="1285" y="32448"/>
                </a:lnTo>
                <a:lnTo>
                  <a:pt x="1846" y="30420"/>
                </a:lnTo>
                <a:lnTo>
                  <a:pt x="2506" y="28423"/>
                </a:lnTo>
                <a:lnTo>
                  <a:pt x="3263" y="26460"/>
                </a:lnTo>
                <a:lnTo>
                  <a:pt x="4115" y="24536"/>
                </a:lnTo>
                <a:lnTo>
                  <a:pt x="5061" y="22657"/>
                </a:lnTo>
                <a:lnTo>
                  <a:pt x="6098" y="20827"/>
                </a:lnTo>
                <a:lnTo>
                  <a:pt x="7224" y="19049"/>
                </a:lnTo>
                <a:lnTo>
                  <a:pt x="8435" y="17329"/>
                </a:lnTo>
                <a:lnTo>
                  <a:pt x="9729" y="15671"/>
                </a:lnTo>
                <a:lnTo>
                  <a:pt x="11103" y="14078"/>
                </a:lnTo>
                <a:lnTo>
                  <a:pt x="12554" y="12554"/>
                </a:lnTo>
                <a:lnTo>
                  <a:pt x="14078" y="11103"/>
                </a:lnTo>
                <a:lnTo>
                  <a:pt x="15671" y="9729"/>
                </a:lnTo>
                <a:lnTo>
                  <a:pt x="17329" y="8435"/>
                </a:lnTo>
                <a:lnTo>
                  <a:pt x="19049" y="7224"/>
                </a:lnTo>
                <a:lnTo>
                  <a:pt x="20827" y="6098"/>
                </a:lnTo>
                <a:lnTo>
                  <a:pt x="22657" y="5061"/>
                </a:lnTo>
                <a:lnTo>
                  <a:pt x="24536" y="4115"/>
                </a:lnTo>
                <a:lnTo>
                  <a:pt x="26460" y="3263"/>
                </a:lnTo>
                <a:lnTo>
                  <a:pt x="28423" y="2506"/>
                </a:lnTo>
                <a:lnTo>
                  <a:pt x="30420" y="1846"/>
                </a:lnTo>
                <a:lnTo>
                  <a:pt x="32448" y="1285"/>
                </a:lnTo>
                <a:lnTo>
                  <a:pt x="34500" y="824"/>
                </a:lnTo>
                <a:lnTo>
                  <a:pt x="36573" y="464"/>
                </a:lnTo>
                <a:lnTo>
                  <a:pt x="38661" y="206"/>
                </a:lnTo>
                <a:lnTo>
                  <a:pt x="40759" y="52"/>
                </a:lnTo>
                <a:lnTo>
                  <a:pt x="42863" y="0"/>
                </a:lnTo>
              </a:path>
            </a:pathLst>
          </a:custGeom>
          <a:solidFill>
            <a:srgbClr val="D97757"/>
          </a:solidFill>
          <a:ln/>
        </p:spPr>
      </p:sp>
      <p:sp>
        <p:nvSpPr>
          <p:cNvPr id="26" name="Shape 24"/>
          <p:cNvSpPr/>
          <p:nvPr/>
        </p:nvSpPr>
        <p:spPr>
          <a:xfrm>
            <a:off x="2809779" y="1994127"/>
            <a:ext cx="790831" cy="1506310"/>
          </a:xfrm>
          <a:custGeom>
            <a:avLst/>
            <a:gdLst/>
            <a:ahLst/>
            <a:cxnLst/>
            <a:rect l="l" t="t" r="r" b="b"/>
            <a:pathLst>
              <a:path w="790831" h="1506310">
                <a:moveTo>
                  <a:pt x="42863" y="0"/>
                </a:moveTo>
                <a:lnTo>
                  <a:pt x="747968" y="0"/>
                </a:lnTo>
                <a:lnTo>
                  <a:pt x="750072" y="52"/>
                </a:lnTo>
                <a:lnTo>
                  <a:pt x="752170" y="206"/>
                </a:lnTo>
                <a:lnTo>
                  <a:pt x="754258" y="464"/>
                </a:lnTo>
                <a:lnTo>
                  <a:pt x="756331" y="824"/>
                </a:lnTo>
                <a:lnTo>
                  <a:pt x="758383" y="1285"/>
                </a:lnTo>
                <a:lnTo>
                  <a:pt x="760411" y="1846"/>
                </a:lnTo>
                <a:lnTo>
                  <a:pt x="762408" y="2506"/>
                </a:lnTo>
                <a:lnTo>
                  <a:pt x="764371" y="3263"/>
                </a:lnTo>
                <a:lnTo>
                  <a:pt x="766295" y="4115"/>
                </a:lnTo>
                <a:lnTo>
                  <a:pt x="768174" y="5061"/>
                </a:lnTo>
                <a:lnTo>
                  <a:pt x="770004" y="6098"/>
                </a:lnTo>
                <a:lnTo>
                  <a:pt x="771782" y="7224"/>
                </a:lnTo>
                <a:lnTo>
                  <a:pt x="773502" y="8435"/>
                </a:lnTo>
                <a:lnTo>
                  <a:pt x="775160" y="9729"/>
                </a:lnTo>
                <a:lnTo>
                  <a:pt x="776753" y="11103"/>
                </a:lnTo>
                <a:lnTo>
                  <a:pt x="778277" y="12554"/>
                </a:lnTo>
                <a:lnTo>
                  <a:pt x="779728" y="14078"/>
                </a:lnTo>
                <a:lnTo>
                  <a:pt x="781102" y="15671"/>
                </a:lnTo>
                <a:lnTo>
                  <a:pt x="782396" y="17329"/>
                </a:lnTo>
                <a:lnTo>
                  <a:pt x="783607" y="19049"/>
                </a:lnTo>
                <a:lnTo>
                  <a:pt x="784733" y="20827"/>
                </a:lnTo>
                <a:lnTo>
                  <a:pt x="785770" y="22657"/>
                </a:lnTo>
                <a:lnTo>
                  <a:pt x="786716" y="24536"/>
                </a:lnTo>
                <a:lnTo>
                  <a:pt x="787568" y="26460"/>
                </a:lnTo>
                <a:lnTo>
                  <a:pt x="788325" y="28423"/>
                </a:lnTo>
                <a:lnTo>
                  <a:pt x="788985" y="30420"/>
                </a:lnTo>
                <a:lnTo>
                  <a:pt x="789546" y="32448"/>
                </a:lnTo>
                <a:lnTo>
                  <a:pt x="790007" y="34500"/>
                </a:lnTo>
                <a:lnTo>
                  <a:pt x="790367" y="36573"/>
                </a:lnTo>
                <a:lnTo>
                  <a:pt x="790625" y="38661"/>
                </a:lnTo>
                <a:lnTo>
                  <a:pt x="790779" y="40759"/>
                </a:lnTo>
                <a:lnTo>
                  <a:pt x="790831" y="42863"/>
                </a:lnTo>
                <a:lnTo>
                  <a:pt x="790831" y="1506310"/>
                </a:lnTo>
                <a:lnTo>
                  <a:pt x="0" y="1506310"/>
                </a:lnTo>
                <a:lnTo>
                  <a:pt x="0" y="42863"/>
                </a:lnTo>
                <a:lnTo>
                  <a:pt x="52" y="40759"/>
                </a:lnTo>
                <a:lnTo>
                  <a:pt x="206" y="38661"/>
                </a:lnTo>
                <a:lnTo>
                  <a:pt x="464" y="36573"/>
                </a:lnTo>
                <a:lnTo>
                  <a:pt x="824" y="34500"/>
                </a:lnTo>
                <a:lnTo>
                  <a:pt x="1285" y="32448"/>
                </a:lnTo>
                <a:lnTo>
                  <a:pt x="1846" y="30420"/>
                </a:lnTo>
                <a:lnTo>
                  <a:pt x="2506" y="28423"/>
                </a:lnTo>
                <a:lnTo>
                  <a:pt x="3263" y="26460"/>
                </a:lnTo>
                <a:lnTo>
                  <a:pt x="4115" y="24536"/>
                </a:lnTo>
                <a:lnTo>
                  <a:pt x="5061" y="22657"/>
                </a:lnTo>
                <a:lnTo>
                  <a:pt x="6098" y="20827"/>
                </a:lnTo>
                <a:lnTo>
                  <a:pt x="7224" y="19049"/>
                </a:lnTo>
                <a:lnTo>
                  <a:pt x="8435" y="17329"/>
                </a:lnTo>
                <a:lnTo>
                  <a:pt x="9729" y="15671"/>
                </a:lnTo>
                <a:lnTo>
                  <a:pt x="11103" y="14078"/>
                </a:lnTo>
                <a:lnTo>
                  <a:pt x="12554" y="12554"/>
                </a:lnTo>
                <a:lnTo>
                  <a:pt x="14078" y="11103"/>
                </a:lnTo>
                <a:lnTo>
                  <a:pt x="15671" y="9729"/>
                </a:lnTo>
                <a:lnTo>
                  <a:pt x="17329" y="8435"/>
                </a:lnTo>
                <a:lnTo>
                  <a:pt x="19049" y="7224"/>
                </a:lnTo>
                <a:lnTo>
                  <a:pt x="20827" y="6098"/>
                </a:lnTo>
                <a:lnTo>
                  <a:pt x="22657" y="5061"/>
                </a:lnTo>
                <a:lnTo>
                  <a:pt x="24536" y="4115"/>
                </a:lnTo>
                <a:lnTo>
                  <a:pt x="26460" y="3263"/>
                </a:lnTo>
                <a:lnTo>
                  <a:pt x="28423" y="2506"/>
                </a:lnTo>
                <a:lnTo>
                  <a:pt x="30420" y="1846"/>
                </a:lnTo>
                <a:lnTo>
                  <a:pt x="32448" y="1285"/>
                </a:lnTo>
                <a:lnTo>
                  <a:pt x="34500" y="824"/>
                </a:lnTo>
                <a:lnTo>
                  <a:pt x="36573" y="464"/>
                </a:lnTo>
                <a:lnTo>
                  <a:pt x="38661" y="206"/>
                </a:lnTo>
                <a:lnTo>
                  <a:pt x="40759" y="52"/>
                </a:lnTo>
                <a:lnTo>
                  <a:pt x="42863" y="0"/>
                </a:lnTo>
              </a:path>
            </a:pathLst>
          </a:custGeom>
          <a:solidFill>
            <a:srgbClr val="C96442"/>
          </a:solidFill>
          <a:ln/>
        </p:spPr>
      </p:sp>
      <p:sp>
        <p:nvSpPr>
          <p:cNvPr id="27" name="Text 25"/>
          <p:cNvSpPr/>
          <p:nvPr/>
        </p:nvSpPr>
        <p:spPr>
          <a:xfrm>
            <a:off x="1051656" y="2585833"/>
            <a:ext cx="868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60 户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685129" y="1832678"/>
            <a:ext cx="104013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120 户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80930" y="1093105"/>
            <a:ext cx="4350544" cy="971550"/>
          </a:xfrm>
          <a:prstGeom prst="roundRect">
            <a:avLst>
              <a:gd name="adj" fmla="val 8304"/>
            </a:avLst>
          </a:prstGeom>
          <a:solidFill>
            <a:srgbClr val="FAF9F5"/>
          </a:solidFill>
          <a:ln/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80930" y="1093105"/>
            <a:ext cx="4350544" cy="971550"/>
          </a:xfrm>
          <a:prstGeom prst="rect">
            <a:avLst/>
          </a:prstGeom>
        </p:spPr>
      </p:pic>
      <p:sp>
        <p:nvSpPr>
          <p:cNvPr id="31" name="Shape 28"/>
          <p:cNvSpPr/>
          <p:nvPr/>
        </p:nvSpPr>
        <p:spPr>
          <a:xfrm>
            <a:off x="4580930" y="2180741"/>
            <a:ext cx="4350544" cy="1664494"/>
          </a:xfrm>
          <a:prstGeom prst="roundRect">
            <a:avLst>
              <a:gd name="adj" fmla="val 2829"/>
            </a:avLst>
          </a:prstGeom>
          <a:solidFill>
            <a:srgbClr val="FAF9F5"/>
          </a:solidFill>
          <a:ln w="6191">
            <a:solidFill>
              <a:srgbClr val="F0EEE6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702373" y="2480444"/>
            <a:ext cx="4107656" cy="221456"/>
          </a:xfrm>
          <a:prstGeom prst="rect">
            <a:avLst/>
          </a:prstGeom>
          <a:ln/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02373" y="2480444"/>
            <a:ext cx="4107656" cy="221456"/>
          </a:xfrm>
          <a:prstGeom prst="rect">
            <a:avLst/>
          </a:prstGeom>
        </p:spPr>
      </p:pic>
      <p:sp>
        <p:nvSpPr>
          <p:cNvPr id="34" name="Shape 30"/>
          <p:cNvSpPr/>
          <p:nvPr/>
        </p:nvSpPr>
        <p:spPr>
          <a:xfrm>
            <a:off x="4702373" y="2700114"/>
            <a:ext cx="4107656" cy="250031"/>
          </a:xfrm>
          <a:prstGeom prst="rect">
            <a:avLst/>
          </a:prstGeom>
          <a:ln/>
        </p:spPr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02373" y="2700114"/>
            <a:ext cx="4107656" cy="250031"/>
          </a:xfrm>
          <a:prstGeom prst="rect">
            <a:avLst/>
          </a:prstGeom>
        </p:spPr>
      </p:pic>
      <p:sp>
        <p:nvSpPr>
          <p:cNvPr id="36" name="Shape 31"/>
          <p:cNvSpPr/>
          <p:nvPr/>
        </p:nvSpPr>
        <p:spPr>
          <a:xfrm>
            <a:off x="4702373" y="2946574"/>
            <a:ext cx="4107656" cy="250031"/>
          </a:xfrm>
          <a:prstGeom prst="rect">
            <a:avLst/>
          </a:prstGeom>
          <a:ln/>
        </p:spPr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02373" y="2946574"/>
            <a:ext cx="4107656" cy="250031"/>
          </a:xfrm>
          <a:prstGeom prst="rect">
            <a:avLst/>
          </a:prstGeom>
        </p:spPr>
      </p:pic>
      <p:sp>
        <p:nvSpPr>
          <p:cNvPr id="38" name="Shape 32"/>
          <p:cNvSpPr/>
          <p:nvPr/>
        </p:nvSpPr>
        <p:spPr>
          <a:xfrm>
            <a:off x="214313" y="3930848"/>
            <a:ext cx="8715375" cy="678656"/>
          </a:xfrm>
          <a:prstGeom prst="roundRect">
            <a:avLst>
              <a:gd name="adj" fmla="val 4255"/>
            </a:avLst>
          </a:prstGeom>
          <a:solidFill>
            <a:srgbClr val="FAF9F5"/>
          </a:solidFill>
          <a:ln w="6191">
            <a:solidFill>
              <a:srgbClr val="E8E6DC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3225347" y="4038005"/>
            <a:ext cx="2693194" cy="464344"/>
          </a:xfrm>
          <a:prstGeom prst="rect">
            <a:avLst/>
          </a:prstGeom>
          <a:ln/>
        </p:spPr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225347" y="4038005"/>
            <a:ext cx="2693194" cy="464344"/>
          </a:xfrm>
          <a:prstGeom prst="rect">
            <a:avLst/>
          </a:prstGeom>
        </p:spPr>
      </p:pic>
      <p:sp>
        <p:nvSpPr>
          <p:cNvPr id="41" name="Shape 34"/>
          <p:cNvSpPr/>
          <p:nvPr/>
        </p:nvSpPr>
        <p:spPr>
          <a:xfrm>
            <a:off x="6087591" y="4038005"/>
            <a:ext cx="2693194" cy="464344"/>
          </a:xfrm>
          <a:prstGeom prst="rect">
            <a:avLst/>
          </a:prstGeom>
          <a:ln/>
        </p:spPr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087591" y="4038005"/>
            <a:ext cx="2693194" cy="464344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214313" y="383977"/>
            <a:ext cx="8715375" cy="27860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带农增收：120户人均月增收约1800元</a:t>
            </a:r>
            <a:endParaRPr lang="en-US" sz="1900" dirty="0"/>
          </a:p>
        </p:txBody>
      </p:sp>
      <p:sp>
        <p:nvSpPr>
          <p:cNvPr id="44" name="Text 36"/>
          <p:cNvSpPr/>
          <p:nvPr/>
        </p:nvSpPr>
        <p:spPr>
          <a:xfrm>
            <a:off x="214313" y="844748"/>
            <a:ext cx="8715375" cy="16430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首年60户、次年120户，人均月增收约1800元，测算月增收总额由10.8万元增至21.6万元。</a:t>
            </a:r>
            <a:endParaRPr lang="en-US" sz="800" dirty="0"/>
          </a:p>
        </p:txBody>
      </p:sp>
      <p:sp>
        <p:nvSpPr>
          <p:cNvPr id="45" name="Text 37"/>
          <p:cNvSpPr/>
          <p:nvPr/>
        </p:nvSpPr>
        <p:spPr>
          <a:xfrm>
            <a:off x="364387" y="1275159"/>
            <a:ext cx="914400" cy="135731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带动农户数（户）</a:t>
            </a:r>
            <a:endParaRPr lang="en-US" sz="900" dirty="0"/>
          </a:p>
        </p:txBody>
      </p:sp>
      <p:sp>
        <p:nvSpPr>
          <p:cNvPr id="46" name="Text 38"/>
          <p:cNvSpPr/>
          <p:nvPr/>
        </p:nvSpPr>
        <p:spPr>
          <a:xfrm>
            <a:off x="2274615" y="1243013"/>
            <a:ext cx="1928813" cy="200025"/>
          </a:xfrm>
          <a:prstGeom prst="roundRect">
            <a:avLst>
              <a:gd name="adj" fmla="val 57143"/>
            </a:avLst>
          </a:prstGeom>
          <a:solidFill>
            <a:srgbClr val="F0EEE6"/>
          </a:solidFill>
          <a:ln/>
        </p:spPr>
        <p:txBody>
          <a:bodyPr wrap="none" lIns="72866" tIns="30361" rIns="72866" bIns="30361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第二年为第一年2倍 · +60户 · +100%（测算）</a:t>
            </a:r>
            <a:endParaRPr lang="en-US" sz="700" dirty="0"/>
          </a:p>
        </p:txBody>
      </p:sp>
      <p:sp>
        <p:nvSpPr>
          <p:cNvPr id="47" name="Text 39"/>
          <p:cNvSpPr/>
          <p:nvPr/>
        </p:nvSpPr>
        <p:spPr>
          <a:xfrm>
            <a:off x="4745236" y="1255068"/>
            <a:ext cx="4036219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人均月增收 · 申报口径给定值</a:t>
            </a:r>
            <a:endParaRPr lang="en-US" sz="700" dirty="0"/>
          </a:p>
        </p:txBody>
      </p:sp>
      <p:sp>
        <p:nvSpPr>
          <p:cNvPr id="48" name="Text 40"/>
          <p:cNvSpPr/>
          <p:nvPr/>
        </p:nvSpPr>
        <p:spPr>
          <a:xfrm>
            <a:off x="4745236" y="1425792"/>
            <a:ext cx="4278392" cy="30003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约1800</a:t>
            </a:r>
            <a:pPr algn="l" indent="0" marL="0">
              <a:buNone/>
            </a:pPr>
            <a:r>
              <a:rPr lang="en-US" sz="10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元／人·月</a:t>
            </a:r>
            <a:endParaRPr lang="en-US" sz="2100" dirty="0"/>
          </a:p>
        </p:txBody>
      </p:sp>
      <p:sp>
        <p:nvSpPr>
          <p:cNvPr id="49" name="Text 41"/>
          <p:cNvSpPr/>
          <p:nvPr/>
        </p:nvSpPr>
        <p:spPr>
          <a:xfrm>
            <a:off x="4745236" y="1767408"/>
            <a:ext cx="4036219" cy="135731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按件计酬、按月兑付，实际以质检合格件数结算</a:t>
            </a:r>
            <a:endParaRPr lang="en-US" sz="700" dirty="0"/>
          </a:p>
        </p:txBody>
      </p:sp>
      <p:sp>
        <p:nvSpPr>
          <p:cNvPr id="50" name="Text 42"/>
          <p:cNvSpPr/>
          <p:nvPr/>
        </p:nvSpPr>
        <p:spPr>
          <a:xfrm>
            <a:off x="4702373" y="2286893"/>
            <a:ext cx="4354116" cy="135731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增收测算表</a:t>
            </a:r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年值按稳定接单12个月折算</a:t>
            </a:r>
            <a:endParaRPr lang="en-US" sz="900" dirty="0"/>
          </a:p>
        </p:txBody>
      </p:sp>
      <p:sp>
        <p:nvSpPr>
          <p:cNvPr id="51" name="Text 43"/>
          <p:cNvSpPr/>
          <p:nvPr/>
        </p:nvSpPr>
        <p:spPr>
          <a:xfrm>
            <a:off x="4704159" y="2523306"/>
            <a:ext cx="1200150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口径</a:t>
            </a:r>
            <a:endParaRPr lang="en-US" sz="700" dirty="0"/>
          </a:p>
        </p:txBody>
      </p:sp>
      <p:sp>
        <p:nvSpPr>
          <p:cNvPr id="52" name="Text 44"/>
          <p:cNvSpPr/>
          <p:nvPr/>
        </p:nvSpPr>
        <p:spPr>
          <a:xfrm>
            <a:off x="5905202" y="2523306"/>
            <a:ext cx="1450181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首年（60户）</a:t>
            </a:r>
            <a:endParaRPr lang="en-US" sz="700" dirty="0"/>
          </a:p>
        </p:txBody>
      </p:sp>
      <p:sp>
        <p:nvSpPr>
          <p:cNvPr id="53" name="Text 45"/>
          <p:cNvSpPr/>
          <p:nvPr/>
        </p:nvSpPr>
        <p:spPr>
          <a:xfrm>
            <a:off x="7357170" y="2523306"/>
            <a:ext cx="1450181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第二年（120户）</a:t>
            </a:r>
            <a:endParaRPr lang="en-US" sz="700" dirty="0"/>
          </a:p>
        </p:txBody>
      </p:sp>
      <p:sp>
        <p:nvSpPr>
          <p:cNvPr id="54" name="Text 46"/>
          <p:cNvSpPr/>
          <p:nvPr/>
        </p:nvSpPr>
        <p:spPr>
          <a:xfrm>
            <a:off x="4704159" y="2750121"/>
            <a:ext cx="1200150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人均月增收</a:t>
            </a:r>
            <a:endParaRPr lang="en-US" sz="700" dirty="0"/>
          </a:p>
        </p:txBody>
      </p:sp>
      <p:sp>
        <p:nvSpPr>
          <p:cNvPr id="55" name="Text 47"/>
          <p:cNvSpPr/>
          <p:nvPr/>
        </p:nvSpPr>
        <p:spPr>
          <a:xfrm>
            <a:off x="5905202" y="2750121"/>
            <a:ext cx="1450181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约1800元/人·月</a:t>
            </a:r>
            <a:endParaRPr lang="en-US" sz="700" dirty="0"/>
          </a:p>
        </p:txBody>
      </p:sp>
      <p:sp>
        <p:nvSpPr>
          <p:cNvPr id="56" name="Text 48"/>
          <p:cNvSpPr/>
          <p:nvPr/>
        </p:nvSpPr>
        <p:spPr>
          <a:xfrm>
            <a:off x="7357170" y="2750121"/>
            <a:ext cx="1450181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约1800元/人·月</a:t>
            </a:r>
            <a:endParaRPr lang="en-US" sz="700" dirty="0"/>
          </a:p>
        </p:txBody>
      </p:sp>
      <p:sp>
        <p:nvSpPr>
          <p:cNvPr id="57" name="Text 49"/>
          <p:cNvSpPr/>
          <p:nvPr/>
        </p:nvSpPr>
        <p:spPr>
          <a:xfrm>
            <a:off x="4704159" y="2996580"/>
            <a:ext cx="1200150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月增收总额（测算）</a:t>
            </a:r>
            <a:endParaRPr lang="en-US" sz="700" dirty="0"/>
          </a:p>
        </p:txBody>
      </p:sp>
      <p:sp>
        <p:nvSpPr>
          <p:cNvPr id="58" name="Text 50"/>
          <p:cNvSpPr/>
          <p:nvPr/>
        </p:nvSpPr>
        <p:spPr>
          <a:xfrm>
            <a:off x="5905202" y="2996580"/>
            <a:ext cx="1450181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10.8万元/月（60×1800）</a:t>
            </a:r>
            <a:endParaRPr lang="en-US" sz="700" dirty="0"/>
          </a:p>
        </p:txBody>
      </p:sp>
      <p:sp>
        <p:nvSpPr>
          <p:cNvPr id="59" name="Text 51"/>
          <p:cNvSpPr/>
          <p:nvPr/>
        </p:nvSpPr>
        <p:spPr>
          <a:xfrm>
            <a:off x="7357170" y="2996580"/>
            <a:ext cx="1450181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21.6万元/月（120×1800）</a:t>
            </a:r>
            <a:endParaRPr lang="en-US" sz="700" dirty="0"/>
          </a:p>
        </p:txBody>
      </p:sp>
      <p:sp>
        <p:nvSpPr>
          <p:cNvPr id="60" name="Text 52"/>
          <p:cNvSpPr/>
          <p:nvPr/>
        </p:nvSpPr>
        <p:spPr>
          <a:xfrm>
            <a:off x="4704159" y="3243039"/>
            <a:ext cx="1200150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年增收总额（测算）</a:t>
            </a:r>
            <a:endParaRPr lang="en-US" sz="700" dirty="0"/>
          </a:p>
        </p:txBody>
      </p:sp>
      <p:sp>
        <p:nvSpPr>
          <p:cNvPr id="61" name="Text 53"/>
          <p:cNvSpPr/>
          <p:nvPr/>
        </p:nvSpPr>
        <p:spPr>
          <a:xfrm>
            <a:off x="5905202" y="3243039"/>
            <a:ext cx="1450181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129.6万元/年</a:t>
            </a:r>
            <a:endParaRPr lang="en-US" sz="700" dirty="0"/>
          </a:p>
        </p:txBody>
      </p:sp>
      <p:sp>
        <p:nvSpPr>
          <p:cNvPr id="62" name="Text 54"/>
          <p:cNvSpPr/>
          <p:nvPr/>
        </p:nvSpPr>
        <p:spPr>
          <a:xfrm>
            <a:off x="7357170" y="3243039"/>
            <a:ext cx="1450181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259.2万元/年</a:t>
            </a:r>
            <a:endParaRPr lang="en-US" sz="700" dirty="0"/>
          </a:p>
        </p:txBody>
      </p:sp>
      <p:sp>
        <p:nvSpPr>
          <p:cNvPr id="63" name="Text 55"/>
          <p:cNvSpPr/>
          <p:nvPr/>
        </p:nvSpPr>
        <p:spPr>
          <a:xfrm>
            <a:off x="4702373" y="3616914"/>
            <a:ext cx="4107656" cy="121444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敏感性口径：稳定接单10个月时为首年108万元、第二年216万元（测算），不作为既成实绩。</a:t>
            </a:r>
            <a:endParaRPr lang="en-US" sz="700" dirty="0"/>
          </a:p>
        </p:txBody>
      </p:sp>
      <p:sp>
        <p:nvSpPr>
          <p:cNvPr id="64" name="Text 56"/>
          <p:cNvSpPr/>
          <p:nvPr/>
        </p:nvSpPr>
        <p:spPr>
          <a:xfrm>
            <a:off x="363103" y="4038005"/>
            <a:ext cx="2693194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测算假设与考核</a:t>
            </a:r>
            <a:endParaRPr lang="en-US" sz="700" dirty="0"/>
          </a:p>
        </p:txBody>
      </p:sp>
      <p:sp>
        <p:nvSpPr>
          <p:cNvPr id="65" name="Text 57"/>
          <p:cNvSpPr/>
          <p:nvPr/>
        </p:nvSpPr>
        <p:spPr>
          <a:xfrm>
            <a:off x="363103" y="4221956"/>
            <a:ext cx="2693194" cy="27860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户均1人参与编织、满勤计件、单价稳定、订单持续；按季度考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核，凭证为计件结算单与按月兑付记录。</a:t>
            </a:r>
            <a:endParaRPr lang="en-US" sz="700" dirty="0"/>
          </a:p>
        </p:txBody>
      </p:sp>
      <p:sp>
        <p:nvSpPr>
          <p:cNvPr id="66" name="Text 58"/>
          <p:cNvSpPr/>
          <p:nvPr/>
        </p:nvSpPr>
        <p:spPr>
          <a:xfrm>
            <a:off x="3403941" y="4038005"/>
            <a:ext cx="2514600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优先吸纳与培训（规划口径）</a:t>
            </a:r>
            <a:endParaRPr lang="en-US" sz="700" dirty="0"/>
          </a:p>
        </p:txBody>
      </p:sp>
      <p:sp>
        <p:nvSpPr>
          <p:cNvPr id="67" name="Text 59"/>
          <p:cNvSpPr/>
          <p:nvPr/>
        </p:nvSpPr>
        <p:spPr>
          <a:xfrm>
            <a:off x="3403941" y="4221956"/>
            <a:ext cx="2514600" cy="27860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优先吸纳留守妇女、中老年劳动力、脱贫人口与监测对象；第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一年培训50人服务首年60户，缺口由合作社分批轮训补足。</a:t>
            </a:r>
            <a:endParaRPr lang="en-US" sz="700" dirty="0"/>
          </a:p>
        </p:txBody>
      </p:sp>
      <p:sp>
        <p:nvSpPr>
          <p:cNvPr id="68" name="Text 60"/>
          <p:cNvSpPr/>
          <p:nvPr/>
        </p:nvSpPr>
        <p:spPr>
          <a:xfrm>
            <a:off x="6266185" y="4038005"/>
            <a:ext cx="2514600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背景对标（口径不同，不混算）</a:t>
            </a:r>
            <a:endParaRPr lang="en-US" sz="700" dirty="0"/>
          </a:p>
        </p:txBody>
      </p:sp>
      <p:sp>
        <p:nvSpPr>
          <p:cNvPr id="69" name="Text 61"/>
          <p:cNvSpPr/>
          <p:nvPr/>
        </p:nvSpPr>
        <p:spPr>
          <a:xfrm>
            <a:off x="6266185" y="4221956"/>
            <a:ext cx="2514600" cy="27860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全国1.1万余家非遗工坊带动相关产业链120余万人就业增收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（新华社 2025）；典型工坊人均月增收1500—2200余元。</a:t>
            </a:r>
            <a:endParaRPr lang="en-US" sz="700" dirty="0"/>
          </a:p>
        </p:txBody>
      </p:sp>
      <p:sp>
        <p:nvSpPr>
          <p:cNvPr id="70" name="Text 62"/>
          <p:cNvSpPr/>
          <p:nvPr/>
        </p:nvSpPr>
        <p:spPr>
          <a:xfrm>
            <a:off x="214313" y="4664869"/>
            <a:ext cx="8715375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数据来源：申报口径给定值（60户、120户、约1800元/人·月、第一年培训50人）；月/年增收总额与增幅均为算术测算值，第三年带动口径以申报材料为准、不外推。</a:t>
            </a:r>
            <a:endParaRPr lang="en-US" sz="700" dirty="0"/>
          </a:p>
        </p:txBody>
      </p:sp>
      <p:sp>
        <p:nvSpPr>
          <p:cNvPr id="65535" name="wm:hwcld:2026-09-22T19:19:56:64984ecd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214313" y="746522"/>
            <a:ext cx="428625" cy="14288"/>
          </a:xfrm>
          <a:prstGeom prst="rect">
            <a:avLst/>
          </a:prstGeom>
          <a:solidFill>
            <a:srgbClr val="C96442"/>
          </a:solidFill>
          <a:ln/>
        </p:spPr>
      </p:sp>
      <p:sp>
        <p:nvSpPr>
          <p:cNvPr id="4" name="Shape 2"/>
          <p:cNvSpPr/>
          <p:nvPr/>
        </p:nvSpPr>
        <p:spPr>
          <a:xfrm>
            <a:off x="213085" y="1935956"/>
            <a:ext cx="1907381" cy="1385887"/>
          </a:xfrm>
          <a:prstGeom prst="roundRect">
            <a:avLst>
              <a:gd name="adj" fmla="val 4081"/>
            </a:avLst>
          </a:prstGeom>
          <a:solidFill>
            <a:srgbClr val="FAF9F5"/>
          </a:solidFill>
          <a:ln w="6191">
            <a:solidFill>
              <a:srgbClr val="F0EE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34528" y="2196257"/>
            <a:ext cx="1664494" cy="400050"/>
          </a:xfrm>
          <a:prstGeom prst="rect">
            <a:avLst/>
          </a:prstGeom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4528" y="2196257"/>
            <a:ext cx="1664494" cy="40005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232366" y="1693069"/>
            <a:ext cx="1907381" cy="1628775"/>
          </a:xfrm>
          <a:prstGeom prst="roundRect">
            <a:avLst>
              <a:gd name="adj" fmla="val 2955"/>
            </a:avLst>
          </a:prstGeom>
          <a:solidFill>
            <a:srgbClr val="FAF9F5"/>
          </a:solidFill>
          <a:ln w="6191">
            <a:solidFill>
              <a:srgbClr val="F0EEE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353810" y="1949128"/>
            <a:ext cx="1664494" cy="400050"/>
          </a:xfrm>
          <a:prstGeom prst="rect">
            <a:avLst/>
          </a:prstGeom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53810" y="1949128"/>
            <a:ext cx="1664494" cy="40005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251647" y="1450181"/>
            <a:ext cx="1907381" cy="1871663"/>
          </a:xfrm>
          <a:prstGeom prst="roundRect">
            <a:avLst>
              <a:gd name="adj" fmla="val 2238"/>
            </a:avLst>
          </a:prstGeom>
          <a:solidFill>
            <a:srgbClr val="FAF9F5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51647" y="1450181"/>
            <a:ext cx="1907381" cy="1871663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4387379" y="1693236"/>
            <a:ext cx="1650206" cy="357187"/>
          </a:xfrm>
          <a:prstGeom prst="rect">
            <a:avLst/>
          </a:prstGeom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387379" y="1693236"/>
            <a:ext cx="1650206" cy="357187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221456" y="3443288"/>
            <a:ext cx="421481" cy="100013"/>
          </a:xfrm>
          <a:custGeom>
            <a:avLst/>
            <a:gdLst/>
            <a:ahLst/>
            <a:cxnLst/>
            <a:rect l="l" t="t" r="r" b="b"/>
            <a:pathLst>
              <a:path w="421481" h="100013">
                <a:moveTo>
                  <a:pt x="0" y="100013"/>
                </a:moveTo>
                <a:lnTo>
                  <a:pt x="150019" y="100013"/>
                </a:lnTo>
                <a:lnTo>
                  <a:pt x="150019" y="50006"/>
                </a:lnTo>
                <a:lnTo>
                  <a:pt x="300038" y="50006"/>
                </a:lnTo>
                <a:lnTo>
                  <a:pt x="300038" y="0"/>
                </a:lnTo>
                <a:lnTo>
                  <a:pt x="421481" y="0"/>
                </a:lnTo>
              </a:path>
            </a:pathLst>
          </a:custGeom>
          <a:noFill/>
          <a:ln w="8890">
            <a:solidFill>
              <a:srgbClr val="C96442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642938" y="3413284"/>
            <a:ext cx="64294" cy="60007"/>
          </a:xfrm>
          <a:custGeom>
            <a:avLst/>
            <a:gdLst/>
            <a:ahLst/>
            <a:cxnLst/>
            <a:rect l="l" t="t" r="r" b="b"/>
            <a:pathLst>
              <a:path w="64294" h="60007">
                <a:moveTo>
                  <a:pt x="64294" y="30004"/>
                </a:moveTo>
                <a:lnTo>
                  <a:pt x="0" y="0"/>
                </a:lnTo>
                <a:lnTo>
                  <a:pt x="0" y="60007"/>
                </a:lnTo>
                <a:close/>
              </a:path>
            </a:pathLst>
          </a:custGeom>
          <a:solidFill>
            <a:srgbClr val="C96442"/>
          </a:solidFill>
          <a:ln/>
        </p:spPr>
      </p:sp>
      <p:sp>
        <p:nvSpPr>
          <p:cNvPr id="16" name="Shape 10"/>
          <p:cNvSpPr/>
          <p:nvPr/>
        </p:nvSpPr>
        <p:spPr>
          <a:xfrm>
            <a:off x="6386513" y="1645295"/>
            <a:ext cx="2543175" cy="450056"/>
          </a:xfrm>
          <a:prstGeom prst="roundRect">
            <a:avLst>
              <a:gd name="adj" fmla="val 9675"/>
            </a:avLst>
          </a:prstGeom>
          <a:solidFill>
            <a:srgbClr val="FAF9F5"/>
          </a:solidFill>
          <a:ln w="6191">
            <a:solidFill>
              <a:srgbClr val="F0EEE6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6386513" y="2135535"/>
            <a:ext cx="2543175" cy="450056"/>
          </a:xfrm>
          <a:prstGeom prst="roundRect">
            <a:avLst>
              <a:gd name="adj" fmla="val 9675"/>
            </a:avLst>
          </a:prstGeom>
          <a:solidFill>
            <a:srgbClr val="FAF9F5"/>
          </a:solidFill>
          <a:ln w="6191">
            <a:solidFill>
              <a:srgbClr val="F0EEE6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6386513" y="2625775"/>
            <a:ext cx="2543175" cy="450056"/>
          </a:xfrm>
          <a:prstGeom prst="roundRect">
            <a:avLst>
              <a:gd name="adj" fmla="val 9675"/>
            </a:avLst>
          </a:prstGeom>
          <a:solidFill>
            <a:srgbClr val="FAF9F5"/>
          </a:solidFill>
          <a:ln w="6191">
            <a:solidFill>
              <a:srgbClr val="F0EEE6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6386513" y="3116014"/>
            <a:ext cx="2543175" cy="450056"/>
          </a:xfrm>
          <a:prstGeom prst="roundRect">
            <a:avLst>
              <a:gd name="adj" fmla="val 9675"/>
            </a:avLst>
          </a:prstGeom>
          <a:solidFill>
            <a:srgbClr val="FAF9F5"/>
          </a:solidFill>
          <a:ln w="6191">
            <a:solidFill>
              <a:srgbClr val="E8E6DC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214313" y="3650456"/>
            <a:ext cx="8715375" cy="600075"/>
          </a:xfrm>
          <a:prstGeom prst="roundRect">
            <a:avLst>
              <a:gd name="adj" fmla="val 5442"/>
            </a:avLst>
          </a:prstGeom>
          <a:solidFill>
            <a:srgbClr val="30302E"/>
          </a:solidFill>
          <a:ln/>
        </p:spPr>
      </p:sp>
      <p:sp>
        <p:nvSpPr>
          <p:cNvPr id="21" name="Shape 15"/>
          <p:cNvSpPr/>
          <p:nvPr/>
        </p:nvSpPr>
        <p:spPr>
          <a:xfrm>
            <a:off x="3019351" y="3950494"/>
            <a:ext cx="128588" cy="0"/>
          </a:xfrm>
          <a:prstGeom prst="line">
            <a:avLst/>
          </a:prstGeom>
          <a:noFill/>
          <a:ln w="8890">
            <a:solidFill>
              <a:srgbClr val="D97757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3147938" y="3923348"/>
            <a:ext cx="38576" cy="54292"/>
          </a:xfrm>
          <a:custGeom>
            <a:avLst/>
            <a:gdLst/>
            <a:ahLst/>
            <a:cxnLst/>
            <a:rect l="l" t="t" r="r" b="b"/>
            <a:pathLst>
              <a:path w="38576" h="54292">
                <a:moveTo>
                  <a:pt x="38576" y="27146"/>
                </a:moveTo>
                <a:lnTo>
                  <a:pt x="0" y="0"/>
                </a:lnTo>
                <a:lnTo>
                  <a:pt x="0" y="54292"/>
                </a:lnTo>
                <a:close/>
              </a:path>
            </a:pathLst>
          </a:custGeom>
          <a:solidFill>
            <a:srgbClr val="D97757"/>
          </a:solidFill>
          <a:ln/>
        </p:spPr>
      </p:sp>
      <p:sp>
        <p:nvSpPr>
          <p:cNvPr id="23" name="Shape 17"/>
          <p:cNvSpPr/>
          <p:nvPr/>
        </p:nvSpPr>
        <p:spPr>
          <a:xfrm>
            <a:off x="5953088" y="3950494"/>
            <a:ext cx="128588" cy="0"/>
          </a:xfrm>
          <a:prstGeom prst="line">
            <a:avLst/>
          </a:prstGeom>
          <a:noFill/>
          <a:ln w="8890">
            <a:solidFill>
              <a:srgbClr val="D97757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081675" y="3923348"/>
            <a:ext cx="38576" cy="54292"/>
          </a:xfrm>
          <a:custGeom>
            <a:avLst/>
            <a:gdLst/>
            <a:ahLst/>
            <a:cxnLst/>
            <a:rect l="l" t="t" r="r" b="b"/>
            <a:pathLst>
              <a:path w="38576" h="54292">
                <a:moveTo>
                  <a:pt x="38576" y="27146"/>
                </a:moveTo>
                <a:lnTo>
                  <a:pt x="0" y="0"/>
                </a:lnTo>
                <a:lnTo>
                  <a:pt x="0" y="54292"/>
                </a:lnTo>
                <a:close/>
              </a:path>
            </a:pathLst>
          </a:custGeom>
          <a:solidFill>
            <a:srgbClr val="D97757"/>
          </a:solidFill>
          <a:ln/>
        </p:spPr>
      </p:sp>
      <p:sp>
        <p:nvSpPr>
          <p:cNvPr id="25" name="Text 19"/>
          <p:cNvSpPr/>
          <p:nvPr/>
        </p:nvSpPr>
        <p:spPr>
          <a:xfrm>
            <a:off x="214313" y="383977"/>
            <a:ext cx="8715375" cy="27860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三年规划：建阵地、扩产能、树品牌逐级递进</a:t>
            </a:r>
            <a:endParaRPr lang="en-US" sz="1900" dirty="0"/>
          </a:p>
        </p:txBody>
      </p:sp>
      <p:sp>
        <p:nvSpPr>
          <p:cNvPr id="26" name="Text 20"/>
          <p:cNvSpPr/>
          <p:nvPr/>
        </p:nvSpPr>
        <p:spPr>
          <a:xfrm>
            <a:off x="214313" y="1201936"/>
            <a:ext cx="9238298" cy="164306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三年三级台阶：</a:t>
            </a:r>
            <a:pPr algn="l" indent="0" marL="0">
              <a:buNone/>
            </a:pPr>
            <a:r>
              <a:rPr lang="en-US" sz="8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第一年建成800㎡工坊并培训50人，第二年产能扩至年产量10万件、计件农户120户，第三年打造品牌、入驻电商平台。</a:t>
            </a:r>
            <a:endParaRPr lang="en-US" sz="800" dirty="0"/>
          </a:p>
        </p:txBody>
      </p:sp>
      <p:sp>
        <p:nvSpPr>
          <p:cNvPr id="27" name="Text 21"/>
          <p:cNvSpPr/>
          <p:nvPr/>
        </p:nvSpPr>
        <p:spPr>
          <a:xfrm>
            <a:off x="335756" y="2007394"/>
            <a:ext cx="142875" cy="142875"/>
          </a:xfrm>
          <a:prstGeom prst="ellipse">
            <a:avLst/>
          </a:prstGeom>
          <a:solidFill>
            <a:srgbClr val="C96442"/>
          </a:solidFill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FAF9F5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1</a:t>
            </a:r>
            <a:endParaRPr lang="en-US" sz="700" dirty="0"/>
          </a:p>
        </p:txBody>
      </p:sp>
      <p:sp>
        <p:nvSpPr>
          <p:cNvPr id="28" name="Text 22"/>
          <p:cNvSpPr/>
          <p:nvPr/>
        </p:nvSpPr>
        <p:spPr>
          <a:xfrm>
            <a:off x="533995" y="2018109"/>
            <a:ext cx="271463" cy="121444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第一年</a:t>
            </a:r>
            <a:endParaRPr lang="en-US" sz="700" dirty="0"/>
          </a:p>
        </p:txBody>
      </p:sp>
      <p:sp>
        <p:nvSpPr>
          <p:cNvPr id="29" name="Text 23"/>
          <p:cNvSpPr/>
          <p:nvPr/>
        </p:nvSpPr>
        <p:spPr>
          <a:xfrm>
            <a:off x="860878" y="2014538"/>
            <a:ext cx="321469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建阵地</a:t>
            </a:r>
            <a:endParaRPr lang="en-US" sz="800" dirty="0"/>
          </a:p>
        </p:txBody>
      </p:sp>
      <p:sp>
        <p:nvSpPr>
          <p:cNvPr id="30" name="Text 24"/>
          <p:cNvSpPr/>
          <p:nvPr/>
        </p:nvSpPr>
        <p:spPr>
          <a:xfrm>
            <a:off x="336928" y="2241631"/>
            <a:ext cx="848106" cy="192881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800</a:t>
            </a:r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㎡</a:t>
            </a:r>
            <a:endParaRPr lang="en-US" sz="1400" dirty="0"/>
          </a:p>
        </p:txBody>
      </p:sp>
      <p:sp>
        <p:nvSpPr>
          <p:cNvPr id="31" name="Text 25"/>
          <p:cNvSpPr/>
          <p:nvPr/>
        </p:nvSpPr>
        <p:spPr>
          <a:xfrm>
            <a:off x="336928" y="2450920"/>
            <a:ext cx="800100" cy="100012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工坊建筑面积</a:t>
            </a:r>
            <a:endParaRPr lang="en-US" sz="700" dirty="0"/>
          </a:p>
        </p:txBody>
      </p:sp>
      <p:sp>
        <p:nvSpPr>
          <p:cNvPr id="32" name="Text 26"/>
          <p:cNvSpPr/>
          <p:nvPr/>
        </p:nvSpPr>
        <p:spPr>
          <a:xfrm>
            <a:off x="1196522" y="2241631"/>
            <a:ext cx="848106" cy="192881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50</a:t>
            </a:r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人</a:t>
            </a:r>
            <a:endParaRPr lang="en-US" sz="1400" dirty="0"/>
          </a:p>
        </p:txBody>
      </p:sp>
      <p:sp>
        <p:nvSpPr>
          <p:cNvPr id="33" name="Text 27"/>
          <p:cNvSpPr/>
          <p:nvPr/>
        </p:nvSpPr>
        <p:spPr>
          <a:xfrm>
            <a:off x="1196522" y="2450920"/>
            <a:ext cx="800100" cy="100012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累计培训人数</a:t>
            </a:r>
            <a:endParaRPr lang="en-US" sz="700" dirty="0"/>
          </a:p>
        </p:txBody>
      </p:sp>
      <p:sp>
        <p:nvSpPr>
          <p:cNvPr id="34" name="Text 28"/>
          <p:cNvSpPr/>
          <p:nvPr/>
        </p:nvSpPr>
        <p:spPr>
          <a:xfrm>
            <a:off x="334528" y="2641178"/>
            <a:ext cx="1664494" cy="10715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支撑动作</a:t>
            </a:r>
            <a:endParaRPr lang="en-US" sz="700" dirty="0"/>
          </a:p>
        </p:txBody>
      </p:sp>
      <p:sp>
        <p:nvSpPr>
          <p:cNvPr id="35" name="Text 29"/>
          <p:cNvSpPr/>
          <p:nvPr/>
        </p:nvSpPr>
        <p:spPr>
          <a:xfrm>
            <a:off x="334528" y="2745767"/>
            <a:ext cx="1664494" cy="2428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工坊建设、设备进场，合作社集中培训与师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傅带徒</a:t>
            </a:r>
            <a:endParaRPr lang="en-US" sz="700" dirty="0"/>
          </a:p>
        </p:txBody>
      </p:sp>
      <p:sp>
        <p:nvSpPr>
          <p:cNvPr id="36" name="Text 30"/>
          <p:cNvSpPr/>
          <p:nvPr/>
        </p:nvSpPr>
        <p:spPr>
          <a:xfrm>
            <a:off x="334528" y="3033526"/>
            <a:ext cx="1664494" cy="10715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前置依赖</a:t>
            </a:r>
            <a:endParaRPr lang="en-US" sz="700" dirty="0"/>
          </a:p>
        </p:txBody>
      </p:sp>
      <p:sp>
        <p:nvSpPr>
          <p:cNvPr id="37" name="Text 31"/>
          <p:cNvSpPr/>
          <p:nvPr/>
        </p:nvSpPr>
        <p:spPr>
          <a:xfrm>
            <a:off x="334528" y="3137836"/>
            <a:ext cx="1664494" cy="1143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省级非遗技艺、12位师傅与首期60户基础</a:t>
            </a:r>
            <a:endParaRPr lang="en-US" sz="700" dirty="0"/>
          </a:p>
        </p:txBody>
      </p:sp>
      <p:sp>
        <p:nvSpPr>
          <p:cNvPr id="38" name="Text 32"/>
          <p:cNvSpPr/>
          <p:nvPr/>
        </p:nvSpPr>
        <p:spPr>
          <a:xfrm>
            <a:off x="2354982" y="1764506"/>
            <a:ext cx="142875" cy="142875"/>
          </a:xfrm>
          <a:prstGeom prst="ellipse">
            <a:avLst/>
          </a:prstGeom>
          <a:solidFill>
            <a:srgbClr val="C96442"/>
          </a:solidFill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FAF9F5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2</a:t>
            </a:r>
            <a:endParaRPr lang="en-US" sz="700" dirty="0"/>
          </a:p>
        </p:txBody>
      </p:sp>
      <p:sp>
        <p:nvSpPr>
          <p:cNvPr id="39" name="Text 33"/>
          <p:cNvSpPr/>
          <p:nvPr/>
        </p:nvSpPr>
        <p:spPr>
          <a:xfrm>
            <a:off x="2553221" y="1775222"/>
            <a:ext cx="271463" cy="121444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第二年</a:t>
            </a:r>
            <a:endParaRPr lang="en-US" sz="700" dirty="0"/>
          </a:p>
        </p:txBody>
      </p:sp>
      <p:sp>
        <p:nvSpPr>
          <p:cNvPr id="40" name="Text 34"/>
          <p:cNvSpPr/>
          <p:nvPr/>
        </p:nvSpPr>
        <p:spPr>
          <a:xfrm>
            <a:off x="2880103" y="1771650"/>
            <a:ext cx="321469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扩产能</a:t>
            </a:r>
            <a:endParaRPr lang="en-US" sz="800" dirty="0"/>
          </a:p>
        </p:txBody>
      </p:sp>
      <p:sp>
        <p:nvSpPr>
          <p:cNvPr id="41" name="Text 35"/>
          <p:cNvSpPr/>
          <p:nvPr/>
        </p:nvSpPr>
        <p:spPr>
          <a:xfrm>
            <a:off x="2356154" y="1994502"/>
            <a:ext cx="848106" cy="192881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10</a:t>
            </a:r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万件/年</a:t>
            </a:r>
            <a:endParaRPr lang="en-US" sz="1400" dirty="0"/>
          </a:p>
        </p:txBody>
      </p:sp>
      <p:sp>
        <p:nvSpPr>
          <p:cNvPr id="42" name="Text 36"/>
          <p:cNvSpPr/>
          <p:nvPr/>
        </p:nvSpPr>
        <p:spPr>
          <a:xfrm>
            <a:off x="2356154" y="2203791"/>
            <a:ext cx="800100" cy="100012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年产量达产口径</a:t>
            </a:r>
            <a:endParaRPr lang="en-US" sz="700" dirty="0"/>
          </a:p>
        </p:txBody>
      </p:sp>
      <p:sp>
        <p:nvSpPr>
          <p:cNvPr id="43" name="Text 37"/>
          <p:cNvSpPr/>
          <p:nvPr/>
        </p:nvSpPr>
        <p:spPr>
          <a:xfrm>
            <a:off x="3215804" y="1994502"/>
            <a:ext cx="848106" cy="192881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120</a:t>
            </a:r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户</a:t>
            </a:r>
            <a:endParaRPr lang="en-US" sz="1400" dirty="0"/>
          </a:p>
        </p:txBody>
      </p:sp>
      <p:sp>
        <p:nvSpPr>
          <p:cNvPr id="44" name="Text 38"/>
          <p:cNvSpPr/>
          <p:nvPr/>
        </p:nvSpPr>
        <p:spPr>
          <a:xfrm>
            <a:off x="3215804" y="2203791"/>
            <a:ext cx="800100" cy="100012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计件农户数</a:t>
            </a:r>
            <a:endParaRPr lang="en-US" sz="700" dirty="0"/>
          </a:p>
        </p:txBody>
      </p:sp>
      <p:sp>
        <p:nvSpPr>
          <p:cNvPr id="45" name="Text 39"/>
          <p:cNvSpPr/>
          <p:nvPr/>
        </p:nvSpPr>
        <p:spPr>
          <a:xfrm>
            <a:off x="2353810" y="2389808"/>
            <a:ext cx="1664494" cy="10715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支撑动作</a:t>
            </a:r>
            <a:endParaRPr lang="en-US" sz="700" dirty="0"/>
          </a:p>
        </p:txBody>
      </p:sp>
      <p:sp>
        <p:nvSpPr>
          <p:cNvPr id="46" name="Text 40"/>
          <p:cNvSpPr/>
          <p:nvPr/>
        </p:nvSpPr>
        <p:spPr>
          <a:xfrm>
            <a:off x="2353810" y="2494397"/>
            <a:ext cx="1664494" cy="2428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原料统一采购扩量、计件农户由60户扩至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120户、质检与工序标准化</a:t>
            </a:r>
            <a:endParaRPr lang="en-US" sz="700" dirty="0"/>
          </a:p>
        </p:txBody>
      </p:sp>
      <p:sp>
        <p:nvSpPr>
          <p:cNvPr id="47" name="Text 41"/>
          <p:cNvSpPr/>
          <p:nvPr/>
        </p:nvSpPr>
        <p:spPr>
          <a:xfrm>
            <a:off x="2353810" y="2777914"/>
            <a:ext cx="1664494" cy="10715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前置依赖</a:t>
            </a:r>
            <a:endParaRPr lang="en-US" sz="700" dirty="0"/>
          </a:p>
        </p:txBody>
      </p:sp>
      <p:sp>
        <p:nvSpPr>
          <p:cNvPr id="48" name="Text 42"/>
          <p:cNvSpPr/>
          <p:nvPr/>
        </p:nvSpPr>
        <p:spPr>
          <a:xfrm>
            <a:off x="2353810" y="2882224"/>
            <a:ext cx="1664494" cy="1143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第一年800㎡工坊投用＋50人培训完成</a:t>
            </a:r>
            <a:endParaRPr lang="en-US" sz="700" dirty="0"/>
          </a:p>
        </p:txBody>
      </p:sp>
      <p:sp>
        <p:nvSpPr>
          <p:cNvPr id="49" name="Text 43"/>
          <p:cNvSpPr/>
          <p:nvPr/>
        </p:nvSpPr>
        <p:spPr>
          <a:xfrm>
            <a:off x="2353810" y="3036875"/>
            <a:ext cx="1664494" cy="214313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计件农户与年产量10万件为规划匹配关系，不作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单产承诺</a:t>
            </a:r>
            <a:endParaRPr lang="en-US" sz="700" dirty="0"/>
          </a:p>
        </p:txBody>
      </p:sp>
      <p:sp>
        <p:nvSpPr>
          <p:cNvPr id="50" name="Text 44"/>
          <p:cNvSpPr/>
          <p:nvPr/>
        </p:nvSpPr>
        <p:spPr>
          <a:xfrm>
            <a:off x="4388607" y="1521619"/>
            <a:ext cx="142875" cy="142875"/>
          </a:xfrm>
          <a:prstGeom prst="ellipse">
            <a:avLst/>
          </a:prstGeom>
          <a:solidFill>
            <a:srgbClr val="C96442"/>
          </a:solidFill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FAF9F5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3</a:t>
            </a:r>
            <a:endParaRPr lang="en-US" sz="700" dirty="0"/>
          </a:p>
        </p:txBody>
      </p:sp>
      <p:sp>
        <p:nvSpPr>
          <p:cNvPr id="51" name="Text 45"/>
          <p:cNvSpPr/>
          <p:nvPr/>
        </p:nvSpPr>
        <p:spPr>
          <a:xfrm>
            <a:off x="4586846" y="1532334"/>
            <a:ext cx="271463" cy="121444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第三年</a:t>
            </a:r>
            <a:endParaRPr lang="en-US" sz="700" dirty="0"/>
          </a:p>
        </p:txBody>
      </p:sp>
      <p:sp>
        <p:nvSpPr>
          <p:cNvPr id="52" name="Text 46"/>
          <p:cNvSpPr/>
          <p:nvPr/>
        </p:nvSpPr>
        <p:spPr>
          <a:xfrm>
            <a:off x="4913728" y="1528763"/>
            <a:ext cx="642938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树品牌拓渠道</a:t>
            </a:r>
            <a:endParaRPr lang="en-US" sz="800" dirty="0"/>
          </a:p>
        </p:txBody>
      </p:sp>
      <p:sp>
        <p:nvSpPr>
          <p:cNvPr id="53" name="Text 47"/>
          <p:cNvSpPr/>
          <p:nvPr/>
        </p:nvSpPr>
        <p:spPr>
          <a:xfrm>
            <a:off x="4389779" y="1738610"/>
            <a:ext cx="792956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自有品牌</a:t>
            </a:r>
            <a:endParaRPr lang="en-US" sz="900" dirty="0"/>
          </a:p>
        </p:txBody>
      </p:sp>
      <p:sp>
        <p:nvSpPr>
          <p:cNvPr id="54" name="Text 48"/>
          <p:cNvSpPr/>
          <p:nvPr/>
        </p:nvSpPr>
        <p:spPr>
          <a:xfrm>
            <a:off x="4389779" y="1904870"/>
            <a:ext cx="792956" cy="100012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品牌打造</a:t>
            </a:r>
            <a:endParaRPr lang="en-US" sz="700" dirty="0"/>
          </a:p>
        </p:txBody>
      </p:sp>
      <p:sp>
        <p:nvSpPr>
          <p:cNvPr id="55" name="Text 49"/>
          <p:cNvSpPr/>
          <p:nvPr/>
        </p:nvSpPr>
        <p:spPr>
          <a:xfrm>
            <a:off x="5242229" y="1738610"/>
            <a:ext cx="792956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电商平台入驻</a:t>
            </a:r>
            <a:endParaRPr lang="en-US" sz="900" dirty="0"/>
          </a:p>
        </p:txBody>
      </p:sp>
      <p:sp>
        <p:nvSpPr>
          <p:cNvPr id="56" name="Text 50"/>
          <p:cNvSpPr/>
          <p:nvPr/>
        </p:nvSpPr>
        <p:spPr>
          <a:xfrm>
            <a:off x="5242229" y="1904870"/>
            <a:ext cx="792956" cy="100012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外销渠道拓展</a:t>
            </a:r>
            <a:endParaRPr lang="en-US" sz="700" dirty="0"/>
          </a:p>
        </p:txBody>
      </p:sp>
      <p:sp>
        <p:nvSpPr>
          <p:cNvPr id="57" name="Text 51"/>
          <p:cNvSpPr/>
          <p:nvPr/>
        </p:nvSpPr>
        <p:spPr>
          <a:xfrm>
            <a:off x="4387379" y="2078050"/>
            <a:ext cx="1650206" cy="10715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支撑动作</a:t>
            </a:r>
            <a:endParaRPr lang="en-US" sz="700" dirty="0"/>
          </a:p>
        </p:txBody>
      </p:sp>
      <p:sp>
        <p:nvSpPr>
          <p:cNvPr id="58" name="Text 52"/>
          <p:cNvSpPr/>
          <p:nvPr/>
        </p:nvSpPr>
        <p:spPr>
          <a:xfrm>
            <a:off x="4387379" y="2182639"/>
            <a:ext cx="1650206" cy="2428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产品设计与品牌包装、电商店铺开设与运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营、参加展示展销与非遗购物节</a:t>
            </a:r>
            <a:endParaRPr lang="en-US" sz="700" dirty="0"/>
          </a:p>
        </p:txBody>
      </p:sp>
      <p:sp>
        <p:nvSpPr>
          <p:cNvPr id="59" name="Text 53"/>
          <p:cNvSpPr/>
          <p:nvPr/>
        </p:nvSpPr>
        <p:spPr>
          <a:xfrm>
            <a:off x="4387379" y="2453320"/>
            <a:ext cx="1650206" cy="10715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前置依赖</a:t>
            </a:r>
            <a:endParaRPr lang="en-US" sz="700" dirty="0"/>
          </a:p>
        </p:txBody>
      </p:sp>
      <p:sp>
        <p:nvSpPr>
          <p:cNvPr id="60" name="Text 54"/>
          <p:cNvSpPr/>
          <p:nvPr/>
        </p:nvSpPr>
        <p:spPr>
          <a:xfrm>
            <a:off x="4387379" y="2557630"/>
            <a:ext cx="1650206" cy="1143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第二年年产量10万件的稳定供货能力</a:t>
            </a:r>
            <a:endParaRPr lang="en-US" sz="700" dirty="0"/>
          </a:p>
        </p:txBody>
      </p:sp>
      <p:sp>
        <p:nvSpPr>
          <p:cNvPr id="61" name="Text 55"/>
          <p:cNvSpPr/>
          <p:nvPr/>
        </p:nvSpPr>
        <p:spPr>
          <a:xfrm>
            <a:off x="4387379" y="2699445"/>
            <a:ext cx="1650206" cy="10715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政策通道</a:t>
            </a:r>
            <a:endParaRPr lang="en-US" sz="700" dirty="0"/>
          </a:p>
        </p:txBody>
      </p:sp>
      <p:sp>
        <p:nvSpPr>
          <p:cNvPr id="62" name="Text 56"/>
          <p:cNvSpPr/>
          <p:nvPr/>
        </p:nvSpPr>
        <p:spPr>
          <a:xfrm>
            <a:off x="4387379" y="2804368"/>
            <a:ext cx="1650206" cy="214313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文旅部持续推动非遗工坊建设，支持通过非遗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购物节、电商平台拓展销售渠道</a:t>
            </a:r>
            <a:endParaRPr lang="en-US" sz="700" dirty="0"/>
          </a:p>
        </p:txBody>
      </p:sp>
      <p:sp>
        <p:nvSpPr>
          <p:cNvPr id="63" name="Text 57"/>
          <p:cNvSpPr/>
          <p:nvPr/>
        </p:nvSpPr>
        <p:spPr>
          <a:xfrm>
            <a:off x="4387379" y="3049153"/>
            <a:ext cx="1650206" cy="20002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销售额与店铺数量目标由年度经营计划细化，本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阶段不作承诺</a:t>
            </a:r>
            <a:endParaRPr lang="en-US" sz="700" dirty="0"/>
          </a:p>
        </p:txBody>
      </p:sp>
      <p:sp>
        <p:nvSpPr>
          <p:cNvPr id="64" name="Text 58"/>
          <p:cNvSpPr/>
          <p:nvPr/>
        </p:nvSpPr>
        <p:spPr>
          <a:xfrm>
            <a:off x="798816" y="3414657"/>
            <a:ext cx="4193381" cy="11430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时间轴贯穿三年：后一阶段以前一阶段产出为前提，工坊与技能人才 → 产能 → 品牌与渠道，逐级递进、不可倒置。</a:t>
            </a:r>
            <a:endParaRPr lang="en-US" sz="700" dirty="0"/>
          </a:p>
        </p:txBody>
      </p:sp>
      <p:sp>
        <p:nvSpPr>
          <p:cNvPr id="65" name="Text 59"/>
          <p:cNvSpPr/>
          <p:nvPr/>
        </p:nvSpPr>
        <p:spPr>
          <a:xfrm>
            <a:off x="6386568" y="1450851"/>
            <a:ext cx="914400" cy="135731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里程碑与考核节点</a:t>
            </a:r>
            <a:endParaRPr lang="en-US" sz="900" dirty="0"/>
          </a:p>
        </p:txBody>
      </p:sp>
      <p:sp>
        <p:nvSpPr>
          <p:cNvPr id="66" name="Text 60"/>
          <p:cNvSpPr/>
          <p:nvPr/>
        </p:nvSpPr>
        <p:spPr>
          <a:xfrm>
            <a:off x="7358174" y="1469827"/>
            <a:ext cx="1414463" cy="121444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只写年度节点，不写开工月份与具体日期</a:t>
            </a:r>
            <a:endParaRPr lang="en-US" sz="700" dirty="0"/>
          </a:p>
        </p:txBody>
      </p:sp>
      <p:sp>
        <p:nvSpPr>
          <p:cNvPr id="67" name="Text 61"/>
          <p:cNvSpPr/>
          <p:nvPr/>
        </p:nvSpPr>
        <p:spPr>
          <a:xfrm>
            <a:off x="6479437" y="1686037"/>
            <a:ext cx="357187" cy="1143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第一年末</a:t>
            </a:r>
            <a:endParaRPr lang="en-US" sz="700" dirty="0"/>
          </a:p>
        </p:txBody>
      </p:sp>
      <p:sp>
        <p:nvSpPr>
          <p:cNvPr id="68" name="Text 62"/>
          <p:cNvSpPr/>
          <p:nvPr/>
        </p:nvSpPr>
        <p:spPr>
          <a:xfrm>
            <a:off x="6894109" y="1694408"/>
            <a:ext cx="1314450" cy="10715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工坊建成投用 · 培训台账与考核记录</a:t>
            </a:r>
            <a:endParaRPr lang="en-US" sz="700" dirty="0"/>
          </a:p>
        </p:txBody>
      </p:sp>
      <p:sp>
        <p:nvSpPr>
          <p:cNvPr id="69" name="Text 63"/>
          <p:cNvSpPr/>
          <p:nvPr/>
        </p:nvSpPr>
        <p:spPr>
          <a:xfrm>
            <a:off x="6479381" y="1822549"/>
            <a:ext cx="2357438" cy="107156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考核：800㎡建成投用、培训50人完成</a:t>
            </a:r>
            <a:endParaRPr lang="en-US" sz="700" dirty="0"/>
          </a:p>
        </p:txBody>
      </p:sp>
      <p:sp>
        <p:nvSpPr>
          <p:cNvPr id="70" name="Text 64"/>
          <p:cNvSpPr/>
          <p:nvPr/>
        </p:nvSpPr>
        <p:spPr>
          <a:xfrm>
            <a:off x="6479381" y="1951974"/>
            <a:ext cx="2357438" cy="100012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责任：公司（建设、设备）＋合作社（培训、师傅带徒）</a:t>
            </a:r>
            <a:endParaRPr lang="en-US" sz="700" dirty="0"/>
          </a:p>
        </p:txBody>
      </p:sp>
      <p:sp>
        <p:nvSpPr>
          <p:cNvPr id="71" name="Text 65"/>
          <p:cNvSpPr/>
          <p:nvPr/>
        </p:nvSpPr>
        <p:spPr>
          <a:xfrm>
            <a:off x="6479437" y="2176276"/>
            <a:ext cx="357187" cy="1143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第二年末</a:t>
            </a:r>
            <a:endParaRPr lang="en-US" sz="700" dirty="0"/>
          </a:p>
        </p:txBody>
      </p:sp>
      <p:sp>
        <p:nvSpPr>
          <p:cNvPr id="72" name="Text 66"/>
          <p:cNvSpPr/>
          <p:nvPr/>
        </p:nvSpPr>
        <p:spPr>
          <a:xfrm>
            <a:off x="6894109" y="2184648"/>
            <a:ext cx="1314450" cy="10715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产能达产记录 · 计件结算与质检台账</a:t>
            </a:r>
            <a:endParaRPr lang="en-US" sz="700" dirty="0"/>
          </a:p>
        </p:txBody>
      </p:sp>
      <p:sp>
        <p:nvSpPr>
          <p:cNvPr id="73" name="Text 67"/>
          <p:cNvSpPr/>
          <p:nvPr/>
        </p:nvSpPr>
        <p:spPr>
          <a:xfrm>
            <a:off x="6479381" y="2312789"/>
            <a:ext cx="2357438" cy="107156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考核：年产量10万件、计件农户120户</a:t>
            </a:r>
            <a:endParaRPr lang="en-US" sz="700" dirty="0"/>
          </a:p>
        </p:txBody>
      </p:sp>
      <p:sp>
        <p:nvSpPr>
          <p:cNvPr id="74" name="Text 68"/>
          <p:cNvSpPr/>
          <p:nvPr/>
        </p:nvSpPr>
        <p:spPr>
          <a:xfrm>
            <a:off x="6479381" y="2442214"/>
            <a:ext cx="2357438" cy="100012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责任：合作社（采购、质检）＋公司（排产、销售）</a:t>
            </a:r>
            <a:endParaRPr lang="en-US" sz="700" dirty="0"/>
          </a:p>
        </p:txBody>
      </p:sp>
      <p:sp>
        <p:nvSpPr>
          <p:cNvPr id="75" name="Text 69"/>
          <p:cNvSpPr/>
          <p:nvPr/>
        </p:nvSpPr>
        <p:spPr>
          <a:xfrm>
            <a:off x="6479437" y="2666516"/>
            <a:ext cx="357187" cy="1143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第三年末</a:t>
            </a:r>
            <a:endParaRPr lang="en-US" sz="700" dirty="0"/>
          </a:p>
        </p:txBody>
      </p:sp>
      <p:sp>
        <p:nvSpPr>
          <p:cNvPr id="76" name="Text 70"/>
          <p:cNvSpPr/>
          <p:nvPr/>
        </p:nvSpPr>
        <p:spPr>
          <a:xfrm>
            <a:off x="6892323" y="2674888"/>
            <a:ext cx="1235869" cy="10715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品牌物料 · 电商平台店铺开设证明</a:t>
            </a:r>
            <a:endParaRPr lang="en-US" sz="700" dirty="0"/>
          </a:p>
        </p:txBody>
      </p:sp>
      <p:sp>
        <p:nvSpPr>
          <p:cNvPr id="77" name="Text 71"/>
          <p:cNvSpPr/>
          <p:nvPr/>
        </p:nvSpPr>
        <p:spPr>
          <a:xfrm>
            <a:off x="6479381" y="2803029"/>
            <a:ext cx="2357438" cy="107156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考核：品牌形成并入驻电商平台</a:t>
            </a:r>
            <a:endParaRPr lang="en-US" sz="700" dirty="0"/>
          </a:p>
        </p:txBody>
      </p:sp>
      <p:sp>
        <p:nvSpPr>
          <p:cNvPr id="78" name="Text 72"/>
          <p:cNvSpPr/>
          <p:nvPr/>
        </p:nvSpPr>
        <p:spPr>
          <a:xfrm>
            <a:off x="6479381" y="2932454"/>
            <a:ext cx="2357438" cy="100012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责任：公司（品牌、电商运营）</a:t>
            </a:r>
            <a:endParaRPr lang="en-US" sz="700" dirty="0"/>
          </a:p>
        </p:txBody>
      </p:sp>
      <p:sp>
        <p:nvSpPr>
          <p:cNvPr id="79" name="Text 73"/>
          <p:cNvSpPr/>
          <p:nvPr/>
        </p:nvSpPr>
        <p:spPr>
          <a:xfrm>
            <a:off x="6479437" y="3156756"/>
            <a:ext cx="357187" cy="1143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三年贯穿</a:t>
            </a:r>
            <a:endParaRPr lang="en-US" sz="700" dirty="0"/>
          </a:p>
        </p:txBody>
      </p:sp>
      <p:sp>
        <p:nvSpPr>
          <p:cNvPr id="80" name="Text 74"/>
          <p:cNvSpPr/>
          <p:nvPr/>
        </p:nvSpPr>
        <p:spPr>
          <a:xfrm>
            <a:off x="6893830" y="3165128"/>
            <a:ext cx="1314450" cy="10715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专账核算、按进度拨付、验收后结算</a:t>
            </a:r>
            <a:endParaRPr lang="en-US" sz="700" dirty="0"/>
          </a:p>
        </p:txBody>
      </p:sp>
      <p:sp>
        <p:nvSpPr>
          <p:cNvPr id="81" name="Text 75"/>
          <p:cNvSpPr/>
          <p:nvPr/>
        </p:nvSpPr>
        <p:spPr>
          <a:xfrm>
            <a:off x="6479381" y="3293269"/>
            <a:ext cx="2357438" cy="107156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考核：人均月增收约1800元、总投资280万元按科目执行</a:t>
            </a:r>
            <a:endParaRPr lang="en-US" sz="700" dirty="0"/>
          </a:p>
        </p:txBody>
      </p:sp>
      <p:sp>
        <p:nvSpPr>
          <p:cNvPr id="82" name="Text 76"/>
          <p:cNvSpPr/>
          <p:nvPr/>
        </p:nvSpPr>
        <p:spPr>
          <a:xfrm>
            <a:off x="6479381" y="3422693"/>
            <a:ext cx="2357438" cy="100012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责任：公司＋县级主管部门监督，年度绩效报告</a:t>
            </a:r>
            <a:endParaRPr lang="en-US" sz="700" dirty="0"/>
          </a:p>
        </p:txBody>
      </p:sp>
      <p:sp>
        <p:nvSpPr>
          <p:cNvPr id="83" name="Text 77"/>
          <p:cNvSpPr/>
          <p:nvPr/>
        </p:nvSpPr>
        <p:spPr>
          <a:xfrm>
            <a:off x="384535" y="3686621"/>
            <a:ext cx="2507456" cy="1143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D97757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建阵地 · 第一年</a:t>
            </a:r>
            <a:endParaRPr lang="en-US" sz="700" dirty="0"/>
          </a:p>
        </p:txBody>
      </p:sp>
      <p:sp>
        <p:nvSpPr>
          <p:cNvPr id="84" name="Text 78"/>
          <p:cNvSpPr/>
          <p:nvPr/>
        </p:nvSpPr>
        <p:spPr>
          <a:xfrm>
            <a:off x="384535" y="3830836"/>
            <a:ext cx="2507456" cy="1143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FAF9F5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形成生产场地与技能人才，支撑后两级台阶</a:t>
            </a:r>
            <a:endParaRPr lang="en-US" sz="700" dirty="0"/>
          </a:p>
        </p:txBody>
      </p:sp>
      <p:sp>
        <p:nvSpPr>
          <p:cNvPr id="85" name="Text 79"/>
          <p:cNvSpPr/>
          <p:nvPr/>
        </p:nvSpPr>
        <p:spPr>
          <a:xfrm>
            <a:off x="384535" y="3973823"/>
            <a:ext cx="2507456" cy="10715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B0AEA5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无工坊则集中培训与标准化生产无处落地</a:t>
            </a:r>
            <a:endParaRPr lang="en-US" sz="700" dirty="0"/>
          </a:p>
        </p:txBody>
      </p:sp>
      <p:sp>
        <p:nvSpPr>
          <p:cNvPr id="86" name="Text 80"/>
          <p:cNvSpPr/>
          <p:nvPr/>
        </p:nvSpPr>
        <p:spPr>
          <a:xfrm>
            <a:off x="384535" y="4108438"/>
            <a:ext cx="2507456" cy="10715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B0AEA5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科目：厂房120万 · 设备60万（进场）· 培训30万</a:t>
            </a:r>
            <a:endParaRPr lang="en-US" sz="700" dirty="0"/>
          </a:p>
        </p:txBody>
      </p:sp>
      <p:sp>
        <p:nvSpPr>
          <p:cNvPr id="87" name="Text 81"/>
          <p:cNvSpPr/>
          <p:nvPr/>
        </p:nvSpPr>
        <p:spPr>
          <a:xfrm>
            <a:off x="3318216" y="3686621"/>
            <a:ext cx="2507456" cy="1143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D97757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扩产能 · 第二年</a:t>
            </a:r>
            <a:endParaRPr lang="en-US" sz="700" dirty="0"/>
          </a:p>
        </p:txBody>
      </p:sp>
      <p:sp>
        <p:nvSpPr>
          <p:cNvPr id="88" name="Text 82"/>
          <p:cNvSpPr/>
          <p:nvPr/>
        </p:nvSpPr>
        <p:spPr>
          <a:xfrm>
            <a:off x="3318216" y="3830836"/>
            <a:ext cx="2507456" cy="1143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FAF9F5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形成年产量10万件的稳定供货能力</a:t>
            </a:r>
            <a:endParaRPr lang="en-US" sz="700" dirty="0"/>
          </a:p>
        </p:txBody>
      </p:sp>
      <p:sp>
        <p:nvSpPr>
          <p:cNvPr id="89" name="Text 83"/>
          <p:cNvSpPr/>
          <p:nvPr/>
        </p:nvSpPr>
        <p:spPr>
          <a:xfrm>
            <a:off x="3318216" y="3973823"/>
            <a:ext cx="2507456" cy="10715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B0AEA5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无产能与稳定供货则品牌与电商渠道无法维持</a:t>
            </a:r>
            <a:endParaRPr lang="en-US" sz="700" dirty="0"/>
          </a:p>
        </p:txBody>
      </p:sp>
      <p:sp>
        <p:nvSpPr>
          <p:cNvPr id="90" name="Text 84"/>
          <p:cNvSpPr/>
          <p:nvPr/>
        </p:nvSpPr>
        <p:spPr>
          <a:xfrm>
            <a:off x="3318216" y="4108438"/>
            <a:ext cx="2507456" cy="10715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B0AEA5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科目：设备60万（扩产）· 培训30万 · 流动30万</a:t>
            </a:r>
            <a:endParaRPr lang="en-US" sz="700" dirty="0"/>
          </a:p>
        </p:txBody>
      </p:sp>
      <p:sp>
        <p:nvSpPr>
          <p:cNvPr id="91" name="Text 85"/>
          <p:cNvSpPr/>
          <p:nvPr/>
        </p:nvSpPr>
        <p:spPr>
          <a:xfrm>
            <a:off x="6251897" y="3686621"/>
            <a:ext cx="2507456" cy="1143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D97757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树品牌拓渠道 · 第三年</a:t>
            </a:r>
            <a:endParaRPr lang="en-US" sz="700" dirty="0"/>
          </a:p>
        </p:txBody>
      </p:sp>
      <p:sp>
        <p:nvSpPr>
          <p:cNvPr id="92" name="Text 86"/>
          <p:cNvSpPr/>
          <p:nvPr/>
        </p:nvSpPr>
        <p:spPr>
          <a:xfrm>
            <a:off x="6251897" y="3830836"/>
            <a:ext cx="2507456" cy="1143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FAF9F5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形成外销出口与自我造血能力</a:t>
            </a:r>
            <a:endParaRPr lang="en-US" sz="700" dirty="0"/>
          </a:p>
        </p:txBody>
      </p:sp>
      <p:sp>
        <p:nvSpPr>
          <p:cNvPr id="93" name="Text 87"/>
          <p:cNvSpPr/>
          <p:nvPr/>
        </p:nvSpPr>
        <p:spPr>
          <a:xfrm>
            <a:off x="6251897" y="3973823"/>
            <a:ext cx="2507456" cy="10715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B0AEA5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无品牌与渠道则产能只能依赖本地零星订单</a:t>
            </a:r>
            <a:endParaRPr lang="en-US" sz="700" dirty="0"/>
          </a:p>
        </p:txBody>
      </p:sp>
      <p:sp>
        <p:nvSpPr>
          <p:cNvPr id="94" name="Text 88"/>
          <p:cNvSpPr/>
          <p:nvPr/>
        </p:nvSpPr>
        <p:spPr>
          <a:xfrm>
            <a:off x="6251897" y="4108438"/>
            <a:ext cx="2507456" cy="10715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B0AEA5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科目：品牌推广40万 · 流动资金30万（滚动）</a:t>
            </a:r>
            <a:endParaRPr lang="en-US" sz="700" dirty="0"/>
          </a:p>
        </p:txBody>
      </p:sp>
      <p:sp>
        <p:nvSpPr>
          <p:cNvPr id="95" name="Text 89"/>
          <p:cNvSpPr/>
          <p:nvPr/>
        </p:nvSpPr>
        <p:spPr>
          <a:xfrm>
            <a:off x="214313" y="4664869"/>
            <a:ext cx="8715375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资料来源：项目申报锁定口径（800㎡、培训50人、年产量10万件、计件农户120户、第三年品牌与电商平台入驻）；三年合计总投资280万元，阶段资金科目的逐项对应见次页。</a:t>
            </a:r>
            <a:endParaRPr lang="en-US" sz="700" dirty="0"/>
          </a:p>
        </p:txBody>
      </p:sp>
      <p:sp>
        <p:nvSpPr>
          <p:cNvPr id="65535" name="wm:hwcld:2026-09-22T19:19:56:64984ecd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214313" y="746522"/>
            <a:ext cx="428625" cy="14288"/>
          </a:xfrm>
          <a:prstGeom prst="rect">
            <a:avLst/>
          </a:prstGeom>
          <a:solidFill>
            <a:srgbClr val="C96442"/>
          </a:solidFill>
          <a:ln/>
        </p:spPr>
      </p:sp>
      <p:sp>
        <p:nvSpPr>
          <p:cNvPr id="4" name="Shape 2"/>
          <p:cNvSpPr/>
          <p:nvPr/>
        </p:nvSpPr>
        <p:spPr>
          <a:xfrm>
            <a:off x="214313" y="1360884"/>
            <a:ext cx="8715375" cy="1300163"/>
          </a:xfrm>
          <a:prstGeom prst="roundRect">
            <a:avLst>
              <a:gd name="adj" fmla="val 4637"/>
            </a:avLst>
          </a:prstGeom>
          <a:solidFill>
            <a:srgbClr val="FAF9F5"/>
          </a:solidFill>
          <a:ln w="6191">
            <a:solidFill>
              <a:srgbClr val="F0EEE6"/>
            </a:solidFill>
            <a:prstDash val="solid"/>
          </a:ln>
          <a:effectLst>
            <a:outerShdw sx="100000" sy="100000" kx="0" ky="0" algn="bl" rotWithShape="0" blurRad="171450" dist="28575" dir="5400000">
              <a:srgbClr val="000000">
                <a:alpha val="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112459" y="2544994"/>
            <a:ext cx="98938" cy="9538"/>
          </a:xfrm>
          <a:custGeom>
            <a:avLst/>
            <a:gdLst/>
            <a:ahLst/>
            <a:cxnLst/>
            <a:rect l="l" t="t" r="r" b="b"/>
            <a:pathLst>
              <a:path w="98938" h="9538">
                <a:moveTo>
                  <a:pt x="0" y="9538"/>
                </a:moveTo>
                <a:lnTo>
                  <a:pt x="41788" y="0"/>
                </a:lnTo>
                <a:lnTo>
                  <a:pt x="98938" y="0"/>
                </a:lnTo>
              </a:path>
            </a:pathLst>
          </a:custGeom>
          <a:noFill/>
          <a:ln w="6350">
            <a:solidFill>
              <a:srgbClr val="D1CFC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34141" y="3166162"/>
            <a:ext cx="66688" cy="41788"/>
          </a:xfrm>
          <a:custGeom>
            <a:avLst/>
            <a:gdLst/>
            <a:ahLst/>
            <a:cxnLst/>
            <a:rect l="l" t="t" r="r" b="b"/>
            <a:pathLst>
              <a:path w="66688" h="41788">
                <a:moveTo>
                  <a:pt x="66688" y="0"/>
                </a:moveTo>
                <a:lnTo>
                  <a:pt x="57150" y="41788"/>
                </a:lnTo>
                <a:lnTo>
                  <a:pt x="0" y="41788"/>
                </a:lnTo>
              </a:path>
            </a:pathLst>
          </a:custGeom>
          <a:noFill/>
          <a:ln w="6350">
            <a:solidFill>
              <a:srgbClr val="D1CFC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2810" y="2781849"/>
            <a:ext cx="63706" cy="9538"/>
          </a:xfrm>
          <a:custGeom>
            <a:avLst/>
            <a:gdLst/>
            <a:ahLst/>
            <a:cxnLst/>
            <a:rect l="l" t="t" r="r" b="b"/>
            <a:pathLst>
              <a:path w="63706" h="9538">
                <a:moveTo>
                  <a:pt x="63706" y="0"/>
                </a:moveTo>
                <a:lnTo>
                  <a:pt x="57150" y="9538"/>
                </a:lnTo>
                <a:lnTo>
                  <a:pt x="0" y="9538"/>
                </a:lnTo>
              </a:path>
            </a:pathLst>
          </a:custGeom>
          <a:noFill/>
          <a:ln w="6350">
            <a:solidFill>
              <a:srgbClr val="D1CFC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8679" y="2374933"/>
            <a:ext cx="63320" cy="21508"/>
          </a:xfrm>
          <a:custGeom>
            <a:avLst/>
            <a:gdLst/>
            <a:ahLst/>
            <a:cxnLst/>
            <a:rect l="l" t="t" r="r" b="b"/>
            <a:pathLst>
              <a:path w="63320" h="21508">
                <a:moveTo>
                  <a:pt x="63320" y="21508"/>
                </a:moveTo>
                <a:lnTo>
                  <a:pt x="57150" y="0"/>
                </a:lnTo>
                <a:lnTo>
                  <a:pt x="0" y="0"/>
                </a:lnTo>
              </a:path>
            </a:pathLst>
          </a:custGeom>
          <a:noFill/>
          <a:ln w="6350">
            <a:solidFill>
              <a:srgbClr val="D1CFC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74482" y="2145618"/>
            <a:ext cx="71306" cy="40457"/>
          </a:xfrm>
          <a:custGeom>
            <a:avLst/>
            <a:gdLst/>
            <a:ahLst/>
            <a:cxnLst/>
            <a:rect l="l" t="t" r="r" b="b"/>
            <a:pathLst>
              <a:path w="71306" h="40457">
                <a:moveTo>
                  <a:pt x="71306" y="40457"/>
                </a:moveTo>
                <a:lnTo>
                  <a:pt x="57150" y="0"/>
                </a:lnTo>
                <a:lnTo>
                  <a:pt x="0" y="0"/>
                </a:lnTo>
              </a:path>
            </a:pathLst>
          </a:custGeom>
          <a:noFill/>
          <a:ln w="6350">
            <a:solidFill>
              <a:srgbClr val="D1CFC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14488" y="2157413"/>
            <a:ext cx="510703" cy="970973"/>
          </a:xfrm>
          <a:custGeom>
            <a:avLst/>
            <a:gdLst/>
            <a:ahLst/>
            <a:cxnLst/>
            <a:rect l="l" t="t" r="r" b="b"/>
            <a:pathLst>
              <a:path w="510703" h="970973">
                <a:moveTo>
                  <a:pt x="0" y="0"/>
                </a:moveTo>
                <a:lnTo>
                  <a:pt x="35239" y="1217"/>
                </a:lnTo>
                <a:lnTo>
                  <a:pt x="70310" y="4862"/>
                </a:lnTo>
                <a:lnTo>
                  <a:pt x="105047" y="10919"/>
                </a:lnTo>
                <a:lnTo>
                  <a:pt x="139282" y="19357"/>
                </a:lnTo>
                <a:lnTo>
                  <a:pt x="172854" y="30137"/>
                </a:lnTo>
                <a:lnTo>
                  <a:pt x="205602" y="43208"/>
                </a:lnTo>
                <a:lnTo>
                  <a:pt x="237371" y="58506"/>
                </a:lnTo>
                <a:lnTo>
                  <a:pt x="268008" y="75961"/>
                </a:lnTo>
                <a:lnTo>
                  <a:pt x="297368" y="95487"/>
                </a:lnTo>
                <a:lnTo>
                  <a:pt x="325311" y="116992"/>
                </a:lnTo>
                <a:lnTo>
                  <a:pt x="351703" y="140374"/>
                </a:lnTo>
                <a:lnTo>
                  <a:pt x="376420" y="165521"/>
                </a:lnTo>
                <a:lnTo>
                  <a:pt x="399343" y="192313"/>
                </a:lnTo>
                <a:lnTo>
                  <a:pt x="420363" y="220623"/>
                </a:lnTo>
                <a:lnTo>
                  <a:pt x="439379" y="250316"/>
                </a:lnTo>
                <a:lnTo>
                  <a:pt x="456302" y="281249"/>
                </a:lnTo>
                <a:lnTo>
                  <a:pt x="471050" y="313277"/>
                </a:lnTo>
                <a:lnTo>
                  <a:pt x="483553" y="346246"/>
                </a:lnTo>
                <a:lnTo>
                  <a:pt x="493753" y="379999"/>
                </a:lnTo>
                <a:lnTo>
                  <a:pt x="501599" y="414375"/>
                </a:lnTo>
                <a:lnTo>
                  <a:pt x="507054" y="449211"/>
                </a:lnTo>
                <a:lnTo>
                  <a:pt x="510094" y="484340"/>
                </a:lnTo>
                <a:lnTo>
                  <a:pt x="510703" y="519595"/>
                </a:lnTo>
                <a:lnTo>
                  <a:pt x="508877" y="554807"/>
                </a:lnTo>
                <a:lnTo>
                  <a:pt x="504627" y="589811"/>
                </a:lnTo>
                <a:lnTo>
                  <a:pt x="497972" y="624437"/>
                </a:lnTo>
                <a:lnTo>
                  <a:pt x="488944" y="658522"/>
                </a:lnTo>
                <a:lnTo>
                  <a:pt x="477586" y="691903"/>
                </a:lnTo>
                <a:lnTo>
                  <a:pt x="463952" y="724420"/>
                </a:lnTo>
                <a:lnTo>
                  <a:pt x="448107" y="755920"/>
                </a:lnTo>
                <a:lnTo>
                  <a:pt x="430127" y="786251"/>
                </a:lnTo>
                <a:lnTo>
                  <a:pt x="410097" y="815270"/>
                </a:lnTo>
                <a:lnTo>
                  <a:pt x="388113" y="842837"/>
                </a:lnTo>
                <a:lnTo>
                  <a:pt x="364279" y="868822"/>
                </a:lnTo>
                <a:lnTo>
                  <a:pt x="338709" y="893101"/>
                </a:lnTo>
                <a:lnTo>
                  <a:pt x="311525" y="915558"/>
                </a:lnTo>
                <a:lnTo>
                  <a:pt x="282856" y="936086"/>
                </a:lnTo>
                <a:lnTo>
                  <a:pt x="252840" y="954587"/>
                </a:lnTo>
                <a:lnTo>
                  <a:pt x="221618" y="970973"/>
                </a:lnTo>
                <a:lnTo>
                  <a:pt x="161177" y="845466"/>
                </a:lnTo>
                <a:lnTo>
                  <a:pt x="183884" y="833548"/>
                </a:lnTo>
                <a:lnTo>
                  <a:pt x="205714" y="820093"/>
                </a:lnTo>
                <a:lnTo>
                  <a:pt x="226564" y="805164"/>
                </a:lnTo>
                <a:lnTo>
                  <a:pt x="246334" y="788831"/>
                </a:lnTo>
                <a:lnTo>
                  <a:pt x="264930" y="771174"/>
                </a:lnTo>
                <a:lnTo>
                  <a:pt x="282264" y="752276"/>
                </a:lnTo>
                <a:lnTo>
                  <a:pt x="298253" y="732227"/>
                </a:lnTo>
                <a:lnTo>
                  <a:pt x="312820" y="711122"/>
                </a:lnTo>
                <a:lnTo>
                  <a:pt x="325897" y="689063"/>
                </a:lnTo>
                <a:lnTo>
                  <a:pt x="337420" y="666154"/>
                </a:lnTo>
                <a:lnTo>
                  <a:pt x="347336" y="642505"/>
                </a:lnTo>
                <a:lnTo>
                  <a:pt x="355596" y="618228"/>
                </a:lnTo>
                <a:lnTo>
                  <a:pt x="362162" y="593439"/>
                </a:lnTo>
                <a:lnTo>
                  <a:pt x="367002" y="568256"/>
                </a:lnTo>
                <a:lnTo>
                  <a:pt x="370093" y="542799"/>
                </a:lnTo>
                <a:lnTo>
                  <a:pt x="371420" y="517190"/>
                </a:lnTo>
                <a:lnTo>
                  <a:pt x="370978" y="491550"/>
                </a:lnTo>
                <a:lnTo>
                  <a:pt x="368767" y="466002"/>
                </a:lnTo>
                <a:lnTo>
                  <a:pt x="364799" y="440667"/>
                </a:lnTo>
                <a:lnTo>
                  <a:pt x="359093" y="415666"/>
                </a:lnTo>
                <a:lnTo>
                  <a:pt x="351675" y="391118"/>
                </a:lnTo>
                <a:lnTo>
                  <a:pt x="342582" y="367141"/>
                </a:lnTo>
                <a:lnTo>
                  <a:pt x="331856" y="343848"/>
                </a:lnTo>
                <a:lnTo>
                  <a:pt x="319549" y="321351"/>
                </a:lnTo>
                <a:lnTo>
                  <a:pt x="305718" y="299756"/>
                </a:lnTo>
                <a:lnTo>
                  <a:pt x="290431" y="279167"/>
                </a:lnTo>
                <a:lnTo>
                  <a:pt x="273760" y="259682"/>
                </a:lnTo>
                <a:lnTo>
                  <a:pt x="255784" y="241393"/>
                </a:lnTo>
                <a:lnTo>
                  <a:pt x="236590" y="224388"/>
                </a:lnTo>
                <a:lnTo>
                  <a:pt x="216268" y="208748"/>
                </a:lnTo>
                <a:lnTo>
                  <a:pt x="194915" y="194547"/>
                </a:lnTo>
                <a:lnTo>
                  <a:pt x="172633" y="181853"/>
                </a:lnTo>
                <a:lnTo>
                  <a:pt x="149529" y="170727"/>
                </a:lnTo>
                <a:lnTo>
                  <a:pt x="125712" y="161221"/>
                </a:lnTo>
                <a:lnTo>
                  <a:pt x="101296" y="153381"/>
                </a:lnTo>
                <a:lnTo>
                  <a:pt x="76398" y="147244"/>
                </a:lnTo>
                <a:lnTo>
                  <a:pt x="51135" y="142839"/>
                </a:lnTo>
                <a:lnTo>
                  <a:pt x="25629" y="140188"/>
                </a:lnTo>
                <a:lnTo>
                  <a:pt x="0" y="139303"/>
                </a:lnTo>
                <a:close/>
              </a:path>
            </a:pathLst>
          </a:custGeom>
          <a:solidFill>
            <a:srgbClr val="C9644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15145" y="2899802"/>
            <a:ext cx="620961" cy="279117"/>
          </a:xfrm>
          <a:custGeom>
            <a:avLst/>
            <a:gdLst/>
            <a:ahLst/>
            <a:cxnLst/>
            <a:rect l="l" t="t" r="r" b="b"/>
            <a:pathLst>
              <a:path w="620961" h="279117">
                <a:moveTo>
                  <a:pt x="620961" y="228584"/>
                </a:moveTo>
                <a:lnTo>
                  <a:pt x="601408" y="237499"/>
                </a:lnTo>
                <a:lnTo>
                  <a:pt x="581497" y="245583"/>
                </a:lnTo>
                <a:lnTo>
                  <a:pt x="561264" y="252823"/>
                </a:lnTo>
                <a:lnTo>
                  <a:pt x="540744" y="259205"/>
                </a:lnTo>
                <a:lnTo>
                  <a:pt x="519974" y="264718"/>
                </a:lnTo>
                <a:lnTo>
                  <a:pt x="498991" y="269353"/>
                </a:lnTo>
                <a:lnTo>
                  <a:pt x="477831" y="273101"/>
                </a:lnTo>
                <a:lnTo>
                  <a:pt x="456532" y="275956"/>
                </a:lnTo>
                <a:lnTo>
                  <a:pt x="435132" y="277912"/>
                </a:lnTo>
                <a:lnTo>
                  <a:pt x="413668" y="278966"/>
                </a:lnTo>
                <a:lnTo>
                  <a:pt x="392179" y="279117"/>
                </a:lnTo>
                <a:lnTo>
                  <a:pt x="370703" y="278364"/>
                </a:lnTo>
                <a:lnTo>
                  <a:pt x="349278" y="276708"/>
                </a:lnTo>
                <a:lnTo>
                  <a:pt x="327941" y="274152"/>
                </a:lnTo>
                <a:lnTo>
                  <a:pt x="306730" y="270701"/>
                </a:lnTo>
                <a:lnTo>
                  <a:pt x="285684" y="266361"/>
                </a:lnTo>
                <a:lnTo>
                  <a:pt x="264838" y="261139"/>
                </a:lnTo>
                <a:lnTo>
                  <a:pt x="244231" y="255046"/>
                </a:lnTo>
                <a:lnTo>
                  <a:pt x="223898" y="248091"/>
                </a:lnTo>
                <a:lnTo>
                  <a:pt x="203876" y="240287"/>
                </a:lnTo>
                <a:lnTo>
                  <a:pt x="184200" y="231647"/>
                </a:lnTo>
                <a:lnTo>
                  <a:pt x="164905" y="222188"/>
                </a:lnTo>
                <a:lnTo>
                  <a:pt x="146024" y="211925"/>
                </a:lnTo>
                <a:lnTo>
                  <a:pt x="127592" y="200877"/>
                </a:lnTo>
                <a:lnTo>
                  <a:pt x="109641" y="189064"/>
                </a:lnTo>
                <a:lnTo>
                  <a:pt x="92203" y="176506"/>
                </a:lnTo>
                <a:lnTo>
                  <a:pt x="75308" y="163226"/>
                </a:lnTo>
                <a:lnTo>
                  <a:pt x="58987" y="149247"/>
                </a:lnTo>
                <a:lnTo>
                  <a:pt x="43269" y="134593"/>
                </a:lnTo>
                <a:lnTo>
                  <a:pt x="28180" y="119292"/>
                </a:lnTo>
                <a:lnTo>
                  <a:pt x="13749" y="103369"/>
                </a:lnTo>
                <a:lnTo>
                  <a:pt x="0" y="86854"/>
                </a:lnTo>
                <a:lnTo>
                  <a:pt x="108912" y="0"/>
                </a:lnTo>
                <a:lnTo>
                  <a:pt x="118911" y="12011"/>
                </a:lnTo>
                <a:lnTo>
                  <a:pt x="129407" y="23591"/>
                </a:lnTo>
                <a:lnTo>
                  <a:pt x="140380" y="34720"/>
                </a:lnTo>
                <a:lnTo>
                  <a:pt x="151812" y="45377"/>
                </a:lnTo>
                <a:lnTo>
                  <a:pt x="163682" y="55543"/>
                </a:lnTo>
                <a:lnTo>
                  <a:pt x="175969" y="65202"/>
                </a:lnTo>
                <a:lnTo>
                  <a:pt x="188651" y="74335"/>
                </a:lnTo>
                <a:lnTo>
                  <a:pt x="201706" y="82926"/>
                </a:lnTo>
                <a:lnTo>
                  <a:pt x="215112" y="90961"/>
                </a:lnTo>
                <a:lnTo>
                  <a:pt x="228843" y="98424"/>
                </a:lnTo>
                <a:lnTo>
                  <a:pt x="242876" y="105304"/>
                </a:lnTo>
                <a:lnTo>
                  <a:pt x="257186" y="111587"/>
                </a:lnTo>
                <a:lnTo>
                  <a:pt x="271747" y="117263"/>
                </a:lnTo>
                <a:lnTo>
                  <a:pt x="286535" y="122321"/>
                </a:lnTo>
                <a:lnTo>
                  <a:pt x="301522" y="126753"/>
                </a:lnTo>
                <a:lnTo>
                  <a:pt x="316682" y="130550"/>
                </a:lnTo>
                <a:lnTo>
                  <a:pt x="331989" y="133707"/>
                </a:lnTo>
                <a:lnTo>
                  <a:pt x="347414" y="136217"/>
                </a:lnTo>
                <a:lnTo>
                  <a:pt x="362932" y="138075"/>
                </a:lnTo>
                <a:lnTo>
                  <a:pt x="378514" y="139280"/>
                </a:lnTo>
                <a:lnTo>
                  <a:pt x="394133" y="139828"/>
                </a:lnTo>
                <a:lnTo>
                  <a:pt x="409762" y="139718"/>
                </a:lnTo>
                <a:lnTo>
                  <a:pt x="425371" y="138951"/>
                </a:lnTo>
                <a:lnTo>
                  <a:pt x="440935" y="137528"/>
                </a:lnTo>
                <a:lnTo>
                  <a:pt x="456425" y="135452"/>
                </a:lnTo>
                <a:lnTo>
                  <a:pt x="471814" y="132726"/>
                </a:lnTo>
                <a:lnTo>
                  <a:pt x="487075" y="129356"/>
                </a:lnTo>
                <a:lnTo>
                  <a:pt x="502181" y="125346"/>
                </a:lnTo>
                <a:lnTo>
                  <a:pt x="517104" y="120704"/>
                </a:lnTo>
                <a:lnTo>
                  <a:pt x="531819" y="115439"/>
                </a:lnTo>
                <a:lnTo>
                  <a:pt x="546300" y="109560"/>
                </a:lnTo>
                <a:lnTo>
                  <a:pt x="560520" y="103076"/>
                </a:lnTo>
                <a:close/>
              </a:path>
            </a:pathLst>
          </a:custGeom>
          <a:solidFill>
            <a:srgbClr val="14141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03710" y="2554532"/>
            <a:ext cx="220347" cy="432123"/>
          </a:xfrm>
          <a:custGeom>
            <a:avLst/>
            <a:gdLst/>
            <a:ahLst/>
            <a:cxnLst/>
            <a:rect l="l" t="t" r="r" b="b"/>
            <a:pathLst>
              <a:path w="220347" h="432123">
                <a:moveTo>
                  <a:pt x="111435" y="432123"/>
                </a:moveTo>
                <a:lnTo>
                  <a:pt x="102660" y="420798"/>
                </a:lnTo>
                <a:lnTo>
                  <a:pt x="94207" y="409231"/>
                </a:lnTo>
                <a:lnTo>
                  <a:pt x="86081" y="397431"/>
                </a:lnTo>
                <a:lnTo>
                  <a:pt x="78289" y="385409"/>
                </a:lnTo>
                <a:lnTo>
                  <a:pt x="70838" y="373172"/>
                </a:lnTo>
                <a:lnTo>
                  <a:pt x="63733" y="360731"/>
                </a:lnTo>
                <a:lnTo>
                  <a:pt x="56979" y="348096"/>
                </a:lnTo>
                <a:lnTo>
                  <a:pt x="50583" y="335277"/>
                </a:lnTo>
                <a:lnTo>
                  <a:pt x="44548" y="322283"/>
                </a:lnTo>
                <a:lnTo>
                  <a:pt x="38880" y="309125"/>
                </a:lnTo>
                <a:lnTo>
                  <a:pt x="33584" y="295813"/>
                </a:lnTo>
                <a:lnTo>
                  <a:pt x="28663" y="282358"/>
                </a:lnTo>
                <a:lnTo>
                  <a:pt x="24121" y="268770"/>
                </a:lnTo>
                <a:lnTo>
                  <a:pt x="19962" y="255060"/>
                </a:lnTo>
                <a:lnTo>
                  <a:pt x="16190" y="241239"/>
                </a:lnTo>
                <a:lnTo>
                  <a:pt x="12806" y="227317"/>
                </a:lnTo>
                <a:lnTo>
                  <a:pt x="9814" y="213306"/>
                </a:lnTo>
                <a:lnTo>
                  <a:pt x="7217" y="199217"/>
                </a:lnTo>
                <a:lnTo>
                  <a:pt x="5015" y="185060"/>
                </a:lnTo>
                <a:lnTo>
                  <a:pt x="3212" y="170848"/>
                </a:lnTo>
                <a:lnTo>
                  <a:pt x="1807" y="156590"/>
                </a:lnTo>
                <a:lnTo>
                  <a:pt x="804" y="142298"/>
                </a:lnTo>
                <a:lnTo>
                  <a:pt x="201" y="127984"/>
                </a:lnTo>
                <a:lnTo>
                  <a:pt x="0" y="113659"/>
                </a:lnTo>
                <a:lnTo>
                  <a:pt x="201" y="99333"/>
                </a:lnTo>
                <a:lnTo>
                  <a:pt x="804" y="85019"/>
                </a:lnTo>
                <a:lnTo>
                  <a:pt x="1807" y="70728"/>
                </a:lnTo>
                <a:lnTo>
                  <a:pt x="3212" y="56470"/>
                </a:lnTo>
                <a:lnTo>
                  <a:pt x="5015" y="42257"/>
                </a:lnTo>
                <a:lnTo>
                  <a:pt x="7217" y="28100"/>
                </a:lnTo>
                <a:lnTo>
                  <a:pt x="9815" y="14011"/>
                </a:lnTo>
                <a:lnTo>
                  <a:pt x="12806" y="0"/>
                </a:lnTo>
                <a:lnTo>
                  <a:pt x="148616" y="30997"/>
                </a:lnTo>
                <a:lnTo>
                  <a:pt x="146440" y="41187"/>
                </a:lnTo>
                <a:lnTo>
                  <a:pt x="144551" y="51434"/>
                </a:lnTo>
                <a:lnTo>
                  <a:pt x="142950" y="61730"/>
                </a:lnTo>
                <a:lnTo>
                  <a:pt x="141638" y="72066"/>
                </a:lnTo>
                <a:lnTo>
                  <a:pt x="140617" y="82436"/>
                </a:lnTo>
                <a:lnTo>
                  <a:pt x="139887" y="92830"/>
                </a:lnTo>
                <a:lnTo>
                  <a:pt x="139449" y="103240"/>
                </a:lnTo>
                <a:lnTo>
                  <a:pt x="139303" y="113659"/>
                </a:lnTo>
                <a:lnTo>
                  <a:pt x="139449" y="124077"/>
                </a:lnTo>
                <a:lnTo>
                  <a:pt x="139887" y="134487"/>
                </a:lnTo>
                <a:lnTo>
                  <a:pt x="140617" y="144881"/>
                </a:lnTo>
                <a:lnTo>
                  <a:pt x="141638" y="155251"/>
                </a:lnTo>
                <a:lnTo>
                  <a:pt x="142950" y="165587"/>
                </a:lnTo>
                <a:lnTo>
                  <a:pt x="144551" y="175883"/>
                </a:lnTo>
                <a:lnTo>
                  <a:pt x="146441" y="186130"/>
                </a:lnTo>
                <a:lnTo>
                  <a:pt x="148616" y="196320"/>
                </a:lnTo>
                <a:lnTo>
                  <a:pt x="151077" y="206444"/>
                </a:lnTo>
                <a:lnTo>
                  <a:pt x="153821" y="216496"/>
                </a:lnTo>
                <a:lnTo>
                  <a:pt x="156846" y="226467"/>
                </a:lnTo>
                <a:lnTo>
                  <a:pt x="160149" y="236349"/>
                </a:lnTo>
                <a:lnTo>
                  <a:pt x="163728" y="246135"/>
                </a:lnTo>
                <a:lnTo>
                  <a:pt x="167580" y="255816"/>
                </a:lnTo>
                <a:lnTo>
                  <a:pt x="171702" y="265386"/>
                </a:lnTo>
                <a:lnTo>
                  <a:pt x="176091" y="274836"/>
                </a:lnTo>
                <a:lnTo>
                  <a:pt x="180743" y="284159"/>
                </a:lnTo>
                <a:lnTo>
                  <a:pt x="185654" y="293348"/>
                </a:lnTo>
                <a:lnTo>
                  <a:pt x="190822" y="302396"/>
                </a:lnTo>
                <a:lnTo>
                  <a:pt x="196241" y="311295"/>
                </a:lnTo>
                <a:lnTo>
                  <a:pt x="201908" y="320039"/>
                </a:lnTo>
                <a:lnTo>
                  <a:pt x="207818" y="328621"/>
                </a:lnTo>
                <a:lnTo>
                  <a:pt x="213966" y="337033"/>
                </a:lnTo>
                <a:lnTo>
                  <a:pt x="220347" y="345270"/>
                </a:lnTo>
                <a:close/>
              </a:path>
            </a:pathLst>
          </a:custGeom>
          <a:solidFill>
            <a:srgbClr val="D9775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16516" y="2268848"/>
            <a:ext cx="266360" cy="316682"/>
          </a:xfrm>
          <a:custGeom>
            <a:avLst/>
            <a:gdLst/>
            <a:ahLst/>
            <a:cxnLst/>
            <a:rect l="l" t="t" r="r" b="b"/>
            <a:pathLst>
              <a:path w="266360" h="316682">
                <a:moveTo>
                  <a:pt x="0" y="285684"/>
                </a:moveTo>
                <a:lnTo>
                  <a:pt x="2501" y="275234"/>
                </a:lnTo>
                <a:lnTo>
                  <a:pt x="5221" y="264839"/>
                </a:lnTo>
                <a:lnTo>
                  <a:pt x="8160" y="254503"/>
                </a:lnTo>
                <a:lnTo>
                  <a:pt x="11315" y="244232"/>
                </a:lnTo>
                <a:lnTo>
                  <a:pt x="14686" y="234029"/>
                </a:lnTo>
                <a:lnTo>
                  <a:pt x="18270" y="223899"/>
                </a:lnTo>
                <a:lnTo>
                  <a:pt x="22067" y="213847"/>
                </a:lnTo>
                <a:lnTo>
                  <a:pt x="26074" y="203877"/>
                </a:lnTo>
                <a:lnTo>
                  <a:pt x="30290" y="193993"/>
                </a:lnTo>
                <a:lnTo>
                  <a:pt x="34714" y="184200"/>
                </a:lnTo>
                <a:lnTo>
                  <a:pt x="39342" y="174503"/>
                </a:lnTo>
                <a:lnTo>
                  <a:pt x="44173" y="164905"/>
                </a:lnTo>
                <a:lnTo>
                  <a:pt x="49205" y="155411"/>
                </a:lnTo>
                <a:lnTo>
                  <a:pt x="54436" y="146024"/>
                </a:lnTo>
                <a:lnTo>
                  <a:pt x="59863" y="136750"/>
                </a:lnTo>
                <a:lnTo>
                  <a:pt x="65483" y="127592"/>
                </a:lnTo>
                <a:lnTo>
                  <a:pt x="71296" y="118555"/>
                </a:lnTo>
                <a:lnTo>
                  <a:pt x="77297" y="109641"/>
                </a:lnTo>
                <a:lnTo>
                  <a:pt x="83484" y="100856"/>
                </a:lnTo>
                <a:lnTo>
                  <a:pt x="89855" y="92203"/>
                </a:lnTo>
                <a:lnTo>
                  <a:pt x="96406" y="83686"/>
                </a:lnTo>
                <a:lnTo>
                  <a:pt x="103135" y="75308"/>
                </a:lnTo>
                <a:lnTo>
                  <a:pt x="110039" y="67074"/>
                </a:lnTo>
                <a:lnTo>
                  <a:pt x="117114" y="58987"/>
                </a:lnTo>
                <a:lnTo>
                  <a:pt x="124358" y="51051"/>
                </a:lnTo>
                <a:lnTo>
                  <a:pt x="131767" y="43269"/>
                </a:lnTo>
                <a:lnTo>
                  <a:pt x="139339" y="35644"/>
                </a:lnTo>
                <a:lnTo>
                  <a:pt x="147069" y="28180"/>
                </a:lnTo>
                <a:lnTo>
                  <a:pt x="154954" y="20881"/>
                </a:lnTo>
                <a:lnTo>
                  <a:pt x="162991" y="13749"/>
                </a:lnTo>
                <a:lnTo>
                  <a:pt x="171177" y="6788"/>
                </a:lnTo>
                <a:lnTo>
                  <a:pt x="179507" y="0"/>
                </a:lnTo>
                <a:lnTo>
                  <a:pt x="266360" y="108912"/>
                </a:lnTo>
                <a:lnTo>
                  <a:pt x="260302" y="113849"/>
                </a:lnTo>
                <a:lnTo>
                  <a:pt x="254349" y="118911"/>
                </a:lnTo>
                <a:lnTo>
                  <a:pt x="248504" y="124098"/>
                </a:lnTo>
                <a:lnTo>
                  <a:pt x="242769" y="129407"/>
                </a:lnTo>
                <a:lnTo>
                  <a:pt x="237147" y="134835"/>
                </a:lnTo>
                <a:lnTo>
                  <a:pt x="231641" y="140380"/>
                </a:lnTo>
                <a:lnTo>
                  <a:pt x="226252" y="146040"/>
                </a:lnTo>
                <a:lnTo>
                  <a:pt x="220984" y="151812"/>
                </a:lnTo>
                <a:lnTo>
                  <a:pt x="215838" y="157693"/>
                </a:lnTo>
                <a:lnTo>
                  <a:pt x="210817" y="163682"/>
                </a:lnTo>
                <a:lnTo>
                  <a:pt x="205923" y="169774"/>
                </a:lnTo>
                <a:lnTo>
                  <a:pt x="201159" y="175969"/>
                </a:lnTo>
                <a:lnTo>
                  <a:pt x="196526" y="182262"/>
                </a:lnTo>
                <a:lnTo>
                  <a:pt x="192026" y="188651"/>
                </a:lnTo>
                <a:lnTo>
                  <a:pt x="187661" y="195133"/>
                </a:lnTo>
                <a:lnTo>
                  <a:pt x="183434" y="201706"/>
                </a:lnTo>
                <a:lnTo>
                  <a:pt x="179347" y="208367"/>
                </a:lnTo>
                <a:lnTo>
                  <a:pt x="175400" y="215111"/>
                </a:lnTo>
                <a:lnTo>
                  <a:pt x="171596" y="221938"/>
                </a:lnTo>
                <a:lnTo>
                  <a:pt x="167936" y="228843"/>
                </a:lnTo>
                <a:lnTo>
                  <a:pt x="164422" y="235823"/>
                </a:lnTo>
                <a:lnTo>
                  <a:pt x="161056" y="242876"/>
                </a:lnTo>
                <a:lnTo>
                  <a:pt x="157839" y="249997"/>
                </a:lnTo>
                <a:lnTo>
                  <a:pt x="154773" y="257185"/>
                </a:lnTo>
                <a:lnTo>
                  <a:pt x="151859" y="264436"/>
                </a:lnTo>
                <a:lnTo>
                  <a:pt x="149097" y="271747"/>
                </a:lnTo>
                <a:lnTo>
                  <a:pt x="146490" y="279114"/>
                </a:lnTo>
                <a:lnTo>
                  <a:pt x="144039" y="286534"/>
                </a:lnTo>
                <a:lnTo>
                  <a:pt x="141744" y="294005"/>
                </a:lnTo>
                <a:lnTo>
                  <a:pt x="139607" y="301521"/>
                </a:lnTo>
                <a:lnTo>
                  <a:pt x="137629" y="309082"/>
                </a:lnTo>
                <a:lnTo>
                  <a:pt x="135810" y="316682"/>
                </a:lnTo>
                <a:close/>
              </a:path>
            </a:pathLst>
          </a:custGeom>
          <a:solidFill>
            <a:srgbClr val="7A8B4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96023" y="2157413"/>
            <a:ext cx="318465" cy="220348"/>
          </a:xfrm>
          <a:custGeom>
            <a:avLst/>
            <a:gdLst/>
            <a:ahLst/>
            <a:cxnLst/>
            <a:rect l="l" t="t" r="r" b="b"/>
            <a:pathLst>
              <a:path w="318465" h="220348">
                <a:moveTo>
                  <a:pt x="0" y="111435"/>
                </a:moveTo>
                <a:lnTo>
                  <a:pt x="8471" y="104825"/>
                </a:lnTo>
                <a:lnTo>
                  <a:pt x="17079" y="98393"/>
                </a:lnTo>
                <a:lnTo>
                  <a:pt x="25821" y="92145"/>
                </a:lnTo>
                <a:lnTo>
                  <a:pt x="34692" y="86081"/>
                </a:lnTo>
                <a:lnTo>
                  <a:pt x="43688" y="80206"/>
                </a:lnTo>
                <a:lnTo>
                  <a:pt x="52807" y="74521"/>
                </a:lnTo>
                <a:lnTo>
                  <a:pt x="62043" y="69029"/>
                </a:lnTo>
                <a:lnTo>
                  <a:pt x="71392" y="63733"/>
                </a:lnTo>
                <a:lnTo>
                  <a:pt x="80851" y="58634"/>
                </a:lnTo>
                <a:lnTo>
                  <a:pt x="90414" y="53736"/>
                </a:lnTo>
                <a:lnTo>
                  <a:pt x="100079" y="49040"/>
                </a:lnTo>
                <a:lnTo>
                  <a:pt x="109841" y="44548"/>
                </a:lnTo>
                <a:lnTo>
                  <a:pt x="119694" y="40263"/>
                </a:lnTo>
                <a:lnTo>
                  <a:pt x="129636" y="36186"/>
                </a:lnTo>
                <a:lnTo>
                  <a:pt x="139661" y="32318"/>
                </a:lnTo>
                <a:lnTo>
                  <a:pt x="149766" y="28663"/>
                </a:lnTo>
                <a:lnTo>
                  <a:pt x="159945" y="25221"/>
                </a:lnTo>
                <a:lnTo>
                  <a:pt x="170194" y="21994"/>
                </a:lnTo>
                <a:lnTo>
                  <a:pt x="180509" y="18983"/>
                </a:lnTo>
                <a:lnTo>
                  <a:pt x="190885" y="16190"/>
                </a:lnTo>
                <a:lnTo>
                  <a:pt x="201317" y="13615"/>
                </a:lnTo>
                <a:lnTo>
                  <a:pt x="211801" y="11261"/>
                </a:lnTo>
                <a:lnTo>
                  <a:pt x="222332" y="9128"/>
                </a:lnTo>
                <a:lnTo>
                  <a:pt x="232906" y="7217"/>
                </a:lnTo>
                <a:lnTo>
                  <a:pt x="243518" y="5528"/>
                </a:lnTo>
                <a:lnTo>
                  <a:pt x="254163" y="4064"/>
                </a:lnTo>
                <a:lnTo>
                  <a:pt x="264837" y="2823"/>
                </a:lnTo>
                <a:lnTo>
                  <a:pt x="275534" y="1807"/>
                </a:lnTo>
                <a:lnTo>
                  <a:pt x="286250" y="1017"/>
                </a:lnTo>
                <a:lnTo>
                  <a:pt x="296980" y="452"/>
                </a:lnTo>
                <a:lnTo>
                  <a:pt x="307720" y="113"/>
                </a:lnTo>
                <a:lnTo>
                  <a:pt x="318465" y="0"/>
                </a:lnTo>
                <a:lnTo>
                  <a:pt x="318465" y="139303"/>
                </a:lnTo>
                <a:lnTo>
                  <a:pt x="310650" y="139385"/>
                </a:lnTo>
                <a:lnTo>
                  <a:pt x="302840" y="139632"/>
                </a:lnTo>
                <a:lnTo>
                  <a:pt x="295036" y="140043"/>
                </a:lnTo>
                <a:lnTo>
                  <a:pt x="287242" y="140618"/>
                </a:lnTo>
                <a:lnTo>
                  <a:pt x="279462" y="141356"/>
                </a:lnTo>
                <a:lnTo>
                  <a:pt x="271700" y="142259"/>
                </a:lnTo>
                <a:lnTo>
                  <a:pt x="263958" y="143324"/>
                </a:lnTo>
                <a:lnTo>
                  <a:pt x="256240" y="144552"/>
                </a:lnTo>
                <a:lnTo>
                  <a:pt x="248550" y="145942"/>
                </a:lnTo>
                <a:lnTo>
                  <a:pt x="240891" y="147493"/>
                </a:lnTo>
                <a:lnTo>
                  <a:pt x="233266" y="149205"/>
                </a:lnTo>
                <a:lnTo>
                  <a:pt x="225679" y="151078"/>
                </a:lnTo>
                <a:lnTo>
                  <a:pt x="218133" y="153109"/>
                </a:lnTo>
                <a:lnTo>
                  <a:pt x="210631" y="155299"/>
                </a:lnTo>
                <a:lnTo>
                  <a:pt x="203177" y="157646"/>
                </a:lnTo>
                <a:lnTo>
                  <a:pt x="195774" y="160149"/>
                </a:lnTo>
                <a:lnTo>
                  <a:pt x="188426" y="162808"/>
                </a:lnTo>
                <a:lnTo>
                  <a:pt x="181134" y="165620"/>
                </a:lnTo>
                <a:lnTo>
                  <a:pt x="173904" y="168585"/>
                </a:lnTo>
                <a:lnTo>
                  <a:pt x="166738" y="171702"/>
                </a:lnTo>
                <a:lnTo>
                  <a:pt x="159639" y="174969"/>
                </a:lnTo>
                <a:lnTo>
                  <a:pt x="152610" y="178384"/>
                </a:lnTo>
                <a:lnTo>
                  <a:pt x="145654" y="181947"/>
                </a:lnTo>
                <a:lnTo>
                  <a:pt x="138775" y="185655"/>
                </a:lnTo>
                <a:lnTo>
                  <a:pt x="131976" y="189507"/>
                </a:lnTo>
                <a:lnTo>
                  <a:pt x="125259" y="193501"/>
                </a:lnTo>
                <a:lnTo>
                  <a:pt x="118627" y="197635"/>
                </a:lnTo>
                <a:lnTo>
                  <a:pt x="112084" y="201908"/>
                </a:lnTo>
                <a:lnTo>
                  <a:pt x="105632" y="206318"/>
                </a:lnTo>
                <a:lnTo>
                  <a:pt x="99275" y="210862"/>
                </a:lnTo>
                <a:lnTo>
                  <a:pt x="93014" y="215540"/>
                </a:lnTo>
                <a:lnTo>
                  <a:pt x="86854" y="220348"/>
                </a:lnTo>
                <a:close/>
              </a:path>
            </a:pathLst>
          </a:custGeom>
          <a:solidFill>
            <a:srgbClr val="B0AEA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47116" y="2437838"/>
            <a:ext cx="484471" cy="214313"/>
          </a:xfrm>
          <a:custGeom>
            <a:avLst/>
            <a:gdLst/>
            <a:ahLst/>
            <a:cxnLst/>
            <a:rect l="l" t="t" r="r" b="b"/>
            <a:pathLst>
              <a:path w="484471" h="214313">
                <a:moveTo>
                  <a:pt x="0" y="0"/>
                </a:moveTo>
                <a:lnTo>
                  <a:pt x="484471" y="0"/>
                </a:lnTo>
                <a:lnTo>
                  <a:pt x="484471" y="214313"/>
                </a:lnTo>
                <a:lnTo>
                  <a:pt x="0" y="214313"/>
                </a:lnTo>
                <a:close/>
              </a:path>
            </a:pathLst>
          </a:custGeom>
          <a:noFill/>
          <a:ln/>
        </p:spPr>
      </p:sp>
      <p:sp>
        <p:nvSpPr>
          <p:cNvPr id="16" name="Text 14"/>
          <p:cNvSpPr/>
          <p:nvPr/>
        </p:nvSpPr>
        <p:spPr>
          <a:xfrm>
            <a:off x="2247116" y="2431408"/>
            <a:ext cx="7829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厂房建设</a:t>
            </a:r>
            <a:endParaRPr lang="en-US" sz="788" dirty="0"/>
          </a:p>
        </p:txBody>
      </p:sp>
      <p:sp>
        <p:nvSpPr>
          <p:cNvPr id="17" name="Text 15"/>
          <p:cNvSpPr/>
          <p:nvPr/>
        </p:nvSpPr>
        <p:spPr>
          <a:xfrm>
            <a:off x="2247116" y="2538564"/>
            <a:ext cx="183308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120万元 42.9%</a:t>
            </a:r>
            <a:endParaRPr lang="en-US" sz="788" dirty="0"/>
          </a:p>
        </p:txBody>
      </p:sp>
      <p:sp>
        <p:nvSpPr>
          <p:cNvPr id="18" name="Shape 16"/>
          <p:cNvSpPr/>
          <p:nvPr/>
        </p:nvSpPr>
        <p:spPr>
          <a:xfrm>
            <a:off x="953682" y="3100794"/>
            <a:ext cx="0" cy="214313"/>
          </a:xfrm>
          <a:custGeom>
            <a:avLst/>
            <a:gdLst/>
            <a:ahLst/>
            <a:cxnLst/>
            <a:rect l="l" t="t" r="r" b="b"/>
            <a:pathLst>
              <a:path w="0" h="214313">
                <a:moveTo>
                  <a:pt x="0" y="0"/>
                </a:moveTo>
                <a:lnTo>
                  <a:pt x="444740" y="0"/>
                </a:lnTo>
                <a:lnTo>
                  <a:pt x="444740" y="214313"/>
                </a:lnTo>
                <a:lnTo>
                  <a:pt x="0" y="214313"/>
                </a:lnTo>
                <a:close/>
              </a:path>
            </a:pathLst>
          </a:custGeom>
          <a:noFill/>
          <a:ln/>
        </p:spPr>
      </p:sp>
      <p:sp>
        <p:nvSpPr>
          <p:cNvPr id="19" name="Text 17"/>
          <p:cNvSpPr/>
          <p:nvPr/>
        </p:nvSpPr>
        <p:spPr>
          <a:xfrm>
            <a:off x="615467" y="3094365"/>
            <a:ext cx="7829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设备采购</a:t>
            </a:r>
            <a:endParaRPr lang="en-US" sz="788" dirty="0"/>
          </a:p>
        </p:txBody>
      </p:sp>
      <p:sp>
        <p:nvSpPr>
          <p:cNvPr id="20" name="Text 18"/>
          <p:cNvSpPr/>
          <p:nvPr/>
        </p:nvSpPr>
        <p:spPr>
          <a:xfrm>
            <a:off x="-284646" y="3201521"/>
            <a:ext cx="1683068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60万元 21.4%</a:t>
            </a:r>
            <a:endParaRPr lang="en-US" sz="788" dirty="0"/>
          </a:p>
        </p:txBody>
      </p:sp>
      <p:sp>
        <p:nvSpPr>
          <p:cNvPr id="21" name="Shape 19"/>
          <p:cNvSpPr/>
          <p:nvPr/>
        </p:nvSpPr>
        <p:spPr>
          <a:xfrm>
            <a:off x="572352" y="2684231"/>
            <a:ext cx="0" cy="214313"/>
          </a:xfrm>
          <a:custGeom>
            <a:avLst/>
            <a:gdLst/>
            <a:ahLst/>
            <a:cxnLst/>
            <a:rect l="l" t="t" r="r" b="b"/>
            <a:pathLst>
              <a:path w="0" h="214313">
                <a:moveTo>
                  <a:pt x="0" y="0"/>
                </a:moveTo>
                <a:lnTo>
                  <a:pt x="444740" y="0"/>
                </a:lnTo>
                <a:lnTo>
                  <a:pt x="444740" y="214313"/>
                </a:lnTo>
                <a:lnTo>
                  <a:pt x="0" y="214313"/>
                </a:lnTo>
                <a:close/>
              </a:path>
            </a:pathLst>
          </a:custGeom>
          <a:noFill/>
          <a:ln/>
        </p:spPr>
      </p:sp>
      <p:sp>
        <p:nvSpPr>
          <p:cNvPr id="22" name="Text 20"/>
          <p:cNvSpPr/>
          <p:nvPr/>
        </p:nvSpPr>
        <p:spPr>
          <a:xfrm>
            <a:off x="234136" y="2677802"/>
            <a:ext cx="7829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品牌推广</a:t>
            </a:r>
            <a:endParaRPr lang="en-US" sz="788" dirty="0"/>
          </a:p>
        </p:txBody>
      </p:sp>
      <p:sp>
        <p:nvSpPr>
          <p:cNvPr id="23" name="Text 21"/>
          <p:cNvSpPr/>
          <p:nvPr/>
        </p:nvSpPr>
        <p:spPr>
          <a:xfrm>
            <a:off x="-665976" y="2784958"/>
            <a:ext cx="1683068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40万元 14.3%</a:t>
            </a:r>
            <a:endParaRPr lang="en-US" sz="788" dirty="0"/>
          </a:p>
        </p:txBody>
      </p:sp>
      <p:sp>
        <p:nvSpPr>
          <p:cNvPr id="24" name="Shape 22"/>
          <p:cNvSpPr/>
          <p:nvPr/>
        </p:nvSpPr>
        <p:spPr>
          <a:xfrm>
            <a:off x="638220" y="2267776"/>
            <a:ext cx="0" cy="214313"/>
          </a:xfrm>
          <a:custGeom>
            <a:avLst/>
            <a:gdLst/>
            <a:ahLst/>
            <a:cxnLst/>
            <a:rect l="l" t="t" r="r" b="b"/>
            <a:pathLst>
              <a:path w="0" h="214313">
                <a:moveTo>
                  <a:pt x="0" y="0"/>
                </a:moveTo>
                <a:lnTo>
                  <a:pt x="444740" y="0"/>
                </a:lnTo>
                <a:lnTo>
                  <a:pt x="444740" y="214313"/>
                </a:lnTo>
                <a:lnTo>
                  <a:pt x="0" y="214313"/>
                </a:lnTo>
                <a:close/>
              </a:path>
            </a:pathLst>
          </a:custGeom>
          <a:noFill/>
          <a:ln/>
        </p:spPr>
      </p:sp>
      <p:sp>
        <p:nvSpPr>
          <p:cNvPr id="25" name="Text 23"/>
          <p:cNvSpPr/>
          <p:nvPr/>
        </p:nvSpPr>
        <p:spPr>
          <a:xfrm>
            <a:off x="300005" y="2261347"/>
            <a:ext cx="7829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培训经费</a:t>
            </a:r>
            <a:endParaRPr lang="en-US" sz="788" dirty="0"/>
          </a:p>
        </p:txBody>
      </p:sp>
      <p:sp>
        <p:nvSpPr>
          <p:cNvPr id="26" name="Text 24"/>
          <p:cNvSpPr/>
          <p:nvPr/>
        </p:nvSpPr>
        <p:spPr>
          <a:xfrm>
            <a:off x="-600107" y="2368503"/>
            <a:ext cx="1683068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30万元 10.7%</a:t>
            </a:r>
            <a:endParaRPr lang="en-US" sz="788" dirty="0"/>
          </a:p>
        </p:txBody>
      </p:sp>
      <p:sp>
        <p:nvSpPr>
          <p:cNvPr id="27" name="Shape 25"/>
          <p:cNvSpPr/>
          <p:nvPr/>
        </p:nvSpPr>
        <p:spPr>
          <a:xfrm>
            <a:off x="894023" y="2038462"/>
            <a:ext cx="0" cy="214312"/>
          </a:xfrm>
          <a:custGeom>
            <a:avLst/>
            <a:gdLst/>
            <a:ahLst/>
            <a:cxnLst/>
            <a:rect l="l" t="t" r="r" b="b"/>
            <a:pathLst>
              <a:path w="0" h="214312">
                <a:moveTo>
                  <a:pt x="0" y="0"/>
                </a:moveTo>
                <a:lnTo>
                  <a:pt x="444740" y="0"/>
                </a:lnTo>
                <a:lnTo>
                  <a:pt x="444740" y="214312"/>
                </a:lnTo>
                <a:lnTo>
                  <a:pt x="0" y="214312"/>
                </a:lnTo>
                <a:close/>
              </a:path>
            </a:pathLst>
          </a:custGeom>
          <a:noFill/>
          <a:ln/>
        </p:spPr>
      </p:sp>
      <p:sp>
        <p:nvSpPr>
          <p:cNvPr id="28" name="Text 26"/>
          <p:cNvSpPr/>
          <p:nvPr/>
        </p:nvSpPr>
        <p:spPr>
          <a:xfrm>
            <a:off x="555808" y="2032033"/>
            <a:ext cx="7829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流动资金</a:t>
            </a:r>
            <a:endParaRPr lang="en-US" sz="788" dirty="0"/>
          </a:p>
        </p:txBody>
      </p:sp>
      <p:sp>
        <p:nvSpPr>
          <p:cNvPr id="29" name="Text 27"/>
          <p:cNvSpPr/>
          <p:nvPr/>
        </p:nvSpPr>
        <p:spPr>
          <a:xfrm>
            <a:off x="-344304" y="2139189"/>
            <a:ext cx="1683068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30万元 10.7%</a:t>
            </a:r>
            <a:endParaRPr lang="en-US" sz="788" dirty="0"/>
          </a:p>
        </p:txBody>
      </p:sp>
      <p:sp>
        <p:nvSpPr>
          <p:cNvPr id="30" name="Shape 28"/>
          <p:cNvSpPr/>
          <p:nvPr/>
        </p:nvSpPr>
        <p:spPr>
          <a:xfrm>
            <a:off x="1447736" y="2501027"/>
            <a:ext cx="333502" cy="242888"/>
          </a:xfrm>
          <a:custGeom>
            <a:avLst/>
            <a:gdLst/>
            <a:ahLst/>
            <a:cxnLst/>
            <a:rect l="l" t="t" r="r" b="b"/>
            <a:pathLst>
              <a:path w="333502" h="242888">
                <a:moveTo>
                  <a:pt x="0" y="0"/>
                </a:moveTo>
                <a:lnTo>
                  <a:pt x="333502" y="0"/>
                </a:lnTo>
                <a:lnTo>
                  <a:pt x="333502" y="242888"/>
                </a:lnTo>
                <a:lnTo>
                  <a:pt x="0" y="242888"/>
                </a:lnTo>
                <a:close/>
              </a:path>
            </a:pathLst>
          </a:custGeom>
          <a:noFill/>
          <a:ln/>
        </p:spPr>
      </p:sp>
      <p:sp>
        <p:nvSpPr>
          <p:cNvPr id="31" name="Text 29"/>
          <p:cNvSpPr/>
          <p:nvPr/>
        </p:nvSpPr>
        <p:spPr>
          <a:xfrm>
            <a:off x="1298019" y="2512457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总投资</a:t>
            </a:r>
            <a:endParaRPr lang="en-US" sz="788" dirty="0"/>
          </a:p>
        </p:txBody>
      </p:sp>
      <p:sp>
        <p:nvSpPr>
          <p:cNvPr id="32" name="Text 30"/>
          <p:cNvSpPr/>
          <p:nvPr/>
        </p:nvSpPr>
        <p:spPr>
          <a:xfrm>
            <a:off x="1014055" y="2591038"/>
            <a:ext cx="1200864" cy="162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9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280万元</a:t>
            </a:r>
            <a:endParaRPr lang="en-US" sz="1069" dirty="0"/>
          </a:p>
        </p:txBody>
      </p:sp>
      <p:sp>
        <p:nvSpPr>
          <p:cNvPr id="33" name="Shape 31"/>
          <p:cNvSpPr/>
          <p:nvPr/>
        </p:nvSpPr>
        <p:spPr>
          <a:xfrm>
            <a:off x="335756" y="2955057"/>
            <a:ext cx="8472488" cy="400050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</p:spPr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5756" y="2955057"/>
            <a:ext cx="8472488" cy="400050"/>
          </a:xfrm>
          <a:prstGeom prst="rect">
            <a:avLst/>
          </a:prstGeom>
        </p:spPr>
      </p:pic>
      <p:sp>
        <p:nvSpPr>
          <p:cNvPr id="35" name="Shape 32"/>
          <p:cNvSpPr/>
          <p:nvPr/>
        </p:nvSpPr>
        <p:spPr>
          <a:xfrm>
            <a:off x="214313" y="2889647"/>
            <a:ext cx="8715375" cy="1300163"/>
          </a:xfrm>
          <a:prstGeom prst="roundRect">
            <a:avLst>
              <a:gd name="adj" fmla="val 4637"/>
            </a:avLst>
          </a:prstGeom>
          <a:solidFill>
            <a:srgbClr val="FAF9F5"/>
          </a:solidFill>
          <a:ln w="6191">
            <a:solidFill>
              <a:srgbClr val="F0EEE6"/>
            </a:solidFill>
            <a:prstDash val="solid"/>
          </a:ln>
          <a:effectLst>
            <a:outerShdw sx="100000" sy="100000" kx="0" ky="0" algn="bl" rotWithShape="0" blurRad="171450" dist="28575" dir="5400000">
              <a:srgbClr val="000000">
                <a:alpha val="5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335756" y="3268266"/>
            <a:ext cx="8472488" cy="564356"/>
          </a:xfrm>
          <a:prstGeom prst="rect">
            <a:avLst/>
          </a:prstGeom>
          <a:ln/>
        </p:spPr>
      </p:sp>
      <p:pic>
        <p:nvPicPr>
          <p:cNvPr id="3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5756" y="3268266"/>
            <a:ext cx="8472488" cy="564356"/>
          </a:xfrm>
          <a:prstGeom prst="rect">
            <a:avLst/>
          </a:prstGeom>
        </p:spPr>
      </p:pic>
      <p:sp>
        <p:nvSpPr>
          <p:cNvPr id="38" name="Shape 34"/>
          <p:cNvSpPr/>
          <p:nvPr/>
        </p:nvSpPr>
        <p:spPr>
          <a:xfrm>
            <a:off x="335756" y="3832622"/>
            <a:ext cx="8472488" cy="7144"/>
          </a:xfrm>
          <a:prstGeom prst="rect">
            <a:avLst/>
          </a:prstGeom>
          <a:ln/>
        </p:spPr>
      </p:sp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5756" y="3832622"/>
            <a:ext cx="8472488" cy="7144"/>
          </a:xfrm>
          <a:prstGeom prst="rect">
            <a:avLst/>
          </a:prstGeom>
        </p:spPr>
      </p:pic>
      <p:sp>
        <p:nvSpPr>
          <p:cNvPr id="40" name="Shape 35"/>
          <p:cNvSpPr/>
          <p:nvPr/>
        </p:nvSpPr>
        <p:spPr>
          <a:xfrm>
            <a:off x="335756" y="3839766"/>
            <a:ext cx="8472488" cy="7144"/>
          </a:xfrm>
          <a:prstGeom prst="rect">
            <a:avLst/>
          </a:prstGeom>
          <a:ln/>
        </p:spPr>
      </p:sp>
      <p:pic>
        <p:nvPicPr>
          <p:cNvPr id="4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35756" y="3839766"/>
            <a:ext cx="8472488" cy="7144"/>
          </a:xfrm>
          <a:prstGeom prst="rect">
            <a:avLst/>
          </a:prstGeom>
        </p:spPr>
      </p:pic>
      <p:sp>
        <p:nvSpPr>
          <p:cNvPr id="42" name="Shape 36"/>
          <p:cNvSpPr/>
          <p:nvPr/>
        </p:nvSpPr>
        <p:spPr>
          <a:xfrm>
            <a:off x="335756" y="3846909"/>
            <a:ext cx="8472488" cy="7144"/>
          </a:xfrm>
          <a:prstGeom prst="rect">
            <a:avLst/>
          </a:prstGeom>
          <a:ln/>
        </p:spPr>
      </p:sp>
      <p:pic>
        <p:nvPicPr>
          <p:cNvPr id="43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35756" y="3846909"/>
            <a:ext cx="8472488" cy="7144"/>
          </a:xfrm>
          <a:prstGeom prst="rect">
            <a:avLst/>
          </a:prstGeom>
        </p:spPr>
      </p:pic>
      <p:sp>
        <p:nvSpPr>
          <p:cNvPr id="44" name="Shape 37"/>
          <p:cNvSpPr/>
          <p:nvPr/>
        </p:nvSpPr>
        <p:spPr>
          <a:xfrm>
            <a:off x="335756" y="3854053"/>
            <a:ext cx="8472488" cy="7144"/>
          </a:xfrm>
          <a:prstGeom prst="rect">
            <a:avLst/>
          </a:prstGeom>
          <a:ln/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35756" y="3854053"/>
            <a:ext cx="8472488" cy="7144"/>
          </a:xfrm>
          <a:prstGeom prst="rect">
            <a:avLst/>
          </a:prstGeom>
        </p:spPr>
      </p:pic>
      <p:sp>
        <p:nvSpPr>
          <p:cNvPr id="46" name="Shape 38"/>
          <p:cNvSpPr/>
          <p:nvPr/>
        </p:nvSpPr>
        <p:spPr>
          <a:xfrm>
            <a:off x="335756" y="3660837"/>
            <a:ext cx="8472488" cy="407194"/>
          </a:xfrm>
          <a:prstGeom prst="rect">
            <a:avLst/>
          </a:prstGeom>
          <a:ln/>
        </p:spPr>
      </p:sp>
      <p:pic>
        <p:nvPicPr>
          <p:cNvPr id="47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35756" y="3660837"/>
            <a:ext cx="8472488" cy="407194"/>
          </a:xfrm>
          <a:prstGeom prst="rect">
            <a:avLst/>
          </a:prstGeom>
        </p:spPr>
      </p:pic>
      <p:sp>
        <p:nvSpPr>
          <p:cNvPr id="48" name="Text 39"/>
          <p:cNvSpPr/>
          <p:nvPr/>
        </p:nvSpPr>
        <p:spPr>
          <a:xfrm>
            <a:off x="214313" y="383977"/>
            <a:ext cx="8715375" cy="27860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资金用途：280万元五项构成，合计校验一致</a:t>
            </a:r>
            <a:endParaRPr lang="en-US" sz="1900" dirty="0"/>
          </a:p>
        </p:txBody>
      </p:sp>
      <p:sp>
        <p:nvSpPr>
          <p:cNvPr id="49" name="Text 40"/>
          <p:cNvSpPr/>
          <p:nvPr/>
        </p:nvSpPr>
        <p:spPr>
          <a:xfrm>
            <a:off x="214313" y="1112639"/>
            <a:ext cx="8715375" cy="164306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总投资280万元＝厂房建设120＋设备采购60＋培训经费30＋品牌推广40＋流动资金30万元，五项合计校验一致，并逐项对应三年规划产出。</a:t>
            </a:r>
            <a:endParaRPr lang="en-US" sz="800" dirty="0"/>
          </a:p>
        </p:txBody>
      </p:sp>
      <p:sp>
        <p:nvSpPr>
          <p:cNvPr id="50" name="Text 41"/>
          <p:cNvSpPr/>
          <p:nvPr/>
        </p:nvSpPr>
        <p:spPr>
          <a:xfrm>
            <a:off x="334863" y="1507331"/>
            <a:ext cx="1092994" cy="135731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资金构成占比（5项）</a:t>
            </a:r>
            <a:endParaRPr lang="en-US" sz="900" dirty="0"/>
          </a:p>
        </p:txBody>
      </p:sp>
      <p:sp>
        <p:nvSpPr>
          <p:cNvPr id="51" name="Text 42"/>
          <p:cNvSpPr/>
          <p:nvPr/>
        </p:nvSpPr>
        <p:spPr>
          <a:xfrm>
            <a:off x="7680815" y="1482328"/>
            <a:ext cx="1128713" cy="185738"/>
          </a:xfrm>
          <a:prstGeom prst="roundRect">
            <a:avLst>
              <a:gd name="adj" fmla="val 61538"/>
            </a:avLst>
          </a:prstGeom>
          <a:solidFill>
            <a:srgbClr val="F0EEE6"/>
          </a:solidFill>
          <a:ln/>
        </p:spPr>
        <p:txBody>
          <a:bodyPr wrap="none" lIns="72866" tIns="24289" rIns="72866" bIns="24289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单位：万元 · 占比为测算</a:t>
            </a:r>
            <a:endParaRPr lang="en-US" sz="700" dirty="0"/>
          </a:p>
        </p:txBody>
      </p:sp>
      <p:sp>
        <p:nvSpPr>
          <p:cNvPr id="52" name="Text 43"/>
          <p:cNvSpPr/>
          <p:nvPr/>
        </p:nvSpPr>
        <p:spPr>
          <a:xfrm>
            <a:off x="442913" y="3019016"/>
            <a:ext cx="8768810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120+60+30+40+30＝280万元</a:t>
            </a:r>
            <a:pPr algn="l" indent="0" marL="0">
              <a:buNone/>
            </a:pPr>
            <a:r>
              <a:rPr lang="en-US" sz="7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（合计一致）</a:t>
            </a:r>
            <a:endParaRPr lang="en-US" sz="700" dirty="0"/>
          </a:p>
        </p:txBody>
      </p:sp>
      <p:sp>
        <p:nvSpPr>
          <p:cNvPr id="53" name="Text 44"/>
          <p:cNvSpPr/>
          <p:nvPr/>
        </p:nvSpPr>
        <p:spPr>
          <a:xfrm>
            <a:off x="442913" y="3177294"/>
            <a:ext cx="8272463" cy="1143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占比为测算值，保留一位小数并四舍五入，合计100.0%</a:t>
            </a:r>
            <a:endParaRPr lang="en-US" sz="700" dirty="0"/>
          </a:p>
        </p:txBody>
      </p:sp>
      <p:sp>
        <p:nvSpPr>
          <p:cNvPr id="54" name="Text 45"/>
          <p:cNvSpPr/>
          <p:nvPr/>
        </p:nvSpPr>
        <p:spPr>
          <a:xfrm>
            <a:off x="335812" y="3036094"/>
            <a:ext cx="1143000" cy="135731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资金—规划逐项对应表</a:t>
            </a:r>
            <a:endParaRPr lang="en-US" sz="900" dirty="0"/>
          </a:p>
        </p:txBody>
      </p:sp>
      <p:sp>
        <p:nvSpPr>
          <p:cNvPr id="55" name="Text 46"/>
          <p:cNvSpPr/>
          <p:nvPr/>
        </p:nvSpPr>
        <p:spPr>
          <a:xfrm>
            <a:off x="7243986" y="3011091"/>
            <a:ext cx="1564481" cy="185738"/>
          </a:xfrm>
          <a:prstGeom prst="roundRect">
            <a:avLst>
              <a:gd name="adj" fmla="val 61538"/>
            </a:avLst>
          </a:prstGeom>
          <a:solidFill>
            <a:srgbClr val="F0EEE6"/>
          </a:solidFill>
          <a:ln/>
        </p:spPr>
        <p:txBody>
          <a:bodyPr wrap="none" lIns="72866" tIns="24289" rIns="72866" bIns="24289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阵地 → 产能 → 能力 → 市场 → 周转</a:t>
            </a:r>
            <a:endParaRPr lang="en-US" sz="700" dirty="0"/>
          </a:p>
        </p:txBody>
      </p:sp>
      <p:sp>
        <p:nvSpPr>
          <p:cNvPr id="56" name="Text 47"/>
          <p:cNvSpPr/>
          <p:nvPr/>
        </p:nvSpPr>
        <p:spPr>
          <a:xfrm>
            <a:off x="335756" y="3268266"/>
            <a:ext cx="8472488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资金项</a:t>
            </a:r>
            <a:endParaRPr lang="en-US" sz="700" dirty="0"/>
          </a:p>
        </p:txBody>
      </p:sp>
      <p:sp>
        <p:nvSpPr>
          <p:cNvPr id="57" name="Text 48"/>
          <p:cNvSpPr/>
          <p:nvPr/>
        </p:nvSpPr>
        <p:spPr>
          <a:xfrm>
            <a:off x="335756" y="3396853"/>
            <a:ext cx="8472488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金额</a:t>
            </a:r>
            <a:endParaRPr lang="en-US" sz="700" dirty="0"/>
          </a:p>
        </p:txBody>
      </p:sp>
      <p:sp>
        <p:nvSpPr>
          <p:cNvPr id="58" name="Text 49"/>
          <p:cNvSpPr/>
          <p:nvPr/>
        </p:nvSpPr>
        <p:spPr>
          <a:xfrm>
            <a:off x="335756" y="3525441"/>
            <a:ext cx="8472488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对应阶段</a:t>
            </a:r>
            <a:endParaRPr lang="en-US" sz="700" dirty="0"/>
          </a:p>
        </p:txBody>
      </p:sp>
      <p:sp>
        <p:nvSpPr>
          <p:cNvPr id="59" name="Text 50"/>
          <p:cNvSpPr/>
          <p:nvPr/>
        </p:nvSpPr>
        <p:spPr>
          <a:xfrm>
            <a:off x="335756" y="3654028"/>
            <a:ext cx="8472488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形成的实物／能力产出</a:t>
            </a:r>
            <a:endParaRPr lang="en-US" sz="700" dirty="0"/>
          </a:p>
        </p:txBody>
      </p:sp>
      <p:sp>
        <p:nvSpPr>
          <p:cNvPr id="60" name="Text 51"/>
          <p:cNvSpPr/>
          <p:nvPr/>
        </p:nvSpPr>
        <p:spPr>
          <a:xfrm>
            <a:off x="335756" y="3830836"/>
            <a:ext cx="8472488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厂房建设</a:t>
            </a:r>
            <a:endParaRPr lang="en-US" sz="700" dirty="0"/>
          </a:p>
        </p:txBody>
      </p:sp>
      <p:sp>
        <p:nvSpPr>
          <p:cNvPr id="61" name="Text 52"/>
          <p:cNvSpPr/>
          <p:nvPr/>
        </p:nvSpPr>
        <p:spPr>
          <a:xfrm>
            <a:off x="335756" y="3971925"/>
            <a:ext cx="8472488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120万元</a:t>
            </a:r>
            <a:endParaRPr lang="en-US" sz="700" dirty="0"/>
          </a:p>
        </p:txBody>
      </p:sp>
      <p:sp>
        <p:nvSpPr>
          <p:cNvPr id="62" name="Text 53"/>
          <p:cNvSpPr/>
          <p:nvPr/>
        </p:nvSpPr>
        <p:spPr>
          <a:xfrm>
            <a:off x="335756" y="4121944"/>
            <a:ext cx="8472488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第一年</a:t>
            </a:r>
            <a:endParaRPr lang="en-US" sz="700" dirty="0"/>
          </a:p>
        </p:txBody>
      </p:sp>
      <p:sp>
        <p:nvSpPr>
          <p:cNvPr id="63" name="Text 54"/>
          <p:cNvSpPr/>
          <p:nvPr/>
        </p:nvSpPr>
        <p:spPr>
          <a:xfrm>
            <a:off x="335756" y="4250978"/>
            <a:ext cx="8472488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800㎡工坊建成投用，形成生产阵地与培训场所</a:t>
            </a:r>
            <a:endParaRPr lang="en-US" sz="700" dirty="0"/>
          </a:p>
        </p:txBody>
      </p:sp>
      <p:sp>
        <p:nvSpPr>
          <p:cNvPr id="64" name="Text 55"/>
          <p:cNvSpPr/>
          <p:nvPr/>
        </p:nvSpPr>
        <p:spPr>
          <a:xfrm>
            <a:off x="335756" y="3837980"/>
            <a:ext cx="8472488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设备采购</a:t>
            </a:r>
            <a:endParaRPr lang="en-US" sz="700" dirty="0"/>
          </a:p>
        </p:txBody>
      </p:sp>
      <p:sp>
        <p:nvSpPr>
          <p:cNvPr id="65" name="Text 56"/>
          <p:cNvSpPr/>
          <p:nvPr/>
        </p:nvSpPr>
        <p:spPr>
          <a:xfrm>
            <a:off x="335756" y="3979069"/>
            <a:ext cx="8472488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60万元</a:t>
            </a:r>
            <a:endParaRPr lang="en-US" sz="700" dirty="0"/>
          </a:p>
        </p:txBody>
      </p:sp>
      <p:sp>
        <p:nvSpPr>
          <p:cNvPr id="66" name="Text 57"/>
          <p:cNvSpPr/>
          <p:nvPr/>
        </p:nvSpPr>
        <p:spPr>
          <a:xfrm>
            <a:off x="335756" y="4129088"/>
            <a:ext cx="8472488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第一年进场、第二年扩产</a:t>
            </a:r>
            <a:endParaRPr lang="en-US" sz="700" dirty="0"/>
          </a:p>
        </p:txBody>
      </p:sp>
      <p:sp>
        <p:nvSpPr>
          <p:cNvPr id="67" name="Text 58"/>
          <p:cNvSpPr/>
          <p:nvPr/>
        </p:nvSpPr>
        <p:spPr>
          <a:xfrm>
            <a:off x="335756" y="4258121"/>
            <a:ext cx="8472488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支撑年产量10万件的原料处理、编织辅助与烘干定型能力</a:t>
            </a:r>
            <a:endParaRPr lang="en-US" sz="700" dirty="0"/>
          </a:p>
        </p:txBody>
      </p:sp>
      <p:sp>
        <p:nvSpPr>
          <p:cNvPr id="68" name="Text 59"/>
          <p:cNvSpPr/>
          <p:nvPr/>
        </p:nvSpPr>
        <p:spPr>
          <a:xfrm>
            <a:off x="335756" y="3845123"/>
            <a:ext cx="8472488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培训经费</a:t>
            </a:r>
            <a:endParaRPr lang="en-US" sz="700" dirty="0"/>
          </a:p>
        </p:txBody>
      </p:sp>
      <p:sp>
        <p:nvSpPr>
          <p:cNvPr id="69" name="Text 60"/>
          <p:cNvSpPr/>
          <p:nvPr/>
        </p:nvSpPr>
        <p:spPr>
          <a:xfrm>
            <a:off x="335756" y="3986213"/>
            <a:ext cx="8472488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30万元</a:t>
            </a:r>
            <a:endParaRPr lang="en-US" sz="700" dirty="0"/>
          </a:p>
        </p:txBody>
      </p:sp>
      <p:sp>
        <p:nvSpPr>
          <p:cNvPr id="70" name="Text 61"/>
          <p:cNvSpPr/>
          <p:nvPr/>
        </p:nvSpPr>
        <p:spPr>
          <a:xfrm>
            <a:off x="335756" y="4136231"/>
            <a:ext cx="8472488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第一年为主、延续第二年</a:t>
            </a:r>
            <a:endParaRPr lang="en-US" sz="700" dirty="0"/>
          </a:p>
        </p:txBody>
      </p:sp>
      <p:sp>
        <p:nvSpPr>
          <p:cNvPr id="71" name="Text 62"/>
          <p:cNvSpPr/>
          <p:nvPr/>
        </p:nvSpPr>
        <p:spPr>
          <a:xfrm>
            <a:off x="335756" y="4265265"/>
            <a:ext cx="8472488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培训50人，支撑计件农户由60户扩至120户</a:t>
            </a:r>
            <a:endParaRPr lang="en-US" sz="700" dirty="0"/>
          </a:p>
        </p:txBody>
      </p:sp>
      <p:sp>
        <p:nvSpPr>
          <p:cNvPr id="72" name="Text 63"/>
          <p:cNvSpPr/>
          <p:nvPr/>
        </p:nvSpPr>
        <p:spPr>
          <a:xfrm>
            <a:off x="335756" y="3852267"/>
            <a:ext cx="8472488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品牌推广</a:t>
            </a:r>
            <a:endParaRPr lang="en-US" sz="700" dirty="0"/>
          </a:p>
        </p:txBody>
      </p:sp>
      <p:sp>
        <p:nvSpPr>
          <p:cNvPr id="73" name="Text 64"/>
          <p:cNvSpPr/>
          <p:nvPr/>
        </p:nvSpPr>
        <p:spPr>
          <a:xfrm>
            <a:off x="335756" y="3993356"/>
            <a:ext cx="8472488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40万元</a:t>
            </a:r>
            <a:endParaRPr lang="en-US" sz="700" dirty="0"/>
          </a:p>
        </p:txBody>
      </p:sp>
      <p:sp>
        <p:nvSpPr>
          <p:cNvPr id="74" name="Text 65"/>
          <p:cNvSpPr/>
          <p:nvPr/>
        </p:nvSpPr>
        <p:spPr>
          <a:xfrm>
            <a:off x="335756" y="4143375"/>
            <a:ext cx="8472488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第三年</a:t>
            </a:r>
            <a:endParaRPr lang="en-US" sz="700" dirty="0"/>
          </a:p>
        </p:txBody>
      </p:sp>
      <p:sp>
        <p:nvSpPr>
          <p:cNvPr id="75" name="Text 66"/>
          <p:cNvSpPr/>
          <p:nvPr/>
        </p:nvSpPr>
        <p:spPr>
          <a:xfrm>
            <a:off x="335756" y="4272409"/>
            <a:ext cx="8472488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品牌包装设计与电商平台入驻运营，形成市场出口</a:t>
            </a:r>
            <a:endParaRPr lang="en-US" sz="700" dirty="0"/>
          </a:p>
        </p:txBody>
      </p:sp>
      <p:sp>
        <p:nvSpPr>
          <p:cNvPr id="76" name="Text 67"/>
          <p:cNvSpPr/>
          <p:nvPr/>
        </p:nvSpPr>
        <p:spPr>
          <a:xfrm>
            <a:off x="335756" y="3859411"/>
            <a:ext cx="8472488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流动资金</a:t>
            </a:r>
            <a:endParaRPr lang="en-US" sz="700" dirty="0"/>
          </a:p>
        </p:txBody>
      </p:sp>
      <p:sp>
        <p:nvSpPr>
          <p:cNvPr id="77" name="Text 68"/>
          <p:cNvSpPr/>
          <p:nvPr/>
        </p:nvSpPr>
        <p:spPr>
          <a:xfrm>
            <a:off x="335756" y="4000500"/>
            <a:ext cx="8472488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30万元</a:t>
            </a:r>
            <a:endParaRPr lang="en-US" sz="700" dirty="0"/>
          </a:p>
        </p:txBody>
      </p:sp>
      <p:sp>
        <p:nvSpPr>
          <p:cNvPr id="78" name="Text 69"/>
          <p:cNvSpPr/>
          <p:nvPr/>
        </p:nvSpPr>
        <p:spPr>
          <a:xfrm>
            <a:off x="335756" y="4150519"/>
            <a:ext cx="8472488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三年滚动</a:t>
            </a:r>
            <a:endParaRPr lang="en-US" sz="700" dirty="0"/>
          </a:p>
        </p:txBody>
      </p:sp>
      <p:sp>
        <p:nvSpPr>
          <p:cNvPr id="79" name="Text 70"/>
          <p:cNvSpPr/>
          <p:nvPr/>
        </p:nvSpPr>
        <p:spPr>
          <a:xfrm>
            <a:off x="335756" y="4279553"/>
            <a:ext cx="8472488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原料统一采购与按件计酬按月兑付周转，保障不断链</a:t>
            </a:r>
            <a:endParaRPr lang="en-US" sz="700" dirty="0"/>
          </a:p>
        </p:txBody>
      </p:sp>
      <p:sp>
        <p:nvSpPr>
          <p:cNvPr id="80" name="Text 71"/>
          <p:cNvSpPr/>
          <p:nvPr/>
        </p:nvSpPr>
        <p:spPr>
          <a:xfrm>
            <a:off x="336984" y="3756943"/>
            <a:ext cx="628650" cy="135731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资金管理与合规</a:t>
            </a:r>
            <a:endParaRPr lang="en-US" sz="700" dirty="0"/>
          </a:p>
        </p:txBody>
      </p:sp>
      <p:sp>
        <p:nvSpPr>
          <p:cNvPr id="81" name="Text 72"/>
          <p:cNvSpPr/>
          <p:nvPr/>
        </p:nvSpPr>
        <p:spPr>
          <a:xfrm>
            <a:off x="1025742" y="3739083"/>
            <a:ext cx="485775" cy="171450"/>
          </a:xfrm>
          <a:prstGeom prst="roundRect">
            <a:avLst>
              <a:gd name="adj" fmla="val 66667"/>
            </a:avLst>
          </a:prstGeom>
          <a:solidFill>
            <a:srgbClr val="F0EEE6"/>
          </a:solidFill>
          <a:ln/>
        </p:spPr>
        <p:txBody>
          <a:bodyPr wrap="none" lIns="60722" tIns="18217" rIns="60722" bIns="18217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专账核算</a:t>
            </a:r>
            <a:endParaRPr lang="en-US" sz="700" dirty="0"/>
          </a:p>
        </p:txBody>
      </p:sp>
      <p:sp>
        <p:nvSpPr>
          <p:cNvPr id="82" name="Text 73"/>
          <p:cNvSpPr/>
          <p:nvPr/>
        </p:nvSpPr>
        <p:spPr>
          <a:xfrm>
            <a:off x="1569002" y="3739083"/>
            <a:ext cx="578644" cy="171450"/>
          </a:xfrm>
          <a:prstGeom prst="roundRect">
            <a:avLst>
              <a:gd name="adj" fmla="val 66667"/>
            </a:avLst>
          </a:prstGeom>
          <a:solidFill>
            <a:srgbClr val="F0EEE6"/>
          </a:solidFill>
          <a:ln/>
        </p:spPr>
        <p:txBody>
          <a:bodyPr wrap="none" lIns="60722" tIns="18217" rIns="60722" bIns="18217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按进度拨付</a:t>
            </a:r>
            <a:endParaRPr lang="en-US" sz="700" dirty="0"/>
          </a:p>
        </p:txBody>
      </p:sp>
      <p:sp>
        <p:nvSpPr>
          <p:cNvPr id="83" name="Text 74"/>
          <p:cNvSpPr/>
          <p:nvPr/>
        </p:nvSpPr>
        <p:spPr>
          <a:xfrm>
            <a:off x="2202005" y="3739083"/>
            <a:ext cx="578644" cy="171450"/>
          </a:xfrm>
          <a:prstGeom prst="roundRect">
            <a:avLst>
              <a:gd name="adj" fmla="val 66667"/>
            </a:avLst>
          </a:prstGeom>
          <a:solidFill>
            <a:srgbClr val="F0EEE6"/>
          </a:solidFill>
          <a:ln/>
        </p:spPr>
        <p:txBody>
          <a:bodyPr wrap="none" lIns="60722" tIns="18217" rIns="60722" bIns="18217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验收后结算</a:t>
            </a:r>
            <a:endParaRPr lang="en-US" sz="700" dirty="0"/>
          </a:p>
        </p:txBody>
      </p:sp>
      <p:sp>
        <p:nvSpPr>
          <p:cNvPr id="84" name="Text 75"/>
          <p:cNvSpPr/>
          <p:nvPr/>
        </p:nvSpPr>
        <p:spPr>
          <a:xfrm>
            <a:off x="2838134" y="3739083"/>
            <a:ext cx="485775" cy="171450"/>
          </a:xfrm>
          <a:prstGeom prst="roundRect">
            <a:avLst>
              <a:gd name="adj" fmla="val 66667"/>
            </a:avLst>
          </a:prstGeom>
          <a:solidFill>
            <a:srgbClr val="F0EEE6"/>
          </a:solidFill>
          <a:ln/>
        </p:spPr>
        <p:txBody>
          <a:bodyPr wrap="none" lIns="60722" tIns="18217" rIns="60722" bIns="18217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留存凭证</a:t>
            </a:r>
            <a:endParaRPr lang="en-US" sz="700" dirty="0"/>
          </a:p>
        </p:txBody>
      </p:sp>
      <p:sp>
        <p:nvSpPr>
          <p:cNvPr id="85" name="Text 76"/>
          <p:cNvSpPr/>
          <p:nvPr/>
        </p:nvSpPr>
        <p:spPr>
          <a:xfrm>
            <a:off x="335756" y="3953731"/>
            <a:ext cx="8472488" cy="1143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符合县级扶持资金与乡村振兴项目库管理要求（文旅部 工坊认定通知）；分渠道列支、科目不混用，配套结构按县级主管部门核定执行。</a:t>
            </a:r>
            <a:endParaRPr lang="en-US" sz="700" dirty="0"/>
          </a:p>
        </p:txBody>
      </p:sp>
      <p:sp>
        <p:nvSpPr>
          <p:cNvPr id="86" name="Text 77"/>
          <p:cNvSpPr/>
          <p:nvPr/>
        </p:nvSpPr>
        <p:spPr>
          <a:xfrm>
            <a:off x="214313" y="4514850"/>
            <a:ext cx="8715375" cy="30003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数据来源：申报口径给定值（总投资280万元；厂房120／设备60／培训30／品牌40／流动资金30万元）；占比为金额÷280万元的算术测算值，四舍五入保留一位小数后合计100.0%；合规口径参照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文旅部工坊认定通知与县级衔接资金管理要求。</a:t>
            </a:r>
            <a:endParaRPr lang="en-US" sz="700" dirty="0"/>
          </a:p>
        </p:txBody>
      </p:sp>
      <p:sp>
        <p:nvSpPr>
          <p:cNvPr id="65535" name="wm:hwcld:2026-09-22T19:19:56:64984ecd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214313" y="746522"/>
            <a:ext cx="428625" cy="14288"/>
          </a:xfrm>
          <a:prstGeom prst="rect">
            <a:avLst/>
          </a:prstGeom>
          <a:solidFill>
            <a:srgbClr val="C96442"/>
          </a:solidFill>
          <a:ln/>
        </p:spPr>
      </p:sp>
      <p:sp>
        <p:nvSpPr>
          <p:cNvPr id="4" name="Shape 2"/>
          <p:cNvSpPr/>
          <p:nvPr/>
        </p:nvSpPr>
        <p:spPr>
          <a:xfrm>
            <a:off x="214313" y="1250938"/>
            <a:ext cx="8715375" cy="1214438"/>
          </a:xfrm>
          <a:prstGeom prst="roundRect">
            <a:avLst>
              <a:gd name="adj" fmla="val 5315"/>
            </a:avLst>
          </a:prstGeom>
          <a:solidFill>
            <a:srgbClr val="FAF9F5"/>
          </a:solidFill>
          <a:ln w="6191">
            <a:solidFill>
              <a:srgbClr val="F0EEE6"/>
            </a:solidFill>
            <a:prstDash val="solid"/>
          </a:ln>
          <a:effectLst>
            <a:outerShdw sx="100000" sy="100000" kx="0" ky="0" algn="bl" rotWithShape="0" blurRad="171450" dist="28575" dir="5400000">
              <a:srgbClr val="000000">
                <a:alpha val="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14325" y="2030667"/>
            <a:ext cx="8515350" cy="2857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4325" y="2030667"/>
            <a:ext cx="8515350" cy="28575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14325" y="2505894"/>
            <a:ext cx="8472488" cy="7144"/>
          </a:xfrm>
          <a:prstGeom prst="rect">
            <a:avLst/>
          </a:prstGeom>
          <a:solidFill>
            <a:srgbClr val="D1CFC5"/>
          </a:solidFill>
          <a:ln/>
        </p:spPr>
      </p:sp>
      <p:sp>
        <p:nvSpPr>
          <p:cNvPr id="8" name="Shape 5"/>
          <p:cNvSpPr/>
          <p:nvPr/>
        </p:nvSpPr>
        <p:spPr>
          <a:xfrm>
            <a:off x="8786813" y="2480890"/>
            <a:ext cx="42863" cy="57150"/>
          </a:xfrm>
          <a:prstGeom prst="rect">
            <a:avLst/>
          </a:prstGeom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86813" y="2480890"/>
            <a:ext cx="42863" cy="5715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14325" y="2595302"/>
            <a:ext cx="8515350" cy="135731"/>
          </a:xfrm>
          <a:prstGeom prst="roundRect">
            <a:avLst>
              <a:gd name="adj" fmla="val 70914"/>
            </a:avLst>
          </a:prstGeom>
          <a:solidFill>
            <a:srgbClr val="FFFFFF"/>
          </a:solidFill>
          <a:ln w="6191">
            <a:solidFill>
              <a:srgbClr val="F0EEE6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314325" y="2766138"/>
            <a:ext cx="8515350" cy="2857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14325" y="2766138"/>
            <a:ext cx="8515350" cy="28575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314325" y="3335127"/>
            <a:ext cx="8472488" cy="7144"/>
          </a:xfrm>
          <a:prstGeom prst="rect">
            <a:avLst/>
          </a:prstGeom>
          <a:solidFill>
            <a:srgbClr val="D1CFC5"/>
          </a:solidFill>
          <a:ln/>
        </p:spPr>
      </p:sp>
      <p:sp>
        <p:nvSpPr>
          <p:cNvPr id="14" name="Shape 9"/>
          <p:cNvSpPr/>
          <p:nvPr/>
        </p:nvSpPr>
        <p:spPr>
          <a:xfrm>
            <a:off x="8786813" y="3310124"/>
            <a:ext cx="42863" cy="57150"/>
          </a:xfrm>
          <a:prstGeom prst="rect">
            <a:avLst/>
          </a:prstGeom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786813" y="3310124"/>
            <a:ext cx="42863" cy="5715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314325" y="3424535"/>
            <a:ext cx="8515350" cy="135731"/>
          </a:xfrm>
          <a:prstGeom prst="roundRect">
            <a:avLst>
              <a:gd name="adj" fmla="val 70914"/>
            </a:avLst>
          </a:prstGeom>
          <a:solidFill>
            <a:srgbClr val="FFFFFF"/>
          </a:solidFill>
          <a:ln w="6191">
            <a:solidFill>
              <a:srgbClr val="F0EEE6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314325" y="3595371"/>
            <a:ext cx="8515350" cy="2857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14325" y="3595371"/>
            <a:ext cx="8515350" cy="285750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314325" y="4164360"/>
            <a:ext cx="8472488" cy="7144"/>
          </a:xfrm>
          <a:prstGeom prst="rect">
            <a:avLst/>
          </a:prstGeom>
          <a:solidFill>
            <a:srgbClr val="D1CFC5"/>
          </a:solidFill>
          <a:ln/>
        </p:spPr>
      </p:sp>
      <p:sp>
        <p:nvSpPr>
          <p:cNvPr id="20" name="Shape 13"/>
          <p:cNvSpPr/>
          <p:nvPr/>
        </p:nvSpPr>
        <p:spPr>
          <a:xfrm>
            <a:off x="8786813" y="4139357"/>
            <a:ext cx="42863" cy="57150"/>
          </a:xfrm>
          <a:prstGeom prst="rect">
            <a:avLst/>
          </a:prstGeom>
          <a:ln/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786813" y="4139357"/>
            <a:ext cx="42863" cy="57150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314325" y="4253768"/>
            <a:ext cx="8515350" cy="135731"/>
          </a:xfrm>
          <a:prstGeom prst="roundRect">
            <a:avLst>
              <a:gd name="adj" fmla="val 70914"/>
            </a:avLst>
          </a:prstGeom>
          <a:solidFill>
            <a:srgbClr val="FFFFFF"/>
          </a:solidFill>
          <a:ln w="6191">
            <a:solidFill>
              <a:srgbClr val="F0EEE6"/>
            </a:solidFill>
            <a:prstDash val="solid"/>
          </a:ln>
        </p:spPr>
      </p:sp>
      <p:sp>
        <p:nvSpPr>
          <p:cNvPr id="23" name="Shape 15"/>
          <p:cNvSpPr/>
          <p:nvPr/>
        </p:nvSpPr>
        <p:spPr>
          <a:xfrm>
            <a:off x="314325" y="4424604"/>
            <a:ext cx="8515350" cy="2857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14325" y="4424604"/>
            <a:ext cx="8515350" cy="285750"/>
          </a:xfrm>
          <a:prstGeom prst="rect">
            <a:avLst/>
          </a:prstGeom>
        </p:spPr>
      </p:pic>
      <p:sp>
        <p:nvSpPr>
          <p:cNvPr id="25" name="Shape 16"/>
          <p:cNvSpPr/>
          <p:nvPr/>
        </p:nvSpPr>
        <p:spPr>
          <a:xfrm>
            <a:off x="314325" y="4899831"/>
            <a:ext cx="8472488" cy="7144"/>
          </a:xfrm>
          <a:prstGeom prst="rect">
            <a:avLst/>
          </a:prstGeom>
          <a:solidFill>
            <a:srgbClr val="D1CFC5"/>
          </a:solidFill>
          <a:ln/>
        </p:spPr>
      </p:sp>
      <p:sp>
        <p:nvSpPr>
          <p:cNvPr id="26" name="Shape 17"/>
          <p:cNvSpPr/>
          <p:nvPr/>
        </p:nvSpPr>
        <p:spPr>
          <a:xfrm>
            <a:off x="8786813" y="4874828"/>
            <a:ext cx="42863" cy="57150"/>
          </a:xfrm>
          <a:prstGeom prst="rect">
            <a:avLst/>
          </a:prstGeom>
          <a:ln/>
        </p:spPr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786813" y="4874828"/>
            <a:ext cx="42863" cy="57150"/>
          </a:xfrm>
          <a:prstGeom prst="rect">
            <a:avLst/>
          </a:prstGeom>
        </p:spPr>
      </p:pic>
      <p:sp>
        <p:nvSpPr>
          <p:cNvPr id="28" name="Shape 18"/>
          <p:cNvSpPr/>
          <p:nvPr/>
        </p:nvSpPr>
        <p:spPr>
          <a:xfrm>
            <a:off x="314325" y="4989240"/>
            <a:ext cx="8515350" cy="135731"/>
          </a:xfrm>
          <a:prstGeom prst="roundRect">
            <a:avLst>
              <a:gd name="adj" fmla="val 70914"/>
            </a:avLst>
          </a:prstGeom>
          <a:solidFill>
            <a:srgbClr val="FFFFFF"/>
          </a:solidFill>
          <a:ln w="6191">
            <a:solidFill>
              <a:srgbClr val="F0EEE6"/>
            </a:solidFill>
            <a:prstDash val="solid"/>
          </a:ln>
        </p:spPr>
      </p:sp>
      <p:sp>
        <p:nvSpPr>
          <p:cNvPr id="29" name="Shape 19"/>
          <p:cNvSpPr/>
          <p:nvPr/>
        </p:nvSpPr>
        <p:spPr>
          <a:xfrm>
            <a:off x="314325" y="5160076"/>
            <a:ext cx="8515350" cy="2857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14325" y="5160076"/>
            <a:ext cx="8515350" cy="285750"/>
          </a:xfrm>
          <a:prstGeom prst="rect">
            <a:avLst/>
          </a:prstGeom>
        </p:spPr>
      </p:pic>
      <p:sp>
        <p:nvSpPr>
          <p:cNvPr id="31" name="Shape 20"/>
          <p:cNvSpPr/>
          <p:nvPr/>
        </p:nvSpPr>
        <p:spPr>
          <a:xfrm>
            <a:off x="314325" y="5635303"/>
            <a:ext cx="8472488" cy="7144"/>
          </a:xfrm>
          <a:prstGeom prst="rect">
            <a:avLst/>
          </a:prstGeom>
          <a:solidFill>
            <a:srgbClr val="D1CFC5"/>
          </a:solidFill>
          <a:ln/>
        </p:spPr>
      </p:sp>
      <p:sp>
        <p:nvSpPr>
          <p:cNvPr id="32" name="Shape 21"/>
          <p:cNvSpPr/>
          <p:nvPr/>
        </p:nvSpPr>
        <p:spPr>
          <a:xfrm>
            <a:off x="8786813" y="5610299"/>
            <a:ext cx="42863" cy="57150"/>
          </a:xfrm>
          <a:prstGeom prst="rect">
            <a:avLst/>
          </a:prstGeom>
          <a:ln/>
        </p:spPr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786813" y="5610299"/>
            <a:ext cx="42863" cy="57150"/>
          </a:xfrm>
          <a:prstGeom prst="rect">
            <a:avLst/>
          </a:prstGeom>
        </p:spPr>
      </p:pic>
      <p:sp>
        <p:nvSpPr>
          <p:cNvPr id="34" name="Shape 22"/>
          <p:cNvSpPr/>
          <p:nvPr/>
        </p:nvSpPr>
        <p:spPr>
          <a:xfrm>
            <a:off x="314325" y="5724711"/>
            <a:ext cx="8515350" cy="135731"/>
          </a:xfrm>
          <a:prstGeom prst="roundRect">
            <a:avLst>
              <a:gd name="adj" fmla="val 70914"/>
            </a:avLst>
          </a:prstGeom>
          <a:solidFill>
            <a:srgbClr val="FFFFFF"/>
          </a:solidFill>
          <a:ln w="6191">
            <a:solidFill>
              <a:srgbClr val="F0EEE6"/>
            </a:solidFill>
            <a:prstDash val="solid"/>
          </a:ln>
        </p:spPr>
      </p:sp>
      <p:sp>
        <p:nvSpPr>
          <p:cNvPr id="35" name="Shape 23"/>
          <p:cNvSpPr/>
          <p:nvPr/>
        </p:nvSpPr>
        <p:spPr>
          <a:xfrm>
            <a:off x="314325" y="2131405"/>
            <a:ext cx="8515350" cy="235744"/>
          </a:xfrm>
          <a:prstGeom prst="roundRect">
            <a:avLst>
              <a:gd name="adj" fmla="val 23508"/>
            </a:avLst>
          </a:prstGeom>
          <a:solidFill>
            <a:srgbClr val="141413"/>
          </a:solidFill>
          <a:ln/>
        </p:spPr>
      </p:sp>
      <p:sp>
        <p:nvSpPr>
          <p:cNvPr id="36" name="Shape 24"/>
          <p:cNvSpPr/>
          <p:nvPr/>
        </p:nvSpPr>
        <p:spPr>
          <a:xfrm>
            <a:off x="214313" y="2693975"/>
            <a:ext cx="4314825" cy="371475"/>
          </a:xfrm>
          <a:prstGeom prst="roundRect">
            <a:avLst>
              <a:gd name="adj" fmla="val 11834"/>
            </a:avLst>
          </a:prstGeom>
          <a:solidFill>
            <a:srgbClr val="FAF9F5"/>
          </a:solidFill>
          <a:ln/>
        </p:spPr>
      </p:sp>
      <p:pic>
        <p:nvPicPr>
          <p:cNvPr id="37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14313" y="2693975"/>
            <a:ext cx="4314825" cy="371475"/>
          </a:xfrm>
          <a:prstGeom prst="rect">
            <a:avLst/>
          </a:prstGeom>
        </p:spPr>
      </p:pic>
      <p:sp>
        <p:nvSpPr>
          <p:cNvPr id="38" name="Shape 25"/>
          <p:cNvSpPr/>
          <p:nvPr/>
        </p:nvSpPr>
        <p:spPr>
          <a:xfrm>
            <a:off x="4614863" y="2693975"/>
            <a:ext cx="4314825" cy="371475"/>
          </a:xfrm>
          <a:prstGeom prst="roundRect">
            <a:avLst>
              <a:gd name="adj" fmla="val 11834"/>
            </a:avLst>
          </a:prstGeom>
          <a:solidFill>
            <a:srgbClr val="FAF9F5"/>
          </a:solidFill>
          <a:ln/>
        </p:spPr>
      </p:sp>
      <p:pic>
        <p:nvPicPr>
          <p:cNvPr id="39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4614863" y="2693975"/>
            <a:ext cx="4314825" cy="371475"/>
          </a:xfrm>
          <a:prstGeom prst="rect">
            <a:avLst/>
          </a:prstGeom>
        </p:spPr>
      </p:pic>
      <p:sp>
        <p:nvSpPr>
          <p:cNvPr id="40" name="Shape 26"/>
          <p:cNvSpPr/>
          <p:nvPr/>
        </p:nvSpPr>
        <p:spPr>
          <a:xfrm>
            <a:off x="214313" y="3151175"/>
            <a:ext cx="8715375" cy="557213"/>
          </a:xfrm>
          <a:prstGeom prst="roundRect">
            <a:avLst>
              <a:gd name="adj" fmla="val 6312"/>
            </a:avLst>
          </a:prstGeom>
          <a:solidFill>
            <a:srgbClr val="FAF9F5"/>
          </a:solidFill>
          <a:ln w="6191">
            <a:solidFill>
              <a:srgbClr val="F0EEE6"/>
            </a:solidFill>
            <a:prstDash val="solid"/>
          </a:ln>
        </p:spPr>
      </p:sp>
      <p:sp>
        <p:nvSpPr>
          <p:cNvPr id="41" name="Shape 27"/>
          <p:cNvSpPr/>
          <p:nvPr/>
        </p:nvSpPr>
        <p:spPr>
          <a:xfrm>
            <a:off x="307181" y="3399420"/>
            <a:ext cx="8529638" cy="500063"/>
          </a:xfrm>
          <a:prstGeom prst="rect">
            <a:avLst/>
          </a:prstGeom>
          <a:ln/>
        </p:spPr>
      </p:sp>
      <p:pic>
        <p:nvPicPr>
          <p:cNvPr id="42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307181" y="3399420"/>
            <a:ext cx="8529638" cy="500063"/>
          </a:xfrm>
          <a:prstGeom prst="rect">
            <a:avLst/>
          </a:prstGeom>
        </p:spPr>
      </p:pic>
      <p:sp>
        <p:nvSpPr>
          <p:cNvPr id="43" name="Shape 28"/>
          <p:cNvSpPr/>
          <p:nvPr/>
        </p:nvSpPr>
        <p:spPr>
          <a:xfrm>
            <a:off x="307181" y="3900599"/>
            <a:ext cx="8529638" cy="471488"/>
          </a:xfrm>
          <a:prstGeom prst="rect">
            <a:avLst/>
          </a:prstGeom>
          <a:ln/>
        </p:spPr>
      </p:sp>
      <p:pic>
        <p:nvPicPr>
          <p:cNvPr id="44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307181" y="3900599"/>
            <a:ext cx="8529638" cy="471488"/>
          </a:xfrm>
          <a:prstGeom prst="rect">
            <a:avLst/>
          </a:prstGeom>
        </p:spPr>
      </p:pic>
      <p:sp>
        <p:nvSpPr>
          <p:cNvPr id="45" name="Shape 29"/>
          <p:cNvSpPr/>
          <p:nvPr/>
        </p:nvSpPr>
        <p:spPr>
          <a:xfrm>
            <a:off x="307181" y="4374319"/>
            <a:ext cx="8529638" cy="471488"/>
          </a:xfrm>
          <a:prstGeom prst="rect">
            <a:avLst/>
          </a:prstGeom>
          <a:ln/>
        </p:spPr>
      </p:sp>
      <p:pic>
        <p:nvPicPr>
          <p:cNvPr id="46" name="Image 14" descr="preencoded.png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307181" y="4374319"/>
            <a:ext cx="8529638" cy="471488"/>
          </a:xfrm>
          <a:prstGeom prst="rect">
            <a:avLst/>
          </a:prstGeom>
        </p:spPr>
      </p:pic>
      <p:sp>
        <p:nvSpPr>
          <p:cNvPr id="47" name="Shape 30"/>
          <p:cNvSpPr/>
          <p:nvPr/>
        </p:nvSpPr>
        <p:spPr>
          <a:xfrm>
            <a:off x="307181" y="4848039"/>
            <a:ext cx="8529638" cy="471488"/>
          </a:xfrm>
          <a:prstGeom prst="rect">
            <a:avLst/>
          </a:prstGeom>
          <a:ln/>
        </p:spPr>
      </p:sp>
      <p:pic>
        <p:nvPicPr>
          <p:cNvPr id="48" name="Image 15" descr="preencoded.png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307181" y="4848039"/>
            <a:ext cx="8529638" cy="471488"/>
          </a:xfrm>
          <a:prstGeom prst="rect">
            <a:avLst/>
          </a:prstGeom>
        </p:spPr>
      </p:pic>
      <p:sp>
        <p:nvSpPr>
          <p:cNvPr id="49" name="Shape 31"/>
          <p:cNvSpPr/>
          <p:nvPr/>
        </p:nvSpPr>
        <p:spPr>
          <a:xfrm>
            <a:off x="214313" y="3794168"/>
            <a:ext cx="8715375" cy="500063"/>
          </a:xfrm>
          <a:prstGeom prst="roundRect">
            <a:avLst>
              <a:gd name="adj" fmla="val 7837"/>
            </a:avLst>
          </a:prstGeom>
          <a:solidFill>
            <a:srgbClr val="FAF9F5"/>
          </a:solidFill>
          <a:ln w="6191">
            <a:solidFill>
              <a:srgbClr val="E8E6DC"/>
            </a:solidFill>
            <a:prstDash val="solid"/>
          </a:ln>
        </p:spPr>
      </p:sp>
      <p:pic>
        <p:nvPicPr>
          <p:cNvPr id="50" name="Image 16" descr="preencoded.png">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2480667" y="3865606"/>
            <a:ext cx="2035969" cy="357187"/>
          </a:xfrm>
          <a:prstGeom prst="rect">
            <a:avLst/>
          </a:prstGeom>
        </p:spPr>
      </p:pic>
      <p:pic>
        <p:nvPicPr>
          <p:cNvPr id="51" name="Image 17" descr="preencoded.png">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4627364" y="3865606"/>
            <a:ext cx="2035969" cy="357187"/>
          </a:xfrm>
          <a:prstGeom prst="rect">
            <a:avLst/>
          </a:prstGeom>
        </p:spPr>
      </p:pic>
      <p:pic>
        <p:nvPicPr>
          <p:cNvPr id="52" name="Image 18" descr="preencoded.png">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6774061" y="3865606"/>
            <a:ext cx="2035969" cy="357187"/>
          </a:xfrm>
          <a:prstGeom prst="rect">
            <a:avLst/>
          </a:prstGeom>
        </p:spPr>
      </p:pic>
      <p:sp>
        <p:nvSpPr>
          <p:cNvPr id="53" name="Text 32"/>
          <p:cNvSpPr/>
          <p:nvPr/>
        </p:nvSpPr>
        <p:spPr>
          <a:xfrm>
            <a:off x="214313" y="383977"/>
            <a:ext cx="8715375" cy="27860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效益保障：投入产出可考核，四类风险有防控</a:t>
            </a:r>
            <a:endParaRPr lang="en-US" sz="1900" dirty="0"/>
          </a:p>
        </p:txBody>
      </p:sp>
      <p:sp>
        <p:nvSpPr>
          <p:cNvPr id="54" name="Text 33"/>
          <p:cNvSpPr/>
          <p:nvPr/>
        </p:nvSpPr>
        <p:spPr>
          <a:xfrm>
            <a:off x="214313" y="1008943"/>
            <a:ext cx="8715375" cy="157163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280万元形成800㎡工坊、年产量10万件产能，带动计件农户60户→120户、人均月增收约1800元；四类风险均有防控措施与责任主体，四类保障机制同步落地。</a:t>
            </a:r>
            <a:endParaRPr lang="en-US" sz="800" dirty="0"/>
          </a:p>
        </p:txBody>
      </p:sp>
      <p:sp>
        <p:nvSpPr>
          <p:cNvPr id="55" name="Text 34"/>
          <p:cNvSpPr/>
          <p:nvPr/>
        </p:nvSpPr>
        <p:spPr>
          <a:xfrm>
            <a:off x="314381" y="1350950"/>
            <a:ext cx="964406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投入产出对应关系图</a:t>
            </a:r>
            <a:endParaRPr lang="en-US" sz="800" dirty="0"/>
          </a:p>
        </p:txBody>
      </p:sp>
      <p:sp>
        <p:nvSpPr>
          <p:cNvPr id="56" name="Text 35"/>
          <p:cNvSpPr/>
          <p:nvPr/>
        </p:nvSpPr>
        <p:spPr>
          <a:xfrm>
            <a:off x="7843614" y="1371488"/>
            <a:ext cx="985838" cy="1143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与资金用途五项构成逐项对应</a:t>
            </a:r>
            <a:endParaRPr lang="en-US" sz="700" dirty="0"/>
          </a:p>
        </p:txBody>
      </p:sp>
      <p:sp>
        <p:nvSpPr>
          <p:cNvPr id="57" name="Text 36"/>
          <p:cNvSpPr/>
          <p:nvPr/>
        </p:nvSpPr>
        <p:spPr>
          <a:xfrm>
            <a:off x="314325" y="1525972"/>
            <a:ext cx="8515350" cy="121444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投入（资金项）</a:t>
            </a:r>
            <a:endParaRPr lang="en-US" sz="700" dirty="0"/>
          </a:p>
        </p:txBody>
      </p:sp>
      <p:sp>
        <p:nvSpPr>
          <p:cNvPr id="58" name="Text 37"/>
          <p:cNvSpPr/>
          <p:nvPr/>
        </p:nvSpPr>
        <p:spPr>
          <a:xfrm>
            <a:off x="314325" y="1700994"/>
            <a:ext cx="8515350" cy="121444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对应阶段</a:t>
            </a:r>
            <a:endParaRPr lang="en-US" sz="700" dirty="0"/>
          </a:p>
        </p:txBody>
      </p:sp>
      <p:sp>
        <p:nvSpPr>
          <p:cNvPr id="59" name="Text 38"/>
          <p:cNvSpPr/>
          <p:nvPr/>
        </p:nvSpPr>
        <p:spPr>
          <a:xfrm>
            <a:off x="314325" y="1876016"/>
            <a:ext cx="8515350" cy="121444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形成的产出／考核指标</a:t>
            </a:r>
            <a:endParaRPr lang="en-US" sz="700" dirty="0"/>
          </a:p>
        </p:txBody>
      </p:sp>
      <p:sp>
        <p:nvSpPr>
          <p:cNvPr id="60" name="Text 39"/>
          <p:cNvSpPr/>
          <p:nvPr/>
        </p:nvSpPr>
        <p:spPr>
          <a:xfrm>
            <a:off x="392906" y="2059967"/>
            <a:ext cx="8365331" cy="107156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厂房建设</a:t>
            </a:r>
            <a:endParaRPr lang="en-US" sz="700" dirty="0"/>
          </a:p>
        </p:txBody>
      </p:sp>
      <p:sp>
        <p:nvSpPr>
          <p:cNvPr id="61" name="Text 40"/>
          <p:cNvSpPr/>
          <p:nvPr/>
        </p:nvSpPr>
        <p:spPr>
          <a:xfrm>
            <a:off x="392906" y="2166398"/>
            <a:ext cx="8365331" cy="121444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120万元</a:t>
            </a:r>
            <a:endParaRPr lang="en-US" sz="700" dirty="0"/>
          </a:p>
        </p:txBody>
      </p:sp>
      <p:sp>
        <p:nvSpPr>
          <p:cNvPr id="62" name="Text 41"/>
          <p:cNvSpPr/>
          <p:nvPr/>
        </p:nvSpPr>
        <p:spPr>
          <a:xfrm>
            <a:off x="4457700" y="2373288"/>
            <a:ext cx="228600" cy="92869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第一年</a:t>
            </a:r>
            <a:endParaRPr lang="en-US" sz="700" dirty="0"/>
          </a:p>
        </p:txBody>
      </p:sp>
      <p:sp>
        <p:nvSpPr>
          <p:cNvPr id="63" name="Text 42"/>
          <p:cNvSpPr/>
          <p:nvPr/>
        </p:nvSpPr>
        <p:spPr>
          <a:xfrm>
            <a:off x="391511" y="2602446"/>
            <a:ext cx="742950" cy="121444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800㎡工坊建成投用</a:t>
            </a:r>
            <a:endParaRPr lang="en-US" sz="700" dirty="0"/>
          </a:p>
        </p:txBody>
      </p:sp>
      <p:sp>
        <p:nvSpPr>
          <p:cNvPr id="64" name="Text 43"/>
          <p:cNvSpPr/>
          <p:nvPr/>
        </p:nvSpPr>
        <p:spPr>
          <a:xfrm>
            <a:off x="392906" y="2795439"/>
            <a:ext cx="8365331" cy="107156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设备采购</a:t>
            </a:r>
            <a:endParaRPr lang="en-US" sz="700" dirty="0"/>
          </a:p>
        </p:txBody>
      </p:sp>
      <p:sp>
        <p:nvSpPr>
          <p:cNvPr id="65" name="Text 44"/>
          <p:cNvSpPr/>
          <p:nvPr/>
        </p:nvSpPr>
        <p:spPr>
          <a:xfrm>
            <a:off x="392906" y="2901869"/>
            <a:ext cx="8365331" cy="121444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60万元</a:t>
            </a:r>
            <a:endParaRPr lang="en-US" sz="700" dirty="0"/>
          </a:p>
        </p:txBody>
      </p:sp>
      <p:sp>
        <p:nvSpPr>
          <p:cNvPr id="66" name="Text 45"/>
          <p:cNvSpPr/>
          <p:nvPr/>
        </p:nvSpPr>
        <p:spPr>
          <a:xfrm>
            <a:off x="4382691" y="3109206"/>
            <a:ext cx="378619" cy="18573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第一年进场</a:t>
            </a:r>
            <a:pPr algn="ctr" indent="0" marL="0">
              <a:buNone/>
            </a:pP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第二年扩产</a:t>
            </a:r>
            <a:endParaRPr lang="en-US" sz="700" dirty="0"/>
          </a:p>
        </p:txBody>
      </p:sp>
      <p:sp>
        <p:nvSpPr>
          <p:cNvPr id="67" name="Text 46"/>
          <p:cNvSpPr/>
          <p:nvPr/>
        </p:nvSpPr>
        <p:spPr>
          <a:xfrm>
            <a:off x="393353" y="3431679"/>
            <a:ext cx="2143125" cy="121444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支撑年产量10万件的原料处理、编织辅助与烘干定型能力</a:t>
            </a:r>
            <a:endParaRPr lang="en-US" sz="700" dirty="0"/>
          </a:p>
        </p:txBody>
      </p:sp>
      <p:sp>
        <p:nvSpPr>
          <p:cNvPr id="68" name="Text 47"/>
          <p:cNvSpPr/>
          <p:nvPr/>
        </p:nvSpPr>
        <p:spPr>
          <a:xfrm>
            <a:off x="392906" y="3624672"/>
            <a:ext cx="8365331" cy="107156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培训经费</a:t>
            </a:r>
            <a:endParaRPr lang="en-US" sz="700" dirty="0"/>
          </a:p>
        </p:txBody>
      </p:sp>
      <p:sp>
        <p:nvSpPr>
          <p:cNvPr id="69" name="Text 48"/>
          <p:cNvSpPr/>
          <p:nvPr/>
        </p:nvSpPr>
        <p:spPr>
          <a:xfrm>
            <a:off x="392906" y="3731102"/>
            <a:ext cx="8365331" cy="121444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30万元</a:t>
            </a:r>
            <a:endParaRPr lang="en-US" sz="700" dirty="0"/>
          </a:p>
        </p:txBody>
      </p:sp>
      <p:sp>
        <p:nvSpPr>
          <p:cNvPr id="70" name="Text 49"/>
          <p:cNvSpPr/>
          <p:nvPr/>
        </p:nvSpPr>
        <p:spPr>
          <a:xfrm>
            <a:off x="4382691" y="3938439"/>
            <a:ext cx="378619" cy="18573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第一年为主</a:t>
            </a:r>
            <a:pPr algn="ctr" indent="0" marL="0">
              <a:buNone/>
            </a:pP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延续第二年</a:t>
            </a:r>
            <a:endParaRPr lang="en-US" sz="700" dirty="0"/>
          </a:p>
        </p:txBody>
      </p:sp>
      <p:sp>
        <p:nvSpPr>
          <p:cNvPr id="71" name="Text 50"/>
          <p:cNvSpPr/>
          <p:nvPr/>
        </p:nvSpPr>
        <p:spPr>
          <a:xfrm>
            <a:off x="392348" y="4260912"/>
            <a:ext cx="1607344" cy="121444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培训50人；支撑计件农户由60户扩至120户</a:t>
            </a:r>
            <a:endParaRPr lang="en-US" sz="700" dirty="0"/>
          </a:p>
        </p:txBody>
      </p:sp>
      <p:sp>
        <p:nvSpPr>
          <p:cNvPr id="72" name="Text 51"/>
          <p:cNvSpPr/>
          <p:nvPr/>
        </p:nvSpPr>
        <p:spPr>
          <a:xfrm>
            <a:off x="392906" y="4453905"/>
            <a:ext cx="8365331" cy="107156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品牌推广</a:t>
            </a:r>
            <a:endParaRPr lang="en-US" sz="700" dirty="0"/>
          </a:p>
        </p:txBody>
      </p:sp>
      <p:sp>
        <p:nvSpPr>
          <p:cNvPr id="73" name="Text 52"/>
          <p:cNvSpPr/>
          <p:nvPr/>
        </p:nvSpPr>
        <p:spPr>
          <a:xfrm>
            <a:off x="392906" y="4560336"/>
            <a:ext cx="8365331" cy="121444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40万元</a:t>
            </a:r>
            <a:endParaRPr lang="en-US" sz="700" dirty="0"/>
          </a:p>
        </p:txBody>
      </p:sp>
      <p:sp>
        <p:nvSpPr>
          <p:cNvPr id="74" name="Text 53"/>
          <p:cNvSpPr/>
          <p:nvPr/>
        </p:nvSpPr>
        <p:spPr>
          <a:xfrm>
            <a:off x="4457700" y="4767225"/>
            <a:ext cx="228600" cy="92869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第三年</a:t>
            </a:r>
            <a:endParaRPr lang="en-US" sz="700" dirty="0"/>
          </a:p>
        </p:txBody>
      </p:sp>
      <p:sp>
        <p:nvSpPr>
          <p:cNvPr id="75" name="Text 54"/>
          <p:cNvSpPr/>
          <p:nvPr/>
        </p:nvSpPr>
        <p:spPr>
          <a:xfrm>
            <a:off x="392962" y="4996383"/>
            <a:ext cx="1285875" cy="121444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品牌包装设计与电商平台入驻运营</a:t>
            </a:r>
            <a:endParaRPr lang="en-US" sz="700" dirty="0"/>
          </a:p>
        </p:txBody>
      </p:sp>
      <p:sp>
        <p:nvSpPr>
          <p:cNvPr id="76" name="Text 55"/>
          <p:cNvSpPr/>
          <p:nvPr/>
        </p:nvSpPr>
        <p:spPr>
          <a:xfrm>
            <a:off x="392906" y="5189376"/>
            <a:ext cx="8365331" cy="107156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流动资金</a:t>
            </a:r>
            <a:endParaRPr lang="en-US" sz="700" dirty="0"/>
          </a:p>
        </p:txBody>
      </p:sp>
      <p:sp>
        <p:nvSpPr>
          <p:cNvPr id="77" name="Text 56"/>
          <p:cNvSpPr/>
          <p:nvPr/>
        </p:nvSpPr>
        <p:spPr>
          <a:xfrm>
            <a:off x="392906" y="5295807"/>
            <a:ext cx="8365331" cy="121444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30万元</a:t>
            </a:r>
            <a:endParaRPr lang="en-US" sz="700" dirty="0"/>
          </a:p>
        </p:txBody>
      </p:sp>
      <p:sp>
        <p:nvSpPr>
          <p:cNvPr id="78" name="Text 57"/>
          <p:cNvSpPr/>
          <p:nvPr/>
        </p:nvSpPr>
        <p:spPr>
          <a:xfrm>
            <a:off x="4421981" y="5502697"/>
            <a:ext cx="300038" cy="92869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三年滚动</a:t>
            </a:r>
            <a:endParaRPr lang="en-US" sz="700" dirty="0"/>
          </a:p>
        </p:txBody>
      </p:sp>
      <p:sp>
        <p:nvSpPr>
          <p:cNvPr id="79" name="Text 58"/>
          <p:cNvSpPr/>
          <p:nvPr/>
        </p:nvSpPr>
        <p:spPr>
          <a:xfrm>
            <a:off x="392962" y="5731855"/>
            <a:ext cx="1457325" cy="121444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原料统一采购与按件计酬按月兑付周转</a:t>
            </a:r>
            <a:endParaRPr lang="en-US" sz="700" dirty="0"/>
          </a:p>
        </p:txBody>
      </p:sp>
      <p:sp>
        <p:nvSpPr>
          <p:cNvPr id="80" name="Text 59"/>
          <p:cNvSpPr/>
          <p:nvPr/>
        </p:nvSpPr>
        <p:spPr>
          <a:xfrm>
            <a:off x="399548" y="2188555"/>
            <a:ext cx="928688" cy="121444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B0AEA5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合计280万元 · 贯穿性产出</a:t>
            </a:r>
            <a:endParaRPr lang="en-US" sz="700" dirty="0"/>
          </a:p>
        </p:txBody>
      </p:sp>
      <p:sp>
        <p:nvSpPr>
          <p:cNvPr id="81" name="Text 60"/>
          <p:cNvSpPr/>
          <p:nvPr/>
        </p:nvSpPr>
        <p:spPr>
          <a:xfrm>
            <a:off x="1414797" y="2192127"/>
            <a:ext cx="2100263" cy="11430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FAF9F5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人均月增收约1800元（三年贯穿）；12位师傅技艺有人接续</a:t>
            </a:r>
            <a:endParaRPr lang="en-US" sz="700" dirty="0"/>
          </a:p>
        </p:txBody>
      </p:sp>
      <p:sp>
        <p:nvSpPr>
          <p:cNvPr id="82" name="Text 61"/>
          <p:cNvSpPr/>
          <p:nvPr/>
        </p:nvSpPr>
        <p:spPr>
          <a:xfrm>
            <a:off x="300038" y="2551993"/>
            <a:ext cx="4391978" cy="11430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文化传承效益</a:t>
            </a:r>
            <a:pPr algn="l" indent="0" marL="0">
              <a:buNone/>
            </a:pPr>
            <a:r>
              <a:rPr lang="en-US" sz="7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可持续影响 + 社会效益</a:t>
            </a:r>
            <a:endParaRPr lang="en-US" sz="700" dirty="0"/>
          </a:p>
        </p:txBody>
      </p:sp>
      <p:sp>
        <p:nvSpPr>
          <p:cNvPr id="83" name="Text 62"/>
          <p:cNvSpPr/>
          <p:nvPr/>
        </p:nvSpPr>
        <p:spPr>
          <a:xfrm>
            <a:off x="300038" y="2695538"/>
            <a:ext cx="4143375" cy="11430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对象：12位师傅（平均62岁）与省级非遗竹编技艺</a:t>
            </a:r>
            <a:endParaRPr lang="en-US" sz="700" dirty="0"/>
          </a:p>
        </p:txBody>
      </p:sp>
      <p:sp>
        <p:nvSpPr>
          <p:cNvPr id="84" name="Text 63"/>
          <p:cNvSpPr/>
          <p:nvPr/>
        </p:nvSpPr>
        <p:spPr>
          <a:xfrm>
            <a:off x="300038" y="2830823"/>
            <a:ext cx="4143375" cy="11430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措施：师带徒与培训50人，技艺记录与工序标准化</a:t>
            </a:r>
            <a:endParaRPr lang="en-US" sz="700" dirty="0"/>
          </a:p>
        </p:txBody>
      </p:sp>
      <p:sp>
        <p:nvSpPr>
          <p:cNvPr id="85" name="Text 64"/>
          <p:cNvSpPr/>
          <p:nvPr/>
        </p:nvSpPr>
        <p:spPr>
          <a:xfrm>
            <a:off x="300038" y="2966107"/>
            <a:ext cx="4143375" cy="11430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载体：800㎡工坊投用，工序与产品标准留存</a:t>
            </a:r>
            <a:endParaRPr lang="en-US" sz="700" dirty="0"/>
          </a:p>
        </p:txBody>
      </p:sp>
      <p:sp>
        <p:nvSpPr>
          <p:cNvPr id="86" name="Text 65"/>
          <p:cNvSpPr/>
          <p:nvPr/>
        </p:nvSpPr>
        <p:spPr>
          <a:xfrm>
            <a:off x="300038" y="3101392"/>
            <a:ext cx="4143375" cy="11430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凭证：培训台账、师带徒协议、技艺记录与标准文本</a:t>
            </a:r>
            <a:endParaRPr lang="en-US" sz="700" dirty="0"/>
          </a:p>
        </p:txBody>
      </p:sp>
      <p:sp>
        <p:nvSpPr>
          <p:cNvPr id="87" name="Text 66"/>
          <p:cNvSpPr/>
          <p:nvPr/>
        </p:nvSpPr>
        <p:spPr>
          <a:xfrm>
            <a:off x="4700588" y="2551993"/>
            <a:ext cx="4391978" cy="11430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农户增收效益</a:t>
            </a:r>
            <a:pPr algn="l" indent="0" marL="0">
              <a:buNone/>
            </a:pPr>
            <a:r>
              <a:rPr lang="en-US" sz="7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社会效益</a:t>
            </a:r>
            <a:endParaRPr lang="en-US" sz="700" dirty="0"/>
          </a:p>
        </p:txBody>
      </p:sp>
      <p:sp>
        <p:nvSpPr>
          <p:cNvPr id="88" name="Text 67"/>
          <p:cNvSpPr/>
          <p:nvPr/>
        </p:nvSpPr>
        <p:spPr>
          <a:xfrm>
            <a:off x="4700588" y="2695538"/>
            <a:ext cx="4143375" cy="11430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对象：计件农户首年60户 → 第二年120户</a:t>
            </a:r>
            <a:endParaRPr lang="en-US" sz="700" dirty="0"/>
          </a:p>
        </p:txBody>
      </p:sp>
      <p:sp>
        <p:nvSpPr>
          <p:cNvPr id="89" name="Text 68"/>
          <p:cNvSpPr/>
          <p:nvPr/>
        </p:nvSpPr>
        <p:spPr>
          <a:xfrm>
            <a:off x="4700588" y="2830823"/>
            <a:ext cx="4143375" cy="11430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指标：人均月增收约1800元，三年贯穿</a:t>
            </a:r>
            <a:endParaRPr lang="en-US" sz="700" dirty="0"/>
          </a:p>
        </p:txBody>
      </p:sp>
      <p:sp>
        <p:nvSpPr>
          <p:cNvPr id="90" name="Text 69"/>
          <p:cNvSpPr/>
          <p:nvPr/>
        </p:nvSpPr>
        <p:spPr>
          <a:xfrm>
            <a:off x="4700588" y="2966107"/>
            <a:ext cx="4143375" cy="11430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测算：月增收总额10.8万元 → 21.6万元（户均1人计件）</a:t>
            </a:r>
            <a:endParaRPr lang="en-US" sz="700" dirty="0"/>
          </a:p>
        </p:txBody>
      </p:sp>
      <p:sp>
        <p:nvSpPr>
          <p:cNvPr id="91" name="Text 70"/>
          <p:cNvSpPr/>
          <p:nvPr/>
        </p:nvSpPr>
        <p:spPr>
          <a:xfrm>
            <a:off x="4700588" y="3101392"/>
            <a:ext cx="4143375" cy="11430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凭证：计件结算表、按月兑付凭证、带动农户名册</a:t>
            </a:r>
            <a:endParaRPr lang="en-US" sz="700" dirty="0"/>
          </a:p>
        </p:txBody>
      </p:sp>
      <p:sp>
        <p:nvSpPr>
          <p:cNvPr id="92" name="Text 71"/>
          <p:cNvSpPr/>
          <p:nvPr/>
        </p:nvSpPr>
        <p:spPr>
          <a:xfrm>
            <a:off x="307181" y="3243318"/>
            <a:ext cx="700088" cy="121444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四类风险防控表</a:t>
            </a:r>
            <a:endParaRPr lang="en-US" sz="700" dirty="0"/>
          </a:p>
        </p:txBody>
      </p:sp>
      <p:sp>
        <p:nvSpPr>
          <p:cNvPr id="93" name="Text 72"/>
          <p:cNvSpPr/>
          <p:nvPr/>
        </p:nvSpPr>
        <p:spPr>
          <a:xfrm>
            <a:off x="7320893" y="3257438"/>
            <a:ext cx="1514475" cy="1143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责任主体由公司、合作社、农户既定分工推导</a:t>
            </a:r>
            <a:endParaRPr lang="en-US" sz="700" dirty="0"/>
          </a:p>
        </p:txBody>
      </p:sp>
      <p:sp>
        <p:nvSpPr>
          <p:cNvPr id="94" name="Text 73"/>
          <p:cNvSpPr/>
          <p:nvPr/>
        </p:nvSpPr>
        <p:spPr>
          <a:xfrm>
            <a:off x="307181" y="3419959"/>
            <a:ext cx="8529638" cy="1143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风险类别</a:t>
            </a:r>
            <a:endParaRPr lang="en-US" sz="700" dirty="0"/>
          </a:p>
        </p:txBody>
      </p:sp>
      <p:sp>
        <p:nvSpPr>
          <p:cNvPr id="95" name="Text 74"/>
          <p:cNvSpPr/>
          <p:nvPr/>
        </p:nvSpPr>
        <p:spPr>
          <a:xfrm>
            <a:off x="307181" y="3532473"/>
            <a:ext cx="8529638" cy="1143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风险表现</a:t>
            </a:r>
            <a:endParaRPr lang="en-US" sz="700" dirty="0"/>
          </a:p>
        </p:txBody>
      </p:sp>
      <p:sp>
        <p:nvSpPr>
          <p:cNvPr id="96" name="Text 75"/>
          <p:cNvSpPr/>
          <p:nvPr/>
        </p:nvSpPr>
        <p:spPr>
          <a:xfrm>
            <a:off x="307181" y="3644987"/>
            <a:ext cx="8529638" cy="1143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防控措施</a:t>
            </a:r>
            <a:endParaRPr lang="en-US" sz="700" dirty="0"/>
          </a:p>
        </p:txBody>
      </p:sp>
      <p:sp>
        <p:nvSpPr>
          <p:cNvPr id="97" name="Text 76"/>
          <p:cNvSpPr/>
          <p:nvPr/>
        </p:nvSpPr>
        <p:spPr>
          <a:xfrm>
            <a:off x="307181" y="3757501"/>
            <a:ext cx="8529638" cy="1143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责任主体</a:t>
            </a:r>
            <a:endParaRPr lang="en-US" sz="700" dirty="0"/>
          </a:p>
        </p:txBody>
      </p:sp>
      <p:sp>
        <p:nvSpPr>
          <p:cNvPr id="98" name="Text 77"/>
          <p:cNvSpPr/>
          <p:nvPr/>
        </p:nvSpPr>
        <p:spPr>
          <a:xfrm>
            <a:off x="307181" y="3900655"/>
            <a:ext cx="8529638" cy="114300"/>
          </a:xfrm>
          <a:prstGeom prst="rect">
            <a:avLst/>
          </a:prstGeom>
          <a:ln/>
        </p:spPr>
        <p:txBody>
          <a:bodyPr wrap="none" lIns="0" tIns="0" rIns="48578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技艺断代风险</a:t>
            </a:r>
            <a:endParaRPr lang="en-US" sz="700" dirty="0"/>
          </a:p>
        </p:txBody>
      </p:sp>
      <p:sp>
        <p:nvSpPr>
          <p:cNvPr id="99" name="Text 78"/>
          <p:cNvSpPr/>
          <p:nvPr/>
        </p:nvSpPr>
        <p:spPr>
          <a:xfrm>
            <a:off x="307181" y="4017299"/>
            <a:ext cx="8529638" cy="114300"/>
          </a:xfrm>
          <a:prstGeom prst="rect">
            <a:avLst/>
          </a:prstGeom>
          <a:ln/>
        </p:spPr>
        <p:txBody>
          <a:bodyPr wrap="none" lIns="0" tIns="0" rIns="48578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12位师傅平均62岁，后继乏人则工序与产品标准失传</a:t>
            </a:r>
            <a:endParaRPr lang="en-US" sz="700" dirty="0"/>
          </a:p>
        </p:txBody>
      </p:sp>
      <p:sp>
        <p:nvSpPr>
          <p:cNvPr id="100" name="Text 79"/>
          <p:cNvSpPr/>
          <p:nvPr/>
        </p:nvSpPr>
        <p:spPr>
          <a:xfrm>
            <a:off x="307181" y="4133943"/>
            <a:ext cx="8529638" cy="114300"/>
          </a:xfrm>
          <a:prstGeom prst="rect">
            <a:avLst/>
          </a:prstGeom>
          <a:ln/>
        </p:spPr>
        <p:txBody>
          <a:bodyPr wrap="none" lIns="0" tIns="0" rIns="48578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师带徒与培训50人；技艺记录与工序标准化；培训经费30万元专款用于培训与记录</a:t>
            </a:r>
            <a:endParaRPr lang="en-US" sz="700" dirty="0"/>
          </a:p>
        </p:txBody>
      </p:sp>
      <p:sp>
        <p:nvSpPr>
          <p:cNvPr id="101" name="Text 80"/>
          <p:cNvSpPr/>
          <p:nvPr/>
        </p:nvSpPr>
        <p:spPr>
          <a:xfrm>
            <a:off x="307181" y="4250587"/>
            <a:ext cx="8529638" cy="1143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合作社 + 师傅</a:t>
            </a:r>
            <a:endParaRPr lang="en-US" sz="700" dirty="0"/>
          </a:p>
        </p:txBody>
      </p:sp>
      <p:sp>
        <p:nvSpPr>
          <p:cNvPr id="102" name="Text 81"/>
          <p:cNvSpPr/>
          <p:nvPr/>
        </p:nvSpPr>
        <p:spPr>
          <a:xfrm>
            <a:off x="307181" y="4374375"/>
            <a:ext cx="8529638" cy="114300"/>
          </a:xfrm>
          <a:prstGeom prst="rect">
            <a:avLst/>
          </a:prstGeom>
          <a:ln/>
        </p:spPr>
        <p:txBody>
          <a:bodyPr wrap="none" lIns="0" tIns="0" rIns="48578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市场与订单风险</a:t>
            </a:r>
            <a:endParaRPr lang="en-US" sz="700" dirty="0"/>
          </a:p>
        </p:txBody>
      </p:sp>
      <p:sp>
        <p:nvSpPr>
          <p:cNvPr id="103" name="Text 82"/>
          <p:cNvSpPr/>
          <p:nvPr/>
        </p:nvSpPr>
        <p:spPr>
          <a:xfrm>
            <a:off x="307181" y="4491019"/>
            <a:ext cx="8529638" cy="114300"/>
          </a:xfrm>
          <a:prstGeom prst="rect">
            <a:avLst/>
          </a:prstGeom>
          <a:ln/>
        </p:spPr>
        <p:txBody>
          <a:bodyPr wrap="none" lIns="0" tIns="0" rIns="48578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订单波动直接影响农户按件计酬收入与产能利用率</a:t>
            </a:r>
            <a:endParaRPr lang="en-US" sz="700" dirty="0"/>
          </a:p>
        </p:txBody>
      </p:sp>
      <p:sp>
        <p:nvSpPr>
          <p:cNvPr id="104" name="Text 83"/>
          <p:cNvSpPr/>
          <p:nvPr/>
        </p:nvSpPr>
        <p:spPr>
          <a:xfrm>
            <a:off x="307181" y="4607663"/>
            <a:ext cx="8529638" cy="114300"/>
          </a:xfrm>
          <a:prstGeom prst="rect">
            <a:avLst/>
          </a:prstGeom>
          <a:ln/>
        </p:spPr>
        <p:txBody>
          <a:bodyPr wrap="none" lIns="0" tIns="0" rIns="48578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公司统一接单与销售；第三年入驻电商平台拓展渠道；按订单排产、以销定产</a:t>
            </a:r>
            <a:endParaRPr lang="en-US" sz="700" dirty="0"/>
          </a:p>
        </p:txBody>
      </p:sp>
      <p:sp>
        <p:nvSpPr>
          <p:cNvPr id="105" name="Text 84"/>
          <p:cNvSpPr/>
          <p:nvPr/>
        </p:nvSpPr>
        <p:spPr>
          <a:xfrm>
            <a:off x="307181" y="4724307"/>
            <a:ext cx="8529638" cy="1143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公司</a:t>
            </a:r>
            <a:endParaRPr lang="en-US" sz="700" dirty="0"/>
          </a:p>
        </p:txBody>
      </p:sp>
      <p:sp>
        <p:nvSpPr>
          <p:cNvPr id="106" name="Text 85"/>
          <p:cNvSpPr/>
          <p:nvPr/>
        </p:nvSpPr>
        <p:spPr>
          <a:xfrm>
            <a:off x="307181" y="4848095"/>
            <a:ext cx="8529638" cy="114300"/>
          </a:xfrm>
          <a:prstGeom prst="rect">
            <a:avLst/>
          </a:prstGeom>
          <a:ln/>
        </p:spPr>
        <p:txBody>
          <a:bodyPr wrap="none" lIns="0" tIns="0" rIns="48578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原料与品控风险</a:t>
            </a:r>
            <a:endParaRPr lang="en-US" sz="700" dirty="0"/>
          </a:p>
        </p:txBody>
      </p:sp>
      <p:sp>
        <p:nvSpPr>
          <p:cNvPr id="107" name="Text 86"/>
          <p:cNvSpPr/>
          <p:nvPr/>
        </p:nvSpPr>
        <p:spPr>
          <a:xfrm>
            <a:off x="307181" y="4964739"/>
            <a:ext cx="8529638" cy="114300"/>
          </a:xfrm>
          <a:prstGeom prst="rect">
            <a:avLst/>
          </a:prstGeom>
          <a:ln/>
        </p:spPr>
        <p:txBody>
          <a:bodyPr wrap="none" lIns="0" tIns="0" rIns="48578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竹材供应量与质量不稳，影响交付与计件单价核算</a:t>
            </a:r>
            <a:endParaRPr lang="en-US" sz="700" dirty="0"/>
          </a:p>
        </p:txBody>
      </p:sp>
      <p:sp>
        <p:nvSpPr>
          <p:cNvPr id="108" name="Text 87"/>
          <p:cNvSpPr/>
          <p:nvPr/>
        </p:nvSpPr>
        <p:spPr>
          <a:xfrm>
            <a:off x="307181" y="5081383"/>
            <a:ext cx="8529638" cy="114300"/>
          </a:xfrm>
          <a:prstGeom prst="rect">
            <a:avLst/>
          </a:prstGeom>
          <a:ln/>
        </p:spPr>
        <p:txBody>
          <a:bodyPr wrap="none" lIns="0" tIns="0" rIns="48578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合作社统一采购竹材；进厂交验质检并与计件结算挂钩；工序标准化统一品控口径</a:t>
            </a:r>
            <a:endParaRPr lang="en-US" sz="700" dirty="0"/>
          </a:p>
        </p:txBody>
      </p:sp>
      <p:sp>
        <p:nvSpPr>
          <p:cNvPr id="109" name="Text 88"/>
          <p:cNvSpPr/>
          <p:nvPr/>
        </p:nvSpPr>
        <p:spPr>
          <a:xfrm>
            <a:off x="307181" y="5198027"/>
            <a:ext cx="8529638" cy="1143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合作社</a:t>
            </a:r>
            <a:endParaRPr lang="en-US" sz="700" dirty="0"/>
          </a:p>
        </p:txBody>
      </p:sp>
      <p:sp>
        <p:nvSpPr>
          <p:cNvPr id="110" name="Text 89"/>
          <p:cNvSpPr/>
          <p:nvPr/>
        </p:nvSpPr>
        <p:spPr>
          <a:xfrm>
            <a:off x="307181" y="5321815"/>
            <a:ext cx="8529638" cy="114300"/>
          </a:xfrm>
          <a:prstGeom prst="rect">
            <a:avLst/>
          </a:prstGeom>
          <a:ln/>
        </p:spPr>
        <p:txBody>
          <a:bodyPr wrap="none" lIns="0" tIns="0" rIns="48578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资金与合规风险</a:t>
            </a:r>
            <a:endParaRPr lang="en-US" sz="700" dirty="0"/>
          </a:p>
        </p:txBody>
      </p:sp>
      <p:sp>
        <p:nvSpPr>
          <p:cNvPr id="111" name="Text 90"/>
          <p:cNvSpPr/>
          <p:nvPr/>
        </p:nvSpPr>
        <p:spPr>
          <a:xfrm>
            <a:off x="307181" y="5438459"/>
            <a:ext cx="8529638" cy="114300"/>
          </a:xfrm>
          <a:prstGeom prst="rect">
            <a:avLst/>
          </a:prstGeom>
          <a:ln/>
        </p:spPr>
        <p:txBody>
          <a:bodyPr wrap="none" lIns="0" tIns="0" rIns="48578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资金使用不规范、进度与拨付不匹配将影响验收与后续扶持</a:t>
            </a:r>
            <a:endParaRPr lang="en-US" sz="700" dirty="0"/>
          </a:p>
        </p:txBody>
      </p:sp>
      <p:sp>
        <p:nvSpPr>
          <p:cNvPr id="112" name="Text 91"/>
          <p:cNvSpPr/>
          <p:nvPr/>
        </p:nvSpPr>
        <p:spPr>
          <a:xfrm>
            <a:off x="307181" y="5555103"/>
            <a:ext cx="8529638" cy="114300"/>
          </a:xfrm>
          <a:prstGeom prst="rect">
            <a:avLst/>
          </a:prstGeom>
          <a:ln/>
        </p:spPr>
        <p:txBody>
          <a:bodyPr wrap="none" lIns="0" tIns="0" rIns="48578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专账核算；按进度拨付；验收后结算并留存凭证台账；年度绩效报告接受县级监督</a:t>
            </a:r>
            <a:endParaRPr lang="en-US" sz="700" dirty="0"/>
          </a:p>
        </p:txBody>
      </p:sp>
      <p:sp>
        <p:nvSpPr>
          <p:cNvPr id="113" name="Text 92"/>
          <p:cNvSpPr/>
          <p:nvPr/>
        </p:nvSpPr>
        <p:spPr>
          <a:xfrm>
            <a:off x="307181" y="5671747"/>
            <a:ext cx="8529638" cy="1143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公司 + 县级主管部门监督</a:t>
            </a:r>
            <a:endParaRPr lang="en-US" sz="700" dirty="0"/>
          </a:p>
        </p:txBody>
      </p:sp>
      <p:sp>
        <p:nvSpPr>
          <p:cNvPr id="114" name="Text 93"/>
          <p:cNvSpPr/>
          <p:nvPr/>
        </p:nvSpPr>
        <p:spPr>
          <a:xfrm>
            <a:off x="333970" y="3865606"/>
            <a:ext cx="2035969" cy="3571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组织保障</a:t>
            </a:r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　县级主管部门指导，公司管设计与销售、合作社管原料采购与培训、农户在家编织按件计酬</a:t>
            </a:r>
            <a:endParaRPr lang="en-US" sz="700" dirty="0"/>
          </a:p>
        </p:txBody>
      </p:sp>
      <p:sp>
        <p:nvSpPr>
          <p:cNvPr id="115" name="Text 94"/>
          <p:cNvSpPr/>
          <p:nvPr/>
        </p:nvSpPr>
        <p:spPr>
          <a:xfrm>
            <a:off x="2480667" y="3865606"/>
            <a:ext cx="2035969" cy="357187"/>
          </a:xfrm>
          <a:prstGeom prst="rect">
            <a:avLst/>
          </a:prstGeom>
          <a:ln/>
        </p:spPr>
        <p:txBody>
          <a:bodyPr wrap="square" lIns="97155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制度保障</a:t>
            </a:r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　按件计酬结算制度、交验质检制度、专账核算与凭证留存制度，载体为计件结算表与质检记录</a:t>
            </a:r>
            <a:endParaRPr lang="en-US" sz="700" dirty="0"/>
          </a:p>
        </p:txBody>
      </p:sp>
      <p:sp>
        <p:nvSpPr>
          <p:cNvPr id="116" name="Text 95"/>
          <p:cNvSpPr/>
          <p:nvPr/>
        </p:nvSpPr>
        <p:spPr>
          <a:xfrm>
            <a:off x="4627364" y="3865606"/>
            <a:ext cx="2035969" cy="357187"/>
          </a:xfrm>
          <a:prstGeom prst="rect">
            <a:avLst/>
          </a:prstGeom>
          <a:ln/>
        </p:spPr>
        <p:txBody>
          <a:bodyPr wrap="square" lIns="97155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监督保障</a:t>
            </a:r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　按进度拨付、验收后结算、结算公示、年度验收与绩效报告，台账备查并接受县级主管部门监督</a:t>
            </a:r>
            <a:endParaRPr lang="en-US" sz="700" dirty="0"/>
          </a:p>
        </p:txBody>
      </p:sp>
      <p:sp>
        <p:nvSpPr>
          <p:cNvPr id="117" name="Text 96"/>
          <p:cNvSpPr/>
          <p:nvPr/>
        </p:nvSpPr>
        <p:spPr>
          <a:xfrm>
            <a:off x="6774061" y="3865606"/>
            <a:ext cx="2035969" cy="357187"/>
          </a:xfrm>
          <a:prstGeom prst="rect">
            <a:avLst/>
          </a:prstGeom>
          <a:ln/>
        </p:spPr>
        <p:txBody>
          <a:bodyPr wrap="square" lIns="97155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持续保障</a:t>
            </a:r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　第三年品牌打造与电商平台入驻形成外销出口与自我造血能力，降低对扶持资金的依赖</a:t>
            </a:r>
            <a:endParaRPr lang="en-US" sz="700" dirty="0"/>
          </a:p>
        </p:txBody>
      </p:sp>
      <p:sp>
        <p:nvSpPr>
          <p:cNvPr id="118" name="Text 97"/>
          <p:cNvSpPr/>
          <p:nvPr/>
        </p:nvSpPr>
        <p:spPr>
          <a:xfrm>
            <a:off x="214313" y="4514850"/>
            <a:ext cx="8715375" cy="30003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数据来源：申报锁定口径（280万元五项构成、800㎡、培训50人、年产量10万件、60户→120户、人均月增收约1800元）；月增收总额为算术测算值，绩效分栏参照财政项目支出绩效评价通用框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架。</a:t>
            </a:r>
            <a:endParaRPr lang="en-US" sz="700" dirty="0"/>
          </a:p>
        </p:txBody>
      </p:sp>
      <p:sp>
        <p:nvSpPr>
          <p:cNvPr id="65535" name="wm:hwcld:2026-09-22T19:19:56:64984ecd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4357688" y="1772989"/>
            <a:ext cx="428625" cy="14288"/>
          </a:xfrm>
          <a:prstGeom prst="rect">
            <a:avLst/>
          </a:prstGeom>
          <a:solidFill>
            <a:srgbClr val="C96442"/>
          </a:solidFill>
          <a:ln/>
        </p:spPr>
      </p:sp>
      <p:sp>
        <p:nvSpPr>
          <p:cNvPr id="4" name="Shape 2"/>
          <p:cNvSpPr/>
          <p:nvPr/>
        </p:nvSpPr>
        <p:spPr>
          <a:xfrm>
            <a:off x="2707370" y="4145161"/>
            <a:ext cx="300038" cy="300038"/>
          </a:xfrm>
          <a:prstGeom prst="ellipse">
            <a:avLst/>
          </a:prstGeom>
          <a:solidFill>
            <a:srgbClr val="C96442"/>
          </a:solidFill>
          <a:ln/>
        </p:spPr>
      </p:sp>
      <p:sp>
        <p:nvSpPr>
          <p:cNvPr id="5" name="Text 3"/>
          <p:cNvSpPr/>
          <p:nvPr/>
        </p:nvSpPr>
        <p:spPr>
          <a:xfrm>
            <a:off x="4307625" y="685800"/>
            <a:ext cx="528638" cy="150019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汇报结束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771650" y="1007938"/>
            <a:ext cx="5600700" cy="564356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40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恳请评审指导，感谢聆听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214438" y="1958727"/>
            <a:ext cx="6715125" cy="235744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恳请县文化和旅游局、县乡村振兴办公室评审领导与专家指导；本报告数据均可提供原始凭证与台账备查。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121763" y="4132659"/>
            <a:ext cx="3314700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申报单位：××县××竹编工艺品有限公司／××竹编专业合作社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121763" y="4316611"/>
            <a:ext cx="3314700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汇报日期：按评审日期填写 · 联系人与联系电话、地址：按申报材料填写</a:t>
            </a:r>
            <a:endParaRPr lang="en-US" sz="700" dirty="0"/>
          </a:p>
        </p:txBody>
      </p:sp>
      <p:sp>
        <p:nvSpPr>
          <p:cNvPr id="65535" name="wm:hwcld:2026-09-22T19:19:56:64984ecd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2026-09-22T19:20:10Z</dcterms:created>
  <dcterms:modified xsi:type="dcterms:W3CDTF">2026-09-22T19:20:10Z</dcterms:modified>
</cp:coreProperties>
</file>