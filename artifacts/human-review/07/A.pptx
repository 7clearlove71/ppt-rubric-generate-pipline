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ay1_essential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ay1_essential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E6BE6"/>
            </a:gs>
            <a:gs pos="100000">
              <a:srgbClr val="1F4FB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disc-br"/>
          <p:cNvSpPr/>
          <p:nvPr/>
        </p:nvSpPr>
        <p:spPr>
          <a:xfrm>
            <a:off x="8572500" y="3714750"/>
            <a:ext cx="4762500" cy="47625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3" name="deco-disc-tl"/>
          <p:cNvSpPr/>
          <p:nvPr/>
        </p:nvSpPr>
        <p:spPr>
          <a:xfrm>
            <a:off x="-381000" y="-571500"/>
            <a:ext cx="2476500" cy="24765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4" name="deco-ring-tr"/>
          <p:cNvSpPr/>
          <p:nvPr/>
        </p:nvSpPr>
        <p:spPr>
          <a:xfrm>
            <a:off x="9906000" y="571500"/>
            <a:ext cx="1524000" cy="1524000"/>
          </a:xfrm>
          <a:prstGeom prst="ellipse">
            <a:avLst/>
          </a:prstGeom>
          <a:noFill/>
          <a:ln w="19050">
            <a:solidFill>
              <a:srgbClr val="FFFFFF">
                <a:alpha val="25000"/>
              </a:srgbClr>
            </a:solidFill>
          </a:ln>
        </p:spPr>
      </p:sp>
      <p:grpSp>
        <p:nvGrpSpPr>
          <p:cNvPr id="7" name="kicker-pill"/>
          <p:cNvGrpSpPr/>
          <p:nvPr/>
        </p:nvGrpSpPr>
        <p:grpSpPr>
          <a:xfrm>
            <a:off x="838200" y="1123950"/>
            <a:ext cx="3200400" cy="361950"/>
            <a:chOff x="838200" y="1123950"/>
            <a:chExt cx="3200400" cy="361950"/>
          </a:xfrm>
        </p:grpSpPr>
        <p:sp>
          <p:nvSpPr>
            <p:cNvPr id="5" name="Rectangle 5"/>
            <p:cNvSpPr/>
            <p:nvPr/>
          </p:nvSpPr>
          <p:spPr>
            <a:xfrm>
              <a:off x="838200" y="1123950"/>
              <a:ext cx="3200400" cy="3619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21842" y="1216342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新员工入职速览 · 员工手册浓缩版</a:t>
              </a:r>
            </a:p>
          </p:txBody>
        </p:sp>
      </p:grpSp>
      <p:grpSp>
        <p:nvGrpSpPr>
          <p:cNvPr id="9" name="cover-title"/>
          <p:cNvGrpSpPr/>
          <p:nvPr/>
        </p:nvGrpSpPr>
        <p:grpSpPr>
          <a:xfrm>
            <a:off x="819150" y="2428875"/>
            <a:ext cx="3067050" cy="876300"/>
            <a:chOff x="819150" y="2428875"/>
            <a:chExt cx="3067050" cy="876300"/>
          </a:xfrm>
        </p:grpSpPr>
        <p:sp>
          <p:nvSpPr>
            <p:cNvPr id="8" name="TextBox 8"/>
            <p:cNvSpPr txBox="1"/>
            <p:nvPr/>
          </p:nvSpPr>
          <p:spPr>
            <a:xfrm>
              <a:off x="819150" y="2428875"/>
              <a:ext cx="306705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第一天必知</a:t>
              </a:r>
            </a:p>
          </p:txBody>
        </p:sp>
      </p:grpSp>
      <p:grpSp>
        <p:nvGrpSpPr>
          <p:cNvPr id="11" name="cover-hook"/>
          <p:cNvGrpSpPr/>
          <p:nvPr/>
        </p:nvGrpSpPr>
        <p:grpSpPr>
          <a:xfrm>
            <a:off x="827532" y="3259455"/>
            <a:ext cx="5689511" cy="410718"/>
            <a:chOff x="827532" y="3259455"/>
            <a:chExt cx="5689511" cy="410718"/>
          </a:xfrm>
        </p:grpSpPr>
        <p:sp>
          <p:nvSpPr>
            <p:cNvPr id="10" name="TextBox 10"/>
            <p:cNvSpPr txBox="1"/>
            <p:nvPr/>
          </p:nvSpPr>
          <p:spPr>
            <a:xfrm>
              <a:off x="827532" y="3259455"/>
              <a:ext cx="56895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D8E4FB"/>
                  </a:solidFill>
                  <a:latin typeface="+mn-lt"/>
                  <a:ea typeface="+mn-ea"/>
                  <a:cs typeface="+mn-cs"/>
                </a:rPr>
                <a:t>手册 60+ 页,新人没空看——先看这 6 页救急。</a:t>
              </a:r>
            </a:p>
          </p:txBody>
        </p:sp>
      </p:grpSp>
      <p:grpSp>
        <p:nvGrpSpPr>
          <p:cNvPr id="26" name="priority-pills"/>
          <p:cNvGrpSpPr/>
          <p:nvPr/>
        </p:nvGrpSpPr>
        <p:grpSpPr>
          <a:xfrm>
            <a:off x="838200" y="4419600"/>
            <a:ext cx="7315200" cy="609600"/>
            <a:chOff x="838200" y="4419600"/>
            <a:chExt cx="7315200" cy="609600"/>
          </a:xfrm>
        </p:grpSpPr>
        <p:grpSp>
          <p:nvGrpSpPr>
            <p:cNvPr id="15" name="pill-attendance"/>
            <p:cNvGrpSpPr/>
            <p:nvPr/>
          </p:nvGrpSpPr>
          <p:grpSpPr>
            <a:xfrm>
              <a:off x="838200" y="4419600"/>
              <a:ext cx="2286000" cy="609600"/>
              <a:chOff x="838200" y="4419600"/>
              <a:chExt cx="2286000" cy="6096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838200" y="4419600"/>
                <a:ext cx="2286000" cy="609600"/>
              </a:xfrm>
              <a:prstGeom prst="roundRect">
                <a:avLst>
                  <a:gd name="adj" fmla="val 31250"/>
                </a:avLst>
              </a:prstGeom>
              <a:solidFill>
                <a:srgbClr val="FFFFFF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92200" y="4591711"/>
                <a:ext cx="267081" cy="267518"/>
              </a:xfrm>
              <a:custGeom>
                <a:avLst/>
                <a:gdLst/>
                <a:ahLst/>
                <a:cxnLst/>
                <a:rect l="l" t="t" r="r" b="b"/>
                <a:pathLst>
                  <a:path w="267081" h="267518">
                    <a:moveTo>
                      <a:pt x="190500" y="22707"/>
                    </a:moveTo>
                    <a:cubicBezTo>
                      <a:pt x="243425" y="53266"/>
                      <a:pt x="267081" y="117187"/>
                      <a:pt x="246798" y="174837"/>
                    </a:cubicBezTo>
                    <a:cubicBezTo>
                      <a:pt x="226516" y="232488"/>
                      <a:pt x="168049" y="267518"/>
                      <a:pt x="107648" y="258207"/>
                    </a:cubicBezTo>
                    <a:cubicBezTo>
                      <a:pt x="47247" y="248896"/>
                      <a:pt x="2043" y="197886"/>
                      <a:pt x="63" y="136803"/>
                    </a:cubicBezTo>
                    <a:lnTo>
                      <a:pt x="0" y="132688"/>
                    </a:lnTo>
                    <a:lnTo>
                      <a:pt x="63" y="128574"/>
                    </a:lnTo>
                    <a:cubicBezTo>
                      <a:pt x="1510" y="83958"/>
                      <a:pt x="26274" y="43379"/>
                      <a:pt x="65289" y="21689"/>
                    </a:cubicBezTo>
                    <a:cubicBezTo>
                      <a:pt x="104304" y="0"/>
                      <a:pt x="151842" y="386"/>
                      <a:pt x="190500" y="22707"/>
                    </a:cubicBezTo>
                    <a:close/>
                    <a:moveTo>
                      <a:pt x="127000" y="56489"/>
                    </a:moveTo>
                    <a:cubicBezTo>
                      <a:pt x="120561" y="56490"/>
                      <a:pt x="115142" y="61308"/>
                      <a:pt x="114389" y="67703"/>
                    </a:cubicBezTo>
                    <a:lnTo>
                      <a:pt x="114300" y="69189"/>
                    </a:lnTo>
                    <a:lnTo>
                      <a:pt x="114300" y="132688"/>
                    </a:lnTo>
                    <a:lnTo>
                      <a:pt x="114414" y="134352"/>
                    </a:lnTo>
                    <a:cubicBezTo>
                      <a:pt x="114704" y="136556"/>
                      <a:pt x="115566" y="138644"/>
                      <a:pt x="116916" y="140410"/>
                    </a:cubicBezTo>
                    <a:lnTo>
                      <a:pt x="118021" y="141680"/>
                    </a:lnTo>
                    <a:lnTo>
                      <a:pt x="156121" y="179780"/>
                    </a:lnTo>
                    <a:lnTo>
                      <a:pt x="157315" y="180821"/>
                    </a:lnTo>
                    <a:cubicBezTo>
                      <a:pt x="161896" y="184376"/>
                      <a:pt x="168303" y="184376"/>
                      <a:pt x="172885" y="180821"/>
                    </a:cubicBezTo>
                    <a:lnTo>
                      <a:pt x="174078" y="179767"/>
                    </a:lnTo>
                    <a:lnTo>
                      <a:pt x="175133" y="178573"/>
                    </a:lnTo>
                    <a:cubicBezTo>
                      <a:pt x="178687" y="173992"/>
                      <a:pt x="178687" y="167585"/>
                      <a:pt x="175133" y="163003"/>
                    </a:cubicBezTo>
                    <a:lnTo>
                      <a:pt x="174078" y="161810"/>
                    </a:lnTo>
                    <a:lnTo>
                      <a:pt x="139700" y="127418"/>
                    </a:lnTo>
                    <a:lnTo>
                      <a:pt x="139700" y="69189"/>
                    </a:lnTo>
                    <a:lnTo>
                      <a:pt x="139611" y="67703"/>
                    </a:lnTo>
                    <a:cubicBezTo>
                      <a:pt x="138857" y="61308"/>
                      <a:pt x="133438" y="56490"/>
                      <a:pt x="127000" y="5648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514856" y="45872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考勤打卡</a:t>
                </a:r>
              </a:p>
            </p:txBody>
          </p:sp>
        </p:grpSp>
        <p:grpSp>
          <p:nvGrpSpPr>
            <p:cNvPr id="21" name="pill-account"/>
            <p:cNvGrpSpPr/>
            <p:nvPr/>
          </p:nvGrpSpPr>
          <p:grpSpPr>
            <a:xfrm>
              <a:off x="3352800" y="4419600"/>
              <a:ext cx="2286000" cy="609600"/>
              <a:chOff x="3352800" y="4419600"/>
              <a:chExt cx="2286000" cy="6096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352800" y="4419600"/>
                <a:ext cx="2286000" cy="609600"/>
              </a:xfrm>
              <a:prstGeom prst="roundRect">
                <a:avLst>
                  <a:gd name="adj" fmla="val 31250"/>
                </a:avLst>
              </a:prstGeom>
              <a:solidFill>
                <a:srgbClr val="FFFFFF">
                  <a:alpha val="14000"/>
                </a:srgbClr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3644900" y="4597400"/>
                <a:ext cx="177800" cy="254000"/>
                <a:chOff x="3644900" y="4597400"/>
                <a:chExt cx="177800" cy="2540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3670300" y="4597400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63500" y="0"/>
                      </a:moveTo>
                      <a:cubicBezTo>
                        <a:pt x="98570" y="0"/>
                        <a:pt x="127000" y="28430"/>
                        <a:pt x="127000" y="63500"/>
                      </a:cubicBezTo>
                      <a:cubicBezTo>
                        <a:pt x="127000" y="98570"/>
                        <a:pt x="98570" y="127000"/>
                        <a:pt x="63500" y="127000"/>
                      </a:cubicBezTo>
                      <a:cubicBezTo>
                        <a:pt x="28430" y="127000"/>
                        <a:pt x="0" y="98570"/>
                        <a:pt x="0" y="63500"/>
                      </a:cubicBezTo>
                      <a:lnTo>
                        <a:pt x="63" y="60744"/>
                      </a:lnTo>
                      <a:cubicBezTo>
                        <a:pt x="1539" y="26779"/>
                        <a:pt x="29503" y="2"/>
                        <a:pt x="6350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644900" y="4749800"/>
                  <a:ext cx="1778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1600">
                      <a:moveTo>
                        <a:pt x="114300" y="0"/>
                      </a:moveTo>
                      <a:cubicBezTo>
                        <a:pt x="149370" y="0"/>
                        <a:pt x="177800" y="28430"/>
                        <a:pt x="177800" y="63500"/>
                      </a:cubicBezTo>
                      <a:lnTo>
                        <a:pt x="177800" y="76200"/>
                      </a:lnTo>
                      <a:cubicBezTo>
                        <a:pt x="177800" y="90228"/>
                        <a:pt x="166428" y="101600"/>
                        <a:pt x="152400" y="101600"/>
                      </a:cubicBezTo>
                      <a:lnTo>
                        <a:pt x="25400" y="101600"/>
                      </a:lnTo>
                      <a:cubicBezTo>
                        <a:pt x="11372" y="101600"/>
                        <a:pt x="0" y="90228"/>
                        <a:pt x="0" y="762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lnTo>
                        <a:pt x="11430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4029456" y="45872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电脑账号</a:t>
                </a:r>
              </a:p>
            </p:txBody>
          </p:sp>
        </p:grpSp>
        <p:grpSp>
          <p:nvGrpSpPr>
            <p:cNvPr id="25" name="pill-reimburse"/>
            <p:cNvGrpSpPr/>
            <p:nvPr/>
          </p:nvGrpSpPr>
          <p:grpSpPr>
            <a:xfrm>
              <a:off x="5867400" y="4419600"/>
              <a:ext cx="2286000" cy="609600"/>
              <a:chOff x="5867400" y="4419600"/>
              <a:chExt cx="2286000" cy="6096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867400" y="4419600"/>
                <a:ext cx="2286000" cy="609600"/>
              </a:xfrm>
              <a:prstGeom prst="roundRect">
                <a:avLst>
                  <a:gd name="adj" fmla="val 31250"/>
                </a:avLst>
              </a:prstGeom>
              <a:solidFill>
                <a:srgbClr val="FFFFFF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146800" y="4597400"/>
                <a:ext cx="203200" cy="255254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255254">
                    <a:moveTo>
                      <a:pt x="165100" y="0"/>
                    </a:moveTo>
                    <a:cubicBezTo>
                      <a:pt x="186142" y="0"/>
                      <a:pt x="203199" y="17058"/>
                      <a:pt x="203199" y="38100"/>
                    </a:cubicBezTo>
                    <a:lnTo>
                      <a:pt x="203199" y="241299"/>
                    </a:lnTo>
                    <a:cubicBezTo>
                      <a:pt x="203200" y="245984"/>
                      <a:pt x="200622" y="250289"/>
                      <a:pt x="196491" y="252499"/>
                    </a:cubicBezTo>
                    <a:cubicBezTo>
                      <a:pt x="192360" y="254709"/>
                      <a:pt x="187348" y="254466"/>
                      <a:pt x="183451" y="251866"/>
                    </a:cubicBezTo>
                    <a:lnTo>
                      <a:pt x="154013" y="232244"/>
                    </a:lnTo>
                    <a:lnTo>
                      <a:pt x="135979" y="250278"/>
                    </a:lnTo>
                    <a:cubicBezTo>
                      <a:pt x="131454" y="254802"/>
                      <a:pt x="124270" y="255254"/>
                      <a:pt x="119215" y="251332"/>
                    </a:cubicBezTo>
                    <a:lnTo>
                      <a:pt x="118021" y="250278"/>
                    </a:lnTo>
                    <a:lnTo>
                      <a:pt x="101600" y="233870"/>
                    </a:lnTo>
                    <a:lnTo>
                      <a:pt x="85179" y="250278"/>
                    </a:lnTo>
                    <a:cubicBezTo>
                      <a:pt x="80654" y="254802"/>
                      <a:pt x="73470" y="255254"/>
                      <a:pt x="68415" y="251332"/>
                    </a:cubicBezTo>
                    <a:lnTo>
                      <a:pt x="67221" y="250278"/>
                    </a:lnTo>
                    <a:lnTo>
                      <a:pt x="49174" y="232244"/>
                    </a:lnTo>
                    <a:lnTo>
                      <a:pt x="19748" y="251866"/>
                    </a:lnTo>
                    <a:lnTo>
                      <a:pt x="19507" y="252018"/>
                    </a:lnTo>
                    <a:lnTo>
                      <a:pt x="18821" y="252399"/>
                    </a:lnTo>
                    <a:lnTo>
                      <a:pt x="18466" y="252615"/>
                    </a:lnTo>
                    <a:lnTo>
                      <a:pt x="17780" y="252907"/>
                    </a:lnTo>
                    <a:lnTo>
                      <a:pt x="17145" y="253199"/>
                    </a:lnTo>
                    <a:lnTo>
                      <a:pt x="16523" y="253390"/>
                    </a:lnTo>
                    <a:lnTo>
                      <a:pt x="15761" y="253631"/>
                    </a:lnTo>
                    <a:lnTo>
                      <a:pt x="15100" y="253745"/>
                    </a:lnTo>
                    <a:lnTo>
                      <a:pt x="14376" y="253885"/>
                    </a:lnTo>
                    <a:lnTo>
                      <a:pt x="13310" y="253961"/>
                    </a:lnTo>
                    <a:lnTo>
                      <a:pt x="12979" y="253999"/>
                    </a:lnTo>
                    <a:lnTo>
                      <a:pt x="12700" y="253999"/>
                    </a:lnTo>
                    <a:lnTo>
                      <a:pt x="12078" y="253961"/>
                    </a:lnTo>
                    <a:lnTo>
                      <a:pt x="11582" y="253961"/>
                    </a:lnTo>
                    <a:lnTo>
                      <a:pt x="11417" y="253923"/>
                    </a:lnTo>
                    <a:lnTo>
                      <a:pt x="11214" y="253923"/>
                    </a:lnTo>
                    <a:lnTo>
                      <a:pt x="10693" y="253822"/>
                    </a:lnTo>
                    <a:lnTo>
                      <a:pt x="10211" y="253758"/>
                    </a:lnTo>
                    <a:lnTo>
                      <a:pt x="10020" y="253695"/>
                    </a:lnTo>
                    <a:lnTo>
                      <a:pt x="9792" y="253669"/>
                    </a:lnTo>
                    <a:lnTo>
                      <a:pt x="9360" y="253529"/>
                    </a:lnTo>
                    <a:lnTo>
                      <a:pt x="8852" y="253402"/>
                    </a:lnTo>
                    <a:lnTo>
                      <a:pt x="8611" y="253314"/>
                    </a:lnTo>
                    <a:lnTo>
                      <a:pt x="8420" y="253263"/>
                    </a:lnTo>
                    <a:lnTo>
                      <a:pt x="8052" y="253098"/>
                    </a:lnTo>
                    <a:lnTo>
                      <a:pt x="7544" y="252907"/>
                    </a:lnTo>
                    <a:lnTo>
                      <a:pt x="7277" y="252767"/>
                    </a:lnTo>
                    <a:lnTo>
                      <a:pt x="7112" y="252704"/>
                    </a:lnTo>
                    <a:lnTo>
                      <a:pt x="6756" y="252501"/>
                    </a:lnTo>
                    <a:lnTo>
                      <a:pt x="6299" y="252272"/>
                    </a:lnTo>
                    <a:lnTo>
                      <a:pt x="6121" y="252145"/>
                    </a:lnTo>
                    <a:lnTo>
                      <a:pt x="5893" y="252018"/>
                    </a:lnTo>
                    <a:lnTo>
                      <a:pt x="5410" y="251675"/>
                    </a:lnTo>
                    <a:lnTo>
                      <a:pt x="5131" y="251497"/>
                    </a:lnTo>
                    <a:lnTo>
                      <a:pt x="5004" y="251383"/>
                    </a:lnTo>
                    <a:lnTo>
                      <a:pt x="4750" y="251205"/>
                    </a:lnTo>
                    <a:lnTo>
                      <a:pt x="4178" y="250685"/>
                    </a:lnTo>
                    <a:lnTo>
                      <a:pt x="4026" y="250583"/>
                    </a:lnTo>
                    <a:lnTo>
                      <a:pt x="3721" y="250278"/>
                    </a:lnTo>
                    <a:lnTo>
                      <a:pt x="3277" y="249783"/>
                    </a:lnTo>
                    <a:lnTo>
                      <a:pt x="3023" y="249529"/>
                    </a:lnTo>
                    <a:lnTo>
                      <a:pt x="2934" y="249389"/>
                    </a:lnTo>
                    <a:lnTo>
                      <a:pt x="2794" y="249237"/>
                    </a:lnTo>
                    <a:lnTo>
                      <a:pt x="2388" y="248665"/>
                    </a:lnTo>
                    <a:lnTo>
                      <a:pt x="2134" y="248348"/>
                    </a:lnTo>
                    <a:lnTo>
                      <a:pt x="1981" y="248107"/>
                    </a:lnTo>
                    <a:lnTo>
                      <a:pt x="1600" y="247421"/>
                    </a:lnTo>
                    <a:lnTo>
                      <a:pt x="1384" y="247065"/>
                    </a:lnTo>
                    <a:lnTo>
                      <a:pt x="1092" y="246379"/>
                    </a:lnTo>
                    <a:lnTo>
                      <a:pt x="800" y="245744"/>
                    </a:lnTo>
                    <a:cubicBezTo>
                      <a:pt x="630" y="245296"/>
                      <a:pt x="486" y="244838"/>
                      <a:pt x="368" y="244373"/>
                    </a:cubicBezTo>
                    <a:lnTo>
                      <a:pt x="241" y="243649"/>
                    </a:lnTo>
                    <a:lnTo>
                      <a:pt x="114" y="242976"/>
                    </a:lnTo>
                    <a:lnTo>
                      <a:pt x="0" y="241299"/>
                    </a:ln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  <a:moveTo>
                      <a:pt x="139700" y="152400"/>
                    </a:moveTo>
                    <a:lnTo>
                      <a:pt x="114300" y="152400"/>
                    </a:lnTo>
                    <a:cubicBezTo>
                      <a:pt x="107286" y="152400"/>
                      <a:pt x="101600" y="158086"/>
                      <a:pt x="101600" y="165100"/>
                    </a:cubicBezTo>
                    <a:cubicBezTo>
                      <a:pt x="101600" y="172114"/>
                      <a:pt x="107286" y="177800"/>
                      <a:pt x="114300" y="177800"/>
                    </a:cubicBezTo>
                    <a:lnTo>
                      <a:pt x="139700" y="177800"/>
                    </a:lnTo>
                    <a:cubicBezTo>
                      <a:pt x="146714" y="177800"/>
                      <a:pt x="152400" y="172114"/>
                      <a:pt x="152400" y="165100"/>
                    </a:cubicBezTo>
                    <a:cubicBezTo>
                      <a:pt x="152400" y="158086"/>
                      <a:pt x="146714" y="152400"/>
                      <a:pt x="139700" y="152400"/>
                    </a:cubicBezTo>
                    <a:moveTo>
                      <a:pt x="139700" y="101600"/>
                    </a:moveTo>
                    <a:lnTo>
                      <a:pt x="63500" y="101600"/>
                    </a:lnTo>
                    <a:cubicBezTo>
                      <a:pt x="56486" y="101600"/>
                      <a:pt x="50800" y="107286"/>
                      <a:pt x="50800" y="114300"/>
                    </a:cubicBezTo>
                    <a:cubicBezTo>
                      <a:pt x="50800" y="121314"/>
                      <a:pt x="56486" y="127000"/>
                      <a:pt x="63500" y="127000"/>
                    </a:cubicBezTo>
                    <a:lnTo>
                      <a:pt x="139700" y="127000"/>
                    </a:lnTo>
                    <a:cubicBezTo>
                      <a:pt x="146714" y="127000"/>
                      <a:pt x="152400" y="121314"/>
                      <a:pt x="152400" y="114300"/>
                    </a:cubicBezTo>
                    <a:cubicBezTo>
                      <a:pt x="152400" y="107286"/>
                      <a:pt x="146714" y="101600"/>
                      <a:pt x="139700" y="101600"/>
                    </a:cubicBezTo>
                    <a:moveTo>
                      <a:pt x="139700" y="50800"/>
                    </a:moveTo>
                    <a:lnTo>
                      <a:pt x="63500" y="50800"/>
                    </a:lnTo>
                    <a:cubicBezTo>
                      <a:pt x="56486" y="50800"/>
                      <a:pt x="50800" y="56486"/>
                      <a:pt x="50800" y="63500"/>
                    </a:cubicBezTo>
                    <a:cubicBezTo>
                      <a:pt x="50800" y="70514"/>
                      <a:pt x="56486" y="76200"/>
                      <a:pt x="63500" y="76200"/>
                    </a:cubicBezTo>
                    <a:lnTo>
                      <a:pt x="139700" y="76200"/>
                    </a:lnTo>
                    <a:cubicBezTo>
                      <a:pt x="146714" y="76200"/>
                      <a:pt x="152400" y="70514"/>
                      <a:pt x="152400" y="63500"/>
                    </a:cubicBezTo>
                    <a:cubicBezTo>
                      <a:pt x="152400" y="56486"/>
                      <a:pt x="146714" y="50800"/>
                      <a:pt x="139700" y="5080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544056" y="45872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报销入口</a:t>
                </a:r>
              </a:p>
            </p:txBody>
          </p:sp>
        </p:grpSp>
      </p:grpSp>
      <p:grpSp>
        <p:nvGrpSpPr>
          <p:cNvPr id="28" name="cover-footnote"/>
          <p:cNvGrpSpPr/>
          <p:nvPr/>
        </p:nvGrpSpPr>
        <p:grpSpPr>
          <a:xfrm>
            <a:off x="832104" y="6442710"/>
            <a:ext cx="3533851" cy="234696"/>
            <a:chOff x="832104" y="6442710"/>
            <a:chExt cx="3533851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832104" y="6442710"/>
              <a:ext cx="3533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FD0F2"/>
                  </a:solidFill>
                  <a:latin typeface="+mn-lt"/>
                  <a:ea typeface="+mn-ea"/>
                  <a:cs typeface="+mn-cs"/>
                </a:rPr>
                <a:t>适用:入职第一周 · 内容摘自《员工手册(节选)》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disc-tr"/>
          <p:cNvSpPr/>
          <p:nvPr/>
        </p:nvSpPr>
        <p:spPr>
          <a:xfrm>
            <a:off x="10820400" y="-495300"/>
            <a:ext cx="1981200" cy="1981200"/>
          </a:xfrm>
          <a:prstGeom prst="ellipse">
            <a:avLst/>
          </a:prstGeom>
          <a:solidFill>
            <a:srgbClr val="E3ECFB"/>
          </a:solid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457200" y="533400"/>
            <a:ext cx="4730023" cy="618935"/>
            <a:chOff x="457200" y="533400"/>
            <a:chExt cx="4730023" cy="618935"/>
          </a:xfrm>
        </p:grpSpPr>
        <p:sp>
          <p:nvSpPr>
            <p:cNvPr id="3" name="Rectangle 3"/>
            <p:cNvSpPr/>
            <p:nvPr/>
          </p:nvSpPr>
          <p:spPr>
            <a:xfrm>
              <a:off x="457200" y="533400"/>
              <a:ext cx="76200" cy="400050"/>
            </a:xfrm>
            <a:prstGeom prst="roundRect">
              <a:avLst>
                <a:gd name="adj" fmla="val 50000"/>
              </a:avLst>
            </a:prstGeom>
            <a:solidFill>
              <a:srgbClr val="2E6BE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9798" y="536258"/>
              <a:ext cx="45174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考勤:弹性工作制怎么算</a:t>
              </a:r>
            </a:p>
          </p:txBody>
        </p:sp>
      </p:grpSp>
      <p:grpSp>
        <p:nvGrpSpPr>
          <p:cNvPr id="16" name="hero-core-hours"/>
          <p:cNvGrpSpPr/>
          <p:nvPr/>
        </p:nvGrpSpPr>
        <p:grpSpPr>
          <a:xfrm>
            <a:off x="457200" y="1333500"/>
            <a:ext cx="5048250" cy="4000500"/>
            <a:chOff x="457200" y="1333500"/>
            <a:chExt cx="5048250" cy="400050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5048250" cy="4000500"/>
            </a:xfrm>
            <a:prstGeom prst="roundRect">
              <a:avLst>
                <a:gd name="adj" fmla="val 5714"/>
              </a:avLst>
            </a:prstGeom>
            <a:solidFill>
              <a:srgbClr val="E3ECFB"/>
            </a:solidFill>
            <a:ln>
              <a:noFill/>
            </a:ln>
            <a:effectLst>
              <a:outerShdw blurRad="152400" dist="57150" dir="5400000" algn="ctr" rotWithShape="0">
                <a:srgbClr val="1A2E52">
                  <a:alpha val="7500"/>
                </a:srgbClr>
              </a:outerShdw>
            </a:effectLst>
          </p:spPr>
        </p:sp>
        <p:sp>
          <p:nvSpPr>
            <p:cNvPr id="7" name="hero-icon-disc"/>
            <p:cNvSpPr/>
            <p:nvPr/>
          </p:nvSpPr>
          <p:spPr>
            <a:xfrm>
              <a:off x="723900" y="1600200"/>
              <a:ext cx="685800" cy="685800"/>
            </a:xfrm>
            <a:prstGeom prst="ellipse">
              <a:avLst/>
            </a:prstGeom>
            <a:solidFill>
              <a:srgbClr val="2E6BE6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923925" y="1793825"/>
              <a:ext cx="300466" cy="300958"/>
            </a:xfrm>
            <a:custGeom>
              <a:avLst/>
              <a:gdLst/>
              <a:ahLst/>
              <a:cxnLst/>
              <a:rect l="l" t="t" r="r" b="b"/>
              <a:pathLst>
                <a:path w="300466" h="300958">
                  <a:moveTo>
                    <a:pt x="214312" y="25545"/>
                  </a:moveTo>
                  <a:cubicBezTo>
                    <a:pt x="273854" y="59924"/>
                    <a:pt x="300466" y="131835"/>
                    <a:pt x="277649" y="196693"/>
                  </a:cubicBezTo>
                  <a:cubicBezTo>
                    <a:pt x="254832" y="261550"/>
                    <a:pt x="189056" y="300958"/>
                    <a:pt x="121104" y="290484"/>
                  </a:cubicBezTo>
                  <a:cubicBezTo>
                    <a:pt x="53153" y="280009"/>
                    <a:pt x="2298" y="222622"/>
                    <a:pt x="71" y="153904"/>
                  </a:cubicBezTo>
                  <a:lnTo>
                    <a:pt x="0" y="149275"/>
                  </a:lnTo>
                  <a:lnTo>
                    <a:pt x="71" y="144646"/>
                  </a:lnTo>
                  <a:cubicBezTo>
                    <a:pt x="1699" y="94454"/>
                    <a:pt x="29558" y="48801"/>
                    <a:pt x="73450" y="24400"/>
                  </a:cubicBezTo>
                  <a:cubicBezTo>
                    <a:pt x="117343" y="0"/>
                    <a:pt x="170823" y="435"/>
                    <a:pt x="214312" y="25545"/>
                  </a:cubicBezTo>
                  <a:close/>
                  <a:moveTo>
                    <a:pt x="142875" y="63550"/>
                  </a:moveTo>
                  <a:cubicBezTo>
                    <a:pt x="135632" y="63551"/>
                    <a:pt x="129535" y="68972"/>
                    <a:pt x="128688" y="76166"/>
                  </a:cubicBezTo>
                  <a:lnTo>
                    <a:pt x="128588" y="77837"/>
                  </a:lnTo>
                  <a:lnTo>
                    <a:pt x="128588" y="149275"/>
                  </a:lnTo>
                  <a:lnTo>
                    <a:pt x="128716" y="151147"/>
                  </a:lnTo>
                  <a:cubicBezTo>
                    <a:pt x="129042" y="153625"/>
                    <a:pt x="130012" y="155975"/>
                    <a:pt x="131531" y="157962"/>
                  </a:cubicBezTo>
                  <a:lnTo>
                    <a:pt x="132774" y="159390"/>
                  </a:lnTo>
                  <a:lnTo>
                    <a:pt x="175636" y="202253"/>
                  </a:lnTo>
                  <a:lnTo>
                    <a:pt x="176979" y="203425"/>
                  </a:lnTo>
                  <a:cubicBezTo>
                    <a:pt x="182133" y="207423"/>
                    <a:pt x="189342" y="207423"/>
                    <a:pt x="194496" y="203425"/>
                  </a:cubicBezTo>
                  <a:lnTo>
                    <a:pt x="195839" y="202239"/>
                  </a:lnTo>
                  <a:lnTo>
                    <a:pt x="197025" y="200896"/>
                  </a:lnTo>
                  <a:cubicBezTo>
                    <a:pt x="201024" y="195742"/>
                    <a:pt x="201024" y="188533"/>
                    <a:pt x="197025" y="183379"/>
                  </a:cubicBezTo>
                  <a:lnTo>
                    <a:pt x="195839" y="182036"/>
                  </a:lnTo>
                  <a:lnTo>
                    <a:pt x="157162" y="143346"/>
                  </a:lnTo>
                  <a:lnTo>
                    <a:pt x="157162" y="77837"/>
                  </a:lnTo>
                  <a:lnTo>
                    <a:pt x="157062" y="76166"/>
                  </a:lnTo>
                  <a:cubicBezTo>
                    <a:pt x="156215" y="68972"/>
                    <a:pt x="150118" y="63551"/>
                    <a:pt x="142875" y="635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91056" y="18249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核心工作时间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6112" y="2545080"/>
              <a:ext cx="342051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2E6BE6"/>
                  </a:solidFill>
                  <a:latin typeface="+mn-lt"/>
                  <a:ea typeface="+mn-ea"/>
                  <a:cs typeface="+mn-cs"/>
                </a:rPr>
                <a:t>10:00 – 16:00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14400" y="33147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9525">
              <a:solidFill>
                <a:srgbClr val="2E6BE6">
                  <a:alpha val="25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5256" y="3558540"/>
              <a:ext cx="301294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弹性上下班:核心时段须在岗,</a:t>
              </a:r>
              <a:br/>
              <a:r>
                <a:rPr lang="zh-CN" sz="1800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每日工作满 8 小时即可。</a:t>
              </a:r>
            </a:p>
          </p:txBody>
        </p:sp>
        <p:grpSp>
          <p:nvGrpSpPr>
            <p:cNvPr id="15" name="late-note-pill"/>
            <p:cNvGrpSpPr/>
            <p:nvPr/>
          </p:nvGrpSpPr>
          <p:grpSpPr>
            <a:xfrm>
              <a:off x="914400" y="4476750"/>
              <a:ext cx="2933700" cy="457200"/>
              <a:chOff x="914400" y="4476750"/>
              <a:chExt cx="2933700" cy="457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914400" y="4476750"/>
                <a:ext cx="29337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36142" y="4616768"/>
                <a:ext cx="193104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A6B7E"/>
                    </a:solidFill>
                    <a:latin typeface="+mn-lt"/>
                    <a:ea typeface="+mn-ea"/>
                    <a:cs typeface="+mn-cs"/>
                  </a:rPr>
                  <a:t>迟到、早退:按规定处理</a:t>
                </a:r>
              </a:p>
            </p:txBody>
          </p:sp>
        </p:grpSp>
      </p:grpSp>
      <p:grpSp>
        <p:nvGrpSpPr>
          <p:cNvPr id="23" name="card-leave"/>
          <p:cNvGrpSpPr/>
          <p:nvPr/>
        </p:nvGrpSpPr>
        <p:grpSpPr>
          <a:xfrm>
            <a:off x="5810250" y="1333500"/>
            <a:ext cx="5924550" cy="2095500"/>
            <a:chOff x="5810250" y="1333500"/>
            <a:chExt cx="5924550" cy="2095500"/>
          </a:xfrm>
        </p:grpSpPr>
        <p:sp>
          <p:nvSpPr>
            <p:cNvPr id="17" name="Rectangle 17"/>
            <p:cNvSpPr/>
            <p:nvPr/>
          </p:nvSpPr>
          <p:spPr>
            <a:xfrm>
              <a:off x="5810250" y="1333500"/>
              <a:ext cx="5924550" cy="20955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076950" y="1657350"/>
              <a:ext cx="571500" cy="571500"/>
            </a:xfrm>
            <a:prstGeom prst="ellipse">
              <a:avLst/>
            </a:prstGeom>
            <a:solidFill>
              <a:srgbClr val="E3ECFB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262687" y="1831662"/>
              <a:ext cx="200028" cy="222565"/>
            </a:xfrm>
            <a:custGeom>
              <a:avLst/>
              <a:gdLst/>
              <a:ahLst/>
              <a:cxnLst/>
              <a:rect l="l" t="t" r="r" b="b"/>
              <a:pathLst>
                <a:path w="200028" h="222565">
                  <a:moveTo>
                    <a:pt x="144464" y="313"/>
                  </a:moveTo>
                  <a:cubicBezTo>
                    <a:pt x="150098" y="314"/>
                    <a:pt x="154839" y="4530"/>
                    <a:pt x="155499" y="10126"/>
                  </a:cubicBezTo>
                  <a:lnTo>
                    <a:pt x="155576" y="11426"/>
                  </a:lnTo>
                  <a:lnTo>
                    <a:pt x="155576" y="22538"/>
                  </a:lnTo>
                  <a:lnTo>
                    <a:pt x="166689" y="22538"/>
                  </a:lnTo>
                  <a:cubicBezTo>
                    <a:pt x="184342" y="22537"/>
                    <a:pt x="198935" y="36298"/>
                    <a:pt x="199971" y="53920"/>
                  </a:cubicBezTo>
                  <a:lnTo>
                    <a:pt x="200027" y="55876"/>
                  </a:lnTo>
                  <a:lnTo>
                    <a:pt x="200027" y="189226"/>
                  </a:lnTo>
                  <a:cubicBezTo>
                    <a:pt x="200028" y="206879"/>
                    <a:pt x="186267" y="221473"/>
                    <a:pt x="168645" y="222508"/>
                  </a:cubicBezTo>
                  <a:lnTo>
                    <a:pt x="166689" y="222564"/>
                  </a:lnTo>
                  <a:lnTo>
                    <a:pt x="33339" y="222564"/>
                  </a:lnTo>
                  <a:cubicBezTo>
                    <a:pt x="15686" y="222565"/>
                    <a:pt x="1092" y="208804"/>
                    <a:pt x="57" y="191182"/>
                  </a:cubicBezTo>
                  <a:lnTo>
                    <a:pt x="1" y="189226"/>
                  </a:lnTo>
                  <a:lnTo>
                    <a:pt x="1" y="55876"/>
                  </a:lnTo>
                  <a:cubicBezTo>
                    <a:pt x="0" y="38223"/>
                    <a:pt x="13760" y="23629"/>
                    <a:pt x="31383" y="22594"/>
                  </a:cubicBezTo>
                  <a:lnTo>
                    <a:pt x="33339" y="22538"/>
                  </a:lnTo>
                  <a:lnTo>
                    <a:pt x="44451" y="22538"/>
                  </a:lnTo>
                  <a:lnTo>
                    <a:pt x="44451" y="11426"/>
                  </a:lnTo>
                  <a:cubicBezTo>
                    <a:pt x="44458" y="5546"/>
                    <a:pt x="49043" y="689"/>
                    <a:pt x="54912" y="345"/>
                  </a:cubicBezTo>
                  <a:cubicBezTo>
                    <a:pt x="60782" y="0"/>
                    <a:pt x="65904" y="4287"/>
                    <a:pt x="66598" y="10126"/>
                  </a:cubicBezTo>
                  <a:lnTo>
                    <a:pt x="66676" y="11426"/>
                  </a:lnTo>
                  <a:lnTo>
                    <a:pt x="66676" y="22538"/>
                  </a:lnTo>
                  <a:lnTo>
                    <a:pt x="133351" y="22538"/>
                  </a:lnTo>
                  <a:lnTo>
                    <a:pt x="133351" y="11426"/>
                  </a:lnTo>
                  <a:cubicBezTo>
                    <a:pt x="133351" y="5288"/>
                    <a:pt x="138327" y="313"/>
                    <a:pt x="144464" y="313"/>
                  </a:cubicBezTo>
                  <a:moveTo>
                    <a:pt x="177801" y="89213"/>
                  </a:moveTo>
                  <a:lnTo>
                    <a:pt x="22226" y="89213"/>
                  </a:lnTo>
                  <a:lnTo>
                    <a:pt x="22226" y="185059"/>
                  </a:lnTo>
                  <a:cubicBezTo>
                    <a:pt x="22226" y="192893"/>
                    <a:pt x="26515" y="199350"/>
                    <a:pt x="32038" y="200239"/>
                  </a:cubicBezTo>
                  <a:lnTo>
                    <a:pt x="33339" y="200339"/>
                  </a:lnTo>
                  <a:lnTo>
                    <a:pt x="166689" y="200339"/>
                  </a:lnTo>
                  <a:cubicBezTo>
                    <a:pt x="172390" y="200339"/>
                    <a:pt x="177090" y="194449"/>
                    <a:pt x="177724" y="186837"/>
                  </a:cubicBezTo>
                  <a:lnTo>
                    <a:pt x="177801" y="185059"/>
                  </a:lnTo>
                  <a:close/>
                  <a:moveTo>
                    <a:pt x="77789" y="133664"/>
                  </a:moveTo>
                  <a:cubicBezTo>
                    <a:pt x="83926" y="133664"/>
                    <a:pt x="88901" y="138639"/>
                    <a:pt x="88901" y="144776"/>
                  </a:cubicBezTo>
                  <a:lnTo>
                    <a:pt x="88901" y="167001"/>
                  </a:lnTo>
                  <a:cubicBezTo>
                    <a:pt x="88901" y="173138"/>
                    <a:pt x="83926" y="178114"/>
                    <a:pt x="77789" y="178114"/>
                  </a:cubicBezTo>
                  <a:lnTo>
                    <a:pt x="55564" y="178114"/>
                  </a:lnTo>
                  <a:cubicBezTo>
                    <a:pt x="49426" y="178114"/>
                    <a:pt x="44451" y="173138"/>
                    <a:pt x="44451" y="167001"/>
                  </a:cubicBezTo>
                  <a:lnTo>
                    <a:pt x="44451" y="144776"/>
                  </a:lnTo>
                  <a:cubicBezTo>
                    <a:pt x="44451" y="138639"/>
                    <a:pt x="49426" y="133664"/>
                    <a:pt x="55564" y="133664"/>
                  </a:cubicBezTo>
                  <a:close/>
                </a:path>
              </a:pathLst>
            </a:custGeom>
            <a:solidFill>
              <a:srgbClr val="2E6BE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10756" y="1824990"/>
              <a:ext cx="23652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请假:提前在 OA 申请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0756" y="2244090"/>
              <a:ext cx="3170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请假须在 OA 提前提交申请。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10756" y="2586990"/>
              <a:ext cx="20967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病假:需补交证明。</a:t>
              </a:r>
            </a:p>
          </p:txBody>
        </p:sp>
      </p:grpSp>
      <p:grpSp>
        <p:nvGrpSpPr>
          <p:cNvPr id="29" name="card-late-rule"/>
          <p:cNvGrpSpPr/>
          <p:nvPr/>
        </p:nvGrpSpPr>
        <p:grpSpPr>
          <a:xfrm>
            <a:off x="5810250" y="3619500"/>
            <a:ext cx="5924550" cy="1714500"/>
            <a:chOff x="5810250" y="3619500"/>
            <a:chExt cx="5924550" cy="1714500"/>
          </a:xfrm>
        </p:grpSpPr>
        <p:sp>
          <p:nvSpPr>
            <p:cNvPr id="24" name="Rectangle 24"/>
            <p:cNvSpPr/>
            <p:nvPr/>
          </p:nvSpPr>
          <p:spPr>
            <a:xfrm>
              <a:off x="5810250" y="3619500"/>
              <a:ext cx="5924550" cy="17145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076950" y="3829050"/>
              <a:ext cx="571500" cy="571500"/>
            </a:xfrm>
            <a:prstGeom prst="ellipse">
              <a:avLst/>
            </a:prstGeom>
            <a:solidFill>
              <a:srgbClr val="FBEEDC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6238888" y="4000008"/>
              <a:ext cx="247496" cy="214761"/>
            </a:xfrm>
            <a:custGeom>
              <a:avLst/>
              <a:gdLst/>
              <a:ahLst/>
              <a:cxnLst/>
              <a:rect l="l" t="t" r="r" b="b"/>
              <a:pathLst>
                <a:path w="247496" h="214761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8"/>
                  </a:lnTo>
                  <a:cubicBezTo>
                    <a:pt x="247275" y="175835"/>
                    <a:pt x="247496" y="187668"/>
                    <a:pt x="242289" y="197516"/>
                  </a:cubicBezTo>
                  <a:cubicBezTo>
                    <a:pt x="237081" y="207364"/>
                    <a:pt x="227178" y="213844"/>
                    <a:pt x="216069" y="214672"/>
                  </a:cubicBezTo>
                  <a:lnTo>
                    <a:pt x="213902" y="214761"/>
                  </a:lnTo>
                  <a:lnTo>
                    <a:pt x="33601" y="214761"/>
                  </a:lnTo>
                  <a:cubicBezTo>
                    <a:pt x="22481" y="214636"/>
                    <a:pt x="12203" y="208813"/>
                    <a:pt x="6379" y="199340"/>
                  </a:cubicBezTo>
                  <a:cubicBezTo>
                    <a:pt x="555" y="189866"/>
                    <a:pt x="0" y="178067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2000" y="5914"/>
                    <a:pt x="112495" y="2"/>
                    <a:pt x="123812" y="0"/>
                  </a:cubicBezTo>
                  <a:close/>
                  <a:moveTo>
                    <a:pt x="123924" y="148130"/>
                  </a:moveTo>
                  <a:lnTo>
                    <a:pt x="122512" y="148208"/>
                  </a:lnTo>
                  <a:cubicBezTo>
                    <a:pt x="116922" y="148873"/>
                    <a:pt x="112712" y="153613"/>
                    <a:pt x="112712" y="159243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4" y="170277"/>
                  </a:lnTo>
                  <a:cubicBezTo>
                    <a:pt x="130814" y="169612"/>
                    <a:pt x="135024" y="164872"/>
                    <a:pt x="135024" y="159243"/>
                  </a:cubicBezTo>
                  <a:cubicBezTo>
                    <a:pt x="135024" y="153613"/>
                    <a:pt x="130814" y="148873"/>
                    <a:pt x="125224" y="148208"/>
                  </a:cubicBezTo>
                  <a:lnTo>
                    <a:pt x="123924" y="148130"/>
                  </a:lnTo>
                  <a:close/>
                  <a:moveTo>
                    <a:pt x="123812" y="70342"/>
                  </a:moveTo>
                  <a:cubicBezTo>
                    <a:pt x="118179" y="70343"/>
                    <a:pt x="113437" y="74560"/>
                    <a:pt x="112778" y="80155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8" y="127205"/>
                  </a:lnTo>
                  <a:cubicBezTo>
                    <a:pt x="113443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5"/>
                  </a:lnTo>
                  <a:cubicBezTo>
                    <a:pt x="134188" y="74560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rgbClr val="B4530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10756" y="39966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迟到与早退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10756" y="44157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迟到、早退按规定处理。</a:t>
              </a:r>
            </a:p>
          </p:txBody>
        </p:sp>
      </p:grpSp>
      <p:grpSp>
        <p:nvGrpSpPr>
          <p:cNvPr id="32" name="page-footer"/>
          <p:cNvGrpSpPr/>
          <p:nvPr/>
        </p:nvGrpSpPr>
        <p:grpSpPr>
          <a:xfrm>
            <a:off x="451104" y="6461760"/>
            <a:ext cx="11289792" cy="234696"/>
            <a:chOff x="451104" y="646176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46176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>第一天必知 · 新员工速览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87532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>02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disc-bl"/>
          <p:cNvSpPr/>
          <p:nvPr/>
        </p:nvSpPr>
        <p:spPr>
          <a:xfrm>
            <a:off x="-533400" y="5372100"/>
            <a:ext cx="1828800" cy="1828800"/>
          </a:xfrm>
          <a:prstGeom prst="ellipse">
            <a:avLst/>
          </a:prstGeom>
          <a:solidFill>
            <a:srgbClr val="E3ECFB"/>
          </a:solid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457200" y="533400"/>
            <a:ext cx="5578129" cy="618935"/>
            <a:chOff x="457200" y="533400"/>
            <a:chExt cx="5578129" cy="618935"/>
          </a:xfrm>
        </p:grpSpPr>
        <p:sp>
          <p:nvSpPr>
            <p:cNvPr id="3" name="Rectangle 3"/>
            <p:cNvSpPr/>
            <p:nvPr/>
          </p:nvSpPr>
          <p:spPr>
            <a:xfrm>
              <a:off x="457200" y="533400"/>
              <a:ext cx="76200" cy="400050"/>
            </a:xfrm>
            <a:prstGeom prst="roundRect">
              <a:avLst>
                <a:gd name="adj" fmla="val 50000"/>
              </a:avLst>
            </a:prstGeom>
            <a:solidFill>
              <a:srgbClr val="2E6BE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9798" y="536258"/>
              <a:ext cx="536553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账号与办公:第一天谁给你开</a:t>
              </a:r>
            </a:p>
          </p:txBody>
        </p:sp>
      </p:grpSp>
      <p:grpSp>
        <p:nvGrpSpPr>
          <p:cNvPr id="25" name="hero-it-band"/>
          <p:cNvGrpSpPr/>
          <p:nvPr/>
        </p:nvGrpSpPr>
        <p:grpSpPr>
          <a:xfrm>
            <a:off x="457200" y="1333500"/>
            <a:ext cx="11277600" cy="2095500"/>
            <a:chOff x="457200" y="1333500"/>
            <a:chExt cx="112776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11277600" cy="2095500"/>
            </a:xfrm>
            <a:prstGeom prst="roundRect">
              <a:avLst>
                <a:gd name="adj" fmla="val 10909"/>
              </a:avLst>
            </a:prstGeom>
            <a:solidFill>
              <a:srgbClr val="E3ECFB"/>
            </a:solidFill>
            <a:ln>
              <a:noFill/>
            </a:ln>
            <a:effectLst>
              <a:outerShdw blurRad="152400" dist="57150" dir="5400000" algn="ctr" rotWithShape="0">
                <a:srgbClr val="1A2E52">
                  <a:alpha val="7500"/>
                </a:srgbClr>
              </a:outerShdw>
            </a:effectLst>
          </p:spPr>
        </p:sp>
        <p:sp>
          <p:nvSpPr>
            <p:cNvPr id="7" name="hero-icon-disc"/>
            <p:cNvSpPr/>
            <p:nvPr/>
          </p:nvSpPr>
          <p:spPr>
            <a:xfrm>
              <a:off x="723900" y="1704975"/>
              <a:ext cx="685800" cy="685800"/>
            </a:xfrm>
            <a:prstGeom prst="ellipse">
              <a:avLst/>
            </a:prstGeom>
            <a:solidFill>
              <a:srgbClr val="2E6BE6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66788" y="1905000"/>
              <a:ext cx="200025" cy="285750"/>
              <a:chOff x="966788" y="1905000"/>
              <a:chExt cx="200025" cy="2857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95362" y="190500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71438" y="0"/>
                    </a:moveTo>
                    <a:cubicBezTo>
                      <a:pt x="110891" y="0"/>
                      <a:pt x="142875" y="31984"/>
                      <a:pt x="142875" y="71438"/>
                    </a:cubicBez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lnTo>
                      <a:pt x="71" y="68337"/>
                    </a:lnTo>
                    <a:cubicBezTo>
                      <a:pt x="1731" y="30127"/>
                      <a:pt x="33191" y="2"/>
                      <a:pt x="714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66788" y="2076450"/>
                <a:ext cx="2000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14300">
                    <a:moveTo>
                      <a:pt x="128588" y="0"/>
                    </a:moveTo>
                    <a:cubicBezTo>
                      <a:pt x="168041" y="0"/>
                      <a:pt x="200025" y="31984"/>
                      <a:pt x="200025" y="71438"/>
                    </a:cubicBezTo>
                    <a:lnTo>
                      <a:pt x="200025" y="85725"/>
                    </a:lnTo>
                    <a:cubicBezTo>
                      <a:pt x="200025" y="101507"/>
                      <a:pt x="187232" y="114300"/>
                      <a:pt x="171450" y="114300"/>
                    </a:cubicBezTo>
                    <a:lnTo>
                      <a:pt x="28575" y="114300"/>
                    </a:lnTo>
                    <a:cubicBezTo>
                      <a:pt x="12793" y="114300"/>
                      <a:pt x="0" y="101507"/>
                      <a:pt x="0" y="85725"/>
                    </a:cubicBezTo>
                    <a:lnTo>
                      <a:pt x="0" y="71438"/>
                    </a:lnTo>
                    <a:cubicBezTo>
                      <a:pt x="0" y="31984"/>
                      <a:pt x="31984" y="0"/>
                      <a:pt x="71438" y="0"/>
                    </a:cubicBezTo>
                    <a:lnTo>
                      <a:pt x="12858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91056" y="1929765"/>
              <a:ext cx="812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IT 开通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6112" y="26593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2E6BE6"/>
                  </a:solidFill>
                  <a:latin typeface="+mn-lt"/>
                  <a:ea typeface="+mn-ea"/>
                  <a:cs typeface="+mn-cs"/>
                </a:rPr>
                <a:t>入职当天</a:t>
              </a:r>
            </a:p>
          </p:txBody>
        </p:sp>
        <p:grpSp>
          <p:nvGrpSpPr>
            <p:cNvPr id="18" name="chip-mail"/>
            <p:cNvGrpSpPr/>
            <p:nvPr/>
          </p:nvGrpSpPr>
          <p:grpSpPr>
            <a:xfrm>
              <a:off x="7734300" y="1600200"/>
              <a:ext cx="3733800" cy="609600"/>
              <a:chOff x="7734300" y="1600200"/>
              <a:chExt cx="3733800" cy="6096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734300" y="1600200"/>
                <a:ext cx="3733800" cy="6096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7988300" y="1803400"/>
                <a:ext cx="254000" cy="203200"/>
                <a:chOff x="7988300" y="1803400"/>
                <a:chExt cx="254000" cy="20320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7988300" y="1848294"/>
                  <a:ext cx="254000" cy="158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0" h="158306">
                      <a:moveTo>
                        <a:pt x="253999" y="0"/>
                      </a:moveTo>
                      <a:lnTo>
                        <a:pt x="253999" y="120205"/>
                      </a:lnTo>
                      <a:cubicBezTo>
                        <a:pt x="254000" y="140380"/>
                        <a:pt x="238275" y="157058"/>
                        <a:pt x="218135" y="158242"/>
                      </a:cubicBezTo>
                      <a:lnTo>
                        <a:pt x="215899" y="158305"/>
                      </a:lnTo>
                      <a:lnTo>
                        <a:pt x="38100" y="158305"/>
                      </a:lnTo>
                      <a:cubicBezTo>
                        <a:pt x="17925" y="158306"/>
                        <a:pt x="1247" y="142580"/>
                        <a:pt x="63" y="122440"/>
                      </a:cubicBezTo>
                      <a:lnTo>
                        <a:pt x="0" y="120205"/>
                      </a:lnTo>
                      <a:lnTo>
                        <a:pt x="0" y="0"/>
                      </a:lnTo>
                      <a:lnTo>
                        <a:pt x="119951" y="79972"/>
                      </a:lnTo>
                      <a:lnTo>
                        <a:pt x="121424" y="80810"/>
                      </a:lnTo>
                      <a:cubicBezTo>
                        <a:pt x="124943" y="82529"/>
                        <a:pt x="129057" y="82529"/>
                        <a:pt x="132575" y="80810"/>
                      </a:cubicBezTo>
                      <a:lnTo>
                        <a:pt x="134048" y="79972"/>
                      </a:lnTo>
                      <a:lnTo>
                        <a:pt x="253999" y="0"/>
                      </a:lnTo>
                      <a:close/>
                    </a:path>
                  </a:pathLst>
                </a:custGeom>
                <a:solidFill>
                  <a:srgbClr val="2E6BE6"/>
                </a:solidFill>
                <a:ln>
                  <a:noFill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7993951" y="1803400"/>
                  <a:ext cx="242696" cy="990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696" h="99022">
                      <a:moveTo>
                        <a:pt x="210248" y="0"/>
                      </a:moveTo>
                      <a:cubicBezTo>
                        <a:pt x="223964" y="0"/>
                        <a:pt x="235991" y="7239"/>
                        <a:pt x="242696" y="18123"/>
                      </a:cubicBezTo>
                      <a:lnTo>
                        <a:pt x="121348" y="99022"/>
                      </a:lnTo>
                      <a:lnTo>
                        <a:pt x="0" y="18123"/>
                      </a:lnTo>
                      <a:cubicBezTo>
                        <a:pt x="6461" y="7629"/>
                        <a:pt x="17600" y="910"/>
                        <a:pt x="29896" y="89"/>
                      </a:cubicBezTo>
                      <a:lnTo>
                        <a:pt x="32448" y="0"/>
                      </a:lnTo>
                      <a:lnTo>
                        <a:pt x="210248" y="0"/>
                      </a:lnTo>
                      <a:close/>
                    </a:path>
                  </a:pathLst>
                </a:custGeom>
                <a:solidFill>
                  <a:srgbClr val="2E6BE6"/>
                </a:solidFill>
                <a:ln>
                  <a:noFill/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8410956" y="17678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E2A3A"/>
                    </a:solidFill>
                    <a:latin typeface="+mn-lt"/>
                    <a:ea typeface="+mn-ea"/>
                    <a:cs typeface="+mn-cs"/>
                  </a:rPr>
                  <a:t>企业邮箱</a:t>
                </a:r>
              </a:p>
            </p:txBody>
          </p:sp>
        </p:grpSp>
        <p:grpSp>
          <p:nvGrpSpPr>
            <p:cNvPr id="24" name="chip-system"/>
            <p:cNvGrpSpPr/>
            <p:nvPr/>
          </p:nvGrpSpPr>
          <p:grpSpPr>
            <a:xfrm>
              <a:off x="7734300" y="2324100"/>
              <a:ext cx="3733800" cy="609600"/>
              <a:chOff x="7734300" y="2324100"/>
              <a:chExt cx="3733800" cy="6096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734300" y="2324100"/>
                <a:ext cx="3733800" cy="6096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8026400" y="2501900"/>
                <a:ext cx="177800" cy="254000"/>
                <a:chOff x="8026400" y="2501900"/>
                <a:chExt cx="177800" cy="25400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8051800" y="2501900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63500" y="0"/>
                      </a:moveTo>
                      <a:cubicBezTo>
                        <a:pt x="98570" y="0"/>
                        <a:pt x="127000" y="28430"/>
                        <a:pt x="127000" y="63500"/>
                      </a:cubicBezTo>
                      <a:cubicBezTo>
                        <a:pt x="127000" y="98570"/>
                        <a:pt x="98570" y="127000"/>
                        <a:pt x="63500" y="127000"/>
                      </a:cubicBezTo>
                      <a:cubicBezTo>
                        <a:pt x="28430" y="127000"/>
                        <a:pt x="0" y="98570"/>
                        <a:pt x="0" y="63500"/>
                      </a:cubicBezTo>
                      <a:lnTo>
                        <a:pt x="63" y="60744"/>
                      </a:lnTo>
                      <a:cubicBezTo>
                        <a:pt x="1539" y="26779"/>
                        <a:pt x="29503" y="2"/>
                        <a:pt x="63500" y="0"/>
                      </a:cubicBezTo>
                      <a:close/>
                    </a:path>
                  </a:pathLst>
                </a:custGeom>
                <a:solidFill>
                  <a:srgbClr val="2E6BE6"/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8026400" y="2654300"/>
                  <a:ext cx="1778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1600">
                      <a:moveTo>
                        <a:pt x="114300" y="0"/>
                      </a:moveTo>
                      <a:cubicBezTo>
                        <a:pt x="149370" y="0"/>
                        <a:pt x="177800" y="28430"/>
                        <a:pt x="177800" y="63500"/>
                      </a:cubicBezTo>
                      <a:lnTo>
                        <a:pt x="177800" y="76200"/>
                      </a:lnTo>
                      <a:cubicBezTo>
                        <a:pt x="177800" y="90228"/>
                        <a:pt x="166428" y="101600"/>
                        <a:pt x="152400" y="101600"/>
                      </a:cubicBezTo>
                      <a:lnTo>
                        <a:pt x="25400" y="101600"/>
                      </a:lnTo>
                      <a:cubicBezTo>
                        <a:pt x="11372" y="101600"/>
                        <a:pt x="0" y="90228"/>
                        <a:pt x="0" y="76200"/>
                      </a:cubicBez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lnTo>
                        <a:pt x="114300" y="0"/>
                      </a:lnTo>
                      <a:close/>
                    </a:path>
                  </a:pathLst>
                </a:custGeom>
                <a:solidFill>
                  <a:srgbClr val="2E6BE6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8410956" y="24917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E2A3A"/>
                    </a:solidFill>
                    <a:latin typeface="+mn-lt"/>
                    <a:ea typeface="+mn-ea"/>
                    <a:cs typeface="+mn-cs"/>
                  </a:rPr>
                  <a:t>办公系统账号</a:t>
                </a:r>
              </a:p>
            </p:txBody>
          </p:sp>
        </p:grpSp>
      </p:grpSp>
      <p:grpSp>
        <p:nvGrpSpPr>
          <p:cNvPr id="31" name="card-security"/>
          <p:cNvGrpSpPr/>
          <p:nvPr/>
        </p:nvGrpSpPr>
        <p:grpSpPr>
          <a:xfrm>
            <a:off x="457200" y="3657600"/>
            <a:ext cx="5581650" cy="1676400"/>
            <a:chOff x="457200" y="3657600"/>
            <a:chExt cx="5581650" cy="1676400"/>
          </a:xfrm>
        </p:grpSpPr>
        <p:sp>
          <p:nvSpPr>
            <p:cNvPr id="26" name="Rectangle 26"/>
            <p:cNvSpPr/>
            <p:nvPr/>
          </p:nvSpPr>
          <p:spPr>
            <a:xfrm>
              <a:off x="457200" y="3657600"/>
              <a:ext cx="5581650" cy="16764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23900" y="3867150"/>
              <a:ext cx="647700" cy="647700"/>
            </a:xfrm>
            <a:prstGeom prst="ellipse">
              <a:avLst/>
            </a:prstGeom>
            <a:solidFill>
              <a:srgbClr val="FBEEDC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06703" y="4056063"/>
              <a:ext cx="282082" cy="270020"/>
            </a:xfrm>
            <a:custGeom>
              <a:avLst/>
              <a:gdLst/>
              <a:ahLst/>
              <a:cxnLst/>
              <a:rect l="l" t="t" r="r" b="b"/>
              <a:pathLst>
                <a:path w="282082" h="270020">
                  <a:moveTo>
                    <a:pt x="141021" y="0"/>
                  </a:moveTo>
                  <a:lnTo>
                    <a:pt x="142613" y="94"/>
                  </a:lnTo>
                  <a:lnTo>
                    <a:pt x="143409" y="202"/>
                  </a:lnTo>
                  <a:lnTo>
                    <a:pt x="144232" y="378"/>
                  </a:lnTo>
                  <a:lnTo>
                    <a:pt x="145730" y="837"/>
                  </a:lnTo>
                  <a:cubicBezTo>
                    <a:pt x="146765" y="1218"/>
                    <a:pt x="147748" y="1726"/>
                    <a:pt x="148658" y="2348"/>
                  </a:cubicBezTo>
                  <a:lnTo>
                    <a:pt x="150062" y="3454"/>
                  </a:lnTo>
                  <a:lnTo>
                    <a:pt x="153502" y="6396"/>
                  </a:lnTo>
                  <a:cubicBezTo>
                    <a:pt x="180724" y="29006"/>
                    <a:pt x="215127" y="41147"/>
                    <a:pt x="250509" y="40630"/>
                  </a:cubicBezTo>
                  <a:lnTo>
                    <a:pt x="255124" y="40495"/>
                  </a:lnTo>
                  <a:cubicBezTo>
                    <a:pt x="261333" y="40212"/>
                    <a:pt x="266933" y="44206"/>
                    <a:pt x="268685" y="50170"/>
                  </a:cubicBezTo>
                  <a:cubicBezTo>
                    <a:pt x="282082" y="95742"/>
                    <a:pt x="276425" y="144799"/>
                    <a:pt x="253008" y="186126"/>
                  </a:cubicBezTo>
                  <a:cubicBezTo>
                    <a:pt x="229590" y="227453"/>
                    <a:pt x="190413" y="257517"/>
                    <a:pt x="144435" y="269444"/>
                  </a:cubicBezTo>
                  <a:cubicBezTo>
                    <a:pt x="142213" y="270020"/>
                    <a:pt x="139882" y="270020"/>
                    <a:pt x="137661" y="269444"/>
                  </a:cubicBezTo>
                  <a:cubicBezTo>
                    <a:pt x="91679" y="257520"/>
                    <a:pt x="52500" y="227457"/>
                    <a:pt x="29079" y="186130"/>
                  </a:cubicBezTo>
                  <a:cubicBezTo>
                    <a:pt x="5659" y="144803"/>
                    <a:pt x="0" y="95744"/>
                    <a:pt x="13397" y="50170"/>
                  </a:cubicBezTo>
                  <a:cubicBezTo>
                    <a:pt x="15149" y="44206"/>
                    <a:pt x="20749" y="40212"/>
                    <a:pt x="26958" y="40495"/>
                  </a:cubicBezTo>
                  <a:cubicBezTo>
                    <a:pt x="63897" y="42183"/>
                    <a:pt x="100135" y="30024"/>
                    <a:pt x="128579" y="6396"/>
                  </a:cubicBezTo>
                  <a:lnTo>
                    <a:pt x="132128" y="3360"/>
                  </a:lnTo>
                  <a:lnTo>
                    <a:pt x="133424" y="2348"/>
                  </a:lnTo>
                  <a:cubicBezTo>
                    <a:pt x="134334" y="1726"/>
                    <a:pt x="135317" y="1218"/>
                    <a:pt x="136352" y="837"/>
                  </a:cubicBezTo>
                  <a:lnTo>
                    <a:pt x="137863" y="378"/>
                  </a:lnTo>
                  <a:cubicBezTo>
                    <a:pt x="138392" y="250"/>
                    <a:pt x="138928" y="155"/>
                    <a:pt x="139469" y="94"/>
                  </a:cubicBezTo>
                  <a:lnTo>
                    <a:pt x="141021" y="0"/>
                  </a:lnTo>
                  <a:close/>
                  <a:moveTo>
                    <a:pt x="191083" y="98410"/>
                  </a:moveTo>
                  <a:cubicBezTo>
                    <a:pt x="188552" y="95876"/>
                    <a:pt x="185117" y="94453"/>
                    <a:pt x="181536" y="94453"/>
                  </a:cubicBezTo>
                  <a:cubicBezTo>
                    <a:pt x="177954" y="94453"/>
                    <a:pt x="174520" y="95876"/>
                    <a:pt x="171989" y="98410"/>
                  </a:cubicBezTo>
                  <a:lnTo>
                    <a:pt x="127554" y="142832"/>
                  </a:lnTo>
                  <a:lnTo>
                    <a:pt x="110106" y="125398"/>
                  </a:lnTo>
                  <a:lnTo>
                    <a:pt x="108838" y="124278"/>
                  </a:lnTo>
                  <a:cubicBezTo>
                    <a:pt x="103209" y="119926"/>
                    <a:pt x="95169" y="120691"/>
                    <a:pt x="90463" y="126028"/>
                  </a:cubicBezTo>
                  <a:cubicBezTo>
                    <a:pt x="85757" y="131365"/>
                    <a:pt x="86004" y="139438"/>
                    <a:pt x="91026" y="144478"/>
                  </a:cubicBezTo>
                  <a:lnTo>
                    <a:pt x="118014" y="171465"/>
                  </a:lnTo>
                  <a:lnTo>
                    <a:pt x="119282" y="172585"/>
                  </a:lnTo>
                  <a:cubicBezTo>
                    <a:pt x="124654" y="176752"/>
                    <a:pt x="132287" y="176272"/>
                    <a:pt x="137094" y="171465"/>
                  </a:cubicBezTo>
                  <a:lnTo>
                    <a:pt x="191069" y="117490"/>
                  </a:lnTo>
                  <a:lnTo>
                    <a:pt x="192189" y="116222"/>
                  </a:lnTo>
                  <a:cubicBezTo>
                    <a:pt x="196356" y="110850"/>
                    <a:pt x="195876" y="103218"/>
                    <a:pt x="191069" y="98410"/>
                  </a:cubicBezTo>
                  <a:close/>
                </a:path>
              </a:pathLst>
            </a:custGeom>
            <a:solidFill>
              <a:srgbClr val="B4530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52956" y="4072890"/>
              <a:ext cx="25813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电脑必装:统一安全软件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6656" y="46443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办公电脑</a:t>
              </a:r>
              <a:r>
                <a:rPr lang="zh-CN" sz="180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须安装</a:t>
              </a:r>
              <a:r>
                <a:rPr lang="zh-CN" sz="1800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公司统一的安全软件。</a:t>
              </a:r>
            </a:p>
          </p:txBody>
        </p:sp>
      </p:grpSp>
      <p:grpSp>
        <p:nvGrpSpPr>
          <p:cNvPr id="37" name="card-intranet"/>
          <p:cNvGrpSpPr/>
          <p:nvPr/>
        </p:nvGrpSpPr>
        <p:grpSpPr>
          <a:xfrm>
            <a:off x="6153150" y="3657600"/>
            <a:ext cx="5581650" cy="1676400"/>
            <a:chOff x="6153150" y="3657600"/>
            <a:chExt cx="5581650" cy="1676400"/>
          </a:xfrm>
        </p:grpSpPr>
        <p:sp>
          <p:nvSpPr>
            <p:cNvPr id="32" name="Rectangle 32"/>
            <p:cNvSpPr/>
            <p:nvPr/>
          </p:nvSpPr>
          <p:spPr>
            <a:xfrm>
              <a:off x="6153150" y="3657600"/>
              <a:ext cx="5581650" cy="1676400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419850" y="3867150"/>
              <a:ext cx="647700" cy="647700"/>
            </a:xfrm>
            <a:prstGeom prst="ellipse">
              <a:avLst/>
            </a:prstGeom>
            <a:solidFill>
              <a:srgbClr val="E3ECFB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608763" y="4056063"/>
              <a:ext cx="269934" cy="271159"/>
            </a:xfrm>
            <a:custGeom>
              <a:avLst/>
              <a:gdLst/>
              <a:ahLst/>
              <a:cxnLst/>
              <a:rect l="l" t="t" r="r" b="b"/>
              <a:pathLst>
                <a:path w="269934" h="271159">
                  <a:moveTo>
                    <a:pt x="134938" y="0"/>
                  </a:moveTo>
                  <a:cubicBezTo>
                    <a:pt x="209464" y="0"/>
                    <a:pt x="269876" y="60412"/>
                    <a:pt x="269876" y="134938"/>
                  </a:cubicBezTo>
                  <a:cubicBezTo>
                    <a:pt x="269934" y="208651"/>
                    <a:pt x="210828" y="268770"/>
                    <a:pt x="137124" y="269965"/>
                  </a:cubicBezTo>
                  <a:cubicBezTo>
                    <a:pt x="63421" y="271159"/>
                    <a:pt x="2397" y="212986"/>
                    <a:pt x="67" y="139310"/>
                  </a:cubicBezTo>
                  <a:lnTo>
                    <a:pt x="0" y="134938"/>
                  </a:lnTo>
                  <a:lnTo>
                    <a:pt x="54" y="131160"/>
                  </a:lnTo>
                  <a:cubicBezTo>
                    <a:pt x="2051" y="58388"/>
                    <a:pt x="61667" y="0"/>
                    <a:pt x="134938" y="0"/>
                  </a:cubicBezTo>
                  <a:close/>
                  <a:moveTo>
                    <a:pt x="134938" y="121444"/>
                  </a:moveTo>
                  <a:lnTo>
                    <a:pt x="121444" y="121444"/>
                  </a:lnTo>
                  <a:lnTo>
                    <a:pt x="119865" y="121538"/>
                  </a:lnTo>
                  <a:cubicBezTo>
                    <a:pt x="113077" y="122346"/>
                    <a:pt x="107965" y="128102"/>
                    <a:pt x="107965" y="134938"/>
                  </a:cubicBezTo>
                  <a:cubicBezTo>
                    <a:pt x="107965" y="141774"/>
                    <a:pt x="113077" y="147530"/>
                    <a:pt x="119865" y="148337"/>
                  </a:cubicBezTo>
                  <a:lnTo>
                    <a:pt x="121444" y="148432"/>
                  </a:lnTo>
                  <a:lnTo>
                    <a:pt x="121444" y="188913"/>
                  </a:lnTo>
                  <a:lnTo>
                    <a:pt x="121538" y="190492"/>
                  </a:lnTo>
                  <a:cubicBezTo>
                    <a:pt x="122270" y="196692"/>
                    <a:pt x="127159" y="201581"/>
                    <a:pt x="133359" y="202312"/>
                  </a:cubicBezTo>
                  <a:lnTo>
                    <a:pt x="134938" y="202407"/>
                  </a:lnTo>
                  <a:lnTo>
                    <a:pt x="148432" y="202407"/>
                  </a:lnTo>
                  <a:lnTo>
                    <a:pt x="150010" y="202312"/>
                  </a:lnTo>
                  <a:cubicBezTo>
                    <a:pt x="156211" y="201581"/>
                    <a:pt x="161100" y="196692"/>
                    <a:pt x="161831" y="190492"/>
                  </a:cubicBezTo>
                  <a:lnTo>
                    <a:pt x="161925" y="188913"/>
                  </a:lnTo>
                  <a:lnTo>
                    <a:pt x="161831" y="187334"/>
                  </a:lnTo>
                  <a:cubicBezTo>
                    <a:pt x="161170" y="181694"/>
                    <a:pt x="157049" y="177072"/>
                    <a:pt x="151522" y="175770"/>
                  </a:cubicBezTo>
                  <a:lnTo>
                    <a:pt x="150010" y="175500"/>
                  </a:lnTo>
                  <a:lnTo>
                    <a:pt x="148432" y="175419"/>
                  </a:lnTo>
                  <a:lnTo>
                    <a:pt x="148432" y="134938"/>
                  </a:lnTo>
                  <a:lnTo>
                    <a:pt x="148337" y="133359"/>
                  </a:lnTo>
                  <a:cubicBezTo>
                    <a:pt x="147606" y="127159"/>
                    <a:pt x="142717" y="122270"/>
                    <a:pt x="136517" y="121538"/>
                  </a:cubicBezTo>
                  <a:lnTo>
                    <a:pt x="134938" y="121444"/>
                  </a:lnTo>
                  <a:close/>
                  <a:moveTo>
                    <a:pt x="135073" y="80963"/>
                  </a:moveTo>
                  <a:lnTo>
                    <a:pt x="133359" y="81057"/>
                  </a:lnTo>
                  <a:cubicBezTo>
                    <a:pt x="126571" y="81865"/>
                    <a:pt x="121459" y="87621"/>
                    <a:pt x="121459" y="94456"/>
                  </a:cubicBezTo>
                  <a:cubicBezTo>
                    <a:pt x="121459" y="101292"/>
                    <a:pt x="126571" y="107048"/>
                    <a:pt x="133359" y="107856"/>
                  </a:cubicBezTo>
                  <a:lnTo>
                    <a:pt x="134938" y="107950"/>
                  </a:lnTo>
                  <a:lnTo>
                    <a:pt x="136652" y="107856"/>
                  </a:lnTo>
                  <a:cubicBezTo>
                    <a:pt x="143440" y="107048"/>
                    <a:pt x="148552" y="101292"/>
                    <a:pt x="148552" y="94456"/>
                  </a:cubicBezTo>
                  <a:cubicBezTo>
                    <a:pt x="148552" y="87621"/>
                    <a:pt x="143440" y="81865"/>
                    <a:pt x="136652" y="81057"/>
                  </a:cubicBezTo>
                  <a:lnTo>
                    <a:pt x="135073" y="80963"/>
                  </a:lnTo>
                  <a:close/>
                </a:path>
              </a:pathLst>
            </a:custGeom>
            <a:solidFill>
              <a:srgbClr val="2E6BE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48906" y="4072890"/>
              <a:ext cx="17070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Wi-Fi 与打印机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72606" y="4644390"/>
              <a:ext cx="42292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Wi-Fi 密码、打印机使用,见</a:t>
              </a:r>
              <a:r>
                <a:rPr lang="zh-CN" sz="1800" b="1" dirty="0">
                  <a:solidFill>
                    <a:srgbClr val="2E6BE6"/>
                  </a:solidFill>
                  <a:latin typeface="+mn-lt"/>
                  <a:ea typeface="+mn-ea"/>
                  <a:cs typeface="+mn-cs"/>
                </a:rPr>
                <a:t>内网指引</a:t>
              </a:r>
              <a:r>
                <a:rPr lang="zh-CN" sz="1800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0" name="page-footer"/>
          <p:cNvGrpSpPr/>
          <p:nvPr/>
        </p:nvGrpSpPr>
        <p:grpSpPr>
          <a:xfrm>
            <a:off x="451104" y="6461760"/>
            <a:ext cx="11289792" cy="234696"/>
            <a:chOff x="451104" y="6461760"/>
            <a:chExt cx="112897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451104" y="646176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>第一天必知 · 新员工速览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87532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>03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disc-r"/>
          <p:cNvSpPr/>
          <p:nvPr/>
        </p:nvSpPr>
        <p:spPr>
          <a:xfrm>
            <a:off x="11201400" y="2667000"/>
            <a:ext cx="1524000" cy="1524000"/>
          </a:xfrm>
          <a:prstGeom prst="ellipse">
            <a:avLst/>
          </a:prstGeom>
          <a:solidFill>
            <a:srgbClr val="E3ECFB"/>
          </a:solid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457200" y="533400"/>
            <a:ext cx="5154076" cy="618935"/>
            <a:chOff x="457200" y="533400"/>
            <a:chExt cx="5154076" cy="618935"/>
          </a:xfrm>
        </p:grpSpPr>
        <p:sp>
          <p:nvSpPr>
            <p:cNvPr id="3" name="Rectangle 3"/>
            <p:cNvSpPr/>
            <p:nvPr/>
          </p:nvSpPr>
          <p:spPr>
            <a:xfrm>
              <a:off x="457200" y="533400"/>
              <a:ext cx="76200" cy="400050"/>
            </a:xfrm>
            <a:prstGeom prst="roundRect">
              <a:avLst>
                <a:gd name="adj" fmla="val 50000"/>
              </a:avLst>
            </a:prstGeom>
            <a:solidFill>
              <a:srgbClr val="2E6BE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9798" y="536258"/>
              <a:ext cx="49414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办事入口速查:去哪儿提交</a:t>
              </a:r>
            </a:p>
          </p:txBody>
        </p:sp>
      </p:grpSp>
      <p:grpSp>
        <p:nvGrpSpPr>
          <p:cNvPr id="13" name="row-leave"/>
          <p:cNvGrpSpPr/>
          <p:nvPr/>
        </p:nvGrpSpPr>
        <p:grpSpPr>
          <a:xfrm>
            <a:off x="457200" y="1428750"/>
            <a:ext cx="11277600" cy="895350"/>
            <a:chOff x="457200" y="1428750"/>
            <a:chExt cx="11277600" cy="895350"/>
          </a:xfrm>
        </p:grpSpPr>
        <p:sp>
          <p:nvSpPr>
            <p:cNvPr id="6" name="Rectangle 6"/>
            <p:cNvSpPr/>
            <p:nvPr/>
          </p:nvSpPr>
          <p:spPr>
            <a:xfrm>
              <a:off x="457200" y="1428750"/>
              <a:ext cx="11277600" cy="89535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23900" y="1609725"/>
              <a:ext cx="533400" cy="533400"/>
            </a:xfrm>
            <a:prstGeom prst="ellipse">
              <a:avLst/>
            </a:prstGeom>
            <a:solidFill>
              <a:srgbClr val="E3ECFB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90587" y="1764987"/>
              <a:ext cx="200028" cy="222565"/>
            </a:xfrm>
            <a:custGeom>
              <a:avLst/>
              <a:gdLst/>
              <a:ahLst/>
              <a:cxnLst/>
              <a:rect l="l" t="t" r="r" b="b"/>
              <a:pathLst>
                <a:path w="200028" h="222565">
                  <a:moveTo>
                    <a:pt x="144464" y="313"/>
                  </a:moveTo>
                  <a:cubicBezTo>
                    <a:pt x="150098" y="314"/>
                    <a:pt x="154839" y="4530"/>
                    <a:pt x="155499" y="10126"/>
                  </a:cubicBezTo>
                  <a:lnTo>
                    <a:pt x="155576" y="11426"/>
                  </a:lnTo>
                  <a:lnTo>
                    <a:pt x="155576" y="22538"/>
                  </a:lnTo>
                  <a:lnTo>
                    <a:pt x="166689" y="22538"/>
                  </a:lnTo>
                  <a:cubicBezTo>
                    <a:pt x="184342" y="22537"/>
                    <a:pt x="198935" y="36298"/>
                    <a:pt x="199971" y="53920"/>
                  </a:cubicBezTo>
                  <a:lnTo>
                    <a:pt x="200027" y="55876"/>
                  </a:lnTo>
                  <a:lnTo>
                    <a:pt x="200027" y="189226"/>
                  </a:lnTo>
                  <a:cubicBezTo>
                    <a:pt x="200028" y="206879"/>
                    <a:pt x="186267" y="221473"/>
                    <a:pt x="168645" y="222508"/>
                  </a:cubicBezTo>
                  <a:lnTo>
                    <a:pt x="166689" y="222564"/>
                  </a:lnTo>
                  <a:lnTo>
                    <a:pt x="33339" y="222564"/>
                  </a:lnTo>
                  <a:cubicBezTo>
                    <a:pt x="15686" y="222565"/>
                    <a:pt x="1092" y="208804"/>
                    <a:pt x="57" y="191182"/>
                  </a:cubicBezTo>
                  <a:lnTo>
                    <a:pt x="1" y="189226"/>
                  </a:lnTo>
                  <a:lnTo>
                    <a:pt x="1" y="55876"/>
                  </a:lnTo>
                  <a:cubicBezTo>
                    <a:pt x="0" y="38223"/>
                    <a:pt x="13760" y="23629"/>
                    <a:pt x="31383" y="22594"/>
                  </a:cubicBezTo>
                  <a:lnTo>
                    <a:pt x="33339" y="22538"/>
                  </a:lnTo>
                  <a:lnTo>
                    <a:pt x="44451" y="22538"/>
                  </a:lnTo>
                  <a:lnTo>
                    <a:pt x="44451" y="11426"/>
                  </a:lnTo>
                  <a:cubicBezTo>
                    <a:pt x="44458" y="5546"/>
                    <a:pt x="49043" y="689"/>
                    <a:pt x="54912" y="345"/>
                  </a:cubicBezTo>
                  <a:cubicBezTo>
                    <a:pt x="60782" y="0"/>
                    <a:pt x="65904" y="4287"/>
                    <a:pt x="66598" y="10126"/>
                  </a:cubicBezTo>
                  <a:lnTo>
                    <a:pt x="66676" y="11426"/>
                  </a:lnTo>
                  <a:lnTo>
                    <a:pt x="66676" y="22538"/>
                  </a:lnTo>
                  <a:lnTo>
                    <a:pt x="133351" y="22538"/>
                  </a:lnTo>
                  <a:lnTo>
                    <a:pt x="133351" y="11426"/>
                  </a:lnTo>
                  <a:cubicBezTo>
                    <a:pt x="133351" y="5288"/>
                    <a:pt x="138327" y="313"/>
                    <a:pt x="144464" y="313"/>
                  </a:cubicBezTo>
                  <a:moveTo>
                    <a:pt x="177801" y="89213"/>
                  </a:moveTo>
                  <a:lnTo>
                    <a:pt x="22226" y="89213"/>
                  </a:lnTo>
                  <a:lnTo>
                    <a:pt x="22226" y="185059"/>
                  </a:lnTo>
                  <a:cubicBezTo>
                    <a:pt x="22226" y="192893"/>
                    <a:pt x="26515" y="199350"/>
                    <a:pt x="32038" y="200239"/>
                  </a:cubicBezTo>
                  <a:lnTo>
                    <a:pt x="33339" y="200339"/>
                  </a:lnTo>
                  <a:lnTo>
                    <a:pt x="166689" y="200339"/>
                  </a:lnTo>
                  <a:cubicBezTo>
                    <a:pt x="172390" y="200339"/>
                    <a:pt x="177090" y="194449"/>
                    <a:pt x="177724" y="186837"/>
                  </a:cubicBezTo>
                  <a:lnTo>
                    <a:pt x="177801" y="185059"/>
                  </a:lnTo>
                  <a:close/>
                  <a:moveTo>
                    <a:pt x="77789" y="133664"/>
                  </a:moveTo>
                  <a:cubicBezTo>
                    <a:pt x="83926" y="133664"/>
                    <a:pt x="88901" y="138639"/>
                    <a:pt x="88901" y="144776"/>
                  </a:cubicBezTo>
                  <a:lnTo>
                    <a:pt x="88901" y="167001"/>
                  </a:lnTo>
                  <a:cubicBezTo>
                    <a:pt x="88901" y="173138"/>
                    <a:pt x="83926" y="178114"/>
                    <a:pt x="77789" y="178114"/>
                  </a:cubicBezTo>
                  <a:lnTo>
                    <a:pt x="55564" y="178114"/>
                  </a:lnTo>
                  <a:cubicBezTo>
                    <a:pt x="49426" y="178114"/>
                    <a:pt x="44451" y="173138"/>
                    <a:pt x="44451" y="167001"/>
                  </a:cubicBezTo>
                  <a:lnTo>
                    <a:pt x="44451" y="144776"/>
                  </a:lnTo>
                  <a:cubicBezTo>
                    <a:pt x="44451" y="138639"/>
                    <a:pt x="49426" y="133664"/>
                    <a:pt x="55564" y="133664"/>
                  </a:cubicBezTo>
                  <a:close/>
                </a:path>
              </a:pathLst>
            </a:custGeom>
            <a:solidFill>
              <a:srgbClr val="2E6BE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38656" y="16725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请假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40942" y="2006918"/>
              <a:ext cx="3204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>须提前在 OA 提交申请;病假需补交证明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744200" y="1647825"/>
              <a:ext cx="838200" cy="457200"/>
            </a:xfrm>
            <a:prstGeom prst="roundRect">
              <a:avLst>
                <a:gd name="adj" fmla="val 50000"/>
              </a:avLst>
            </a:prstGeom>
            <a:solidFill>
              <a:srgbClr val="E3ECF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79414" y="174879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E6BE6"/>
                  </a:solidFill>
                  <a:latin typeface="+mn-lt"/>
                  <a:ea typeface="+mn-ea"/>
                  <a:cs typeface="+mn-cs"/>
                </a:rPr>
                <a:t>OA</a:t>
              </a:r>
            </a:p>
          </p:txBody>
        </p:sp>
      </p:grpSp>
      <p:grpSp>
        <p:nvGrpSpPr>
          <p:cNvPr id="21" name="row-reimburse"/>
          <p:cNvGrpSpPr/>
          <p:nvPr/>
        </p:nvGrpSpPr>
        <p:grpSpPr>
          <a:xfrm>
            <a:off x="457200" y="2476500"/>
            <a:ext cx="11277600" cy="895350"/>
            <a:chOff x="457200" y="2476500"/>
            <a:chExt cx="11277600" cy="895350"/>
          </a:xfrm>
        </p:grpSpPr>
        <p:sp>
          <p:nvSpPr>
            <p:cNvPr id="14" name="Rectangle 14"/>
            <p:cNvSpPr/>
            <p:nvPr/>
          </p:nvSpPr>
          <p:spPr>
            <a:xfrm>
              <a:off x="457200" y="2476500"/>
              <a:ext cx="11277600" cy="895350"/>
            </a:xfrm>
            <a:prstGeom prst="roundRect">
              <a:avLst>
                <a:gd name="adj" fmla="val 21277"/>
              </a:avLst>
            </a:prstGeom>
            <a:solidFill>
              <a:srgbClr val="E3ECFB"/>
            </a:solidFill>
            <a:ln>
              <a:noFill/>
            </a:ln>
            <a:effectLst>
              <a:outerShdw blurRad="152400" dist="57150" dir="5400000" algn="ctr" rotWithShape="0">
                <a:srgbClr val="1A2E52">
                  <a:alpha val="7500"/>
                </a:srgbClr>
              </a:outerShdw>
            </a:effectLst>
          </p:spPr>
        </p:sp>
        <p:sp>
          <p:nvSpPr>
            <p:cNvPr id="15" name="Ellipse 15"/>
            <p:cNvSpPr/>
            <p:nvPr/>
          </p:nvSpPr>
          <p:spPr>
            <a:xfrm>
              <a:off x="723900" y="2657475"/>
              <a:ext cx="533400" cy="533400"/>
            </a:xfrm>
            <a:prstGeom prst="ellipse">
              <a:avLst/>
            </a:prstGeom>
            <a:solidFill>
              <a:srgbClr val="2E6BE6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01700" y="2813050"/>
              <a:ext cx="177801" cy="223349"/>
            </a:xfrm>
            <a:custGeom>
              <a:avLst/>
              <a:gdLst/>
              <a:ahLst/>
              <a:cxnLst/>
              <a:rect l="l" t="t" r="r" b="b"/>
              <a:pathLst>
                <a:path w="177801" h="223349">
                  <a:moveTo>
                    <a:pt x="144463" y="0"/>
                  </a:moveTo>
                  <a:cubicBezTo>
                    <a:pt x="162875" y="0"/>
                    <a:pt x="177801" y="14926"/>
                    <a:pt x="177801" y="33338"/>
                  </a:cubicBezTo>
                  <a:lnTo>
                    <a:pt x="177801" y="211138"/>
                  </a:lnTo>
                  <a:cubicBezTo>
                    <a:pt x="177801" y="215237"/>
                    <a:pt x="175545" y="219004"/>
                    <a:pt x="171930" y="220938"/>
                  </a:cubicBezTo>
                  <a:cubicBezTo>
                    <a:pt x="168316" y="222872"/>
                    <a:pt x="163930" y="222659"/>
                    <a:pt x="160521" y="220384"/>
                  </a:cubicBezTo>
                  <a:lnTo>
                    <a:pt x="134762" y="203215"/>
                  </a:lnTo>
                  <a:lnTo>
                    <a:pt x="118982" y="218995"/>
                  </a:lnTo>
                  <a:cubicBezTo>
                    <a:pt x="115023" y="222953"/>
                    <a:pt x="108737" y="223349"/>
                    <a:pt x="104313" y="219917"/>
                  </a:cubicBezTo>
                  <a:lnTo>
                    <a:pt x="103269" y="218995"/>
                  </a:lnTo>
                  <a:lnTo>
                    <a:pt x="88900" y="204637"/>
                  </a:lnTo>
                  <a:lnTo>
                    <a:pt x="74532" y="218995"/>
                  </a:lnTo>
                  <a:cubicBezTo>
                    <a:pt x="70573" y="222953"/>
                    <a:pt x="64287" y="223349"/>
                    <a:pt x="59863" y="219917"/>
                  </a:cubicBezTo>
                  <a:lnTo>
                    <a:pt x="58819" y="218995"/>
                  </a:lnTo>
                  <a:lnTo>
                    <a:pt x="43028" y="203215"/>
                  </a:lnTo>
                  <a:lnTo>
                    <a:pt x="17280" y="220384"/>
                  </a:lnTo>
                  <a:lnTo>
                    <a:pt x="17069" y="220517"/>
                  </a:lnTo>
                  <a:lnTo>
                    <a:pt x="16469" y="220850"/>
                  </a:lnTo>
                  <a:lnTo>
                    <a:pt x="16158" y="221039"/>
                  </a:lnTo>
                  <a:lnTo>
                    <a:pt x="15558" y="221295"/>
                  </a:lnTo>
                  <a:lnTo>
                    <a:pt x="15002" y="221551"/>
                  </a:lnTo>
                  <a:lnTo>
                    <a:pt x="14457" y="221717"/>
                  </a:lnTo>
                  <a:lnTo>
                    <a:pt x="13791" y="221928"/>
                  </a:lnTo>
                  <a:lnTo>
                    <a:pt x="13213" y="222028"/>
                  </a:lnTo>
                  <a:lnTo>
                    <a:pt x="12579" y="222151"/>
                  </a:lnTo>
                  <a:lnTo>
                    <a:pt x="11646" y="222217"/>
                  </a:lnTo>
                  <a:lnTo>
                    <a:pt x="11357" y="222251"/>
                  </a:lnTo>
                  <a:lnTo>
                    <a:pt x="11113" y="222251"/>
                  </a:lnTo>
                  <a:lnTo>
                    <a:pt x="10568" y="222217"/>
                  </a:lnTo>
                  <a:lnTo>
                    <a:pt x="10135" y="222217"/>
                  </a:lnTo>
                  <a:lnTo>
                    <a:pt x="9990" y="222184"/>
                  </a:lnTo>
                  <a:lnTo>
                    <a:pt x="9812" y="222184"/>
                  </a:lnTo>
                  <a:lnTo>
                    <a:pt x="9357" y="222095"/>
                  </a:lnTo>
                  <a:lnTo>
                    <a:pt x="8934" y="222039"/>
                  </a:lnTo>
                  <a:lnTo>
                    <a:pt x="8768" y="221984"/>
                  </a:lnTo>
                  <a:lnTo>
                    <a:pt x="8568" y="221962"/>
                  </a:lnTo>
                  <a:lnTo>
                    <a:pt x="8190" y="221839"/>
                  </a:lnTo>
                  <a:lnTo>
                    <a:pt x="7745" y="221728"/>
                  </a:lnTo>
                  <a:lnTo>
                    <a:pt x="7534" y="221651"/>
                  </a:lnTo>
                  <a:lnTo>
                    <a:pt x="7368" y="221606"/>
                  </a:lnTo>
                  <a:lnTo>
                    <a:pt x="7045" y="221462"/>
                  </a:lnTo>
                  <a:lnTo>
                    <a:pt x="6601" y="221295"/>
                  </a:lnTo>
                  <a:lnTo>
                    <a:pt x="6367" y="221173"/>
                  </a:lnTo>
                  <a:lnTo>
                    <a:pt x="6223" y="221117"/>
                  </a:lnTo>
                  <a:lnTo>
                    <a:pt x="5912" y="220939"/>
                  </a:lnTo>
                  <a:lnTo>
                    <a:pt x="5512" y="220739"/>
                  </a:lnTo>
                  <a:lnTo>
                    <a:pt x="5356" y="220628"/>
                  </a:lnTo>
                  <a:lnTo>
                    <a:pt x="5156" y="220517"/>
                  </a:lnTo>
                  <a:lnTo>
                    <a:pt x="4734" y="220217"/>
                  </a:lnTo>
                  <a:lnTo>
                    <a:pt x="4489" y="220061"/>
                  </a:lnTo>
                  <a:lnTo>
                    <a:pt x="4378" y="219961"/>
                  </a:lnTo>
                  <a:lnTo>
                    <a:pt x="4156" y="219806"/>
                  </a:lnTo>
                  <a:lnTo>
                    <a:pt x="3656" y="219350"/>
                  </a:lnTo>
                  <a:lnTo>
                    <a:pt x="3523" y="219261"/>
                  </a:lnTo>
                  <a:lnTo>
                    <a:pt x="3256" y="218995"/>
                  </a:lnTo>
                  <a:lnTo>
                    <a:pt x="2867" y="218561"/>
                  </a:lnTo>
                  <a:lnTo>
                    <a:pt x="2645" y="218339"/>
                  </a:lnTo>
                  <a:lnTo>
                    <a:pt x="2567" y="218217"/>
                  </a:lnTo>
                  <a:lnTo>
                    <a:pt x="2445" y="218083"/>
                  </a:lnTo>
                  <a:lnTo>
                    <a:pt x="2089" y="217583"/>
                  </a:lnTo>
                  <a:lnTo>
                    <a:pt x="1867" y="217306"/>
                  </a:lnTo>
                  <a:lnTo>
                    <a:pt x="1734" y="217094"/>
                  </a:lnTo>
                  <a:lnTo>
                    <a:pt x="1400" y="216494"/>
                  </a:lnTo>
                  <a:lnTo>
                    <a:pt x="1211" y="216183"/>
                  </a:lnTo>
                  <a:lnTo>
                    <a:pt x="956" y="215583"/>
                  </a:lnTo>
                  <a:lnTo>
                    <a:pt x="700" y="215027"/>
                  </a:lnTo>
                  <a:cubicBezTo>
                    <a:pt x="552" y="214635"/>
                    <a:pt x="425" y="214234"/>
                    <a:pt x="322" y="213827"/>
                  </a:cubicBezTo>
                  <a:lnTo>
                    <a:pt x="211" y="213194"/>
                  </a:lnTo>
                  <a:lnTo>
                    <a:pt x="100" y="212605"/>
                  </a:lnTo>
                  <a:lnTo>
                    <a:pt x="0" y="211138"/>
                  </a:lnTo>
                  <a:lnTo>
                    <a:pt x="0" y="33338"/>
                  </a:lnTo>
                  <a:cubicBezTo>
                    <a:pt x="0" y="14926"/>
                    <a:pt x="14926" y="0"/>
                    <a:pt x="33338" y="0"/>
                  </a:cubicBezTo>
                  <a:close/>
                  <a:moveTo>
                    <a:pt x="122238" y="133350"/>
                  </a:moveTo>
                  <a:lnTo>
                    <a:pt x="100013" y="133350"/>
                  </a:lnTo>
                  <a:cubicBezTo>
                    <a:pt x="93876" y="133350"/>
                    <a:pt x="88900" y="138326"/>
                    <a:pt x="88900" y="144463"/>
                  </a:cubicBezTo>
                  <a:cubicBezTo>
                    <a:pt x="88900" y="150600"/>
                    <a:pt x="93876" y="155575"/>
                    <a:pt x="100013" y="155575"/>
                  </a:cubicBezTo>
                  <a:lnTo>
                    <a:pt x="122238" y="155575"/>
                  </a:lnTo>
                  <a:cubicBezTo>
                    <a:pt x="128375" y="155575"/>
                    <a:pt x="133350" y="150600"/>
                    <a:pt x="133350" y="144463"/>
                  </a:cubicBezTo>
                  <a:cubicBezTo>
                    <a:pt x="133350" y="138326"/>
                    <a:pt x="128375" y="133350"/>
                    <a:pt x="122238" y="133350"/>
                  </a:cubicBezTo>
                  <a:moveTo>
                    <a:pt x="122238" y="88900"/>
                  </a:moveTo>
                  <a:lnTo>
                    <a:pt x="55563" y="88900"/>
                  </a:lnTo>
                  <a:cubicBezTo>
                    <a:pt x="49425" y="88900"/>
                    <a:pt x="44450" y="93876"/>
                    <a:pt x="44450" y="100013"/>
                  </a:cubicBezTo>
                  <a:cubicBezTo>
                    <a:pt x="44450" y="106150"/>
                    <a:pt x="49425" y="111125"/>
                    <a:pt x="55563" y="111125"/>
                  </a:cubicBezTo>
                  <a:lnTo>
                    <a:pt x="122238" y="111125"/>
                  </a:lnTo>
                  <a:cubicBezTo>
                    <a:pt x="128375" y="111125"/>
                    <a:pt x="133350" y="106150"/>
                    <a:pt x="133350" y="100013"/>
                  </a:cubicBezTo>
                  <a:cubicBezTo>
                    <a:pt x="133350" y="93876"/>
                    <a:pt x="128375" y="88900"/>
                    <a:pt x="122238" y="88900"/>
                  </a:cubicBezTo>
                  <a:moveTo>
                    <a:pt x="122238" y="44450"/>
                  </a:moveTo>
                  <a:lnTo>
                    <a:pt x="55563" y="44450"/>
                  </a:lnTo>
                  <a:cubicBezTo>
                    <a:pt x="49425" y="44450"/>
                    <a:pt x="44450" y="49425"/>
                    <a:pt x="44450" y="55563"/>
                  </a:cubicBezTo>
                  <a:cubicBezTo>
                    <a:pt x="44450" y="61700"/>
                    <a:pt x="49425" y="66675"/>
                    <a:pt x="55563" y="66675"/>
                  </a:cubicBezTo>
                  <a:lnTo>
                    <a:pt x="122238" y="66675"/>
                  </a:lnTo>
                  <a:cubicBezTo>
                    <a:pt x="128375" y="66675"/>
                    <a:pt x="133350" y="61700"/>
                    <a:pt x="133350" y="55563"/>
                  </a:cubicBezTo>
                  <a:cubicBezTo>
                    <a:pt x="133350" y="49425"/>
                    <a:pt x="128375" y="44450"/>
                    <a:pt x="122238" y="444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38656" y="27203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报销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0942" y="30546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>报销在财务系统提交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153650" y="2695575"/>
              <a:ext cx="1428750" cy="457200"/>
            </a:xfrm>
            <a:prstGeom prst="roundRect">
              <a:avLst>
                <a:gd name="adj" fmla="val 50000"/>
              </a:avLst>
            </a:prstGeom>
            <a:solidFill>
              <a:srgbClr val="2E6BE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74249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财务系统</a:t>
              </a:r>
            </a:p>
          </p:txBody>
        </p:sp>
      </p:grpSp>
      <p:grpSp>
        <p:nvGrpSpPr>
          <p:cNvPr id="29" name="row-facilities"/>
          <p:cNvGrpSpPr/>
          <p:nvPr/>
        </p:nvGrpSpPr>
        <p:grpSpPr>
          <a:xfrm>
            <a:off x="457200" y="3524250"/>
            <a:ext cx="11277600" cy="895350"/>
            <a:chOff x="457200" y="3524250"/>
            <a:chExt cx="11277600" cy="895350"/>
          </a:xfrm>
        </p:grpSpPr>
        <p:sp>
          <p:nvSpPr>
            <p:cNvPr id="22" name="Rectangle 22"/>
            <p:cNvSpPr/>
            <p:nvPr/>
          </p:nvSpPr>
          <p:spPr>
            <a:xfrm>
              <a:off x="457200" y="3524250"/>
              <a:ext cx="11277600" cy="89535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23900" y="3705225"/>
              <a:ext cx="533400" cy="533400"/>
            </a:xfrm>
            <a:prstGeom prst="ellipse">
              <a:avLst/>
            </a:prstGeom>
            <a:solidFill>
              <a:srgbClr val="E3ECFB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879475" y="3860800"/>
              <a:ext cx="222299" cy="223307"/>
            </a:xfrm>
            <a:custGeom>
              <a:avLst/>
              <a:gdLst/>
              <a:ahLst/>
              <a:cxnLst/>
              <a:rect l="l" t="t" r="r" b="b"/>
              <a:pathLst>
                <a:path w="222299" h="223307">
                  <a:moveTo>
                    <a:pt x="111125" y="0"/>
                  </a:moveTo>
                  <a:cubicBezTo>
                    <a:pt x="172500" y="0"/>
                    <a:pt x="222251" y="49751"/>
                    <a:pt x="222251" y="111125"/>
                  </a:cubicBezTo>
                  <a:cubicBezTo>
                    <a:pt x="222299" y="171830"/>
                    <a:pt x="173623" y="221340"/>
                    <a:pt x="112926" y="222324"/>
                  </a:cubicBezTo>
                  <a:cubicBezTo>
                    <a:pt x="52229" y="223307"/>
                    <a:pt x="1974" y="175401"/>
                    <a:pt x="56" y="114726"/>
                  </a:cubicBezTo>
                  <a:lnTo>
                    <a:pt x="0" y="111125"/>
                  </a:lnTo>
                  <a:lnTo>
                    <a:pt x="44" y="108014"/>
                  </a:lnTo>
                  <a:cubicBezTo>
                    <a:pt x="1689" y="48084"/>
                    <a:pt x="50784" y="0"/>
                    <a:pt x="111125" y="0"/>
                  </a:cubicBezTo>
                  <a:close/>
                  <a:moveTo>
                    <a:pt x="111125" y="100013"/>
                  </a:moveTo>
                  <a:lnTo>
                    <a:pt x="100013" y="100013"/>
                  </a:lnTo>
                  <a:lnTo>
                    <a:pt x="98713" y="100091"/>
                  </a:lnTo>
                  <a:cubicBezTo>
                    <a:pt x="93122" y="100756"/>
                    <a:pt x="88913" y="105496"/>
                    <a:pt x="88913" y="111125"/>
                  </a:cubicBezTo>
                  <a:cubicBezTo>
                    <a:pt x="88913" y="116755"/>
                    <a:pt x="93122" y="121495"/>
                    <a:pt x="98713" y="122160"/>
                  </a:cubicBezTo>
                  <a:lnTo>
                    <a:pt x="100013" y="122238"/>
                  </a:lnTo>
                  <a:lnTo>
                    <a:pt x="100013" y="155575"/>
                  </a:lnTo>
                  <a:lnTo>
                    <a:pt x="100091" y="156876"/>
                  </a:lnTo>
                  <a:cubicBezTo>
                    <a:pt x="100693" y="161982"/>
                    <a:pt x="104719" y="166008"/>
                    <a:pt x="109825" y="166610"/>
                  </a:cubicBezTo>
                  <a:lnTo>
                    <a:pt x="111125" y="166688"/>
                  </a:lnTo>
                  <a:lnTo>
                    <a:pt x="122238" y="166688"/>
                  </a:lnTo>
                  <a:lnTo>
                    <a:pt x="123538" y="166610"/>
                  </a:lnTo>
                  <a:cubicBezTo>
                    <a:pt x="128644" y="166008"/>
                    <a:pt x="132670" y="161982"/>
                    <a:pt x="133273" y="156876"/>
                  </a:cubicBezTo>
                  <a:lnTo>
                    <a:pt x="133350" y="155575"/>
                  </a:lnTo>
                  <a:lnTo>
                    <a:pt x="133273" y="154275"/>
                  </a:lnTo>
                  <a:cubicBezTo>
                    <a:pt x="132728" y="149631"/>
                    <a:pt x="129335" y="145824"/>
                    <a:pt x="124783" y="144752"/>
                  </a:cubicBezTo>
                  <a:lnTo>
                    <a:pt x="123538" y="144530"/>
                  </a:lnTo>
                  <a:lnTo>
                    <a:pt x="122238" y="144463"/>
                  </a:lnTo>
                  <a:lnTo>
                    <a:pt x="122238" y="111125"/>
                  </a:lnTo>
                  <a:lnTo>
                    <a:pt x="122160" y="109825"/>
                  </a:lnTo>
                  <a:cubicBezTo>
                    <a:pt x="121558" y="104719"/>
                    <a:pt x="117532" y="100693"/>
                    <a:pt x="112425" y="100091"/>
                  </a:cubicBezTo>
                  <a:lnTo>
                    <a:pt x="111125" y="100013"/>
                  </a:lnTo>
                  <a:close/>
                  <a:moveTo>
                    <a:pt x="111236" y="66675"/>
                  </a:moveTo>
                  <a:lnTo>
                    <a:pt x="109825" y="66753"/>
                  </a:lnTo>
                  <a:cubicBezTo>
                    <a:pt x="104235" y="67418"/>
                    <a:pt x="100025" y="72158"/>
                    <a:pt x="100025" y="77788"/>
                  </a:cubicBezTo>
                  <a:cubicBezTo>
                    <a:pt x="100025" y="83417"/>
                    <a:pt x="104235" y="88158"/>
                    <a:pt x="109825" y="88822"/>
                  </a:cubicBezTo>
                  <a:lnTo>
                    <a:pt x="111125" y="88900"/>
                  </a:lnTo>
                  <a:lnTo>
                    <a:pt x="112537" y="88822"/>
                  </a:lnTo>
                  <a:cubicBezTo>
                    <a:pt x="118127" y="88158"/>
                    <a:pt x="122337" y="83417"/>
                    <a:pt x="122337" y="77788"/>
                  </a:cubicBezTo>
                  <a:cubicBezTo>
                    <a:pt x="122337" y="72158"/>
                    <a:pt x="118127" y="67418"/>
                    <a:pt x="112537" y="66753"/>
                  </a:cubicBezTo>
                  <a:lnTo>
                    <a:pt x="111236" y="66675"/>
                  </a:lnTo>
                  <a:close/>
                </a:path>
              </a:pathLst>
            </a:custGeom>
            <a:solidFill>
              <a:srgbClr val="2E6BE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38656" y="3768090"/>
              <a:ext cx="1687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Wi-Fi / 打印机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40942" y="41024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>密码与使用方法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153650" y="3743325"/>
              <a:ext cx="1428750" cy="457200"/>
            </a:xfrm>
            <a:prstGeom prst="roundRect">
              <a:avLst>
                <a:gd name="adj" fmla="val 50000"/>
              </a:avLst>
            </a:prstGeom>
            <a:solidFill>
              <a:srgbClr val="E3EC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374249" y="3844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6BE6"/>
                  </a:solidFill>
                  <a:latin typeface="+mn-lt"/>
                  <a:ea typeface="+mn-ea"/>
                  <a:cs typeface="+mn-cs"/>
                </a:rPr>
                <a:t>内网指引</a:t>
              </a:r>
            </a:p>
          </p:txBody>
        </p:sp>
      </p:grpSp>
      <p:grpSp>
        <p:nvGrpSpPr>
          <p:cNvPr id="39" name="row-forms"/>
          <p:cNvGrpSpPr/>
          <p:nvPr/>
        </p:nvGrpSpPr>
        <p:grpSpPr>
          <a:xfrm>
            <a:off x="457200" y="4572000"/>
            <a:ext cx="11277600" cy="895350"/>
            <a:chOff x="457200" y="4572000"/>
            <a:chExt cx="11277600" cy="895350"/>
          </a:xfrm>
        </p:grpSpPr>
        <p:sp>
          <p:nvSpPr>
            <p:cNvPr id="30" name="Rectangle 30"/>
            <p:cNvSpPr/>
            <p:nvPr/>
          </p:nvSpPr>
          <p:spPr>
            <a:xfrm>
              <a:off x="457200" y="4572000"/>
              <a:ext cx="11277600" cy="89535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723900" y="4752975"/>
              <a:ext cx="533400" cy="533400"/>
            </a:xfrm>
            <a:prstGeom prst="ellipse">
              <a:avLst/>
            </a:prstGeom>
            <a:solidFill>
              <a:srgbClr val="E3EC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901699" y="4908550"/>
              <a:ext cx="177802" cy="222252"/>
              <a:chOff x="901699" y="4908550"/>
              <a:chExt cx="177802" cy="22225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01699" y="4908550"/>
                <a:ext cx="177802" cy="222252"/>
              </a:xfrm>
              <a:custGeom>
                <a:avLst/>
                <a:gdLst/>
                <a:ahLst/>
                <a:cxnLst/>
                <a:rect l="l" t="t" r="r" b="b"/>
                <a:pathLst>
                  <a:path w="177802" h="222252">
                    <a:moveTo>
                      <a:pt x="88901" y="0"/>
                    </a:moveTo>
                    <a:lnTo>
                      <a:pt x="90201" y="78"/>
                    </a:lnTo>
                    <a:cubicBezTo>
                      <a:pt x="95308" y="680"/>
                      <a:pt x="99334" y="4706"/>
                      <a:pt x="99936" y="9812"/>
                    </a:cubicBezTo>
                    <a:lnTo>
                      <a:pt x="100014" y="11113"/>
                    </a:lnTo>
                    <a:lnTo>
                      <a:pt x="100014" y="55563"/>
                    </a:lnTo>
                    <a:lnTo>
                      <a:pt x="100069" y="57230"/>
                    </a:lnTo>
                    <a:cubicBezTo>
                      <a:pt x="100891" y="68163"/>
                      <a:pt x="109563" y="76864"/>
                      <a:pt x="120494" y="77721"/>
                    </a:cubicBezTo>
                    <a:lnTo>
                      <a:pt x="122239" y="77788"/>
                    </a:lnTo>
                    <a:lnTo>
                      <a:pt x="166689" y="77788"/>
                    </a:lnTo>
                    <a:lnTo>
                      <a:pt x="167989" y="77866"/>
                    </a:lnTo>
                    <a:cubicBezTo>
                      <a:pt x="173095" y="78468"/>
                      <a:pt x="177122" y="82494"/>
                      <a:pt x="177724" y="87600"/>
                    </a:cubicBezTo>
                    <a:lnTo>
                      <a:pt x="177801" y="88900"/>
                    </a:lnTo>
                    <a:lnTo>
                      <a:pt x="177801" y="188913"/>
                    </a:lnTo>
                    <a:cubicBezTo>
                      <a:pt x="177802" y="206566"/>
                      <a:pt x="164042" y="221159"/>
                      <a:pt x="146420" y="222195"/>
                    </a:cubicBezTo>
                    <a:lnTo>
                      <a:pt x="144464" y="222251"/>
                    </a:lnTo>
                    <a:lnTo>
                      <a:pt x="33339" y="222251"/>
                    </a:lnTo>
                    <a:cubicBezTo>
                      <a:pt x="15686" y="222252"/>
                      <a:pt x="1092" y="208491"/>
                      <a:pt x="57" y="190869"/>
                    </a:cubicBezTo>
                    <a:lnTo>
                      <a:pt x="1" y="188913"/>
                    </a:ln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9" y="0"/>
                    </a:lnTo>
                    <a:close/>
                    <a:moveTo>
                      <a:pt x="122239" y="155575"/>
                    </a:moveTo>
                    <a:lnTo>
                      <a:pt x="55564" y="155575"/>
                    </a:lnTo>
                    <a:cubicBezTo>
                      <a:pt x="49426" y="155575"/>
                      <a:pt x="44451" y="160551"/>
                      <a:pt x="44451" y="166688"/>
                    </a:cubicBezTo>
                    <a:cubicBezTo>
                      <a:pt x="44451" y="172825"/>
                      <a:pt x="49426" y="177801"/>
                      <a:pt x="55564" y="177801"/>
                    </a:cubicBezTo>
                    <a:lnTo>
                      <a:pt x="122239" y="177801"/>
                    </a:lnTo>
                    <a:cubicBezTo>
                      <a:pt x="128376" y="177801"/>
                      <a:pt x="133351" y="172825"/>
                      <a:pt x="133351" y="166688"/>
                    </a:cubicBezTo>
                    <a:cubicBezTo>
                      <a:pt x="133351" y="160551"/>
                      <a:pt x="128376" y="155575"/>
                      <a:pt x="122239" y="155575"/>
                    </a:cubicBezTo>
                    <a:moveTo>
                      <a:pt x="122239" y="111125"/>
                    </a:moveTo>
                    <a:lnTo>
                      <a:pt x="55564" y="111125"/>
                    </a:lnTo>
                    <a:cubicBezTo>
                      <a:pt x="49426" y="111125"/>
                      <a:pt x="44451" y="116101"/>
                      <a:pt x="44451" y="122238"/>
                    </a:cubicBezTo>
                    <a:cubicBezTo>
                      <a:pt x="44451" y="128375"/>
                      <a:pt x="49426" y="133350"/>
                      <a:pt x="55564" y="133350"/>
                    </a:cubicBezTo>
                    <a:lnTo>
                      <a:pt x="122239" y="133350"/>
                    </a:lnTo>
                    <a:cubicBezTo>
                      <a:pt x="128376" y="133350"/>
                      <a:pt x="133351" y="128375"/>
                      <a:pt x="133351" y="122238"/>
                    </a:cubicBezTo>
                    <a:cubicBezTo>
                      <a:pt x="133351" y="116101"/>
                      <a:pt x="128376" y="111125"/>
                      <a:pt x="122239" y="111125"/>
                    </a:cubicBezTo>
                    <a:moveTo>
                      <a:pt x="66676" y="66675"/>
                    </a:moveTo>
                    <a:lnTo>
                      <a:pt x="55564" y="66675"/>
                    </a:lnTo>
                    <a:cubicBezTo>
                      <a:pt x="49426" y="66675"/>
                      <a:pt x="44451" y="71650"/>
                      <a:pt x="44451" y="77788"/>
                    </a:cubicBezTo>
                    <a:cubicBezTo>
                      <a:pt x="44451" y="83925"/>
                      <a:pt x="49426" y="88900"/>
                      <a:pt x="55564" y="88900"/>
                    </a:cubicBezTo>
                    <a:lnTo>
                      <a:pt x="66676" y="88900"/>
                    </a:lnTo>
                    <a:cubicBezTo>
                      <a:pt x="72813" y="88900"/>
                      <a:pt x="77789" y="83925"/>
                      <a:pt x="77789" y="77788"/>
                    </a:cubicBezTo>
                    <a:cubicBezTo>
                      <a:pt x="77789" y="71650"/>
                      <a:pt x="72813" y="66675"/>
                      <a:pt x="66676" y="66675"/>
                    </a:cubicBezTo>
                  </a:path>
                </a:pathLst>
              </a:custGeom>
              <a:solidFill>
                <a:srgbClr val="2E6BE6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23927" y="4919651"/>
                <a:ext cx="44461" cy="44461"/>
              </a:xfrm>
              <a:custGeom>
                <a:avLst/>
                <a:gdLst/>
                <a:ahLst/>
                <a:cxnLst/>
                <a:rect l="l" t="t" r="r" b="b"/>
                <a:pathLst>
                  <a:path w="44461" h="44461">
                    <a:moveTo>
                      <a:pt x="44461" y="44461"/>
                    </a:moveTo>
                    <a:lnTo>
                      <a:pt x="11" y="44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6BE6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438656" y="48158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各类申请表单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40942" y="51501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>办事流程索引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153650" y="4791075"/>
              <a:ext cx="1428750" cy="457200"/>
            </a:xfrm>
            <a:prstGeom prst="roundRect">
              <a:avLst>
                <a:gd name="adj" fmla="val 50000"/>
              </a:avLst>
            </a:prstGeom>
            <a:solidFill>
              <a:srgbClr val="E3EC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374249" y="4892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6BE6"/>
                  </a:solidFill>
                  <a:latin typeface="+mn-lt"/>
                  <a:ea typeface="+mn-ea"/>
                  <a:cs typeface="+mn-cs"/>
                </a:rPr>
                <a:t>手册附录</a:t>
              </a:r>
            </a:p>
          </p:txBody>
        </p:sp>
      </p:grpSp>
      <p:grpSp>
        <p:nvGrpSpPr>
          <p:cNvPr id="42" name="page-footer"/>
          <p:cNvGrpSpPr/>
          <p:nvPr/>
        </p:nvGrpSpPr>
        <p:grpSpPr>
          <a:xfrm>
            <a:off x="451104" y="6461760"/>
            <a:ext cx="11289792" cy="234696"/>
            <a:chOff x="451104" y="6461760"/>
            <a:chExt cx="11289792" cy="234696"/>
          </a:xfrm>
        </p:grpSpPr>
        <p:sp>
          <p:nvSpPr>
            <p:cNvPr id="40" name="TextBox 40"/>
            <p:cNvSpPr txBox="1"/>
            <p:nvPr/>
          </p:nvSpPr>
          <p:spPr>
            <a:xfrm>
              <a:off x="451104" y="646176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>第一天必知 · 新员工速览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87532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>04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disc-tr"/>
          <p:cNvSpPr/>
          <p:nvPr/>
        </p:nvSpPr>
        <p:spPr>
          <a:xfrm>
            <a:off x="11049000" y="-266700"/>
            <a:ext cx="1676400" cy="1676400"/>
          </a:xfrm>
          <a:prstGeom prst="ellipse">
            <a:avLst/>
          </a:prstGeom>
          <a:solidFill>
            <a:srgbClr val="E3ECFB"/>
          </a:solid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457200" y="533400"/>
            <a:ext cx="3881917" cy="618935"/>
            <a:chOff x="457200" y="533400"/>
            <a:chExt cx="3881917" cy="618935"/>
          </a:xfrm>
        </p:grpSpPr>
        <p:sp>
          <p:nvSpPr>
            <p:cNvPr id="3" name="Rectangle 3"/>
            <p:cNvSpPr/>
            <p:nvPr/>
          </p:nvSpPr>
          <p:spPr>
            <a:xfrm>
              <a:off x="457200" y="533400"/>
              <a:ext cx="76200" cy="400050"/>
            </a:xfrm>
            <a:prstGeom prst="roundRect">
              <a:avLst>
                <a:gd name="adj" fmla="val 50000"/>
              </a:avLst>
            </a:prstGeom>
            <a:solidFill>
              <a:srgbClr val="2E6BE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9798" y="536258"/>
              <a:ext cx="366931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第一周:照这条线走</a:t>
              </a:r>
            </a:p>
          </p:txBody>
        </p:sp>
      </p:grpSp>
      <p:grpSp>
        <p:nvGrpSpPr>
          <p:cNvPr id="32" name="first-week-timeline"/>
          <p:cNvGrpSpPr/>
          <p:nvPr/>
        </p:nvGrpSpPr>
        <p:grpSpPr>
          <a:xfrm>
            <a:off x="1143000" y="1333500"/>
            <a:ext cx="10591800" cy="4076700"/>
            <a:chOff x="1143000" y="1333500"/>
            <a:chExt cx="10591800" cy="4076700"/>
          </a:xfrm>
        </p:grpSpPr>
        <p:sp>
          <p:nvSpPr>
            <p:cNvPr id="6" name="Line 6"/>
            <p:cNvSpPr/>
            <p:nvPr/>
          </p:nvSpPr>
          <p:spPr>
            <a:xfrm>
              <a:off x="1428750" y="1924050"/>
              <a:ext cx="9525" cy="2895600"/>
            </a:xfrm>
            <a:custGeom>
              <a:avLst/>
              <a:gdLst/>
              <a:ahLst/>
              <a:cxnLst/>
              <a:rect l="l" t="t" r="r" b="b"/>
              <a:pathLst>
                <a:path w="9525" h="2895600">
                  <a:moveTo>
                    <a:pt x="0" y="0"/>
                  </a:moveTo>
                  <a:lnTo>
                    <a:pt x="0" y="2895600"/>
                  </a:lnTo>
                </a:path>
              </a:pathLst>
            </a:custGeom>
            <a:noFill/>
            <a:ln w="28575">
              <a:solidFill>
                <a:srgbClr val="C7D6F2"/>
              </a:solidFill>
            </a:ln>
          </p:spPr>
        </p:sp>
        <p:grpSp>
          <p:nvGrpSpPr>
            <p:cNvPr id="14" name="stage-1"/>
            <p:cNvGrpSpPr/>
            <p:nvPr/>
          </p:nvGrpSpPr>
          <p:grpSpPr>
            <a:xfrm>
              <a:off x="1143000" y="1333500"/>
              <a:ext cx="10591800" cy="1243584"/>
              <a:chOff x="1143000" y="1333500"/>
              <a:chExt cx="10591800" cy="1243584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143000" y="1638300"/>
                <a:ext cx="571500" cy="571500"/>
              </a:xfrm>
              <a:prstGeom prst="ellipse">
                <a:avLst/>
              </a:prstGeom>
              <a:solidFill>
                <a:srgbClr val="2E6BE6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349637" y="18059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1866900" y="1752600"/>
                <a:ext cx="8382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3ECFB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097405" y="18354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E6BE6"/>
                    </a:solidFill>
                    <a:latin typeface="+mn-lt"/>
                    <a:ea typeface="+mn-ea"/>
                    <a:cs typeface="+mn-cs"/>
                  </a:rPr>
                  <a:t>今天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3048000" y="1333500"/>
                <a:ext cx="8686800" cy="1181100"/>
              </a:xfrm>
              <a:prstGeom prst="roundRect">
                <a:avLst>
                  <a:gd name="adj" fmla="val 1612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343656" y="15582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E2A3A"/>
                    </a:solidFill>
                    <a:latin typeface="+mn-lt"/>
                    <a:ea typeface="+mn-ea"/>
                    <a:cs typeface="+mn-cs"/>
                  </a:rPr>
                  <a:t>账号与设备就位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343656" y="1901190"/>
                <a:ext cx="3378708" cy="6758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zh-CN" sz="1800" dirty="0">
                    <a:solidFill>
                      <a:srgbClr val="1E2A3A"/>
                    </a:solidFill>
                    <a:latin typeface="+mn-lt"/>
                    <a:ea typeface="+mn-ea"/>
                    <a:cs typeface="+mn-cs"/>
                  </a:rPr>
                  <a:t>IT 当天开通邮箱与办公系统账号;</a:t>
                </a:r>
                <a:br/>
                <a:r>
                  <a:rPr lang="zh-CN" sz="1800" dirty="0">
                    <a:solidFill>
                      <a:srgbClr val="1E2A3A"/>
                    </a:solidFill>
                    <a:latin typeface="+mn-lt"/>
                    <a:ea typeface="+mn-ea"/>
                    <a:cs typeface="+mn-cs"/>
                  </a:rPr>
                  <a:t>办公电脑装上</a:t>
                </a:r>
                <a:r>
                  <a:rPr lang="zh-CN" sz="18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统一的安全软件</a:t>
                </a:r>
                <a:r>
                  <a:rPr lang="zh-CN" sz="1800" dirty="0">
                    <a:solidFill>
                      <a:srgbClr val="1E2A3A"/>
                    </a:solidFill>
                    <a:latin typeface="+mn-lt"/>
                    <a:ea typeface="+mn-ea"/>
                    <a:cs typeface="+mn-cs"/>
                  </a:rPr>
                  <a:t>。</a:t>
                </a:r>
              </a:p>
            </p:txBody>
          </p:sp>
        </p:grpSp>
        <p:grpSp>
          <p:nvGrpSpPr>
            <p:cNvPr id="22" name="stage-2"/>
            <p:cNvGrpSpPr/>
            <p:nvPr/>
          </p:nvGrpSpPr>
          <p:grpSpPr>
            <a:xfrm>
              <a:off x="1143000" y="2876550"/>
              <a:ext cx="10591800" cy="1243584"/>
              <a:chOff x="1143000" y="2876550"/>
              <a:chExt cx="10591800" cy="1243584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1143000" y="3181350"/>
                <a:ext cx="571500" cy="571500"/>
              </a:xfrm>
              <a:prstGeom prst="ellipse">
                <a:avLst/>
              </a:prstGeom>
              <a:solidFill>
                <a:srgbClr val="2E6BE6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349637" y="334899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866900" y="3295650"/>
                <a:ext cx="8382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3ECFB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097405" y="337851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E6BE6"/>
                    </a:solidFill>
                    <a:latin typeface="+mn-lt"/>
                    <a:ea typeface="+mn-ea"/>
                    <a:cs typeface="+mn-cs"/>
                  </a:rPr>
                  <a:t>本周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048000" y="2876550"/>
                <a:ext cx="8686800" cy="1181100"/>
              </a:xfrm>
              <a:prstGeom prst="roundRect">
                <a:avLst>
                  <a:gd name="adj" fmla="val 1612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343656" y="31013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E2A3A"/>
                    </a:solidFill>
                    <a:latin typeface="+mn-lt"/>
                    <a:ea typeface="+mn-ea"/>
                    <a:cs typeface="+mn-cs"/>
                  </a:rPr>
                  <a:t>摸清考勤与入口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343656" y="3444240"/>
                <a:ext cx="4796028" cy="6758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550"/>
                  </a:lnSpc>
                </a:pPr>
                <a:r>
                  <a:rPr lang="zh-CN" sz="1800" dirty="0">
                    <a:solidFill>
                      <a:srgbClr val="1E2A3A"/>
                    </a:solidFill>
                    <a:latin typeface="+mn-lt"/>
                    <a:ea typeface="+mn-ea"/>
                    <a:cs typeface="+mn-cs"/>
                  </a:rPr>
                  <a:t>核心时段 10:00–16:00 须在岗,每日满 8 小时;</a:t>
                </a:r>
                <a:br/>
                <a:r>
                  <a:rPr lang="zh-CN" sz="1800" dirty="0">
                    <a:solidFill>
                      <a:srgbClr val="1E2A3A"/>
                    </a:solidFill>
                    <a:latin typeface="+mn-lt"/>
                    <a:ea typeface="+mn-ea"/>
                    <a:cs typeface="+mn-cs"/>
                  </a:rPr>
                  <a:t>请假走 OA;报销走财务系统。</a:t>
                </a:r>
              </a:p>
            </p:txBody>
          </p:sp>
        </p:grpSp>
        <p:grpSp>
          <p:nvGrpSpPr>
            <p:cNvPr id="31" name="stage-3"/>
            <p:cNvGrpSpPr/>
            <p:nvPr/>
          </p:nvGrpSpPr>
          <p:grpSpPr>
            <a:xfrm>
              <a:off x="1143000" y="4229100"/>
              <a:ext cx="10591800" cy="1181100"/>
              <a:chOff x="1143000" y="4229100"/>
              <a:chExt cx="10591800" cy="1181100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1143000" y="4533900"/>
                <a:ext cx="571500" cy="571500"/>
              </a:xfrm>
              <a:prstGeom prst="ellipse">
                <a:avLst/>
              </a:prstGeom>
              <a:solidFill>
                <a:srgbClr val="B45309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349637" y="4701540"/>
                <a:ext cx="1582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1866900" y="4648200"/>
                <a:ext cx="12954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FBEEDC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943676" y="4731068"/>
                <a:ext cx="11418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两周内 · 截止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3048000" y="4229100"/>
                <a:ext cx="8686800" cy="1181100"/>
              </a:xfrm>
              <a:prstGeom prst="roundRect">
                <a:avLst>
                  <a:gd name="adj" fmla="val 1612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3086100" y="4305300"/>
                <a:ext cx="57150" cy="1028700"/>
              </a:xfrm>
              <a:prstGeom prst="roundRect">
                <a:avLst>
                  <a:gd name="adj" fmla="val 50000"/>
                </a:avLst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419856" y="44538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完成线上入职培训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419856" y="4796790"/>
                <a:ext cx="46222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E2A3A"/>
                    </a:solidFill>
                    <a:latin typeface="+mn-lt"/>
                    <a:ea typeface="+mn-ea"/>
                    <a:cs typeface="+mn-cs"/>
                  </a:rPr>
                  <a:t>新员工须在</a:t>
                </a:r>
                <a:r>
                  <a:rPr lang="zh-CN" sz="1800" b="1" dirty="0">
                    <a:solidFill>
                      <a:srgbClr val="B45309"/>
                    </a:solidFill>
                    <a:latin typeface="+mn-lt"/>
                    <a:ea typeface="+mn-ea"/>
                    <a:cs typeface="+mn-cs"/>
                  </a:rPr>
                  <a:t>入职两周内</a:t>
                </a:r>
                <a:r>
                  <a:rPr lang="zh-CN" sz="1800" dirty="0">
                    <a:solidFill>
                      <a:srgbClr val="1E2A3A"/>
                    </a:solidFill>
                    <a:latin typeface="+mn-lt"/>
                    <a:ea typeface="+mn-ea"/>
                    <a:cs typeface="+mn-cs"/>
                  </a:rPr>
                  <a:t>完成线上入职培训。</a:t>
                </a:r>
              </a:p>
            </p:txBody>
          </p:sp>
        </p:grpSp>
      </p:grpSp>
      <p:grpSp>
        <p:nvGrpSpPr>
          <p:cNvPr id="36" name="takeaway-band"/>
          <p:cNvGrpSpPr/>
          <p:nvPr/>
        </p:nvGrpSpPr>
        <p:grpSpPr>
          <a:xfrm>
            <a:off x="457200" y="5619750"/>
            <a:ext cx="11277600" cy="571500"/>
            <a:chOff x="457200" y="5619750"/>
            <a:chExt cx="11277600" cy="571500"/>
          </a:xfrm>
        </p:grpSpPr>
        <p:sp>
          <p:nvSpPr>
            <p:cNvPr id="33" name="Rectangle 33"/>
            <p:cNvSpPr/>
            <p:nvPr/>
          </p:nvSpPr>
          <p:spPr>
            <a:xfrm>
              <a:off x="457200" y="5619750"/>
              <a:ext cx="11277600" cy="571500"/>
            </a:xfrm>
            <a:prstGeom prst="roundRect">
              <a:avLst>
                <a:gd name="adj" fmla="val 50000"/>
              </a:avLst>
            </a:prstGeom>
            <a:solidFill>
              <a:srgbClr val="E3ECFB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46125" y="5789397"/>
              <a:ext cx="233697" cy="234079"/>
            </a:xfrm>
            <a:custGeom>
              <a:avLst/>
              <a:gdLst/>
              <a:ahLst/>
              <a:cxnLst/>
              <a:rect l="l" t="t" r="r" b="b"/>
              <a:pathLst>
                <a:path w="233697" h="234079">
                  <a:moveTo>
                    <a:pt x="166688" y="19869"/>
                  </a:moveTo>
                  <a:cubicBezTo>
                    <a:pt x="212998" y="46608"/>
                    <a:pt x="233697" y="102539"/>
                    <a:pt x="215950" y="152984"/>
                  </a:cubicBezTo>
                  <a:cubicBezTo>
                    <a:pt x="198203" y="203428"/>
                    <a:pt x="147044" y="234079"/>
                    <a:pt x="94193" y="225932"/>
                  </a:cubicBezTo>
                  <a:cubicBezTo>
                    <a:pt x="41341" y="217785"/>
                    <a:pt x="1788" y="173151"/>
                    <a:pt x="56" y="119704"/>
                  </a:cubicBezTo>
                  <a:lnTo>
                    <a:pt x="0" y="116103"/>
                  </a:lnTo>
                  <a:lnTo>
                    <a:pt x="56" y="112503"/>
                  </a:lnTo>
                  <a:cubicBezTo>
                    <a:pt x="1321" y="73464"/>
                    <a:pt x="22990" y="37956"/>
                    <a:pt x="57128" y="18978"/>
                  </a:cubicBezTo>
                  <a:cubicBezTo>
                    <a:pt x="91267" y="0"/>
                    <a:pt x="132862" y="338"/>
                    <a:pt x="166688" y="19869"/>
                  </a:cubicBezTo>
                  <a:close/>
                  <a:moveTo>
                    <a:pt x="152319" y="86021"/>
                  </a:moveTo>
                  <a:cubicBezTo>
                    <a:pt x="148360" y="82063"/>
                    <a:pt x="142075" y="81668"/>
                    <a:pt x="137651" y="85099"/>
                  </a:cubicBezTo>
                  <a:lnTo>
                    <a:pt x="136606" y="86021"/>
                  </a:lnTo>
                  <a:lnTo>
                    <a:pt x="100013" y="122604"/>
                  </a:lnTo>
                  <a:lnTo>
                    <a:pt x="85644" y="108246"/>
                  </a:lnTo>
                  <a:lnTo>
                    <a:pt x="84600" y="107324"/>
                  </a:lnTo>
                  <a:cubicBezTo>
                    <a:pt x="80176" y="103895"/>
                    <a:pt x="73892" y="104292"/>
                    <a:pt x="69934" y="108249"/>
                  </a:cubicBezTo>
                  <a:cubicBezTo>
                    <a:pt x="65976" y="112207"/>
                    <a:pt x="65580" y="118491"/>
                    <a:pt x="69009" y="122915"/>
                  </a:cubicBezTo>
                  <a:lnTo>
                    <a:pt x="69931" y="123960"/>
                  </a:lnTo>
                  <a:lnTo>
                    <a:pt x="92156" y="146185"/>
                  </a:lnTo>
                  <a:lnTo>
                    <a:pt x="93201" y="147107"/>
                  </a:lnTo>
                  <a:cubicBezTo>
                    <a:pt x="97210" y="150217"/>
                    <a:pt x="102816" y="150217"/>
                    <a:pt x="106825" y="147107"/>
                  </a:cubicBezTo>
                  <a:lnTo>
                    <a:pt x="107869" y="146185"/>
                  </a:lnTo>
                  <a:lnTo>
                    <a:pt x="152319" y="101735"/>
                  </a:lnTo>
                  <a:lnTo>
                    <a:pt x="153242" y="100690"/>
                  </a:lnTo>
                  <a:cubicBezTo>
                    <a:pt x="156673" y="96266"/>
                    <a:pt x="156278" y="89980"/>
                    <a:pt x="152319" y="86021"/>
                  </a:cubicBezTo>
                  <a:close/>
                </a:path>
              </a:pathLst>
            </a:custGeom>
            <a:solidFill>
              <a:srgbClr val="2E6BE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33856" y="5777865"/>
              <a:ext cx="49978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拿不准的事:先查</a:t>
              </a:r>
              <a:r>
                <a:rPr lang="zh-CN" sz="1800" b="1" dirty="0">
                  <a:solidFill>
                    <a:srgbClr val="2E6BE6"/>
                  </a:solidFill>
                  <a:latin typeface="+mn-lt"/>
                  <a:ea typeface="+mn-ea"/>
                  <a:cs typeface="+mn-cs"/>
                </a:rPr>
                <a:t>手册附录</a:t>
              </a:r>
              <a:r>
                <a:rPr lang="zh-CN" sz="1800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的表单与流程索引。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451104" y="6461760"/>
            <a:ext cx="11289792" cy="234696"/>
            <a:chOff x="451104" y="6461760"/>
            <a:chExt cx="11289792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451104" y="646176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>第一天必知 · 新员工速览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87532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>05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disc-br"/>
          <p:cNvSpPr/>
          <p:nvPr/>
        </p:nvSpPr>
        <p:spPr>
          <a:xfrm>
            <a:off x="10763250" y="5429250"/>
            <a:ext cx="2095500" cy="2095500"/>
          </a:xfrm>
          <a:prstGeom prst="ellipse">
            <a:avLst/>
          </a:prstGeom>
          <a:solidFill>
            <a:srgbClr val="E3ECFB"/>
          </a:solid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457200" y="533400"/>
            <a:ext cx="4305970" cy="618935"/>
            <a:chOff x="457200" y="533400"/>
            <a:chExt cx="4305970" cy="618935"/>
          </a:xfrm>
        </p:grpSpPr>
        <p:sp>
          <p:nvSpPr>
            <p:cNvPr id="3" name="Rectangle 3"/>
            <p:cNvSpPr/>
            <p:nvPr/>
          </p:nvSpPr>
          <p:spPr>
            <a:xfrm>
              <a:off x="457200" y="533400"/>
              <a:ext cx="76200" cy="400050"/>
            </a:xfrm>
            <a:prstGeom prst="roundRect">
              <a:avLst>
                <a:gd name="adj" fmla="val 50000"/>
              </a:avLst>
            </a:prstGeom>
            <a:solidFill>
              <a:srgbClr val="2E6BE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9798" y="536258"/>
              <a:ext cx="40933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其余章节:一句话指路</a:t>
              </a:r>
            </a:p>
          </p:txBody>
        </p:sp>
      </p:grpSp>
      <p:grpSp>
        <p:nvGrpSpPr>
          <p:cNvPr id="10" name="row-ch1"/>
          <p:cNvGrpSpPr/>
          <p:nvPr/>
        </p:nvGrpSpPr>
        <p:grpSpPr>
          <a:xfrm>
            <a:off x="457200" y="1562100"/>
            <a:ext cx="11277600" cy="561975"/>
            <a:chOff x="457200" y="1562100"/>
            <a:chExt cx="11277600" cy="561975"/>
          </a:xfrm>
        </p:grpSpPr>
        <p:sp>
          <p:nvSpPr>
            <p:cNvPr id="6" name="Rectangle 6"/>
            <p:cNvSpPr/>
            <p:nvPr/>
          </p:nvSpPr>
          <p:spPr>
            <a:xfrm>
              <a:off x="457200" y="1562100"/>
              <a:ext cx="1257300" cy="381000"/>
            </a:xfrm>
            <a:prstGeom prst="roundRect">
              <a:avLst>
                <a:gd name="adj" fmla="val 50000"/>
              </a:avLst>
            </a:prstGeom>
            <a:solidFill>
              <a:srgbClr val="E3ECF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7531" y="166401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6BE6"/>
                  </a:solidFill>
                  <a:latin typeface="+mn-lt"/>
                  <a:ea typeface="+mn-ea"/>
                  <a:cs typeface="+mn-cs"/>
                </a:rPr>
                <a:t>第 1 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91106" y="1624965"/>
              <a:ext cx="74331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公司简介与文化</a:t>
              </a:r>
              <a:r>
                <a:rPr lang="zh-CN" sz="18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 xml:space="preserve"> —— 公司成立于 2010 年;使命愿景价值观,闲时翻翻。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457200" y="2114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8E1EE"/>
              </a:solidFill>
            </a:ln>
          </p:spPr>
        </p:sp>
      </p:grpSp>
      <p:grpSp>
        <p:nvGrpSpPr>
          <p:cNvPr id="15" name="row-ch3"/>
          <p:cNvGrpSpPr/>
          <p:nvPr/>
        </p:nvGrpSpPr>
        <p:grpSpPr>
          <a:xfrm>
            <a:off x="457200" y="2286000"/>
            <a:ext cx="11277600" cy="561975"/>
            <a:chOff x="457200" y="2286000"/>
            <a:chExt cx="11277600" cy="561975"/>
          </a:xfrm>
        </p:grpSpPr>
        <p:sp>
          <p:nvSpPr>
            <p:cNvPr id="11" name="Rectangle 11"/>
            <p:cNvSpPr/>
            <p:nvPr/>
          </p:nvSpPr>
          <p:spPr>
            <a:xfrm>
              <a:off x="457200" y="2286000"/>
              <a:ext cx="1257300" cy="381000"/>
            </a:xfrm>
            <a:prstGeom prst="roundRect">
              <a:avLst>
                <a:gd name="adj" fmla="val 50000"/>
              </a:avLst>
            </a:prstGeom>
            <a:solidFill>
              <a:srgbClr val="E3ECF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7531" y="238791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6BE6"/>
                  </a:solidFill>
                  <a:latin typeface="+mn-lt"/>
                  <a:ea typeface="+mn-ea"/>
                  <a:cs typeface="+mn-cs"/>
                </a:rPr>
                <a:t>第 3 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91106" y="2348865"/>
              <a:ext cx="92868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薪酬福利</a:t>
              </a:r>
              <a:r>
                <a:rPr lang="zh-CN" sz="18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 xml:space="preserve"> —— 月薪分两次发放;五险一金、带薪年假、补充医疗、年度体检、节日福利。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57200" y="28384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8E1EE"/>
              </a:solidFill>
            </a:ln>
          </p:spPr>
        </p:sp>
      </p:grpSp>
      <p:grpSp>
        <p:nvGrpSpPr>
          <p:cNvPr id="20" name="row-ch5"/>
          <p:cNvGrpSpPr/>
          <p:nvPr/>
        </p:nvGrpSpPr>
        <p:grpSpPr>
          <a:xfrm>
            <a:off x="457200" y="3009900"/>
            <a:ext cx="11277600" cy="561975"/>
            <a:chOff x="457200" y="3009900"/>
            <a:chExt cx="11277600" cy="561975"/>
          </a:xfrm>
        </p:grpSpPr>
        <p:sp>
          <p:nvSpPr>
            <p:cNvPr id="16" name="Rectangle 16"/>
            <p:cNvSpPr/>
            <p:nvPr/>
          </p:nvSpPr>
          <p:spPr>
            <a:xfrm>
              <a:off x="457200" y="3009900"/>
              <a:ext cx="1257300" cy="381000"/>
            </a:xfrm>
            <a:prstGeom prst="roundRect">
              <a:avLst>
                <a:gd name="adj" fmla="val 50000"/>
              </a:avLst>
            </a:prstGeom>
            <a:solidFill>
              <a:srgbClr val="E3EC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531" y="311181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6BE6"/>
                  </a:solidFill>
                  <a:latin typeface="+mn-lt"/>
                  <a:ea typeface="+mn-ea"/>
                  <a:cs typeface="+mn-cs"/>
                </a:rPr>
                <a:t>第 5 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91106" y="3072765"/>
              <a:ext cx="89355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行为规范</a:t>
              </a:r>
              <a:r>
                <a:rPr lang="zh-CN" sz="18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 xml:space="preserve"> —— 着装得体、保守商业秘密、禁止谋私利、反对骚扰与歧视:红线,记住。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57200" y="35623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8E1EE"/>
              </a:solidFill>
            </a:ln>
          </p:spPr>
        </p:sp>
      </p:grpSp>
      <p:grpSp>
        <p:nvGrpSpPr>
          <p:cNvPr id="25" name="row-ch6"/>
          <p:cNvGrpSpPr/>
          <p:nvPr/>
        </p:nvGrpSpPr>
        <p:grpSpPr>
          <a:xfrm>
            <a:off x="457200" y="3733800"/>
            <a:ext cx="11277600" cy="561975"/>
            <a:chOff x="457200" y="3733800"/>
            <a:chExt cx="11277600" cy="561975"/>
          </a:xfrm>
        </p:grpSpPr>
        <p:sp>
          <p:nvSpPr>
            <p:cNvPr id="21" name="Rectangle 21"/>
            <p:cNvSpPr/>
            <p:nvPr/>
          </p:nvSpPr>
          <p:spPr>
            <a:xfrm>
              <a:off x="457200" y="3733800"/>
              <a:ext cx="1257300" cy="381000"/>
            </a:xfrm>
            <a:prstGeom prst="roundRect">
              <a:avLst>
                <a:gd name="adj" fmla="val 50000"/>
              </a:avLst>
            </a:prstGeom>
            <a:solidFill>
              <a:srgbClr val="E3EC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7531" y="383571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6BE6"/>
                  </a:solidFill>
                  <a:latin typeface="+mn-lt"/>
                  <a:ea typeface="+mn-ea"/>
                  <a:cs typeface="+mn-cs"/>
                </a:rPr>
                <a:t>第 6 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91106" y="3796665"/>
              <a:ext cx="68637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培训与发展</a:t>
              </a:r>
              <a:r>
                <a:rPr lang="zh-CN" sz="18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 xml:space="preserve"> —— 每年有培训学时要求;晋升分管理与专业双通道。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57200" y="42862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8E1EE"/>
              </a:solidFill>
            </a:ln>
          </p:spPr>
        </p:sp>
      </p:grpSp>
      <p:grpSp>
        <p:nvGrpSpPr>
          <p:cNvPr id="30" name="row-ch7"/>
          <p:cNvGrpSpPr/>
          <p:nvPr/>
        </p:nvGrpSpPr>
        <p:grpSpPr>
          <a:xfrm>
            <a:off x="457200" y="4457700"/>
            <a:ext cx="11277600" cy="561975"/>
            <a:chOff x="457200" y="4457700"/>
            <a:chExt cx="11277600" cy="561975"/>
          </a:xfrm>
        </p:grpSpPr>
        <p:sp>
          <p:nvSpPr>
            <p:cNvPr id="26" name="Rectangle 26"/>
            <p:cNvSpPr/>
            <p:nvPr/>
          </p:nvSpPr>
          <p:spPr>
            <a:xfrm>
              <a:off x="457200" y="4457700"/>
              <a:ext cx="1257300" cy="381000"/>
            </a:xfrm>
            <a:prstGeom prst="roundRect">
              <a:avLst>
                <a:gd name="adj" fmla="val 50000"/>
              </a:avLst>
            </a:prstGeom>
            <a:solidFill>
              <a:srgbClr val="E3EC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7531" y="4559618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6BE6"/>
                  </a:solidFill>
                  <a:latin typeface="+mn-lt"/>
                  <a:ea typeface="+mn-ea"/>
                  <a:cs typeface="+mn-cs"/>
                </a:rPr>
                <a:t>第 7 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91106" y="4520565"/>
              <a:ext cx="77602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离职管理</a:t>
              </a:r>
              <a:r>
                <a:rPr lang="zh-CN" sz="18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 xml:space="preserve"> —— 离职提前 30 天书面提出;完成交接、资产归还与离职面谈。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57200" y="5010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8E1EE"/>
              </a:solidFill>
            </a:ln>
          </p:spPr>
        </p:sp>
      </p:grpSp>
      <p:grpSp>
        <p:nvGrpSpPr>
          <p:cNvPr id="34" name="row-covered"/>
          <p:cNvGrpSpPr/>
          <p:nvPr/>
        </p:nvGrpSpPr>
        <p:grpSpPr>
          <a:xfrm>
            <a:off x="457200" y="5181600"/>
            <a:ext cx="8550326" cy="414909"/>
            <a:chOff x="457200" y="5181600"/>
            <a:chExt cx="8550326" cy="414909"/>
          </a:xfrm>
        </p:grpSpPr>
        <p:sp>
          <p:nvSpPr>
            <p:cNvPr id="31" name="Rectangle 31"/>
            <p:cNvSpPr/>
            <p:nvPr/>
          </p:nvSpPr>
          <p:spPr>
            <a:xfrm>
              <a:off x="457200" y="5181600"/>
              <a:ext cx="1257300" cy="381000"/>
            </a:xfrm>
            <a:prstGeom prst="roundRect">
              <a:avLst>
                <a:gd name="adj" fmla="val 50000"/>
              </a:avLst>
            </a:prstGeom>
            <a:solidFill>
              <a:srgbClr val="E3F3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6386" y="52835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已覆盖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91106" y="5244465"/>
              <a:ext cx="70164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E2A3A"/>
                  </a:solidFill>
                  <a:latin typeface="+mn-lt"/>
                  <a:ea typeface="+mn-ea"/>
                  <a:cs typeface="+mn-cs"/>
                </a:rPr>
                <a:t>第 2、4 章(考勤 / IT 与办公)——已在本速览前几页,不用回手册。</a:t>
              </a:r>
            </a:p>
          </p:txBody>
        </p:sp>
      </p:grpSp>
      <p:grpSp>
        <p:nvGrpSpPr>
          <p:cNvPr id="37" name="page-footer"/>
          <p:cNvGrpSpPr/>
          <p:nvPr/>
        </p:nvGrpSpPr>
        <p:grpSpPr>
          <a:xfrm>
            <a:off x="451104" y="6461760"/>
            <a:ext cx="11289792" cy="234696"/>
            <a:chOff x="451104" y="6461760"/>
            <a:chExt cx="11289792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451104" y="646176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>第一天必知 · 新员工速览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87532" y="6461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A6B7E"/>
                  </a:solidFill>
                  <a:latin typeface="+mn-lt"/>
                  <a:ea typeface="+mn-ea"/>
                  <a:cs typeface="+mn-cs"/>
                </a:rPr>
                <a:t>06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E6BE6"/>
            </a:gs>
            <a:gs pos="100000">
              <a:srgbClr val="1F4FB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disc-br"/>
          <p:cNvSpPr/>
          <p:nvPr/>
        </p:nvSpPr>
        <p:spPr>
          <a:xfrm>
            <a:off x="9144000" y="4191000"/>
            <a:ext cx="4191000" cy="4191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3" name="deco-disc-tl"/>
          <p:cNvSpPr/>
          <p:nvPr/>
        </p:nvSpPr>
        <p:spPr>
          <a:xfrm>
            <a:off x="-381000" y="-57150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</p:sp>
      <p:grpSp>
        <p:nvGrpSpPr>
          <p:cNvPr id="6" name="kicker-pill"/>
          <p:cNvGrpSpPr/>
          <p:nvPr/>
        </p:nvGrpSpPr>
        <p:grpSpPr>
          <a:xfrm>
            <a:off x="838200" y="1123950"/>
            <a:ext cx="2819400" cy="361950"/>
            <a:chOff x="838200" y="1123950"/>
            <a:chExt cx="2819400" cy="361950"/>
          </a:xfrm>
        </p:grpSpPr>
        <p:sp>
          <p:nvSpPr>
            <p:cNvPr id="4" name="Rectangle 4"/>
            <p:cNvSpPr/>
            <p:nvPr/>
          </p:nvSpPr>
          <p:spPr>
            <a:xfrm>
              <a:off x="838200" y="1123950"/>
              <a:ext cx="2819400" cy="3619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1842" y="1216342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入职第一周 · 快速上手</a:t>
              </a:r>
            </a:p>
          </p:txBody>
        </p:sp>
      </p:grpSp>
      <p:grpSp>
        <p:nvGrpSpPr>
          <p:cNvPr id="9" name="ending-takeaway"/>
          <p:cNvGrpSpPr/>
          <p:nvPr/>
        </p:nvGrpSpPr>
        <p:grpSpPr>
          <a:xfrm>
            <a:off x="819912" y="2430780"/>
            <a:ext cx="5367528" cy="1106043"/>
            <a:chOff x="819912" y="2430780"/>
            <a:chExt cx="5367528" cy="1106043"/>
          </a:xfrm>
        </p:grpSpPr>
        <p:sp>
          <p:nvSpPr>
            <p:cNvPr id="7" name="TextBox 7"/>
            <p:cNvSpPr txBox="1"/>
            <p:nvPr/>
          </p:nvSpPr>
          <p:spPr>
            <a:xfrm>
              <a:off x="819912" y="24307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先跑通打卡、账号、报销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7532" y="3126105"/>
              <a:ext cx="38519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D8E4FB"/>
                  </a:solidFill>
                  <a:latin typeface="+mn-lt"/>
                  <a:ea typeface="+mn-ea"/>
                  <a:cs typeface="+mn-cs"/>
                </a:rPr>
                <a:t>其余的,要用的时候再翻手册。</a:t>
              </a:r>
            </a:p>
          </p:txBody>
        </p:sp>
      </p:grpSp>
      <p:grpSp>
        <p:nvGrpSpPr>
          <p:cNvPr id="18" name="pointer-chips"/>
          <p:cNvGrpSpPr/>
          <p:nvPr/>
        </p:nvGrpSpPr>
        <p:grpSpPr>
          <a:xfrm>
            <a:off x="838200" y="4152900"/>
            <a:ext cx="7277100" cy="609600"/>
            <a:chOff x="838200" y="4152900"/>
            <a:chExt cx="7277100" cy="609600"/>
          </a:xfrm>
        </p:grpSpPr>
        <p:grpSp>
          <p:nvGrpSpPr>
            <p:cNvPr id="13" name="chip-appendix"/>
            <p:cNvGrpSpPr/>
            <p:nvPr/>
          </p:nvGrpSpPr>
          <p:grpSpPr>
            <a:xfrm>
              <a:off x="838200" y="4152900"/>
              <a:ext cx="3619500" cy="609600"/>
              <a:chOff x="838200" y="4152900"/>
              <a:chExt cx="3619500" cy="6096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838200" y="4152900"/>
                <a:ext cx="3619500" cy="609600"/>
              </a:xfrm>
              <a:prstGeom prst="roundRect">
                <a:avLst>
                  <a:gd name="adj" fmla="val 31250"/>
                </a:avLst>
              </a:prstGeom>
              <a:solidFill>
                <a:srgbClr val="FFFFFF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92200" y="4348242"/>
                <a:ext cx="253999" cy="211625"/>
              </a:xfrm>
              <a:custGeom>
                <a:avLst/>
                <a:gdLst/>
                <a:ahLst/>
                <a:cxnLst/>
                <a:rect l="l" t="t" r="r" b="b"/>
                <a:pathLst>
                  <a:path w="253999" h="211625">
                    <a:moveTo>
                      <a:pt x="247649" y="22260"/>
                    </a:moveTo>
                    <a:cubicBezTo>
                      <a:pt x="251117" y="24262"/>
                      <a:pt x="253438" y="27783"/>
                      <a:pt x="253910" y="31760"/>
                    </a:cubicBezTo>
                    <a:lnTo>
                      <a:pt x="253999" y="33258"/>
                    </a:lnTo>
                    <a:lnTo>
                      <a:pt x="253999" y="198358"/>
                    </a:lnTo>
                    <a:cubicBezTo>
                      <a:pt x="253999" y="202895"/>
                      <a:pt x="251579" y="207087"/>
                      <a:pt x="247649" y="209356"/>
                    </a:cubicBezTo>
                    <a:cubicBezTo>
                      <a:pt x="243720" y="211625"/>
                      <a:pt x="238879" y="211625"/>
                      <a:pt x="234949" y="209356"/>
                    </a:cubicBezTo>
                    <a:cubicBezTo>
                      <a:pt x="205730" y="192484"/>
                      <a:pt x="170041" y="191218"/>
                      <a:pt x="139700" y="205978"/>
                    </a:cubicBezTo>
                    <a:lnTo>
                      <a:pt x="139700" y="13268"/>
                    </a:lnTo>
                    <a:cubicBezTo>
                      <a:pt x="175221" y="0"/>
                      <a:pt x="214813" y="3298"/>
                      <a:pt x="247649" y="22260"/>
                    </a:cubicBezTo>
                    <a:moveTo>
                      <a:pt x="114300" y="13281"/>
                    </a:moveTo>
                    <a:lnTo>
                      <a:pt x="114312" y="205990"/>
                    </a:lnTo>
                    <a:cubicBezTo>
                      <a:pt x="85201" y="191819"/>
                      <a:pt x="51079" y="192371"/>
                      <a:pt x="22441" y="207476"/>
                    </a:cubicBezTo>
                    <a:lnTo>
                      <a:pt x="18288" y="209762"/>
                    </a:lnTo>
                    <a:lnTo>
                      <a:pt x="16980" y="210321"/>
                    </a:lnTo>
                    <a:lnTo>
                      <a:pt x="16358" y="210524"/>
                    </a:lnTo>
                    <a:lnTo>
                      <a:pt x="14961" y="210855"/>
                    </a:lnTo>
                    <a:lnTo>
                      <a:pt x="14186" y="210982"/>
                    </a:lnTo>
                    <a:lnTo>
                      <a:pt x="12700" y="211058"/>
                    </a:lnTo>
                    <a:lnTo>
                      <a:pt x="12167" y="211058"/>
                    </a:lnTo>
                    <a:lnTo>
                      <a:pt x="10770" y="210905"/>
                    </a:lnTo>
                    <a:lnTo>
                      <a:pt x="9792" y="210728"/>
                    </a:lnTo>
                    <a:lnTo>
                      <a:pt x="8420" y="210321"/>
                    </a:lnTo>
                    <a:lnTo>
                      <a:pt x="6820" y="209610"/>
                    </a:lnTo>
                    <a:lnTo>
                      <a:pt x="5613" y="208899"/>
                    </a:lnTo>
                    <a:lnTo>
                      <a:pt x="4483" y="208048"/>
                    </a:lnTo>
                    <a:lnTo>
                      <a:pt x="3721" y="207337"/>
                    </a:lnTo>
                    <a:lnTo>
                      <a:pt x="2794" y="206295"/>
                    </a:lnTo>
                    <a:lnTo>
                      <a:pt x="1981" y="205165"/>
                    </a:lnTo>
                    <a:lnTo>
                      <a:pt x="1702" y="204708"/>
                    </a:lnTo>
                    <a:lnTo>
                      <a:pt x="1295" y="203946"/>
                    </a:lnTo>
                    <a:lnTo>
                      <a:pt x="737" y="202638"/>
                    </a:lnTo>
                    <a:lnTo>
                      <a:pt x="533" y="202015"/>
                    </a:lnTo>
                    <a:lnTo>
                      <a:pt x="203" y="200618"/>
                    </a:lnTo>
                    <a:lnTo>
                      <a:pt x="76" y="199844"/>
                    </a:lnTo>
                    <a:lnTo>
                      <a:pt x="25" y="199221"/>
                    </a:lnTo>
                    <a:lnTo>
                      <a:pt x="0" y="33258"/>
                    </a:lnTo>
                    <a:cubicBezTo>
                      <a:pt x="0" y="28721"/>
                      <a:pt x="2421" y="24529"/>
                      <a:pt x="6350" y="22260"/>
                    </a:cubicBezTo>
                    <a:cubicBezTo>
                      <a:pt x="39189" y="3302"/>
                      <a:pt x="78780" y="9"/>
                      <a:pt x="114300" y="13281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514856" y="4320540"/>
                <a:ext cx="249172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表单与流程 → 手册附录</a:t>
                </a:r>
              </a:p>
            </p:txBody>
          </p:sp>
        </p:grpSp>
        <p:grpSp>
          <p:nvGrpSpPr>
            <p:cNvPr id="17" name="chip-intranet"/>
            <p:cNvGrpSpPr/>
            <p:nvPr/>
          </p:nvGrpSpPr>
          <p:grpSpPr>
            <a:xfrm>
              <a:off x="4686300" y="4152900"/>
              <a:ext cx="3429000" cy="609600"/>
              <a:chOff x="4686300" y="4152900"/>
              <a:chExt cx="3429000" cy="6096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686300" y="4152900"/>
                <a:ext cx="3429000" cy="609600"/>
              </a:xfrm>
              <a:prstGeom prst="roundRect">
                <a:avLst>
                  <a:gd name="adj" fmla="val 31250"/>
                </a:avLst>
              </a:prstGeom>
              <a:solidFill>
                <a:srgbClr val="FFFFFF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940300" y="4330700"/>
                <a:ext cx="254054" cy="255207"/>
              </a:xfrm>
              <a:custGeom>
                <a:avLst/>
                <a:gdLst/>
                <a:ahLst/>
                <a:cxnLst/>
                <a:rect l="l" t="t" r="r" b="b"/>
                <a:pathLst>
                  <a:path w="254054" h="255207">
                    <a:moveTo>
                      <a:pt x="127000" y="0"/>
                    </a:moveTo>
                    <a:cubicBezTo>
                      <a:pt x="197142" y="0"/>
                      <a:pt x="253999" y="56858"/>
                      <a:pt x="253999" y="127000"/>
                    </a:cubicBezTo>
                    <a:cubicBezTo>
                      <a:pt x="254054" y="196377"/>
                      <a:pt x="198425" y="252959"/>
                      <a:pt x="129057" y="254083"/>
                    </a:cubicBezTo>
                    <a:cubicBezTo>
                      <a:pt x="59690" y="255207"/>
                      <a:pt x="2256" y="200457"/>
                      <a:pt x="63" y="131114"/>
                    </a:cubicBezTo>
                    <a:lnTo>
                      <a:pt x="0" y="127000"/>
                    </a:lnTo>
                    <a:lnTo>
                      <a:pt x="51" y="123444"/>
                    </a:lnTo>
                    <a:cubicBezTo>
                      <a:pt x="1930" y="54953"/>
                      <a:pt x="58039" y="0"/>
                      <a:pt x="127000" y="0"/>
                    </a:cubicBezTo>
                    <a:close/>
                    <a:moveTo>
                      <a:pt x="127000" y="114300"/>
                    </a:moveTo>
                    <a:lnTo>
                      <a:pt x="114300" y="114300"/>
                    </a:lnTo>
                    <a:lnTo>
                      <a:pt x="112814" y="114389"/>
                    </a:lnTo>
                    <a:cubicBezTo>
                      <a:pt x="106425" y="115149"/>
                      <a:pt x="101614" y="120566"/>
                      <a:pt x="101614" y="127000"/>
                    </a:cubicBezTo>
                    <a:cubicBezTo>
                      <a:pt x="101614" y="133433"/>
                      <a:pt x="106425" y="138851"/>
                      <a:pt x="112814" y="139611"/>
                    </a:cubicBezTo>
                    <a:lnTo>
                      <a:pt x="114300" y="139700"/>
                    </a:lnTo>
                    <a:lnTo>
                      <a:pt x="114300" y="177800"/>
                    </a:lnTo>
                    <a:lnTo>
                      <a:pt x="114389" y="179285"/>
                    </a:lnTo>
                    <a:cubicBezTo>
                      <a:pt x="115077" y="185121"/>
                      <a:pt x="119678" y="189722"/>
                      <a:pt x="125514" y="190411"/>
                    </a:cubicBezTo>
                    <a:lnTo>
                      <a:pt x="127000" y="190500"/>
                    </a:lnTo>
                    <a:lnTo>
                      <a:pt x="139700" y="190500"/>
                    </a:lnTo>
                    <a:lnTo>
                      <a:pt x="141186" y="190411"/>
                    </a:lnTo>
                    <a:cubicBezTo>
                      <a:pt x="147021" y="189722"/>
                      <a:pt x="151623" y="185121"/>
                      <a:pt x="152311" y="179285"/>
                    </a:cubicBezTo>
                    <a:lnTo>
                      <a:pt x="152400" y="177800"/>
                    </a:lnTo>
                    <a:lnTo>
                      <a:pt x="152311" y="176314"/>
                    </a:lnTo>
                    <a:cubicBezTo>
                      <a:pt x="151689" y="171006"/>
                      <a:pt x="147810" y="166655"/>
                      <a:pt x="142608" y="165430"/>
                    </a:cubicBezTo>
                    <a:lnTo>
                      <a:pt x="141186" y="165176"/>
                    </a:lnTo>
                    <a:lnTo>
                      <a:pt x="139700" y="165100"/>
                    </a:lnTo>
                    <a:lnTo>
                      <a:pt x="139700" y="127000"/>
                    </a:lnTo>
                    <a:lnTo>
                      <a:pt x="139611" y="125514"/>
                    </a:lnTo>
                    <a:cubicBezTo>
                      <a:pt x="138923" y="119678"/>
                      <a:pt x="134321" y="115077"/>
                      <a:pt x="128486" y="114389"/>
                    </a:cubicBezTo>
                    <a:lnTo>
                      <a:pt x="127000" y="114300"/>
                    </a:lnTo>
                    <a:close/>
                    <a:moveTo>
                      <a:pt x="127127" y="76200"/>
                    </a:moveTo>
                    <a:lnTo>
                      <a:pt x="125514" y="76289"/>
                    </a:lnTo>
                    <a:cubicBezTo>
                      <a:pt x="119125" y="77049"/>
                      <a:pt x="114314" y="82466"/>
                      <a:pt x="114314" y="88900"/>
                    </a:cubicBezTo>
                    <a:cubicBezTo>
                      <a:pt x="114314" y="95334"/>
                      <a:pt x="119125" y="100751"/>
                      <a:pt x="125514" y="101511"/>
                    </a:cubicBezTo>
                    <a:lnTo>
                      <a:pt x="127000" y="101600"/>
                    </a:lnTo>
                    <a:lnTo>
                      <a:pt x="128613" y="101511"/>
                    </a:lnTo>
                    <a:cubicBezTo>
                      <a:pt x="135001" y="100751"/>
                      <a:pt x="139812" y="95334"/>
                      <a:pt x="139812" y="88900"/>
                    </a:cubicBezTo>
                    <a:cubicBezTo>
                      <a:pt x="139812" y="82466"/>
                      <a:pt x="135001" y="77049"/>
                      <a:pt x="128613" y="76289"/>
                    </a:cubicBezTo>
                    <a:lnTo>
                      <a:pt x="127127" y="762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362956" y="4320540"/>
                <a:ext cx="17647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办公指引 → 内网</a:t>
                </a:r>
              </a:p>
            </p:txBody>
          </p:sp>
        </p:grpSp>
      </p:grpSp>
      <p:grpSp>
        <p:nvGrpSpPr>
          <p:cNvPr id="20" name="ending-footnote"/>
          <p:cNvGrpSpPr/>
          <p:nvPr/>
        </p:nvGrpSpPr>
        <p:grpSpPr>
          <a:xfrm>
            <a:off x="832104" y="6442710"/>
            <a:ext cx="3832708" cy="234696"/>
            <a:chOff x="832104" y="6442710"/>
            <a:chExt cx="3832708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832104" y="6442710"/>
              <a:ext cx="38327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FD0F2"/>
                  </a:solidFill>
                  <a:latin typeface="+mn-lt"/>
                  <a:ea typeface="+mn-ea"/>
                  <a:cs typeface="+mn-cs"/>
                </a:rPr>
                <a:t>本速览摘自《员工手册(节选)》,细则以手册原文为准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ay1_essentials">
  <a:themeElements>
    <a:clrScheme name="day1_essential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ay1_essentials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y1_essential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2026-09-22T15:07:48Z</dcterms:created>
  <dcterms:modified xsi:type="dcterms:W3CDTF">2026-09-22T15:07:48Z</dcterms:modified>
  <cp:category/>
  <cp:contentStatus/>
</cp:coreProperties>
</file>