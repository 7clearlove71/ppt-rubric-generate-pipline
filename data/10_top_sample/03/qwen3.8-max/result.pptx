
<file path=[Content_Types].xml><?xml version="1.0" encoding="utf-8"?>
<Types xmlns="http://schemas.openxmlformats.org/package/2006/content-types">
  <Default Extension="ttf" ContentType="application/x-font-ttf"/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embeddedFontLst>
    <p:embeddedFont>
      <p:font typeface="FrexSansGB"/>
      <p:regular r:id="rId201314"/>
      <p:bold r:id="rId2013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image" Target="../media/image-1-3.png"/><Relationship Id="rId4" Type="http://schemas.openxmlformats.org/officeDocument/2006/relationships/image" Target="../media/image-1-4.svg"/><Relationship Id="rId5" Type="http://schemas.openxmlformats.org/officeDocument/2006/relationships/image" Target="../media/image-1-5.png"/><Relationship Id="rId6" Type="http://schemas.openxmlformats.org/officeDocument/2006/relationships/image" Target="../media/image-1-6.svg"/><Relationship Id="rId7" Type="http://schemas.openxmlformats.org/officeDocument/2006/relationships/image" Target="../media/image-1-7.png"/><Relationship Id="rId8" Type="http://schemas.openxmlformats.org/officeDocument/2006/relationships/image" Target="../media/image-1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image" Target="../media/image-4-9.png"/><Relationship Id="rId10" Type="http://schemas.openxmlformats.org/officeDocument/2006/relationships/image" Target="../media/image-4-10.svg"/><Relationship Id="rId11" Type="http://schemas.openxmlformats.org/officeDocument/2006/relationships/image" Target="../media/image-4-11.png"/><Relationship Id="rId12" Type="http://schemas.openxmlformats.org/officeDocument/2006/relationships/image" Target="../media/image-4-12.svg"/><Relationship Id="rId13" Type="http://schemas.openxmlformats.org/officeDocument/2006/relationships/image" Target="../media/image-4-13.png"/><Relationship Id="rId14" Type="http://schemas.openxmlformats.org/officeDocument/2006/relationships/image" Target="../media/image-4-14.svg"/><Relationship Id="rId15" Type="http://schemas.openxmlformats.org/officeDocument/2006/relationships/image" Target="../media/image-4-15.png"/><Relationship Id="rId16" Type="http://schemas.openxmlformats.org/officeDocument/2006/relationships/image" Target="../media/image-4-16.sv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image" Target="../media/image-5-9.png"/><Relationship Id="rId10" Type="http://schemas.openxmlformats.org/officeDocument/2006/relationships/image" Target="../media/image-5-10.svg"/><Relationship Id="rId11" Type="http://schemas.openxmlformats.org/officeDocument/2006/relationships/image" Target="../media/image-5-11.png"/><Relationship Id="rId12" Type="http://schemas.openxmlformats.org/officeDocument/2006/relationships/image" Target="../media/image-5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image" Target="../media/image-6-7.png"/><Relationship Id="rId8" Type="http://schemas.openxmlformats.org/officeDocument/2006/relationships/image" Target="../media/image-6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image" Target="../media/image-7-7.png"/><Relationship Id="rId8" Type="http://schemas.openxmlformats.org/officeDocument/2006/relationships/image" Target="../media/image-7-8.svg"/><Relationship Id="rId9" Type="http://schemas.openxmlformats.org/officeDocument/2006/relationships/image" Target="../media/image-7-9.png"/><Relationship Id="rId10" Type="http://schemas.openxmlformats.org/officeDocument/2006/relationships/image" Target="../media/image-7-10.svg"/><Relationship Id="rId11" Type="http://schemas.openxmlformats.org/officeDocument/2006/relationships/image" Target="../media/image-7-11.png"/><Relationship Id="rId12" Type="http://schemas.openxmlformats.org/officeDocument/2006/relationships/image" Target="../media/image-7-12.svg"/><Relationship Id="rId13" Type="http://schemas.openxmlformats.org/officeDocument/2006/relationships/image" Target="../media/image-7-13.png"/><Relationship Id="rId14" Type="http://schemas.openxmlformats.org/officeDocument/2006/relationships/image" Target="../media/image-7-14.svg"/><Relationship Id="rId15" Type="http://schemas.openxmlformats.org/officeDocument/2006/relationships/image" Target="../media/image-7-15.png"/><Relationship Id="rId16" Type="http://schemas.openxmlformats.org/officeDocument/2006/relationships/image" Target="../media/image-7-16.svg"/><Relationship Id="rId17" Type="http://schemas.openxmlformats.org/officeDocument/2006/relationships/image" Target="../media/image-7-17.png"/><Relationship Id="rId18" Type="http://schemas.openxmlformats.org/officeDocument/2006/relationships/image" Target="../media/image-7-18.svg"/><Relationship Id="rId19" Type="http://schemas.openxmlformats.org/officeDocument/2006/relationships/image" Target="../media/image-7-19.png"/><Relationship Id="rId20" Type="http://schemas.openxmlformats.org/officeDocument/2006/relationships/image" Target="../media/image-7-20.svg"/><Relationship Id="rId21" Type="http://schemas.openxmlformats.org/officeDocument/2006/relationships/image" Target="../media/image-7-21.png"/><Relationship Id="rId22" Type="http://schemas.openxmlformats.org/officeDocument/2006/relationships/image" Target="../media/image-7-22.svg"/><Relationship Id="rId23" Type="http://schemas.openxmlformats.org/officeDocument/2006/relationships/image" Target="../media/image-7-23.png"/><Relationship Id="rId24" Type="http://schemas.openxmlformats.org/officeDocument/2006/relationships/image" Target="../media/image-7-24.svg"/><Relationship Id="rId25" Type="http://schemas.openxmlformats.org/officeDocument/2006/relationships/slideLayout" Target="../slideLayouts/slideLayout1.xml"/><Relationship Id="rId2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image" Target="../media/image-8-7.png"/><Relationship Id="rId8" Type="http://schemas.openxmlformats.org/officeDocument/2006/relationships/image" Target="../media/image-8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ln/>
        </p:spPr>
      </p:sp>
      <p:sp>
        <p:nvSpPr>
          <p:cNvPr id="3" name="Shape 1"/>
          <p:cNvSpPr/>
          <p:nvPr/>
        </p:nvSpPr>
        <p:spPr>
          <a:xfrm>
            <a:off x="285750" y="285750"/>
            <a:ext cx="314325" cy="314325"/>
          </a:xfrm>
          <a:prstGeom prst="rect">
            <a:avLst/>
          </a:prstGeom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85750" y="285750"/>
            <a:ext cx="314325" cy="31432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543925" y="285750"/>
            <a:ext cx="314325" cy="314325"/>
          </a:xfrm>
          <a:prstGeom prst="rect">
            <a:avLst/>
          </a:prstGeom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43925" y="285750"/>
            <a:ext cx="314325" cy="314325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285750" y="4543425"/>
            <a:ext cx="314325" cy="314325"/>
          </a:xfrm>
          <a:prstGeom prst="rect">
            <a:avLst/>
          </a:prstGeom>
          <a:ln/>
        </p:spPr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85750" y="4543425"/>
            <a:ext cx="314325" cy="314325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8543925" y="4543425"/>
            <a:ext cx="314325" cy="314325"/>
          </a:xfrm>
          <a:prstGeom prst="rect">
            <a:avLst/>
          </a:prstGeom>
          <a:ln/>
        </p:spPr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543925" y="4543425"/>
            <a:ext cx="314325" cy="314325"/>
          </a:xfrm>
          <a:prstGeom prst="rect">
            <a:avLst/>
          </a:prstGeom>
        </p:spPr>
      </p:pic>
      <p:sp>
        <p:nvSpPr>
          <p:cNvPr id="11" name="Shape 5"/>
          <p:cNvSpPr/>
          <p:nvPr/>
        </p:nvSpPr>
        <p:spPr>
          <a:xfrm>
            <a:off x="742950" y="2446734"/>
            <a:ext cx="428625" cy="14288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12" name="Text 6"/>
          <p:cNvSpPr/>
          <p:nvPr/>
        </p:nvSpPr>
        <p:spPr>
          <a:xfrm>
            <a:off x="742950" y="684014"/>
            <a:ext cx="7658100" cy="164306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76B900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// 节能改造立项评审（第一批）</a:t>
            </a:r>
            <a:endParaRPr lang="en-US" sz="800" dirty="0"/>
          </a:p>
        </p:txBody>
      </p:sp>
      <p:sp>
        <p:nvSpPr>
          <p:cNvPr id="13" name="Text 7"/>
          <p:cNvSpPr/>
          <p:nvPr/>
        </p:nvSpPr>
        <p:spPr>
          <a:xfrm>
            <a:off x="742950" y="1032272"/>
            <a:ext cx="7658100" cy="1214438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产线设备能耗分析</a:t>
            </a:r>
            <a:pPr algn="l" indent="0" marL="0">
              <a:buNone/>
            </a:pP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与节能改造立项建议</a:t>
            </a:r>
            <a:endParaRPr lang="en-US" sz="3800" dirty="0"/>
          </a:p>
        </p:txBody>
      </p:sp>
      <p:sp>
        <p:nvSpPr>
          <p:cNvPr id="14" name="Text 8"/>
          <p:cNvSpPr/>
          <p:nvPr/>
        </p:nvSpPr>
        <p:spPr>
          <a:xfrm>
            <a:off x="742950" y="2619747"/>
            <a:ext cx="7658100" cy="450056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A7A7A7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基于一个月四条产线能耗实测数据 · 1 号线液压系统改造立项评审</a:t>
            </a:r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7A7A7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汇报单位：设备与能源管理部门</a:t>
            </a:r>
            <a:endParaRPr lang="en-US" sz="1000" dirty="0"/>
          </a:p>
        </p:txBody>
      </p:sp>
      <p:sp>
        <p:nvSpPr>
          <p:cNvPr id="15" name="Text 9"/>
          <p:cNvSpPr/>
          <p:nvPr/>
        </p:nvSpPr>
        <p:spPr>
          <a:xfrm>
            <a:off x="743229" y="4109442"/>
            <a:ext cx="1450181" cy="350044"/>
          </a:xfrm>
          <a:prstGeom prst="roundRect">
            <a:avLst>
              <a:gd name="adj" fmla="val 2666"/>
            </a:avLst>
          </a:prstGeom>
          <a:ln w="12383">
            <a:solidFill>
              <a:srgbClr val="76B900"/>
            </a:solidFill>
            <a:prstDash val="solid"/>
          </a:ln>
        </p:spPr>
        <p:txBody>
          <a:bodyPr wrap="none" lIns="133588" tIns="66794" rIns="133588" bIns="66794" rtlCol="0" anchor="b">
            <a:no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READ THE BRIEF</a:t>
            </a:r>
            <a:endParaRPr lang="en-US" sz="800" dirty="0"/>
          </a:p>
        </p:txBody>
      </p:sp>
      <p:sp>
        <p:nvSpPr>
          <p:cNvPr id="16" name="Text 10"/>
          <p:cNvSpPr/>
          <p:nvPr/>
        </p:nvSpPr>
        <p:spPr>
          <a:xfrm>
            <a:off x="5851289" y="4138017"/>
            <a:ext cx="2550319" cy="14287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898989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DOC · 2026 年 9 月</a:t>
            </a:r>
            <a:endParaRPr lang="en-US" sz="700" dirty="0"/>
          </a:p>
        </p:txBody>
      </p:sp>
      <p:sp>
        <p:nvSpPr>
          <p:cNvPr id="17" name="Text 11"/>
          <p:cNvSpPr/>
          <p:nvPr/>
        </p:nvSpPr>
        <p:spPr>
          <a:xfrm>
            <a:off x="5851289" y="4307681"/>
            <a:ext cx="2550319" cy="1500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A7A7A7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汇报主线：能耗对标 → 异常深挖 → 投资测算 → 立项建议</a:t>
            </a:r>
            <a:endParaRPr lang="en-US" sz="700" dirty="0"/>
          </a:p>
        </p:txBody>
      </p:sp>
      <p:sp>
        <p:nvSpPr>
          <p:cNvPr id="65535" name="wm:hwcld:2026-09-22T19:05:55:0e1af824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ln/>
        </p:spPr>
      </p:sp>
      <p:sp>
        <p:nvSpPr>
          <p:cNvPr id="3" name="Shape 1"/>
          <p:cNvSpPr/>
          <p:nvPr/>
        </p:nvSpPr>
        <p:spPr>
          <a:xfrm>
            <a:off x="214313" y="898327"/>
            <a:ext cx="428625" cy="14288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4" name="Shape 2"/>
          <p:cNvSpPr/>
          <p:nvPr/>
        </p:nvSpPr>
        <p:spPr>
          <a:xfrm>
            <a:off x="214313" y="1026468"/>
            <a:ext cx="2093119" cy="735806"/>
          </a:xfrm>
          <a:prstGeom prst="roundRect">
            <a:avLst>
              <a:gd name="adj" fmla="val 2413"/>
            </a:avLst>
          </a:prstGeom>
          <a:solidFill>
            <a:srgbClr val="1A1A1A"/>
          </a:solidFill>
          <a:ln w="6191">
            <a:solidFill>
              <a:srgbClr val="5E5E5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421731" y="1026468"/>
            <a:ext cx="2093119" cy="735806"/>
          </a:xfrm>
          <a:prstGeom prst="roundRect">
            <a:avLst>
              <a:gd name="adj" fmla="val 2413"/>
            </a:avLst>
          </a:prstGeom>
          <a:solidFill>
            <a:srgbClr val="1A1A1A"/>
          </a:solidFill>
          <a:ln w="6191">
            <a:solidFill>
              <a:srgbClr val="5E5E5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629150" y="1026468"/>
            <a:ext cx="2093119" cy="735806"/>
          </a:xfrm>
          <a:prstGeom prst="roundRect">
            <a:avLst>
              <a:gd name="adj" fmla="val 2413"/>
            </a:avLst>
          </a:prstGeom>
          <a:solidFill>
            <a:srgbClr val="1A1A1A"/>
          </a:solidFill>
          <a:ln w="6191">
            <a:solidFill>
              <a:srgbClr val="5E5E5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36569" y="1026468"/>
            <a:ext cx="2093119" cy="735806"/>
          </a:xfrm>
          <a:prstGeom prst="roundRect">
            <a:avLst>
              <a:gd name="adj" fmla="val 2413"/>
            </a:avLst>
          </a:prstGeom>
          <a:solidFill>
            <a:srgbClr val="1A1A1A"/>
          </a:solidFill>
          <a:ln w="12383">
            <a:solidFill>
              <a:srgbClr val="76B9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43425" y="4428232"/>
            <a:ext cx="2821268" cy="0"/>
          </a:xfrm>
          <a:prstGeom prst="line">
            <a:avLst/>
          </a:prstGeom>
          <a:noFill/>
          <a:ln w="6350">
            <a:solidFill>
              <a:srgbClr val="5E5E5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3425" y="3992463"/>
            <a:ext cx="2821268" cy="0"/>
          </a:xfrm>
          <a:prstGeom prst="line">
            <a:avLst/>
          </a:prstGeom>
          <a:noFill/>
          <a:ln w="6350">
            <a:solidFill>
              <a:srgbClr val="5E5E5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3425" y="3556695"/>
            <a:ext cx="2821268" cy="0"/>
          </a:xfrm>
          <a:prstGeom prst="line">
            <a:avLst/>
          </a:prstGeom>
          <a:noFill/>
          <a:ln w="6350">
            <a:solidFill>
              <a:srgbClr val="5E5E5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3425" y="3120926"/>
            <a:ext cx="2821268" cy="0"/>
          </a:xfrm>
          <a:prstGeom prst="line">
            <a:avLst/>
          </a:prstGeom>
          <a:noFill/>
          <a:ln w="6350">
            <a:solidFill>
              <a:srgbClr val="5E5E5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3425" y="2692301"/>
            <a:ext cx="2821268" cy="0"/>
          </a:xfrm>
          <a:prstGeom prst="line">
            <a:avLst/>
          </a:prstGeom>
          <a:noFill/>
          <a:ln w="6350">
            <a:solidFill>
              <a:srgbClr val="5E5E5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3425" y="2256532"/>
            <a:ext cx="2821268" cy="0"/>
          </a:xfrm>
          <a:prstGeom prst="line">
            <a:avLst/>
          </a:prstGeom>
          <a:noFill/>
          <a:ln w="6350">
            <a:solidFill>
              <a:srgbClr val="5E5E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-23061" y="2039362"/>
            <a:ext cx="932974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A7A7A7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kWh/件</a:t>
            </a:r>
            <a:endParaRPr lang="en-US" sz="788" dirty="0"/>
          </a:p>
        </p:txBody>
      </p:sp>
      <p:sp>
        <p:nvSpPr>
          <p:cNvPr id="15" name="Shape 13"/>
          <p:cNvSpPr/>
          <p:nvPr/>
        </p:nvSpPr>
        <p:spPr>
          <a:xfrm>
            <a:off x="443425" y="4428232"/>
            <a:ext cx="2821268" cy="0"/>
          </a:xfrm>
          <a:prstGeom prst="line">
            <a:avLst/>
          </a:prstGeom>
          <a:noFill/>
          <a:ln w="6350">
            <a:solidFill>
              <a:srgbClr val="5E5E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377" y="4364653"/>
            <a:ext cx="332899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A7A7A7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0</a:t>
            </a:r>
            <a:endParaRPr lang="en-US" sz="788" dirty="0"/>
          </a:p>
        </p:txBody>
      </p:sp>
      <p:sp>
        <p:nvSpPr>
          <p:cNvPr id="17" name="Text 15"/>
          <p:cNvSpPr/>
          <p:nvPr/>
        </p:nvSpPr>
        <p:spPr>
          <a:xfrm>
            <a:off x="-246661" y="3930313"/>
            <a:ext cx="632936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A7A7A7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0.2</a:t>
            </a:r>
            <a:endParaRPr lang="en-US" sz="788" dirty="0"/>
          </a:p>
        </p:txBody>
      </p:sp>
      <p:sp>
        <p:nvSpPr>
          <p:cNvPr id="18" name="Text 16"/>
          <p:cNvSpPr/>
          <p:nvPr/>
        </p:nvSpPr>
        <p:spPr>
          <a:xfrm>
            <a:off x="-246661" y="3495973"/>
            <a:ext cx="632936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A7A7A7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0.4</a:t>
            </a:r>
            <a:endParaRPr lang="en-US" sz="788" dirty="0"/>
          </a:p>
        </p:txBody>
      </p:sp>
      <p:sp>
        <p:nvSpPr>
          <p:cNvPr id="19" name="Text 17"/>
          <p:cNvSpPr/>
          <p:nvPr/>
        </p:nvSpPr>
        <p:spPr>
          <a:xfrm>
            <a:off x="-246661" y="3061633"/>
            <a:ext cx="632936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A7A7A7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0.6</a:t>
            </a:r>
            <a:endParaRPr lang="en-US" sz="788" dirty="0"/>
          </a:p>
        </p:txBody>
      </p:sp>
      <p:sp>
        <p:nvSpPr>
          <p:cNvPr id="20" name="Text 18"/>
          <p:cNvSpPr/>
          <p:nvPr/>
        </p:nvSpPr>
        <p:spPr>
          <a:xfrm>
            <a:off x="-246661" y="2627293"/>
            <a:ext cx="632936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A7A7A7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0.8</a:t>
            </a:r>
            <a:endParaRPr lang="en-US" sz="788" dirty="0"/>
          </a:p>
        </p:txBody>
      </p:sp>
      <p:sp>
        <p:nvSpPr>
          <p:cNvPr id="21" name="Text 19"/>
          <p:cNvSpPr/>
          <p:nvPr/>
        </p:nvSpPr>
        <p:spPr>
          <a:xfrm>
            <a:off x="53377" y="2192953"/>
            <a:ext cx="332899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A7A7A7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1</a:t>
            </a:r>
            <a:endParaRPr lang="en-US" sz="788" dirty="0"/>
          </a:p>
        </p:txBody>
      </p:sp>
      <p:sp>
        <p:nvSpPr>
          <p:cNvPr id="22" name="Text 20"/>
          <p:cNvSpPr/>
          <p:nvPr/>
        </p:nvSpPr>
        <p:spPr>
          <a:xfrm>
            <a:off x="404606" y="4471809"/>
            <a:ext cx="782955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FFFFFF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1 号线</a:t>
            </a:r>
            <a:endParaRPr lang="en-US" sz="788" dirty="0"/>
          </a:p>
        </p:txBody>
      </p:sp>
      <p:sp>
        <p:nvSpPr>
          <p:cNvPr id="23" name="Text 21"/>
          <p:cNvSpPr/>
          <p:nvPr/>
        </p:nvSpPr>
        <p:spPr>
          <a:xfrm>
            <a:off x="1109924" y="4471809"/>
            <a:ext cx="782955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FFFFFF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2 号线</a:t>
            </a:r>
            <a:endParaRPr lang="en-US" sz="788" dirty="0"/>
          </a:p>
        </p:txBody>
      </p:sp>
      <p:sp>
        <p:nvSpPr>
          <p:cNvPr id="24" name="Text 22"/>
          <p:cNvSpPr/>
          <p:nvPr/>
        </p:nvSpPr>
        <p:spPr>
          <a:xfrm>
            <a:off x="1815240" y="4471809"/>
            <a:ext cx="782955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FFFFFF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3 号线</a:t>
            </a:r>
            <a:endParaRPr lang="en-US" sz="788" dirty="0"/>
          </a:p>
        </p:txBody>
      </p:sp>
      <p:sp>
        <p:nvSpPr>
          <p:cNvPr id="25" name="Text 23"/>
          <p:cNvSpPr/>
          <p:nvPr/>
        </p:nvSpPr>
        <p:spPr>
          <a:xfrm>
            <a:off x="2520558" y="4471809"/>
            <a:ext cx="782955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FFFFFF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4 号线</a:t>
            </a:r>
            <a:endParaRPr lang="en-US" sz="788" dirty="0"/>
          </a:p>
        </p:txBody>
      </p:sp>
      <p:sp>
        <p:nvSpPr>
          <p:cNvPr id="26" name="Shape 24"/>
          <p:cNvSpPr/>
          <p:nvPr/>
        </p:nvSpPr>
        <p:spPr>
          <a:xfrm>
            <a:off x="633861" y="2578715"/>
            <a:ext cx="324446" cy="1845946"/>
          </a:xfrm>
          <a:custGeom>
            <a:avLst/>
            <a:gdLst/>
            <a:ahLst/>
            <a:cxnLst/>
            <a:rect l="l" t="t" r="r" b="b"/>
            <a:pathLst>
              <a:path w="324446" h="1845946">
                <a:moveTo>
                  <a:pt x="0" y="1845946"/>
                </a:moveTo>
                <a:lnTo>
                  <a:pt x="324446" y="1845946"/>
                </a:lnTo>
                <a:lnTo>
                  <a:pt x="324446" y="0"/>
                </a:lnTo>
                <a:lnTo>
                  <a:pt x="0" y="0"/>
                </a:lnTo>
                <a:close/>
              </a:path>
            </a:pathLst>
          </a:custGeom>
          <a:solidFill>
            <a:srgbClr val="E52020"/>
          </a:solidFill>
          <a:ln/>
        </p:spPr>
      </p:sp>
      <p:sp>
        <p:nvSpPr>
          <p:cNvPr id="27" name="Shape 25"/>
          <p:cNvSpPr/>
          <p:nvPr/>
        </p:nvSpPr>
        <p:spPr>
          <a:xfrm>
            <a:off x="1339178" y="3295377"/>
            <a:ext cx="324446" cy="1129284"/>
          </a:xfrm>
          <a:custGeom>
            <a:avLst/>
            <a:gdLst/>
            <a:ahLst/>
            <a:cxnLst/>
            <a:rect l="l" t="t" r="r" b="b"/>
            <a:pathLst>
              <a:path w="324446" h="1129284">
                <a:moveTo>
                  <a:pt x="0" y="1129284"/>
                </a:moveTo>
                <a:lnTo>
                  <a:pt x="324446" y="1129284"/>
                </a:lnTo>
                <a:lnTo>
                  <a:pt x="324446" y="0"/>
                </a:lnTo>
                <a:lnTo>
                  <a:pt x="0" y="0"/>
                </a:lnTo>
                <a:close/>
              </a:path>
            </a:pathLst>
          </a:custGeom>
          <a:solidFill>
            <a:srgbClr val="76B900"/>
          </a:solidFill>
          <a:ln/>
        </p:spPr>
      </p:sp>
      <p:sp>
        <p:nvSpPr>
          <p:cNvPr id="28" name="Shape 26"/>
          <p:cNvSpPr/>
          <p:nvPr/>
        </p:nvSpPr>
        <p:spPr>
          <a:xfrm>
            <a:off x="2044495" y="3382245"/>
            <a:ext cx="324446" cy="1042416"/>
          </a:xfrm>
          <a:custGeom>
            <a:avLst/>
            <a:gdLst/>
            <a:ahLst/>
            <a:cxnLst/>
            <a:rect l="l" t="t" r="r" b="b"/>
            <a:pathLst>
              <a:path w="324446" h="1042416">
                <a:moveTo>
                  <a:pt x="0" y="1042416"/>
                </a:moveTo>
                <a:lnTo>
                  <a:pt x="324446" y="1042416"/>
                </a:lnTo>
                <a:lnTo>
                  <a:pt x="324446" y="0"/>
                </a:lnTo>
                <a:lnTo>
                  <a:pt x="0" y="0"/>
                </a:lnTo>
                <a:close/>
              </a:path>
            </a:pathLst>
          </a:custGeom>
          <a:solidFill>
            <a:srgbClr val="76B900"/>
          </a:solidFill>
          <a:ln/>
        </p:spPr>
      </p:sp>
      <p:sp>
        <p:nvSpPr>
          <p:cNvPr id="29" name="Shape 27"/>
          <p:cNvSpPr/>
          <p:nvPr/>
        </p:nvSpPr>
        <p:spPr>
          <a:xfrm>
            <a:off x="2749812" y="3295377"/>
            <a:ext cx="324446" cy="1129284"/>
          </a:xfrm>
          <a:custGeom>
            <a:avLst/>
            <a:gdLst/>
            <a:ahLst/>
            <a:cxnLst/>
            <a:rect l="l" t="t" r="r" b="b"/>
            <a:pathLst>
              <a:path w="324446" h="1129284">
                <a:moveTo>
                  <a:pt x="0" y="1129284"/>
                </a:moveTo>
                <a:lnTo>
                  <a:pt x="324446" y="1129284"/>
                </a:lnTo>
                <a:lnTo>
                  <a:pt x="324446" y="0"/>
                </a:lnTo>
                <a:lnTo>
                  <a:pt x="0" y="0"/>
                </a:lnTo>
                <a:close/>
              </a:path>
            </a:pathLst>
          </a:custGeom>
          <a:solidFill>
            <a:srgbClr val="76B900"/>
          </a:solidFill>
          <a:ln/>
        </p:spPr>
      </p:sp>
      <p:sp>
        <p:nvSpPr>
          <p:cNvPr id="30" name="Text 28"/>
          <p:cNvSpPr/>
          <p:nvPr/>
        </p:nvSpPr>
        <p:spPr>
          <a:xfrm>
            <a:off x="404606" y="2432983"/>
            <a:ext cx="782955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b="1" dirty="0">
                <a:solidFill>
                  <a:srgbClr val="FFFFFF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0.85</a:t>
            </a:r>
            <a:endParaRPr lang="en-US" sz="788" dirty="0"/>
          </a:p>
        </p:txBody>
      </p:sp>
      <p:sp>
        <p:nvSpPr>
          <p:cNvPr id="31" name="Text 29"/>
          <p:cNvSpPr/>
          <p:nvPr/>
        </p:nvSpPr>
        <p:spPr>
          <a:xfrm>
            <a:off x="1109924" y="3149644"/>
            <a:ext cx="782955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b="1" dirty="0">
                <a:solidFill>
                  <a:srgbClr val="FFFFFF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0.52</a:t>
            </a:r>
            <a:endParaRPr lang="en-US" sz="788" dirty="0"/>
          </a:p>
        </p:txBody>
      </p:sp>
      <p:sp>
        <p:nvSpPr>
          <p:cNvPr id="32" name="Text 30"/>
          <p:cNvSpPr/>
          <p:nvPr/>
        </p:nvSpPr>
        <p:spPr>
          <a:xfrm>
            <a:off x="1815240" y="3236512"/>
            <a:ext cx="782955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b="1" dirty="0">
                <a:solidFill>
                  <a:srgbClr val="FFFFFF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0.48</a:t>
            </a:r>
            <a:endParaRPr lang="en-US" sz="788" dirty="0"/>
          </a:p>
        </p:txBody>
      </p:sp>
      <p:sp>
        <p:nvSpPr>
          <p:cNvPr id="33" name="Text 31"/>
          <p:cNvSpPr/>
          <p:nvPr/>
        </p:nvSpPr>
        <p:spPr>
          <a:xfrm>
            <a:off x="2520558" y="3149644"/>
            <a:ext cx="782955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b="1" dirty="0">
                <a:solidFill>
                  <a:srgbClr val="FFFFFF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0.52</a:t>
            </a:r>
            <a:endParaRPr lang="en-US" sz="788" dirty="0"/>
          </a:p>
        </p:txBody>
      </p:sp>
      <p:sp>
        <p:nvSpPr>
          <p:cNvPr id="34" name="Shape 32"/>
          <p:cNvSpPr/>
          <p:nvPr/>
        </p:nvSpPr>
        <p:spPr>
          <a:xfrm>
            <a:off x="443425" y="3445966"/>
            <a:ext cx="2821268" cy="0"/>
          </a:xfrm>
          <a:prstGeom prst="line">
            <a:avLst/>
          </a:prstGeom>
          <a:noFill/>
          <a:ln w="12700">
            <a:solidFill>
              <a:srgbClr val="BFF23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695926" y="3305234"/>
            <a:ext cx="1533049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BFF230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行业标杆 0.45</a:t>
            </a:r>
            <a:endParaRPr lang="en-US" sz="788" dirty="0"/>
          </a:p>
        </p:txBody>
      </p:sp>
      <p:sp>
        <p:nvSpPr>
          <p:cNvPr id="36" name="Shape 34"/>
          <p:cNvSpPr/>
          <p:nvPr/>
        </p:nvSpPr>
        <p:spPr>
          <a:xfrm>
            <a:off x="4004072" y="2152948"/>
            <a:ext cx="0" cy="2278856"/>
          </a:xfrm>
          <a:prstGeom prst="line">
            <a:avLst/>
          </a:prstGeom>
          <a:noFill/>
          <a:ln w="6350">
            <a:solidFill>
              <a:srgbClr val="5E5E5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439841" y="2152948"/>
            <a:ext cx="0" cy="2278856"/>
          </a:xfrm>
          <a:prstGeom prst="line">
            <a:avLst/>
          </a:prstGeom>
          <a:noFill/>
          <a:ln w="6350">
            <a:solidFill>
              <a:srgbClr val="5E5E5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868466" y="2152948"/>
            <a:ext cx="0" cy="2278856"/>
          </a:xfrm>
          <a:prstGeom prst="line">
            <a:avLst/>
          </a:prstGeom>
          <a:noFill/>
          <a:ln w="6350">
            <a:solidFill>
              <a:srgbClr val="5E5E5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297091" y="2152948"/>
            <a:ext cx="0" cy="2278856"/>
          </a:xfrm>
          <a:prstGeom prst="line">
            <a:avLst/>
          </a:prstGeom>
          <a:noFill/>
          <a:ln w="6350">
            <a:solidFill>
              <a:srgbClr val="5E5E5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554266" y="2152948"/>
            <a:ext cx="0" cy="2278856"/>
          </a:xfrm>
          <a:prstGeom prst="line">
            <a:avLst/>
          </a:prstGeom>
          <a:noFill/>
          <a:ln w="6350">
            <a:solidFill>
              <a:srgbClr val="5E5E5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 flipV="1">
            <a:off x="4004072" y="2152948"/>
            <a:ext cx="0" cy="2278856"/>
          </a:xfrm>
          <a:prstGeom prst="line">
            <a:avLst/>
          </a:prstGeom>
          <a:noFill/>
          <a:ln w="6350">
            <a:solidFill>
              <a:srgbClr val="5E5E5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165222" y="4086939"/>
            <a:ext cx="782955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FFFFFF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3 号线</a:t>
            </a:r>
            <a:endParaRPr lang="en-US" sz="788" dirty="0"/>
          </a:p>
        </p:txBody>
      </p:sp>
      <p:sp>
        <p:nvSpPr>
          <p:cNvPr id="43" name="Text 41"/>
          <p:cNvSpPr/>
          <p:nvPr/>
        </p:nvSpPr>
        <p:spPr>
          <a:xfrm>
            <a:off x="3165222" y="3517225"/>
            <a:ext cx="782955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FFFFFF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4 号线</a:t>
            </a:r>
            <a:endParaRPr lang="en-US" sz="788" dirty="0"/>
          </a:p>
        </p:txBody>
      </p:sp>
      <p:sp>
        <p:nvSpPr>
          <p:cNvPr id="44" name="Text 42"/>
          <p:cNvSpPr/>
          <p:nvPr/>
        </p:nvSpPr>
        <p:spPr>
          <a:xfrm>
            <a:off x="3165222" y="2947511"/>
            <a:ext cx="782955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FFFFFF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2 号线</a:t>
            </a:r>
            <a:endParaRPr lang="en-US" sz="788" dirty="0"/>
          </a:p>
        </p:txBody>
      </p:sp>
      <p:sp>
        <p:nvSpPr>
          <p:cNvPr id="45" name="Text 43"/>
          <p:cNvSpPr/>
          <p:nvPr/>
        </p:nvSpPr>
        <p:spPr>
          <a:xfrm>
            <a:off x="3165222" y="2377797"/>
            <a:ext cx="782955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FFFFFF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1 号线</a:t>
            </a:r>
            <a:endParaRPr lang="en-US" sz="788" dirty="0"/>
          </a:p>
        </p:txBody>
      </p:sp>
      <p:sp>
        <p:nvSpPr>
          <p:cNvPr id="46" name="Text 44"/>
          <p:cNvSpPr/>
          <p:nvPr/>
        </p:nvSpPr>
        <p:spPr>
          <a:xfrm>
            <a:off x="3838878" y="4475381"/>
            <a:ext cx="332899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A7A7A7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0</a:t>
            </a:r>
            <a:endParaRPr lang="en-US" sz="788" dirty="0"/>
          </a:p>
        </p:txBody>
      </p:sp>
      <p:sp>
        <p:nvSpPr>
          <p:cNvPr id="47" name="Text 45"/>
          <p:cNvSpPr/>
          <p:nvPr/>
        </p:nvSpPr>
        <p:spPr>
          <a:xfrm>
            <a:off x="4193137" y="4475381"/>
            <a:ext cx="482917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A7A7A7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10</a:t>
            </a:r>
            <a:endParaRPr lang="en-US" sz="788" dirty="0"/>
          </a:p>
        </p:txBody>
      </p:sp>
      <p:sp>
        <p:nvSpPr>
          <p:cNvPr id="48" name="Text 46"/>
          <p:cNvSpPr/>
          <p:nvPr/>
        </p:nvSpPr>
        <p:spPr>
          <a:xfrm>
            <a:off x="4622405" y="4475381"/>
            <a:ext cx="482917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A7A7A7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20</a:t>
            </a:r>
            <a:endParaRPr lang="en-US" sz="788" dirty="0"/>
          </a:p>
        </p:txBody>
      </p:sp>
      <p:sp>
        <p:nvSpPr>
          <p:cNvPr id="49" name="Text 47"/>
          <p:cNvSpPr/>
          <p:nvPr/>
        </p:nvSpPr>
        <p:spPr>
          <a:xfrm>
            <a:off x="5051674" y="4475381"/>
            <a:ext cx="482917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A7A7A7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30</a:t>
            </a:r>
            <a:endParaRPr lang="en-US" sz="788" dirty="0"/>
          </a:p>
        </p:txBody>
      </p:sp>
      <p:sp>
        <p:nvSpPr>
          <p:cNvPr id="50" name="Text 48"/>
          <p:cNvSpPr/>
          <p:nvPr/>
        </p:nvSpPr>
        <p:spPr>
          <a:xfrm>
            <a:off x="5309235" y="4475381"/>
            <a:ext cx="482917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A7A7A7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36</a:t>
            </a:r>
            <a:endParaRPr lang="en-US" sz="788" dirty="0"/>
          </a:p>
        </p:txBody>
      </p:sp>
      <p:sp>
        <p:nvSpPr>
          <p:cNvPr id="51" name="Shape 49"/>
          <p:cNvSpPr/>
          <p:nvPr/>
        </p:nvSpPr>
        <p:spPr>
          <a:xfrm>
            <a:off x="4005327" y="3998821"/>
            <a:ext cx="90146" cy="296251"/>
          </a:xfrm>
          <a:custGeom>
            <a:avLst/>
            <a:gdLst/>
            <a:ahLst/>
            <a:cxnLst/>
            <a:rect l="l" t="t" r="r" b="b"/>
            <a:pathLst>
              <a:path w="90146" h="296251">
                <a:moveTo>
                  <a:pt x="0" y="0"/>
                </a:moveTo>
                <a:lnTo>
                  <a:pt x="90146" y="0"/>
                </a:lnTo>
                <a:lnTo>
                  <a:pt x="90146" y="296251"/>
                </a:lnTo>
                <a:lnTo>
                  <a:pt x="0" y="296251"/>
                </a:lnTo>
                <a:close/>
              </a:path>
            </a:pathLst>
          </a:custGeom>
          <a:solidFill>
            <a:srgbClr val="DF6500"/>
          </a:solidFill>
          <a:ln/>
        </p:spPr>
      </p:sp>
      <p:sp>
        <p:nvSpPr>
          <p:cNvPr id="52" name="Shape 50"/>
          <p:cNvSpPr/>
          <p:nvPr/>
        </p:nvSpPr>
        <p:spPr>
          <a:xfrm>
            <a:off x="4005327" y="3429107"/>
            <a:ext cx="180293" cy="296251"/>
          </a:xfrm>
          <a:custGeom>
            <a:avLst/>
            <a:gdLst/>
            <a:ahLst/>
            <a:cxnLst/>
            <a:rect l="l" t="t" r="r" b="b"/>
            <a:pathLst>
              <a:path w="180293" h="296251">
                <a:moveTo>
                  <a:pt x="0" y="0"/>
                </a:moveTo>
                <a:lnTo>
                  <a:pt x="180293" y="0"/>
                </a:lnTo>
                <a:lnTo>
                  <a:pt x="180293" y="296251"/>
                </a:lnTo>
                <a:lnTo>
                  <a:pt x="0" y="296251"/>
                </a:lnTo>
                <a:close/>
              </a:path>
            </a:pathLst>
          </a:custGeom>
          <a:solidFill>
            <a:srgbClr val="EF9100"/>
          </a:solidFill>
          <a:ln/>
        </p:spPr>
      </p:sp>
      <p:sp>
        <p:nvSpPr>
          <p:cNvPr id="53" name="Shape 51"/>
          <p:cNvSpPr/>
          <p:nvPr/>
        </p:nvSpPr>
        <p:spPr>
          <a:xfrm>
            <a:off x="4005327" y="2859393"/>
            <a:ext cx="285464" cy="296251"/>
          </a:xfrm>
          <a:custGeom>
            <a:avLst/>
            <a:gdLst/>
            <a:ahLst/>
            <a:cxnLst/>
            <a:rect l="l" t="t" r="r" b="b"/>
            <a:pathLst>
              <a:path w="285464" h="296251">
                <a:moveTo>
                  <a:pt x="0" y="0"/>
                </a:moveTo>
                <a:lnTo>
                  <a:pt x="285464" y="0"/>
                </a:lnTo>
                <a:lnTo>
                  <a:pt x="285464" y="296251"/>
                </a:lnTo>
                <a:lnTo>
                  <a:pt x="0" y="296251"/>
                </a:lnTo>
                <a:close/>
              </a:path>
            </a:pathLst>
          </a:custGeom>
          <a:solidFill>
            <a:srgbClr val="76B900"/>
          </a:solidFill>
          <a:ln/>
        </p:spPr>
      </p:sp>
      <p:sp>
        <p:nvSpPr>
          <p:cNvPr id="54" name="Shape 52"/>
          <p:cNvSpPr/>
          <p:nvPr/>
        </p:nvSpPr>
        <p:spPr>
          <a:xfrm>
            <a:off x="4005327" y="2289679"/>
            <a:ext cx="1373660" cy="296251"/>
          </a:xfrm>
          <a:custGeom>
            <a:avLst/>
            <a:gdLst/>
            <a:ahLst/>
            <a:cxnLst/>
            <a:rect l="l" t="t" r="r" b="b"/>
            <a:pathLst>
              <a:path w="1373660" h="296251">
                <a:moveTo>
                  <a:pt x="0" y="0"/>
                </a:moveTo>
                <a:lnTo>
                  <a:pt x="1373660" y="0"/>
                </a:lnTo>
                <a:lnTo>
                  <a:pt x="1373660" y="296251"/>
                </a:lnTo>
                <a:lnTo>
                  <a:pt x="0" y="296251"/>
                </a:lnTo>
                <a:close/>
              </a:path>
            </a:pathLst>
          </a:custGeom>
          <a:solidFill>
            <a:srgbClr val="E52020"/>
          </a:solidFill>
          <a:ln/>
        </p:spPr>
      </p:sp>
      <p:sp>
        <p:nvSpPr>
          <p:cNvPr id="55" name="Text 53"/>
          <p:cNvSpPr/>
          <p:nvPr/>
        </p:nvSpPr>
        <p:spPr>
          <a:xfrm>
            <a:off x="4131192" y="4040505"/>
            <a:ext cx="1383030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8" b="1" dirty="0">
                <a:solidFill>
                  <a:srgbClr val="FFFFFF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2.1 万kWh</a:t>
            </a:r>
            <a:endParaRPr lang="en-US" sz="788" dirty="0"/>
          </a:p>
        </p:txBody>
      </p:sp>
      <p:sp>
        <p:nvSpPr>
          <p:cNvPr id="56" name="Text 54"/>
          <p:cNvSpPr/>
          <p:nvPr/>
        </p:nvSpPr>
        <p:spPr>
          <a:xfrm>
            <a:off x="4131192" y="4133374"/>
            <a:ext cx="782955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8" b="1" dirty="0">
                <a:solidFill>
                  <a:srgbClr val="FFFFFF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约 5%</a:t>
            </a:r>
            <a:endParaRPr lang="en-US" sz="788" dirty="0"/>
          </a:p>
        </p:txBody>
      </p:sp>
      <p:sp>
        <p:nvSpPr>
          <p:cNvPr id="57" name="Text 55"/>
          <p:cNvSpPr/>
          <p:nvPr/>
        </p:nvSpPr>
        <p:spPr>
          <a:xfrm>
            <a:off x="4221338" y="3470791"/>
            <a:ext cx="1383030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8" b="1" dirty="0">
                <a:solidFill>
                  <a:srgbClr val="FFFFFF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4.2 万kWh</a:t>
            </a:r>
            <a:endParaRPr lang="en-US" sz="788" dirty="0"/>
          </a:p>
        </p:txBody>
      </p:sp>
      <p:sp>
        <p:nvSpPr>
          <p:cNvPr id="58" name="Text 56"/>
          <p:cNvSpPr/>
          <p:nvPr/>
        </p:nvSpPr>
        <p:spPr>
          <a:xfrm>
            <a:off x="4221338" y="3563660"/>
            <a:ext cx="782955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8" b="1" dirty="0">
                <a:solidFill>
                  <a:srgbClr val="FFFFFF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约 9%</a:t>
            </a:r>
            <a:endParaRPr lang="en-US" sz="788" dirty="0"/>
          </a:p>
        </p:txBody>
      </p:sp>
      <p:sp>
        <p:nvSpPr>
          <p:cNvPr id="59" name="Text 57"/>
          <p:cNvSpPr/>
          <p:nvPr/>
        </p:nvSpPr>
        <p:spPr>
          <a:xfrm>
            <a:off x="4326509" y="2901077"/>
            <a:ext cx="1533049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8" b="1" dirty="0">
                <a:solidFill>
                  <a:srgbClr val="FFFFFF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6.65 万kWh</a:t>
            </a:r>
            <a:endParaRPr lang="en-US" sz="788" dirty="0"/>
          </a:p>
        </p:txBody>
      </p:sp>
      <p:sp>
        <p:nvSpPr>
          <p:cNvPr id="60" name="Text 58"/>
          <p:cNvSpPr/>
          <p:nvPr/>
        </p:nvSpPr>
        <p:spPr>
          <a:xfrm>
            <a:off x="4326509" y="2993946"/>
            <a:ext cx="932974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8" b="1" dirty="0">
                <a:solidFill>
                  <a:srgbClr val="FFFFFF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约 15%</a:t>
            </a:r>
            <a:endParaRPr lang="en-US" sz="788" dirty="0"/>
          </a:p>
        </p:txBody>
      </p:sp>
      <p:sp>
        <p:nvSpPr>
          <p:cNvPr id="61" name="Text 59"/>
          <p:cNvSpPr/>
          <p:nvPr/>
        </p:nvSpPr>
        <p:spPr>
          <a:xfrm>
            <a:off x="5414705" y="2331363"/>
            <a:ext cx="1533049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8" b="1" dirty="0">
                <a:solidFill>
                  <a:srgbClr val="FFFFFF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32.0 万kWh</a:t>
            </a:r>
            <a:endParaRPr lang="en-US" sz="788" dirty="0"/>
          </a:p>
        </p:txBody>
      </p:sp>
      <p:sp>
        <p:nvSpPr>
          <p:cNvPr id="62" name="Text 60"/>
          <p:cNvSpPr/>
          <p:nvPr/>
        </p:nvSpPr>
        <p:spPr>
          <a:xfrm>
            <a:off x="5414705" y="2424232"/>
            <a:ext cx="932974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8" b="1" dirty="0">
                <a:solidFill>
                  <a:srgbClr val="FFFFFF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约 71%</a:t>
            </a:r>
            <a:endParaRPr lang="en-US" sz="788" dirty="0"/>
          </a:p>
        </p:txBody>
      </p:sp>
      <p:sp>
        <p:nvSpPr>
          <p:cNvPr id="63" name="Shape 61"/>
          <p:cNvSpPr/>
          <p:nvPr/>
        </p:nvSpPr>
        <p:spPr>
          <a:xfrm>
            <a:off x="6393656" y="2225334"/>
            <a:ext cx="2536031" cy="335756"/>
          </a:xfrm>
          <a:prstGeom prst="roundRect">
            <a:avLst>
              <a:gd name="adj" fmla="val 2897"/>
            </a:avLst>
          </a:prstGeom>
          <a:solidFill>
            <a:srgbClr val="1A1A1A"/>
          </a:solidFill>
          <a:ln/>
        </p:spPr>
      </p:sp>
      <p:pic>
        <p:nvPicPr>
          <p:cNvPr id="6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393656" y="2225334"/>
            <a:ext cx="2536031" cy="335756"/>
          </a:xfrm>
          <a:prstGeom prst="rect">
            <a:avLst/>
          </a:prstGeom>
        </p:spPr>
      </p:pic>
      <p:sp>
        <p:nvSpPr>
          <p:cNvPr id="65" name="Shape 62"/>
          <p:cNvSpPr/>
          <p:nvPr/>
        </p:nvSpPr>
        <p:spPr>
          <a:xfrm>
            <a:off x="6393656" y="2730866"/>
            <a:ext cx="2536031" cy="335756"/>
          </a:xfrm>
          <a:prstGeom prst="roundRect">
            <a:avLst>
              <a:gd name="adj" fmla="val 2897"/>
            </a:avLst>
          </a:prstGeom>
          <a:solidFill>
            <a:srgbClr val="1A1A1A"/>
          </a:solidFill>
          <a:ln w="6191">
            <a:solidFill>
              <a:srgbClr val="5E5E5E"/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6393656" y="3236398"/>
            <a:ext cx="2536031" cy="335756"/>
          </a:xfrm>
          <a:prstGeom prst="roundRect">
            <a:avLst>
              <a:gd name="adj" fmla="val 2897"/>
            </a:avLst>
          </a:prstGeom>
          <a:solidFill>
            <a:srgbClr val="1A1A1A"/>
          </a:solidFill>
          <a:ln w="6191">
            <a:solidFill>
              <a:srgbClr val="5E5E5E"/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6393656" y="3741930"/>
            <a:ext cx="2536031" cy="335756"/>
          </a:xfrm>
          <a:prstGeom prst="roundRect">
            <a:avLst>
              <a:gd name="adj" fmla="val 2897"/>
            </a:avLst>
          </a:prstGeom>
          <a:solidFill>
            <a:srgbClr val="1A1A1A"/>
          </a:solidFill>
          <a:ln w="6191">
            <a:solidFill>
              <a:srgbClr val="5E5E5E"/>
            </a:solidFill>
            <a:prstDash val="solid"/>
          </a:ln>
        </p:spPr>
      </p:sp>
      <p:sp>
        <p:nvSpPr>
          <p:cNvPr id="68" name="Shape 65"/>
          <p:cNvSpPr/>
          <p:nvPr/>
        </p:nvSpPr>
        <p:spPr>
          <a:xfrm>
            <a:off x="6393656" y="4249192"/>
            <a:ext cx="2536031" cy="357187"/>
          </a:xfrm>
          <a:prstGeom prst="roundRect">
            <a:avLst>
              <a:gd name="adj" fmla="val 2560"/>
            </a:avLst>
          </a:prstGeom>
          <a:ln w="12383">
            <a:solidFill>
              <a:srgbClr val="76B900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214313" y="499170"/>
            <a:ext cx="8715375" cy="31432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四线对标：单位能耗最高最低相差 0.37 kWh/件，全厂每年多支出约 403 万元</a:t>
            </a:r>
            <a:endParaRPr lang="en-US" sz="1900" dirty="0"/>
          </a:p>
        </p:txBody>
      </p:sp>
      <p:sp>
        <p:nvSpPr>
          <p:cNvPr id="70" name="Text 67"/>
          <p:cNvSpPr/>
          <p:nvPr/>
        </p:nvSpPr>
        <p:spPr>
          <a:xfrm>
            <a:off x="321469" y="1117997"/>
            <a:ext cx="1878806" cy="12858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76B900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单位能耗极差</a:t>
            </a:r>
            <a:endParaRPr lang="en-US" sz="700" dirty="0"/>
          </a:p>
        </p:txBody>
      </p:sp>
      <p:sp>
        <p:nvSpPr>
          <p:cNvPr id="71" name="Text 68"/>
          <p:cNvSpPr/>
          <p:nvPr/>
        </p:nvSpPr>
        <p:spPr>
          <a:xfrm>
            <a:off x="321469" y="1274043"/>
            <a:ext cx="1991535" cy="221456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0.37</a:t>
            </a:r>
            <a:pPr algn="l" indent="0" marL="0">
              <a:buNone/>
            </a:pPr>
            <a:r>
              <a:rPr lang="en-US" sz="800" b="1" dirty="0">
                <a:solidFill>
                  <a:srgbClr val="A7A7A7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 kWh/件</a:t>
            </a:r>
            <a:endParaRPr lang="en-US" sz="1400" dirty="0"/>
          </a:p>
        </p:txBody>
      </p:sp>
      <p:sp>
        <p:nvSpPr>
          <p:cNvPr id="72" name="Text 69"/>
          <p:cNvSpPr/>
          <p:nvPr/>
        </p:nvSpPr>
        <p:spPr>
          <a:xfrm>
            <a:off x="321469" y="1525414"/>
            <a:ext cx="1878806" cy="12858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A7A7A7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最高 0.85（1 号线）· 最低 0.48（3 号线）</a:t>
            </a:r>
            <a:endParaRPr lang="en-US" sz="700" dirty="0"/>
          </a:p>
        </p:txBody>
      </p:sp>
      <p:sp>
        <p:nvSpPr>
          <p:cNvPr id="73" name="Text 70"/>
          <p:cNvSpPr/>
          <p:nvPr/>
        </p:nvSpPr>
        <p:spPr>
          <a:xfrm>
            <a:off x="2528887" y="1117997"/>
            <a:ext cx="1878806" cy="12858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76B900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全厂综合单位能耗</a:t>
            </a:r>
            <a:endParaRPr lang="en-US" sz="700" dirty="0"/>
          </a:p>
        </p:txBody>
      </p:sp>
      <p:sp>
        <p:nvSpPr>
          <p:cNvPr id="74" name="Text 71"/>
          <p:cNvSpPr/>
          <p:nvPr/>
        </p:nvSpPr>
        <p:spPr>
          <a:xfrm>
            <a:off x="2528887" y="1274043"/>
            <a:ext cx="1991535" cy="221456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0.60</a:t>
            </a:r>
            <a:pPr algn="l" indent="0" marL="0">
              <a:buNone/>
            </a:pPr>
            <a:r>
              <a:rPr lang="en-US" sz="800" b="1" dirty="0">
                <a:solidFill>
                  <a:srgbClr val="A7A7A7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 kWh/件</a:t>
            </a:r>
            <a:endParaRPr lang="en-US" sz="1400" dirty="0"/>
          </a:p>
        </p:txBody>
      </p:sp>
      <p:sp>
        <p:nvSpPr>
          <p:cNvPr id="75" name="Text 72"/>
          <p:cNvSpPr/>
          <p:nvPr/>
        </p:nvSpPr>
        <p:spPr>
          <a:xfrm>
            <a:off x="2528887" y="1525414"/>
            <a:ext cx="1878806" cy="12858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A7A7A7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合计 305 万件 / 182 万kWh · 标杆 0.45</a:t>
            </a:r>
            <a:endParaRPr lang="en-US" sz="700" dirty="0"/>
          </a:p>
        </p:txBody>
      </p:sp>
      <p:sp>
        <p:nvSpPr>
          <p:cNvPr id="76" name="Text 73"/>
          <p:cNvSpPr/>
          <p:nvPr/>
        </p:nvSpPr>
        <p:spPr>
          <a:xfrm>
            <a:off x="4736306" y="1117997"/>
            <a:ext cx="1878806" cy="12858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76B900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月度多耗电量</a:t>
            </a:r>
            <a:endParaRPr lang="en-US" sz="700" dirty="0"/>
          </a:p>
        </p:txBody>
      </p:sp>
      <p:sp>
        <p:nvSpPr>
          <p:cNvPr id="77" name="Text 74"/>
          <p:cNvSpPr/>
          <p:nvPr/>
        </p:nvSpPr>
        <p:spPr>
          <a:xfrm>
            <a:off x="4736306" y="1274043"/>
            <a:ext cx="1991535" cy="221456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44.75</a:t>
            </a:r>
            <a:pPr algn="l" indent="0" marL="0">
              <a:buNone/>
            </a:pPr>
            <a:r>
              <a:rPr lang="en-US" sz="800" b="1" dirty="0">
                <a:solidFill>
                  <a:srgbClr val="A7A7A7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 万kWh</a:t>
            </a:r>
            <a:endParaRPr lang="en-US" sz="1400" dirty="0"/>
          </a:p>
        </p:txBody>
      </p:sp>
      <p:sp>
        <p:nvSpPr>
          <p:cNvPr id="78" name="Text 75"/>
          <p:cNvSpPr/>
          <p:nvPr/>
        </p:nvSpPr>
        <p:spPr>
          <a:xfrm>
            <a:off x="4736306" y="1525414"/>
            <a:ext cx="1878806" cy="12858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A7A7A7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达标杆应为 137.25 万kWh（测算）</a:t>
            </a:r>
            <a:endParaRPr lang="en-US" sz="700" dirty="0"/>
          </a:p>
        </p:txBody>
      </p:sp>
      <p:sp>
        <p:nvSpPr>
          <p:cNvPr id="79" name="Text 76"/>
          <p:cNvSpPr/>
          <p:nvPr/>
        </p:nvSpPr>
        <p:spPr>
          <a:xfrm>
            <a:off x="6950869" y="1125141"/>
            <a:ext cx="1864519" cy="12858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76B900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对标损失（测算）</a:t>
            </a:r>
            <a:endParaRPr lang="en-US" sz="700" dirty="0"/>
          </a:p>
        </p:txBody>
      </p:sp>
      <p:sp>
        <p:nvSpPr>
          <p:cNvPr id="80" name="Text 77"/>
          <p:cNvSpPr/>
          <p:nvPr/>
        </p:nvSpPr>
        <p:spPr>
          <a:xfrm>
            <a:off x="6950869" y="1281187"/>
            <a:ext cx="1976390" cy="221456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≈403</a:t>
            </a:r>
            <a:pPr algn="l" indent="0" marL="0">
              <a:buNone/>
            </a:pPr>
            <a:r>
              <a:rPr lang="en-US" sz="800" b="1" dirty="0">
                <a:solidFill>
                  <a:srgbClr val="A7A7A7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 万元/年</a:t>
            </a:r>
            <a:endParaRPr lang="en-US" sz="1400" dirty="0"/>
          </a:p>
        </p:txBody>
      </p:sp>
      <p:sp>
        <p:nvSpPr>
          <p:cNvPr id="81" name="Text 78"/>
          <p:cNvSpPr/>
          <p:nvPr/>
        </p:nvSpPr>
        <p:spPr>
          <a:xfrm>
            <a:off x="6950869" y="1532558"/>
            <a:ext cx="1864519" cy="12858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A7A7A7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≈33.6 万元/月 · 电价 0.75 元/kWh</a:t>
            </a:r>
            <a:endParaRPr lang="en-US" sz="700" dirty="0"/>
          </a:p>
        </p:txBody>
      </p:sp>
      <p:sp>
        <p:nvSpPr>
          <p:cNvPr id="82" name="Text 79"/>
          <p:cNvSpPr/>
          <p:nvPr/>
        </p:nvSpPr>
        <p:spPr>
          <a:xfrm>
            <a:off x="214313" y="1875234"/>
            <a:ext cx="3369707" cy="135731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四线单位能耗对标</a:t>
            </a:r>
            <a:pPr algn="l" indent="0" marL="0">
              <a:buNone/>
            </a:pPr>
            <a:r>
              <a:rPr lang="en-US" sz="700" dirty="0">
                <a:solidFill>
                  <a:srgbClr val="A7A7A7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　kWh/件 · 虚线为行业标杆 0.45</a:t>
            </a:r>
            <a:endParaRPr lang="en-US" sz="800" dirty="0"/>
          </a:p>
        </p:txBody>
      </p:sp>
      <p:sp>
        <p:nvSpPr>
          <p:cNvPr id="83" name="Text 80"/>
          <p:cNvSpPr/>
          <p:nvPr/>
        </p:nvSpPr>
        <p:spPr>
          <a:xfrm>
            <a:off x="3621881" y="1875234"/>
            <a:ext cx="2695766" cy="135731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差距贡献分解</a:t>
            </a:r>
            <a:pPr algn="l" indent="0" marL="0">
              <a:buNone/>
            </a:pPr>
            <a:r>
              <a:rPr lang="en-US" sz="700" dirty="0">
                <a:solidFill>
                  <a:srgbClr val="A7A7A7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　各线与标杆的月度差距</a:t>
            </a:r>
            <a:endParaRPr lang="en-US" sz="800" dirty="0"/>
          </a:p>
        </p:txBody>
      </p:sp>
      <p:sp>
        <p:nvSpPr>
          <p:cNvPr id="84" name="Text 81"/>
          <p:cNvSpPr/>
          <p:nvPr/>
        </p:nvSpPr>
        <p:spPr>
          <a:xfrm>
            <a:off x="6393656" y="1875234"/>
            <a:ext cx="2688193" cy="135731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四线对比明细</a:t>
            </a:r>
            <a:pPr algn="l" indent="0" marL="0">
              <a:buNone/>
            </a:pPr>
            <a:r>
              <a:rPr lang="en-US" sz="700" dirty="0">
                <a:solidFill>
                  <a:srgbClr val="A7A7A7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　单月实测 · 空载均值 7.75 kWh/h</a:t>
            </a:r>
            <a:endParaRPr lang="en-US" sz="800" dirty="0"/>
          </a:p>
        </p:txBody>
      </p:sp>
      <p:sp>
        <p:nvSpPr>
          <p:cNvPr id="85" name="Text 82"/>
          <p:cNvSpPr/>
          <p:nvPr/>
        </p:nvSpPr>
        <p:spPr>
          <a:xfrm>
            <a:off x="6393656" y="2039317"/>
            <a:ext cx="2536031" cy="12858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A7A7A7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1 号线产量 80 万件低于 2 号线 95 万件，规模无法解释差距</a:t>
            </a:r>
            <a:endParaRPr lang="en-US" sz="700" dirty="0"/>
          </a:p>
        </p:txBody>
      </p:sp>
      <p:sp>
        <p:nvSpPr>
          <p:cNvPr id="86" name="Text 83"/>
          <p:cNvSpPr/>
          <p:nvPr/>
        </p:nvSpPr>
        <p:spPr>
          <a:xfrm>
            <a:off x="6479381" y="2268587"/>
            <a:ext cx="2514029" cy="12858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1 号线</a:t>
            </a:r>
            <a:pPr algn="l" indent="0" marL="0">
              <a:buNone/>
            </a:pPr>
            <a:r>
              <a:rPr lang="en-US" sz="800" b="1" dirty="0">
                <a:solidFill>
                  <a:srgbClr val="E52020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　0.85 kWh/件</a:t>
            </a:r>
            <a:endParaRPr lang="en-US" sz="800" dirty="0"/>
          </a:p>
        </p:txBody>
      </p:sp>
      <p:sp>
        <p:nvSpPr>
          <p:cNvPr id="87" name="Text 84"/>
          <p:cNvSpPr/>
          <p:nvPr/>
        </p:nvSpPr>
        <p:spPr>
          <a:xfrm>
            <a:off x="6479381" y="2396784"/>
            <a:ext cx="2371725" cy="121444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A7A7A7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产量 80 万件 · 用电 68 万kWh · 空载 8 kWh/h</a:t>
            </a:r>
            <a:endParaRPr lang="en-US" sz="700" dirty="0"/>
          </a:p>
        </p:txBody>
      </p:sp>
      <p:sp>
        <p:nvSpPr>
          <p:cNvPr id="88" name="Text 85"/>
          <p:cNvSpPr/>
          <p:nvPr/>
        </p:nvSpPr>
        <p:spPr>
          <a:xfrm>
            <a:off x="6472238" y="2774119"/>
            <a:ext cx="2521601" cy="12858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2 号线</a:t>
            </a:r>
            <a:pPr algn="l" indent="0" marL="0">
              <a:buNone/>
            </a:pPr>
            <a:r>
              <a:rPr lang="en-US" sz="800" b="1" dirty="0">
                <a:solidFill>
                  <a:srgbClr val="76B900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　0.52 kWh/件</a:t>
            </a:r>
            <a:endParaRPr lang="en-US" sz="800" dirty="0"/>
          </a:p>
        </p:txBody>
      </p:sp>
      <p:sp>
        <p:nvSpPr>
          <p:cNvPr id="89" name="Text 86"/>
          <p:cNvSpPr/>
          <p:nvPr/>
        </p:nvSpPr>
        <p:spPr>
          <a:xfrm>
            <a:off x="6472238" y="2902316"/>
            <a:ext cx="2378869" cy="121444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A7A7A7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产量 95 万件 · 用电 49 万kWh · 空载 6 kWh/h</a:t>
            </a:r>
            <a:endParaRPr lang="en-US" sz="700" dirty="0"/>
          </a:p>
        </p:txBody>
      </p:sp>
      <p:sp>
        <p:nvSpPr>
          <p:cNvPr id="90" name="Text 87"/>
          <p:cNvSpPr/>
          <p:nvPr/>
        </p:nvSpPr>
        <p:spPr>
          <a:xfrm>
            <a:off x="6472238" y="3279651"/>
            <a:ext cx="2521601" cy="12858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3 号线</a:t>
            </a:r>
            <a:pPr algn="l" indent="0" marL="0">
              <a:buNone/>
            </a:pPr>
            <a:r>
              <a:rPr lang="en-US" sz="800" b="1" dirty="0">
                <a:solidFill>
                  <a:srgbClr val="76B900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　0.48 kWh/件</a:t>
            </a:r>
            <a:endParaRPr lang="en-US" sz="800" dirty="0"/>
          </a:p>
        </p:txBody>
      </p:sp>
      <p:sp>
        <p:nvSpPr>
          <p:cNvPr id="91" name="Text 88"/>
          <p:cNvSpPr/>
          <p:nvPr/>
        </p:nvSpPr>
        <p:spPr>
          <a:xfrm>
            <a:off x="6472238" y="3407848"/>
            <a:ext cx="2378869" cy="121444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A7A7A7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产量 70 万件 · 用电 34 万kWh · 空载 12 kWh/h</a:t>
            </a:r>
            <a:endParaRPr lang="en-US" sz="700" dirty="0"/>
          </a:p>
        </p:txBody>
      </p:sp>
      <p:sp>
        <p:nvSpPr>
          <p:cNvPr id="92" name="Text 89"/>
          <p:cNvSpPr/>
          <p:nvPr/>
        </p:nvSpPr>
        <p:spPr>
          <a:xfrm>
            <a:off x="6472238" y="3785183"/>
            <a:ext cx="2521601" cy="12858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4 号线</a:t>
            </a:r>
            <a:pPr algn="l" indent="0" marL="0">
              <a:buNone/>
            </a:pPr>
            <a:r>
              <a:rPr lang="en-US" sz="800" b="1" dirty="0">
                <a:solidFill>
                  <a:srgbClr val="76B900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　0.52 kWh/件</a:t>
            </a:r>
            <a:endParaRPr lang="en-US" sz="800" dirty="0"/>
          </a:p>
        </p:txBody>
      </p:sp>
      <p:sp>
        <p:nvSpPr>
          <p:cNvPr id="93" name="Text 90"/>
          <p:cNvSpPr/>
          <p:nvPr/>
        </p:nvSpPr>
        <p:spPr>
          <a:xfrm>
            <a:off x="6472238" y="3913380"/>
            <a:ext cx="2378869" cy="121444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A7A7A7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产量 60 万件 · 用电 31 万kWh · 空载 5 kWh/h</a:t>
            </a:r>
            <a:endParaRPr lang="en-US" sz="700" dirty="0"/>
          </a:p>
        </p:txBody>
      </p:sp>
      <p:sp>
        <p:nvSpPr>
          <p:cNvPr id="94" name="Text 91"/>
          <p:cNvSpPr/>
          <p:nvPr/>
        </p:nvSpPr>
        <p:spPr>
          <a:xfrm>
            <a:off x="6479381" y="4299198"/>
            <a:ext cx="2364581" cy="2571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76B900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落点　</a:t>
            </a:r>
            <a:pPr algn="l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1 号线单线贡献约 71% 差距，是全厂最大节能洼地，作为下一步深挖对象。</a:t>
            </a:r>
            <a:endParaRPr lang="en-US" sz="700" dirty="0"/>
          </a:p>
        </p:txBody>
      </p:sp>
      <p:sp>
        <p:nvSpPr>
          <p:cNvPr id="95" name="Text 92"/>
          <p:cNvSpPr/>
          <p:nvPr/>
        </p:nvSpPr>
        <p:spPr>
          <a:xfrm>
            <a:off x="214313" y="4664869"/>
            <a:ext cx="8715375" cy="1500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98989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数据来源：一个月四条产线能耗实测数据；全厂合计、差距分解与对标损失为主控派生测算（电价 0.75 元/kWh，行业标杆 0.45 kWh/件 为用户给定对标值）。</a:t>
            </a:r>
            <a:endParaRPr lang="en-US" sz="700" dirty="0"/>
          </a:p>
        </p:txBody>
      </p:sp>
      <p:sp>
        <p:nvSpPr>
          <p:cNvPr id="65535" name="wm:hwcld:2026-09-22T19:05:55:0e1af824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ln/>
        </p:spPr>
      </p:sp>
      <p:sp>
        <p:nvSpPr>
          <p:cNvPr id="3" name="Shape 1"/>
          <p:cNvSpPr/>
          <p:nvPr/>
        </p:nvSpPr>
        <p:spPr>
          <a:xfrm>
            <a:off x="214313" y="1210866"/>
            <a:ext cx="428625" cy="14288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4" name="Shape 2"/>
          <p:cNvSpPr/>
          <p:nvPr/>
        </p:nvSpPr>
        <p:spPr>
          <a:xfrm>
            <a:off x="214313" y="1340458"/>
            <a:ext cx="8715375" cy="1114425"/>
          </a:xfrm>
          <a:prstGeom prst="roundRect">
            <a:avLst>
              <a:gd name="adj" fmla="val 1052"/>
            </a:avLst>
          </a:prstGeom>
          <a:solidFill>
            <a:srgbClr val="1A1A1A"/>
          </a:solidFill>
          <a:ln w="6191">
            <a:solidFill>
              <a:srgbClr val="5E5E5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5477" y="3312914"/>
            <a:ext cx="3026410" cy="0"/>
          </a:xfrm>
          <a:prstGeom prst="line">
            <a:avLst/>
          </a:prstGeom>
          <a:noFill/>
          <a:ln w="6350">
            <a:solidFill>
              <a:srgbClr val="5E5E5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5477" y="2977158"/>
            <a:ext cx="3026410" cy="0"/>
          </a:xfrm>
          <a:prstGeom prst="line">
            <a:avLst/>
          </a:prstGeom>
          <a:noFill/>
          <a:ln w="6350">
            <a:solidFill>
              <a:srgbClr val="5E5E5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5477" y="2634258"/>
            <a:ext cx="3026410" cy="0"/>
          </a:xfrm>
          <a:prstGeom prst="line">
            <a:avLst/>
          </a:prstGeom>
          <a:noFill/>
          <a:ln w="6350">
            <a:solidFill>
              <a:srgbClr val="5E5E5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5477" y="2298502"/>
            <a:ext cx="3026410" cy="0"/>
          </a:xfrm>
          <a:prstGeom prst="line">
            <a:avLst/>
          </a:prstGeom>
          <a:noFill/>
          <a:ln w="6350">
            <a:solidFill>
              <a:srgbClr val="5E5E5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5477" y="1962745"/>
            <a:ext cx="3026410" cy="0"/>
          </a:xfrm>
          <a:prstGeom prst="line">
            <a:avLst/>
          </a:prstGeom>
          <a:noFill/>
          <a:ln w="6350">
            <a:solidFill>
              <a:srgbClr val="5E5E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5477" y="1742003"/>
            <a:ext cx="1683068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8" dirty="0">
                <a:solidFill>
                  <a:srgbClr val="A7A7A7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单位能耗 kWh/件</a:t>
            </a:r>
            <a:endParaRPr lang="en-US" sz="788" dirty="0"/>
          </a:p>
        </p:txBody>
      </p:sp>
      <p:sp>
        <p:nvSpPr>
          <p:cNvPr id="11" name="Shape 9"/>
          <p:cNvSpPr/>
          <p:nvPr/>
        </p:nvSpPr>
        <p:spPr>
          <a:xfrm>
            <a:off x="645477" y="3312914"/>
            <a:ext cx="3026410" cy="0"/>
          </a:xfrm>
          <a:prstGeom prst="line">
            <a:avLst/>
          </a:prstGeom>
          <a:noFill/>
          <a:ln w="6350">
            <a:solidFill>
              <a:srgbClr val="5E5E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5428" y="3249335"/>
            <a:ext cx="332899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A7A7A7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0</a:t>
            </a:r>
            <a:endParaRPr lang="en-US" sz="788" dirty="0"/>
          </a:p>
        </p:txBody>
      </p:sp>
      <p:sp>
        <p:nvSpPr>
          <p:cNvPr id="13" name="Text 11"/>
          <p:cNvSpPr/>
          <p:nvPr/>
        </p:nvSpPr>
        <p:spPr>
          <a:xfrm>
            <a:off x="-194628" y="2911793"/>
            <a:ext cx="782955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A7A7A7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0.25</a:t>
            </a:r>
            <a:endParaRPr lang="en-US" sz="788" dirty="0"/>
          </a:p>
        </p:txBody>
      </p:sp>
      <p:sp>
        <p:nvSpPr>
          <p:cNvPr id="14" name="Text 12"/>
          <p:cNvSpPr/>
          <p:nvPr/>
        </p:nvSpPr>
        <p:spPr>
          <a:xfrm>
            <a:off x="-44609" y="2574250"/>
            <a:ext cx="632936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A7A7A7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0.5</a:t>
            </a:r>
            <a:endParaRPr lang="en-US" sz="788" dirty="0"/>
          </a:p>
        </p:txBody>
      </p:sp>
      <p:sp>
        <p:nvSpPr>
          <p:cNvPr id="15" name="Text 13"/>
          <p:cNvSpPr/>
          <p:nvPr/>
        </p:nvSpPr>
        <p:spPr>
          <a:xfrm>
            <a:off x="-194628" y="2236708"/>
            <a:ext cx="782955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A7A7A7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0.75</a:t>
            </a:r>
            <a:endParaRPr lang="en-US" sz="788" dirty="0"/>
          </a:p>
        </p:txBody>
      </p:sp>
      <p:sp>
        <p:nvSpPr>
          <p:cNvPr id="16" name="Text 14"/>
          <p:cNvSpPr/>
          <p:nvPr/>
        </p:nvSpPr>
        <p:spPr>
          <a:xfrm>
            <a:off x="255428" y="1899166"/>
            <a:ext cx="332899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A7A7A7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1</a:t>
            </a:r>
            <a:endParaRPr lang="en-US" sz="788" dirty="0"/>
          </a:p>
        </p:txBody>
      </p:sp>
      <p:sp>
        <p:nvSpPr>
          <p:cNvPr id="17" name="Text 15"/>
          <p:cNvSpPr/>
          <p:nvPr/>
        </p:nvSpPr>
        <p:spPr>
          <a:xfrm>
            <a:off x="632300" y="3370779"/>
            <a:ext cx="782955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b="1" dirty="0">
                <a:solidFill>
                  <a:srgbClr val="FFFFFF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1 号线</a:t>
            </a:r>
            <a:endParaRPr lang="en-US" sz="788" dirty="0"/>
          </a:p>
        </p:txBody>
      </p:sp>
      <p:sp>
        <p:nvSpPr>
          <p:cNvPr id="18" name="Text 16"/>
          <p:cNvSpPr/>
          <p:nvPr/>
        </p:nvSpPr>
        <p:spPr>
          <a:xfrm>
            <a:off x="1388904" y="3370779"/>
            <a:ext cx="782955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b="1" dirty="0">
                <a:solidFill>
                  <a:srgbClr val="FFFFFF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2 号线</a:t>
            </a:r>
            <a:endParaRPr lang="en-US" sz="788" dirty="0"/>
          </a:p>
        </p:txBody>
      </p:sp>
      <p:sp>
        <p:nvSpPr>
          <p:cNvPr id="19" name="Text 17"/>
          <p:cNvSpPr/>
          <p:nvPr/>
        </p:nvSpPr>
        <p:spPr>
          <a:xfrm>
            <a:off x="2145506" y="3370779"/>
            <a:ext cx="782955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b="1" dirty="0">
                <a:solidFill>
                  <a:srgbClr val="FFFFFF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3 号线</a:t>
            </a:r>
            <a:endParaRPr lang="en-US" sz="788" dirty="0"/>
          </a:p>
        </p:txBody>
      </p:sp>
      <p:sp>
        <p:nvSpPr>
          <p:cNvPr id="20" name="Text 18"/>
          <p:cNvSpPr/>
          <p:nvPr/>
        </p:nvSpPr>
        <p:spPr>
          <a:xfrm>
            <a:off x="2902108" y="3370779"/>
            <a:ext cx="782955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b="1" dirty="0">
                <a:solidFill>
                  <a:srgbClr val="FFFFFF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4 号线</a:t>
            </a:r>
            <a:endParaRPr lang="en-US" sz="788" dirty="0"/>
          </a:p>
        </p:txBody>
      </p:sp>
      <p:sp>
        <p:nvSpPr>
          <p:cNvPr id="21" name="Shape 19"/>
          <p:cNvSpPr/>
          <p:nvPr/>
        </p:nvSpPr>
        <p:spPr>
          <a:xfrm>
            <a:off x="842194" y="2161699"/>
            <a:ext cx="363169" cy="1147644"/>
          </a:xfrm>
          <a:custGeom>
            <a:avLst/>
            <a:gdLst/>
            <a:ahLst/>
            <a:cxnLst/>
            <a:rect l="l" t="t" r="r" b="b"/>
            <a:pathLst>
              <a:path w="363169" h="1147644">
                <a:moveTo>
                  <a:pt x="14288" y="0"/>
                </a:moveTo>
                <a:lnTo>
                  <a:pt x="348881" y="0"/>
                </a:lnTo>
                <a:lnTo>
                  <a:pt x="349583" y="17"/>
                </a:lnTo>
                <a:lnTo>
                  <a:pt x="350282" y="69"/>
                </a:lnTo>
                <a:lnTo>
                  <a:pt x="350978" y="155"/>
                </a:lnTo>
                <a:lnTo>
                  <a:pt x="351669" y="275"/>
                </a:lnTo>
                <a:lnTo>
                  <a:pt x="352353" y="428"/>
                </a:lnTo>
                <a:lnTo>
                  <a:pt x="353029" y="615"/>
                </a:lnTo>
                <a:lnTo>
                  <a:pt x="353695" y="835"/>
                </a:lnTo>
                <a:lnTo>
                  <a:pt x="354349" y="1088"/>
                </a:lnTo>
                <a:lnTo>
                  <a:pt x="354990" y="1372"/>
                </a:lnTo>
                <a:lnTo>
                  <a:pt x="355617" y="1687"/>
                </a:lnTo>
                <a:lnTo>
                  <a:pt x="356227" y="2033"/>
                </a:lnTo>
                <a:lnTo>
                  <a:pt x="356819" y="2408"/>
                </a:lnTo>
                <a:lnTo>
                  <a:pt x="357393" y="2812"/>
                </a:lnTo>
                <a:lnTo>
                  <a:pt x="357945" y="3243"/>
                </a:lnTo>
                <a:lnTo>
                  <a:pt x="358476" y="3701"/>
                </a:lnTo>
                <a:lnTo>
                  <a:pt x="358984" y="4185"/>
                </a:lnTo>
                <a:lnTo>
                  <a:pt x="359468" y="4693"/>
                </a:lnTo>
                <a:lnTo>
                  <a:pt x="359926" y="5224"/>
                </a:lnTo>
                <a:lnTo>
                  <a:pt x="360357" y="5776"/>
                </a:lnTo>
                <a:lnTo>
                  <a:pt x="360761" y="6350"/>
                </a:lnTo>
                <a:lnTo>
                  <a:pt x="361136" y="6942"/>
                </a:lnTo>
                <a:lnTo>
                  <a:pt x="361482" y="7552"/>
                </a:lnTo>
                <a:lnTo>
                  <a:pt x="361797" y="8179"/>
                </a:lnTo>
                <a:lnTo>
                  <a:pt x="362081" y="8820"/>
                </a:lnTo>
                <a:lnTo>
                  <a:pt x="362334" y="9474"/>
                </a:lnTo>
                <a:lnTo>
                  <a:pt x="362554" y="10140"/>
                </a:lnTo>
                <a:lnTo>
                  <a:pt x="362741" y="10816"/>
                </a:lnTo>
                <a:lnTo>
                  <a:pt x="362894" y="11500"/>
                </a:lnTo>
                <a:lnTo>
                  <a:pt x="363014" y="12191"/>
                </a:lnTo>
                <a:lnTo>
                  <a:pt x="363100" y="12887"/>
                </a:lnTo>
                <a:lnTo>
                  <a:pt x="363152" y="13586"/>
                </a:lnTo>
                <a:lnTo>
                  <a:pt x="363169" y="14288"/>
                </a:lnTo>
                <a:lnTo>
                  <a:pt x="363169" y="1147644"/>
                </a:lnTo>
                <a:lnTo>
                  <a:pt x="0" y="1147644"/>
                </a:lnTo>
                <a:lnTo>
                  <a:pt x="0" y="14288"/>
                </a:lnTo>
                <a:lnTo>
                  <a:pt x="17" y="13586"/>
                </a:lnTo>
                <a:lnTo>
                  <a:pt x="69" y="12887"/>
                </a:lnTo>
                <a:lnTo>
                  <a:pt x="155" y="12191"/>
                </a:lnTo>
                <a:lnTo>
                  <a:pt x="275" y="11500"/>
                </a:lnTo>
                <a:lnTo>
                  <a:pt x="428" y="10816"/>
                </a:lnTo>
                <a:lnTo>
                  <a:pt x="615" y="10140"/>
                </a:lnTo>
                <a:lnTo>
                  <a:pt x="835" y="9474"/>
                </a:lnTo>
                <a:lnTo>
                  <a:pt x="1088" y="8820"/>
                </a:lnTo>
                <a:lnTo>
                  <a:pt x="1372" y="8179"/>
                </a:lnTo>
                <a:lnTo>
                  <a:pt x="1687" y="7552"/>
                </a:lnTo>
                <a:lnTo>
                  <a:pt x="2033" y="6942"/>
                </a:lnTo>
                <a:lnTo>
                  <a:pt x="2408" y="6350"/>
                </a:lnTo>
                <a:lnTo>
                  <a:pt x="2812" y="5776"/>
                </a:lnTo>
                <a:lnTo>
                  <a:pt x="3243" y="5224"/>
                </a:lnTo>
                <a:lnTo>
                  <a:pt x="3701" y="4693"/>
                </a:lnTo>
                <a:lnTo>
                  <a:pt x="4185" y="4185"/>
                </a:lnTo>
                <a:lnTo>
                  <a:pt x="4693" y="3701"/>
                </a:lnTo>
                <a:lnTo>
                  <a:pt x="5224" y="3243"/>
                </a:lnTo>
                <a:lnTo>
                  <a:pt x="5776" y="2812"/>
                </a:lnTo>
                <a:lnTo>
                  <a:pt x="6350" y="2408"/>
                </a:lnTo>
                <a:lnTo>
                  <a:pt x="6942" y="2033"/>
                </a:lnTo>
                <a:lnTo>
                  <a:pt x="7552" y="1687"/>
                </a:lnTo>
                <a:lnTo>
                  <a:pt x="8179" y="1372"/>
                </a:lnTo>
                <a:lnTo>
                  <a:pt x="8820" y="1088"/>
                </a:lnTo>
                <a:lnTo>
                  <a:pt x="9474" y="835"/>
                </a:lnTo>
                <a:lnTo>
                  <a:pt x="10140" y="615"/>
                </a:lnTo>
                <a:lnTo>
                  <a:pt x="10816" y="428"/>
                </a:lnTo>
                <a:lnTo>
                  <a:pt x="11500" y="275"/>
                </a:lnTo>
                <a:lnTo>
                  <a:pt x="12191" y="155"/>
                </a:lnTo>
                <a:lnTo>
                  <a:pt x="12887" y="69"/>
                </a:lnTo>
                <a:lnTo>
                  <a:pt x="13586" y="17"/>
                </a:lnTo>
                <a:lnTo>
                  <a:pt x="14288" y="0"/>
                </a:lnTo>
              </a:path>
            </a:pathLst>
          </a:custGeom>
          <a:solidFill>
            <a:srgbClr val="E52020"/>
          </a:solidFill>
          <a:ln/>
        </p:spPr>
      </p:sp>
      <p:sp>
        <p:nvSpPr>
          <p:cNvPr id="22" name="Shape 20"/>
          <p:cNvSpPr/>
          <p:nvPr/>
        </p:nvSpPr>
        <p:spPr>
          <a:xfrm>
            <a:off x="1598796" y="2607254"/>
            <a:ext cx="363169" cy="702088"/>
          </a:xfrm>
          <a:custGeom>
            <a:avLst/>
            <a:gdLst/>
            <a:ahLst/>
            <a:cxnLst/>
            <a:rect l="l" t="t" r="r" b="b"/>
            <a:pathLst>
              <a:path w="363169" h="702088">
                <a:moveTo>
                  <a:pt x="14288" y="0"/>
                </a:moveTo>
                <a:lnTo>
                  <a:pt x="348881" y="0"/>
                </a:lnTo>
                <a:lnTo>
                  <a:pt x="349583" y="17"/>
                </a:lnTo>
                <a:lnTo>
                  <a:pt x="350282" y="69"/>
                </a:lnTo>
                <a:lnTo>
                  <a:pt x="350978" y="155"/>
                </a:lnTo>
                <a:lnTo>
                  <a:pt x="351669" y="275"/>
                </a:lnTo>
                <a:lnTo>
                  <a:pt x="352353" y="428"/>
                </a:lnTo>
                <a:lnTo>
                  <a:pt x="353029" y="615"/>
                </a:lnTo>
                <a:lnTo>
                  <a:pt x="353695" y="835"/>
                </a:lnTo>
                <a:lnTo>
                  <a:pt x="354349" y="1088"/>
                </a:lnTo>
                <a:lnTo>
                  <a:pt x="354990" y="1372"/>
                </a:lnTo>
                <a:lnTo>
                  <a:pt x="355617" y="1687"/>
                </a:lnTo>
                <a:lnTo>
                  <a:pt x="356227" y="2033"/>
                </a:lnTo>
                <a:lnTo>
                  <a:pt x="356819" y="2408"/>
                </a:lnTo>
                <a:lnTo>
                  <a:pt x="357393" y="2812"/>
                </a:lnTo>
                <a:lnTo>
                  <a:pt x="357945" y="3243"/>
                </a:lnTo>
                <a:lnTo>
                  <a:pt x="358476" y="3701"/>
                </a:lnTo>
                <a:lnTo>
                  <a:pt x="358984" y="4185"/>
                </a:lnTo>
                <a:lnTo>
                  <a:pt x="359468" y="4693"/>
                </a:lnTo>
                <a:lnTo>
                  <a:pt x="359926" y="5224"/>
                </a:lnTo>
                <a:lnTo>
                  <a:pt x="360357" y="5776"/>
                </a:lnTo>
                <a:lnTo>
                  <a:pt x="360761" y="6350"/>
                </a:lnTo>
                <a:lnTo>
                  <a:pt x="361136" y="6942"/>
                </a:lnTo>
                <a:lnTo>
                  <a:pt x="361482" y="7552"/>
                </a:lnTo>
                <a:lnTo>
                  <a:pt x="361797" y="8179"/>
                </a:lnTo>
                <a:lnTo>
                  <a:pt x="362081" y="8820"/>
                </a:lnTo>
                <a:lnTo>
                  <a:pt x="362334" y="9474"/>
                </a:lnTo>
                <a:lnTo>
                  <a:pt x="362554" y="10140"/>
                </a:lnTo>
                <a:lnTo>
                  <a:pt x="362741" y="10816"/>
                </a:lnTo>
                <a:lnTo>
                  <a:pt x="362894" y="11500"/>
                </a:lnTo>
                <a:lnTo>
                  <a:pt x="363014" y="12191"/>
                </a:lnTo>
                <a:lnTo>
                  <a:pt x="363100" y="12887"/>
                </a:lnTo>
                <a:lnTo>
                  <a:pt x="363152" y="13586"/>
                </a:lnTo>
                <a:lnTo>
                  <a:pt x="363169" y="14288"/>
                </a:lnTo>
                <a:lnTo>
                  <a:pt x="363169" y="702088"/>
                </a:lnTo>
                <a:lnTo>
                  <a:pt x="0" y="702088"/>
                </a:lnTo>
                <a:lnTo>
                  <a:pt x="0" y="14288"/>
                </a:lnTo>
                <a:lnTo>
                  <a:pt x="17" y="13586"/>
                </a:lnTo>
                <a:lnTo>
                  <a:pt x="69" y="12887"/>
                </a:lnTo>
                <a:lnTo>
                  <a:pt x="155" y="12191"/>
                </a:lnTo>
                <a:lnTo>
                  <a:pt x="275" y="11500"/>
                </a:lnTo>
                <a:lnTo>
                  <a:pt x="428" y="10816"/>
                </a:lnTo>
                <a:lnTo>
                  <a:pt x="615" y="10140"/>
                </a:lnTo>
                <a:lnTo>
                  <a:pt x="835" y="9474"/>
                </a:lnTo>
                <a:lnTo>
                  <a:pt x="1088" y="8820"/>
                </a:lnTo>
                <a:lnTo>
                  <a:pt x="1372" y="8179"/>
                </a:lnTo>
                <a:lnTo>
                  <a:pt x="1687" y="7552"/>
                </a:lnTo>
                <a:lnTo>
                  <a:pt x="2033" y="6942"/>
                </a:lnTo>
                <a:lnTo>
                  <a:pt x="2408" y="6350"/>
                </a:lnTo>
                <a:lnTo>
                  <a:pt x="2812" y="5776"/>
                </a:lnTo>
                <a:lnTo>
                  <a:pt x="3243" y="5224"/>
                </a:lnTo>
                <a:lnTo>
                  <a:pt x="3701" y="4693"/>
                </a:lnTo>
                <a:lnTo>
                  <a:pt x="4185" y="4185"/>
                </a:lnTo>
                <a:lnTo>
                  <a:pt x="4693" y="3701"/>
                </a:lnTo>
                <a:lnTo>
                  <a:pt x="5224" y="3243"/>
                </a:lnTo>
                <a:lnTo>
                  <a:pt x="5776" y="2812"/>
                </a:lnTo>
                <a:lnTo>
                  <a:pt x="6350" y="2408"/>
                </a:lnTo>
                <a:lnTo>
                  <a:pt x="6942" y="2033"/>
                </a:lnTo>
                <a:lnTo>
                  <a:pt x="7552" y="1687"/>
                </a:lnTo>
                <a:lnTo>
                  <a:pt x="8179" y="1372"/>
                </a:lnTo>
                <a:lnTo>
                  <a:pt x="8820" y="1088"/>
                </a:lnTo>
                <a:lnTo>
                  <a:pt x="9474" y="835"/>
                </a:lnTo>
                <a:lnTo>
                  <a:pt x="10140" y="615"/>
                </a:lnTo>
                <a:lnTo>
                  <a:pt x="10816" y="428"/>
                </a:lnTo>
                <a:lnTo>
                  <a:pt x="11500" y="275"/>
                </a:lnTo>
                <a:lnTo>
                  <a:pt x="12191" y="155"/>
                </a:lnTo>
                <a:lnTo>
                  <a:pt x="12887" y="69"/>
                </a:lnTo>
                <a:lnTo>
                  <a:pt x="13586" y="17"/>
                </a:lnTo>
                <a:lnTo>
                  <a:pt x="14288" y="0"/>
                </a:lnTo>
              </a:path>
            </a:pathLst>
          </a:custGeom>
          <a:solidFill>
            <a:srgbClr val="76B900"/>
          </a:solidFill>
          <a:ln/>
        </p:spPr>
      </p:sp>
      <p:sp>
        <p:nvSpPr>
          <p:cNvPr id="23" name="Shape 21"/>
          <p:cNvSpPr/>
          <p:nvPr/>
        </p:nvSpPr>
        <p:spPr>
          <a:xfrm>
            <a:off x="2355399" y="2661261"/>
            <a:ext cx="363170" cy="648082"/>
          </a:xfrm>
          <a:custGeom>
            <a:avLst/>
            <a:gdLst/>
            <a:ahLst/>
            <a:cxnLst/>
            <a:rect l="l" t="t" r="r" b="b"/>
            <a:pathLst>
              <a:path w="363170" h="648082">
                <a:moveTo>
                  <a:pt x="14288" y="0"/>
                </a:moveTo>
                <a:lnTo>
                  <a:pt x="348882" y="0"/>
                </a:lnTo>
                <a:lnTo>
                  <a:pt x="349583" y="17"/>
                </a:lnTo>
                <a:lnTo>
                  <a:pt x="350283" y="69"/>
                </a:lnTo>
                <a:lnTo>
                  <a:pt x="350979" y="155"/>
                </a:lnTo>
                <a:lnTo>
                  <a:pt x="351670" y="275"/>
                </a:lnTo>
                <a:lnTo>
                  <a:pt x="352354" y="428"/>
                </a:lnTo>
                <a:lnTo>
                  <a:pt x="353030" y="615"/>
                </a:lnTo>
                <a:lnTo>
                  <a:pt x="353695" y="835"/>
                </a:lnTo>
                <a:lnTo>
                  <a:pt x="354350" y="1088"/>
                </a:lnTo>
                <a:lnTo>
                  <a:pt x="354991" y="1372"/>
                </a:lnTo>
                <a:lnTo>
                  <a:pt x="355617" y="1687"/>
                </a:lnTo>
                <a:lnTo>
                  <a:pt x="356227" y="2033"/>
                </a:lnTo>
                <a:lnTo>
                  <a:pt x="356820" y="2408"/>
                </a:lnTo>
                <a:lnTo>
                  <a:pt x="357393" y="2812"/>
                </a:lnTo>
                <a:lnTo>
                  <a:pt x="357946" y="3243"/>
                </a:lnTo>
                <a:lnTo>
                  <a:pt x="358477" y="3701"/>
                </a:lnTo>
                <a:lnTo>
                  <a:pt x="358985" y="4185"/>
                </a:lnTo>
                <a:lnTo>
                  <a:pt x="359469" y="4693"/>
                </a:lnTo>
                <a:lnTo>
                  <a:pt x="359927" y="5224"/>
                </a:lnTo>
                <a:lnTo>
                  <a:pt x="360358" y="5776"/>
                </a:lnTo>
                <a:lnTo>
                  <a:pt x="360762" y="6350"/>
                </a:lnTo>
                <a:lnTo>
                  <a:pt x="361137" y="6942"/>
                </a:lnTo>
                <a:lnTo>
                  <a:pt x="361483" y="7552"/>
                </a:lnTo>
                <a:lnTo>
                  <a:pt x="361798" y="8179"/>
                </a:lnTo>
                <a:lnTo>
                  <a:pt x="362082" y="8820"/>
                </a:lnTo>
                <a:lnTo>
                  <a:pt x="362334" y="9474"/>
                </a:lnTo>
                <a:lnTo>
                  <a:pt x="362554" y="10140"/>
                </a:lnTo>
                <a:lnTo>
                  <a:pt x="362741" y="10816"/>
                </a:lnTo>
                <a:lnTo>
                  <a:pt x="362895" y="11500"/>
                </a:lnTo>
                <a:lnTo>
                  <a:pt x="363015" y="12191"/>
                </a:lnTo>
                <a:lnTo>
                  <a:pt x="363101" y="12887"/>
                </a:lnTo>
                <a:lnTo>
                  <a:pt x="363152" y="13586"/>
                </a:lnTo>
                <a:lnTo>
                  <a:pt x="363170" y="14288"/>
                </a:lnTo>
                <a:lnTo>
                  <a:pt x="363170" y="648082"/>
                </a:lnTo>
                <a:lnTo>
                  <a:pt x="0" y="648082"/>
                </a:lnTo>
                <a:lnTo>
                  <a:pt x="0" y="14288"/>
                </a:lnTo>
                <a:lnTo>
                  <a:pt x="17" y="13586"/>
                </a:lnTo>
                <a:lnTo>
                  <a:pt x="69" y="12887"/>
                </a:lnTo>
                <a:lnTo>
                  <a:pt x="155" y="12191"/>
                </a:lnTo>
                <a:lnTo>
                  <a:pt x="275" y="11500"/>
                </a:lnTo>
                <a:lnTo>
                  <a:pt x="428" y="10816"/>
                </a:lnTo>
                <a:lnTo>
                  <a:pt x="615" y="10140"/>
                </a:lnTo>
                <a:lnTo>
                  <a:pt x="835" y="9474"/>
                </a:lnTo>
                <a:lnTo>
                  <a:pt x="1088" y="8820"/>
                </a:lnTo>
                <a:lnTo>
                  <a:pt x="1372" y="8179"/>
                </a:lnTo>
                <a:lnTo>
                  <a:pt x="1687" y="7552"/>
                </a:lnTo>
                <a:lnTo>
                  <a:pt x="2033" y="6942"/>
                </a:lnTo>
                <a:lnTo>
                  <a:pt x="2408" y="6350"/>
                </a:lnTo>
                <a:lnTo>
                  <a:pt x="2812" y="5776"/>
                </a:lnTo>
                <a:lnTo>
                  <a:pt x="3243" y="5224"/>
                </a:lnTo>
                <a:lnTo>
                  <a:pt x="3701" y="4693"/>
                </a:lnTo>
                <a:lnTo>
                  <a:pt x="4185" y="4185"/>
                </a:lnTo>
                <a:lnTo>
                  <a:pt x="4693" y="3701"/>
                </a:lnTo>
                <a:lnTo>
                  <a:pt x="5224" y="3243"/>
                </a:lnTo>
                <a:lnTo>
                  <a:pt x="5776" y="2812"/>
                </a:lnTo>
                <a:lnTo>
                  <a:pt x="6350" y="2408"/>
                </a:lnTo>
                <a:lnTo>
                  <a:pt x="6942" y="2033"/>
                </a:lnTo>
                <a:lnTo>
                  <a:pt x="7552" y="1687"/>
                </a:lnTo>
                <a:lnTo>
                  <a:pt x="8179" y="1372"/>
                </a:lnTo>
                <a:lnTo>
                  <a:pt x="8820" y="1088"/>
                </a:lnTo>
                <a:lnTo>
                  <a:pt x="9474" y="835"/>
                </a:lnTo>
                <a:lnTo>
                  <a:pt x="10140" y="615"/>
                </a:lnTo>
                <a:lnTo>
                  <a:pt x="10816" y="428"/>
                </a:lnTo>
                <a:lnTo>
                  <a:pt x="11500" y="275"/>
                </a:lnTo>
                <a:lnTo>
                  <a:pt x="12191" y="155"/>
                </a:lnTo>
                <a:lnTo>
                  <a:pt x="12887" y="69"/>
                </a:lnTo>
                <a:lnTo>
                  <a:pt x="13586" y="17"/>
                </a:lnTo>
                <a:lnTo>
                  <a:pt x="14288" y="0"/>
                </a:lnTo>
              </a:path>
            </a:pathLst>
          </a:custGeom>
          <a:solidFill>
            <a:srgbClr val="76B900"/>
          </a:solidFill>
          <a:ln/>
        </p:spPr>
      </p:sp>
      <p:sp>
        <p:nvSpPr>
          <p:cNvPr id="24" name="Shape 22"/>
          <p:cNvSpPr/>
          <p:nvPr/>
        </p:nvSpPr>
        <p:spPr>
          <a:xfrm>
            <a:off x="3112002" y="2607254"/>
            <a:ext cx="363169" cy="702088"/>
          </a:xfrm>
          <a:custGeom>
            <a:avLst/>
            <a:gdLst/>
            <a:ahLst/>
            <a:cxnLst/>
            <a:rect l="l" t="t" r="r" b="b"/>
            <a:pathLst>
              <a:path w="363169" h="702088">
                <a:moveTo>
                  <a:pt x="14288" y="0"/>
                </a:moveTo>
                <a:lnTo>
                  <a:pt x="348881" y="0"/>
                </a:lnTo>
                <a:lnTo>
                  <a:pt x="349583" y="17"/>
                </a:lnTo>
                <a:lnTo>
                  <a:pt x="350282" y="69"/>
                </a:lnTo>
                <a:lnTo>
                  <a:pt x="350978" y="155"/>
                </a:lnTo>
                <a:lnTo>
                  <a:pt x="351669" y="275"/>
                </a:lnTo>
                <a:lnTo>
                  <a:pt x="352353" y="428"/>
                </a:lnTo>
                <a:lnTo>
                  <a:pt x="353029" y="615"/>
                </a:lnTo>
                <a:lnTo>
                  <a:pt x="353695" y="835"/>
                </a:lnTo>
                <a:lnTo>
                  <a:pt x="354349" y="1088"/>
                </a:lnTo>
                <a:lnTo>
                  <a:pt x="354990" y="1372"/>
                </a:lnTo>
                <a:lnTo>
                  <a:pt x="355617" y="1687"/>
                </a:lnTo>
                <a:lnTo>
                  <a:pt x="356227" y="2033"/>
                </a:lnTo>
                <a:lnTo>
                  <a:pt x="356819" y="2408"/>
                </a:lnTo>
                <a:lnTo>
                  <a:pt x="357393" y="2812"/>
                </a:lnTo>
                <a:lnTo>
                  <a:pt x="357945" y="3243"/>
                </a:lnTo>
                <a:lnTo>
                  <a:pt x="358476" y="3701"/>
                </a:lnTo>
                <a:lnTo>
                  <a:pt x="358984" y="4185"/>
                </a:lnTo>
                <a:lnTo>
                  <a:pt x="359468" y="4693"/>
                </a:lnTo>
                <a:lnTo>
                  <a:pt x="359926" y="5224"/>
                </a:lnTo>
                <a:lnTo>
                  <a:pt x="360357" y="5776"/>
                </a:lnTo>
                <a:lnTo>
                  <a:pt x="360761" y="6350"/>
                </a:lnTo>
                <a:lnTo>
                  <a:pt x="361136" y="6942"/>
                </a:lnTo>
                <a:lnTo>
                  <a:pt x="361482" y="7552"/>
                </a:lnTo>
                <a:lnTo>
                  <a:pt x="361797" y="8179"/>
                </a:lnTo>
                <a:lnTo>
                  <a:pt x="362081" y="8820"/>
                </a:lnTo>
                <a:lnTo>
                  <a:pt x="362334" y="9474"/>
                </a:lnTo>
                <a:lnTo>
                  <a:pt x="362554" y="10140"/>
                </a:lnTo>
                <a:lnTo>
                  <a:pt x="362741" y="10816"/>
                </a:lnTo>
                <a:lnTo>
                  <a:pt x="362894" y="11500"/>
                </a:lnTo>
                <a:lnTo>
                  <a:pt x="363014" y="12191"/>
                </a:lnTo>
                <a:lnTo>
                  <a:pt x="363100" y="12887"/>
                </a:lnTo>
                <a:lnTo>
                  <a:pt x="363152" y="13586"/>
                </a:lnTo>
                <a:lnTo>
                  <a:pt x="363169" y="14288"/>
                </a:lnTo>
                <a:lnTo>
                  <a:pt x="363169" y="702088"/>
                </a:lnTo>
                <a:lnTo>
                  <a:pt x="0" y="702088"/>
                </a:lnTo>
                <a:lnTo>
                  <a:pt x="0" y="14288"/>
                </a:lnTo>
                <a:lnTo>
                  <a:pt x="17" y="13586"/>
                </a:lnTo>
                <a:lnTo>
                  <a:pt x="69" y="12887"/>
                </a:lnTo>
                <a:lnTo>
                  <a:pt x="155" y="12191"/>
                </a:lnTo>
                <a:lnTo>
                  <a:pt x="275" y="11500"/>
                </a:lnTo>
                <a:lnTo>
                  <a:pt x="428" y="10816"/>
                </a:lnTo>
                <a:lnTo>
                  <a:pt x="615" y="10140"/>
                </a:lnTo>
                <a:lnTo>
                  <a:pt x="835" y="9474"/>
                </a:lnTo>
                <a:lnTo>
                  <a:pt x="1088" y="8820"/>
                </a:lnTo>
                <a:lnTo>
                  <a:pt x="1372" y="8179"/>
                </a:lnTo>
                <a:lnTo>
                  <a:pt x="1687" y="7552"/>
                </a:lnTo>
                <a:lnTo>
                  <a:pt x="2033" y="6942"/>
                </a:lnTo>
                <a:lnTo>
                  <a:pt x="2408" y="6350"/>
                </a:lnTo>
                <a:lnTo>
                  <a:pt x="2812" y="5776"/>
                </a:lnTo>
                <a:lnTo>
                  <a:pt x="3243" y="5224"/>
                </a:lnTo>
                <a:lnTo>
                  <a:pt x="3701" y="4693"/>
                </a:lnTo>
                <a:lnTo>
                  <a:pt x="4185" y="4185"/>
                </a:lnTo>
                <a:lnTo>
                  <a:pt x="4693" y="3701"/>
                </a:lnTo>
                <a:lnTo>
                  <a:pt x="5224" y="3243"/>
                </a:lnTo>
                <a:lnTo>
                  <a:pt x="5776" y="2812"/>
                </a:lnTo>
                <a:lnTo>
                  <a:pt x="6350" y="2408"/>
                </a:lnTo>
                <a:lnTo>
                  <a:pt x="6942" y="2033"/>
                </a:lnTo>
                <a:lnTo>
                  <a:pt x="7552" y="1687"/>
                </a:lnTo>
                <a:lnTo>
                  <a:pt x="8179" y="1372"/>
                </a:lnTo>
                <a:lnTo>
                  <a:pt x="8820" y="1088"/>
                </a:lnTo>
                <a:lnTo>
                  <a:pt x="9474" y="835"/>
                </a:lnTo>
                <a:lnTo>
                  <a:pt x="10140" y="615"/>
                </a:lnTo>
                <a:lnTo>
                  <a:pt x="10816" y="428"/>
                </a:lnTo>
                <a:lnTo>
                  <a:pt x="11500" y="275"/>
                </a:lnTo>
                <a:lnTo>
                  <a:pt x="12191" y="155"/>
                </a:lnTo>
                <a:lnTo>
                  <a:pt x="12887" y="69"/>
                </a:lnTo>
                <a:lnTo>
                  <a:pt x="13586" y="17"/>
                </a:lnTo>
                <a:lnTo>
                  <a:pt x="14288" y="0"/>
                </a:lnTo>
              </a:path>
            </a:pathLst>
          </a:custGeom>
          <a:solidFill>
            <a:srgbClr val="76B900"/>
          </a:solidFill>
          <a:ln/>
        </p:spPr>
      </p:sp>
      <p:sp>
        <p:nvSpPr>
          <p:cNvPr id="25" name="Text 23"/>
          <p:cNvSpPr/>
          <p:nvPr/>
        </p:nvSpPr>
        <p:spPr>
          <a:xfrm>
            <a:off x="632300" y="2008823"/>
            <a:ext cx="782955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b="1" dirty="0">
                <a:solidFill>
                  <a:srgbClr val="FFFFFF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0.85</a:t>
            </a:r>
            <a:endParaRPr lang="en-US" sz="788" dirty="0"/>
          </a:p>
        </p:txBody>
      </p:sp>
      <p:sp>
        <p:nvSpPr>
          <p:cNvPr id="26" name="Text 24"/>
          <p:cNvSpPr/>
          <p:nvPr/>
        </p:nvSpPr>
        <p:spPr>
          <a:xfrm>
            <a:off x="1388904" y="2454378"/>
            <a:ext cx="782955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b="1" dirty="0">
                <a:solidFill>
                  <a:srgbClr val="FFFFFF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0.52</a:t>
            </a:r>
            <a:endParaRPr lang="en-US" sz="788" dirty="0"/>
          </a:p>
        </p:txBody>
      </p:sp>
      <p:sp>
        <p:nvSpPr>
          <p:cNvPr id="27" name="Text 25"/>
          <p:cNvSpPr/>
          <p:nvPr/>
        </p:nvSpPr>
        <p:spPr>
          <a:xfrm>
            <a:off x="2145506" y="2508385"/>
            <a:ext cx="782955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b="1" dirty="0">
                <a:solidFill>
                  <a:srgbClr val="FFFFFF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0.48</a:t>
            </a:r>
            <a:endParaRPr lang="en-US" sz="788" dirty="0"/>
          </a:p>
        </p:txBody>
      </p:sp>
      <p:sp>
        <p:nvSpPr>
          <p:cNvPr id="28" name="Text 26"/>
          <p:cNvSpPr/>
          <p:nvPr/>
        </p:nvSpPr>
        <p:spPr>
          <a:xfrm>
            <a:off x="2902108" y="2454378"/>
            <a:ext cx="782955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b="1" dirty="0">
                <a:solidFill>
                  <a:srgbClr val="FFFFFF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0.52</a:t>
            </a:r>
            <a:endParaRPr lang="en-US" sz="788" dirty="0"/>
          </a:p>
        </p:txBody>
      </p:sp>
      <p:sp>
        <p:nvSpPr>
          <p:cNvPr id="29" name="Shape 27"/>
          <p:cNvSpPr/>
          <p:nvPr/>
        </p:nvSpPr>
        <p:spPr>
          <a:xfrm>
            <a:off x="645477" y="2702123"/>
            <a:ext cx="3026410" cy="0"/>
          </a:xfrm>
          <a:prstGeom prst="line">
            <a:avLst/>
          </a:prstGeom>
          <a:noFill/>
          <a:ln w="12700">
            <a:solidFill>
              <a:srgbClr val="DF65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110264" y="2570321"/>
            <a:ext cx="1533049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b="1" dirty="0">
                <a:solidFill>
                  <a:srgbClr val="DF6500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行业标杆 0.45</a:t>
            </a:r>
            <a:endParaRPr lang="en-US" sz="788" dirty="0"/>
          </a:p>
        </p:txBody>
      </p:sp>
      <p:sp>
        <p:nvSpPr>
          <p:cNvPr id="31" name="Shape 29"/>
          <p:cNvSpPr/>
          <p:nvPr/>
        </p:nvSpPr>
        <p:spPr>
          <a:xfrm>
            <a:off x="214313" y="2853091"/>
            <a:ext cx="8715375" cy="142875"/>
          </a:xfrm>
          <a:prstGeom prst="roundRect">
            <a:avLst>
              <a:gd name="adj" fmla="val 16000"/>
            </a:avLst>
          </a:prstGeom>
          <a:solidFill>
            <a:srgbClr val="1A1A1A"/>
          </a:solidFill>
          <a:ln w="6191">
            <a:solidFill>
              <a:srgbClr val="5E5E5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14313" y="3054567"/>
            <a:ext cx="8715375" cy="142875"/>
          </a:xfrm>
          <a:prstGeom prst="roundRect">
            <a:avLst>
              <a:gd name="adj" fmla="val 16000"/>
            </a:avLst>
          </a:prstGeom>
          <a:solidFill>
            <a:srgbClr val="1A1A1A"/>
          </a:solidFill>
          <a:ln w="6191">
            <a:solidFill>
              <a:srgbClr val="5E5E5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14313" y="3256043"/>
            <a:ext cx="8715375" cy="142875"/>
          </a:xfrm>
          <a:prstGeom prst="roundRect">
            <a:avLst>
              <a:gd name="adj" fmla="val 16000"/>
            </a:avLst>
          </a:prstGeom>
          <a:solidFill>
            <a:srgbClr val="1A1A1A"/>
          </a:solidFill>
          <a:ln w="6191">
            <a:solidFill>
              <a:srgbClr val="5E5E5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14313" y="3457519"/>
            <a:ext cx="8715375" cy="157163"/>
          </a:xfrm>
          <a:prstGeom prst="roundRect">
            <a:avLst>
              <a:gd name="adj" fmla="val 13223"/>
            </a:avLst>
          </a:prstGeom>
          <a:solidFill>
            <a:srgbClr val="1A1A1A"/>
          </a:solidFill>
          <a:ln w="12383">
            <a:solidFill>
              <a:srgbClr val="76B90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15708" y="3913268"/>
            <a:ext cx="1671638" cy="692944"/>
          </a:xfrm>
          <a:prstGeom prst="roundRect">
            <a:avLst>
              <a:gd name="adj" fmla="val 680"/>
            </a:avLst>
          </a:prstGeom>
          <a:solidFill>
            <a:srgbClr val="1A1A1A"/>
          </a:solidFill>
          <a:ln w="6191">
            <a:solidFill>
              <a:srgbClr val="5E5E5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975917" y="3913268"/>
            <a:ext cx="1671638" cy="692944"/>
          </a:xfrm>
          <a:prstGeom prst="roundRect">
            <a:avLst>
              <a:gd name="adj" fmla="val 680"/>
            </a:avLst>
          </a:prstGeom>
          <a:solidFill>
            <a:srgbClr val="1A1A1A"/>
          </a:solidFill>
          <a:ln w="6191">
            <a:solidFill>
              <a:srgbClr val="5E5E5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736125" y="3913268"/>
            <a:ext cx="1671638" cy="692944"/>
          </a:xfrm>
          <a:prstGeom prst="roundRect">
            <a:avLst>
              <a:gd name="adj" fmla="val 680"/>
            </a:avLst>
          </a:prstGeom>
          <a:solidFill>
            <a:srgbClr val="1A1A1A"/>
          </a:solidFill>
          <a:ln w="6191">
            <a:solidFill>
              <a:srgbClr val="5E5E5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496334" y="3913268"/>
            <a:ext cx="1671638" cy="692944"/>
          </a:xfrm>
          <a:prstGeom prst="roundRect">
            <a:avLst>
              <a:gd name="adj" fmla="val 680"/>
            </a:avLst>
          </a:prstGeom>
          <a:solidFill>
            <a:srgbClr val="1A1A1A"/>
          </a:solidFill>
          <a:ln w="6191">
            <a:solidFill>
              <a:srgbClr val="5E5E5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256543" y="3913268"/>
            <a:ext cx="1671638" cy="692944"/>
          </a:xfrm>
          <a:prstGeom prst="roundRect">
            <a:avLst>
              <a:gd name="adj" fmla="val 680"/>
            </a:avLst>
          </a:prstGeom>
          <a:solidFill>
            <a:srgbClr val="1A1A1A"/>
          </a:solidFill>
          <a:ln w="12383">
            <a:solidFill>
              <a:srgbClr val="76B90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14313" y="498277"/>
            <a:ext cx="8715375" cy="62865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1 号线单位能耗 0.85 kWh/件达标杆 1.89 倍、比 2 号线高 63%，排查后主因</a:t>
            </a:r>
            <a:endParaRPr lang="en-US" sz="1900" dirty="0"/>
          </a:p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锁定液压系统老化</a:t>
            </a:r>
            <a:endParaRPr lang="en-US" sz="1900" dirty="0"/>
          </a:p>
        </p:txBody>
      </p:sp>
      <p:sp>
        <p:nvSpPr>
          <p:cNvPr id="41" name="Text 39"/>
          <p:cNvSpPr/>
          <p:nvPr/>
        </p:nvSpPr>
        <p:spPr>
          <a:xfrm>
            <a:off x="335812" y="1431429"/>
            <a:ext cx="1085850" cy="17145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四线单位能耗对标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979834" y="1473398"/>
            <a:ext cx="1828800" cy="12858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A7A7A7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1 号线 = 标杆 1.89 倍 · 高于 2 号线 63%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214313" y="2682701"/>
            <a:ext cx="8715375" cy="12858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76B900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四步诊断链 · 判定依据与结论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307181" y="2714625"/>
            <a:ext cx="9041416" cy="135731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76B900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①</a:t>
            </a:r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 产量归一化对比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307181" y="2862969"/>
            <a:ext cx="8529638" cy="271463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A7A7A7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以单位能耗而非总电耗对标四线与行业标杆：1 号线 0.85，2 号线 0.52、3 号线 0.48、4 号线 0.52；1 号线月产量 80 万件并非最高（2 号线 95 万件最高）。</a:t>
            </a:r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结论：异常成立，且与规模、负荷无关。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307181" y="2916101"/>
            <a:ext cx="9041416" cy="135731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76B900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②</a:t>
            </a:r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 分时段 / 分设备电耗拆分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307181" y="3064446"/>
            <a:ext cx="8529638" cy="271463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A7A7A7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拆生产态与待机态、主设备与辅机：1 号线空载 8 kWh/h 高于 2 号线 6、4 号线 5（四线均值 7.75）；液压系统约占该线电耗 45%、约 30.6 万 kWh/月。</a:t>
            </a:r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结论：液压为最大单项，待机偏高为次要线索。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307181" y="3184996"/>
            <a:ext cx="9041416" cy="135731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76B900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③</a:t>
            </a:r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 现场巡检与实测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307181" y="3333731"/>
            <a:ext cx="9041416" cy="135731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A7A7A7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逐项检查油温、系统压力波动、泵组异响、泄漏点与溢流阀设定（素材仅给出排查项目清单，未提供逐项实测读数）。</a:t>
            </a:r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结论：征兆指向液压回路容积效率下降、溢流损失上升。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314325" y="3393616"/>
            <a:ext cx="9026271" cy="135731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76B900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④</a:t>
            </a:r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 锁定主要损失源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314325" y="3542351"/>
            <a:ext cx="9026271" cy="135731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A7A7A7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归集液压分项电耗与老化增量，交叉验证前三步：液压系统占该线电耗约 45%（约 30.6 万 kWh/月），老化致其能耗高出正常水平约 29%（测算）。</a:t>
            </a:r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结论：主因锁定为液压系统老化。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214982" y="3727810"/>
            <a:ext cx="5193506" cy="12858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98989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排除项 · 三项干扰已显式排除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5496334" y="3727810"/>
            <a:ext cx="1671638" cy="12858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F9100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辅助线索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7256543" y="3727810"/>
            <a:ext cx="1671638" cy="12858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76B900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锁定主因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308577" y="3975162"/>
            <a:ext cx="1485900" cy="135731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产量 / 负荷因素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308577" y="4123506"/>
            <a:ext cx="1485900" cy="271463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A7A7A7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月产量 80 万件非最高，2 号线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A7A7A7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 95 万件最高而单位能耗仅 0.52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2068785" y="3975162"/>
            <a:ext cx="1485900" cy="135731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工艺与产品差异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2068785" y="4123506"/>
            <a:ext cx="1485900" cy="271463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A7A7A7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同一厂区同类产品口径，四线指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A7A7A7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标可直接对标</a:t>
            </a:r>
            <a:endParaRPr lang="en-US" sz="700" dirty="0"/>
          </a:p>
        </p:txBody>
      </p:sp>
      <p:sp>
        <p:nvSpPr>
          <p:cNvPr id="59" name="Text 57"/>
          <p:cNvSpPr/>
          <p:nvPr/>
        </p:nvSpPr>
        <p:spPr>
          <a:xfrm>
            <a:off x="3828994" y="3975162"/>
            <a:ext cx="1485900" cy="135731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计量误差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3828994" y="4123506"/>
            <a:ext cx="1485900" cy="271463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A7A7A7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68 万 kWh ÷ 80 万件 = 0.85，电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A7A7A7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耗、产量与单位能耗三者自洽</a:t>
            </a:r>
            <a:endParaRPr lang="en-US" sz="700" dirty="0"/>
          </a:p>
        </p:txBody>
      </p:sp>
      <p:sp>
        <p:nvSpPr>
          <p:cNvPr id="61" name="Text 59"/>
          <p:cNvSpPr/>
          <p:nvPr/>
        </p:nvSpPr>
        <p:spPr>
          <a:xfrm>
            <a:off x="5589203" y="3975162"/>
            <a:ext cx="1485900" cy="135731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F9100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待机 / 辅机未卸载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5589203" y="4123116"/>
            <a:ext cx="1485900" cy="407194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A7A7A7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空载 8 kWh/h 高于 2 号线 6、4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A7A7A7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 号线 5，均值 7.75；量级有限，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A7A7A7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保留为改善线索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7356556" y="3982306"/>
            <a:ext cx="1471612" cy="135731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液压系统老化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7356556" y="4130260"/>
            <a:ext cx="1471612" cy="407194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A7A7A7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占该线电耗约 45%、约 30.6 万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A7A7A7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 kWh/月，老化致高出正常约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A7A7A7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 29%（测算）</a:t>
            </a:r>
            <a:endParaRPr lang="en-US" sz="700" dirty="0"/>
          </a:p>
        </p:txBody>
      </p:sp>
      <p:sp>
        <p:nvSpPr>
          <p:cNvPr id="65" name="Text 63"/>
          <p:cNvSpPr/>
          <p:nvPr/>
        </p:nvSpPr>
        <p:spPr>
          <a:xfrm>
            <a:off x="214313" y="4664869"/>
            <a:ext cx="8715375" cy="1500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98989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数据来源：一个月四条产线能耗实测数据（内部单月实测）；标注"测算"者为工程派生口径，待改造前后分项计量实测确认。本页完成异常确认与主因定位，液压老化机理与改造投资测算见下页。</a:t>
            </a:r>
            <a:endParaRPr lang="en-US" sz="700" dirty="0"/>
          </a:p>
        </p:txBody>
      </p:sp>
      <p:sp>
        <p:nvSpPr>
          <p:cNvPr id="65535" name="wm:hwcld:2026-09-22T19:05:55:0e1af824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ln/>
        </p:spPr>
      </p:sp>
      <p:sp>
        <p:nvSpPr>
          <p:cNvPr id="3" name="Shape 1"/>
          <p:cNvSpPr/>
          <p:nvPr/>
        </p:nvSpPr>
        <p:spPr>
          <a:xfrm>
            <a:off x="214313" y="1210866"/>
            <a:ext cx="428625" cy="14288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4" name="Shape 2"/>
          <p:cNvSpPr/>
          <p:nvPr/>
        </p:nvSpPr>
        <p:spPr>
          <a:xfrm>
            <a:off x="214313" y="1337667"/>
            <a:ext cx="2286000" cy="3271838"/>
          </a:xfrm>
          <a:prstGeom prst="roundRect">
            <a:avLst>
              <a:gd name="adj" fmla="val 250"/>
            </a:avLst>
          </a:prstGeom>
          <a:solidFill>
            <a:srgbClr val="1A1A1A"/>
          </a:solidFill>
          <a:ln w="6191">
            <a:solidFill>
              <a:srgbClr val="5E5E5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92894" y="1416248"/>
            <a:ext cx="2128838" cy="235744"/>
          </a:xfrm>
          <a:prstGeom prst="rect">
            <a:avLst/>
          </a:prstGeom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92894" y="1416248"/>
            <a:ext cx="2128838" cy="23574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110853" y="1764506"/>
            <a:ext cx="0" cy="2278856"/>
          </a:xfrm>
          <a:prstGeom prst="line">
            <a:avLst/>
          </a:prstGeom>
          <a:noFill/>
          <a:ln w="6350">
            <a:solidFill>
              <a:srgbClr val="5E5E5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318022" y="1764506"/>
            <a:ext cx="0" cy="2278856"/>
          </a:xfrm>
          <a:prstGeom prst="line">
            <a:avLst/>
          </a:prstGeom>
          <a:noFill/>
          <a:ln w="6350">
            <a:solidFill>
              <a:srgbClr val="5E5E5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532334" y="1764506"/>
            <a:ext cx="0" cy="2278856"/>
          </a:xfrm>
          <a:prstGeom prst="line">
            <a:avLst/>
          </a:prstGeom>
          <a:noFill/>
          <a:ln w="6350">
            <a:solidFill>
              <a:srgbClr val="5E5E5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739503" y="1764506"/>
            <a:ext cx="0" cy="2278856"/>
          </a:xfrm>
          <a:prstGeom prst="line">
            <a:avLst/>
          </a:prstGeom>
          <a:noFill/>
          <a:ln w="6350">
            <a:solidFill>
              <a:srgbClr val="5E5E5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953816" y="1764506"/>
            <a:ext cx="0" cy="2278856"/>
          </a:xfrm>
          <a:prstGeom prst="line">
            <a:avLst/>
          </a:prstGeom>
          <a:noFill/>
          <a:ln w="6350">
            <a:solidFill>
              <a:srgbClr val="5E5E5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 flipV="1">
            <a:off x="1110853" y="1764506"/>
            <a:ext cx="0" cy="2278856"/>
          </a:xfrm>
          <a:prstGeom prst="line">
            <a:avLst/>
          </a:prstGeom>
          <a:noFill/>
          <a:ln w="6350">
            <a:solidFill>
              <a:srgbClr val="5E5E5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109016" y="4046934"/>
            <a:ext cx="841228" cy="0"/>
          </a:xfrm>
          <a:prstGeom prst="line">
            <a:avLst/>
          </a:prstGeom>
          <a:noFill/>
          <a:ln w="6350">
            <a:solidFill>
              <a:srgbClr val="5E5E5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-631202" y="3603545"/>
            <a:ext cx="1683068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FFFFFF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老化损失 约 29%</a:t>
            </a:r>
            <a:endParaRPr lang="en-US" sz="788" dirty="0"/>
          </a:p>
        </p:txBody>
      </p:sp>
      <p:sp>
        <p:nvSpPr>
          <p:cNvPr id="15" name="Text 12"/>
          <p:cNvSpPr/>
          <p:nvPr/>
        </p:nvSpPr>
        <p:spPr>
          <a:xfrm>
            <a:off x="-631202" y="2843927"/>
            <a:ext cx="1683068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FFFFFF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液压系统 占 45%</a:t>
            </a:r>
            <a:endParaRPr lang="en-US" sz="788" dirty="0"/>
          </a:p>
        </p:txBody>
      </p:sp>
      <p:sp>
        <p:nvSpPr>
          <p:cNvPr id="16" name="Text 13"/>
          <p:cNvSpPr/>
          <p:nvPr/>
        </p:nvSpPr>
        <p:spPr>
          <a:xfrm>
            <a:off x="-181145" y="2084308"/>
            <a:ext cx="1233011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FFFFFF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1 号线月用电</a:t>
            </a:r>
            <a:endParaRPr lang="en-US" sz="788" dirty="0"/>
          </a:p>
        </p:txBody>
      </p:sp>
      <p:sp>
        <p:nvSpPr>
          <p:cNvPr id="17" name="Text 14"/>
          <p:cNvSpPr/>
          <p:nvPr/>
        </p:nvSpPr>
        <p:spPr>
          <a:xfrm>
            <a:off x="942566" y="4083367"/>
            <a:ext cx="332899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A7A7A7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0</a:t>
            </a:r>
            <a:endParaRPr lang="en-US" sz="788" dirty="0"/>
          </a:p>
        </p:txBody>
      </p:sp>
      <p:sp>
        <p:nvSpPr>
          <p:cNvPr id="18" name="Text 15"/>
          <p:cNvSpPr/>
          <p:nvPr/>
        </p:nvSpPr>
        <p:spPr>
          <a:xfrm>
            <a:off x="1077864" y="4083367"/>
            <a:ext cx="482917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A7A7A7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20</a:t>
            </a:r>
            <a:endParaRPr lang="en-US" sz="788" dirty="0"/>
          </a:p>
        </p:txBody>
      </p:sp>
      <p:sp>
        <p:nvSpPr>
          <p:cNvPr id="19" name="Text 16"/>
          <p:cNvSpPr/>
          <p:nvPr/>
        </p:nvSpPr>
        <p:spPr>
          <a:xfrm>
            <a:off x="1288171" y="4083367"/>
            <a:ext cx="482917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A7A7A7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40</a:t>
            </a:r>
            <a:endParaRPr lang="en-US" sz="788" dirty="0"/>
          </a:p>
        </p:txBody>
      </p:sp>
      <p:sp>
        <p:nvSpPr>
          <p:cNvPr id="20" name="Text 17"/>
          <p:cNvSpPr/>
          <p:nvPr/>
        </p:nvSpPr>
        <p:spPr>
          <a:xfrm>
            <a:off x="1498478" y="4083367"/>
            <a:ext cx="482917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A7A7A7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60</a:t>
            </a:r>
            <a:endParaRPr lang="en-US" sz="788" dirty="0"/>
          </a:p>
        </p:txBody>
      </p:sp>
      <p:sp>
        <p:nvSpPr>
          <p:cNvPr id="21" name="Text 18"/>
          <p:cNvSpPr/>
          <p:nvPr/>
        </p:nvSpPr>
        <p:spPr>
          <a:xfrm>
            <a:off x="1708785" y="4083367"/>
            <a:ext cx="482917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A7A7A7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80</a:t>
            </a:r>
            <a:endParaRPr lang="en-US" sz="788" dirty="0"/>
          </a:p>
        </p:txBody>
      </p:sp>
      <p:sp>
        <p:nvSpPr>
          <p:cNvPr id="22" name="Shape 19"/>
          <p:cNvSpPr/>
          <p:nvPr/>
        </p:nvSpPr>
        <p:spPr>
          <a:xfrm>
            <a:off x="1109016" y="3563540"/>
            <a:ext cx="92535" cy="200025"/>
          </a:xfrm>
          <a:custGeom>
            <a:avLst/>
            <a:gdLst/>
            <a:ahLst/>
            <a:cxnLst/>
            <a:rect l="l" t="t" r="r" b="b"/>
            <a:pathLst>
              <a:path w="92535" h="200025">
                <a:moveTo>
                  <a:pt x="0" y="0"/>
                </a:moveTo>
                <a:lnTo>
                  <a:pt x="92535" y="0"/>
                </a:lnTo>
                <a:lnTo>
                  <a:pt x="92535" y="200025"/>
                </a:lnTo>
                <a:lnTo>
                  <a:pt x="0" y="200025"/>
                </a:lnTo>
                <a:close/>
              </a:path>
            </a:pathLst>
          </a:custGeom>
          <a:solidFill>
            <a:srgbClr val="E52020"/>
          </a:solidFill>
          <a:ln/>
        </p:spPr>
      </p:sp>
      <p:sp>
        <p:nvSpPr>
          <p:cNvPr id="23" name="Shape 20"/>
          <p:cNvSpPr/>
          <p:nvPr/>
        </p:nvSpPr>
        <p:spPr>
          <a:xfrm>
            <a:off x="1109016" y="2803922"/>
            <a:ext cx="321770" cy="200025"/>
          </a:xfrm>
          <a:custGeom>
            <a:avLst/>
            <a:gdLst/>
            <a:ahLst/>
            <a:cxnLst/>
            <a:rect l="l" t="t" r="r" b="b"/>
            <a:pathLst>
              <a:path w="321770" h="200025">
                <a:moveTo>
                  <a:pt x="0" y="0"/>
                </a:moveTo>
                <a:lnTo>
                  <a:pt x="321770" y="0"/>
                </a:lnTo>
                <a:lnTo>
                  <a:pt x="321770" y="200025"/>
                </a:lnTo>
                <a:lnTo>
                  <a:pt x="0" y="200025"/>
                </a:lnTo>
                <a:close/>
              </a:path>
            </a:pathLst>
          </a:custGeom>
          <a:solidFill>
            <a:srgbClr val="BFF230"/>
          </a:solidFill>
          <a:ln/>
        </p:spPr>
      </p:sp>
      <p:sp>
        <p:nvSpPr>
          <p:cNvPr id="24" name="Shape 21"/>
          <p:cNvSpPr/>
          <p:nvPr/>
        </p:nvSpPr>
        <p:spPr>
          <a:xfrm>
            <a:off x="1109016" y="2044303"/>
            <a:ext cx="715044" cy="200025"/>
          </a:xfrm>
          <a:custGeom>
            <a:avLst/>
            <a:gdLst/>
            <a:ahLst/>
            <a:cxnLst/>
            <a:rect l="l" t="t" r="r" b="b"/>
            <a:pathLst>
              <a:path w="715044" h="200025">
                <a:moveTo>
                  <a:pt x="0" y="0"/>
                </a:moveTo>
                <a:lnTo>
                  <a:pt x="715044" y="0"/>
                </a:lnTo>
                <a:lnTo>
                  <a:pt x="715044" y="200025"/>
                </a:lnTo>
                <a:lnTo>
                  <a:pt x="0" y="200025"/>
                </a:lnTo>
                <a:close/>
              </a:path>
            </a:pathLst>
          </a:custGeom>
          <a:solidFill>
            <a:srgbClr val="76B900"/>
          </a:solidFill>
          <a:ln/>
        </p:spPr>
      </p:sp>
      <p:sp>
        <p:nvSpPr>
          <p:cNvPr id="25" name="Text 22"/>
          <p:cNvSpPr/>
          <p:nvPr/>
        </p:nvSpPr>
        <p:spPr>
          <a:xfrm>
            <a:off x="1237269" y="3603545"/>
            <a:ext cx="1383030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8" b="1" dirty="0">
                <a:solidFill>
                  <a:srgbClr val="FFFFFF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8.8 万kWh</a:t>
            </a:r>
            <a:endParaRPr lang="en-US" sz="788" dirty="0"/>
          </a:p>
        </p:txBody>
      </p:sp>
      <p:sp>
        <p:nvSpPr>
          <p:cNvPr id="26" name="Text 23"/>
          <p:cNvSpPr/>
          <p:nvPr/>
        </p:nvSpPr>
        <p:spPr>
          <a:xfrm>
            <a:off x="1466504" y="2843927"/>
            <a:ext cx="1533049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8" b="1" dirty="0">
                <a:solidFill>
                  <a:srgbClr val="FFFFFF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30.6 万kWh</a:t>
            </a:r>
            <a:endParaRPr lang="en-US" sz="788" dirty="0"/>
          </a:p>
        </p:txBody>
      </p:sp>
      <p:sp>
        <p:nvSpPr>
          <p:cNvPr id="27" name="Text 24"/>
          <p:cNvSpPr/>
          <p:nvPr/>
        </p:nvSpPr>
        <p:spPr>
          <a:xfrm>
            <a:off x="1859778" y="2084308"/>
            <a:ext cx="1233011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8" b="1" dirty="0">
                <a:solidFill>
                  <a:srgbClr val="FFFFFF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68 万kWh</a:t>
            </a:r>
            <a:endParaRPr lang="en-US" sz="788" dirty="0"/>
          </a:p>
        </p:txBody>
      </p:sp>
      <p:sp>
        <p:nvSpPr>
          <p:cNvPr id="28" name="Shape 25"/>
          <p:cNvSpPr/>
          <p:nvPr/>
        </p:nvSpPr>
        <p:spPr>
          <a:xfrm>
            <a:off x="2671763" y="1337667"/>
            <a:ext cx="4329113" cy="3271838"/>
          </a:xfrm>
          <a:prstGeom prst="roundRect">
            <a:avLst>
              <a:gd name="adj" fmla="val 122"/>
            </a:avLst>
          </a:prstGeom>
          <a:solidFill>
            <a:srgbClr val="1A1A1A"/>
          </a:solidFill>
          <a:ln w="6191">
            <a:solidFill>
              <a:srgbClr val="5E5E5E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2750344" y="1417141"/>
            <a:ext cx="4171950" cy="228600"/>
          </a:xfrm>
          <a:prstGeom prst="rect">
            <a:avLst/>
          </a:prstGeom>
          <a:ln/>
        </p:spPr>
      </p:sp>
      <p:pic>
        <p:nvPicPr>
          <p:cNvPr id="3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50344" y="1417141"/>
            <a:ext cx="4171950" cy="228600"/>
          </a:xfrm>
          <a:prstGeom prst="rect">
            <a:avLst/>
          </a:prstGeom>
        </p:spPr>
      </p:pic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50344" y="1687264"/>
          <a:ext cx="4171950" cy="914400"/>
        </p:xfrm>
        <a:graphic>
          <a:graphicData uri="http://schemas.openxmlformats.org/drawingml/2006/table">
            <a:tbl>
              <a:tblPr/>
              <a:tblGrid>
                <a:gridCol w="885825"/>
                <a:gridCol w="1850231"/>
                <a:gridCol w="1428750"/>
              </a:tblGrid>
              <a:tr h="18573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A7A7A7"/>
                          </a:solidFill>
                          <a:latin typeface="FrexSansGB" pitchFamily="34" charset="0"/>
                          <a:ea typeface="FrexSansGB" pitchFamily="34" charset="-122"/>
                          <a:cs typeface="FrexSansGB" pitchFamily="34" charset="-120"/>
                        </a:rPr>
                        <a:t>损失机理</a:t>
                      </a:r>
                      <a:endParaRPr lang="en-US" sz="700" dirty="0">
                        <a:latin typeface="FrexSansGB" charset="0"/>
                        <a:ea typeface="FrexSansGB" charset="0"/>
                        <a:cs typeface="FrexSansGB" charset="0"/>
                      </a:endParaRPr>
                    </a:p>
                  </a:txBody>
                  <a:tcPr marL="6072" marR="6072" marT="6072" marB="3036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A7A7A7"/>
                          </a:solidFill>
                          <a:latin typeface="FrexSansGB" pitchFamily="34" charset="0"/>
                          <a:ea typeface="FrexSansGB" pitchFamily="34" charset="-122"/>
                          <a:cs typeface="FrexSansGB" pitchFamily="34" charset="-120"/>
                        </a:rPr>
                        <a:t>能耗后果</a:t>
                      </a:r>
                      <a:endParaRPr lang="en-US" sz="700" dirty="0">
                        <a:latin typeface="FrexSansGB" charset="0"/>
                        <a:ea typeface="FrexSansGB" charset="0"/>
                        <a:cs typeface="FrexSansGB" charset="0"/>
                      </a:endParaRPr>
                    </a:p>
                  </a:txBody>
                  <a:tcPr marL="6072" marR="60722" marT="6072" marB="3036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A7A7A7"/>
                          </a:solidFill>
                          <a:latin typeface="FrexSansGB" pitchFamily="34" charset="0"/>
                          <a:ea typeface="FrexSansGB" pitchFamily="34" charset="-122"/>
                          <a:cs typeface="FrexSansGB" pitchFamily="34" charset="-120"/>
                        </a:rPr>
                        <a:t>对应改造措施</a:t>
                      </a:r>
                      <a:endParaRPr lang="en-US" sz="700" dirty="0">
                        <a:latin typeface="FrexSansGB" charset="0"/>
                        <a:ea typeface="FrexSansGB" charset="0"/>
                        <a:cs typeface="FrexSansGB" charset="0"/>
                      </a:endParaRPr>
                    </a:p>
                  </a:txBody>
                  <a:tcPr marL="6072" marR="6072" marT="6072" marB="3036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6857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FrexSansGB" pitchFamily="34" charset="0"/>
                          <a:ea typeface="FrexSansGB" pitchFamily="34" charset="-122"/>
                          <a:cs typeface="FrexSansGB" pitchFamily="34" charset="-120"/>
                        </a:rPr>
                        <a:t>泵组磨损、容积效率下降</a:t>
                      </a:r>
                      <a:endParaRPr lang="en-US" sz="900" dirty="0">
                        <a:latin typeface="FrexSansGB" charset="0"/>
                        <a:ea typeface="FrexSansGB" charset="0"/>
                        <a:cs typeface="FrexSansGB" charset="0"/>
                      </a:endParaRPr>
                    </a:p>
                  </a:txBody>
                  <a:tcPr marL="48578" marR="60722" marT="30361" marB="30361" anchor="t">
                    <a:lnL w="14288" cap="flat" cmpd="sng" algn="ctr">
                      <a:solidFill>
                        <a:srgbClr val="76B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A7A7A7"/>
                          </a:solidFill>
                          <a:latin typeface="FrexSansGB" pitchFamily="34" charset="0"/>
                          <a:ea typeface="FrexSansGB" pitchFamily="34" charset="-122"/>
                          <a:cs typeface="FrexSansGB" pitchFamily="34" charset="-120"/>
                        </a:rPr>
                        <a:t>同流量下需更高转速或更长运行时间</a:t>
                      </a:r>
                      <a:endParaRPr lang="en-US" sz="700" dirty="0">
                        <a:latin typeface="FrexSansGB" charset="0"/>
                        <a:ea typeface="FrexSansGB" charset="0"/>
                        <a:cs typeface="FrexSansGB" charset="0"/>
                      </a:endParaRPr>
                    </a:p>
                  </a:txBody>
                  <a:tcPr marL="6072" marR="60722" marT="30361" marB="30361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FFFFFF"/>
                          </a:solidFill>
                          <a:latin typeface="FrexSansGB" pitchFamily="34" charset="0"/>
                          <a:ea typeface="FrexSansGB" pitchFamily="34" charset="-122"/>
                          <a:cs typeface="FrexSansGB" pitchFamily="34" charset="-120"/>
                        </a:rPr>
                        <a:t>泵组更新 + 变频 / 负载敏感（LS）控制，按需供油</a:t>
                      </a:r>
                      <a:endParaRPr lang="en-US" sz="700" dirty="0">
                        <a:latin typeface="FrexSansGB" charset="0"/>
                        <a:ea typeface="FrexSansGB" charset="0"/>
                        <a:cs typeface="FrexSansGB" charset="0"/>
                      </a:endParaRPr>
                    </a:p>
                  </a:txBody>
                  <a:tcPr marL="6072" marR="6072" marT="30361" marB="30361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6857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FrexSansGB" pitchFamily="34" charset="0"/>
                          <a:ea typeface="FrexSansGB" pitchFamily="34" charset="-122"/>
                          <a:cs typeface="FrexSansGB" pitchFamily="34" charset="-120"/>
                        </a:rPr>
                        <a:t>密封与管路内泄增加</a:t>
                      </a:r>
                      <a:endParaRPr lang="en-US" sz="900" dirty="0">
                        <a:latin typeface="FrexSansGB" charset="0"/>
                        <a:ea typeface="FrexSansGB" charset="0"/>
                        <a:cs typeface="FrexSansGB" charset="0"/>
                      </a:endParaRPr>
                    </a:p>
                  </a:txBody>
                  <a:tcPr marL="48578" marR="60722" marT="30361" marB="30361" anchor="t">
                    <a:lnL w="14288" cap="flat" cmpd="sng" algn="ctr">
                      <a:solidFill>
                        <a:srgbClr val="76B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A7A7A7"/>
                          </a:solidFill>
                          <a:latin typeface="FrexSansGB" pitchFamily="34" charset="0"/>
                          <a:ea typeface="FrexSansGB" pitchFamily="34" charset="-122"/>
                          <a:cs typeface="FrexSansGB" pitchFamily="34" charset="-120"/>
                        </a:rPr>
                        <a:t>保压阶段压力回落，电能转为无效液压能与热量</a:t>
                      </a:r>
                      <a:endParaRPr lang="en-US" sz="700" dirty="0">
                        <a:latin typeface="FrexSansGB" charset="0"/>
                        <a:ea typeface="FrexSansGB" charset="0"/>
                        <a:cs typeface="FrexSansGB" charset="0"/>
                      </a:endParaRPr>
                    </a:p>
                  </a:txBody>
                  <a:tcPr marL="6072" marR="60722" marT="30361" marB="30361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FFFFFF"/>
                          </a:solidFill>
                          <a:latin typeface="FrexSansGB" pitchFamily="34" charset="0"/>
                          <a:ea typeface="FrexSansGB" pitchFamily="34" charset="-122"/>
                          <a:cs typeface="FrexSansGB" pitchFamily="34" charset="-120"/>
                        </a:rPr>
                        <a:t>更换老化密封件与高压管路，处理泄漏点</a:t>
                      </a:r>
                      <a:endParaRPr lang="en-US" sz="700" dirty="0">
                        <a:latin typeface="FrexSansGB" charset="0"/>
                        <a:ea typeface="FrexSansGB" charset="0"/>
                        <a:cs typeface="FrexSansGB" charset="0"/>
                      </a:endParaRPr>
                    </a:p>
                  </a:txBody>
                  <a:tcPr marL="6072" marR="6072" marT="30361" marB="30361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0000"/>
                    </a:solidFill>
                  </a:tcPr>
                </a:tc>
              </a:tr>
              <a:tr h="36857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FrexSansGB" pitchFamily="34" charset="0"/>
                          <a:ea typeface="FrexSansGB" pitchFamily="34" charset="-122"/>
                          <a:cs typeface="FrexSansGB" pitchFamily="34" charset="-120"/>
                        </a:rPr>
                        <a:t>溢流损失上升、卸荷不良</a:t>
                      </a:r>
                      <a:endParaRPr lang="en-US" sz="900" dirty="0">
                        <a:latin typeface="FrexSansGB" charset="0"/>
                        <a:ea typeface="FrexSansGB" charset="0"/>
                        <a:cs typeface="FrexSansGB" charset="0"/>
                      </a:endParaRPr>
                    </a:p>
                  </a:txBody>
                  <a:tcPr marL="48578" marR="60722" marT="30361" marB="30361" anchor="t">
                    <a:lnL w="14288" cap="flat" cmpd="sng" algn="ctr">
                      <a:solidFill>
                        <a:srgbClr val="76B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A7A7A7"/>
                          </a:solidFill>
                          <a:latin typeface="FrexSansGB" pitchFamily="34" charset="0"/>
                          <a:ea typeface="FrexSansGB" pitchFamily="34" charset="-122"/>
                          <a:cs typeface="FrexSansGB" pitchFamily="34" charset="-120"/>
                        </a:rPr>
                        <a:t>高压油直接回油箱、能量全部变热；空载 8 kWh/h（2 号线 6、4 号线 5）</a:t>
                      </a:r>
                      <a:endParaRPr lang="en-US" sz="700" dirty="0">
                        <a:latin typeface="FrexSansGB" charset="0"/>
                        <a:ea typeface="FrexSansGB" charset="0"/>
                        <a:cs typeface="FrexSansGB" charset="0"/>
                      </a:endParaRPr>
                    </a:p>
                  </a:txBody>
                  <a:tcPr marL="6072" marR="60722" marT="30361" marB="30361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FFFFFF"/>
                          </a:solidFill>
                          <a:latin typeface="FrexSansGB" pitchFamily="34" charset="0"/>
                          <a:ea typeface="FrexSansGB" pitchFamily="34" charset="-122"/>
                          <a:cs typeface="FrexSansGB" pitchFamily="34" charset="-120"/>
                        </a:rPr>
                        <a:t>重新标定溢流与保压设定，完善卸荷逻辑</a:t>
                      </a:r>
                      <a:endParaRPr lang="en-US" sz="700" dirty="0">
                        <a:latin typeface="FrexSansGB" charset="0"/>
                        <a:ea typeface="FrexSansGB" charset="0"/>
                        <a:cs typeface="FrexSansGB" charset="0"/>
                      </a:endParaRPr>
                    </a:p>
                  </a:txBody>
                  <a:tcPr marL="6072" marR="6072" marT="30361" marB="30361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6500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FrexSansGB" pitchFamily="34" charset="0"/>
                          <a:ea typeface="FrexSansGB" pitchFamily="34" charset="-122"/>
                          <a:cs typeface="FrexSansGB" pitchFamily="34" charset="-120"/>
                        </a:rPr>
                        <a:t>油液劣化、油温升高</a:t>
                      </a:r>
                      <a:endParaRPr lang="en-US" sz="900" dirty="0">
                        <a:latin typeface="FrexSansGB" charset="0"/>
                        <a:ea typeface="FrexSansGB" charset="0"/>
                        <a:cs typeface="FrexSansGB" charset="0"/>
                      </a:endParaRPr>
                    </a:p>
                  </a:txBody>
                  <a:tcPr marL="48578" marR="60722" marT="30361" marB="30361" anchor="t">
                    <a:lnL w="14288" cap="flat" cmpd="sng" algn="ctr">
                      <a:solidFill>
                        <a:srgbClr val="76B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A7A7A7"/>
                          </a:solidFill>
                          <a:latin typeface="FrexSansGB" pitchFamily="34" charset="0"/>
                          <a:ea typeface="FrexSansGB" pitchFamily="34" charset="-122"/>
                          <a:cs typeface="FrexSansGB" pitchFamily="34" charset="-120"/>
                        </a:rPr>
                        <a:t>黏度下降加剧内泄、冷却负荷上升，形成正反馈</a:t>
                      </a:r>
                      <a:endParaRPr lang="en-US" sz="700" dirty="0">
                        <a:latin typeface="FrexSansGB" charset="0"/>
                        <a:ea typeface="FrexSansGB" charset="0"/>
                        <a:cs typeface="FrexSansGB" charset="0"/>
                      </a:endParaRPr>
                    </a:p>
                  </a:txBody>
                  <a:tcPr marL="6072" marR="60722" marT="30361" marB="30361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FFFFFF"/>
                          </a:solidFill>
                          <a:latin typeface="FrexSansGB" pitchFamily="34" charset="0"/>
                          <a:ea typeface="FrexSansGB" pitchFamily="34" charset="-122"/>
                          <a:cs typeface="FrexSansGB" pitchFamily="34" charset="-120"/>
                        </a:rPr>
                        <a:t>油箱与过滤 / 冷却系统整治，恢复油品与温控能力</a:t>
                      </a:r>
                      <a:endParaRPr lang="en-US" sz="700" dirty="0">
                        <a:latin typeface="FrexSansGB" charset="0"/>
                        <a:ea typeface="FrexSansGB" charset="0"/>
                        <a:cs typeface="FrexSansGB" charset="0"/>
                      </a:endParaRPr>
                    </a:p>
                  </a:txBody>
                  <a:tcPr marL="6072" marR="6072" marT="30361" marB="30361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  <p:pic>
        <p:nvPicPr>
          <p:cNvPr id="3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750344" y="4349874"/>
            <a:ext cx="4171950" cy="178594"/>
          </a:xfrm>
          <a:prstGeom prst="rect">
            <a:avLst/>
          </a:prstGeom>
        </p:spPr>
      </p:pic>
      <p:sp>
        <p:nvSpPr>
          <p:cNvPr id="33" name="Shape 27"/>
          <p:cNvSpPr/>
          <p:nvPr/>
        </p:nvSpPr>
        <p:spPr>
          <a:xfrm>
            <a:off x="7172325" y="1337667"/>
            <a:ext cx="1757363" cy="3271838"/>
          </a:xfrm>
          <a:prstGeom prst="roundRect">
            <a:avLst>
              <a:gd name="adj" fmla="val 423"/>
            </a:avLst>
          </a:prstGeom>
          <a:solidFill>
            <a:srgbClr val="1A1A1A"/>
          </a:solidFill>
          <a:ln w="6191">
            <a:solidFill>
              <a:srgbClr val="5E5E5E"/>
            </a:solidFill>
            <a:prstDash val="solid"/>
          </a:ln>
        </p:spPr>
      </p:sp>
      <p:sp>
        <p:nvSpPr>
          <p:cNvPr id="34" name="Shape 28"/>
          <p:cNvSpPr/>
          <p:nvPr/>
        </p:nvSpPr>
        <p:spPr>
          <a:xfrm>
            <a:off x="7250906" y="1417141"/>
            <a:ext cx="1600200" cy="228600"/>
          </a:xfrm>
          <a:prstGeom prst="rect">
            <a:avLst/>
          </a:prstGeom>
          <a:ln/>
        </p:spPr>
      </p:sp>
      <p:pic>
        <p:nvPicPr>
          <p:cNvPr id="3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250906" y="1417141"/>
            <a:ext cx="1600200" cy="228600"/>
          </a:xfrm>
          <a:prstGeom prst="rect">
            <a:avLst/>
          </a:prstGeom>
        </p:spPr>
      </p:pic>
      <p:sp>
        <p:nvSpPr>
          <p:cNvPr id="36" name="Shape 29"/>
          <p:cNvSpPr/>
          <p:nvPr/>
        </p:nvSpPr>
        <p:spPr>
          <a:xfrm>
            <a:off x="7250906" y="1701775"/>
            <a:ext cx="1600200" cy="664369"/>
          </a:xfrm>
          <a:prstGeom prst="rect">
            <a:avLst/>
          </a:prstGeom>
          <a:ln/>
        </p:spPr>
      </p:sp>
      <p:pic>
        <p:nvPicPr>
          <p:cNvPr id="37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250906" y="1701775"/>
            <a:ext cx="1600200" cy="664369"/>
          </a:xfrm>
          <a:prstGeom prst="rect">
            <a:avLst/>
          </a:prstGeom>
        </p:spPr>
      </p:pic>
      <p:sp>
        <p:nvSpPr>
          <p:cNvPr id="38" name="Shape 30"/>
          <p:cNvSpPr/>
          <p:nvPr/>
        </p:nvSpPr>
        <p:spPr>
          <a:xfrm>
            <a:off x="7250906" y="2422847"/>
            <a:ext cx="1600200" cy="664369"/>
          </a:xfrm>
          <a:prstGeom prst="rect">
            <a:avLst/>
          </a:prstGeom>
          <a:ln/>
        </p:spPr>
      </p:sp>
      <p:pic>
        <p:nvPicPr>
          <p:cNvPr id="39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250906" y="2422847"/>
            <a:ext cx="1600200" cy="664369"/>
          </a:xfrm>
          <a:prstGeom prst="rect">
            <a:avLst/>
          </a:prstGeom>
        </p:spPr>
      </p:pic>
      <p:sp>
        <p:nvSpPr>
          <p:cNvPr id="40" name="Shape 31"/>
          <p:cNvSpPr/>
          <p:nvPr/>
        </p:nvSpPr>
        <p:spPr>
          <a:xfrm>
            <a:off x="7250906" y="3143920"/>
            <a:ext cx="1600200" cy="664369"/>
          </a:xfrm>
          <a:prstGeom prst="rect">
            <a:avLst/>
          </a:prstGeom>
          <a:ln/>
        </p:spPr>
      </p:sp>
      <p:pic>
        <p:nvPicPr>
          <p:cNvPr id="41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250906" y="3143920"/>
            <a:ext cx="1600200" cy="664369"/>
          </a:xfrm>
          <a:prstGeom prst="rect">
            <a:avLst/>
          </a:prstGeom>
        </p:spPr>
      </p:pic>
      <p:sp>
        <p:nvSpPr>
          <p:cNvPr id="42" name="Shape 32"/>
          <p:cNvSpPr/>
          <p:nvPr/>
        </p:nvSpPr>
        <p:spPr>
          <a:xfrm>
            <a:off x="7250906" y="3864992"/>
            <a:ext cx="1600200" cy="664369"/>
          </a:xfrm>
          <a:prstGeom prst="rect">
            <a:avLst/>
          </a:prstGeom>
          <a:ln/>
        </p:spPr>
      </p:sp>
      <p:pic>
        <p:nvPicPr>
          <p:cNvPr id="43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7250906" y="3864992"/>
            <a:ext cx="1600200" cy="664369"/>
          </a:xfrm>
          <a:prstGeom prst="rect">
            <a:avLst/>
          </a:prstGeom>
        </p:spPr>
      </p:pic>
      <p:sp>
        <p:nvSpPr>
          <p:cNvPr id="44" name="Text 33"/>
          <p:cNvSpPr/>
          <p:nvPr/>
        </p:nvSpPr>
        <p:spPr>
          <a:xfrm>
            <a:off x="214313" y="498277"/>
            <a:ext cx="8715375" cy="62865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液压系统占 1 号线电耗 45%（约 30.6 万 kWh/月），老化使其能耗高出正常水</a:t>
            </a:r>
            <a:endParaRPr lang="en-US" sz="1900" dirty="0"/>
          </a:p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平约 29%</a:t>
            </a:r>
            <a:endParaRPr lang="en-US" sz="1900" dirty="0"/>
          </a:p>
        </p:txBody>
      </p:sp>
      <p:sp>
        <p:nvSpPr>
          <p:cNvPr id="45" name="Text 34"/>
          <p:cNvSpPr/>
          <p:nvPr/>
        </p:nvSpPr>
        <p:spPr>
          <a:xfrm>
            <a:off x="291778" y="1417141"/>
            <a:ext cx="1207294" cy="17145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1 号线电耗损失流向</a:t>
            </a:r>
            <a:endParaRPr lang="en-US" sz="1000" dirty="0"/>
          </a:p>
        </p:txBody>
      </p:sp>
      <p:sp>
        <p:nvSpPr>
          <p:cNvPr id="46" name="Text 35"/>
          <p:cNvSpPr/>
          <p:nvPr/>
        </p:nvSpPr>
        <p:spPr>
          <a:xfrm>
            <a:off x="1706017" y="1451967"/>
            <a:ext cx="714375" cy="14287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98989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单位：万 kWh/月</a:t>
            </a:r>
            <a:endParaRPr lang="en-US" sz="700" dirty="0"/>
          </a:p>
        </p:txBody>
      </p:sp>
      <p:sp>
        <p:nvSpPr>
          <p:cNvPr id="47" name="Text 36"/>
          <p:cNvSpPr/>
          <p:nvPr/>
        </p:nvSpPr>
        <p:spPr>
          <a:xfrm>
            <a:off x="292894" y="4227761"/>
            <a:ext cx="2128838" cy="300038"/>
          </a:xfrm>
          <a:prstGeom prst="rect">
            <a:avLst/>
          </a:prstGeom>
          <a:ln/>
        </p:spPr>
        <p:txBody>
          <a:bodyPr wrap="none" lIns="0" tIns="36433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A7A7A7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口径：液压系统 30.6 万 kWh 中约 8.8 万 kWh 为老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A7A7A7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化损失</a:t>
            </a:r>
            <a:endParaRPr lang="en-US" sz="700" dirty="0"/>
          </a:p>
        </p:txBody>
      </p:sp>
      <p:sp>
        <p:nvSpPr>
          <p:cNvPr id="48" name="Text 37"/>
          <p:cNvSpPr/>
          <p:nvPr/>
        </p:nvSpPr>
        <p:spPr>
          <a:xfrm>
            <a:off x="2750344" y="1417141"/>
            <a:ext cx="4171950" cy="17145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四类损失机理 → 五项改造措施</a:t>
            </a:r>
            <a:endParaRPr lang="en-US" sz="1000" dirty="0"/>
          </a:p>
        </p:txBody>
      </p:sp>
      <p:sp>
        <p:nvSpPr>
          <p:cNvPr id="49" name="Text 38"/>
          <p:cNvSpPr/>
          <p:nvPr/>
        </p:nvSpPr>
        <p:spPr>
          <a:xfrm>
            <a:off x="2750344" y="4349874"/>
            <a:ext cx="4171950" cy="178594"/>
          </a:xfrm>
          <a:prstGeom prst="rect">
            <a:avLst/>
          </a:prstGeom>
          <a:ln/>
        </p:spPr>
        <p:txBody>
          <a:bodyPr wrap="none" lIns="0" tIns="36433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A7A7A7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第五项措施：加装液压分项计量与压力/温度监测点，纳入预防性维护周期，支撑改造前后实测对比。</a:t>
            </a:r>
            <a:endParaRPr lang="en-US" sz="700" dirty="0"/>
          </a:p>
        </p:txBody>
      </p:sp>
      <p:sp>
        <p:nvSpPr>
          <p:cNvPr id="50" name="Text 39"/>
          <p:cNvSpPr/>
          <p:nvPr/>
        </p:nvSpPr>
        <p:spPr>
          <a:xfrm>
            <a:off x="7250906" y="1417141"/>
            <a:ext cx="1600200" cy="17145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改造效果预期（测算）</a:t>
            </a:r>
            <a:endParaRPr lang="en-US" sz="1000" dirty="0"/>
          </a:p>
        </p:txBody>
      </p:sp>
      <p:sp>
        <p:nvSpPr>
          <p:cNvPr id="51" name="Text 40"/>
          <p:cNvSpPr/>
          <p:nvPr/>
        </p:nvSpPr>
        <p:spPr>
          <a:xfrm>
            <a:off x="7336631" y="1812671"/>
            <a:ext cx="1514475" cy="107156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98989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单位能耗 kWh/件（改造前 → 后）</a:t>
            </a:r>
            <a:endParaRPr lang="en-US" sz="700" dirty="0"/>
          </a:p>
        </p:txBody>
      </p:sp>
      <p:sp>
        <p:nvSpPr>
          <p:cNvPr id="52" name="Text 41"/>
          <p:cNvSpPr/>
          <p:nvPr/>
        </p:nvSpPr>
        <p:spPr>
          <a:xfrm>
            <a:off x="7336631" y="1941761"/>
            <a:ext cx="1514475" cy="171450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0.85 → 约 0.74</a:t>
            </a:r>
            <a:endParaRPr lang="en-US" sz="1000" dirty="0"/>
          </a:p>
        </p:txBody>
      </p:sp>
      <p:sp>
        <p:nvSpPr>
          <p:cNvPr id="53" name="Text 42"/>
          <p:cNvSpPr/>
          <p:nvPr/>
        </p:nvSpPr>
        <p:spPr>
          <a:xfrm>
            <a:off x="7336631" y="2127275"/>
            <a:ext cx="1514475" cy="128588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A7A7A7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降 0.11，降幅约 13%</a:t>
            </a:r>
            <a:endParaRPr lang="en-US" sz="700" dirty="0"/>
          </a:p>
        </p:txBody>
      </p:sp>
      <p:sp>
        <p:nvSpPr>
          <p:cNvPr id="54" name="Text 43"/>
          <p:cNvSpPr/>
          <p:nvPr/>
        </p:nvSpPr>
        <p:spPr>
          <a:xfrm>
            <a:off x="7336631" y="2533743"/>
            <a:ext cx="1514475" cy="107156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98989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月节电量（测算）</a:t>
            </a:r>
            <a:endParaRPr lang="en-US" sz="700" dirty="0"/>
          </a:p>
        </p:txBody>
      </p:sp>
      <p:sp>
        <p:nvSpPr>
          <p:cNvPr id="55" name="Text 44"/>
          <p:cNvSpPr/>
          <p:nvPr/>
        </p:nvSpPr>
        <p:spPr>
          <a:xfrm>
            <a:off x="7336631" y="2662833"/>
            <a:ext cx="1514475" cy="171450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8.8 万 kWh/月</a:t>
            </a:r>
            <a:endParaRPr lang="en-US" sz="1000" dirty="0"/>
          </a:p>
        </p:txBody>
      </p:sp>
      <p:sp>
        <p:nvSpPr>
          <p:cNvPr id="56" name="Text 45"/>
          <p:cNvSpPr/>
          <p:nvPr/>
        </p:nvSpPr>
        <p:spPr>
          <a:xfrm>
            <a:off x="7336631" y="2848347"/>
            <a:ext cx="1514475" cy="128588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A7A7A7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对应月产量 80 万件</a:t>
            </a:r>
            <a:endParaRPr lang="en-US" sz="700" dirty="0"/>
          </a:p>
        </p:txBody>
      </p:sp>
      <p:sp>
        <p:nvSpPr>
          <p:cNvPr id="57" name="Text 46"/>
          <p:cNvSpPr/>
          <p:nvPr/>
        </p:nvSpPr>
        <p:spPr>
          <a:xfrm>
            <a:off x="7336631" y="3254815"/>
            <a:ext cx="1514475" cy="107156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98989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液压系统状态</a:t>
            </a:r>
            <a:endParaRPr lang="en-US" sz="700" dirty="0"/>
          </a:p>
        </p:txBody>
      </p:sp>
      <p:sp>
        <p:nvSpPr>
          <p:cNvPr id="58" name="Text 47"/>
          <p:cNvSpPr/>
          <p:nvPr/>
        </p:nvSpPr>
        <p:spPr>
          <a:xfrm>
            <a:off x="7336631" y="3383905"/>
            <a:ext cx="1514475" cy="171450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高出正常约 29%</a:t>
            </a:r>
            <a:endParaRPr lang="en-US" sz="1000" dirty="0"/>
          </a:p>
        </p:txBody>
      </p:sp>
      <p:sp>
        <p:nvSpPr>
          <p:cNvPr id="59" name="Text 48"/>
          <p:cNvSpPr/>
          <p:nvPr/>
        </p:nvSpPr>
        <p:spPr>
          <a:xfrm>
            <a:off x="7336631" y="3569419"/>
            <a:ext cx="1514475" cy="128588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A7A7A7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改造后消除该老化损失</a:t>
            </a:r>
            <a:endParaRPr lang="en-US" sz="700" dirty="0"/>
          </a:p>
        </p:txBody>
      </p:sp>
      <p:sp>
        <p:nvSpPr>
          <p:cNvPr id="60" name="Text 49"/>
          <p:cNvSpPr/>
          <p:nvPr/>
        </p:nvSpPr>
        <p:spPr>
          <a:xfrm>
            <a:off x="7336631" y="3975888"/>
            <a:ext cx="1514475" cy="107156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98989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行业标杆参照</a:t>
            </a:r>
            <a:endParaRPr lang="en-US" sz="700" dirty="0"/>
          </a:p>
        </p:txBody>
      </p:sp>
      <p:sp>
        <p:nvSpPr>
          <p:cNvPr id="61" name="Text 50"/>
          <p:cNvSpPr/>
          <p:nvPr/>
        </p:nvSpPr>
        <p:spPr>
          <a:xfrm>
            <a:off x="7336631" y="4104977"/>
            <a:ext cx="1514475" cy="171450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0.45 kWh/件</a:t>
            </a:r>
            <a:endParaRPr lang="en-US" sz="1000" dirty="0"/>
          </a:p>
        </p:txBody>
      </p:sp>
      <p:sp>
        <p:nvSpPr>
          <p:cNvPr id="62" name="Text 51"/>
          <p:cNvSpPr/>
          <p:nvPr/>
        </p:nvSpPr>
        <p:spPr>
          <a:xfrm>
            <a:off x="7336631" y="4290492"/>
            <a:ext cx="1514475" cy="128588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A7A7A7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仍有差距，属第一批改造</a:t>
            </a:r>
            <a:endParaRPr lang="en-US" sz="700" dirty="0"/>
          </a:p>
        </p:txBody>
      </p:sp>
      <p:sp>
        <p:nvSpPr>
          <p:cNvPr id="63" name="Text 52"/>
          <p:cNvSpPr/>
          <p:nvPr/>
        </p:nvSpPr>
        <p:spPr>
          <a:xfrm>
            <a:off x="214313" y="4664869"/>
            <a:ext cx="8715375" cy="1500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98989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来源：能耗实测数据（实测月口径）+ 工程测算；45% 电耗占比与 29% 老化损失为工程估算，最终以改造前后分项计量实测为准。</a:t>
            </a:r>
            <a:endParaRPr lang="en-US" sz="700" dirty="0"/>
          </a:p>
        </p:txBody>
      </p:sp>
      <p:sp>
        <p:nvSpPr>
          <p:cNvPr id="65535" name="wm:hwcld:2026-09-22T19:05:55:0e1af824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ln/>
        </p:spPr>
      </p:sp>
      <p:sp>
        <p:nvSpPr>
          <p:cNvPr id="3" name="Shape 1"/>
          <p:cNvSpPr/>
          <p:nvPr/>
        </p:nvSpPr>
        <p:spPr>
          <a:xfrm>
            <a:off x="214313" y="898327"/>
            <a:ext cx="428625" cy="14288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4" name="Shape 2"/>
          <p:cNvSpPr/>
          <p:nvPr/>
        </p:nvSpPr>
        <p:spPr>
          <a:xfrm>
            <a:off x="214982" y="1025296"/>
            <a:ext cx="1650206" cy="592931"/>
          </a:xfrm>
          <a:prstGeom prst="roundRect">
            <a:avLst>
              <a:gd name="adj" fmla="val 929"/>
            </a:avLst>
          </a:prstGeom>
          <a:solidFill>
            <a:srgbClr val="1A1A1A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14982" y="1025296"/>
            <a:ext cx="1650206" cy="59293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980884" y="1025296"/>
            <a:ext cx="1650206" cy="592931"/>
          </a:xfrm>
          <a:prstGeom prst="roundRect">
            <a:avLst>
              <a:gd name="adj" fmla="val 929"/>
            </a:avLst>
          </a:prstGeom>
          <a:solidFill>
            <a:srgbClr val="1A1A1A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980884" y="1025296"/>
            <a:ext cx="1650206" cy="592931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3746841" y="1025296"/>
            <a:ext cx="1650206" cy="592931"/>
          </a:xfrm>
          <a:prstGeom prst="roundRect">
            <a:avLst>
              <a:gd name="adj" fmla="val 929"/>
            </a:avLst>
          </a:prstGeom>
          <a:solidFill>
            <a:srgbClr val="1A1A1A"/>
          </a:solidFill>
          <a:ln/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746841" y="1025296"/>
            <a:ext cx="1650206" cy="592931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5512798" y="1025296"/>
            <a:ext cx="1650206" cy="592931"/>
          </a:xfrm>
          <a:prstGeom prst="roundRect">
            <a:avLst>
              <a:gd name="adj" fmla="val 929"/>
            </a:avLst>
          </a:prstGeom>
          <a:solidFill>
            <a:srgbClr val="1A1A1A"/>
          </a:solidFill>
          <a:ln/>
        </p:spPr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512798" y="1025296"/>
            <a:ext cx="1650206" cy="592931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7278700" y="1025296"/>
            <a:ext cx="1650206" cy="592931"/>
          </a:xfrm>
          <a:prstGeom prst="roundRect">
            <a:avLst>
              <a:gd name="adj" fmla="val 929"/>
            </a:avLst>
          </a:prstGeom>
          <a:solidFill>
            <a:srgbClr val="1A1A1A"/>
          </a:solidFill>
          <a:ln/>
        </p:spPr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278700" y="1025296"/>
            <a:ext cx="1650206" cy="592931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542925" y="3706155"/>
            <a:ext cx="4550569" cy="0"/>
          </a:xfrm>
          <a:prstGeom prst="line">
            <a:avLst/>
          </a:prstGeom>
          <a:noFill/>
          <a:ln w="6350">
            <a:solidFill>
              <a:srgbClr val="5E5E5E">
                <a:alpha val="40000"/>
              </a:srgbClr>
            </a:solidFill>
            <a:prstDash val="solid"/>
          </a:ln>
        </p:spPr>
      </p:sp>
      <p:sp>
        <p:nvSpPr>
          <p:cNvPr id="15" name="Shape 8"/>
          <p:cNvSpPr/>
          <p:nvPr/>
        </p:nvSpPr>
        <p:spPr>
          <a:xfrm>
            <a:off x="542925" y="3506130"/>
            <a:ext cx="4550569" cy="0"/>
          </a:xfrm>
          <a:prstGeom prst="line">
            <a:avLst/>
          </a:prstGeom>
          <a:noFill/>
          <a:ln w="6350">
            <a:solidFill>
              <a:srgbClr val="5E5E5E">
                <a:alpha val="40000"/>
              </a:srgbClr>
            </a:solidFill>
            <a:prstDash val="solid"/>
          </a:ln>
        </p:spPr>
      </p:sp>
      <p:sp>
        <p:nvSpPr>
          <p:cNvPr id="16" name="Shape 9"/>
          <p:cNvSpPr/>
          <p:nvPr/>
        </p:nvSpPr>
        <p:spPr>
          <a:xfrm>
            <a:off x="542925" y="3306105"/>
            <a:ext cx="4550569" cy="0"/>
          </a:xfrm>
          <a:prstGeom prst="line">
            <a:avLst/>
          </a:prstGeom>
          <a:noFill/>
          <a:ln w="6350">
            <a:solidFill>
              <a:srgbClr val="5E5E5E">
                <a:alpha val="40000"/>
              </a:srgbClr>
            </a:solidFill>
            <a:prstDash val="solid"/>
          </a:ln>
        </p:spPr>
      </p:sp>
      <p:sp>
        <p:nvSpPr>
          <p:cNvPr id="17" name="Shape 10"/>
          <p:cNvSpPr/>
          <p:nvPr/>
        </p:nvSpPr>
        <p:spPr>
          <a:xfrm>
            <a:off x="542925" y="3106080"/>
            <a:ext cx="4550569" cy="0"/>
          </a:xfrm>
          <a:prstGeom prst="line">
            <a:avLst/>
          </a:prstGeom>
          <a:noFill/>
          <a:ln w="6350">
            <a:solidFill>
              <a:srgbClr val="5E5E5E">
                <a:alpha val="40000"/>
              </a:srgbClr>
            </a:solidFill>
            <a:prstDash val="solid"/>
          </a:ln>
        </p:spPr>
      </p:sp>
      <p:sp>
        <p:nvSpPr>
          <p:cNvPr id="18" name="Shape 11"/>
          <p:cNvSpPr/>
          <p:nvPr/>
        </p:nvSpPr>
        <p:spPr>
          <a:xfrm>
            <a:off x="542925" y="2906055"/>
            <a:ext cx="4550569" cy="0"/>
          </a:xfrm>
          <a:prstGeom prst="line">
            <a:avLst/>
          </a:prstGeom>
          <a:noFill/>
          <a:ln w="6350">
            <a:solidFill>
              <a:srgbClr val="5E5E5E">
                <a:alpha val="40000"/>
              </a:srgbClr>
            </a:solidFill>
            <a:prstDash val="solid"/>
          </a:ln>
        </p:spPr>
      </p:sp>
      <p:sp>
        <p:nvSpPr>
          <p:cNvPr id="19" name="Shape 12"/>
          <p:cNvSpPr/>
          <p:nvPr/>
        </p:nvSpPr>
        <p:spPr>
          <a:xfrm>
            <a:off x="542925" y="2706030"/>
            <a:ext cx="4550569" cy="0"/>
          </a:xfrm>
          <a:prstGeom prst="line">
            <a:avLst/>
          </a:prstGeom>
          <a:noFill/>
          <a:ln w="6350">
            <a:solidFill>
              <a:srgbClr val="5E5E5E">
                <a:alpha val="40000"/>
              </a:srgbClr>
            </a:solidFill>
            <a:prstDash val="solid"/>
          </a:ln>
        </p:spPr>
      </p:sp>
      <p:sp>
        <p:nvSpPr>
          <p:cNvPr id="20" name="Shape 13"/>
          <p:cNvSpPr/>
          <p:nvPr/>
        </p:nvSpPr>
        <p:spPr>
          <a:xfrm>
            <a:off x="542925" y="2506005"/>
            <a:ext cx="4550569" cy="0"/>
          </a:xfrm>
          <a:prstGeom prst="line">
            <a:avLst/>
          </a:prstGeom>
          <a:noFill/>
          <a:ln w="6350">
            <a:solidFill>
              <a:srgbClr val="5E5E5E">
                <a:alpha val="40000"/>
              </a:srgbClr>
            </a:solidFill>
            <a:prstDash val="solid"/>
          </a:ln>
        </p:spPr>
      </p:sp>
      <p:sp>
        <p:nvSpPr>
          <p:cNvPr id="21" name="Shape 14"/>
          <p:cNvSpPr/>
          <p:nvPr/>
        </p:nvSpPr>
        <p:spPr>
          <a:xfrm>
            <a:off x="542925" y="2305980"/>
            <a:ext cx="4550569" cy="0"/>
          </a:xfrm>
          <a:prstGeom prst="line">
            <a:avLst/>
          </a:prstGeom>
          <a:noFill/>
          <a:ln w="6350">
            <a:solidFill>
              <a:srgbClr val="5E5E5E">
                <a:alpha val="40000"/>
              </a:srgbClr>
            </a:solidFill>
            <a:prstDash val="solid"/>
          </a:ln>
        </p:spPr>
      </p:sp>
      <p:sp>
        <p:nvSpPr>
          <p:cNvPr id="22" name="Shape 15"/>
          <p:cNvSpPr/>
          <p:nvPr/>
        </p:nvSpPr>
        <p:spPr>
          <a:xfrm>
            <a:off x="542925" y="3306105"/>
            <a:ext cx="4550569" cy="0"/>
          </a:xfrm>
          <a:prstGeom prst="line">
            <a:avLst/>
          </a:prstGeom>
          <a:noFill/>
          <a:ln w="6350">
            <a:solidFill>
              <a:srgbClr val="5E5E5E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-297180" y="3642576"/>
            <a:ext cx="782955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A7A7A7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-200</a:t>
            </a:r>
            <a:endParaRPr lang="en-US" sz="788" dirty="0"/>
          </a:p>
        </p:txBody>
      </p:sp>
      <p:sp>
        <p:nvSpPr>
          <p:cNvPr id="24" name="Text 17"/>
          <p:cNvSpPr/>
          <p:nvPr/>
        </p:nvSpPr>
        <p:spPr>
          <a:xfrm>
            <a:off x="-297180" y="3442551"/>
            <a:ext cx="782955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A7A7A7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-100</a:t>
            </a:r>
            <a:endParaRPr lang="en-US" sz="788" dirty="0"/>
          </a:p>
        </p:txBody>
      </p:sp>
      <p:sp>
        <p:nvSpPr>
          <p:cNvPr id="25" name="Text 18"/>
          <p:cNvSpPr/>
          <p:nvPr/>
        </p:nvSpPr>
        <p:spPr>
          <a:xfrm>
            <a:off x="152876" y="3242526"/>
            <a:ext cx="332899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A7A7A7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0</a:t>
            </a:r>
            <a:endParaRPr lang="en-US" sz="788" dirty="0"/>
          </a:p>
        </p:txBody>
      </p:sp>
      <p:sp>
        <p:nvSpPr>
          <p:cNvPr id="26" name="Text 19"/>
          <p:cNvSpPr/>
          <p:nvPr/>
        </p:nvSpPr>
        <p:spPr>
          <a:xfrm>
            <a:off x="-147161" y="3042501"/>
            <a:ext cx="632936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A7A7A7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100</a:t>
            </a:r>
            <a:endParaRPr lang="en-US" sz="788" dirty="0"/>
          </a:p>
        </p:txBody>
      </p:sp>
      <p:sp>
        <p:nvSpPr>
          <p:cNvPr id="27" name="Text 20"/>
          <p:cNvSpPr/>
          <p:nvPr/>
        </p:nvSpPr>
        <p:spPr>
          <a:xfrm>
            <a:off x="-147161" y="2842476"/>
            <a:ext cx="632936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A7A7A7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200</a:t>
            </a:r>
            <a:endParaRPr lang="en-US" sz="788" dirty="0"/>
          </a:p>
        </p:txBody>
      </p:sp>
      <p:sp>
        <p:nvSpPr>
          <p:cNvPr id="28" name="Text 21"/>
          <p:cNvSpPr/>
          <p:nvPr/>
        </p:nvSpPr>
        <p:spPr>
          <a:xfrm>
            <a:off x="-147161" y="2642451"/>
            <a:ext cx="632936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A7A7A7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300</a:t>
            </a:r>
            <a:endParaRPr lang="en-US" sz="788" dirty="0"/>
          </a:p>
        </p:txBody>
      </p:sp>
      <p:sp>
        <p:nvSpPr>
          <p:cNvPr id="29" name="Text 22"/>
          <p:cNvSpPr/>
          <p:nvPr/>
        </p:nvSpPr>
        <p:spPr>
          <a:xfrm>
            <a:off x="-147161" y="2442426"/>
            <a:ext cx="632936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A7A7A7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400</a:t>
            </a:r>
            <a:endParaRPr lang="en-US" sz="788" dirty="0"/>
          </a:p>
        </p:txBody>
      </p:sp>
      <p:sp>
        <p:nvSpPr>
          <p:cNvPr id="30" name="Text 23"/>
          <p:cNvSpPr/>
          <p:nvPr/>
        </p:nvSpPr>
        <p:spPr>
          <a:xfrm>
            <a:off x="-147161" y="2242401"/>
            <a:ext cx="632936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A7A7A7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500</a:t>
            </a:r>
            <a:endParaRPr lang="en-US" sz="788" dirty="0"/>
          </a:p>
        </p:txBody>
      </p:sp>
      <p:sp>
        <p:nvSpPr>
          <p:cNvPr id="31" name="Text 24"/>
          <p:cNvSpPr/>
          <p:nvPr/>
        </p:nvSpPr>
        <p:spPr>
          <a:xfrm>
            <a:off x="376476" y="3753304"/>
            <a:ext cx="332899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A7A7A7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0</a:t>
            </a:r>
            <a:endParaRPr lang="en-US" sz="788" dirty="0"/>
          </a:p>
        </p:txBody>
      </p:sp>
      <p:sp>
        <p:nvSpPr>
          <p:cNvPr id="32" name="Text 25"/>
          <p:cNvSpPr/>
          <p:nvPr/>
        </p:nvSpPr>
        <p:spPr>
          <a:xfrm>
            <a:off x="1134904" y="3753304"/>
            <a:ext cx="332899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A7A7A7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6</a:t>
            </a:r>
            <a:endParaRPr lang="en-US" sz="788" dirty="0"/>
          </a:p>
        </p:txBody>
      </p:sp>
      <p:sp>
        <p:nvSpPr>
          <p:cNvPr id="33" name="Text 26"/>
          <p:cNvSpPr/>
          <p:nvPr/>
        </p:nvSpPr>
        <p:spPr>
          <a:xfrm>
            <a:off x="1818322" y="3753304"/>
            <a:ext cx="482917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A7A7A7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12</a:t>
            </a:r>
            <a:endParaRPr lang="en-US" sz="788" dirty="0"/>
          </a:p>
        </p:txBody>
      </p:sp>
      <p:sp>
        <p:nvSpPr>
          <p:cNvPr id="34" name="Text 27"/>
          <p:cNvSpPr/>
          <p:nvPr/>
        </p:nvSpPr>
        <p:spPr>
          <a:xfrm>
            <a:off x="2576751" y="3753304"/>
            <a:ext cx="482917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A7A7A7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18</a:t>
            </a:r>
            <a:endParaRPr lang="en-US" sz="788" dirty="0"/>
          </a:p>
        </p:txBody>
      </p:sp>
      <p:sp>
        <p:nvSpPr>
          <p:cNvPr id="35" name="Text 28"/>
          <p:cNvSpPr/>
          <p:nvPr/>
        </p:nvSpPr>
        <p:spPr>
          <a:xfrm>
            <a:off x="3335179" y="3753304"/>
            <a:ext cx="482917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A7A7A7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24</a:t>
            </a:r>
            <a:endParaRPr lang="en-US" sz="788" dirty="0"/>
          </a:p>
        </p:txBody>
      </p:sp>
      <p:sp>
        <p:nvSpPr>
          <p:cNvPr id="36" name="Text 29"/>
          <p:cNvSpPr/>
          <p:nvPr/>
        </p:nvSpPr>
        <p:spPr>
          <a:xfrm>
            <a:off x="4093607" y="3753304"/>
            <a:ext cx="482917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A7A7A7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36</a:t>
            </a:r>
            <a:endParaRPr lang="en-US" sz="788" dirty="0"/>
          </a:p>
        </p:txBody>
      </p:sp>
      <p:sp>
        <p:nvSpPr>
          <p:cNvPr id="37" name="Text 30"/>
          <p:cNvSpPr/>
          <p:nvPr/>
        </p:nvSpPr>
        <p:spPr>
          <a:xfrm>
            <a:off x="4852035" y="3753304"/>
            <a:ext cx="482917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A7A7A7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60</a:t>
            </a:r>
            <a:endParaRPr lang="en-US" sz="788" dirty="0"/>
          </a:p>
        </p:txBody>
      </p:sp>
      <p:sp>
        <p:nvSpPr>
          <p:cNvPr id="38" name="Shape 31"/>
          <p:cNvSpPr/>
          <p:nvPr/>
        </p:nvSpPr>
        <p:spPr>
          <a:xfrm>
            <a:off x="542925" y="2510434"/>
            <a:ext cx="4550569" cy="792099"/>
          </a:xfrm>
          <a:custGeom>
            <a:avLst/>
            <a:gdLst/>
            <a:ahLst/>
            <a:cxnLst/>
            <a:rect l="l" t="t" r="r" b="b"/>
            <a:pathLst>
              <a:path w="4550569" h="792099">
                <a:moveTo>
                  <a:pt x="0" y="792099"/>
                </a:moveTo>
                <a:lnTo>
                  <a:pt x="758428" y="712889"/>
                </a:lnTo>
                <a:lnTo>
                  <a:pt x="1516856" y="633679"/>
                </a:lnTo>
                <a:lnTo>
                  <a:pt x="2275284" y="554469"/>
                </a:lnTo>
                <a:lnTo>
                  <a:pt x="3033713" y="475259"/>
                </a:lnTo>
                <a:lnTo>
                  <a:pt x="3792140" y="316840"/>
                </a:lnTo>
                <a:lnTo>
                  <a:pt x="4550569" y="0"/>
                </a:lnTo>
              </a:path>
            </a:pathLst>
          </a:custGeom>
          <a:noFill/>
          <a:ln w="12700">
            <a:solidFill>
              <a:srgbClr val="BFF230"/>
            </a:solidFill>
            <a:prstDash val="solid"/>
          </a:ln>
        </p:spPr>
      </p:sp>
      <p:sp>
        <p:nvSpPr>
          <p:cNvPr id="39" name="Shape 32"/>
          <p:cNvSpPr/>
          <p:nvPr/>
        </p:nvSpPr>
        <p:spPr>
          <a:xfrm>
            <a:off x="542925" y="2750464"/>
            <a:ext cx="4550569" cy="792099"/>
          </a:xfrm>
          <a:custGeom>
            <a:avLst/>
            <a:gdLst/>
            <a:ahLst/>
            <a:cxnLst/>
            <a:rect l="l" t="t" r="r" b="b"/>
            <a:pathLst>
              <a:path w="4550569" h="792099">
                <a:moveTo>
                  <a:pt x="0" y="792099"/>
                </a:moveTo>
                <a:lnTo>
                  <a:pt x="758428" y="712889"/>
                </a:lnTo>
                <a:lnTo>
                  <a:pt x="1516856" y="633679"/>
                </a:lnTo>
                <a:lnTo>
                  <a:pt x="2275284" y="554469"/>
                </a:lnTo>
                <a:lnTo>
                  <a:pt x="3033713" y="475259"/>
                </a:lnTo>
                <a:lnTo>
                  <a:pt x="3792140" y="316840"/>
                </a:lnTo>
                <a:lnTo>
                  <a:pt x="4550569" y="0"/>
                </a:lnTo>
              </a:path>
            </a:pathLst>
          </a:custGeom>
          <a:noFill/>
          <a:ln w="19050">
            <a:solidFill>
              <a:srgbClr val="76B900"/>
            </a:solidFill>
            <a:prstDash val="solid"/>
          </a:ln>
        </p:spPr>
      </p:sp>
      <p:sp>
        <p:nvSpPr>
          <p:cNvPr id="40" name="Shape 33"/>
          <p:cNvSpPr/>
          <p:nvPr/>
        </p:nvSpPr>
        <p:spPr>
          <a:xfrm>
            <a:off x="521494" y="3281102"/>
            <a:ext cx="42863" cy="42863"/>
          </a:xfrm>
          <a:prstGeom prst="ellipse">
            <a:avLst/>
          </a:prstGeom>
          <a:solidFill>
            <a:srgbClr val="BFF230"/>
          </a:solidFill>
          <a:ln/>
        </p:spPr>
      </p:sp>
      <p:sp>
        <p:nvSpPr>
          <p:cNvPr id="41" name="Shape 34"/>
          <p:cNvSpPr/>
          <p:nvPr/>
        </p:nvSpPr>
        <p:spPr>
          <a:xfrm>
            <a:off x="1279922" y="3201892"/>
            <a:ext cx="42863" cy="42863"/>
          </a:xfrm>
          <a:prstGeom prst="ellipse">
            <a:avLst/>
          </a:prstGeom>
          <a:solidFill>
            <a:srgbClr val="BFF230"/>
          </a:solidFill>
          <a:ln/>
        </p:spPr>
      </p:sp>
      <p:sp>
        <p:nvSpPr>
          <p:cNvPr id="42" name="Shape 35"/>
          <p:cNvSpPr/>
          <p:nvPr/>
        </p:nvSpPr>
        <p:spPr>
          <a:xfrm>
            <a:off x="2038350" y="3122682"/>
            <a:ext cx="42863" cy="42863"/>
          </a:xfrm>
          <a:prstGeom prst="ellipse">
            <a:avLst/>
          </a:prstGeom>
          <a:solidFill>
            <a:srgbClr val="BFF230"/>
          </a:solidFill>
          <a:ln/>
        </p:spPr>
      </p:sp>
      <p:sp>
        <p:nvSpPr>
          <p:cNvPr id="43" name="Shape 36"/>
          <p:cNvSpPr/>
          <p:nvPr/>
        </p:nvSpPr>
        <p:spPr>
          <a:xfrm>
            <a:off x="2796778" y="3043472"/>
            <a:ext cx="42863" cy="42863"/>
          </a:xfrm>
          <a:prstGeom prst="ellipse">
            <a:avLst/>
          </a:prstGeom>
          <a:solidFill>
            <a:srgbClr val="BFF230"/>
          </a:solidFill>
          <a:ln/>
        </p:spPr>
      </p:sp>
      <p:sp>
        <p:nvSpPr>
          <p:cNvPr id="44" name="Shape 37"/>
          <p:cNvSpPr/>
          <p:nvPr/>
        </p:nvSpPr>
        <p:spPr>
          <a:xfrm>
            <a:off x="3555206" y="2964262"/>
            <a:ext cx="42863" cy="42863"/>
          </a:xfrm>
          <a:prstGeom prst="ellipse">
            <a:avLst/>
          </a:prstGeom>
          <a:solidFill>
            <a:srgbClr val="BFF230"/>
          </a:solidFill>
          <a:ln/>
        </p:spPr>
      </p:sp>
      <p:sp>
        <p:nvSpPr>
          <p:cNvPr id="45" name="Shape 38"/>
          <p:cNvSpPr/>
          <p:nvPr/>
        </p:nvSpPr>
        <p:spPr>
          <a:xfrm>
            <a:off x="4313634" y="2805843"/>
            <a:ext cx="42863" cy="42863"/>
          </a:xfrm>
          <a:prstGeom prst="ellipse">
            <a:avLst/>
          </a:prstGeom>
          <a:solidFill>
            <a:srgbClr val="BFF230"/>
          </a:solidFill>
          <a:ln/>
        </p:spPr>
      </p:sp>
      <p:sp>
        <p:nvSpPr>
          <p:cNvPr id="46" name="Shape 39"/>
          <p:cNvSpPr/>
          <p:nvPr/>
        </p:nvSpPr>
        <p:spPr>
          <a:xfrm>
            <a:off x="5072063" y="2489003"/>
            <a:ext cx="42863" cy="42863"/>
          </a:xfrm>
          <a:prstGeom prst="ellipse">
            <a:avLst/>
          </a:prstGeom>
          <a:solidFill>
            <a:srgbClr val="BFF230"/>
          </a:solidFill>
          <a:ln/>
        </p:spPr>
      </p:sp>
      <p:sp>
        <p:nvSpPr>
          <p:cNvPr id="47" name="Shape 40"/>
          <p:cNvSpPr/>
          <p:nvPr/>
        </p:nvSpPr>
        <p:spPr>
          <a:xfrm>
            <a:off x="521494" y="3521132"/>
            <a:ext cx="42863" cy="42863"/>
          </a:xfrm>
          <a:prstGeom prst="ellipse">
            <a:avLst/>
          </a:prstGeom>
          <a:solidFill>
            <a:srgbClr val="76B900"/>
          </a:solidFill>
          <a:ln/>
        </p:spPr>
      </p:sp>
      <p:sp>
        <p:nvSpPr>
          <p:cNvPr id="48" name="Shape 41"/>
          <p:cNvSpPr/>
          <p:nvPr/>
        </p:nvSpPr>
        <p:spPr>
          <a:xfrm>
            <a:off x="1279922" y="3441922"/>
            <a:ext cx="42863" cy="42863"/>
          </a:xfrm>
          <a:prstGeom prst="ellipse">
            <a:avLst/>
          </a:prstGeom>
          <a:solidFill>
            <a:srgbClr val="76B900"/>
          </a:solidFill>
          <a:ln/>
        </p:spPr>
      </p:sp>
      <p:sp>
        <p:nvSpPr>
          <p:cNvPr id="49" name="Shape 42"/>
          <p:cNvSpPr/>
          <p:nvPr/>
        </p:nvSpPr>
        <p:spPr>
          <a:xfrm>
            <a:off x="2038350" y="3362712"/>
            <a:ext cx="42863" cy="42863"/>
          </a:xfrm>
          <a:prstGeom prst="ellipse">
            <a:avLst/>
          </a:prstGeom>
          <a:solidFill>
            <a:srgbClr val="76B900"/>
          </a:solidFill>
          <a:ln/>
        </p:spPr>
      </p:sp>
      <p:sp>
        <p:nvSpPr>
          <p:cNvPr id="50" name="Shape 43"/>
          <p:cNvSpPr/>
          <p:nvPr/>
        </p:nvSpPr>
        <p:spPr>
          <a:xfrm>
            <a:off x="2796778" y="3283502"/>
            <a:ext cx="42863" cy="42863"/>
          </a:xfrm>
          <a:prstGeom prst="ellipse">
            <a:avLst/>
          </a:prstGeom>
          <a:solidFill>
            <a:srgbClr val="76B900"/>
          </a:solidFill>
          <a:ln/>
        </p:spPr>
      </p:sp>
      <p:sp>
        <p:nvSpPr>
          <p:cNvPr id="51" name="Shape 44"/>
          <p:cNvSpPr/>
          <p:nvPr/>
        </p:nvSpPr>
        <p:spPr>
          <a:xfrm>
            <a:off x="3555206" y="3204292"/>
            <a:ext cx="42863" cy="42863"/>
          </a:xfrm>
          <a:prstGeom prst="ellipse">
            <a:avLst/>
          </a:prstGeom>
          <a:solidFill>
            <a:srgbClr val="76B900"/>
          </a:solidFill>
          <a:ln/>
        </p:spPr>
      </p:sp>
      <p:sp>
        <p:nvSpPr>
          <p:cNvPr id="52" name="Shape 45"/>
          <p:cNvSpPr/>
          <p:nvPr/>
        </p:nvSpPr>
        <p:spPr>
          <a:xfrm>
            <a:off x="4313634" y="3045873"/>
            <a:ext cx="42863" cy="42863"/>
          </a:xfrm>
          <a:prstGeom prst="ellipse">
            <a:avLst/>
          </a:prstGeom>
          <a:solidFill>
            <a:srgbClr val="76B900"/>
          </a:solidFill>
          <a:ln/>
        </p:spPr>
      </p:sp>
      <p:sp>
        <p:nvSpPr>
          <p:cNvPr id="53" name="Shape 46"/>
          <p:cNvSpPr/>
          <p:nvPr/>
        </p:nvSpPr>
        <p:spPr>
          <a:xfrm>
            <a:off x="5072063" y="2729033"/>
            <a:ext cx="42863" cy="42863"/>
          </a:xfrm>
          <a:prstGeom prst="ellipse">
            <a:avLst/>
          </a:prstGeom>
          <a:solidFill>
            <a:srgbClr val="76B900"/>
          </a:solidFill>
          <a:ln/>
        </p:spPr>
      </p:sp>
      <p:sp>
        <p:nvSpPr>
          <p:cNvPr id="54" name="Text 47"/>
          <p:cNvSpPr/>
          <p:nvPr/>
        </p:nvSpPr>
        <p:spPr>
          <a:xfrm>
            <a:off x="376476" y="3146085"/>
            <a:ext cx="332899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FFFFFF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0</a:t>
            </a:r>
            <a:endParaRPr lang="en-US" sz="788" dirty="0"/>
          </a:p>
        </p:txBody>
      </p:sp>
      <p:sp>
        <p:nvSpPr>
          <p:cNvPr id="55" name="Text 48"/>
          <p:cNvSpPr/>
          <p:nvPr/>
        </p:nvSpPr>
        <p:spPr>
          <a:xfrm>
            <a:off x="909876" y="3066876"/>
            <a:ext cx="782955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FFFFFF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39.6</a:t>
            </a:r>
            <a:endParaRPr lang="en-US" sz="788" dirty="0"/>
          </a:p>
        </p:txBody>
      </p:sp>
      <p:sp>
        <p:nvSpPr>
          <p:cNvPr id="56" name="Text 49"/>
          <p:cNvSpPr/>
          <p:nvPr/>
        </p:nvSpPr>
        <p:spPr>
          <a:xfrm>
            <a:off x="1668304" y="2987666"/>
            <a:ext cx="782955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FFFFFF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79.2</a:t>
            </a:r>
            <a:endParaRPr lang="en-US" sz="788" dirty="0"/>
          </a:p>
        </p:txBody>
      </p:sp>
      <p:sp>
        <p:nvSpPr>
          <p:cNvPr id="57" name="Text 50"/>
          <p:cNvSpPr/>
          <p:nvPr/>
        </p:nvSpPr>
        <p:spPr>
          <a:xfrm>
            <a:off x="2351723" y="2908456"/>
            <a:ext cx="932974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FFFFFF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118.8</a:t>
            </a:r>
            <a:endParaRPr lang="en-US" sz="788" dirty="0"/>
          </a:p>
        </p:txBody>
      </p:sp>
      <p:sp>
        <p:nvSpPr>
          <p:cNvPr id="58" name="Text 51"/>
          <p:cNvSpPr/>
          <p:nvPr/>
        </p:nvSpPr>
        <p:spPr>
          <a:xfrm>
            <a:off x="3110151" y="2829246"/>
            <a:ext cx="932974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FFFFFF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158.4</a:t>
            </a:r>
            <a:endParaRPr lang="en-US" sz="788" dirty="0"/>
          </a:p>
        </p:txBody>
      </p:sp>
      <p:sp>
        <p:nvSpPr>
          <p:cNvPr id="59" name="Text 52"/>
          <p:cNvSpPr/>
          <p:nvPr/>
        </p:nvSpPr>
        <p:spPr>
          <a:xfrm>
            <a:off x="3868579" y="2670826"/>
            <a:ext cx="932974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FFFFFF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237.6</a:t>
            </a:r>
            <a:endParaRPr lang="en-US" sz="788" dirty="0"/>
          </a:p>
        </p:txBody>
      </p:sp>
      <p:sp>
        <p:nvSpPr>
          <p:cNvPr id="60" name="Text 53"/>
          <p:cNvSpPr/>
          <p:nvPr/>
        </p:nvSpPr>
        <p:spPr>
          <a:xfrm>
            <a:off x="4777026" y="2353986"/>
            <a:ext cx="632936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FFFFFF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396</a:t>
            </a:r>
            <a:endParaRPr lang="en-US" sz="788" dirty="0"/>
          </a:p>
        </p:txBody>
      </p:sp>
      <p:sp>
        <p:nvSpPr>
          <p:cNvPr id="61" name="Text 54"/>
          <p:cNvSpPr/>
          <p:nvPr/>
        </p:nvSpPr>
        <p:spPr>
          <a:xfrm>
            <a:off x="151448" y="3578996"/>
            <a:ext cx="782955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A7A7A7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-120</a:t>
            </a:r>
            <a:endParaRPr lang="en-US" sz="788" dirty="0"/>
          </a:p>
        </p:txBody>
      </p:sp>
      <p:sp>
        <p:nvSpPr>
          <p:cNvPr id="62" name="Text 55"/>
          <p:cNvSpPr/>
          <p:nvPr/>
        </p:nvSpPr>
        <p:spPr>
          <a:xfrm>
            <a:off x="834866" y="3499786"/>
            <a:ext cx="932974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A7A7A7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-80.4</a:t>
            </a:r>
            <a:endParaRPr lang="en-US" sz="788" dirty="0"/>
          </a:p>
        </p:txBody>
      </p:sp>
      <p:sp>
        <p:nvSpPr>
          <p:cNvPr id="63" name="Text 56"/>
          <p:cNvSpPr/>
          <p:nvPr/>
        </p:nvSpPr>
        <p:spPr>
          <a:xfrm>
            <a:off x="1593294" y="3420576"/>
            <a:ext cx="932974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A7A7A7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-40.8</a:t>
            </a:r>
            <a:endParaRPr lang="en-US" sz="788" dirty="0"/>
          </a:p>
        </p:txBody>
      </p:sp>
      <p:sp>
        <p:nvSpPr>
          <p:cNvPr id="64" name="Text 57"/>
          <p:cNvSpPr/>
          <p:nvPr/>
        </p:nvSpPr>
        <p:spPr>
          <a:xfrm>
            <a:off x="2426732" y="3341366"/>
            <a:ext cx="782955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A7A7A7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-1.2</a:t>
            </a:r>
            <a:endParaRPr lang="en-US" sz="788" dirty="0"/>
          </a:p>
        </p:txBody>
      </p:sp>
      <p:sp>
        <p:nvSpPr>
          <p:cNvPr id="65" name="Text 58"/>
          <p:cNvSpPr/>
          <p:nvPr/>
        </p:nvSpPr>
        <p:spPr>
          <a:xfrm>
            <a:off x="3185160" y="3262157"/>
            <a:ext cx="782955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A7A7A7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38.4</a:t>
            </a:r>
            <a:endParaRPr lang="en-US" sz="788" dirty="0"/>
          </a:p>
        </p:txBody>
      </p:sp>
      <p:sp>
        <p:nvSpPr>
          <p:cNvPr id="66" name="Text 59"/>
          <p:cNvSpPr/>
          <p:nvPr/>
        </p:nvSpPr>
        <p:spPr>
          <a:xfrm>
            <a:off x="3868579" y="3103737"/>
            <a:ext cx="932974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A7A7A7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117.6</a:t>
            </a:r>
            <a:endParaRPr lang="en-US" sz="788" dirty="0"/>
          </a:p>
        </p:txBody>
      </p:sp>
      <p:sp>
        <p:nvSpPr>
          <p:cNvPr id="67" name="Text 60"/>
          <p:cNvSpPr/>
          <p:nvPr/>
        </p:nvSpPr>
        <p:spPr>
          <a:xfrm>
            <a:off x="4777026" y="2786897"/>
            <a:ext cx="632936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A7A7A7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276</a:t>
            </a:r>
            <a:endParaRPr lang="en-US" sz="788" dirty="0"/>
          </a:p>
        </p:txBody>
      </p:sp>
      <p:sp>
        <p:nvSpPr>
          <p:cNvPr id="68" name="Shape 61"/>
          <p:cNvSpPr/>
          <p:nvPr/>
        </p:nvSpPr>
        <p:spPr>
          <a:xfrm>
            <a:off x="214313" y="2073808"/>
            <a:ext cx="1385894" cy="157163"/>
          </a:xfrm>
          <a:custGeom>
            <a:avLst/>
            <a:gdLst/>
            <a:ahLst/>
            <a:cxnLst/>
            <a:rect l="l" t="t" r="r" b="b"/>
            <a:pathLst>
              <a:path w="1385894" h="157163">
                <a:moveTo>
                  <a:pt x="0" y="0"/>
                </a:moveTo>
                <a:lnTo>
                  <a:pt x="1385894" y="0"/>
                </a:lnTo>
                <a:lnTo>
                  <a:pt x="1385894" y="157163"/>
                </a:lnTo>
                <a:lnTo>
                  <a:pt x="0" y="157163"/>
                </a:lnTo>
                <a:close/>
              </a:path>
            </a:pathLst>
          </a:custGeom>
          <a:noFill/>
          <a:ln/>
        </p:spPr>
      </p:sp>
      <p:sp>
        <p:nvSpPr>
          <p:cNvPr id="69" name="Shape 62"/>
          <p:cNvSpPr/>
          <p:nvPr/>
        </p:nvSpPr>
        <p:spPr>
          <a:xfrm>
            <a:off x="257175" y="2152390"/>
            <a:ext cx="114300" cy="0"/>
          </a:xfrm>
          <a:prstGeom prst="line">
            <a:avLst/>
          </a:prstGeom>
          <a:noFill/>
          <a:ln w="12700">
            <a:solidFill>
              <a:srgbClr val="BFF230"/>
            </a:solidFill>
            <a:prstDash val="solid"/>
          </a:ln>
        </p:spPr>
      </p:sp>
      <p:sp>
        <p:nvSpPr>
          <p:cNvPr id="70" name="Shape 63"/>
          <p:cNvSpPr/>
          <p:nvPr/>
        </p:nvSpPr>
        <p:spPr>
          <a:xfrm>
            <a:off x="291465" y="2129530"/>
            <a:ext cx="45720" cy="45720"/>
          </a:xfrm>
          <a:prstGeom prst="ellipse">
            <a:avLst/>
          </a:prstGeom>
          <a:solidFill>
            <a:srgbClr val="BFF230"/>
          </a:solidFill>
          <a:ln/>
        </p:spPr>
      </p:sp>
      <p:sp>
        <p:nvSpPr>
          <p:cNvPr id="71" name="Text 64"/>
          <p:cNvSpPr/>
          <p:nvPr/>
        </p:nvSpPr>
        <p:spPr>
          <a:xfrm>
            <a:off x="407194" y="2092382"/>
            <a:ext cx="782955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8" dirty="0">
                <a:solidFill>
                  <a:srgbClr val="A7A7A7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累计节费</a:t>
            </a:r>
            <a:endParaRPr lang="en-US" sz="788" dirty="0"/>
          </a:p>
        </p:txBody>
      </p:sp>
      <p:sp>
        <p:nvSpPr>
          <p:cNvPr id="72" name="Shape 65"/>
          <p:cNvSpPr/>
          <p:nvPr/>
        </p:nvSpPr>
        <p:spPr>
          <a:xfrm>
            <a:off x="250031" y="2109527"/>
            <a:ext cx="500065" cy="85726"/>
          </a:xfrm>
          <a:custGeom>
            <a:avLst/>
            <a:gdLst/>
            <a:ahLst/>
            <a:cxnLst/>
            <a:rect l="l" t="t" r="r" b="b"/>
            <a:pathLst>
              <a:path w="500065" h="85726">
                <a:moveTo>
                  <a:pt x="0" y="0"/>
                </a:moveTo>
                <a:lnTo>
                  <a:pt x="500065" y="0"/>
                </a:lnTo>
                <a:lnTo>
                  <a:pt x="500065" y="85726"/>
                </a:lnTo>
                <a:lnTo>
                  <a:pt x="0" y="85726"/>
                </a:lnTo>
                <a:close/>
              </a:path>
            </a:pathLst>
          </a:custGeom>
          <a:noFill/>
          <a:ln/>
        </p:spPr>
      </p:sp>
      <p:sp>
        <p:nvSpPr>
          <p:cNvPr id="73" name="Shape 66"/>
          <p:cNvSpPr/>
          <p:nvPr/>
        </p:nvSpPr>
        <p:spPr>
          <a:xfrm>
            <a:off x="900115" y="2152390"/>
            <a:ext cx="114300" cy="0"/>
          </a:xfrm>
          <a:prstGeom prst="line">
            <a:avLst/>
          </a:prstGeom>
          <a:noFill/>
          <a:ln w="12700">
            <a:solidFill>
              <a:srgbClr val="76B900"/>
            </a:solidFill>
            <a:prstDash val="solid"/>
          </a:ln>
        </p:spPr>
      </p:sp>
      <p:sp>
        <p:nvSpPr>
          <p:cNvPr id="74" name="Shape 67"/>
          <p:cNvSpPr/>
          <p:nvPr/>
        </p:nvSpPr>
        <p:spPr>
          <a:xfrm>
            <a:off x="934405" y="2129530"/>
            <a:ext cx="45720" cy="45720"/>
          </a:xfrm>
          <a:prstGeom prst="ellipse">
            <a:avLst/>
          </a:prstGeom>
          <a:solidFill>
            <a:srgbClr val="76B900"/>
          </a:solidFill>
          <a:ln/>
        </p:spPr>
      </p:sp>
      <p:sp>
        <p:nvSpPr>
          <p:cNvPr id="75" name="Text 68"/>
          <p:cNvSpPr/>
          <p:nvPr/>
        </p:nvSpPr>
        <p:spPr>
          <a:xfrm>
            <a:off x="1050134" y="2092382"/>
            <a:ext cx="1082993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8" dirty="0">
                <a:solidFill>
                  <a:srgbClr val="A7A7A7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累计净现金流</a:t>
            </a:r>
            <a:endParaRPr lang="en-US" sz="788" dirty="0"/>
          </a:p>
        </p:txBody>
      </p:sp>
      <p:sp>
        <p:nvSpPr>
          <p:cNvPr id="76" name="Shape 69"/>
          <p:cNvSpPr/>
          <p:nvPr/>
        </p:nvSpPr>
        <p:spPr>
          <a:xfrm>
            <a:off x="892972" y="2109527"/>
            <a:ext cx="671516" cy="85726"/>
          </a:xfrm>
          <a:custGeom>
            <a:avLst/>
            <a:gdLst/>
            <a:ahLst/>
            <a:cxnLst/>
            <a:rect l="l" t="t" r="r" b="b"/>
            <a:pathLst>
              <a:path w="671516" h="85726">
                <a:moveTo>
                  <a:pt x="0" y="0"/>
                </a:moveTo>
                <a:lnTo>
                  <a:pt x="671516" y="0"/>
                </a:lnTo>
                <a:lnTo>
                  <a:pt x="671516" y="85726"/>
                </a:lnTo>
                <a:lnTo>
                  <a:pt x="0" y="85726"/>
                </a:lnTo>
                <a:close/>
              </a:path>
            </a:pathLst>
          </a:custGeom>
          <a:noFill/>
          <a:ln/>
        </p:spPr>
      </p:sp>
      <p:sp>
        <p:nvSpPr>
          <p:cNvPr id="77" name="Shape 70"/>
          <p:cNvSpPr/>
          <p:nvPr/>
        </p:nvSpPr>
        <p:spPr>
          <a:xfrm>
            <a:off x="542925" y="3066790"/>
            <a:ext cx="4550569" cy="0"/>
          </a:xfrm>
          <a:prstGeom prst="line">
            <a:avLst/>
          </a:prstGeom>
          <a:noFill/>
          <a:ln w="12700">
            <a:solidFill>
              <a:srgbClr val="DF6500"/>
            </a:solidFill>
            <a:prstDash val="solid"/>
          </a:ln>
        </p:spPr>
      </p:sp>
      <p:sp>
        <p:nvSpPr>
          <p:cNvPr id="78" name="Shape 71"/>
          <p:cNvSpPr/>
          <p:nvPr/>
        </p:nvSpPr>
        <p:spPr>
          <a:xfrm>
            <a:off x="542925" y="3306105"/>
            <a:ext cx="4550569" cy="0"/>
          </a:xfrm>
          <a:prstGeom prst="line">
            <a:avLst/>
          </a:prstGeom>
          <a:noFill/>
          <a:ln w="6350">
            <a:solidFill>
              <a:srgbClr val="5E5E5E"/>
            </a:solidFill>
            <a:prstDash val="solid"/>
          </a:ln>
        </p:spPr>
      </p:sp>
      <p:sp>
        <p:nvSpPr>
          <p:cNvPr id="79" name="Shape 72"/>
          <p:cNvSpPr/>
          <p:nvPr/>
        </p:nvSpPr>
        <p:spPr>
          <a:xfrm flipV="1">
            <a:off x="2818209" y="2302408"/>
            <a:ext cx="0" cy="1400175"/>
          </a:xfrm>
          <a:prstGeom prst="line">
            <a:avLst/>
          </a:prstGeom>
          <a:noFill/>
          <a:ln w="6350">
            <a:solidFill>
              <a:srgbClr val="76B900"/>
            </a:solidFill>
            <a:prstDash val="solid"/>
          </a:ln>
        </p:spPr>
      </p:sp>
      <p:sp>
        <p:nvSpPr>
          <p:cNvPr id="80" name="Text 73"/>
          <p:cNvSpPr/>
          <p:nvPr/>
        </p:nvSpPr>
        <p:spPr>
          <a:xfrm>
            <a:off x="571500" y="2934630"/>
            <a:ext cx="1683068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8" dirty="0">
                <a:solidFill>
                  <a:srgbClr val="DF6500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投资线 120 万元</a:t>
            </a:r>
            <a:endParaRPr lang="en-US" sz="788" dirty="0"/>
          </a:p>
        </p:txBody>
      </p:sp>
      <p:sp>
        <p:nvSpPr>
          <p:cNvPr id="81" name="Text 74"/>
          <p:cNvSpPr/>
          <p:nvPr/>
        </p:nvSpPr>
        <p:spPr>
          <a:xfrm rot="-5400000">
            <a:off x="1908810" y="3112510"/>
            <a:ext cx="1683068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76B900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约第 18 个月回本</a:t>
            </a:r>
            <a:endParaRPr lang="en-US" sz="788" dirty="0"/>
          </a:p>
        </p:txBody>
      </p:sp>
      <p:sp>
        <p:nvSpPr>
          <p:cNvPr id="82" name="Shape 75"/>
          <p:cNvSpPr/>
          <p:nvPr/>
        </p:nvSpPr>
        <p:spPr>
          <a:xfrm>
            <a:off x="6540773" y="2130958"/>
            <a:ext cx="0" cy="1571625"/>
          </a:xfrm>
          <a:prstGeom prst="line">
            <a:avLst/>
          </a:prstGeom>
          <a:noFill/>
          <a:ln w="6350">
            <a:solidFill>
              <a:srgbClr val="5E5E5E">
                <a:alpha val="40000"/>
              </a:srgbClr>
            </a:solidFill>
            <a:prstDash val="solid"/>
          </a:ln>
        </p:spPr>
      </p:sp>
      <p:sp>
        <p:nvSpPr>
          <p:cNvPr id="83" name="Shape 76"/>
          <p:cNvSpPr/>
          <p:nvPr/>
        </p:nvSpPr>
        <p:spPr>
          <a:xfrm>
            <a:off x="7183710" y="2130958"/>
            <a:ext cx="0" cy="1571625"/>
          </a:xfrm>
          <a:prstGeom prst="line">
            <a:avLst/>
          </a:prstGeom>
          <a:noFill/>
          <a:ln w="6350">
            <a:solidFill>
              <a:srgbClr val="5E5E5E">
                <a:alpha val="40000"/>
              </a:srgbClr>
            </a:solidFill>
            <a:prstDash val="solid"/>
          </a:ln>
        </p:spPr>
      </p:sp>
      <p:sp>
        <p:nvSpPr>
          <p:cNvPr id="84" name="Shape 77"/>
          <p:cNvSpPr/>
          <p:nvPr/>
        </p:nvSpPr>
        <p:spPr>
          <a:xfrm>
            <a:off x="7826648" y="2130958"/>
            <a:ext cx="0" cy="1571625"/>
          </a:xfrm>
          <a:prstGeom prst="line">
            <a:avLst/>
          </a:prstGeom>
          <a:noFill/>
          <a:ln w="6350">
            <a:solidFill>
              <a:srgbClr val="5E5E5E">
                <a:alpha val="40000"/>
              </a:srgbClr>
            </a:solidFill>
            <a:prstDash val="solid"/>
          </a:ln>
        </p:spPr>
      </p:sp>
      <p:sp>
        <p:nvSpPr>
          <p:cNvPr id="85" name="Shape 78"/>
          <p:cNvSpPr/>
          <p:nvPr/>
        </p:nvSpPr>
        <p:spPr>
          <a:xfrm>
            <a:off x="8476729" y="2130958"/>
            <a:ext cx="0" cy="1571625"/>
          </a:xfrm>
          <a:prstGeom prst="line">
            <a:avLst/>
          </a:prstGeom>
          <a:noFill/>
          <a:ln w="6350">
            <a:solidFill>
              <a:srgbClr val="5E5E5E">
                <a:alpha val="40000"/>
              </a:srgbClr>
            </a:solidFill>
            <a:prstDash val="solid"/>
          </a:ln>
        </p:spPr>
      </p:sp>
      <p:sp>
        <p:nvSpPr>
          <p:cNvPr id="86" name="Shape 79"/>
          <p:cNvSpPr/>
          <p:nvPr/>
        </p:nvSpPr>
        <p:spPr>
          <a:xfrm>
            <a:off x="6540773" y="2130958"/>
            <a:ext cx="0" cy="1571625"/>
          </a:xfrm>
          <a:prstGeom prst="line">
            <a:avLst/>
          </a:prstGeom>
          <a:noFill/>
          <a:ln w="6350">
            <a:solidFill>
              <a:srgbClr val="5E5E5E"/>
            </a:solidFill>
            <a:prstDash val="solid"/>
          </a:ln>
        </p:spPr>
      </p:sp>
      <p:sp>
        <p:nvSpPr>
          <p:cNvPr id="87" name="Text 80"/>
          <p:cNvSpPr/>
          <p:nvPr/>
        </p:nvSpPr>
        <p:spPr>
          <a:xfrm>
            <a:off x="5682808" y="2201919"/>
            <a:ext cx="782955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FFFFFF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基准情形</a:t>
            </a:r>
            <a:endParaRPr lang="en-US" sz="788" dirty="0"/>
          </a:p>
        </p:txBody>
      </p:sp>
      <p:sp>
        <p:nvSpPr>
          <p:cNvPr id="88" name="Text 81"/>
          <p:cNvSpPr/>
          <p:nvPr/>
        </p:nvSpPr>
        <p:spPr>
          <a:xfrm>
            <a:off x="5232752" y="2463857"/>
            <a:ext cx="1233011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FFFFFF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电价 -10%</a:t>
            </a:r>
            <a:endParaRPr lang="en-US" sz="788" dirty="0"/>
          </a:p>
        </p:txBody>
      </p:sp>
      <p:sp>
        <p:nvSpPr>
          <p:cNvPr id="89" name="Text 82"/>
          <p:cNvSpPr/>
          <p:nvPr/>
        </p:nvSpPr>
        <p:spPr>
          <a:xfrm>
            <a:off x="5232752" y="2725795"/>
            <a:ext cx="1233011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FFFFFF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电价 +10%</a:t>
            </a:r>
            <a:endParaRPr lang="en-US" sz="788" dirty="0"/>
          </a:p>
        </p:txBody>
      </p:sp>
      <p:sp>
        <p:nvSpPr>
          <p:cNvPr id="90" name="Text 83"/>
          <p:cNvSpPr/>
          <p:nvPr/>
        </p:nvSpPr>
        <p:spPr>
          <a:xfrm>
            <a:off x="5232752" y="2987732"/>
            <a:ext cx="1233011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FFFFFF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产量 -10%</a:t>
            </a:r>
            <a:endParaRPr lang="en-US" sz="788" dirty="0"/>
          </a:p>
        </p:txBody>
      </p:sp>
      <p:sp>
        <p:nvSpPr>
          <p:cNvPr id="91" name="Text 84"/>
          <p:cNvSpPr/>
          <p:nvPr/>
        </p:nvSpPr>
        <p:spPr>
          <a:xfrm>
            <a:off x="5382771" y="3249670"/>
            <a:ext cx="1082993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FFFFFF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节能率打八折</a:t>
            </a:r>
            <a:endParaRPr lang="en-US" sz="788" dirty="0"/>
          </a:p>
        </p:txBody>
      </p:sp>
      <p:sp>
        <p:nvSpPr>
          <p:cNvPr id="92" name="Text 85"/>
          <p:cNvSpPr/>
          <p:nvPr/>
        </p:nvSpPr>
        <p:spPr>
          <a:xfrm>
            <a:off x="4032602" y="3511607"/>
            <a:ext cx="2433161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FFFFFF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电价 -10% 且节能率打八折</a:t>
            </a:r>
            <a:endParaRPr lang="en-US" sz="788" dirty="0"/>
          </a:p>
        </p:txBody>
      </p:sp>
      <p:sp>
        <p:nvSpPr>
          <p:cNvPr id="93" name="Text 86"/>
          <p:cNvSpPr/>
          <p:nvPr/>
        </p:nvSpPr>
        <p:spPr>
          <a:xfrm>
            <a:off x="6370752" y="3739016"/>
            <a:ext cx="332899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A7A7A7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0</a:t>
            </a:r>
            <a:endParaRPr lang="en-US" sz="788" dirty="0"/>
          </a:p>
        </p:txBody>
      </p:sp>
      <p:sp>
        <p:nvSpPr>
          <p:cNvPr id="94" name="Text 87"/>
          <p:cNvSpPr/>
          <p:nvPr/>
        </p:nvSpPr>
        <p:spPr>
          <a:xfrm>
            <a:off x="6941061" y="3739016"/>
            <a:ext cx="482917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A7A7A7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10</a:t>
            </a:r>
            <a:endParaRPr lang="en-US" sz="788" dirty="0"/>
          </a:p>
        </p:txBody>
      </p:sp>
      <p:sp>
        <p:nvSpPr>
          <p:cNvPr id="95" name="Text 88"/>
          <p:cNvSpPr/>
          <p:nvPr/>
        </p:nvSpPr>
        <p:spPr>
          <a:xfrm>
            <a:off x="7586380" y="3739016"/>
            <a:ext cx="482917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A7A7A7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20</a:t>
            </a:r>
            <a:endParaRPr lang="en-US" sz="788" dirty="0"/>
          </a:p>
        </p:txBody>
      </p:sp>
      <p:sp>
        <p:nvSpPr>
          <p:cNvPr id="96" name="Text 89"/>
          <p:cNvSpPr/>
          <p:nvPr/>
        </p:nvSpPr>
        <p:spPr>
          <a:xfrm>
            <a:off x="8231698" y="3739016"/>
            <a:ext cx="482917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A7A7A7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30</a:t>
            </a:r>
            <a:endParaRPr lang="en-US" sz="788" dirty="0"/>
          </a:p>
        </p:txBody>
      </p:sp>
      <p:sp>
        <p:nvSpPr>
          <p:cNvPr id="97" name="Shape 90"/>
          <p:cNvSpPr/>
          <p:nvPr/>
        </p:nvSpPr>
        <p:spPr>
          <a:xfrm>
            <a:off x="6537201" y="2211921"/>
            <a:ext cx="1161574" cy="100013"/>
          </a:xfrm>
          <a:custGeom>
            <a:avLst/>
            <a:gdLst/>
            <a:ahLst/>
            <a:cxnLst/>
            <a:rect l="l" t="t" r="r" b="b"/>
            <a:pathLst>
              <a:path w="1161574" h="100013">
                <a:moveTo>
                  <a:pt x="0" y="0"/>
                </a:moveTo>
                <a:lnTo>
                  <a:pt x="1161574" y="0"/>
                </a:lnTo>
                <a:lnTo>
                  <a:pt x="1161574" y="100013"/>
                </a:lnTo>
                <a:lnTo>
                  <a:pt x="0" y="100013"/>
                </a:lnTo>
                <a:close/>
              </a:path>
            </a:pathLst>
          </a:custGeom>
          <a:solidFill>
            <a:srgbClr val="76B900"/>
          </a:solidFill>
          <a:ln/>
        </p:spPr>
      </p:sp>
      <p:sp>
        <p:nvSpPr>
          <p:cNvPr id="98" name="Shape 91"/>
          <p:cNvSpPr/>
          <p:nvPr/>
        </p:nvSpPr>
        <p:spPr>
          <a:xfrm>
            <a:off x="6537201" y="2473858"/>
            <a:ext cx="1303544" cy="100013"/>
          </a:xfrm>
          <a:custGeom>
            <a:avLst/>
            <a:gdLst/>
            <a:ahLst/>
            <a:cxnLst/>
            <a:rect l="l" t="t" r="r" b="b"/>
            <a:pathLst>
              <a:path w="1303544" h="100013">
                <a:moveTo>
                  <a:pt x="0" y="0"/>
                </a:moveTo>
                <a:lnTo>
                  <a:pt x="1303544" y="0"/>
                </a:lnTo>
                <a:lnTo>
                  <a:pt x="1303544" y="100013"/>
                </a:lnTo>
                <a:lnTo>
                  <a:pt x="0" y="100013"/>
                </a:lnTo>
                <a:close/>
              </a:path>
            </a:pathLst>
          </a:custGeom>
          <a:solidFill>
            <a:srgbClr val="A7A7A7"/>
          </a:solidFill>
          <a:ln/>
        </p:spPr>
      </p:sp>
      <p:sp>
        <p:nvSpPr>
          <p:cNvPr id="99" name="Shape 92"/>
          <p:cNvSpPr/>
          <p:nvPr/>
        </p:nvSpPr>
        <p:spPr>
          <a:xfrm>
            <a:off x="6537201" y="2735796"/>
            <a:ext cx="1064776" cy="100013"/>
          </a:xfrm>
          <a:custGeom>
            <a:avLst/>
            <a:gdLst/>
            <a:ahLst/>
            <a:cxnLst/>
            <a:rect l="l" t="t" r="r" b="b"/>
            <a:pathLst>
              <a:path w="1064776" h="100013">
                <a:moveTo>
                  <a:pt x="0" y="0"/>
                </a:moveTo>
                <a:lnTo>
                  <a:pt x="1064776" y="0"/>
                </a:lnTo>
                <a:lnTo>
                  <a:pt x="1064776" y="100013"/>
                </a:lnTo>
                <a:lnTo>
                  <a:pt x="0" y="100013"/>
                </a:lnTo>
                <a:close/>
              </a:path>
            </a:pathLst>
          </a:custGeom>
          <a:solidFill>
            <a:srgbClr val="A7A7A7"/>
          </a:solidFill>
          <a:ln/>
        </p:spPr>
      </p:sp>
      <p:sp>
        <p:nvSpPr>
          <p:cNvPr id="100" name="Shape 93"/>
          <p:cNvSpPr/>
          <p:nvPr/>
        </p:nvSpPr>
        <p:spPr>
          <a:xfrm>
            <a:off x="6537201" y="2997733"/>
            <a:ext cx="1303544" cy="100013"/>
          </a:xfrm>
          <a:custGeom>
            <a:avLst/>
            <a:gdLst/>
            <a:ahLst/>
            <a:cxnLst/>
            <a:rect l="l" t="t" r="r" b="b"/>
            <a:pathLst>
              <a:path w="1303544" h="100013">
                <a:moveTo>
                  <a:pt x="0" y="0"/>
                </a:moveTo>
                <a:lnTo>
                  <a:pt x="1303544" y="0"/>
                </a:lnTo>
                <a:lnTo>
                  <a:pt x="1303544" y="100013"/>
                </a:lnTo>
                <a:lnTo>
                  <a:pt x="0" y="100013"/>
                </a:lnTo>
                <a:close/>
              </a:path>
            </a:pathLst>
          </a:custGeom>
          <a:solidFill>
            <a:srgbClr val="A7A7A7"/>
          </a:solidFill>
          <a:ln/>
        </p:spPr>
      </p:sp>
      <p:sp>
        <p:nvSpPr>
          <p:cNvPr id="101" name="Shape 94"/>
          <p:cNvSpPr/>
          <p:nvPr/>
        </p:nvSpPr>
        <p:spPr>
          <a:xfrm>
            <a:off x="6537201" y="3259671"/>
            <a:ext cx="1464874" cy="100013"/>
          </a:xfrm>
          <a:custGeom>
            <a:avLst/>
            <a:gdLst/>
            <a:ahLst/>
            <a:cxnLst/>
            <a:rect l="l" t="t" r="r" b="b"/>
            <a:pathLst>
              <a:path w="1464874" h="100013">
                <a:moveTo>
                  <a:pt x="0" y="0"/>
                </a:moveTo>
                <a:lnTo>
                  <a:pt x="1464874" y="0"/>
                </a:lnTo>
                <a:lnTo>
                  <a:pt x="1464874" y="100013"/>
                </a:lnTo>
                <a:lnTo>
                  <a:pt x="0" y="100013"/>
                </a:lnTo>
                <a:close/>
              </a:path>
            </a:pathLst>
          </a:custGeom>
          <a:solidFill>
            <a:srgbClr val="A7A7A7"/>
          </a:solidFill>
          <a:ln/>
        </p:spPr>
      </p:sp>
      <p:sp>
        <p:nvSpPr>
          <p:cNvPr id="102" name="Shape 95"/>
          <p:cNvSpPr/>
          <p:nvPr/>
        </p:nvSpPr>
        <p:spPr>
          <a:xfrm>
            <a:off x="6537201" y="3521609"/>
            <a:ext cx="1632656" cy="100013"/>
          </a:xfrm>
          <a:custGeom>
            <a:avLst/>
            <a:gdLst/>
            <a:ahLst/>
            <a:cxnLst/>
            <a:rect l="l" t="t" r="r" b="b"/>
            <a:pathLst>
              <a:path w="1632656" h="100013">
                <a:moveTo>
                  <a:pt x="0" y="0"/>
                </a:moveTo>
                <a:lnTo>
                  <a:pt x="1632656" y="0"/>
                </a:lnTo>
                <a:lnTo>
                  <a:pt x="1632656" y="100013"/>
                </a:lnTo>
                <a:lnTo>
                  <a:pt x="0" y="100013"/>
                </a:lnTo>
                <a:close/>
              </a:path>
            </a:pathLst>
          </a:custGeom>
          <a:solidFill>
            <a:srgbClr val="DF6500"/>
          </a:solidFill>
          <a:ln/>
        </p:spPr>
      </p:sp>
      <p:sp>
        <p:nvSpPr>
          <p:cNvPr id="103" name="Text 96"/>
          <p:cNvSpPr/>
          <p:nvPr/>
        </p:nvSpPr>
        <p:spPr>
          <a:xfrm>
            <a:off x="7741637" y="2201919"/>
            <a:ext cx="932974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8" dirty="0">
                <a:solidFill>
                  <a:srgbClr val="FFFFFF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18 个月</a:t>
            </a:r>
            <a:endParaRPr lang="en-US" sz="788" dirty="0"/>
          </a:p>
        </p:txBody>
      </p:sp>
      <p:sp>
        <p:nvSpPr>
          <p:cNvPr id="104" name="Text 97"/>
          <p:cNvSpPr/>
          <p:nvPr/>
        </p:nvSpPr>
        <p:spPr>
          <a:xfrm>
            <a:off x="7883607" y="2463857"/>
            <a:ext cx="1233011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8" dirty="0">
                <a:solidFill>
                  <a:srgbClr val="FFFFFF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20.2 个月</a:t>
            </a:r>
            <a:endParaRPr lang="en-US" sz="788" dirty="0"/>
          </a:p>
        </p:txBody>
      </p:sp>
      <p:sp>
        <p:nvSpPr>
          <p:cNvPr id="105" name="Text 98"/>
          <p:cNvSpPr/>
          <p:nvPr/>
        </p:nvSpPr>
        <p:spPr>
          <a:xfrm>
            <a:off x="7644839" y="2725795"/>
            <a:ext cx="1233011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8" dirty="0">
                <a:solidFill>
                  <a:srgbClr val="FFFFFF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16.5 个月</a:t>
            </a:r>
            <a:endParaRPr lang="en-US" sz="788" dirty="0"/>
          </a:p>
        </p:txBody>
      </p:sp>
      <p:sp>
        <p:nvSpPr>
          <p:cNvPr id="106" name="Text 99"/>
          <p:cNvSpPr/>
          <p:nvPr/>
        </p:nvSpPr>
        <p:spPr>
          <a:xfrm>
            <a:off x="7883607" y="2987732"/>
            <a:ext cx="1233011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8" dirty="0">
                <a:solidFill>
                  <a:srgbClr val="FFFFFF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20.2 个月</a:t>
            </a:r>
            <a:endParaRPr lang="en-US" sz="788" dirty="0"/>
          </a:p>
        </p:txBody>
      </p:sp>
      <p:sp>
        <p:nvSpPr>
          <p:cNvPr id="107" name="Text 100"/>
          <p:cNvSpPr/>
          <p:nvPr/>
        </p:nvSpPr>
        <p:spPr>
          <a:xfrm>
            <a:off x="8044937" y="3249670"/>
            <a:ext cx="1233011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8" dirty="0">
                <a:solidFill>
                  <a:srgbClr val="FFFFFF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22.7 个月</a:t>
            </a:r>
            <a:endParaRPr lang="en-US" sz="788" dirty="0"/>
          </a:p>
        </p:txBody>
      </p:sp>
      <p:sp>
        <p:nvSpPr>
          <p:cNvPr id="108" name="Text 101"/>
          <p:cNvSpPr/>
          <p:nvPr/>
        </p:nvSpPr>
        <p:spPr>
          <a:xfrm>
            <a:off x="8212720" y="3511607"/>
            <a:ext cx="1233011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8" dirty="0">
                <a:solidFill>
                  <a:srgbClr val="FFFFFF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25.3 个月</a:t>
            </a:r>
            <a:endParaRPr lang="en-US" sz="788" dirty="0"/>
          </a:p>
        </p:txBody>
      </p:sp>
      <p:sp>
        <p:nvSpPr>
          <p:cNvPr id="109" name="Shape 102"/>
          <p:cNvSpPr/>
          <p:nvPr/>
        </p:nvSpPr>
        <p:spPr>
          <a:xfrm>
            <a:off x="214313" y="4020871"/>
            <a:ext cx="8715375" cy="435769"/>
          </a:xfrm>
          <a:prstGeom prst="roundRect">
            <a:avLst>
              <a:gd name="adj" fmla="val 1720"/>
            </a:avLst>
          </a:prstGeom>
          <a:solidFill>
            <a:srgbClr val="1A1A1A"/>
          </a:solidFill>
          <a:ln/>
        </p:spPr>
      </p:sp>
      <p:pic>
        <p:nvPicPr>
          <p:cNvPr id="110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14313" y="4020871"/>
            <a:ext cx="8715375" cy="435769"/>
          </a:xfrm>
          <a:prstGeom prst="rect">
            <a:avLst/>
          </a:prstGeom>
        </p:spPr>
      </p:pic>
      <p:sp>
        <p:nvSpPr>
          <p:cNvPr id="111" name="Text 103"/>
          <p:cNvSpPr/>
          <p:nvPr/>
        </p:nvSpPr>
        <p:spPr>
          <a:xfrm>
            <a:off x="214313" y="499170"/>
            <a:ext cx="8715375" cy="31432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投入 120 万元改造液压系统，月节约电费 6.6 万元，约 18 个月收回成本</a:t>
            </a:r>
            <a:endParaRPr lang="en-US" sz="1900" dirty="0"/>
          </a:p>
        </p:txBody>
      </p:sp>
      <p:sp>
        <p:nvSpPr>
          <p:cNvPr id="112" name="Text 104"/>
          <p:cNvSpPr/>
          <p:nvPr/>
        </p:nvSpPr>
        <p:spPr>
          <a:xfrm>
            <a:off x="314995" y="1083339"/>
            <a:ext cx="1464469" cy="121444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76B900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① 单位能耗改善</a:t>
            </a:r>
            <a:endParaRPr lang="en-US" sz="700" dirty="0"/>
          </a:p>
        </p:txBody>
      </p:sp>
      <p:sp>
        <p:nvSpPr>
          <p:cNvPr id="113" name="Text 105"/>
          <p:cNvSpPr/>
          <p:nvPr/>
        </p:nvSpPr>
        <p:spPr>
          <a:xfrm>
            <a:off x="314995" y="1231739"/>
            <a:ext cx="1464469" cy="17145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≈ 0.74 kWh/件</a:t>
            </a:r>
            <a:endParaRPr lang="en-US" sz="1000" dirty="0"/>
          </a:p>
        </p:txBody>
      </p:sp>
      <p:sp>
        <p:nvSpPr>
          <p:cNvPr id="114" name="Text 106"/>
          <p:cNvSpPr/>
          <p:nvPr/>
        </p:nvSpPr>
        <p:spPr>
          <a:xfrm>
            <a:off x="314995" y="1430871"/>
            <a:ext cx="1464469" cy="12858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A7A7A7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0.85 - 0.11，降幅约 13%</a:t>
            </a:r>
            <a:endParaRPr lang="en-US" sz="700" dirty="0"/>
          </a:p>
        </p:txBody>
      </p:sp>
      <p:sp>
        <p:nvSpPr>
          <p:cNvPr id="115" name="Text 107"/>
          <p:cNvSpPr/>
          <p:nvPr/>
        </p:nvSpPr>
        <p:spPr>
          <a:xfrm>
            <a:off x="2080896" y="1083339"/>
            <a:ext cx="1464469" cy="121444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76B900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② 月节电量</a:t>
            </a:r>
            <a:endParaRPr lang="en-US" sz="700" dirty="0"/>
          </a:p>
        </p:txBody>
      </p:sp>
      <p:sp>
        <p:nvSpPr>
          <p:cNvPr id="116" name="Text 108"/>
          <p:cNvSpPr/>
          <p:nvPr/>
        </p:nvSpPr>
        <p:spPr>
          <a:xfrm>
            <a:off x="2080896" y="1231739"/>
            <a:ext cx="1464469" cy="17145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8.8 万 kWh/月</a:t>
            </a:r>
            <a:endParaRPr lang="en-US" sz="1000" dirty="0"/>
          </a:p>
        </p:txBody>
      </p:sp>
      <p:sp>
        <p:nvSpPr>
          <p:cNvPr id="117" name="Text 109"/>
          <p:cNvSpPr/>
          <p:nvPr/>
        </p:nvSpPr>
        <p:spPr>
          <a:xfrm>
            <a:off x="2080896" y="1430871"/>
            <a:ext cx="1464469" cy="12858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A7A7A7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0.11 × 80 万件；液压口径 8.87</a:t>
            </a:r>
            <a:endParaRPr lang="en-US" sz="700" dirty="0"/>
          </a:p>
        </p:txBody>
      </p:sp>
      <p:sp>
        <p:nvSpPr>
          <p:cNvPr id="118" name="Text 110"/>
          <p:cNvSpPr/>
          <p:nvPr/>
        </p:nvSpPr>
        <p:spPr>
          <a:xfrm>
            <a:off x="3846854" y="1083339"/>
            <a:ext cx="1464469" cy="121444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76B900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③ 月节约电费</a:t>
            </a:r>
            <a:endParaRPr lang="en-US" sz="700" dirty="0"/>
          </a:p>
        </p:txBody>
      </p:sp>
      <p:sp>
        <p:nvSpPr>
          <p:cNvPr id="119" name="Text 111"/>
          <p:cNvSpPr/>
          <p:nvPr/>
        </p:nvSpPr>
        <p:spPr>
          <a:xfrm>
            <a:off x="3846854" y="1231739"/>
            <a:ext cx="1464469" cy="17145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6.6 万元/月</a:t>
            </a:r>
            <a:endParaRPr lang="en-US" sz="1000" dirty="0"/>
          </a:p>
        </p:txBody>
      </p:sp>
      <p:sp>
        <p:nvSpPr>
          <p:cNvPr id="120" name="Text 112"/>
          <p:cNvSpPr/>
          <p:nvPr/>
        </p:nvSpPr>
        <p:spPr>
          <a:xfrm>
            <a:off x="3846854" y="1430871"/>
            <a:ext cx="1464469" cy="12858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A7A7A7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8.8 万 kWh × 0.75 元/kWh</a:t>
            </a:r>
            <a:endParaRPr lang="en-US" sz="700" dirty="0"/>
          </a:p>
        </p:txBody>
      </p:sp>
      <p:sp>
        <p:nvSpPr>
          <p:cNvPr id="121" name="Text 113"/>
          <p:cNvSpPr/>
          <p:nvPr/>
        </p:nvSpPr>
        <p:spPr>
          <a:xfrm>
            <a:off x="5612811" y="1083339"/>
            <a:ext cx="1464469" cy="121444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76B900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④ 静态回收期</a:t>
            </a:r>
            <a:endParaRPr lang="en-US" sz="700" dirty="0"/>
          </a:p>
        </p:txBody>
      </p:sp>
      <p:sp>
        <p:nvSpPr>
          <p:cNvPr id="122" name="Text 114"/>
          <p:cNvSpPr/>
          <p:nvPr/>
        </p:nvSpPr>
        <p:spPr>
          <a:xfrm>
            <a:off x="5612811" y="1231739"/>
            <a:ext cx="1464469" cy="17145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≈ 18 个月</a:t>
            </a:r>
            <a:endParaRPr lang="en-US" sz="1000" dirty="0"/>
          </a:p>
        </p:txBody>
      </p:sp>
      <p:sp>
        <p:nvSpPr>
          <p:cNvPr id="123" name="Text 115"/>
          <p:cNvSpPr/>
          <p:nvPr/>
        </p:nvSpPr>
        <p:spPr>
          <a:xfrm>
            <a:off x="5612811" y="1430871"/>
            <a:ext cx="1464469" cy="12858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A7A7A7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120 万元 ÷ 6.6 ≈ 18.2 个月</a:t>
            </a:r>
            <a:endParaRPr lang="en-US" sz="700" dirty="0"/>
          </a:p>
        </p:txBody>
      </p:sp>
      <p:sp>
        <p:nvSpPr>
          <p:cNvPr id="124" name="Text 116"/>
          <p:cNvSpPr/>
          <p:nvPr/>
        </p:nvSpPr>
        <p:spPr>
          <a:xfrm>
            <a:off x="7378712" y="1083339"/>
            <a:ext cx="1464469" cy="121444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76B900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⑤ 年化收益</a:t>
            </a:r>
            <a:endParaRPr lang="en-US" sz="700" dirty="0"/>
          </a:p>
        </p:txBody>
      </p:sp>
      <p:sp>
        <p:nvSpPr>
          <p:cNvPr id="125" name="Text 117"/>
          <p:cNvSpPr/>
          <p:nvPr/>
        </p:nvSpPr>
        <p:spPr>
          <a:xfrm>
            <a:off x="7378712" y="1231739"/>
            <a:ext cx="1464469" cy="17145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79.2 万元/年</a:t>
            </a:r>
            <a:endParaRPr lang="en-US" sz="1000" dirty="0"/>
          </a:p>
        </p:txBody>
      </p:sp>
      <p:sp>
        <p:nvSpPr>
          <p:cNvPr id="126" name="Text 118"/>
          <p:cNvSpPr/>
          <p:nvPr/>
        </p:nvSpPr>
        <p:spPr>
          <a:xfrm>
            <a:off x="7378712" y="1430871"/>
            <a:ext cx="1464469" cy="12858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A7A7A7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6.6 × 12；年节电 105.6 万 kWh</a:t>
            </a:r>
            <a:endParaRPr lang="en-US" sz="700" dirty="0"/>
          </a:p>
        </p:txBody>
      </p:sp>
      <p:sp>
        <p:nvSpPr>
          <p:cNvPr id="127" name="Text 119"/>
          <p:cNvSpPr/>
          <p:nvPr/>
        </p:nvSpPr>
        <p:spPr>
          <a:xfrm>
            <a:off x="214368" y="1730908"/>
            <a:ext cx="1257300" cy="14287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投资回收累计现金流曲线</a:t>
            </a:r>
            <a:endParaRPr lang="en-US" sz="900" dirty="0"/>
          </a:p>
        </p:txBody>
      </p:sp>
      <p:sp>
        <p:nvSpPr>
          <p:cNvPr id="128" name="Text 120"/>
          <p:cNvSpPr/>
          <p:nvPr/>
        </p:nvSpPr>
        <p:spPr>
          <a:xfrm>
            <a:off x="3479788" y="1751614"/>
            <a:ext cx="1757363" cy="121444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98989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横轴：月份 ｜ 纵轴：万元（零基线真实尺度）</a:t>
            </a:r>
            <a:endParaRPr lang="en-US" sz="700" dirty="0"/>
          </a:p>
        </p:txBody>
      </p:sp>
      <p:sp>
        <p:nvSpPr>
          <p:cNvPr id="129" name="Text 121"/>
          <p:cNvSpPr/>
          <p:nvPr/>
        </p:nvSpPr>
        <p:spPr>
          <a:xfrm>
            <a:off x="214647" y="1902358"/>
            <a:ext cx="5022056" cy="12858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A7A7A7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5 年累计节费 396 万元、扣投资净收益约 276 万元；按 10 年设备寿命，回收期后约 8.5 年累计净收益约 673 万元。</a:t>
            </a:r>
            <a:endParaRPr lang="en-US" sz="700" dirty="0"/>
          </a:p>
        </p:txBody>
      </p:sp>
      <p:sp>
        <p:nvSpPr>
          <p:cNvPr id="130" name="Text 122"/>
          <p:cNvSpPr/>
          <p:nvPr/>
        </p:nvSpPr>
        <p:spPr>
          <a:xfrm>
            <a:off x="5465694" y="1730908"/>
            <a:ext cx="1257300" cy="14287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敏感性分析：静态回收期</a:t>
            </a:r>
            <a:endParaRPr lang="en-US" sz="900" dirty="0"/>
          </a:p>
        </p:txBody>
      </p:sp>
      <p:sp>
        <p:nvSpPr>
          <p:cNvPr id="131" name="Text 123"/>
          <p:cNvSpPr/>
          <p:nvPr/>
        </p:nvSpPr>
        <p:spPr>
          <a:xfrm>
            <a:off x="8501007" y="1751614"/>
            <a:ext cx="428625" cy="121444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98989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单位：个月</a:t>
            </a:r>
            <a:endParaRPr lang="en-US" sz="700" dirty="0"/>
          </a:p>
        </p:txBody>
      </p:sp>
      <p:sp>
        <p:nvSpPr>
          <p:cNvPr id="132" name="Text 124"/>
          <p:cNvSpPr/>
          <p:nvPr/>
        </p:nvSpPr>
        <p:spPr>
          <a:xfrm>
            <a:off x="5465304" y="1902358"/>
            <a:ext cx="3464719" cy="12858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A7A7A7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区间约 16.5–25.3 个月，最差情形仍远短于 10 年设备寿命，项目经济性稳健。</a:t>
            </a:r>
            <a:endParaRPr lang="en-US" sz="700" dirty="0"/>
          </a:p>
        </p:txBody>
      </p:sp>
      <p:sp>
        <p:nvSpPr>
          <p:cNvPr id="133" name="Text 125"/>
          <p:cNvSpPr/>
          <p:nvPr/>
        </p:nvSpPr>
        <p:spPr>
          <a:xfrm>
            <a:off x="341226" y="4090522"/>
            <a:ext cx="1357313" cy="121444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76B900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诚实边界</a:t>
            </a:r>
            <a:endParaRPr lang="en-US" sz="700" dirty="0"/>
          </a:p>
        </p:txBody>
      </p:sp>
      <p:sp>
        <p:nvSpPr>
          <p:cNvPr id="134" name="Text 126"/>
          <p:cNvSpPr/>
          <p:nvPr/>
        </p:nvSpPr>
        <p:spPr>
          <a:xfrm>
            <a:off x="341226" y="4223742"/>
            <a:ext cx="1357313" cy="164306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仅覆盖标杆差距约 27%</a:t>
            </a:r>
            <a:endParaRPr lang="en-US" sz="1000" dirty="0"/>
          </a:p>
        </p:txBody>
      </p:sp>
      <p:sp>
        <p:nvSpPr>
          <p:cNvPr id="135" name="Text 127"/>
          <p:cNvSpPr/>
          <p:nvPr/>
        </p:nvSpPr>
        <p:spPr>
          <a:xfrm>
            <a:off x="1927138" y="4090132"/>
            <a:ext cx="6886575" cy="135731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A7A7A7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液压改造只消除 1 号线与标杆月度差距 32.0 万 kWh 中的 8.8 万 kWh（8.8 ÷ 32.0 ≈ 27%）；改造后约 0.74 kWh/件，仍高于 2/4 号线 0.52 与行业标杆 0.45。</a:t>
            </a:r>
            <a:endParaRPr lang="en-US" sz="700" dirty="0"/>
          </a:p>
        </p:txBody>
      </p:sp>
      <p:sp>
        <p:nvSpPr>
          <p:cNvPr id="136" name="Text 128"/>
          <p:cNvSpPr/>
          <p:nvPr/>
        </p:nvSpPr>
        <p:spPr>
          <a:xfrm>
            <a:off x="1927138" y="4251536"/>
            <a:ext cx="6886575" cy="135731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A7A7A7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剩余约 73% 需第二批措施（余热回收、变频改造、工艺参数优化）另行立项，本次立项范围不含这些内容。</a:t>
            </a:r>
            <a:endParaRPr lang="en-US" sz="700" dirty="0"/>
          </a:p>
        </p:txBody>
      </p:sp>
      <p:sp>
        <p:nvSpPr>
          <p:cNvPr id="137" name="Text 129"/>
          <p:cNvSpPr/>
          <p:nvPr/>
        </p:nvSpPr>
        <p:spPr>
          <a:xfrm>
            <a:off x="214313" y="4514850"/>
            <a:ext cx="8715375" cy="30003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98989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数据来源：一个月四条产线能耗实测数据（1 号线月用电 68 万 kWh、月产量 80 万件、单位能耗 0.85 kWh/件）与工程测算；工业电价 0.75 元/kWh，行业标杆 0.45 kWh/件。口径：本页为静态回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898989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收期测算，未折现，未计增值税、政府补贴与碳收益，未计改造期间停机造成的产能损失；如需动态回收期（NPV/IRR），需补充折现率与停机损失数据，本次素材未提供。</a:t>
            </a:r>
            <a:endParaRPr lang="en-US" sz="700" dirty="0"/>
          </a:p>
        </p:txBody>
      </p:sp>
      <p:sp>
        <p:nvSpPr>
          <p:cNvPr id="65535" name="wm:hwcld:2026-09-22T19:05:55:0e1af824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ln/>
        </p:spPr>
      </p:sp>
      <p:sp>
        <p:nvSpPr>
          <p:cNvPr id="3" name="Shape 1"/>
          <p:cNvSpPr/>
          <p:nvPr/>
        </p:nvSpPr>
        <p:spPr>
          <a:xfrm>
            <a:off x="214313" y="1210866"/>
            <a:ext cx="428625" cy="14288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4" name="Shape 2"/>
          <p:cNvSpPr/>
          <p:nvPr/>
        </p:nvSpPr>
        <p:spPr>
          <a:xfrm>
            <a:off x="632222" y="1896666"/>
            <a:ext cx="0" cy="1835944"/>
          </a:xfrm>
          <a:prstGeom prst="line">
            <a:avLst/>
          </a:prstGeom>
          <a:noFill/>
          <a:ln w="6350">
            <a:solidFill>
              <a:srgbClr val="5E5E5E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25141" y="1896666"/>
            <a:ext cx="0" cy="1835944"/>
          </a:xfrm>
          <a:prstGeom prst="line">
            <a:avLst/>
          </a:prstGeom>
          <a:noFill/>
          <a:ln w="6350">
            <a:solidFill>
              <a:srgbClr val="5E5E5E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25203" y="1896666"/>
            <a:ext cx="0" cy="1835944"/>
          </a:xfrm>
          <a:prstGeom prst="line">
            <a:avLst/>
          </a:prstGeom>
          <a:noFill/>
          <a:ln w="6350">
            <a:solidFill>
              <a:srgbClr val="5E5E5E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18122" y="1896666"/>
            <a:ext cx="0" cy="1835944"/>
          </a:xfrm>
          <a:prstGeom prst="line">
            <a:avLst/>
          </a:prstGeom>
          <a:noFill/>
          <a:ln w="6350">
            <a:solidFill>
              <a:srgbClr val="5E5E5E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618184" y="1896666"/>
            <a:ext cx="0" cy="1835944"/>
          </a:xfrm>
          <a:prstGeom prst="line">
            <a:avLst/>
          </a:prstGeom>
          <a:noFill/>
          <a:ln w="6350">
            <a:solidFill>
              <a:srgbClr val="5E5E5E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18247" y="1896666"/>
            <a:ext cx="0" cy="1835944"/>
          </a:xfrm>
          <a:prstGeom prst="line">
            <a:avLst/>
          </a:prstGeom>
          <a:noFill/>
          <a:ln w="6350">
            <a:solidFill>
              <a:srgbClr val="5E5E5E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11166" y="1896666"/>
            <a:ext cx="0" cy="1835944"/>
          </a:xfrm>
          <a:prstGeom prst="line">
            <a:avLst/>
          </a:prstGeom>
          <a:noFill/>
          <a:ln w="6350">
            <a:solidFill>
              <a:srgbClr val="5E5E5E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1228" y="1896666"/>
            <a:ext cx="0" cy="1835944"/>
          </a:xfrm>
          <a:prstGeom prst="line">
            <a:avLst/>
          </a:prstGeom>
          <a:noFill/>
          <a:ln w="6350">
            <a:solidFill>
              <a:srgbClr val="5E5E5E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2222" y="1896666"/>
            <a:ext cx="0" cy="1835944"/>
          </a:xfrm>
          <a:prstGeom prst="line">
            <a:avLst/>
          </a:prstGeom>
          <a:noFill/>
          <a:ln w="6350">
            <a:solidFill>
              <a:srgbClr val="5E5E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-211455" y="2066151"/>
            <a:ext cx="782955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FFFFFF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1 号线</a:t>
            </a:r>
            <a:endParaRPr lang="en-US" sz="788" dirty="0"/>
          </a:p>
        </p:txBody>
      </p:sp>
      <p:sp>
        <p:nvSpPr>
          <p:cNvPr id="14" name="Text 12"/>
          <p:cNvSpPr/>
          <p:nvPr/>
        </p:nvSpPr>
        <p:spPr>
          <a:xfrm>
            <a:off x="-211455" y="2525137"/>
            <a:ext cx="782955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FFFFFF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2 号线</a:t>
            </a:r>
            <a:endParaRPr lang="en-US" sz="788" dirty="0"/>
          </a:p>
        </p:txBody>
      </p:sp>
      <p:sp>
        <p:nvSpPr>
          <p:cNvPr id="15" name="Text 13"/>
          <p:cNvSpPr/>
          <p:nvPr/>
        </p:nvSpPr>
        <p:spPr>
          <a:xfrm>
            <a:off x="-211455" y="2984123"/>
            <a:ext cx="782955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FFFFFF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3 号线</a:t>
            </a:r>
            <a:endParaRPr lang="en-US" sz="788" dirty="0"/>
          </a:p>
        </p:txBody>
      </p:sp>
      <p:sp>
        <p:nvSpPr>
          <p:cNvPr id="16" name="Text 14"/>
          <p:cNvSpPr/>
          <p:nvPr/>
        </p:nvSpPr>
        <p:spPr>
          <a:xfrm>
            <a:off x="-211455" y="3443109"/>
            <a:ext cx="782955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FFFFFF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4 号线</a:t>
            </a:r>
            <a:endParaRPr lang="en-US" sz="788" dirty="0"/>
          </a:p>
        </p:txBody>
      </p:sp>
      <p:sp>
        <p:nvSpPr>
          <p:cNvPr id="17" name="Text 15"/>
          <p:cNvSpPr/>
          <p:nvPr/>
        </p:nvSpPr>
        <p:spPr>
          <a:xfrm>
            <a:off x="462201" y="3769042"/>
            <a:ext cx="332899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A7A7A7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0</a:t>
            </a:r>
            <a:endParaRPr lang="en-US" sz="788" dirty="0"/>
          </a:p>
        </p:txBody>
      </p:sp>
      <p:sp>
        <p:nvSpPr>
          <p:cNvPr id="18" name="Text 16"/>
          <p:cNvSpPr/>
          <p:nvPr/>
        </p:nvSpPr>
        <p:spPr>
          <a:xfrm>
            <a:off x="959201" y="3769042"/>
            <a:ext cx="332899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A7A7A7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2</a:t>
            </a:r>
            <a:endParaRPr lang="en-US" sz="788" dirty="0"/>
          </a:p>
        </p:txBody>
      </p:sp>
      <p:sp>
        <p:nvSpPr>
          <p:cNvPr id="19" name="Text 17"/>
          <p:cNvSpPr/>
          <p:nvPr/>
        </p:nvSpPr>
        <p:spPr>
          <a:xfrm>
            <a:off x="1456203" y="3769042"/>
            <a:ext cx="332899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A7A7A7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4</a:t>
            </a:r>
            <a:endParaRPr lang="en-US" sz="788" dirty="0"/>
          </a:p>
        </p:txBody>
      </p:sp>
      <p:sp>
        <p:nvSpPr>
          <p:cNvPr id="20" name="Text 18"/>
          <p:cNvSpPr/>
          <p:nvPr/>
        </p:nvSpPr>
        <p:spPr>
          <a:xfrm>
            <a:off x="1953203" y="3769042"/>
            <a:ext cx="332899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A7A7A7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6</a:t>
            </a:r>
            <a:endParaRPr lang="en-US" sz="788" dirty="0"/>
          </a:p>
        </p:txBody>
      </p:sp>
      <p:sp>
        <p:nvSpPr>
          <p:cNvPr id="21" name="Text 19"/>
          <p:cNvSpPr/>
          <p:nvPr/>
        </p:nvSpPr>
        <p:spPr>
          <a:xfrm>
            <a:off x="2450204" y="3769042"/>
            <a:ext cx="332899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A7A7A7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8</a:t>
            </a:r>
            <a:endParaRPr lang="en-US" sz="788" dirty="0"/>
          </a:p>
        </p:txBody>
      </p:sp>
      <p:sp>
        <p:nvSpPr>
          <p:cNvPr id="22" name="Text 20"/>
          <p:cNvSpPr/>
          <p:nvPr/>
        </p:nvSpPr>
        <p:spPr>
          <a:xfrm>
            <a:off x="2872195" y="3769042"/>
            <a:ext cx="482917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A7A7A7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10</a:t>
            </a:r>
            <a:endParaRPr lang="en-US" sz="788" dirty="0"/>
          </a:p>
        </p:txBody>
      </p:sp>
      <p:sp>
        <p:nvSpPr>
          <p:cNvPr id="23" name="Text 21"/>
          <p:cNvSpPr/>
          <p:nvPr/>
        </p:nvSpPr>
        <p:spPr>
          <a:xfrm>
            <a:off x="3369197" y="3769042"/>
            <a:ext cx="482917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A7A7A7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12</a:t>
            </a:r>
            <a:endParaRPr lang="en-US" sz="788" dirty="0"/>
          </a:p>
        </p:txBody>
      </p:sp>
      <p:sp>
        <p:nvSpPr>
          <p:cNvPr id="24" name="Text 22"/>
          <p:cNvSpPr/>
          <p:nvPr/>
        </p:nvSpPr>
        <p:spPr>
          <a:xfrm>
            <a:off x="3866198" y="3769042"/>
            <a:ext cx="482917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A7A7A7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14</a:t>
            </a:r>
            <a:endParaRPr lang="en-US" sz="788" dirty="0"/>
          </a:p>
        </p:txBody>
      </p:sp>
      <p:sp>
        <p:nvSpPr>
          <p:cNvPr id="25" name="Shape 23"/>
          <p:cNvSpPr/>
          <p:nvPr/>
        </p:nvSpPr>
        <p:spPr>
          <a:xfrm>
            <a:off x="628650" y="2047577"/>
            <a:ext cx="1988003" cy="157163"/>
          </a:xfrm>
          <a:custGeom>
            <a:avLst/>
            <a:gdLst/>
            <a:ahLst/>
            <a:cxnLst/>
            <a:rect l="l" t="t" r="r" b="b"/>
            <a:pathLst>
              <a:path w="1988003" h="157163">
                <a:moveTo>
                  <a:pt x="0" y="0"/>
                </a:moveTo>
                <a:lnTo>
                  <a:pt x="1988003" y="0"/>
                </a:lnTo>
                <a:lnTo>
                  <a:pt x="1988003" y="157163"/>
                </a:lnTo>
                <a:lnTo>
                  <a:pt x="0" y="157163"/>
                </a:lnTo>
                <a:close/>
              </a:path>
            </a:pathLst>
          </a:custGeom>
          <a:solidFill>
            <a:srgbClr val="DF6500"/>
          </a:solidFill>
          <a:ln/>
        </p:spPr>
      </p:sp>
      <p:sp>
        <p:nvSpPr>
          <p:cNvPr id="26" name="Shape 24"/>
          <p:cNvSpPr/>
          <p:nvPr/>
        </p:nvSpPr>
        <p:spPr>
          <a:xfrm>
            <a:off x="628650" y="2506563"/>
            <a:ext cx="1491003" cy="157163"/>
          </a:xfrm>
          <a:custGeom>
            <a:avLst/>
            <a:gdLst/>
            <a:ahLst/>
            <a:cxnLst/>
            <a:rect l="l" t="t" r="r" b="b"/>
            <a:pathLst>
              <a:path w="1491003" h="157163">
                <a:moveTo>
                  <a:pt x="0" y="0"/>
                </a:moveTo>
                <a:lnTo>
                  <a:pt x="1491003" y="0"/>
                </a:lnTo>
                <a:lnTo>
                  <a:pt x="1491003" y="157163"/>
                </a:lnTo>
                <a:lnTo>
                  <a:pt x="0" y="157163"/>
                </a:lnTo>
                <a:close/>
              </a:path>
            </a:pathLst>
          </a:custGeom>
          <a:solidFill>
            <a:srgbClr val="76B900"/>
          </a:solidFill>
          <a:ln/>
        </p:spPr>
      </p:sp>
      <p:sp>
        <p:nvSpPr>
          <p:cNvPr id="27" name="Shape 25"/>
          <p:cNvSpPr/>
          <p:nvPr/>
        </p:nvSpPr>
        <p:spPr>
          <a:xfrm>
            <a:off x="628650" y="2965549"/>
            <a:ext cx="2982006" cy="157163"/>
          </a:xfrm>
          <a:custGeom>
            <a:avLst/>
            <a:gdLst/>
            <a:ahLst/>
            <a:cxnLst/>
            <a:rect l="l" t="t" r="r" b="b"/>
            <a:pathLst>
              <a:path w="2982006" h="157163">
                <a:moveTo>
                  <a:pt x="0" y="0"/>
                </a:moveTo>
                <a:lnTo>
                  <a:pt x="2982006" y="0"/>
                </a:lnTo>
                <a:lnTo>
                  <a:pt x="2982006" y="157163"/>
                </a:lnTo>
                <a:lnTo>
                  <a:pt x="0" y="157163"/>
                </a:lnTo>
                <a:close/>
              </a:path>
            </a:pathLst>
          </a:custGeom>
          <a:solidFill>
            <a:srgbClr val="E52020"/>
          </a:solidFill>
          <a:ln/>
        </p:spPr>
      </p:sp>
      <p:sp>
        <p:nvSpPr>
          <p:cNvPr id="28" name="Shape 26"/>
          <p:cNvSpPr/>
          <p:nvPr/>
        </p:nvSpPr>
        <p:spPr>
          <a:xfrm>
            <a:off x="628650" y="3424535"/>
            <a:ext cx="1242502" cy="157163"/>
          </a:xfrm>
          <a:custGeom>
            <a:avLst/>
            <a:gdLst/>
            <a:ahLst/>
            <a:cxnLst/>
            <a:rect l="l" t="t" r="r" b="b"/>
            <a:pathLst>
              <a:path w="1242502" h="157163">
                <a:moveTo>
                  <a:pt x="0" y="0"/>
                </a:moveTo>
                <a:lnTo>
                  <a:pt x="1242502" y="0"/>
                </a:lnTo>
                <a:lnTo>
                  <a:pt x="1242502" y="157163"/>
                </a:lnTo>
                <a:lnTo>
                  <a:pt x="0" y="157163"/>
                </a:lnTo>
                <a:close/>
              </a:path>
            </a:pathLst>
          </a:custGeom>
          <a:solidFill>
            <a:srgbClr val="76B900"/>
          </a:solidFill>
          <a:ln/>
        </p:spPr>
      </p:sp>
      <p:sp>
        <p:nvSpPr>
          <p:cNvPr id="29" name="Text 27"/>
          <p:cNvSpPr/>
          <p:nvPr/>
        </p:nvSpPr>
        <p:spPr>
          <a:xfrm>
            <a:off x="2659516" y="2066151"/>
            <a:ext cx="1233011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8" dirty="0">
                <a:solidFill>
                  <a:srgbClr val="FFFFFF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8 kWh/h</a:t>
            </a:r>
            <a:endParaRPr lang="en-US" sz="788" dirty="0"/>
          </a:p>
        </p:txBody>
      </p:sp>
      <p:sp>
        <p:nvSpPr>
          <p:cNvPr id="30" name="Text 28"/>
          <p:cNvSpPr/>
          <p:nvPr/>
        </p:nvSpPr>
        <p:spPr>
          <a:xfrm>
            <a:off x="2162515" y="2525137"/>
            <a:ext cx="1233011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8" dirty="0">
                <a:solidFill>
                  <a:srgbClr val="FFFFFF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6 kWh/h</a:t>
            </a:r>
            <a:endParaRPr lang="en-US" sz="788" dirty="0"/>
          </a:p>
        </p:txBody>
      </p:sp>
      <p:sp>
        <p:nvSpPr>
          <p:cNvPr id="31" name="Text 29"/>
          <p:cNvSpPr/>
          <p:nvPr/>
        </p:nvSpPr>
        <p:spPr>
          <a:xfrm>
            <a:off x="3653518" y="2984123"/>
            <a:ext cx="1383030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8" dirty="0">
                <a:solidFill>
                  <a:srgbClr val="FFFFFF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12 kWh/h</a:t>
            </a:r>
            <a:endParaRPr lang="en-US" sz="788" dirty="0"/>
          </a:p>
        </p:txBody>
      </p:sp>
      <p:sp>
        <p:nvSpPr>
          <p:cNvPr id="32" name="Text 30"/>
          <p:cNvSpPr/>
          <p:nvPr/>
        </p:nvSpPr>
        <p:spPr>
          <a:xfrm>
            <a:off x="1914015" y="3443109"/>
            <a:ext cx="1233011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8" dirty="0">
                <a:solidFill>
                  <a:srgbClr val="FFFFFF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5 kWh/h</a:t>
            </a:r>
            <a:endParaRPr lang="en-US" sz="788" dirty="0"/>
          </a:p>
        </p:txBody>
      </p:sp>
      <p:sp>
        <p:nvSpPr>
          <p:cNvPr id="33" name="Shape 31"/>
          <p:cNvSpPr/>
          <p:nvPr/>
        </p:nvSpPr>
        <p:spPr>
          <a:xfrm>
            <a:off x="2557463" y="1896666"/>
            <a:ext cx="0" cy="1835944"/>
          </a:xfrm>
          <a:prstGeom prst="line">
            <a:avLst/>
          </a:prstGeom>
          <a:noFill/>
          <a:ln w="12700">
            <a:solidFill>
              <a:srgbClr val="A7A7A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121694" y="1896666"/>
            <a:ext cx="0" cy="1835944"/>
          </a:xfrm>
          <a:prstGeom prst="line">
            <a:avLst/>
          </a:prstGeom>
          <a:noFill/>
          <a:ln w="12700">
            <a:solidFill>
              <a:srgbClr val="76B9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163051" y="3740467"/>
            <a:ext cx="782955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A7A7A7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7.75</a:t>
            </a:r>
            <a:endParaRPr lang="en-US" sz="788" dirty="0"/>
          </a:p>
        </p:txBody>
      </p:sp>
      <p:sp>
        <p:nvSpPr>
          <p:cNvPr id="36" name="Text 34"/>
          <p:cNvSpPr/>
          <p:nvPr/>
        </p:nvSpPr>
        <p:spPr>
          <a:xfrm>
            <a:off x="1953203" y="3740467"/>
            <a:ext cx="332899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76B900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6</a:t>
            </a:r>
            <a:endParaRPr lang="en-US" sz="788" dirty="0"/>
          </a:p>
        </p:txBody>
      </p:sp>
      <p:sp>
        <p:nvSpPr>
          <p:cNvPr id="37" name="Shape 35"/>
          <p:cNvSpPr/>
          <p:nvPr/>
        </p:nvSpPr>
        <p:spPr>
          <a:xfrm>
            <a:off x="4808804" y="1338114"/>
            <a:ext cx="4121944" cy="628650"/>
          </a:xfrm>
          <a:prstGeom prst="roundRect">
            <a:avLst>
              <a:gd name="adj" fmla="val 826"/>
            </a:avLst>
          </a:prstGeom>
          <a:solidFill>
            <a:srgbClr val="1A1A1A"/>
          </a:solidFill>
          <a:ln/>
        </p:spPr>
      </p:sp>
      <p:pic>
        <p:nvPicPr>
          <p:cNvPr id="3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808804" y="1338114"/>
            <a:ext cx="4121944" cy="628650"/>
          </a:xfrm>
          <a:prstGeom prst="rect">
            <a:avLst/>
          </a:prstGeom>
        </p:spPr>
      </p:pic>
      <p:sp>
        <p:nvSpPr>
          <p:cNvPr id="39" name="Shape 36"/>
          <p:cNvSpPr/>
          <p:nvPr/>
        </p:nvSpPr>
        <p:spPr>
          <a:xfrm>
            <a:off x="4808804" y="2079780"/>
            <a:ext cx="4121944" cy="821531"/>
          </a:xfrm>
          <a:prstGeom prst="roundRect">
            <a:avLst>
              <a:gd name="adj" fmla="val 1936"/>
            </a:avLst>
          </a:prstGeom>
          <a:solidFill>
            <a:srgbClr val="1A1A1A"/>
          </a:solidFill>
          <a:ln/>
        </p:spPr>
      </p:sp>
      <p:pic>
        <p:nvPicPr>
          <p:cNvPr id="4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08804" y="2079780"/>
            <a:ext cx="4121944" cy="821531"/>
          </a:xfrm>
          <a:prstGeom prst="rect">
            <a:avLst/>
          </a:prstGeom>
        </p:spPr>
      </p:pic>
      <p:sp>
        <p:nvSpPr>
          <p:cNvPr id="41" name="Shape 37"/>
          <p:cNvSpPr/>
          <p:nvPr/>
        </p:nvSpPr>
        <p:spPr>
          <a:xfrm>
            <a:off x="4808804" y="3015555"/>
            <a:ext cx="4121944" cy="900113"/>
          </a:xfrm>
          <a:prstGeom prst="roundRect">
            <a:avLst>
              <a:gd name="adj" fmla="val 1612"/>
            </a:avLst>
          </a:prstGeom>
          <a:solidFill>
            <a:srgbClr val="1A1A1A"/>
          </a:solidFill>
          <a:ln/>
        </p:spPr>
      </p:sp>
      <p:pic>
        <p:nvPicPr>
          <p:cNvPr id="4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08804" y="3015555"/>
            <a:ext cx="4121944" cy="900113"/>
          </a:xfrm>
          <a:prstGeom prst="rect">
            <a:avLst/>
          </a:prstGeom>
        </p:spPr>
      </p:pic>
      <p:sp>
        <p:nvSpPr>
          <p:cNvPr id="43" name="Shape 38"/>
          <p:cNvSpPr/>
          <p:nvPr/>
        </p:nvSpPr>
        <p:spPr>
          <a:xfrm>
            <a:off x="214313" y="4029466"/>
            <a:ext cx="8715375" cy="428625"/>
          </a:xfrm>
          <a:prstGeom prst="roundRect">
            <a:avLst>
              <a:gd name="adj" fmla="val 1778"/>
            </a:avLst>
          </a:prstGeom>
          <a:solidFill>
            <a:srgbClr val="1A1A1A"/>
          </a:solidFill>
          <a:ln/>
        </p:spPr>
      </p:sp>
      <p:pic>
        <p:nvPicPr>
          <p:cNvPr id="4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14313" y="4029466"/>
            <a:ext cx="8715375" cy="428625"/>
          </a:xfrm>
          <a:prstGeom prst="rect">
            <a:avLst/>
          </a:prstGeom>
        </p:spPr>
      </p:pic>
      <p:sp>
        <p:nvSpPr>
          <p:cNvPr id="45" name="Text 39"/>
          <p:cNvSpPr/>
          <p:nvPr/>
        </p:nvSpPr>
        <p:spPr>
          <a:xfrm>
            <a:off x="214313" y="498277"/>
            <a:ext cx="8715375" cy="62865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3 号线单位能耗最低 0.48 但空载高达 12 kWh/h，规范停机 SOP 可零投入年</a:t>
            </a:r>
            <a:endParaRPr lang="en-US" sz="1900" dirty="0"/>
          </a:p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省约 1.3 万元</a:t>
            </a:r>
            <a:endParaRPr lang="en-US" sz="1900" dirty="0"/>
          </a:p>
        </p:txBody>
      </p:sp>
      <p:sp>
        <p:nvSpPr>
          <p:cNvPr id="46" name="Text 40"/>
          <p:cNvSpPr/>
          <p:nvPr/>
        </p:nvSpPr>
        <p:spPr>
          <a:xfrm>
            <a:off x="214368" y="1339453"/>
            <a:ext cx="1371600" cy="14287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四条产线空载能耗横向对比</a:t>
            </a:r>
            <a:endParaRPr lang="en-US" sz="900" dirty="0"/>
          </a:p>
        </p:txBody>
      </p:sp>
      <p:sp>
        <p:nvSpPr>
          <p:cNvPr id="47" name="Text 41"/>
          <p:cNvSpPr/>
          <p:nvPr/>
        </p:nvSpPr>
        <p:spPr>
          <a:xfrm>
            <a:off x="3331945" y="1360159"/>
            <a:ext cx="1250156" cy="121444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98989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单位：kWh/h ｜ 零基线真实尺度</a:t>
            </a:r>
            <a:endParaRPr lang="en-US" sz="700" dirty="0"/>
          </a:p>
        </p:txBody>
      </p:sp>
      <p:sp>
        <p:nvSpPr>
          <p:cNvPr id="48" name="Text 42"/>
          <p:cNvSpPr/>
          <p:nvPr/>
        </p:nvSpPr>
        <p:spPr>
          <a:xfrm>
            <a:off x="215373" y="1510903"/>
            <a:ext cx="4364831" cy="12858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A7A7A7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红＝3 号线（最高）· 橙＝1 号线 · 绿＝2、4 号线；灰虚线＝均值 7.75，绿虚线＝目标 6</a:t>
            </a:r>
            <a:endParaRPr lang="en-US" sz="700" dirty="0"/>
          </a:p>
        </p:txBody>
      </p:sp>
      <p:sp>
        <p:nvSpPr>
          <p:cNvPr id="49" name="Text 43"/>
          <p:cNvSpPr/>
          <p:nvPr/>
        </p:nvSpPr>
        <p:spPr>
          <a:xfrm>
            <a:off x="4908817" y="1423113"/>
            <a:ext cx="3936206" cy="107156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76B900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① 反差事实</a:t>
            </a:r>
            <a:endParaRPr lang="en-US" sz="700" dirty="0"/>
          </a:p>
        </p:txBody>
      </p:sp>
      <p:sp>
        <p:nvSpPr>
          <p:cNvPr id="50" name="Text 44"/>
          <p:cNvSpPr/>
          <p:nvPr/>
        </p:nvSpPr>
        <p:spPr>
          <a:xfrm>
            <a:off x="4908817" y="1573076"/>
            <a:ext cx="4172379" cy="135731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单位能耗 </a:t>
            </a:r>
            <a:pPr algn="l" indent="0" marL="0">
              <a:buNone/>
            </a:pPr>
            <a:r>
              <a:rPr lang="en-US" sz="700" b="1" dirty="0">
                <a:solidFill>
                  <a:srgbClr val="76B900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0.48 kWh/件</a:t>
            </a:r>
            <a:pPr algn="l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 — 四线最低，距标杆 0.45 仅差 0.03</a:t>
            </a:r>
            <a:endParaRPr lang="en-US" sz="700" dirty="0"/>
          </a:p>
        </p:txBody>
      </p:sp>
      <p:sp>
        <p:nvSpPr>
          <p:cNvPr id="51" name="Text 45"/>
          <p:cNvSpPr/>
          <p:nvPr/>
        </p:nvSpPr>
        <p:spPr>
          <a:xfrm>
            <a:off x="4908817" y="1748768"/>
            <a:ext cx="4172379" cy="135731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空载能耗 </a:t>
            </a:r>
            <a:pPr algn="l" indent="0" marL="0">
              <a:buNone/>
            </a:pPr>
            <a:r>
              <a:rPr lang="en-US" sz="700" b="1" dirty="0">
                <a:solidFill>
                  <a:srgbClr val="E52020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12 kWh/h</a:t>
            </a:r>
            <a:pPr algn="l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 — 四线最高，均值 7.75 的 1.55 倍、4 号线的 2.4 倍</a:t>
            </a:r>
            <a:endParaRPr lang="en-US" sz="700" dirty="0"/>
          </a:p>
        </p:txBody>
      </p:sp>
      <p:sp>
        <p:nvSpPr>
          <p:cNvPr id="52" name="Text 46"/>
          <p:cNvSpPr/>
          <p:nvPr/>
        </p:nvSpPr>
        <p:spPr>
          <a:xfrm>
            <a:off x="4908817" y="2194861"/>
            <a:ext cx="3936206" cy="107156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76B900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② 问题定位：不在生产，在停机/待机</a:t>
            </a:r>
            <a:endParaRPr lang="en-US" sz="700" dirty="0"/>
          </a:p>
        </p:txBody>
      </p:sp>
      <p:sp>
        <p:nvSpPr>
          <p:cNvPr id="53" name="Text 47"/>
          <p:cNvSpPr/>
          <p:nvPr/>
        </p:nvSpPr>
        <p:spPr>
          <a:xfrm>
            <a:off x="4908817" y="2344824"/>
            <a:ext cx="3936206" cy="135731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A7A7A7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停机后液压泵站、加热/保温、气源、除尘与照明等辅机未按规范关停或卸载，待机时段持续耗电。</a:t>
            </a:r>
            <a:endParaRPr lang="en-US" sz="700" dirty="0"/>
          </a:p>
        </p:txBody>
      </p:sp>
      <p:sp>
        <p:nvSpPr>
          <p:cNvPr id="54" name="Text 48"/>
          <p:cNvSpPr/>
          <p:nvPr/>
        </p:nvSpPr>
        <p:spPr>
          <a:xfrm>
            <a:off x="4908817" y="2522637"/>
            <a:ext cx="3936206" cy="264319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A7A7A7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制度根因：缺少统一停机顺序、辅机断电/卸载清单、待机时长上限与责任人点检记录，空载差异在线间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A7A7A7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放大到 2.4 倍。</a:t>
            </a:r>
            <a:endParaRPr lang="en-US" sz="700" dirty="0"/>
          </a:p>
        </p:txBody>
      </p:sp>
      <p:sp>
        <p:nvSpPr>
          <p:cNvPr id="55" name="Text 49"/>
          <p:cNvSpPr/>
          <p:nvPr/>
        </p:nvSpPr>
        <p:spPr>
          <a:xfrm>
            <a:off x="4908817" y="3103457"/>
            <a:ext cx="3936206" cy="107156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76B900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③ 量化测算与改善（假设口径）</a:t>
            </a:r>
            <a:endParaRPr lang="en-US" sz="700" dirty="0"/>
          </a:p>
        </p:txBody>
      </p:sp>
      <p:sp>
        <p:nvSpPr>
          <p:cNvPr id="56" name="Text 50"/>
          <p:cNvSpPr/>
          <p:nvPr/>
        </p:nvSpPr>
        <p:spPr>
          <a:xfrm>
            <a:off x="4908817" y="3255541"/>
            <a:ext cx="3936206" cy="264319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A7A7A7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待机口径：月待机约 240 小时（日历 720 小时的约 1/3）→ 空载电耗 240 × 12 = 2880 kWh/月 ≈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A7A7A7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 0.29 万 kWh，占 3 号线月用电 34 万 kWh 约 0.85%。</a:t>
            </a:r>
            <a:endParaRPr lang="en-US" sz="700" dirty="0"/>
          </a:p>
        </p:txBody>
      </p:sp>
      <p:sp>
        <p:nvSpPr>
          <p:cNvPr id="57" name="Text 51"/>
          <p:cNvSpPr/>
          <p:nvPr/>
        </p:nvSpPr>
        <p:spPr>
          <a:xfrm>
            <a:off x="4908817" y="3564062"/>
            <a:ext cx="3936206" cy="264319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A7A7A7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改善后：降至 6 kWh/h（对标 2 号线）→ 月节电约 1440 kWh、年节电约 1.73 万 kWh；电价 0.75 元/kWh，年节约电费约 </a:t>
            </a:r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1.3 万元</a:t>
            </a:r>
            <a:pPr algn="l" indent="0" marL="0">
              <a:buNone/>
            </a:pPr>
            <a:r>
              <a:rPr lang="en-US" sz="700" dirty="0">
                <a:solidFill>
                  <a:srgbClr val="A7A7A7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。</a:t>
            </a:r>
            <a:endParaRPr lang="en-US" sz="700" dirty="0"/>
          </a:p>
        </p:txBody>
      </p:sp>
      <p:sp>
        <p:nvSpPr>
          <p:cNvPr id="58" name="Text 52"/>
          <p:cNvSpPr/>
          <p:nvPr/>
        </p:nvSpPr>
        <p:spPr>
          <a:xfrm>
            <a:off x="343960" y="4102689"/>
            <a:ext cx="2193131" cy="107156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76B900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定位与推广</a:t>
            </a:r>
            <a:endParaRPr lang="en-US" sz="700" dirty="0"/>
          </a:p>
        </p:txBody>
      </p:sp>
      <p:sp>
        <p:nvSpPr>
          <p:cNvPr id="59" name="Text 53"/>
          <p:cNvSpPr/>
          <p:nvPr/>
        </p:nvSpPr>
        <p:spPr>
          <a:xfrm>
            <a:off x="343960" y="4223742"/>
            <a:ext cx="2193131" cy="164306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零投入 · 可立即落地 · 年省约 1.3 万元</a:t>
            </a:r>
            <a:endParaRPr lang="en-US" sz="1000" dirty="0"/>
          </a:p>
        </p:txBody>
      </p:sp>
      <p:sp>
        <p:nvSpPr>
          <p:cNvPr id="60" name="Text 54"/>
          <p:cNvSpPr/>
          <p:nvPr/>
        </p:nvSpPr>
        <p:spPr>
          <a:xfrm>
            <a:off x="2765692" y="4111563"/>
            <a:ext cx="6050756" cy="2643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A7A7A7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金额不大，真正价值是暴露全厂停机规范与辅机联控缺失的制度问题，应与 1 号线液压系统改造（第一批立项）并行推进；先形成标准停机 SOP 在 3 号线试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A7A7A7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点，再推广至四条产线，1 号线空载 8 kWh/h 一并纳入。</a:t>
            </a:r>
            <a:endParaRPr lang="en-US" sz="700" dirty="0"/>
          </a:p>
        </p:txBody>
      </p:sp>
      <p:sp>
        <p:nvSpPr>
          <p:cNvPr id="61" name="Text 55"/>
          <p:cNvSpPr/>
          <p:nvPr/>
        </p:nvSpPr>
        <p:spPr>
          <a:xfrm>
            <a:off x="214313" y="4514850"/>
            <a:ext cx="8715375" cy="30003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98989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数据来源：一个月四条产线能耗实测数据（3 号线月产量 70 万件、月用电 34 万 kWh、单位能耗 0.48 kWh/件、空载能耗 12 kWh/h）与主控复核测算；口径：月待机约 240 小时为估算，工业电价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898989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 0.75 元/kWh，年节约约 1.3 万元对待机时长假设高度敏感，需实测待机小时数后复核；素材未提供 3 号线停机原因构成，无法进一步拆分空载损失来源。</a:t>
            </a:r>
            <a:endParaRPr lang="en-US" sz="700" dirty="0"/>
          </a:p>
        </p:txBody>
      </p:sp>
      <p:sp>
        <p:nvSpPr>
          <p:cNvPr id="65535" name="wm:hwcld:2026-09-22T19:05:55:0e1af824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ln/>
        </p:spPr>
      </p:sp>
      <p:sp>
        <p:nvSpPr>
          <p:cNvPr id="3" name="Shape 1"/>
          <p:cNvSpPr/>
          <p:nvPr/>
        </p:nvSpPr>
        <p:spPr>
          <a:xfrm>
            <a:off x="214313" y="898327"/>
            <a:ext cx="428625" cy="14288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4" name="Shape 2"/>
          <p:cNvSpPr/>
          <p:nvPr/>
        </p:nvSpPr>
        <p:spPr>
          <a:xfrm>
            <a:off x="214313" y="1264221"/>
            <a:ext cx="8715375" cy="500063"/>
          </a:xfrm>
          <a:prstGeom prst="roundRect">
            <a:avLst>
              <a:gd name="adj" fmla="val 1306"/>
            </a:avLst>
          </a:prstGeom>
          <a:solidFill>
            <a:srgbClr val="1A1A1A"/>
          </a:solidFill>
          <a:ln w="12383">
            <a:solidFill>
              <a:srgbClr val="76B9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572125" y="1374893"/>
            <a:ext cx="742950" cy="278606"/>
          </a:xfrm>
          <a:prstGeom prst="rect">
            <a:avLst/>
          </a:prstGeom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72125" y="1374893"/>
            <a:ext cx="742950" cy="27860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0" y="1374893"/>
            <a:ext cx="742950" cy="278606"/>
          </a:xfrm>
          <a:prstGeom prst="rect">
            <a:avLst/>
          </a:prstGeom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00800" y="1374893"/>
            <a:ext cx="742950" cy="278606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7229475" y="1374893"/>
            <a:ext cx="742950" cy="278606"/>
          </a:xfrm>
          <a:prstGeom prst="rect">
            <a:avLst/>
          </a:prstGeom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229475" y="1374893"/>
            <a:ext cx="742950" cy="278606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8058150" y="1374893"/>
            <a:ext cx="742950" cy="278606"/>
          </a:xfrm>
          <a:prstGeom prst="rect">
            <a:avLst/>
          </a:prstGeom>
          <a:ln/>
        </p:spPr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058150" y="1374893"/>
            <a:ext cx="742950" cy="278606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3545309" y="1891978"/>
            <a:ext cx="100012" cy="71438"/>
          </a:xfrm>
          <a:prstGeom prst="roundRect">
            <a:avLst>
              <a:gd name="adj" fmla="val 32000"/>
            </a:avLst>
          </a:prstGeom>
          <a:solidFill>
            <a:srgbClr val="76B900"/>
          </a:solidFill>
          <a:ln/>
        </p:spPr>
      </p:sp>
      <p:sp>
        <p:nvSpPr>
          <p:cNvPr id="14" name="Text 8"/>
          <p:cNvSpPr/>
          <p:nvPr/>
        </p:nvSpPr>
        <p:spPr>
          <a:xfrm>
            <a:off x="3688184" y="1887066"/>
            <a:ext cx="609451" cy="785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A7A7A7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需投资 120 万元</a:t>
            </a:r>
            <a:endParaRPr lang="en-US" sz="700" dirty="0"/>
          </a:p>
        </p:txBody>
      </p:sp>
      <p:sp>
        <p:nvSpPr>
          <p:cNvPr id="15" name="Shape 9"/>
          <p:cNvSpPr/>
          <p:nvPr/>
        </p:nvSpPr>
        <p:spPr>
          <a:xfrm>
            <a:off x="4382914" y="1891978"/>
            <a:ext cx="100012" cy="71438"/>
          </a:xfrm>
          <a:prstGeom prst="roundRect">
            <a:avLst>
              <a:gd name="adj" fmla="val 32000"/>
            </a:avLst>
          </a:prstGeom>
          <a:solidFill>
            <a:srgbClr val="0C0C0C"/>
          </a:solidFill>
          <a:ln w="12383">
            <a:solidFill>
              <a:srgbClr val="BFF230"/>
            </a:solidFill>
            <a:prstDash val="solid"/>
          </a:ln>
        </p:spPr>
      </p:sp>
      <p:sp>
        <p:nvSpPr>
          <p:cNvPr id="16" name="Text 10"/>
          <p:cNvSpPr/>
          <p:nvPr/>
        </p:nvSpPr>
        <p:spPr>
          <a:xfrm>
            <a:off x="4525789" y="1887066"/>
            <a:ext cx="247531" cy="785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A7A7A7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零投入</a:t>
            </a:r>
            <a:endParaRPr lang="en-US" sz="700" dirty="0"/>
          </a:p>
        </p:txBody>
      </p:sp>
      <p:sp>
        <p:nvSpPr>
          <p:cNvPr id="17" name="Shape 11"/>
          <p:cNvSpPr/>
          <p:nvPr/>
        </p:nvSpPr>
        <p:spPr>
          <a:xfrm>
            <a:off x="4875833" y="1891978"/>
            <a:ext cx="100012" cy="71438"/>
          </a:xfrm>
          <a:prstGeom prst="roundRect">
            <a:avLst>
              <a:gd name="adj" fmla="val 32000"/>
            </a:avLst>
          </a:prstGeom>
          <a:solidFill>
            <a:srgbClr val="0C0C0C"/>
          </a:solidFill>
          <a:ln w="12383">
            <a:solidFill>
              <a:srgbClr val="DF6500"/>
            </a:solidFill>
            <a:prstDash val="solid"/>
          </a:ln>
        </p:spPr>
      </p:sp>
      <p:sp>
        <p:nvSpPr>
          <p:cNvPr id="18" name="Text 12"/>
          <p:cNvSpPr/>
          <p:nvPr/>
        </p:nvSpPr>
        <p:spPr>
          <a:xfrm>
            <a:off x="5018708" y="1887066"/>
            <a:ext cx="412552" cy="785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A7A7A7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待另行立项</a:t>
            </a:r>
            <a:endParaRPr lang="en-US" sz="700" dirty="0"/>
          </a:p>
        </p:txBody>
      </p:sp>
      <p:sp>
        <p:nvSpPr>
          <p:cNvPr id="19" name="Shape 13"/>
          <p:cNvSpPr/>
          <p:nvPr/>
        </p:nvSpPr>
        <p:spPr>
          <a:xfrm>
            <a:off x="1218009" y="2263453"/>
            <a:ext cx="0" cy="1007269"/>
          </a:xfrm>
          <a:prstGeom prst="line">
            <a:avLst/>
          </a:prstGeom>
          <a:noFill/>
          <a:ln w="6350">
            <a:solidFill>
              <a:srgbClr val="5E5E5E">
                <a:alpha val="35000"/>
              </a:srgbClr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1668066" y="2263453"/>
            <a:ext cx="0" cy="1007269"/>
          </a:xfrm>
          <a:prstGeom prst="line">
            <a:avLst/>
          </a:prstGeom>
          <a:noFill/>
          <a:ln w="6350">
            <a:solidFill>
              <a:srgbClr val="5E5E5E">
                <a:alpha val="35000"/>
              </a:srgbClr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2118122" y="2263453"/>
            <a:ext cx="0" cy="1007269"/>
          </a:xfrm>
          <a:prstGeom prst="line">
            <a:avLst/>
          </a:prstGeom>
          <a:noFill/>
          <a:ln w="6350">
            <a:solidFill>
              <a:srgbClr val="5E5E5E">
                <a:alpha val="35000"/>
              </a:srgbClr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2575322" y="2263453"/>
            <a:ext cx="0" cy="1007269"/>
          </a:xfrm>
          <a:prstGeom prst="line">
            <a:avLst/>
          </a:prstGeom>
          <a:noFill/>
          <a:ln w="6350">
            <a:solidFill>
              <a:srgbClr val="5E5E5E">
                <a:alpha val="35000"/>
              </a:srgbClr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3025378" y="2263453"/>
            <a:ext cx="0" cy="1007269"/>
          </a:xfrm>
          <a:prstGeom prst="line">
            <a:avLst/>
          </a:prstGeom>
          <a:noFill/>
          <a:ln w="6350">
            <a:solidFill>
              <a:srgbClr val="5E5E5E">
                <a:alpha val="35000"/>
              </a:srgbClr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3475434" y="2263453"/>
            <a:ext cx="0" cy="1007269"/>
          </a:xfrm>
          <a:prstGeom prst="line">
            <a:avLst/>
          </a:prstGeom>
          <a:noFill/>
          <a:ln w="6350">
            <a:solidFill>
              <a:srgbClr val="5E5E5E">
                <a:alpha val="35000"/>
              </a:srgbClr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3932634" y="2263453"/>
            <a:ext cx="0" cy="1007269"/>
          </a:xfrm>
          <a:prstGeom prst="line">
            <a:avLst/>
          </a:prstGeom>
          <a:noFill/>
          <a:ln w="6350">
            <a:solidFill>
              <a:srgbClr val="5E5E5E">
                <a:alpha val="35000"/>
              </a:srgbClr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4382691" y="2263453"/>
            <a:ext cx="0" cy="1007269"/>
          </a:xfrm>
          <a:prstGeom prst="line">
            <a:avLst/>
          </a:prstGeom>
          <a:noFill/>
          <a:ln w="6350">
            <a:solidFill>
              <a:srgbClr val="5E5E5E">
                <a:alpha val="35000"/>
              </a:srgbClr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4832747" y="2263453"/>
            <a:ext cx="0" cy="1007269"/>
          </a:xfrm>
          <a:prstGeom prst="line">
            <a:avLst/>
          </a:prstGeom>
          <a:noFill/>
          <a:ln w="6350">
            <a:solidFill>
              <a:srgbClr val="5E5E5E">
                <a:alpha val="35000"/>
              </a:srgbClr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5289947" y="2263453"/>
            <a:ext cx="0" cy="1007269"/>
          </a:xfrm>
          <a:prstGeom prst="line">
            <a:avLst/>
          </a:prstGeom>
          <a:noFill/>
          <a:ln w="6350">
            <a:solidFill>
              <a:srgbClr val="5E5E5E">
                <a:alpha val="35000"/>
              </a:srgbClr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1218009" y="2263453"/>
            <a:ext cx="0" cy="1007269"/>
          </a:xfrm>
          <a:prstGeom prst="line">
            <a:avLst/>
          </a:prstGeom>
          <a:noFill/>
          <a:ln w="6350">
            <a:solidFill>
              <a:srgbClr val="5E5E5E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1214873" y="3274293"/>
            <a:ext cx="4071502" cy="0"/>
          </a:xfrm>
          <a:prstGeom prst="line">
            <a:avLst/>
          </a:prstGeom>
          <a:noFill/>
          <a:ln w="6350">
            <a:solidFill>
              <a:srgbClr val="5E5E5E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1218009" y="3270722"/>
            <a:ext cx="0" cy="35719"/>
          </a:xfrm>
          <a:prstGeom prst="line">
            <a:avLst/>
          </a:prstGeom>
          <a:noFill/>
          <a:ln w="6350">
            <a:solidFill>
              <a:srgbClr val="5E5E5E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1668066" y="3270722"/>
            <a:ext cx="0" cy="35719"/>
          </a:xfrm>
          <a:prstGeom prst="line">
            <a:avLst/>
          </a:prstGeom>
          <a:noFill/>
          <a:ln w="6350">
            <a:solidFill>
              <a:srgbClr val="5E5E5E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2118122" y="3270722"/>
            <a:ext cx="0" cy="35719"/>
          </a:xfrm>
          <a:prstGeom prst="line">
            <a:avLst/>
          </a:prstGeom>
          <a:noFill/>
          <a:ln w="6350">
            <a:solidFill>
              <a:srgbClr val="5E5E5E"/>
            </a:solidFill>
            <a:prstDash val="solid"/>
          </a:ln>
        </p:spPr>
      </p:sp>
      <p:sp>
        <p:nvSpPr>
          <p:cNvPr id="34" name="Shape 28"/>
          <p:cNvSpPr/>
          <p:nvPr/>
        </p:nvSpPr>
        <p:spPr>
          <a:xfrm>
            <a:off x="2575322" y="3270722"/>
            <a:ext cx="0" cy="35719"/>
          </a:xfrm>
          <a:prstGeom prst="line">
            <a:avLst/>
          </a:prstGeom>
          <a:noFill/>
          <a:ln w="6350">
            <a:solidFill>
              <a:srgbClr val="5E5E5E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3025378" y="3270722"/>
            <a:ext cx="0" cy="35719"/>
          </a:xfrm>
          <a:prstGeom prst="line">
            <a:avLst/>
          </a:prstGeom>
          <a:noFill/>
          <a:ln w="6350">
            <a:solidFill>
              <a:srgbClr val="5E5E5E"/>
            </a:solidFill>
            <a:prstDash val="solid"/>
          </a:ln>
        </p:spPr>
      </p:sp>
      <p:sp>
        <p:nvSpPr>
          <p:cNvPr id="36" name="Shape 30"/>
          <p:cNvSpPr/>
          <p:nvPr/>
        </p:nvSpPr>
        <p:spPr>
          <a:xfrm>
            <a:off x="3475434" y="3270722"/>
            <a:ext cx="0" cy="35719"/>
          </a:xfrm>
          <a:prstGeom prst="line">
            <a:avLst/>
          </a:prstGeom>
          <a:noFill/>
          <a:ln w="6350">
            <a:solidFill>
              <a:srgbClr val="5E5E5E"/>
            </a:solidFill>
            <a:prstDash val="solid"/>
          </a:ln>
        </p:spPr>
      </p:sp>
      <p:sp>
        <p:nvSpPr>
          <p:cNvPr id="37" name="Shape 31"/>
          <p:cNvSpPr/>
          <p:nvPr/>
        </p:nvSpPr>
        <p:spPr>
          <a:xfrm>
            <a:off x="3932634" y="3270722"/>
            <a:ext cx="0" cy="35719"/>
          </a:xfrm>
          <a:prstGeom prst="line">
            <a:avLst/>
          </a:prstGeom>
          <a:noFill/>
          <a:ln w="6350">
            <a:solidFill>
              <a:srgbClr val="5E5E5E"/>
            </a:solidFill>
            <a:prstDash val="solid"/>
          </a:ln>
        </p:spPr>
      </p:sp>
      <p:sp>
        <p:nvSpPr>
          <p:cNvPr id="38" name="Shape 32"/>
          <p:cNvSpPr/>
          <p:nvPr/>
        </p:nvSpPr>
        <p:spPr>
          <a:xfrm>
            <a:off x="4382691" y="3270722"/>
            <a:ext cx="0" cy="35719"/>
          </a:xfrm>
          <a:prstGeom prst="line">
            <a:avLst/>
          </a:prstGeom>
          <a:noFill/>
          <a:ln w="6350">
            <a:solidFill>
              <a:srgbClr val="5E5E5E"/>
            </a:solidFill>
            <a:prstDash val="solid"/>
          </a:ln>
        </p:spPr>
      </p:sp>
      <p:sp>
        <p:nvSpPr>
          <p:cNvPr id="39" name="Shape 33"/>
          <p:cNvSpPr/>
          <p:nvPr/>
        </p:nvSpPr>
        <p:spPr>
          <a:xfrm>
            <a:off x="4832747" y="3270722"/>
            <a:ext cx="0" cy="35719"/>
          </a:xfrm>
          <a:prstGeom prst="line">
            <a:avLst/>
          </a:prstGeom>
          <a:noFill/>
          <a:ln w="6350">
            <a:solidFill>
              <a:srgbClr val="5E5E5E"/>
            </a:solidFill>
            <a:prstDash val="solid"/>
          </a:ln>
        </p:spPr>
      </p:sp>
      <p:sp>
        <p:nvSpPr>
          <p:cNvPr id="40" name="Shape 34"/>
          <p:cNvSpPr/>
          <p:nvPr/>
        </p:nvSpPr>
        <p:spPr>
          <a:xfrm>
            <a:off x="5289947" y="3270722"/>
            <a:ext cx="0" cy="35719"/>
          </a:xfrm>
          <a:prstGeom prst="line">
            <a:avLst/>
          </a:prstGeom>
          <a:noFill/>
          <a:ln w="6350">
            <a:solidFill>
              <a:srgbClr val="5E5E5E"/>
            </a:solidFill>
            <a:prstDash val="solid"/>
          </a:ln>
        </p:spPr>
      </p:sp>
      <p:sp>
        <p:nvSpPr>
          <p:cNvPr id="41" name="Shape 35"/>
          <p:cNvSpPr/>
          <p:nvPr/>
        </p:nvSpPr>
        <p:spPr>
          <a:xfrm>
            <a:off x="315128" y="2282205"/>
            <a:ext cx="0" cy="214313"/>
          </a:xfrm>
          <a:custGeom>
            <a:avLst/>
            <a:gdLst/>
            <a:ahLst/>
            <a:cxnLst/>
            <a:rect l="l" t="t" r="r" b="b"/>
            <a:pathLst>
              <a:path w="0" h="214313">
                <a:moveTo>
                  <a:pt x="0" y="0"/>
                </a:moveTo>
                <a:lnTo>
                  <a:pt x="842595" y="0"/>
                </a:lnTo>
                <a:lnTo>
                  <a:pt x="842595" y="214313"/>
                </a:lnTo>
                <a:lnTo>
                  <a:pt x="0" y="214313"/>
                </a:lnTo>
                <a:close/>
              </a:path>
            </a:pathLst>
          </a:custGeom>
          <a:noFill/>
          <a:ln/>
        </p:spPr>
      </p:sp>
      <p:sp>
        <p:nvSpPr>
          <p:cNvPr id="42" name="Text 36"/>
          <p:cNvSpPr/>
          <p:nvPr/>
        </p:nvSpPr>
        <p:spPr>
          <a:xfrm>
            <a:off x="-1125420" y="2275776"/>
            <a:ext cx="2283143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FFFFFF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第一批 · 1 号线液压改造</a:t>
            </a:r>
            <a:endParaRPr lang="en-US" sz="788" dirty="0"/>
          </a:p>
        </p:txBody>
      </p:sp>
      <p:sp>
        <p:nvSpPr>
          <p:cNvPr id="43" name="Text 37"/>
          <p:cNvSpPr/>
          <p:nvPr/>
        </p:nvSpPr>
        <p:spPr>
          <a:xfrm>
            <a:off x="-525345" y="2382932"/>
            <a:ext cx="1683068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FFFFFF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需投资 120 万元</a:t>
            </a:r>
            <a:endParaRPr lang="en-US" sz="788" dirty="0"/>
          </a:p>
        </p:txBody>
      </p:sp>
      <p:sp>
        <p:nvSpPr>
          <p:cNvPr id="44" name="Shape 38"/>
          <p:cNvSpPr/>
          <p:nvPr/>
        </p:nvSpPr>
        <p:spPr>
          <a:xfrm>
            <a:off x="271462" y="2534022"/>
            <a:ext cx="0" cy="214313"/>
          </a:xfrm>
          <a:custGeom>
            <a:avLst/>
            <a:gdLst/>
            <a:ahLst/>
            <a:cxnLst/>
            <a:rect l="l" t="t" r="r" b="b"/>
            <a:pathLst>
              <a:path w="0" h="214313">
                <a:moveTo>
                  <a:pt x="0" y="0"/>
                </a:moveTo>
                <a:lnTo>
                  <a:pt x="886260" y="0"/>
                </a:lnTo>
                <a:lnTo>
                  <a:pt x="886260" y="214313"/>
                </a:lnTo>
                <a:lnTo>
                  <a:pt x="0" y="214313"/>
                </a:lnTo>
                <a:close/>
              </a:path>
            </a:pathLst>
          </a:custGeom>
          <a:noFill/>
          <a:ln/>
        </p:spPr>
      </p:sp>
      <p:sp>
        <p:nvSpPr>
          <p:cNvPr id="45" name="Text 39"/>
          <p:cNvSpPr/>
          <p:nvPr/>
        </p:nvSpPr>
        <p:spPr>
          <a:xfrm>
            <a:off x="-1275439" y="2527593"/>
            <a:ext cx="2433161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FFFFFF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并行推进 · 标准停机 SOP</a:t>
            </a:r>
            <a:endParaRPr lang="en-US" sz="788" dirty="0"/>
          </a:p>
        </p:txBody>
      </p:sp>
      <p:sp>
        <p:nvSpPr>
          <p:cNvPr id="46" name="Text 40"/>
          <p:cNvSpPr/>
          <p:nvPr/>
        </p:nvSpPr>
        <p:spPr>
          <a:xfrm>
            <a:off x="524786" y="2634749"/>
            <a:ext cx="632936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FFFFFF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零投入</a:t>
            </a:r>
            <a:endParaRPr lang="en-US" sz="788" dirty="0"/>
          </a:p>
        </p:txBody>
      </p:sp>
      <p:sp>
        <p:nvSpPr>
          <p:cNvPr id="47" name="Shape 41"/>
          <p:cNvSpPr/>
          <p:nvPr/>
        </p:nvSpPr>
        <p:spPr>
          <a:xfrm>
            <a:off x="459244" y="2785839"/>
            <a:ext cx="0" cy="214313"/>
          </a:xfrm>
          <a:custGeom>
            <a:avLst/>
            <a:gdLst/>
            <a:ahLst/>
            <a:cxnLst/>
            <a:rect l="l" t="t" r="r" b="b"/>
            <a:pathLst>
              <a:path w="0" h="214313">
                <a:moveTo>
                  <a:pt x="0" y="0"/>
                </a:moveTo>
                <a:lnTo>
                  <a:pt x="698479" y="0"/>
                </a:lnTo>
                <a:lnTo>
                  <a:pt x="698479" y="214313"/>
                </a:lnTo>
                <a:lnTo>
                  <a:pt x="0" y="214313"/>
                </a:lnTo>
                <a:close/>
              </a:path>
            </a:pathLst>
          </a:custGeom>
          <a:noFill/>
          <a:ln/>
        </p:spPr>
      </p:sp>
      <p:sp>
        <p:nvSpPr>
          <p:cNvPr id="48" name="Text 42"/>
          <p:cNvSpPr/>
          <p:nvPr/>
        </p:nvSpPr>
        <p:spPr>
          <a:xfrm>
            <a:off x="-675364" y="2779410"/>
            <a:ext cx="1833086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FFFFFF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验证节点 · 投后评估</a:t>
            </a:r>
            <a:endParaRPr lang="en-US" sz="788" dirty="0"/>
          </a:p>
        </p:txBody>
      </p:sp>
      <p:sp>
        <p:nvSpPr>
          <p:cNvPr id="49" name="Text 43"/>
          <p:cNvSpPr/>
          <p:nvPr/>
        </p:nvSpPr>
        <p:spPr>
          <a:xfrm>
            <a:off x="524786" y="2886566"/>
            <a:ext cx="632936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FFFFFF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零投入</a:t>
            </a:r>
            <a:endParaRPr lang="en-US" sz="788" dirty="0"/>
          </a:p>
        </p:txBody>
      </p:sp>
      <p:sp>
        <p:nvSpPr>
          <p:cNvPr id="50" name="Shape 44"/>
          <p:cNvSpPr/>
          <p:nvPr/>
        </p:nvSpPr>
        <p:spPr>
          <a:xfrm>
            <a:off x="293335" y="3037657"/>
            <a:ext cx="0" cy="214313"/>
          </a:xfrm>
          <a:custGeom>
            <a:avLst/>
            <a:gdLst/>
            <a:ahLst/>
            <a:cxnLst/>
            <a:rect l="l" t="t" r="r" b="b"/>
            <a:pathLst>
              <a:path w="0" h="214313">
                <a:moveTo>
                  <a:pt x="0" y="0"/>
                </a:moveTo>
                <a:lnTo>
                  <a:pt x="864388" y="0"/>
                </a:lnTo>
                <a:lnTo>
                  <a:pt x="864388" y="214313"/>
                </a:lnTo>
                <a:lnTo>
                  <a:pt x="0" y="214313"/>
                </a:lnTo>
                <a:close/>
              </a:path>
            </a:pathLst>
          </a:custGeom>
          <a:noFill/>
          <a:ln/>
        </p:spPr>
      </p:sp>
      <p:sp>
        <p:nvSpPr>
          <p:cNvPr id="51" name="Text 45"/>
          <p:cNvSpPr/>
          <p:nvPr/>
        </p:nvSpPr>
        <p:spPr>
          <a:xfrm>
            <a:off x="-825382" y="3031228"/>
            <a:ext cx="1983105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FFFFFF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第二批 · 待实测验证后</a:t>
            </a:r>
            <a:endParaRPr lang="en-US" sz="788" dirty="0"/>
          </a:p>
        </p:txBody>
      </p:sp>
      <p:sp>
        <p:nvSpPr>
          <p:cNvPr id="52" name="Text 46"/>
          <p:cNvSpPr/>
          <p:nvPr/>
        </p:nvSpPr>
        <p:spPr>
          <a:xfrm>
            <a:off x="-675364" y="3138384"/>
            <a:ext cx="1833086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FFFFFF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另行立项（金额待测算）</a:t>
            </a:r>
            <a:endParaRPr lang="en-US" sz="788" dirty="0"/>
          </a:p>
        </p:txBody>
      </p:sp>
      <p:sp>
        <p:nvSpPr>
          <p:cNvPr id="53" name="Text 47"/>
          <p:cNvSpPr/>
          <p:nvPr/>
        </p:nvSpPr>
        <p:spPr>
          <a:xfrm>
            <a:off x="1048423" y="3307155"/>
            <a:ext cx="332899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A7A7A7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0</a:t>
            </a:r>
            <a:endParaRPr lang="en-US" sz="788" dirty="0"/>
          </a:p>
        </p:txBody>
      </p:sp>
      <p:sp>
        <p:nvSpPr>
          <p:cNvPr id="54" name="Text 48"/>
          <p:cNvSpPr/>
          <p:nvPr/>
        </p:nvSpPr>
        <p:spPr>
          <a:xfrm>
            <a:off x="1500813" y="3307155"/>
            <a:ext cx="332899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A7A7A7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2</a:t>
            </a:r>
            <a:endParaRPr lang="en-US" sz="788" dirty="0"/>
          </a:p>
        </p:txBody>
      </p:sp>
      <p:sp>
        <p:nvSpPr>
          <p:cNvPr id="55" name="Text 49"/>
          <p:cNvSpPr/>
          <p:nvPr/>
        </p:nvSpPr>
        <p:spPr>
          <a:xfrm>
            <a:off x="1953201" y="3307155"/>
            <a:ext cx="332899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A7A7A7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4</a:t>
            </a:r>
            <a:endParaRPr lang="en-US" sz="788" dirty="0"/>
          </a:p>
        </p:txBody>
      </p:sp>
      <p:sp>
        <p:nvSpPr>
          <p:cNvPr id="56" name="Text 50"/>
          <p:cNvSpPr/>
          <p:nvPr/>
        </p:nvSpPr>
        <p:spPr>
          <a:xfrm>
            <a:off x="2405591" y="3307155"/>
            <a:ext cx="332899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A7A7A7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6</a:t>
            </a:r>
            <a:endParaRPr lang="en-US" sz="788" dirty="0"/>
          </a:p>
        </p:txBody>
      </p:sp>
      <p:sp>
        <p:nvSpPr>
          <p:cNvPr id="57" name="Text 51"/>
          <p:cNvSpPr/>
          <p:nvPr/>
        </p:nvSpPr>
        <p:spPr>
          <a:xfrm>
            <a:off x="2857980" y="3307155"/>
            <a:ext cx="332899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A7A7A7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8</a:t>
            </a:r>
            <a:endParaRPr lang="en-US" sz="788" dirty="0"/>
          </a:p>
        </p:txBody>
      </p:sp>
      <p:sp>
        <p:nvSpPr>
          <p:cNvPr id="58" name="Text 52"/>
          <p:cNvSpPr/>
          <p:nvPr/>
        </p:nvSpPr>
        <p:spPr>
          <a:xfrm>
            <a:off x="3235359" y="3307155"/>
            <a:ext cx="482917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A7A7A7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10</a:t>
            </a:r>
            <a:endParaRPr lang="en-US" sz="788" dirty="0"/>
          </a:p>
        </p:txBody>
      </p:sp>
      <p:sp>
        <p:nvSpPr>
          <p:cNvPr id="59" name="Text 53"/>
          <p:cNvSpPr/>
          <p:nvPr/>
        </p:nvSpPr>
        <p:spPr>
          <a:xfrm>
            <a:off x="3687749" y="3307155"/>
            <a:ext cx="482917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A7A7A7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12</a:t>
            </a:r>
            <a:endParaRPr lang="en-US" sz="788" dirty="0"/>
          </a:p>
        </p:txBody>
      </p:sp>
      <p:sp>
        <p:nvSpPr>
          <p:cNvPr id="60" name="Text 54"/>
          <p:cNvSpPr/>
          <p:nvPr/>
        </p:nvSpPr>
        <p:spPr>
          <a:xfrm>
            <a:off x="4140138" y="3307155"/>
            <a:ext cx="482917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A7A7A7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14</a:t>
            </a:r>
            <a:endParaRPr lang="en-US" sz="788" dirty="0"/>
          </a:p>
        </p:txBody>
      </p:sp>
      <p:sp>
        <p:nvSpPr>
          <p:cNvPr id="61" name="Text 55"/>
          <p:cNvSpPr/>
          <p:nvPr/>
        </p:nvSpPr>
        <p:spPr>
          <a:xfrm>
            <a:off x="4592527" y="3307155"/>
            <a:ext cx="482917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A7A7A7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16</a:t>
            </a:r>
            <a:endParaRPr lang="en-US" sz="788" dirty="0"/>
          </a:p>
        </p:txBody>
      </p:sp>
      <p:sp>
        <p:nvSpPr>
          <p:cNvPr id="62" name="Text 56"/>
          <p:cNvSpPr/>
          <p:nvPr/>
        </p:nvSpPr>
        <p:spPr>
          <a:xfrm>
            <a:off x="5044916" y="3307155"/>
            <a:ext cx="482917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A7A7A7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18</a:t>
            </a:r>
            <a:endParaRPr lang="en-US" sz="788" dirty="0"/>
          </a:p>
        </p:txBody>
      </p:sp>
      <p:sp>
        <p:nvSpPr>
          <p:cNvPr id="63" name="Shape 57"/>
          <p:cNvSpPr/>
          <p:nvPr/>
        </p:nvSpPr>
        <p:spPr>
          <a:xfrm>
            <a:off x="1214873" y="2317924"/>
            <a:ext cx="0" cy="142875"/>
          </a:xfrm>
          <a:custGeom>
            <a:avLst/>
            <a:gdLst/>
            <a:ahLst/>
            <a:cxnLst/>
            <a:rect l="l" t="t" r="r" b="b"/>
            <a:pathLst>
              <a:path w="0" h="142875">
                <a:moveTo>
                  <a:pt x="0" y="0"/>
                </a:moveTo>
                <a:lnTo>
                  <a:pt x="0" y="0"/>
                </a:lnTo>
                <a:lnTo>
                  <a:pt x="0" y="142875"/>
                </a:lnTo>
                <a:lnTo>
                  <a:pt x="0" y="142875"/>
                </a:lnTo>
                <a:close/>
              </a:path>
            </a:pathLst>
          </a:custGeom>
          <a:noFill/>
          <a:ln/>
        </p:spPr>
      </p:sp>
      <p:sp>
        <p:nvSpPr>
          <p:cNvPr id="64" name="Shape 58"/>
          <p:cNvSpPr/>
          <p:nvPr/>
        </p:nvSpPr>
        <p:spPr>
          <a:xfrm>
            <a:off x="1214873" y="2569741"/>
            <a:ext cx="0" cy="142875"/>
          </a:xfrm>
          <a:custGeom>
            <a:avLst/>
            <a:gdLst/>
            <a:ahLst/>
            <a:cxnLst/>
            <a:rect l="l" t="t" r="r" b="b"/>
            <a:pathLst>
              <a:path w="0" h="142875">
                <a:moveTo>
                  <a:pt x="0" y="0"/>
                </a:moveTo>
                <a:lnTo>
                  <a:pt x="0" y="0"/>
                </a:lnTo>
                <a:lnTo>
                  <a:pt x="0" y="142875"/>
                </a:lnTo>
                <a:lnTo>
                  <a:pt x="0" y="142875"/>
                </a:lnTo>
                <a:close/>
              </a:path>
            </a:pathLst>
          </a:custGeom>
          <a:noFill/>
          <a:ln/>
        </p:spPr>
      </p:sp>
      <p:sp>
        <p:nvSpPr>
          <p:cNvPr id="65" name="Shape 59"/>
          <p:cNvSpPr/>
          <p:nvPr/>
        </p:nvSpPr>
        <p:spPr>
          <a:xfrm>
            <a:off x="1214873" y="2821558"/>
            <a:ext cx="1357167" cy="142875"/>
          </a:xfrm>
          <a:custGeom>
            <a:avLst/>
            <a:gdLst/>
            <a:ahLst/>
            <a:cxnLst/>
            <a:rect l="l" t="t" r="r" b="b"/>
            <a:pathLst>
              <a:path w="1357167" h="142875">
                <a:moveTo>
                  <a:pt x="0" y="0"/>
                </a:moveTo>
                <a:lnTo>
                  <a:pt x="1357167" y="0"/>
                </a:lnTo>
                <a:lnTo>
                  <a:pt x="1357167" y="142875"/>
                </a:lnTo>
                <a:lnTo>
                  <a:pt x="0" y="142875"/>
                </a:lnTo>
                <a:close/>
              </a:path>
            </a:pathLst>
          </a:custGeom>
          <a:noFill/>
          <a:ln/>
        </p:spPr>
      </p:sp>
      <p:sp>
        <p:nvSpPr>
          <p:cNvPr id="66" name="Shape 60"/>
          <p:cNvSpPr/>
          <p:nvPr/>
        </p:nvSpPr>
        <p:spPr>
          <a:xfrm>
            <a:off x="1214873" y="3073376"/>
            <a:ext cx="2714335" cy="142875"/>
          </a:xfrm>
          <a:custGeom>
            <a:avLst/>
            <a:gdLst/>
            <a:ahLst/>
            <a:cxnLst/>
            <a:rect l="l" t="t" r="r" b="b"/>
            <a:pathLst>
              <a:path w="2714335" h="142875">
                <a:moveTo>
                  <a:pt x="0" y="0"/>
                </a:moveTo>
                <a:lnTo>
                  <a:pt x="2714335" y="0"/>
                </a:lnTo>
                <a:lnTo>
                  <a:pt x="2714335" y="142875"/>
                </a:lnTo>
                <a:lnTo>
                  <a:pt x="0" y="142875"/>
                </a:lnTo>
                <a:close/>
              </a:path>
            </a:pathLst>
          </a:custGeom>
          <a:noFill/>
          <a:ln/>
        </p:spPr>
      </p:sp>
      <p:sp>
        <p:nvSpPr>
          <p:cNvPr id="67" name="Shape 61"/>
          <p:cNvSpPr/>
          <p:nvPr/>
        </p:nvSpPr>
        <p:spPr>
          <a:xfrm>
            <a:off x="1214873" y="2317924"/>
            <a:ext cx="452389" cy="142875"/>
          </a:xfrm>
          <a:custGeom>
            <a:avLst/>
            <a:gdLst/>
            <a:ahLst/>
            <a:cxnLst/>
            <a:rect l="l" t="t" r="r" b="b"/>
            <a:pathLst>
              <a:path w="452389" h="142875">
                <a:moveTo>
                  <a:pt x="0" y="0"/>
                </a:moveTo>
                <a:lnTo>
                  <a:pt x="452389" y="0"/>
                </a:lnTo>
                <a:lnTo>
                  <a:pt x="452389" y="142875"/>
                </a:lnTo>
                <a:lnTo>
                  <a:pt x="0" y="142875"/>
                </a:lnTo>
                <a:close/>
              </a:path>
            </a:pathLst>
          </a:custGeom>
          <a:solidFill>
            <a:srgbClr val="76B900"/>
          </a:solidFill>
          <a:ln/>
        </p:spPr>
      </p:sp>
      <p:sp>
        <p:nvSpPr>
          <p:cNvPr id="68" name="Shape 62"/>
          <p:cNvSpPr/>
          <p:nvPr/>
        </p:nvSpPr>
        <p:spPr>
          <a:xfrm>
            <a:off x="1222016" y="2576885"/>
            <a:ext cx="438102" cy="128588"/>
          </a:xfrm>
          <a:custGeom>
            <a:avLst/>
            <a:gdLst/>
            <a:ahLst/>
            <a:cxnLst/>
            <a:rect l="l" t="t" r="r" b="b"/>
            <a:pathLst>
              <a:path w="438102" h="128588">
                <a:moveTo>
                  <a:pt x="0" y="0"/>
                </a:moveTo>
                <a:lnTo>
                  <a:pt x="438102" y="0"/>
                </a:lnTo>
                <a:lnTo>
                  <a:pt x="438102" y="128588"/>
                </a:lnTo>
                <a:lnTo>
                  <a:pt x="0" y="128588"/>
                </a:lnTo>
                <a:close/>
              </a:path>
            </a:pathLst>
          </a:custGeom>
          <a:solidFill>
            <a:srgbClr val="0C0C0C"/>
          </a:solidFill>
          <a:ln w="12700">
            <a:solidFill>
              <a:srgbClr val="BFF230"/>
            </a:solidFill>
            <a:prstDash val="solid"/>
          </a:ln>
        </p:spPr>
      </p:sp>
      <p:sp>
        <p:nvSpPr>
          <p:cNvPr id="69" name="Shape 63"/>
          <p:cNvSpPr/>
          <p:nvPr/>
        </p:nvSpPr>
        <p:spPr>
          <a:xfrm>
            <a:off x="2579184" y="2828702"/>
            <a:ext cx="1342880" cy="128588"/>
          </a:xfrm>
          <a:custGeom>
            <a:avLst/>
            <a:gdLst/>
            <a:ahLst/>
            <a:cxnLst/>
            <a:rect l="l" t="t" r="r" b="b"/>
            <a:pathLst>
              <a:path w="1342880" h="128588">
                <a:moveTo>
                  <a:pt x="0" y="0"/>
                </a:moveTo>
                <a:lnTo>
                  <a:pt x="1342880" y="0"/>
                </a:lnTo>
                <a:lnTo>
                  <a:pt x="1342880" y="128588"/>
                </a:lnTo>
                <a:lnTo>
                  <a:pt x="0" y="128588"/>
                </a:lnTo>
                <a:close/>
              </a:path>
            </a:pathLst>
          </a:custGeom>
          <a:solidFill>
            <a:srgbClr val="0C0C0C"/>
          </a:solidFill>
          <a:ln w="12700">
            <a:solidFill>
              <a:srgbClr val="BFF230"/>
            </a:solidFill>
            <a:prstDash val="solid"/>
          </a:ln>
        </p:spPr>
      </p:sp>
      <p:sp>
        <p:nvSpPr>
          <p:cNvPr id="70" name="Shape 64"/>
          <p:cNvSpPr/>
          <p:nvPr/>
        </p:nvSpPr>
        <p:spPr>
          <a:xfrm>
            <a:off x="3936351" y="3080520"/>
            <a:ext cx="1342880" cy="128588"/>
          </a:xfrm>
          <a:custGeom>
            <a:avLst/>
            <a:gdLst/>
            <a:ahLst/>
            <a:cxnLst/>
            <a:rect l="l" t="t" r="r" b="b"/>
            <a:pathLst>
              <a:path w="1342880" h="128588">
                <a:moveTo>
                  <a:pt x="0" y="0"/>
                </a:moveTo>
                <a:lnTo>
                  <a:pt x="1342880" y="0"/>
                </a:lnTo>
                <a:lnTo>
                  <a:pt x="1342880" y="128588"/>
                </a:lnTo>
                <a:lnTo>
                  <a:pt x="0" y="128588"/>
                </a:lnTo>
                <a:close/>
              </a:path>
            </a:pathLst>
          </a:custGeom>
          <a:solidFill>
            <a:srgbClr val="0C0C0C"/>
          </a:solidFill>
          <a:ln w="12700">
            <a:solidFill>
              <a:srgbClr val="DF6500"/>
            </a:solidFill>
            <a:prstDash val="solid"/>
          </a:ln>
        </p:spPr>
      </p:sp>
      <p:sp>
        <p:nvSpPr>
          <p:cNvPr id="71" name="Shape 65"/>
          <p:cNvSpPr/>
          <p:nvPr/>
        </p:nvSpPr>
        <p:spPr>
          <a:xfrm>
            <a:off x="1667262" y="2317924"/>
            <a:ext cx="904778" cy="142875"/>
          </a:xfrm>
          <a:custGeom>
            <a:avLst/>
            <a:gdLst/>
            <a:ahLst/>
            <a:cxnLst/>
            <a:rect l="l" t="t" r="r" b="b"/>
            <a:pathLst>
              <a:path w="904778" h="142875">
                <a:moveTo>
                  <a:pt x="0" y="0"/>
                </a:moveTo>
                <a:lnTo>
                  <a:pt x="904778" y="0"/>
                </a:lnTo>
                <a:lnTo>
                  <a:pt x="904778" y="142875"/>
                </a:lnTo>
                <a:lnTo>
                  <a:pt x="0" y="142875"/>
                </a:lnTo>
                <a:close/>
              </a:path>
            </a:pathLst>
          </a:custGeom>
          <a:solidFill>
            <a:srgbClr val="76B900"/>
          </a:solidFill>
          <a:ln/>
        </p:spPr>
      </p:sp>
      <p:sp>
        <p:nvSpPr>
          <p:cNvPr id="72" name="Shape 66"/>
          <p:cNvSpPr/>
          <p:nvPr/>
        </p:nvSpPr>
        <p:spPr>
          <a:xfrm>
            <a:off x="1674406" y="2576885"/>
            <a:ext cx="890491" cy="128588"/>
          </a:xfrm>
          <a:custGeom>
            <a:avLst/>
            <a:gdLst/>
            <a:ahLst/>
            <a:cxnLst/>
            <a:rect l="l" t="t" r="r" b="b"/>
            <a:pathLst>
              <a:path w="890491" h="128588">
                <a:moveTo>
                  <a:pt x="0" y="0"/>
                </a:moveTo>
                <a:lnTo>
                  <a:pt x="890491" y="0"/>
                </a:lnTo>
                <a:lnTo>
                  <a:pt x="890491" y="128588"/>
                </a:lnTo>
                <a:lnTo>
                  <a:pt x="0" y="128588"/>
                </a:lnTo>
                <a:close/>
              </a:path>
            </a:pathLst>
          </a:custGeom>
          <a:solidFill>
            <a:srgbClr val="0C0C0C"/>
          </a:solidFill>
          <a:ln w="12700">
            <a:solidFill>
              <a:srgbClr val="BFF230"/>
            </a:solidFill>
            <a:prstDash val="solid"/>
          </a:ln>
        </p:spPr>
      </p:sp>
      <p:sp>
        <p:nvSpPr>
          <p:cNvPr id="73" name="Text 67"/>
          <p:cNvSpPr/>
          <p:nvPr/>
        </p:nvSpPr>
        <p:spPr>
          <a:xfrm>
            <a:off x="1049590" y="2329354"/>
            <a:ext cx="782955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b="1" dirty="0">
                <a:solidFill>
                  <a:srgbClr val="000000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方案细化</a:t>
            </a:r>
            <a:endParaRPr lang="en-US" sz="788" dirty="0"/>
          </a:p>
        </p:txBody>
      </p:sp>
      <p:sp>
        <p:nvSpPr>
          <p:cNvPr id="74" name="Text 68"/>
          <p:cNvSpPr/>
          <p:nvPr/>
        </p:nvSpPr>
        <p:spPr>
          <a:xfrm>
            <a:off x="899571" y="2581171"/>
            <a:ext cx="1082993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b="1" dirty="0">
                <a:solidFill>
                  <a:srgbClr val="FFFFFF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3 号线试点</a:t>
            </a:r>
            <a:endParaRPr lang="en-US" sz="788" dirty="0"/>
          </a:p>
        </p:txBody>
      </p:sp>
      <p:sp>
        <p:nvSpPr>
          <p:cNvPr id="75" name="Text 69"/>
          <p:cNvSpPr/>
          <p:nvPr/>
        </p:nvSpPr>
        <p:spPr>
          <a:xfrm>
            <a:off x="2184062" y="2832988"/>
            <a:ext cx="2133124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b="1" dirty="0">
                <a:solidFill>
                  <a:srgbClr val="FFFFFF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累计实测复核 · 投后评估</a:t>
            </a:r>
            <a:endParaRPr lang="en-US" sz="788" dirty="0"/>
          </a:p>
        </p:txBody>
      </p:sp>
      <p:sp>
        <p:nvSpPr>
          <p:cNvPr id="76" name="Text 70"/>
          <p:cNvSpPr/>
          <p:nvPr/>
        </p:nvSpPr>
        <p:spPr>
          <a:xfrm>
            <a:off x="3316202" y="3084806"/>
            <a:ext cx="2583180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b="1" dirty="0">
                <a:solidFill>
                  <a:srgbClr val="FFFFFF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余热回收 · 变频 · 工艺优化</a:t>
            </a:r>
            <a:endParaRPr lang="en-US" sz="788" dirty="0"/>
          </a:p>
        </p:txBody>
      </p:sp>
      <p:sp>
        <p:nvSpPr>
          <p:cNvPr id="77" name="Text 71"/>
          <p:cNvSpPr/>
          <p:nvPr/>
        </p:nvSpPr>
        <p:spPr>
          <a:xfrm>
            <a:off x="1428136" y="2329354"/>
            <a:ext cx="1383030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b="1" dirty="0">
                <a:solidFill>
                  <a:srgbClr val="000000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施工 · 试运行</a:t>
            </a:r>
            <a:endParaRPr lang="en-US" sz="788" dirty="0"/>
          </a:p>
        </p:txBody>
      </p:sp>
      <p:sp>
        <p:nvSpPr>
          <p:cNvPr id="78" name="Text 72"/>
          <p:cNvSpPr/>
          <p:nvPr/>
        </p:nvSpPr>
        <p:spPr>
          <a:xfrm>
            <a:off x="1653164" y="2581171"/>
            <a:ext cx="932974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b="1" dirty="0">
                <a:solidFill>
                  <a:srgbClr val="FFFFFF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推广至四线</a:t>
            </a:r>
            <a:endParaRPr lang="en-US" sz="788" dirty="0"/>
          </a:p>
        </p:txBody>
      </p:sp>
      <p:sp>
        <p:nvSpPr>
          <p:cNvPr id="79" name="Shape 73"/>
          <p:cNvSpPr/>
          <p:nvPr/>
        </p:nvSpPr>
        <p:spPr>
          <a:xfrm>
            <a:off x="5641888" y="1849115"/>
            <a:ext cx="3286125" cy="642938"/>
          </a:xfrm>
          <a:prstGeom prst="roundRect">
            <a:avLst>
              <a:gd name="adj" fmla="val 790"/>
            </a:avLst>
          </a:prstGeom>
          <a:solidFill>
            <a:srgbClr val="1A1A1A"/>
          </a:solidFill>
          <a:ln/>
        </p:spPr>
      </p:sp>
      <p:pic>
        <p:nvPicPr>
          <p:cNvPr id="80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641888" y="1849115"/>
            <a:ext cx="3286125" cy="642938"/>
          </a:xfrm>
          <a:prstGeom prst="rect">
            <a:avLst/>
          </a:prstGeom>
        </p:spPr>
      </p:pic>
      <p:sp>
        <p:nvSpPr>
          <p:cNvPr id="81" name="Shape 74"/>
          <p:cNvSpPr/>
          <p:nvPr/>
        </p:nvSpPr>
        <p:spPr>
          <a:xfrm>
            <a:off x="5741901" y="2083408"/>
            <a:ext cx="3100388" cy="171450"/>
          </a:xfrm>
          <a:prstGeom prst="roundRect">
            <a:avLst>
              <a:gd name="adj" fmla="val 11111"/>
            </a:avLst>
          </a:prstGeom>
          <a:ln w="6191">
            <a:solidFill>
              <a:srgbClr val="5E5E5E"/>
            </a:solidFill>
            <a:prstDash val="solid"/>
          </a:ln>
        </p:spPr>
      </p:sp>
      <p:sp>
        <p:nvSpPr>
          <p:cNvPr id="82" name="Shape 75"/>
          <p:cNvSpPr/>
          <p:nvPr/>
        </p:nvSpPr>
        <p:spPr>
          <a:xfrm>
            <a:off x="5747091" y="2090551"/>
            <a:ext cx="850106" cy="157163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83" name="Shape 76"/>
          <p:cNvSpPr/>
          <p:nvPr/>
        </p:nvSpPr>
        <p:spPr>
          <a:xfrm>
            <a:off x="6595300" y="2090551"/>
            <a:ext cx="2243138" cy="157163"/>
          </a:xfrm>
          <a:prstGeom prst="rect">
            <a:avLst/>
          </a:prstGeom>
          <a:solidFill>
            <a:srgbClr val="0C0C0C"/>
          </a:solidFill>
          <a:ln/>
        </p:spPr>
      </p:sp>
      <p:pic>
        <p:nvPicPr>
          <p:cNvPr id="84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595300" y="2090551"/>
            <a:ext cx="2243138" cy="157163"/>
          </a:xfrm>
          <a:prstGeom prst="rect">
            <a:avLst/>
          </a:prstGeom>
        </p:spPr>
      </p:pic>
      <p:sp>
        <p:nvSpPr>
          <p:cNvPr id="85" name="Shape 77"/>
          <p:cNvSpPr/>
          <p:nvPr/>
        </p:nvSpPr>
        <p:spPr>
          <a:xfrm>
            <a:off x="5641888" y="2577778"/>
            <a:ext cx="3286125" cy="985838"/>
          </a:xfrm>
          <a:prstGeom prst="roundRect">
            <a:avLst>
              <a:gd name="adj" fmla="val 1344"/>
            </a:avLst>
          </a:prstGeom>
          <a:solidFill>
            <a:srgbClr val="1A1A1A"/>
          </a:solidFill>
          <a:ln/>
        </p:spPr>
      </p:sp>
      <p:pic>
        <p:nvPicPr>
          <p:cNvPr id="86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641888" y="2577778"/>
            <a:ext cx="3286125" cy="985838"/>
          </a:xfrm>
          <a:prstGeom prst="rect">
            <a:avLst/>
          </a:prstGeom>
        </p:spPr>
      </p:pic>
      <p:sp>
        <p:nvSpPr>
          <p:cNvPr id="87" name="Shape 78"/>
          <p:cNvSpPr/>
          <p:nvPr/>
        </p:nvSpPr>
        <p:spPr>
          <a:xfrm>
            <a:off x="5741901" y="2795997"/>
            <a:ext cx="3100388" cy="171450"/>
          </a:xfrm>
          <a:prstGeom prst="rect">
            <a:avLst/>
          </a:prstGeom>
          <a:ln/>
        </p:spPr>
      </p:sp>
      <p:pic>
        <p:nvPicPr>
          <p:cNvPr id="88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741901" y="2795997"/>
            <a:ext cx="3100388" cy="171450"/>
          </a:xfrm>
          <a:prstGeom prst="rect">
            <a:avLst/>
          </a:prstGeom>
        </p:spPr>
      </p:pic>
      <p:sp>
        <p:nvSpPr>
          <p:cNvPr id="89" name="Shape 79"/>
          <p:cNvSpPr/>
          <p:nvPr/>
        </p:nvSpPr>
        <p:spPr>
          <a:xfrm>
            <a:off x="5741901" y="2988097"/>
            <a:ext cx="3100388" cy="171450"/>
          </a:xfrm>
          <a:prstGeom prst="rect">
            <a:avLst/>
          </a:prstGeom>
          <a:ln/>
        </p:spPr>
      </p:sp>
      <p:pic>
        <p:nvPicPr>
          <p:cNvPr id="90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5741901" y="2988097"/>
            <a:ext cx="3100388" cy="171450"/>
          </a:xfrm>
          <a:prstGeom prst="rect">
            <a:avLst/>
          </a:prstGeom>
        </p:spPr>
      </p:pic>
      <p:sp>
        <p:nvSpPr>
          <p:cNvPr id="91" name="Shape 80"/>
          <p:cNvSpPr/>
          <p:nvPr/>
        </p:nvSpPr>
        <p:spPr>
          <a:xfrm>
            <a:off x="5741901" y="3180197"/>
            <a:ext cx="3100388" cy="171450"/>
          </a:xfrm>
          <a:prstGeom prst="rect">
            <a:avLst/>
          </a:prstGeom>
          <a:ln/>
        </p:spPr>
      </p:sp>
      <p:pic>
        <p:nvPicPr>
          <p:cNvPr id="92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5741901" y="3180197"/>
            <a:ext cx="3100388" cy="171450"/>
          </a:xfrm>
          <a:prstGeom prst="rect">
            <a:avLst/>
          </a:prstGeom>
        </p:spPr>
      </p:pic>
      <p:sp>
        <p:nvSpPr>
          <p:cNvPr id="93" name="Shape 81"/>
          <p:cNvSpPr/>
          <p:nvPr/>
        </p:nvSpPr>
        <p:spPr>
          <a:xfrm>
            <a:off x="214313" y="3648615"/>
            <a:ext cx="4629150" cy="721519"/>
          </a:xfrm>
          <a:prstGeom prst="roundRect">
            <a:avLst>
              <a:gd name="adj" fmla="val 2510"/>
            </a:avLst>
          </a:prstGeom>
          <a:solidFill>
            <a:srgbClr val="1A1A1A"/>
          </a:solidFill>
          <a:ln/>
        </p:spPr>
      </p:sp>
      <p:pic>
        <p:nvPicPr>
          <p:cNvPr id="94" name="Image 10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214313" y="3648615"/>
            <a:ext cx="4629150" cy="721519"/>
          </a:xfrm>
          <a:prstGeom prst="rect">
            <a:avLst/>
          </a:prstGeom>
        </p:spPr>
      </p:pic>
      <p:sp>
        <p:nvSpPr>
          <p:cNvPr id="95" name="Shape 82"/>
          <p:cNvSpPr/>
          <p:nvPr/>
        </p:nvSpPr>
        <p:spPr>
          <a:xfrm>
            <a:off x="314325" y="3912208"/>
            <a:ext cx="35719" cy="35719"/>
          </a:xfrm>
          <a:prstGeom prst="roundRect">
            <a:avLst>
              <a:gd name="adj" fmla="val 127999"/>
            </a:avLst>
          </a:prstGeom>
          <a:solidFill>
            <a:srgbClr val="DF6500"/>
          </a:solidFill>
          <a:ln/>
        </p:spPr>
      </p:sp>
      <p:sp>
        <p:nvSpPr>
          <p:cNvPr id="96" name="Shape 83"/>
          <p:cNvSpPr/>
          <p:nvPr/>
        </p:nvSpPr>
        <p:spPr>
          <a:xfrm>
            <a:off x="314325" y="4069370"/>
            <a:ext cx="35719" cy="35719"/>
          </a:xfrm>
          <a:prstGeom prst="roundRect">
            <a:avLst>
              <a:gd name="adj" fmla="val 127999"/>
            </a:avLst>
          </a:prstGeom>
          <a:solidFill>
            <a:srgbClr val="DF6500"/>
          </a:solidFill>
          <a:ln/>
        </p:spPr>
      </p:sp>
      <p:sp>
        <p:nvSpPr>
          <p:cNvPr id="97" name="Shape 84"/>
          <p:cNvSpPr/>
          <p:nvPr/>
        </p:nvSpPr>
        <p:spPr>
          <a:xfrm>
            <a:off x="314325" y="4226533"/>
            <a:ext cx="35719" cy="35719"/>
          </a:xfrm>
          <a:prstGeom prst="roundRect">
            <a:avLst>
              <a:gd name="adj" fmla="val 127999"/>
            </a:avLst>
          </a:prstGeom>
          <a:solidFill>
            <a:srgbClr val="DF6500"/>
          </a:solidFill>
          <a:ln/>
        </p:spPr>
      </p:sp>
      <p:sp>
        <p:nvSpPr>
          <p:cNvPr id="98" name="Shape 85"/>
          <p:cNvSpPr/>
          <p:nvPr/>
        </p:nvSpPr>
        <p:spPr>
          <a:xfrm>
            <a:off x="5072062" y="3648615"/>
            <a:ext cx="3857625" cy="721519"/>
          </a:xfrm>
          <a:prstGeom prst="roundRect">
            <a:avLst>
              <a:gd name="adj" fmla="val 2510"/>
            </a:avLst>
          </a:prstGeom>
          <a:solidFill>
            <a:srgbClr val="1A1A1A"/>
          </a:solidFill>
          <a:ln/>
        </p:spPr>
      </p:sp>
      <p:pic>
        <p:nvPicPr>
          <p:cNvPr id="99" name="Image 11" descr="preencoded.png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5072062" y="3648615"/>
            <a:ext cx="3857625" cy="721519"/>
          </a:xfrm>
          <a:prstGeom prst="rect">
            <a:avLst/>
          </a:prstGeom>
        </p:spPr>
      </p:pic>
      <p:sp>
        <p:nvSpPr>
          <p:cNvPr id="100" name="Shape 86"/>
          <p:cNvSpPr/>
          <p:nvPr/>
        </p:nvSpPr>
        <p:spPr>
          <a:xfrm>
            <a:off x="5172075" y="3912208"/>
            <a:ext cx="35719" cy="35719"/>
          </a:xfrm>
          <a:prstGeom prst="roundRect">
            <a:avLst>
              <a:gd name="adj" fmla="val 127999"/>
            </a:avLst>
          </a:prstGeom>
          <a:solidFill>
            <a:srgbClr val="76B900"/>
          </a:solidFill>
          <a:ln/>
        </p:spPr>
      </p:sp>
      <p:sp>
        <p:nvSpPr>
          <p:cNvPr id="101" name="Shape 87"/>
          <p:cNvSpPr/>
          <p:nvPr/>
        </p:nvSpPr>
        <p:spPr>
          <a:xfrm>
            <a:off x="5172075" y="4069370"/>
            <a:ext cx="35719" cy="35719"/>
          </a:xfrm>
          <a:prstGeom prst="roundRect">
            <a:avLst>
              <a:gd name="adj" fmla="val 127999"/>
            </a:avLst>
          </a:prstGeom>
          <a:solidFill>
            <a:srgbClr val="76B900"/>
          </a:solidFill>
          <a:ln/>
        </p:spPr>
      </p:sp>
      <p:sp>
        <p:nvSpPr>
          <p:cNvPr id="102" name="Shape 88"/>
          <p:cNvSpPr/>
          <p:nvPr/>
        </p:nvSpPr>
        <p:spPr>
          <a:xfrm>
            <a:off x="5172075" y="4226533"/>
            <a:ext cx="35719" cy="35719"/>
          </a:xfrm>
          <a:prstGeom prst="roundRect">
            <a:avLst>
              <a:gd name="adj" fmla="val 127999"/>
            </a:avLst>
          </a:prstGeom>
          <a:solidFill>
            <a:srgbClr val="76B900"/>
          </a:solidFill>
          <a:ln/>
        </p:spPr>
      </p:sp>
      <p:sp>
        <p:nvSpPr>
          <p:cNvPr id="103" name="Text 89"/>
          <p:cNvSpPr/>
          <p:nvPr/>
        </p:nvSpPr>
        <p:spPr>
          <a:xfrm>
            <a:off x="214313" y="499170"/>
            <a:ext cx="8715375" cy="31432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建议批准 120 万元 1 号线液压系统改造立项，分批推进、约 18 个月回本</a:t>
            </a:r>
            <a:endParaRPr lang="en-US" sz="1900" dirty="0"/>
          </a:p>
        </p:txBody>
      </p:sp>
      <p:sp>
        <p:nvSpPr>
          <p:cNvPr id="104" name="Text 90"/>
          <p:cNvSpPr/>
          <p:nvPr/>
        </p:nvSpPr>
        <p:spPr>
          <a:xfrm>
            <a:off x="342956" y="1392975"/>
            <a:ext cx="342900" cy="121444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76B900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决策请求</a:t>
            </a:r>
            <a:endParaRPr lang="en-US" sz="700" dirty="0"/>
          </a:p>
        </p:txBody>
      </p:sp>
      <p:sp>
        <p:nvSpPr>
          <p:cNvPr id="105" name="Text 91"/>
          <p:cNvSpPr/>
          <p:nvPr/>
        </p:nvSpPr>
        <p:spPr>
          <a:xfrm>
            <a:off x="770688" y="1349946"/>
            <a:ext cx="4414838" cy="17145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恳请管理层批准第一批投资 120 万元，专项用于 1 号线液压系统节能改造</a:t>
            </a:r>
            <a:endParaRPr lang="en-US" sz="1000" dirty="0"/>
          </a:p>
        </p:txBody>
      </p:sp>
      <p:sp>
        <p:nvSpPr>
          <p:cNvPr id="106" name="Text 92"/>
          <p:cNvSpPr/>
          <p:nvPr/>
        </p:nvSpPr>
        <p:spPr>
          <a:xfrm>
            <a:off x="342900" y="1549078"/>
            <a:ext cx="5000625" cy="12858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A7A7A7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改造范围：泵组升级/变频或负载敏感控制、密封与管路更换、溢流与保压设定优化、监测点加装 ｜ 年节约电费 79.2 万元</a:t>
            </a:r>
            <a:endParaRPr lang="en-US" sz="700" dirty="0"/>
          </a:p>
        </p:txBody>
      </p:sp>
      <p:sp>
        <p:nvSpPr>
          <p:cNvPr id="107" name="Text 93"/>
          <p:cNvSpPr/>
          <p:nvPr/>
        </p:nvSpPr>
        <p:spPr>
          <a:xfrm>
            <a:off x="5657850" y="1373498"/>
            <a:ext cx="657225" cy="17145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120 万元</a:t>
            </a:r>
            <a:endParaRPr lang="en-US" sz="1000" dirty="0"/>
          </a:p>
        </p:txBody>
      </p:sp>
      <p:sp>
        <p:nvSpPr>
          <p:cNvPr id="108" name="Text 94"/>
          <p:cNvSpPr/>
          <p:nvPr/>
        </p:nvSpPr>
        <p:spPr>
          <a:xfrm>
            <a:off x="5657850" y="1545450"/>
            <a:ext cx="657225" cy="107156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A7A7A7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第一批投资额</a:t>
            </a:r>
            <a:endParaRPr lang="en-US" sz="700" dirty="0"/>
          </a:p>
        </p:txBody>
      </p:sp>
      <p:sp>
        <p:nvSpPr>
          <p:cNvPr id="109" name="Text 95"/>
          <p:cNvSpPr/>
          <p:nvPr/>
        </p:nvSpPr>
        <p:spPr>
          <a:xfrm>
            <a:off x="6486525" y="1373498"/>
            <a:ext cx="657225" cy="17145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6.6 万元</a:t>
            </a:r>
            <a:endParaRPr lang="en-US" sz="1000" dirty="0"/>
          </a:p>
        </p:txBody>
      </p:sp>
      <p:sp>
        <p:nvSpPr>
          <p:cNvPr id="110" name="Text 96"/>
          <p:cNvSpPr/>
          <p:nvPr/>
        </p:nvSpPr>
        <p:spPr>
          <a:xfrm>
            <a:off x="6486525" y="1545450"/>
            <a:ext cx="657225" cy="107156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A7A7A7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月节约电费</a:t>
            </a:r>
            <a:endParaRPr lang="en-US" sz="700" dirty="0"/>
          </a:p>
        </p:txBody>
      </p:sp>
      <p:sp>
        <p:nvSpPr>
          <p:cNvPr id="111" name="Text 97"/>
          <p:cNvSpPr/>
          <p:nvPr/>
        </p:nvSpPr>
        <p:spPr>
          <a:xfrm>
            <a:off x="7315200" y="1373498"/>
            <a:ext cx="657225" cy="17145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≈ 18 个月</a:t>
            </a:r>
            <a:endParaRPr lang="en-US" sz="1000" dirty="0"/>
          </a:p>
        </p:txBody>
      </p:sp>
      <p:sp>
        <p:nvSpPr>
          <p:cNvPr id="112" name="Text 98"/>
          <p:cNvSpPr/>
          <p:nvPr/>
        </p:nvSpPr>
        <p:spPr>
          <a:xfrm>
            <a:off x="7315200" y="1545450"/>
            <a:ext cx="657225" cy="107156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A7A7A7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静态回收期</a:t>
            </a:r>
            <a:endParaRPr lang="en-US" sz="700" dirty="0"/>
          </a:p>
        </p:txBody>
      </p:sp>
      <p:sp>
        <p:nvSpPr>
          <p:cNvPr id="113" name="Text 99"/>
          <p:cNvSpPr/>
          <p:nvPr/>
        </p:nvSpPr>
        <p:spPr>
          <a:xfrm>
            <a:off x="8143875" y="1373498"/>
            <a:ext cx="657225" cy="17145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约 27%</a:t>
            </a:r>
            <a:endParaRPr lang="en-US" sz="1000" dirty="0"/>
          </a:p>
        </p:txBody>
      </p:sp>
      <p:sp>
        <p:nvSpPr>
          <p:cNvPr id="114" name="Text 100"/>
          <p:cNvSpPr/>
          <p:nvPr/>
        </p:nvSpPr>
        <p:spPr>
          <a:xfrm>
            <a:off x="8143875" y="1545450"/>
            <a:ext cx="657225" cy="107156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A7A7A7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覆盖标杆差距</a:t>
            </a:r>
            <a:endParaRPr lang="en-US" sz="700" dirty="0"/>
          </a:p>
        </p:txBody>
      </p:sp>
      <p:sp>
        <p:nvSpPr>
          <p:cNvPr id="115" name="Text 101"/>
          <p:cNvSpPr/>
          <p:nvPr/>
        </p:nvSpPr>
        <p:spPr>
          <a:xfrm>
            <a:off x="214368" y="1849115"/>
            <a:ext cx="1485900" cy="14287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分批推进路线图（测算口径）</a:t>
            </a:r>
            <a:endParaRPr lang="en-US" sz="900" dirty="0"/>
          </a:p>
        </p:txBody>
      </p:sp>
      <p:sp>
        <p:nvSpPr>
          <p:cNvPr id="116" name="Text 102"/>
          <p:cNvSpPr/>
          <p:nvPr/>
        </p:nvSpPr>
        <p:spPr>
          <a:xfrm>
            <a:off x="212638" y="2020565"/>
            <a:ext cx="5200650" cy="12858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A7A7A7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阶段：第 1–2 个月方案细化与停机排期 → 第 3–6 个月施工见效 → 第 7–12 个月实测复核 → 第 13 个月起第二批</a:t>
            </a:r>
            <a:endParaRPr lang="en-US" sz="700" dirty="0"/>
          </a:p>
        </p:txBody>
      </p:sp>
      <p:sp>
        <p:nvSpPr>
          <p:cNvPr id="117" name="Text 103"/>
          <p:cNvSpPr/>
          <p:nvPr/>
        </p:nvSpPr>
        <p:spPr>
          <a:xfrm>
            <a:off x="5739501" y="1905540"/>
            <a:ext cx="1550194" cy="121444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差距覆盖 · 1 号线月度差距 32.0 万KWH</a:t>
            </a:r>
            <a:endParaRPr lang="en-US" sz="700" dirty="0"/>
          </a:p>
        </p:txBody>
      </p:sp>
      <p:sp>
        <p:nvSpPr>
          <p:cNvPr id="118" name="Text 104"/>
          <p:cNvSpPr/>
          <p:nvPr/>
        </p:nvSpPr>
        <p:spPr>
          <a:xfrm>
            <a:off x="8493193" y="1914804"/>
            <a:ext cx="350044" cy="107156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98989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万kWh/月</a:t>
            </a:r>
            <a:endParaRPr lang="en-US" sz="700" dirty="0"/>
          </a:p>
        </p:txBody>
      </p:sp>
      <p:sp>
        <p:nvSpPr>
          <p:cNvPr id="119" name="Text 105"/>
          <p:cNvSpPr/>
          <p:nvPr/>
        </p:nvSpPr>
        <p:spPr>
          <a:xfrm>
            <a:off x="6111422" y="2108411"/>
            <a:ext cx="121444" cy="121444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0000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8.8</a:t>
            </a:r>
            <a:endParaRPr lang="en-US" sz="700" dirty="0"/>
          </a:p>
        </p:txBody>
      </p:sp>
      <p:sp>
        <p:nvSpPr>
          <p:cNvPr id="120" name="Text 106"/>
          <p:cNvSpPr/>
          <p:nvPr/>
        </p:nvSpPr>
        <p:spPr>
          <a:xfrm>
            <a:off x="7370397" y="2108411"/>
            <a:ext cx="707231" cy="121444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约 23.2（约 73%）</a:t>
            </a:r>
            <a:endParaRPr lang="en-US" sz="700" dirty="0"/>
          </a:p>
        </p:txBody>
      </p:sp>
      <p:sp>
        <p:nvSpPr>
          <p:cNvPr id="121" name="Text 107"/>
          <p:cNvSpPr/>
          <p:nvPr/>
        </p:nvSpPr>
        <p:spPr>
          <a:xfrm>
            <a:off x="5741901" y="2295934"/>
            <a:ext cx="3100388" cy="121444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A7A7A7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本次覆盖 8.8 万kWh（约 27%），剩余约 23.2 万kWh/月 由第二批承接</a:t>
            </a:r>
            <a:endParaRPr lang="en-US" sz="700" dirty="0"/>
          </a:p>
        </p:txBody>
      </p:sp>
      <p:sp>
        <p:nvSpPr>
          <p:cNvPr id="122" name="Text 108"/>
          <p:cNvSpPr/>
          <p:nvPr/>
        </p:nvSpPr>
        <p:spPr>
          <a:xfrm>
            <a:off x="5741901" y="2634202"/>
            <a:ext cx="3100388" cy="121444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监测与验证机制 · 写入立项条件</a:t>
            </a:r>
            <a:endParaRPr lang="en-US" sz="700" dirty="0"/>
          </a:p>
        </p:txBody>
      </p:sp>
      <p:sp>
        <p:nvSpPr>
          <p:cNvPr id="123" name="Text 109"/>
          <p:cNvSpPr/>
          <p:nvPr/>
        </p:nvSpPr>
        <p:spPr>
          <a:xfrm>
            <a:off x="5738664" y="2797783"/>
            <a:ext cx="901113" cy="12858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1 号线单位能耗</a:t>
            </a:r>
            <a:pPr algn="l" indent="0" marL="0">
              <a:buNone/>
            </a:pPr>
            <a:r>
              <a:rPr lang="en-US" sz="700" dirty="0">
                <a:solidFill>
                  <a:srgbClr val="A7A7A7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｜按月</a:t>
            </a:r>
            <a:endParaRPr lang="en-US" sz="700" dirty="0"/>
          </a:p>
        </p:txBody>
      </p:sp>
      <p:sp>
        <p:nvSpPr>
          <p:cNvPr id="124" name="Text 110"/>
          <p:cNvSpPr/>
          <p:nvPr/>
        </p:nvSpPr>
        <p:spPr>
          <a:xfrm>
            <a:off x="7365429" y="2810284"/>
            <a:ext cx="1478756" cy="121444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A7A7A7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0.85 → 约 0.74 kWh/件，连续偏离即复盘</a:t>
            </a:r>
            <a:endParaRPr lang="en-US" sz="700" dirty="0"/>
          </a:p>
        </p:txBody>
      </p:sp>
      <p:sp>
        <p:nvSpPr>
          <p:cNvPr id="125" name="Text 111"/>
          <p:cNvSpPr/>
          <p:nvPr/>
        </p:nvSpPr>
        <p:spPr>
          <a:xfrm>
            <a:off x="5740338" y="2989883"/>
            <a:ext cx="999554" cy="12858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液压分项电耗占比</a:t>
            </a:r>
            <a:pPr algn="l" indent="0" marL="0">
              <a:buNone/>
            </a:pPr>
            <a:r>
              <a:rPr lang="en-US" sz="700" dirty="0">
                <a:solidFill>
                  <a:srgbClr val="A7A7A7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｜按月</a:t>
            </a:r>
            <a:endParaRPr lang="en-US" sz="700" dirty="0"/>
          </a:p>
        </p:txBody>
      </p:sp>
      <p:sp>
        <p:nvSpPr>
          <p:cNvPr id="126" name="Text 112"/>
          <p:cNvSpPr/>
          <p:nvPr/>
        </p:nvSpPr>
        <p:spPr>
          <a:xfrm>
            <a:off x="7178353" y="3002384"/>
            <a:ext cx="1664494" cy="121444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A7A7A7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改造前约 45%，验证约 29% 老化损失是否消除</a:t>
            </a:r>
            <a:endParaRPr lang="en-US" sz="700" dirty="0"/>
          </a:p>
        </p:txBody>
      </p:sp>
      <p:sp>
        <p:nvSpPr>
          <p:cNvPr id="127" name="Text 113"/>
          <p:cNvSpPr/>
          <p:nvPr/>
        </p:nvSpPr>
        <p:spPr>
          <a:xfrm>
            <a:off x="5740338" y="3181983"/>
            <a:ext cx="817817" cy="12858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四线空载能耗</a:t>
            </a:r>
            <a:pPr algn="l" indent="0" marL="0">
              <a:buNone/>
            </a:pPr>
            <a:r>
              <a:rPr lang="en-US" sz="700" dirty="0">
                <a:solidFill>
                  <a:srgbClr val="A7A7A7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｜按月</a:t>
            </a:r>
            <a:endParaRPr lang="en-US" sz="700" dirty="0"/>
          </a:p>
        </p:txBody>
      </p:sp>
      <p:sp>
        <p:nvSpPr>
          <p:cNvPr id="128" name="Text 114"/>
          <p:cNvSpPr/>
          <p:nvPr/>
        </p:nvSpPr>
        <p:spPr>
          <a:xfrm>
            <a:off x="7485255" y="3194484"/>
            <a:ext cx="1357313" cy="121444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A7A7A7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3 号线 12 → 6 kWh/h，检验 SOP 落地</a:t>
            </a:r>
            <a:endParaRPr lang="en-US" sz="700" dirty="0"/>
          </a:p>
        </p:txBody>
      </p:sp>
      <p:sp>
        <p:nvSpPr>
          <p:cNvPr id="129" name="Text 115"/>
          <p:cNvSpPr/>
          <p:nvPr/>
        </p:nvSpPr>
        <p:spPr>
          <a:xfrm>
            <a:off x="5740338" y="3374082"/>
            <a:ext cx="999554" cy="12858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回收期与敏感性</a:t>
            </a:r>
            <a:pPr algn="l" indent="0" marL="0">
              <a:buNone/>
            </a:pPr>
            <a:r>
              <a:rPr lang="en-US" sz="700" dirty="0">
                <a:solidFill>
                  <a:srgbClr val="A7A7A7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｜按季度</a:t>
            </a:r>
            <a:endParaRPr lang="en-US" sz="700" dirty="0"/>
          </a:p>
        </p:txBody>
      </p:sp>
      <p:sp>
        <p:nvSpPr>
          <p:cNvPr id="130" name="Text 116"/>
          <p:cNvSpPr/>
          <p:nvPr/>
        </p:nvSpPr>
        <p:spPr>
          <a:xfrm>
            <a:off x="7493459" y="3386584"/>
            <a:ext cx="1350169" cy="121444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A7A7A7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约 18 个月（16.5–25），决定是否追加</a:t>
            </a:r>
            <a:endParaRPr lang="en-US" sz="700" dirty="0"/>
          </a:p>
        </p:txBody>
      </p:sp>
      <p:sp>
        <p:nvSpPr>
          <p:cNvPr id="131" name="Text 117"/>
          <p:cNvSpPr/>
          <p:nvPr/>
        </p:nvSpPr>
        <p:spPr>
          <a:xfrm>
            <a:off x="314325" y="3705765"/>
            <a:ext cx="4443413" cy="121444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风险与兜底</a:t>
            </a:r>
            <a:endParaRPr lang="en-US" sz="700" dirty="0"/>
          </a:p>
        </p:txBody>
      </p:sp>
      <p:sp>
        <p:nvSpPr>
          <p:cNvPr id="132" name="Text 118"/>
          <p:cNvSpPr/>
          <p:nvPr/>
        </p:nvSpPr>
        <p:spPr>
          <a:xfrm>
            <a:off x="408087" y="3869345"/>
            <a:ext cx="3014663" cy="12858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A7A7A7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电价、产量、节能率不利：回收期区间 16.5–25 个月，仍远短于 10 年设备寿命</a:t>
            </a:r>
            <a:endParaRPr lang="en-US" sz="700" dirty="0"/>
          </a:p>
        </p:txBody>
      </p:sp>
      <p:sp>
        <p:nvSpPr>
          <p:cNvPr id="133" name="Text 119"/>
          <p:cNvSpPr/>
          <p:nvPr/>
        </p:nvSpPr>
        <p:spPr>
          <a:xfrm>
            <a:off x="407250" y="4026508"/>
            <a:ext cx="3000375" cy="12858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A7A7A7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停机窗口与产能影响为主要执行风险，数据待细化，批准后与生产计划协同排期</a:t>
            </a:r>
            <a:endParaRPr lang="en-US" sz="700" dirty="0"/>
          </a:p>
        </p:txBody>
      </p:sp>
      <p:sp>
        <p:nvSpPr>
          <p:cNvPr id="134" name="Text 120"/>
          <p:cNvSpPr/>
          <p:nvPr/>
        </p:nvSpPr>
        <p:spPr>
          <a:xfrm>
            <a:off x="405910" y="4183670"/>
            <a:ext cx="3121819" cy="12858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A7A7A7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单批风险敞口上限 120 万元；先实施—后验证—再追加，第二批以实测验证为前提</a:t>
            </a:r>
            <a:endParaRPr lang="en-US" sz="700" dirty="0"/>
          </a:p>
        </p:txBody>
      </p:sp>
      <p:sp>
        <p:nvSpPr>
          <p:cNvPr id="135" name="Text 121"/>
          <p:cNvSpPr/>
          <p:nvPr/>
        </p:nvSpPr>
        <p:spPr>
          <a:xfrm>
            <a:off x="5172075" y="3705765"/>
            <a:ext cx="3671888" cy="121444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立项后目标</a:t>
            </a:r>
            <a:endParaRPr lang="en-US" sz="700" dirty="0"/>
          </a:p>
        </p:txBody>
      </p:sp>
      <p:sp>
        <p:nvSpPr>
          <p:cNvPr id="136" name="Text 122"/>
          <p:cNvSpPr/>
          <p:nvPr/>
        </p:nvSpPr>
        <p:spPr>
          <a:xfrm>
            <a:off x="5263660" y="3869345"/>
            <a:ext cx="2471738" cy="12858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A7A7A7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全厂综合单位能耗由 0.597 ≈ 0.60 逐步向标杆 0.45 kWh/件收敛</a:t>
            </a:r>
            <a:endParaRPr lang="en-US" sz="700" dirty="0"/>
          </a:p>
        </p:txBody>
      </p:sp>
      <p:sp>
        <p:nvSpPr>
          <p:cNvPr id="137" name="Text 123"/>
          <p:cNvSpPr/>
          <p:nvPr/>
        </p:nvSpPr>
        <p:spPr>
          <a:xfrm>
            <a:off x="5265558" y="4026508"/>
            <a:ext cx="2135981" cy="12858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A7A7A7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分年压减约 403 万元/年对标损失（电价 0.75 元/kWh）</a:t>
            </a:r>
            <a:endParaRPr lang="en-US" sz="700" dirty="0"/>
          </a:p>
        </p:txBody>
      </p:sp>
      <p:sp>
        <p:nvSpPr>
          <p:cNvPr id="138" name="Text 124"/>
          <p:cNvSpPr/>
          <p:nvPr/>
        </p:nvSpPr>
        <p:spPr>
          <a:xfrm>
            <a:off x="5265000" y="4183670"/>
            <a:ext cx="2143125" cy="12858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A7A7A7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四线月度能耗对标看板按月出数，验证通过再启动第二批</a:t>
            </a:r>
            <a:endParaRPr lang="en-US" sz="700" dirty="0"/>
          </a:p>
        </p:txBody>
      </p:sp>
      <p:sp>
        <p:nvSpPr>
          <p:cNvPr id="139" name="Text 125"/>
          <p:cNvSpPr/>
          <p:nvPr/>
        </p:nvSpPr>
        <p:spPr>
          <a:xfrm>
            <a:off x="214313" y="4664869"/>
            <a:ext cx="8715375" cy="1500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98989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数据来源：一个月四条产线能耗实测数据与工程测算（未联网搜索）；金额与能耗数值逐字取用素材口径，时间轴仅用相对月份、不含日历日期与责任人。</a:t>
            </a:r>
            <a:endParaRPr lang="en-US" sz="700" dirty="0"/>
          </a:p>
        </p:txBody>
      </p:sp>
      <p:sp>
        <p:nvSpPr>
          <p:cNvPr id="65535" name="wm:hwcld:2026-09-22T19:05:55:0e1af824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ln/>
        </p:spPr>
      </p:sp>
      <p:sp>
        <p:nvSpPr>
          <p:cNvPr id="3" name="Shape 1"/>
          <p:cNvSpPr/>
          <p:nvPr/>
        </p:nvSpPr>
        <p:spPr>
          <a:xfrm>
            <a:off x="285750" y="285750"/>
            <a:ext cx="314325" cy="314325"/>
          </a:xfrm>
          <a:prstGeom prst="rect">
            <a:avLst/>
          </a:prstGeom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85750" y="285750"/>
            <a:ext cx="314325" cy="31432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543925" y="285750"/>
            <a:ext cx="314325" cy="314325"/>
          </a:xfrm>
          <a:prstGeom prst="rect">
            <a:avLst/>
          </a:prstGeom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43925" y="285750"/>
            <a:ext cx="314325" cy="314325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285750" y="4543425"/>
            <a:ext cx="314325" cy="314325"/>
          </a:xfrm>
          <a:prstGeom prst="rect">
            <a:avLst/>
          </a:prstGeom>
          <a:ln/>
        </p:spPr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85750" y="4543425"/>
            <a:ext cx="314325" cy="314325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8543925" y="4543425"/>
            <a:ext cx="314325" cy="314325"/>
          </a:xfrm>
          <a:prstGeom prst="rect">
            <a:avLst/>
          </a:prstGeom>
          <a:ln/>
        </p:spPr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543925" y="4543425"/>
            <a:ext cx="314325" cy="314325"/>
          </a:xfrm>
          <a:prstGeom prst="rect">
            <a:avLst/>
          </a:prstGeom>
        </p:spPr>
      </p:pic>
      <p:sp>
        <p:nvSpPr>
          <p:cNvPr id="11" name="Shape 5"/>
          <p:cNvSpPr/>
          <p:nvPr/>
        </p:nvSpPr>
        <p:spPr>
          <a:xfrm>
            <a:off x="4357688" y="2503884"/>
            <a:ext cx="428625" cy="14288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12" name="Text 6"/>
          <p:cNvSpPr/>
          <p:nvPr/>
        </p:nvSpPr>
        <p:spPr>
          <a:xfrm>
            <a:off x="4332629" y="684014"/>
            <a:ext cx="478631" cy="164306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6B900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// END</a:t>
            </a:r>
            <a:endParaRPr lang="en-US" sz="800" dirty="0"/>
          </a:p>
        </p:txBody>
      </p:sp>
      <p:sp>
        <p:nvSpPr>
          <p:cNvPr id="13" name="Text 7"/>
          <p:cNvSpPr/>
          <p:nvPr/>
        </p:nvSpPr>
        <p:spPr>
          <a:xfrm>
            <a:off x="2000194" y="1017984"/>
            <a:ext cx="5143500" cy="1285875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恳请审议批准 1 号线</a:t>
            </a:r>
            <a:pPr algn="ctr" indent="0" marL="0">
              <a:buNone/>
            </a:pP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液压系统节能改造立项</a:t>
            </a:r>
            <a:endParaRPr lang="en-US" sz="4000" dirty="0"/>
          </a:p>
        </p:txBody>
      </p:sp>
      <p:sp>
        <p:nvSpPr>
          <p:cNvPr id="14" name="Text 8"/>
          <p:cNvSpPr/>
          <p:nvPr/>
        </p:nvSpPr>
        <p:spPr>
          <a:xfrm>
            <a:off x="2382385" y="2675892"/>
            <a:ext cx="4379119" cy="678656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A7A7A7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谢谢！恳请管理层审议并批示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7A7A7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决策请求：批准 120 万元用于 1 号线液压系统改造，约 18 个月收回成本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7A7A7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批准后 2 周内完成方案细化与停机窗口排期</a:t>
            </a:r>
            <a:endParaRPr lang="en-US" sz="1000" dirty="0"/>
          </a:p>
        </p:txBody>
      </p:sp>
      <p:sp>
        <p:nvSpPr>
          <p:cNvPr id="15" name="Text 9"/>
          <p:cNvSpPr/>
          <p:nvPr/>
        </p:nvSpPr>
        <p:spPr>
          <a:xfrm>
            <a:off x="744457" y="4109442"/>
            <a:ext cx="1214438" cy="350044"/>
          </a:xfrm>
          <a:prstGeom prst="roundRect">
            <a:avLst>
              <a:gd name="adj" fmla="val 2666"/>
            </a:avLst>
          </a:prstGeom>
          <a:ln w="12383">
            <a:solidFill>
              <a:srgbClr val="76B900"/>
            </a:solidFill>
            <a:prstDash val="solid"/>
          </a:ln>
        </p:spPr>
        <p:txBody>
          <a:bodyPr wrap="none" lIns="0" tIns="0" rIns="0" bIns="0" rtlCol="0" anchor="ctr">
            <a:no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BACK TO TOP</a:t>
            </a:r>
            <a:endParaRPr lang="en-US" sz="800" dirty="0"/>
          </a:p>
        </p:txBody>
      </p:sp>
      <p:sp>
        <p:nvSpPr>
          <p:cNvPr id="16" name="Text 10"/>
          <p:cNvSpPr/>
          <p:nvPr/>
        </p:nvSpPr>
        <p:spPr>
          <a:xfrm>
            <a:off x="4713201" y="4138017"/>
            <a:ext cx="3686175" cy="14287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898989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设备与能源管理部门</a:t>
            </a:r>
            <a:endParaRPr lang="en-US" sz="700" dirty="0"/>
          </a:p>
        </p:txBody>
      </p:sp>
      <p:sp>
        <p:nvSpPr>
          <p:cNvPr id="17" name="Text 11"/>
          <p:cNvSpPr/>
          <p:nvPr/>
        </p:nvSpPr>
        <p:spPr>
          <a:xfrm>
            <a:off x="4713201" y="4307681"/>
            <a:ext cx="3686175" cy="1500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A7A7A7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2026 年 9 月 · 本页数据基于一个月四条产线能耗实测，测算口径与假设见各页说明</a:t>
            </a:r>
            <a:endParaRPr lang="en-US" sz="700" dirty="0"/>
          </a:p>
        </p:txBody>
      </p:sp>
      <p:sp>
        <p:nvSpPr>
          <p:cNvPr id="65535" name="wm:hwcld:2026-09-22T19:05:55:0e1af824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2026-09-22T19:06:00Z</dcterms:created>
  <dcterms:modified xsi:type="dcterms:W3CDTF">2026-09-22T19:06:00Z</dcterms:modified>
</cp:coreProperties>
</file>