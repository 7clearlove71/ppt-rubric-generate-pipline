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同事，晚上好。今天开场，我不寒暄，先给结论：过去这一年，我们走得不容易，但我们逆势生长——全年营收四点二亿元，同比增长百分之二十六。这一年怎么挣出来的，接下来几分钟，我用我们自己走过的路和实实在在的数字，向大家汇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结论：这一年，我们逆势增长。全年营收四点二亿元，同比增长百分之二十六。这个数字背后有四件事：研发投入占营收的比例，从百分之九提到了百分之十四；全年新增专利十八项；员工人数从三百二十人增长到四百一十人；客户续约率达到百分之九十一。行业寒冬没有击垮我们，这四项，接下来每一页展开一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讲这份成绩是从什么处境里挣出来的。年初，行业寒冬，我在年初会上说过一句话：咬牙，没有裁员，反而加大了研发投入。今天我把这句话再放在这里，是想说，这不是一句口号。那一年，行业都在收缩，我们做了两个反着来的选择：第一，不裁员，团队从三百二十人走到四百一十人，一个都没少，还在变多；第二，加码研发，研发投入占比从百分之九提到了百分之十四，整整五个百分点。行业在收缩，我们在加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要说最难的时刻——最难的那个月，账上现金只够发两个月的工资。今天把这个数字讲出来，不是诉苦，是想让大家记住：在那个时候，团队没有一个人退缩。没有人来问我公司行不行，没有人这时候选择离开。就是这两个月的现金，我们硬是扛过来了。如今回头看，全年营收四点二亿，同比增长百分之二十六——这二十六个百分点，就是从那个谷底爬上来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咬牙加码的研发，没有打水漂。投入这一端，研发占比百分之十四，比上年提高五个百分点；产出这一端，全年新增专利十八项。这十八项专利，就是我们在这段寒冬里攒下的技术家底。寒冬里投出去的每一分钱，都变成了今天接得住机会的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看人的回报。员工人数从三百二十人增长到四百一十人，全年净增九十人，零裁员；客户续约率百分之九十一——将近九成的客户，用续约给我们投了票。内部没有人退缩，外部客户选择继续同行，这两件事是连在一起的。所以我说，这份成绩，属于每一位没有退缩的人，也属于每一位选择继续信任我们的客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这一年连起来看：年初，行业寒冬开局；最难的那个月，账上现金只够发两个月的工资；到了年底，全年营收四点二亿元，同比增长百分之二十六；再看今天的家底——研发占比百分之十四，新增专利十八项，员工四百一十人，客户续约率百分之九十一。如今回头看，正是那段日子，让我们脱胎换骨。这不是修辞，这条时间线上的每一个节点，都是我们一起走过来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所以，新的一年，我们带着这份底气出发。这份底气是什么？是四百一十个没有退缩的人，是还在持续加码的百分之十四的研发投入，是百分之九十一选择与我们同行的客户。我们最大的底气，就是这支团队，和它挣出来的每一个数字。新的一年，继续一起，逆势生长。谢谢大家，年会正式开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nnual_kickoff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nnual_kickoff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title-block"/>
          <p:cNvGrpSpPr/>
          <p:nvPr/>
        </p:nvGrpSpPr>
        <p:grpSpPr>
          <a:xfrm>
            <a:off x="742950" y="1704975"/>
            <a:ext cx="4238244" cy="2958465"/>
            <a:chOff x="742950" y="1704975"/>
            <a:chExt cx="4238244" cy="2958465"/>
          </a:xfrm>
        </p:grpSpPr>
        <p:sp>
          <p:nvSpPr>
            <p:cNvPr id="2" name="TextBox 2"/>
            <p:cNvSpPr txBox="1"/>
            <p:nvPr/>
          </p:nvSpPr>
          <p:spPr>
            <a:xfrm>
              <a:off x="754380" y="1704975"/>
              <a:ext cx="3266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4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grpSp>
          <p:nvGrpSpPr>
            <p:cNvPr id="5" name="cover-title"/>
            <p:cNvGrpSpPr/>
            <p:nvPr/>
          </p:nvGrpSpPr>
          <p:grpSpPr>
            <a:xfrm>
              <a:off x="742950" y="2129790"/>
              <a:ext cx="4238244" cy="2533650"/>
              <a:chOff x="742950" y="2129790"/>
              <a:chExt cx="4238244" cy="2533650"/>
            </a:xfrm>
          </p:grpSpPr>
          <p:sp>
            <p:nvSpPr>
              <p:cNvPr id="3" name="TextBox 3"/>
              <p:cNvSpPr txBox="1"/>
              <p:nvPr/>
            </p:nvSpPr>
            <p:spPr>
              <a:xfrm>
                <a:off x="742950" y="2129790"/>
                <a:ext cx="4238244" cy="1504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寒冬淬火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742950" y="3158490"/>
                <a:ext cx="4238244" cy="1504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逆势生长</a:t>
                </a:r>
              </a:p>
            </p:txBody>
          </p:sp>
        </p:grpSp>
      </p:grpSp>
      <p:grpSp>
        <p:nvGrpSpPr>
          <p:cNvPr id="10" name="cover-hero"/>
          <p:cNvGrpSpPr/>
          <p:nvPr/>
        </p:nvGrpSpPr>
        <p:grpSpPr>
          <a:xfrm>
            <a:off x="6648450" y="2238375"/>
            <a:ext cx="3573539" cy="2607945"/>
            <a:chOff x="6648450" y="2238375"/>
            <a:chExt cx="3573539" cy="2607945"/>
          </a:xfrm>
        </p:grpSpPr>
        <p:sp>
          <p:nvSpPr>
            <p:cNvPr id="7" name="TextBox 7"/>
            <p:cNvSpPr txBox="1"/>
            <p:nvPr/>
          </p:nvSpPr>
          <p:spPr>
            <a:xfrm>
              <a:off x="6659880" y="2238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全年营收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48450" y="2644140"/>
              <a:ext cx="2547896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4.2亿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48450" y="3798570"/>
              <a:ext cx="357353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同比 +26%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6667500" y="4095750"/>
            <a:ext cx="4762500" cy="1619250"/>
          </a:xfrm>
          <a:custGeom>
            <a:avLst/>
            <a:gdLst/>
            <a:ahLst/>
            <a:cxnLst/>
            <a:rect l="l" t="t" r="r" b="b"/>
            <a:pathLst>
              <a:path w="4762500" h="1619250">
                <a:moveTo>
                  <a:pt x="0" y="1619250"/>
                </a:moveTo>
                <a:lnTo>
                  <a:pt x="47625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55904" y="6366510"/>
            <a:ext cx="1490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内部汇报 · 请勿外传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742950" y="912495"/>
            <a:ext cx="5288280" cy="1113472"/>
            <a:chOff x="742950" y="912495"/>
            <a:chExt cx="5288280" cy="1113472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912495"/>
              <a:ext cx="528828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这一年，我们逆势增长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0570" y="1585912"/>
              <a:ext cx="52023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行业寒冬没有击垮我们——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业绩逆势上行</a:t>
              </a:r>
            </a:p>
          </p:txBody>
        </p:sp>
      </p:grpSp>
      <p:grpSp>
        <p:nvGrpSpPr>
          <p:cNvPr id="8" name="p02-hero"/>
          <p:cNvGrpSpPr/>
          <p:nvPr/>
        </p:nvGrpSpPr>
        <p:grpSpPr>
          <a:xfrm>
            <a:off x="742950" y="2695575"/>
            <a:ext cx="3573539" cy="2626995"/>
            <a:chOff x="742950" y="2695575"/>
            <a:chExt cx="3573539" cy="2626995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2695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全年营收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3158490"/>
              <a:ext cx="2547896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4.2亿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4274820"/>
              <a:ext cx="357353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同比 +26%</a:t>
              </a:r>
            </a:p>
          </p:txBody>
        </p:sp>
      </p:grpSp>
      <p:grpSp>
        <p:nvGrpSpPr>
          <p:cNvPr id="44" name="p02-evidence"/>
          <p:cNvGrpSpPr/>
          <p:nvPr/>
        </p:nvGrpSpPr>
        <p:grpSpPr>
          <a:xfrm>
            <a:off x="6286500" y="2286000"/>
            <a:ext cx="5143500" cy="3256026"/>
            <a:chOff x="6286500" y="2286000"/>
            <a:chExt cx="5143500" cy="3256026"/>
          </a:xfrm>
        </p:grpSpPr>
        <p:sp>
          <p:nvSpPr>
            <p:cNvPr id="9" name="Rectangle 9"/>
            <p:cNvSpPr/>
            <p:nvPr/>
          </p:nvSpPr>
          <p:spPr>
            <a:xfrm>
              <a:off x="6286500" y="2286000"/>
              <a:ext cx="5143500" cy="3238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6" name="p02-row-rd"/>
            <p:cNvGrpSpPr/>
            <p:nvPr/>
          </p:nvGrpSpPr>
          <p:grpSpPr>
            <a:xfrm>
              <a:off x="6675627" y="2585085"/>
              <a:ext cx="4653789" cy="528066"/>
              <a:chOff x="6675627" y="2585085"/>
              <a:chExt cx="4653789" cy="528066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6675627" y="2633662"/>
                <a:ext cx="174245" cy="257175"/>
                <a:chOff x="6675627" y="2633662"/>
                <a:chExt cx="174245" cy="25717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6719888" y="2633662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6734175" y="2719388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6675627" y="2633662"/>
                  <a:ext cx="17424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245" h="257175">
                      <a:moveTo>
                        <a:pt x="58548" y="0"/>
                      </a:moveTo>
                      <a:lnTo>
                        <a:pt x="58548" y="85725"/>
                      </a:lnTo>
                      <a:lnTo>
                        <a:pt x="1398" y="242888"/>
                      </a:lnTo>
                      <a:cubicBezTo>
                        <a:pt x="0" y="245699"/>
                        <a:pt x="4" y="249004"/>
                        <a:pt x="1408" y="251812"/>
                      </a:cubicBezTo>
                      <a:cubicBezTo>
                        <a:pt x="2812" y="254620"/>
                        <a:pt x="5454" y="256606"/>
                        <a:pt x="8541" y="257175"/>
                      </a:cubicBezTo>
                      <a:lnTo>
                        <a:pt x="165704" y="257175"/>
                      </a:lnTo>
                      <a:cubicBezTo>
                        <a:pt x="168792" y="256606"/>
                        <a:pt x="171433" y="254620"/>
                        <a:pt x="172837" y="251812"/>
                      </a:cubicBezTo>
                      <a:cubicBezTo>
                        <a:pt x="174241" y="249004"/>
                        <a:pt x="174245" y="245699"/>
                        <a:pt x="172848" y="242888"/>
                      </a:cubicBezTo>
                      <a:lnTo>
                        <a:pt x="115698" y="85725"/>
                      </a:lnTo>
                      <a:lnTo>
                        <a:pt x="115698" y="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7114032" y="2630805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研发投入占比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83669" y="2585085"/>
                <a:ext cx="184574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9% → 14%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6591300" y="311467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7" name="p02-row-patent"/>
            <p:cNvGrpSpPr/>
            <p:nvPr/>
          </p:nvGrpSpPr>
          <p:grpSpPr>
            <a:xfrm>
              <a:off x="6634162" y="3394710"/>
              <a:ext cx="4695254" cy="528066"/>
              <a:chOff x="6634162" y="3394710"/>
              <a:chExt cx="4695254" cy="528066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6634162" y="3471862"/>
                <a:ext cx="257175" cy="242888"/>
                <a:chOff x="6634162" y="3471862"/>
                <a:chExt cx="257175" cy="242888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2750" y="3571875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cubicBezTo>
                        <a:pt x="0" y="66535"/>
                        <a:pt x="19190" y="85725"/>
                        <a:pt x="42862" y="85725"/>
                      </a:cubicBezTo>
                      <a:cubicBezTo>
                        <a:pt x="66535" y="85725"/>
                        <a:pt x="85725" y="66535"/>
                        <a:pt x="85725" y="42862"/>
                      </a:cubicBezTo>
                      <a:cubicBezTo>
                        <a:pt x="85725" y="19190"/>
                        <a:pt x="66535" y="0"/>
                        <a:pt x="42862" y="0"/>
                      </a:cubicBezTo>
                      <a:cubicBezTo>
                        <a:pt x="19190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777038" y="3650456"/>
                  <a:ext cx="57150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4294">
                      <a:moveTo>
                        <a:pt x="0" y="0"/>
                      </a:moveTo>
                      <a:lnTo>
                        <a:pt x="0" y="64294"/>
                      </a:lnTo>
                      <a:lnTo>
                        <a:pt x="28575" y="42862"/>
                      </a:lnTo>
                      <a:lnTo>
                        <a:pt x="57150" y="64294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6634162" y="3471862"/>
                  <a:ext cx="2571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00025">
                      <a:moveTo>
                        <a:pt x="100012" y="200025"/>
                      </a:moveTo>
                      <a:lnTo>
                        <a:pt x="28575" y="200025"/>
                      </a:lnTo>
                      <a:cubicBezTo>
                        <a:pt x="12793" y="200025"/>
                        <a:pt x="0" y="187232"/>
                        <a:pt x="0" y="171450"/>
                      </a:cubicBezTo>
                      <a:lnTo>
                        <a:pt x="0" y="28575"/>
                      </a:lnTo>
                      <a:cubicBezTo>
                        <a:pt x="0" y="12859"/>
                        <a:pt x="12859" y="0"/>
                        <a:pt x="28575" y="0"/>
                      </a:cubicBezTo>
                      <a:lnTo>
                        <a:pt x="228600" y="0"/>
                      </a:lnTo>
                      <a:cubicBezTo>
                        <a:pt x="244382" y="0"/>
                        <a:pt x="257175" y="12793"/>
                        <a:pt x="257175" y="28575"/>
                      </a:cubicBezTo>
                      <a:lnTo>
                        <a:pt x="257175" y="171450"/>
                      </a:lnTo>
                      <a:cubicBezTo>
                        <a:pt x="257165" y="181648"/>
                        <a:pt x="251720" y="191068"/>
                        <a:pt x="242888" y="196167"/>
                      </a:cubicBez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677025" y="3529012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6677025" y="3571875"/>
                  <a:ext cx="4286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9525">
                      <a:moveTo>
                        <a:pt x="0" y="0"/>
                      </a:moveTo>
                      <a:lnTo>
                        <a:pt x="42862" y="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6677025" y="3614738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7114032" y="34404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新增专利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433208" y="3394710"/>
                <a:ext cx="89620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 项</a:t>
                </a: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6591300" y="39243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6" name="p02-row-staff"/>
            <p:cNvGrpSpPr/>
            <p:nvPr/>
          </p:nvGrpSpPr>
          <p:grpSpPr>
            <a:xfrm>
              <a:off x="6634162" y="4204335"/>
              <a:ext cx="4695254" cy="528066"/>
              <a:chOff x="6634162" y="4204335"/>
              <a:chExt cx="4695254" cy="528066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6634162" y="4252912"/>
                <a:ext cx="257175" cy="257176"/>
                <a:chOff x="6634162" y="4252912"/>
                <a:chExt cx="257175" cy="257176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6662738" y="4252912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634162" y="4424362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819900" y="4254770"/>
                  <a:ext cx="42975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75" h="110728">
                      <a:moveTo>
                        <a:pt x="0" y="0"/>
                      </a:moveTo>
                      <a:cubicBezTo>
                        <a:pt x="25288" y="6475"/>
                        <a:pt x="42975" y="29261"/>
                        <a:pt x="42975" y="55364"/>
                      </a:cubicBezTo>
                      <a:cubicBezTo>
                        <a:pt x="42975" y="81467"/>
                        <a:pt x="25288" y="104253"/>
                        <a:pt x="0" y="110728"/>
                      </a:cubicBez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848475" y="4426506"/>
                  <a:ext cx="42862" cy="83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83582">
                      <a:moveTo>
                        <a:pt x="42862" y="83582"/>
                      </a:moveTo>
                      <a:lnTo>
                        <a:pt x="42862" y="55007"/>
                      </a:lnTo>
                      <a:cubicBezTo>
                        <a:pt x="42713" y="29069"/>
                        <a:pt x="25115" y="6484"/>
                        <a:pt x="0" y="0"/>
                      </a:cubicBez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7114032" y="42500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员工人数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059131" y="4204335"/>
                <a:ext cx="227028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320 → 410 人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591300" y="473392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3" name="p02-row-renewal"/>
            <p:cNvGrpSpPr/>
            <p:nvPr/>
          </p:nvGrpSpPr>
          <p:grpSpPr>
            <a:xfrm>
              <a:off x="6648450" y="5013960"/>
              <a:ext cx="4680966" cy="528066"/>
              <a:chOff x="6648450" y="5013960"/>
              <a:chExt cx="4680966" cy="528066"/>
            </a:xfrm>
          </p:grpSpPr>
          <p:grpSp>
            <p:nvGrpSpPr>
              <p:cNvPr id="40" name="Group 40"/>
              <p:cNvGrpSpPr/>
              <p:nvPr/>
            </p:nvGrpSpPr>
            <p:grpSpPr>
              <a:xfrm>
                <a:off x="6648450" y="5071312"/>
                <a:ext cx="228600" cy="239625"/>
                <a:chOff x="6648450" y="5071312"/>
                <a:chExt cx="228600" cy="239625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648450" y="5071312"/>
                  <a:ext cx="228600" cy="1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05525">
                      <a:moveTo>
                        <a:pt x="228600" y="105525"/>
                      </a:moveTo>
                      <a:cubicBezTo>
                        <a:pt x="221417" y="53841"/>
                        <a:pt x="180535" y="13355"/>
                        <a:pt x="128783" y="6678"/>
                      </a:cubicBezTo>
                      <a:cubicBezTo>
                        <a:pt x="77031" y="0"/>
                        <a:pt x="27211" y="28782"/>
                        <a:pt x="7144" y="76950"/>
                      </a:cubicBezTo>
                      <a:moveTo>
                        <a:pt x="0" y="19800"/>
                      </a:moveTo>
                      <a:lnTo>
                        <a:pt x="0" y="76950"/>
                      </a:lnTo>
                      <a:lnTo>
                        <a:pt x="57150" y="76950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48450" y="5205412"/>
                  <a:ext cx="228600" cy="1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05525">
                      <a:moveTo>
                        <a:pt x="0" y="0"/>
                      </a:moveTo>
                      <a:cubicBezTo>
                        <a:pt x="7183" y="51684"/>
                        <a:pt x="48065" y="92170"/>
                        <a:pt x="99817" y="98847"/>
                      </a:cubicBezTo>
                      <a:cubicBezTo>
                        <a:pt x="151569" y="105525"/>
                        <a:pt x="201389" y="76743"/>
                        <a:pt x="221456" y="28575"/>
                      </a:cubicBezTo>
                      <a:moveTo>
                        <a:pt x="228600" y="85725"/>
                      </a:moveTo>
                      <a:lnTo>
                        <a:pt x="228600" y="28575"/>
                      </a:lnTo>
                      <a:lnTo>
                        <a:pt x="171450" y="28575"/>
                      </a:lnTo>
                    </a:path>
                  </a:pathLst>
                </a:custGeom>
                <a:noFill/>
                <a:ln w="42862">
                  <a:solidFill>
                    <a:schemeClr val="accent1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7114032" y="505968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客户续约率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574454" y="5013960"/>
                <a:ext cx="75496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91%</a:t>
                </a:r>
              </a:p>
            </p:txBody>
          </p:sp>
        </p:grpSp>
      </p:grpSp>
      <p:grpSp>
        <p:nvGrpSpPr>
          <p:cNvPr id="46" name="p02-note"/>
          <p:cNvGrpSpPr/>
          <p:nvPr/>
        </p:nvGrpSpPr>
        <p:grpSpPr>
          <a:xfrm>
            <a:off x="754380" y="5762625"/>
            <a:ext cx="1630680" cy="293370"/>
            <a:chOff x="754380" y="5762625"/>
            <a:chExt cx="1630680" cy="293370"/>
          </a:xfrm>
        </p:grpSpPr>
        <p:sp>
          <p:nvSpPr>
            <p:cNvPr id="45" name="TextBox 45"/>
            <p:cNvSpPr txBox="1"/>
            <p:nvPr/>
          </p:nvSpPr>
          <p:spPr>
            <a:xfrm>
              <a:off x="754380" y="57626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以下每页展开一项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10820400" y="5600700"/>
            <a:ext cx="609600" cy="495300"/>
          </a:xfrm>
          <a:custGeom>
            <a:avLst/>
            <a:gdLst/>
            <a:ahLst/>
            <a:cxnLst/>
            <a:rect l="l" t="t" r="r" b="b"/>
            <a:pathLst>
              <a:path w="609600" h="495300">
                <a:moveTo>
                  <a:pt x="0" y="495300"/>
                </a:moveTo>
                <a:lnTo>
                  <a:pt x="6096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grpSp>
        <p:nvGrpSpPr>
          <p:cNvPr id="50" name="p02-footer"/>
          <p:cNvGrpSpPr/>
          <p:nvPr/>
        </p:nvGrpSpPr>
        <p:grpSpPr>
          <a:xfrm>
            <a:off x="755904" y="6366510"/>
            <a:ext cx="10680192" cy="234696"/>
            <a:chOff x="755904" y="6366510"/>
            <a:chExt cx="106801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755904" y="63665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82732" y="6366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950" y="912495"/>
            <a:ext cx="791337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寒冬里的选择：加码，而不是收缩</a:t>
            </a:r>
          </a:p>
        </p:txBody>
      </p:sp>
      <p:grpSp>
        <p:nvGrpSpPr>
          <p:cNvPr id="7" name="p03-quote"/>
          <p:cNvGrpSpPr/>
          <p:nvPr/>
        </p:nvGrpSpPr>
        <p:grpSpPr>
          <a:xfrm>
            <a:off x="762000" y="2095500"/>
            <a:ext cx="4572000" cy="2286000"/>
            <a:chOff x="762000" y="2095500"/>
            <a:chExt cx="4572000" cy="2286000"/>
          </a:xfrm>
        </p:grpSpPr>
        <p:sp>
          <p:nvSpPr>
            <p:cNvPr id="3" name="Rectangle 3"/>
            <p:cNvSpPr/>
            <p:nvPr/>
          </p:nvSpPr>
          <p:spPr>
            <a:xfrm>
              <a:off x="762000" y="2095500"/>
              <a:ext cx="4572000" cy="228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2095500"/>
              <a:ext cx="57150" cy="228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93470" y="2614612"/>
              <a:ext cx="3166110" cy="1297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「年初行业寒冬，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咬牙没有裁员，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反而加大了研发投入。」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7280" y="3933825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——老板年度讲话原文</a:t>
              </a:r>
            </a:p>
          </p:txBody>
        </p:sp>
      </p:grpSp>
      <p:grpSp>
        <p:nvGrpSpPr>
          <p:cNvPr id="9" name="p03-takeaway"/>
          <p:cNvGrpSpPr/>
          <p:nvPr/>
        </p:nvGrpSpPr>
        <p:grpSpPr>
          <a:xfrm>
            <a:off x="750570" y="4805362"/>
            <a:ext cx="3354705" cy="440055"/>
            <a:chOff x="750570" y="4805362"/>
            <a:chExt cx="3354705" cy="440055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805362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行业在收缩，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我们在加码</a:t>
              </a:r>
            </a:p>
          </p:txBody>
        </p:sp>
      </p:grpSp>
      <p:grpSp>
        <p:nvGrpSpPr>
          <p:cNvPr id="14" name="p03-choice-team"/>
          <p:cNvGrpSpPr/>
          <p:nvPr/>
        </p:nvGrpSpPr>
        <p:grpSpPr>
          <a:xfrm>
            <a:off x="6076950" y="2257425"/>
            <a:ext cx="4523805" cy="1636395"/>
            <a:chOff x="6076950" y="2257425"/>
            <a:chExt cx="4523805" cy="1636395"/>
          </a:xfrm>
        </p:grpSpPr>
        <p:sp>
          <p:nvSpPr>
            <p:cNvPr id="10" name="Freeform 10"/>
            <p:cNvSpPr/>
            <p:nvPr/>
          </p:nvSpPr>
          <p:spPr>
            <a:xfrm>
              <a:off x="6137014" y="2257425"/>
              <a:ext cx="298973" cy="285751"/>
            </a:xfrm>
            <a:custGeom>
              <a:avLst/>
              <a:gdLst/>
              <a:ahLst/>
              <a:cxnLst/>
              <a:rect l="l" t="t" r="r" b="b"/>
              <a:pathLst>
                <a:path w="298973" h="285751">
                  <a:moveTo>
                    <a:pt x="149486" y="0"/>
                  </a:moveTo>
                  <a:cubicBezTo>
                    <a:pt x="186568" y="32807"/>
                    <a:pt x="234965" y="49888"/>
                    <a:pt x="284424" y="47625"/>
                  </a:cubicBezTo>
                  <a:cubicBezTo>
                    <a:pt x="298973" y="97116"/>
                    <a:pt x="292829" y="150391"/>
                    <a:pt x="267397" y="195271"/>
                  </a:cubicBezTo>
                  <a:cubicBezTo>
                    <a:pt x="241965" y="240151"/>
                    <a:pt x="199419" y="272799"/>
                    <a:pt x="149486" y="285751"/>
                  </a:cubicBezTo>
                  <a:cubicBezTo>
                    <a:pt x="99554" y="272799"/>
                    <a:pt x="57008" y="240151"/>
                    <a:pt x="31576" y="195271"/>
                  </a:cubicBezTo>
                  <a:cubicBezTo>
                    <a:pt x="6144" y="150391"/>
                    <a:pt x="0" y="97116"/>
                    <a:pt x="14549" y="47625"/>
                  </a:cubicBezTo>
                  <a:cubicBezTo>
                    <a:pt x="64008" y="49888"/>
                    <a:pt x="112405" y="32807"/>
                    <a:pt x="149486" y="0"/>
                  </a:cubicBez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56832" y="2268855"/>
              <a:ext cx="20589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 · 不裁员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76950" y="2846070"/>
              <a:ext cx="452380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320 → 410 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8380" y="36004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一个都没少，还在变多</a:t>
              </a:r>
            </a:p>
          </p:txBody>
        </p:sp>
      </p:grpSp>
      <p:grpSp>
        <p:nvGrpSpPr>
          <p:cNvPr id="22" name="p03-choice-rd"/>
          <p:cNvGrpSpPr/>
          <p:nvPr/>
        </p:nvGrpSpPr>
        <p:grpSpPr>
          <a:xfrm>
            <a:off x="6076950" y="4124325"/>
            <a:ext cx="3674730" cy="1636395"/>
            <a:chOff x="6076950" y="4124325"/>
            <a:chExt cx="3674730" cy="1636395"/>
          </a:xfrm>
        </p:grpSpPr>
        <p:grpSp>
          <p:nvGrpSpPr>
            <p:cNvPr id="18" name="Group 18"/>
            <p:cNvGrpSpPr/>
            <p:nvPr/>
          </p:nvGrpSpPr>
          <p:grpSpPr>
            <a:xfrm>
              <a:off x="6189697" y="4124325"/>
              <a:ext cx="193606" cy="285751"/>
              <a:chOff x="6189697" y="4124325"/>
              <a:chExt cx="193606" cy="2857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238875" y="41243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254750" y="42195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189697" y="41243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656832" y="4135755"/>
              <a:ext cx="23416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选择二 · 加码研发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76950" y="4712970"/>
              <a:ext cx="367473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9% → 14%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8380" y="5467350"/>
              <a:ext cx="315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研发投入占营收比例 · +5 个百分点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10820400" y="5600700"/>
            <a:ext cx="609600" cy="495300"/>
          </a:xfrm>
          <a:custGeom>
            <a:avLst/>
            <a:gdLst/>
            <a:ahLst/>
            <a:cxnLst/>
            <a:rect l="l" t="t" r="r" b="b"/>
            <a:pathLst>
              <a:path w="609600" h="495300">
                <a:moveTo>
                  <a:pt x="0" y="495300"/>
                </a:moveTo>
                <a:lnTo>
                  <a:pt x="6096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grpSp>
        <p:nvGrpSpPr>
          <p:cNvPr id="26" name="p03-footer"/>
          <p:cNvGrpSpPr/>
          <p:nvPr/>
        </p:nvGrpSpPr>
        <p:grpSpPr>
          <a:xfrm>
            <a:off x="755904" y="6366510"/>
            <a:ext cx="10680192" cy="234696"/>
            <a:chOff x="755904" y="6366510"/>
            <a:chExt cx="106801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755904" y="63665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82732" y="6366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950" y="912495"/>
            <a:ext cx="738835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最难时，现金只够发两个月工资</a:t>
            </a:r>
          </a:p>
        </p:txBody>
      </p:sp>
      <p:grpSp>
        <p:nvGrpSpPr>
          <p:cNvPr id="4" name="p04-hero"/>
          <p:cNvGrpSpPr/>
          <p:nvPr/>
        </p:nvGrpSpPr>
        <p:grpSpPr>
          <a:xfrm>
            <a:off x="742950" y="2967990"/>
            <a:ext cx="3013902" cy="1504950"/>
            <a:chOff x="742950" y="2967990"/>
            <a:chExt cx="3013902" cy="15049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2967990"/>
              <a:ext cx="3013902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7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个月</a:t>
              </a:r>
            </a:p>
          </p:txBody>
        </p:sp>
      </p:grpSp>
      <p:grpSp>
        <p:nvGrpSpPr>
          <p:cNvPr id="6" name="p04-statement"/>
          <p:cNvGrpSpPr/>
          <p:nvPr/>
        </p:nvGrpSpPr>
        <p:grpSpPr>
          <a:xfrm>
            <a:off x="750570" y="4519612"/>
            <a:ext cx="5737860" cy="897255"/>
            <a:chOff x="750570" y="4519612"/>
            <a:chExt cx="5737860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750570" y="4519612"/>
              <a:ext cx="5737860" cy="897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最难的那个月，账上现金只够发两个月工资；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团队没有一个人退缩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7810500" y="4476750"/>
            <a:ext cx="1333500" cy="666750"/>
          </a:xfrm>
          <a:custGeom>
            <a:avLst/>
            <a:gdLst/>
            <a:ahLst/>
            <a:cxnLst/>
            <a:rect l="l" t="t" r="r" b="b"/>
            <a:pathLst>
              <a:path w="1333500" h="666750">
                <a:moveTo>
                  <a:pt x="0" y="0"/>
                </a:moveTo>
                <a:lnTo>
                  <a:pt x="1333500" y="66675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3429000"/>
            <a:ext cx="2095500" cy="1714500"/>
          </a:xfrm>
          <a:custGeom>
            <a:avLst/>
            <a:gdLst/>
            <a:ahLst/>
            <a:cxnLst/>
            <a:rect l="l" t="t" r="r" b="b"/>
            <a:pathLst>
              <a:path w="2095500" h="1714500">
                <a:moveTo>
                  <a:pt x="0" y="171450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grpSp>
        <p:nvGrpSpPr>
          <p:cNvPr id="10" name="p04-lookback"/>
          <p:cNvGrpSpPr/>
          <p:nvPr/>
        </p:nvGrpSpPr>
        <p:grpSpPr>
          <a:xfrm>
            <a:off x="7626096" y="5819775"/>
            <a:ext cx="3811524" cy="293370"/>
            <a:chOff x="7626096" y="5819775"/>
            <a:chExt cx="3811524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7626096" y="581977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如今回头看：全年营收 4.2亿 · 同比 +26%</a:t>
              </a:r>
            </a:p>
          </p:txBody>
        </p:sp>
      </p:grpSp>
      <p:grpSp>
        <p:nvGrpSpPr>
          <p:cNvPr id="13" name="p04-footer"/>
          <p:cNvGrpSpPr/>
          <p:nvPr/>
        </p:nvGrpSpPr>
        <p:grpSpPr>
          <a:xfrm>
            <a:off x="755904" y="6366510"/>
            <a:ext cx="10680192" cy="234696"/>
            <a:chOff x="755904" y="6366510"/>
            <a:chExt cx="106801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755904" y="63665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82732" y="6366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950" y="912495"/>
            <a:ext cx="7275473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加码的研发，交出 18 项新专利</a:t>
            </a:r>
          </a:p>
        </p:txBody>
      </p:sp>
      <p:grpSp>
        <p:nvGrpSpPr>
          <p:cNvPr id="10" name="p05-input"/>
          <p:cNvGrpSpPr/>
          <p:nvPr/>
        </p:nvGrpSpPr>
        <p:grpSpPr>
          <a:xfrm>
            <a:off x="742950" y="2257425"/>
            <a:ext cx="3201634" cy="2231898"/>
            <a:chOff x="742950" y="2257425"/>
            <a:chExt cx="3201634" cy="2231898"/>
          </a:xfrm>
        </p:grpSpPr>
        <p:grpSp>
          <p:nvGrpSpPr>
            <p:cNvPr id="6" name="Group 6"/>
            <p:cNvGrpSpPr/>
            <p:nvPr/>
          </p:nvGrpSpPr>
          <p:grpSpPr>
            <a:xfrm>
              <a:off x="855697" y="2257425"/>
              <a:ext cx="193606" cy="285751"/>
              <a:chOff x="855697" y="2257425"/>
              <a:chExt cx="193606" cy="28575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904875" y="22574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920750" y="23526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55697" y="22574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1284732" y="22688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投入 · 研发投入占比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2950" y="2967990"/>
              <a:ext cx="2139852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1332" y="4078605"/>
              <a:ext cx="31932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较上年 9% · </a:t>
              </a: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+5 个百分点</a:t>
              </a:r>
            </a:p>
          </p:txBody>
        </p:sp>
      </p:grpSp>
      <p:grpSp>
        <p:nvGrpSpPr>
          <p:cNvPr id="21" name="p05-output"/>
          <p:cNvGrpSpPr/>
          <p:nvPr/>
        </p:nvGrpSpPr>
        <p:grpSpPr>
          <a:xfrm>
            <a:off x="7029450" y="2268855"/>
            <a:ext cx="3166097" cy="2204085"/>
            <a:chOff x="7029450" y="2268855"/>
            <a:chExt cx="3166097" cy="2204085"/>
          </a:xfrm>
        </p:grpSpPr>
        <p:grpSp>
          <p:nvGrpSpPr>
            <p:cNvPr id="17" name="Group 17"/>
            <p:cNvGrpSpPr/>
            <p:nvPr/>
          </p:nvGrpSpPr>
          <p:grpSpPr>
            <a:xfrm>
              <a:off x="7096125" y="2289175"/>
              <a:ext cx="285751" cy="269876"/>
              <a:chOff x="7096125" y="2289175"/>
              <a:chExt cx="285751" cy="2698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39000" y="24003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254875" y="2487613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0" y="0"/>
                    </a:moveTo>
                    <a:lnTo>
                      <a:pt x="0" y="71438"/>
                    </a:lnTo>
                    <a:lnTo>
                      <a:pt x="31750" y="47625"/>
                    </a:lnTo>
                    <a:lnTo>
                      <a:pt x="63500" y="71438"/>
                    </a:lnTo>
                    <a:lnTo>
                      <a:pt x="63500" y="0"/>
                    </a:ln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096125" y="2289175"/>
                <a:ext cx="285751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22250">
                    <a:moveTo>
                      <a:pt x="111125" y="222250"/>
                    </a:moveTo>
                    <a:lnTo>
                      <a:pt x="31750" y="222250"/>
                    </a:lnTo>
                    <a:cubicBezTo>
                      <a:pt x="14215" y="222250"/>
                      <a:pt x="0" y="208035"/>
                      <a:pt x="0" y="190500"/>
                    </a:cubicBezTo>
                    <a:lnTo>
                      <a:pt x="0" y="31750"/>
                    </a:lnTo>
                    <a:cubicBezTo>
                      <a:pt x="0" y="14288"/>
                      <a:pt x="14288" y="0"/>
                      <a:pt x="31750" y="0"/>
                    </a:cubicBezTo>
                    <a:lnTo>
                      <a:pt x="254001" y="0"/>
                    </a:lnTo>
                    <a:cubicBezTo>
                      <a:pt x="271536" y="0"/>
                      <a:pt x="285751" y="14215"/>
                      <a:pt x="285751" y="31750"/>
                    </a:cubicBezTo>
                    <a:lnTo>
                      <a:pt x="285751" y="190500"/>
                    </a:lnTo>
                    <a:cubicBezTo>
                      <a:pt x="285739" y="201832"/>
                      <a:pt x="279689" y="212298"/>
                      <a:pt x="269876" y="217964"/>
                    </a:cubicBez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43750" y="23526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143750" y="240030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43750" y="24479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571232" y="22688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 · 全年新增专利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9450" y="2967990"/>
              <a:ext cx="2547896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18 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40880" y="41433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技术家底，是寒冬里攒下的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5448300" y="3314700"/>
            <a:ext cx="1295400" cy="8001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10820400" y="5600700"/>
            <a:ext cx="609600" cy="495300"/>
          </a:xfrm>
          <a:custGeom>
            <a:avLst/>
            <a:gdLst/>
            <a:ahLst/>
            <a:cxnLst/>
            <a:rect l="l" t="t" r="r" b="b"/>
            <a:pathLst>
              <a:path w="609600" h="495300">
                <a:moveTo>
                  <a:pt x="0" y="495300"/>
                </a:moveTo>
                <a:lnTo>
                  <a:pt x="6096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grpSp>
        <p:nvGrpSpPr>
          <p:cNvPr id="26" name="p05-footer"/>
          <p:cNvGrpSpPr/>
          <p:nvPr/>
        </p:nvGrpSpPr>
        <p:grpSpPr>
          <a:xfrm>
            <a:off x="755904" y="6366510"/>
            <a:ext cx="10680192" cy="234696"/>
            <a:chOff x="755904" y="6366510"/>
            <a:chExt cx="106801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755904" y="63665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82732" y="6366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950" y="912495"/>
            <a:ext cx="7163907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留下的人，赢得了 91% 的续约</a:t>
            </a:r>
          </a:p>
        </p:txBody>
      </p:sp>
      <p:grpSp>
        <p:nvGrpSpPr>
          <p:cNvPr id="11" name="p06-team"/>
          <p:cNvGrpSpPr/>
          <p:nvPr/>
        </p:nvGrpSpPr>
        <p:grpSpPr>
          <a:xfrm>
            <a:off x="742950" y="2452687"/>
            <a:ext cx="4523805" cy="2036636"/>
            <a:chOff x="742950" y="2452687"/>
            <a:chExt cx="4523805" cy="2036636"/>
          </a:xfrm>
        </p:grpSpPr>
        <p:grpSp>
          <p:nvGrpSpPr>
            <p:cNvPr id="7" name="Group 7"/>
            <p:cNvGrpSpPr/>
            <p:nvPr/>
          </p:nvGrpSpPr>
          <p:grpSpPr>
            <a:xfrm>
              <a:off x="814387" y="2452687"/>
              <a:ext cx="314324" cy="314325"/>
              <a:chOff x="814387" y="2452687"/>
              <a:chExt cx="314324" cy="31432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49312" y="2452687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52387">
                <a:solidFill>
                  <a:schemeClr val="accent1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14387" y="2662237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52387">
                <a:solidFill>
                  <a:schemeClr val="accent1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41399" y="2454958"/>
                <a:ext cx="52524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52524" h="135334">
                    <a:moveTo>
                      <a:pt x="0" y="0"/>
                    </a:moveTo>
                    <a:cubicBezTo>
                      <a:pt x="30907" y="7913"/>
                      <a:pt x="52524" y="35763"/>
                      <a:pt x="52524" y="67667"/>
                    </a:cubicBezTo>
                    <a:cubicBezTo>
                      <a:pt x="52524" y="99571"/>
                      <a:pt x="30907" y="127421"/>
                      <a:pt x="0" y="135334"/>
                    </a:cubicBezTo>
                  </a:path>
                </a:pathLst>
              </a:custGeom>
              <a:noFill/>
              <a:ln w="52387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76324" y="2664856"/>
                <a:ext cx="52387" cy="102155"/>
              </a:xfrm>
              <a:custGeom>
                <a:avLst/>
                <a:gdLst/>
                <a:ahLst/>
                <a:cxnLst/>
                <a:rect l="l" t="t" r="r" b="b"/>
                <a:pathLst>
                  <a:path w="52387" h="102155">
                    <a:moveTo>
                      <a:pt x="52387" y="102155"/>
                    </a:moveTo>
                    <a:lnTo>
                      <a:pt x="52387" y="67231"/>
                    </a:lnTo>
                    <a:cubicBezTo>
                      <a:pt x="52205" y="35529"/>
                      <a:pt x="30696" y="7925"/>
                      <a:pt x="0" y="0"/>
                    </a:cubicBezTo>
                  </a:path>
                </a:pathLst>
              </a:custGeom>
              <a:noFill/>
              <a:ln w="52387">
                <a:solidFill>
                  <a:schemeClr val="accent1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360932" y="24879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员工人数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3227070"/>
              <a:ext cx="452380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320 → 410 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332" y="4078605"/>
              <a:ext cx="27062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全年 </a:t>
              </a: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+90 人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零裁员</a:t>
              </a:r>
            </a:p>
          </p:txBody>
        </p:sp>
      </p:grpSp>
      <p:grpSp>
        <p:nvGrpSpPr>
          <p:cNvPr id="18" name="p06-renewal"/>
          <p:cNvGrpSpPr/>
          <p:nvPr/>
        </p:nvGrpSpPr>
        <p:grpSpPr>
          <a:xfrm>
            <a:off x="6267450" y="2463412"/>
            <a:ext cx="2052828" cy="2025911"/>
            <a:chOff x="6267450" y="2463412"/>
            <a:chExt cx="2052828" cy="2025911"/>
          </a:xfrm>
        </p:grpSpPr>
        <p:grpSp>
          <p:nvGrpSpPr>
            <p:cNvPr id="14" name="Group 14"/>
            <p:cNvGrpSpPr/>
            <p:nvPr/>
          </p:nvGrpSpPr>
          <p:grpSpPr>
            <a:xfrm>
              <a:off x="6356350" y="2463412"/>
              <a:ext cx="279399" cy="292875"/>
              <a:chOff x="6356350" y="2463412"/>
              <a:chExt cx="279399" cy="2928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356350" y="2463412"/>
                <a:ext cx="279399" cy="1289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28975">
                    <a:moveTo>
                      <a:pt x="279399" y="128975"/>
                    </a:moveTo>
                    <a:cubicBezTo>
                      <a:pt x="270621" y="65805"/>
                      <a:pt x="220653" y="16323"/>
                      <a:pt x="157401" y="8162"/>
                    </a:cubicBezTo>
                    <a:cubicBezTo>
                      <a:pt x="94148" y="0"/>
                      <a:pt x="33257" y="35177"/>
                      <a:pt x="8731" y="94050"/>
                    </a:cubicBezTo>
                    <a:moveTo>
                      <a:pt x="0" y="24200"/>
                    </a:moveTo>
                    <a:lnTo>
                      <a:pt x="0" y="94050"/>
                    </a:lnTo>
                    <a:lnTo>
                      <a:pt x="69850" y="94050"/>
                    </a:lnTo>
                  </a:path>
                </a:pathLst>
              </a:custGeom>
              <a:noFill/>
              <a:ln w="52387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356350" y="2627312"/>
                <a:ext cx="279399" cy="12897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128975">
                    <a:moveTo>
                      <a:pt x="0" y="0"/>
                    </a:moveTo>
                    <a:cubicBezTo>
                      <a:pt x="8779" y="63170"/>
                      <a:pt x="58746" y="112652"/>
                      <a:pt x="121999" y="120813"/>
                    </a:cubicBezTo>
                    <a:cubicBezTo>
                      <a:pt x="185251" y="128975"/>
                      <a:pt x="246142" y="93797"/>
                      <a:pt x="270668" y="34925"/>
                    </a:cubicBezTo>
                    <a:moveTo>
                      <a:pt x="279399" y="104775"/>
                    </a:moveTo>
                    <a:lnTo>
                      <a:pt x="279399" y="34925"/>
                    </a:lnTo>
                    <a:lnTo>
                      <a:pt x="209550" y="34925"/>
                    </a:lnTo>
                  </a:path>
                </a:pathLst>
              </a:custGeom>
              <a:noFill/>
              <a:ln w="52387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885432" y="248793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客户续约率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67450" y="3227070"/>
              <a:ext cx="149315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91%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5832" y="40786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客户用</a:t>
              </a:r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续约投票</a:t>
              </a:r>
            </a:p>
          </p:txBody>
        </p:sp>
      </p:grpSp>
      <p:grpSp>
        <p:nvGrpSpPr>
          <p:cNvPr id="26" name="p06-takeaway"/>
          <p:cNvGrpSpPr/>
          <p:nvPr/>
        </p:nvGrpSpPr>
        <p:grpSpPr>
          <a:xfrm>
            <a:off x="762000" y="5334000"/>
            <a:ext cx="10668000" cy="685800"/>
            <a:chOff x="762000" y="5334000"/>
            <a:chExt cx="10668000" cy="685800"/>
          </a:xfrm>
        </p:grpSpPr>
        <p:sp>
          <p:nvSpPr>
            <p:cNvPr id="19" name="Rectangle 19"/>
            <p:cNvSpPr/>
            <p:nvPr/>
          </p:nvSpPr>
          <p:spPr>
            <a:xfrm>
              <a:off x="762000" y="5334000"/>
              <a:ext cx="10668000" cy="6858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138602" y="5572042"/>
              <a:ext cx="237165" cy="206458"/>
              <a:chOff x="1138602" y="5572042"/>
              <a:chExt cx="237165" cy="20645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38602" y="5572042"/>
                <a:ext cx="237165" cy="206458"/>
              </a:xfrm>
              <a:custGeom>
                <a:avLst/>
                <a:gdLst/>
                <a:ahLst/>
                <a:cxnLst/>
                <a:rect l="l" t="t" r="r" b="b"/>
                <a:pathLst>
                  <a:path w="237165" h="206458">
                    <a:moveTo>
                      <a:pt x="213947" y="112122"/>
                    </a:moveTo>
                    <a:lnTo>
                      <a:pt x="118697" y="206458"/>
                    </a:lnTo>
                    <a:lnTo>
                      <a:pt x="23448" y="112122"/>
                    </a:lnTo>
                    <a:cubicBezTo>
                      <a:pt x="6319" y="95455"/>
                      <a:pt x="0" y="70581"/>
                      <a:pt x="7096" y="47759"/>
                    </a:cubicBezTo>
                    <a:cubicBezTo>
                      <a:pt x="14192" y="24937"/>
                      <a:pt x="33502" y="8033"/>
                      <a:pt x="57061" y="4016"/>
                    </a:cubicBezTo>
                    <a:cubicBezTo>
                      <a:pt x="80621" y="0"/>
                      <a:pt x="104441" y="9552"/>
                      <a:pt x="118697" y="28734"/>
                    </a:cubicBezTo>
                    <a:cubicBezTo>
                      <a:pt x="133014" y="9694"/>
                      <a:pt x="156782" y="269"/>
                      <a:pt x="180257" y="4323"/>
                    </a:cubicBezTo>
                    <a:cubicBezTo>
                      <a:pt x="203731" y="8376"/>
                      <a:pt x="222962" y="25228"/>
                      <a:pt x="230063" y="47966"/>
                    </a:cubicBezTo>
                    <a:cubicBezTo>
                      <a:pt x="237165" y="70705"/>
                      <a:pt x="230942" y="95506"/>
                      <a:pt x="213947" y="112198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210521" y="5600700"/>
                <a:ext cx="142029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2029" h="82550">
                    <a:moveTo>
                      <a:pt x="46779" y="0"/>
                    </a:moveTo>
                    <a:lnTo>
                      <a:pt x="4958" y="41821"/>
                    </a:lnTo>
                    <a:cubicBezTo>
                      <a:pt x="0" y="46780"/>
                      <a:pt x="0" y="54819"/>
                      <a:pt x="4958" y="59779"/>
                    </a:cubicBezTo>
                    <a:lnTo>
                      <a:pt x="11854" y="66675"/>
                    </a:lnTo>
                    <a:cubicBezTo>
                      <a:pt x="20617" y="75438"/>
                      <a:pt x="34841" y="75438"/>
                      <a:pt x="43604" y="66675"/>
                    </a:cubicBezTo>
                    <a:lnTo>
                      <a:pt x="56304" y="53975"/>
                    </a:lnTo>
                    <a:cubicBezTo>
                      <a:pt x="72085" y="38194"/>
                      <a:pt x="97672" y="38194"/>
                      <a:pt x="113454" y="53975"/>
                    </a:cubicBezTo>
                    <a:lnTo>
                      <a:pt x="142029" y="8255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263650" y="57213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lnTo>
                      <a:pt x="25400" y="2540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95400" y="56896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lnTo>
                      <a:pt x="25400" y="2540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88770" y="5529262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这份成绩，属于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每一位没有退缩的人</a:t>
              </a:r>
            </a:p>
          </p:txBody>
        </p:sp>
      </p:grpSp>
      <p:grpSp>
        <p:nvGrpSpPr>
          <p:cNvPr id="29" name="p06-footer"/>
          <p:cNvGrpSpPr/>
          <p:nvPr/>
        </p:nvGrpSpPr>
        <p:grpSpPr>
          <a:xfrm>
            <a:off x="755904" y="6366510"/>
            <a:ext cx="10680192" cy="234696"/>
            <a:chOff x="755904" y="6366510"/>
            <a:chExt cx="106801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755904" y="63665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82732" y="6366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742950" y="912495"/>
            <a:ext cx="8531733" cy="1113472"/>
            <a:chOff x="742950" y="912495"/>
            <a:chExt cx="8531733" cy="1113472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912495"/>
              <a:ext cx="738835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正是那段日子，让我们脱胎换骨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0570" y="1585912"/>
              <a:ext cx="85241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「如今回头看，正是那段日子让我们脱胎换骨。」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——老板年度讲话原文</a:t>
              </a:r>
            </a:p>
          </p:txBody>
        </p:sp>
      </p:grpSp>
      <p:grpSp>
        <p:nvGrpSpPr>
          <p:cNvPr id="23" name="p07-timeline"/>
          <p:cNvGrpSpPr/>
          <p:nvPr/>
        </p:nvGrpSpPr>
        <p:grpSpPr>
          <a:xfrm>
            <a:off x="938784" y="2857500"/>
            <a:ext cx="10504932" cy="3094101"/>
            <a:chOff x="938784" y="2857500"/>
            <a:chExt cx="10504932" cy="3094101"/>
          </a:xfrm>
        </p:grpSpPr>
        <p:sp>
          <p:nvSpPr>
            <p:cNvPr id="5" name="Line 5"/>
            <p:cNvSpPr/>
            <p:nvPr/>
          </p:nvSpPr>
          <p:spPr>
            <a:xfrm>
              <a:off x="952500" y="2857500"/>
              <a:ext cx="10287000" cy="2190750"/>
            </a:xfrm>
            <a:custGeom>
              <a:avLst/>
              <a:gdLst/>
              <a:ahLst/>
              <a:cxnLst/>
              <a:rect l="l" t="t" r="r" b="b"/>
              <a:pathLst>
                <a:path w="10287000" h="2190750">
                  <a:moveTo>
                    <a:pt x="0" y="2190750"/>
                  </a:moveTo>
                  <a:lnTo>
                    <a:pt x="10287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9" name="p07-node-winter"/>
            <p:cNvGrpSpPr/>
            <p:nvPr/>
          </p:nvGrpSpPr>
          <p:grpSpPr>
            <a:xfrm>
              <a:off x="938784" y="4838700"/>
              <a:ext cx="1481328" cy="1112901"/>
              <a:chOff x="938784" y="4838700"/>
              <a:chExt cx="1481328" cy="1112901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438275" y="4838700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944880" y="51720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年初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38784" y="54235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行业寒冬</a:t>
                </a:r>
              </a:p>
            </p:txBody>
          </p:sp>
        </p:grpSp>
        <p:grpSp>
          <p:nvGrpSpPr>
            <p:cNvPr id="13" name="p07-node-cash"/>
            <p:cNvGrpSpPr/>
            <p:nvPr/>
          </p:nvGrpSpPr>
          <p:grpSpPr>
            <a:xfrm>
              <a:off x="3605784" y="3124200"/>
              <a:ext cx="2647171" cy="1123950"/>
              <a:chOff x="3605784" y="3124200"/>
              <a:chExt cx="2647171" cy="112395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4200525" y="4076700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611880" y="3124200"/>
                <a:ext cx="16609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最难月 · 账上现金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605784" y="3394710"/>
                <a:ext cx="264717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仅够 2 个月工资</a:t>
                </a:r>
              </a:p>
            </p:txBody>
          </p:sp>
        </p:grpSp>
        <p:grpSp>
          <p:nvGrpSpPr>
            <p:cNvPr id="17" name="p07-node-revenue"/>
            <p:cNvGrpSpPr/>
            <p:nvPr/>
          </p:nvGrpSpPr>
          <p:grpSpPr>
            <a:xfrm>
              <a:off x="6653784" y="3486150"/>
              <a:ext cx="2158989" cy="1084326"/>
              <a:chOff x="6653784" y="3486150"/>
              <a:chExt cx="2158989" cy="108432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6962775" y="3486150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659880" y="37909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全年营收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53784" y="4042410"/>
                <a:ext cx="215898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4.2亿 · +26%</a:t>
                </a:r>
              </a:p>
            </p:txBody>
          </p:sp>
        </p:grpSp>
        <p:grpSp>
          <p:nvGrpSpPr>
            <p:cNvPr id="22" name="p07-node-assets"/>
            <p:cNvGrpSpPr/>
            <p:nvPr/>
          </p:nvGrpSpPr>
          <p:grpSpPr>
            <a:xfrm>
              <a:off x="7231790" y="2886075"/>
              <a:ext cx="4211926" cy="2865501"/>
              <a:chOff x="7231790" y="2886075"/>
              <a:chExt cx="4211926" cy="2865501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705975" y="288607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614660" y="45720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今日家底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231790" y="4823460"/>
                <a:ext cx="421192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研发占比 14% · 专利 +18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80769" y="5223510"/>
                <a:ext cx="396294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员工 410 人 · 续约 91%</a:t>
                </a:r>
              </a:p>
            </p:txBody>
          </p:sp>
        </p:grpSp>
      </p:grpSp>
      <p:grpSp>
        <p:nvGrpSpPr>
          <p:cNvPr id="26" name="p07-footer"/>
          <p:cNvGrpSpPr/>
          <p:nvPr/>
        </p:nvGrpSpPr>
        <p:grpSpPr>
          <a:xfrm>
            <a:off x="755904" y="6366510"/>
            <a:ext cx="10680192" cy="234696"/>
            <a:chOff x="755904" y="6366510"/>
            <a:chExt cx="106801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755904" y="63665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82732" y="6366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8-header"/>
          <p:cNvGrpSpPr/>
          <p:nvPr/>
        </p:nvGrpSpPr>
        <p:grpSpPr>
          <a:xfrm>
            <a:off x="742950" y="1743075"/>
            <a:ext cx="8511540" cy="1559242"/>
            <a:chOff x="742950" y="1743075"/>
            <a:chExt cx="8511540" cy="1559242"/>
          </a:xfrm>
        </p:grpSpPr>
        <p:sp>
          <p:nvSpPr>
            <p:cNvPr id="2" name="TextBox 2"/>
            <p:cNvSpPr txBox="1"/>
            <p:nvPr/>
          </p:nvSpPr>
          <p:spPr>
            <a:xfrm>
              <a:off x="754380" y="1743075"/>
              <a:ext cx="1777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3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年会开场 · 收束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2950" y="2169795"/>
              <a:ext cx="6338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带着这份底气，走进新一年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0570" y="2862262"/>
              <a:ext cx="85039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我们最大的底气，是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没有退缩的团队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，和它挣出来的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每一个数字</a:t>
              </a:r>
            </a:p>
          </p:txBody>
        </p:sp>
      </p:grpSp>
      <p:grpSp>
        <p:nvGrpSpPr>
          <p:cNvPr id="18" name="p08-chips"/>
          <p:cNvGrpSpPr/>
          <p:nvPr/>
        </p:nvGrpSpPr>
        <p:grpSpPr>
          <a:xfrm>
            <a:off x="748284" y="3829050"/>
            <a:ext cx="10110216" cy="988695"/>
            <a:chOff x="748284" y="3829050"/>
            <a:chExt cx="10110216" cy="988695"/>
          </a:xfrm>
        </p:grpSpPr>
        <p:grpSp>
          <p:nvGrpSpPr>
            <p:cNvPr id="9" name="p08-chip-team"/>
            <p:cNvGrpSpPr/>
            <p:nvPr/>
          </p:nvGrpSpPr>
          <p:grpSpPr>
            <a:xfrm>
              <a:off x="748284" y="3829050"/>
              <a:ext cx="2871216" cy="988695"/>
              <a:chOff x="748284" y="3829050"/>
              <a:chExt cx="2871216" cy="988695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762000" y="38290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48284" y="4013835"/>
                <a:ext cx="109837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410 人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4380" y="45243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没有退缩</a:t>
                </a:r>
              </a:p>
            </p:txBody>
          </p:sp>
        </p:grpSp>
        <p:grpSp>
          <p:nvGrpSpPr>
            <p:cNvPr id="13" name="p08-chip-rd"/>
            <p:cNvGrpSpPr/>
            <p:nvPr/>
          </p:nvGrpSpPr>
          <p:grpSpPr>
            <a:xfrm>
              <a:off x="4367784" y="3829050"/>
              <a:ext cx="2871216" cy="988695"/>
              <a:chOff x="4367784" y="3829050"/>
              <a:chExt cx="2871216" cy="98869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4381500" y="38290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367784" y="4013835"/>
                <a:ext cx="75496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14%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73880" y="4524375"/>
                <a:ext cx="1862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研发占比 · 还在加码</a:t>
                </a:r>
              </a:p>
            </p:txBody>
          </p:sp>
        </p:grpSp>
        <p:grpSp>
          <p:nvGrpSpPr>
            <p:cNvPr id="17" name="p08-chip-renewal"/>
            <p:cNvGrpSpPr/>
            <p:nvPr/>
          </p:nvGrpSpPr>
          <p:grpSpPr>
            <a:xfrm>
              <a:off x="7987284" y="3829050"/>
              <a:ext cx="2871216" cy="988695"/>
              <a:chOff x="7987284" y="3829050"/>
              <a:chExt cx="2871216" cy="988695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8001000" y="38290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987284" y="4013835"/>
                <a:ext cx="75496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91%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93380" y="4524375"/>
                <a:ext cx="16609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续约率 · 客户同行</a:t>
                </a:r>
              </a:p>
            </p:txBody>
          </p:sp>
        </p:grpSp>
      </p:grpSp>
      <p:grpSp>
        <p:nvGrpSpPr>
          <p:cNvPr id="20" name="p08-cta"/>
          <p:cNvGrpSpPr/>
          <p:nvPr/>
        </p:nvGrpSpPr>
        <p:grpSpPr>
          <a:xfrm>
            <a:off x="750570" y="5357812"/>
            <a:ext cx="4263390" cy="440055"/>
            <a:chOff x="750570" y="5357812"/>
            <a:chExt cx="4263390" cy="440055"/>
          </a:xfrm>
        </p:grpSpPr>
        <p:sp>
          <p:nvSpPr>
            <p:cNvPr id="19" name="TextBox 19"/>
            <p:cNvSpPr txBox="1"/>
            <p:nvPr/>
          </p:nvSpPr>
          <p:spPr>
            <a:xfrm>
              <a:off x="750570" y="5357812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新的一年，继续一起，</a:t>
              </a: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逆势生长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8572500" y="4095750"/>
            <a:ext cx="2857500" cy="1905000"/>
          </a:xfrm>
          <a:custGeom>
            <a:avLst/>
            <a:gdLst/>
            <a:ahLst/>
            <a:cxnLst/>
            <a:rect l="l" t="t" r="r" b="b"/>
            <a:pathLst>
              <a:path w="2857500" h="1905000">
                <a:moveTo>
                  <a:pt x="0" y="190500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grpSp>
        <p:nvGrpSpPr>
          <p:cNvPr id="24" name="p08-footer"/>
          <p:cNvGrpSpPr/>
          <p:nvPr/>
        </p:nvGrpSpPr>
        <p:grpSpPr>
          <a:xfrm>
            <a:off x="755904" y="6366510"/>
            <a:ext cx="10680192" cy="234696"/>
            <a:chOff x="755904" y="6366510"/>
            <a:chExt cx="106801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755904" y="636651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年度大会 · 开场汇报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2732" y="6366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nnual_kickoff_2026">
  <a:themeElements>
    <a:clrScheme name="annual_kickoff_2026">
      <a:dk1>
        <a:srgbClr val="24303C"/>
      </a:dk1>
      <a:lt1>
        <a:srgbClr val="FFFFFF"/>
      </a:lt1>
      <a:dk2>
        <a:srgbClr val="1F497D"/>
      </a:dk2>
      <a:lt2>
        <a:srgbClr val="F2F4F7"/>
      </a:lt2>
      <a:accent1>
        <a:srgbClr val="0F3557"/>
      </a:accent1>
      <a:accent2>
        <a:srgbClr val="C9A24B"/>
      </a:accent2>
      <a:accent3>
        <a:srgbClr val="2E7D32"/>
      </a:accent3>
      <a:accent4>
        <a:srgbClr val="0F3557"/>
      </a:accent4>
      <a:accent5>
        <a:srgbClr val="5A6875"/>
      </a:accent5>
      <a:accent6>
        <a:srgbClr val="D8DEE5"/>
      </a:accent6>
      <a:hlink>
        <a:srgbClr val="C9A24B"/>
      </a:hlink>
      <a:folHlink>
        <a:srgbClr val="2E7D32"/>
      </a:folHlink>
    </a:clrScheme>
    <a:fontScheme name="annual_kickoff_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nual_kickoff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nual_kickoff_2026">
  <a:themeElements>
    <a:clrScheme name="annual_kickoff_2026">
      <a:dk1>
        <a:srgbClr val="24303C"/>
      </a:dk1>
      <a:lt1>
        <a:srgbClr val="FFFFFF"/>
      </a:lt1>
      <a:dk2>
        <a:srgbClr val="1F497D"/>
      </a:dk2>
      <a:lt2>
        <a:srgbClr val="F2F4F7"/>
      </a:lt2>
      <a:accent1>
        <a:srgbClr val="0F3557"/>
      </a:accent1>
      <a:accent2>
        <a:srgbClr val="C9A24B"/>
      </a:accent2>
      <a:accent3>
        <a:srgbClr val="2E7D32"/>
      </a:accent3>
      <a:accent4>
        <a:srgbClr val="0F3557"/>
      </a:accent4>
      <a:accent5>
        <a:srgbClr val="5A6875"/>
      </a:accent5>
      <a:accent6>
        <a:srgbClr val="D8DEE5"/>
      </a:accent6>
      <a:hlink>
        <a:srgbClr val="C9A24B"/>
      </a:hlink>
      <a:folHlink>
        <a:srgbClr val="2E7D32"/>
      </a:folHlink>
    </a:clrScheme>
    <a:fontScheme name="annual_kickoff_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nual_kickoff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2026-09-23T06:42:10Z</dcterms:created>
  <dcterms:modified xsi:type="dcterms:W3CDTF">2026-09-23T06:42:10Z</dcterms:modified>
  <cp:category/>
  <cp:contentStatus/>
</cp:coreProperties>
</file>