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aojiu_xiaoqu_huiba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aojiu_xiaoqu_huiba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red-column"/>
          <p:cNvSpPr/>
          <p:nvPr/>
        </p:nvSpPr>
        <p:spPr>
          <a:xfrm>
            <a:off x="8763000" y="0"/>
            <a:ext cx="3429000" cy="6858000"/>
          </a:xfrm>
          <a:prstGeom prst="rect">
            <a:avLst/>
          </a:prstGeom>
          <a:solidFill>
            <a:srgbClr val="A32126"/>
          </a:solidFill>
          <a:ln>
            <a:noFill/>
          </a:ln>
        </p:spPr>
      </p:sp>
      <p:grpSp>
        <p:nvGrpSpPr>
          <p:cNvPr id="4" name="cover-side-title"/>
          <p:cNvGrpSpPr/>
          <p:nvPr/>
        </p:nvGrpSpPr>
        <p:grpSpPr>
          <a:xfrm>
            <a:off x="10210800" y="645795"/>
            <a:ext cx="533400" cy="5829300"/>
            <a:chOff x="10210800" y="645795"/>
            <a:chExt cx="533400" cy="5829300"/>
          </a:xfrm>
        </p:grpSpPr>
        <p:sp>
          <p:nvSpPr>
            <p:cNvPr id="3" name="TextBox 3"/>
            <p:cNvSpPr txBox="1"/>
            <p:nvPr/>
          </p:nvSpPr>
          <p:spPr>
            <a:xfrm>
              <a:off x="10210800" y="645795"/>
              <a:ext cx="533400" cy="5829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5700"/>
                </a:lnSpc>
              </a:pPr>
              <a:r>
                <a:rPr lang="zh-CN" sz="39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城</a:t>
              </a:r>
              <a:br/>
              <a:r>
                <a:rPr lang="zh-CN" sz="39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镇</a:t>
              </a:r>
              <a:br/>
              <a:r>
                <a:rPr lang="zh-CN" sz="39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老</a:t>
              </a:r>
              <a:br/>
              <a:r>
                <a:rPr lang="zh-CN" sz="39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旧</a:t>
              </a:r>
              <a:br/>
              <a:r>
                <a:rPr lang="zh-CN" sz="39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小</a:t>
              </a:r>
              <a:br/>
              <a:r>
                <a:rPr lang="zh-CN" sz="39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区</a:t>
              </a:r>
              <a:br/>
              <a:r>
                <a:rPr lang="zh-CN" sz="39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改</a:t>
              </a:r>
              <a:br/>
              <a:r>
                <a:rPr lang="zh-CN" sz="39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造</a:t>
              </a:r>
            </a:p>
          </p:txBody>
        </p:sp>
      </p:grpSp>
      <p:grpSp>
        <p:nvGrpSpPr>
          <p:cNvPr id="6" name="cover-kicker"/>
          <p:cNvGrpSpPr/>
          <p:nvPr/>
        </p:nvGrpSpPr>
        <p:grpSpPr>
          <a:xfrm>
            <a:off x="678180" y="1266825"/>
            <a:ext cx="1630680" cy="293370"/>
            <a:chOff x="678180" y="1266825"/>
            <a:chExt cx="1630680" cy="293370"/>
          </a:xfrm>
        </p:grpSpPr>
        <p:sp>
          <p:nvSpPr>
            <p:cNvPr id="5" name="TextBox 5"/>
            <p:cNvSpPr txBox="1"/>
            <p:nvPr/>
          </p:nvSpPr>
          <p:spPr>
            <a:xfrm>
              <a:off x="678180" y="12668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600" dirty="0">
                  <a:solidFill>
                    <a:srgbClr val="A32126"/>
                  </a:solidFill>
                  <a:latin typeface="+mj-lt"/>
                  <a:ea typeface="+mj-ea"/>
                  <a:cs typeface="+mj-cs"/>
                </a:rPr>
                <a:t>专项工作汇报</a:t>
              </a:r>
            </a:p>
          </p:txBody>
        </p:sp>
      </p:grpSp>
      <p:grpSp>
        <p:nvGrpSpPr>
          <p:cNvPr id="8" name="cover-title"/>
          <p:cNvGrpSpPr/>
          <p:nvPr/>
        </p:nvGrpSpPr>
        <p:grpSpPr>
          <a:xfrm>
            <a:off x="666750" y="2339340"/>
            <a:ext cx="6499860" cy="933450"/>
            <a:chOff x="666750" y="2339340"/>
            <a:chExt cx="6499860" cy="933450"/>
          </a:xfrm>
        </p:grpSpPr>
        <p:sp>
          <p:nvSpPr>
            <p:cNvPr id="7" name="TextBox 7"/>
            <p:cNvSpPr txBox="1"/>
            <p:nvPr/>
          </p:nvSpPr>
          <p:spPr>
            <a:xfrm>
              <a:off x="666750" y="2339340"/>
              <a:ext cx="649986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>
                  <a:solidFill>
                    <a:srgbClr val="262626"/>
                  </a:solidFill>
                  <a:latin typeface="+mj-lt"/>
                  <a:ea typeface="+mj-ea"/>
                  <a:cs typeface="+mj-cs"/>
                </a:rPr>
                <a:t>老旧小区改造工作汇报</a:t>
              </a:r>
            </a:p>
          </p:txBody>
        </p:sp>
      </p:grpSp>
      <p:grpSp>
        <p:nvGrpSpPr>
          <p:cNvPr id="12" name="cover-subtitle"/>
          <p:cNvGrpSpPr/>
          <p:nvPr/>
        </p:nvGrpSpPr>
        <p:grpSpPr>
          <a:xfrm>
            <a:off x="674370" y="3300412"/>
            <a:ext cx="4503420" cy="1123189"/>
            <a:chOff x="674370" y="3300412"/>
            <a:chExt cx="4503420" cy="1123189"/>
          </a:xfrm>
        </p:grpSpPr>
        <p:sp>
          <p:nvSpPr>
            <p:cNvPr id="9" name="TextBox 9"/>
            <p:cNvSpPr txBox="1"/>
            <p:nvPr/>
          </p:nvSpPr>
          <p:spPr>
            <a:xfrm>
              <a:off x="674370" y="3300412"/>
              <a:ext cx="45034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汇报单位：市住房和城乡建设局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4370" y="3700462"/>
              <a:ext cx="38633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汇报时间：二〇二六年九月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942" y="4159568"/>
              <a:ext cx="36621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+mn-lt"/>
                  <a:ea typeface="+mn-ea"/>
                  <a:cs typeface="+mn-cs"/>
                </a:rPr>
                <a:t>（供市政府老旧小区改造工作评审组审议）</a:t>
              </a:r>
            </a:p>
          </p:txBody>
        </p:sp>
      </p:grpSp>
      <p:grpSp>
        <p:nvGrpSpPr>
          <p:cNvPr id="27" name="cover-metrics"/>
          <p:cNvGrpSpPr/>
          <p:nvPr/>
        </p:nvGrpSpPr>
        <p:grpSpPr>
          <a:xfrm>
            <a:off x="670560" y="5391150"/>
            <a:ext cx="6760159" cy="1019556"/>
            <a:chOff x="670560" y="5391150"/>
            <a:chExt cx="6760159" cy="1019556"/>
          </a:xfrm>
        </p:grpSpPr>
        <p:grpSp>
          <p:nvGrpSpPr>
            <p:cNvPr id="16" name="cover-metric-1"/>
            <p:cNvGrpSpPr/>
            <p:nvPr/>
          </p:nvGrpSpPr>
          <p:grpSpPr>
            <a:xfrm>
              <a:off x="670560" y="5429250"/>
              <a:ext cx="1175665" cy="981456"/>
              <a:chOff x="670560" y="5429250"/>
              <a:chExt cx="1175665" cy="981456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670560" y="5429250"/>
                <a:ext cx="1175665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dirty="0">
                    <a:solidFill>
                      <a:srgbClr val="A32126"/>
                    </a:solidFill>
                    <a:latin typeface="Arial"/>
                    <a:ea typeface="Arial"/>
                    <a:cs typeface="Arial"/>
                  </a:rPr>
                  <a:t>92.6%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78942" y="59121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rPr>
                  <a:t>年度完工率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79704" y="6176010"/>
                <a:ext cx="10448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C8C8C"/>
                    </a:solidFill>
                    <a:latin typeface="+mn-lt"/>
                    <a:ea typeface="+mn-ea"/>
                    <a:cs typeface="+mn-cs"/>
                  </a:rPr>
                  <a:t>63÷68 个小区</a:t>
                </a:r>
              </a:p>
            </p:txBody>
          </p:sp>
        </p:grpSp>
        <p:grpSp>
          <p:nvGrpSpPr>
            <p:cNvPr id="20" name="cover-metric-2"/>
            <p:cNvGrpSpPr/>
            <p:nvPr/>
          </p:nvGrpSpPr>
          <p:grpSpPr>
            <a:xfrm>
              <a:off x="3280410" y="5429250"/>
              <a:ext cx="1258824" cy="981456"/>
              <a:chOff x="3280410" y="5429250"/>
              <a:chExt cx="1258824" cy="981456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3280410" y="5429250"/>
                <a:ext cx="1175665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dirty="0">
                    <a:solidFill>
                      <a:srgbClr val="A32126"/>
                    </a:solidFill>
                    <a:latin typeface="Arial"/>
                    <a:ea typeface="Arial"/>
                    <a:cs typeface="Arial"/>
                  </a:rPr>
                  <a:t>85.3%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288792" y="59121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rPr>
                  <a:t>资金到位率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289554" y="6176010"/>
                <a:ext cx="12496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C8C8C"/>
                    </a:solidFill>
                    <a:latin typeface="+mn-lt"/>
                    <a:ea typeface="+mn-ea"/>
                    <a:cs typeface="+mn-cs"/>
                  </a:rPr>
                  <a:t>3.65÷4.28 亿元</a:t>
                </a:r>
              </a:p>
            </p:txBody>
          </p:sp>
        </p:grpSp>
        <p:grpSp>
          <p:nvGrpSpPr>
            <p:cNvPr id="24" name="cover-metric-3"/>
            <p:cNvGrpSpPr/>
            <p:nvPr/>
          </p:nvGrpSpPr>
          <p:grpSpPr>
            <a:xfrm>
              <a:off x="5890260" y="5429250"/>
              <a:ext cx="1540459" cy="981456"/>
              <a:chOff x="5890260" y="5429250"/>
              <a:chExt cx="1540459" cy="981456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5890260" y="5429250"/>
                <a:ext cx="1175665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dirty="0">
                    <a:solidFill>
                      <a:srgbClr val="A32126"/>
                    </a:solidFill>
                    <a:latin typeface="Arial"/>
                    <a:ea typeface="Arial"/>
                    <a:cs typeface="Arial"/>
                  </a:rPr>
                  <a:t>91.2%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898642" y="591216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rPr>
                  <a:t>居民总体满意率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899404" y="6176010"/>
                <a:ext cx="153131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C8C8C"/>
                    </a:solidFill>
                    <a:latin typeface="+mn-lt"/>
                    <a:ea typeface="+mn-ea"/>
                    <a:cs typeface="+mn-cs"/>
                  </a:rPr>
                  <a:t>有效样本 11,962 份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3048000" y="5391150"/>
              <a:ext cx="9525" cy="819150"/>
            </a:xfrm>
            <a:custGeom>
              <a:avLst/>
              <a:gdLst/>
              <a:ahLst/>
              <a:cxnLst/>
              <a:rect l="l" t="t" r="r" b="b"/>
              <a:pathLst>
                <a:path w="9525" h="819150">
                  <a:moveTo>
                    <a:pt x="0" y="0"/>
                  </a:moveTo>
                  <a:lnTo>
                    <a:pt x="0" y="81915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5657850" y="5391150"/>
              <a:ext cx="9525" cy="819150"/>
            </a:xfrm>
            <a:custGeom>
              <a:avLst/>
              <a:gdLst/>
              <a:ahLst/>
              <a:cxnLst/>
              <a:rect l="l" t="t" r="r" b="b"/>
              <a:pathLst>
                <a:path w="9525" h="819150">
                  <a:moveTo>
                    <a:pt x="0" y="0"/>
                  </a:moveTo>
                  <a:lnTo>
                    <a:pt x="0" y="81915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70560" y="552450"/>
            <a:ext cx="10835640" cy="720090"/>
            <a:chOff x="670560" y="552450"/>
            <a:chExt cx="10835640" cy="720090"/>
          </a:xfrm>
        </p:grpSpPr>
        <p:sp>
          <p:nvSpPr>
            <p:cNvPr id="2" name="Rectangle 2"/>
            <p:cNvSpPr/>
            <p:nvPr/>
          </p:nvSpPr>
          <p:spPr>
            <a:xfrm>
              <a:off x="685800" y="552450"/>
              <a:ext cx="419100" cy="76200"/>
            </a:xfrm>
            <a:prstGeom prst="rect">
              <a:avLst/>
            </a:prstGeom>
            <a:solidFill>
              <a:srgbClr val="A32126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0560" y="68580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262626"/>
                  </a:solidFill>
                  <a:latin typeface="+mj-lt"/>
                  <a:ea typeface="+mj-ea"/>
                  <a:cs typeface="+mj-cs"/>
                </a:rPr>
                <a:t>汇报提纲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257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</p:grpSp>
      <p:grpSp>
        <p:nvGrpSpPr>
          <p:cNvPr id="10" name="toc-row-1"/>
          <p:cNvGrpSpPr/>
          <p:nvPr/>
        </p:nvGrpSpPr>
        <p:grpSpPr>
          <a:xfrm>
            <a:off x="673608" y="1676400"/>
            <a:ext cx="10839450" cy="724662"/>
            <a:chOff x="673608" y="1676400"/>
            <a:chExt cx="10839450" cy="724662"/>
          </a:xfrm>
        </p:grpSpPr>
        <p:sp>
          <p:nvSpPr>
            <p:cNvPr id="6" name="Line 6"/>
            <p:cNvSpPr/>
            <p:nvPr/>
          </p:nvSpPr>
          <p:spPr>
            <a:xfrm>
              <a:off x="685800" y="1676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3608" y="1931670"/>
              <a:ext cx="3837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A32126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12570" y="1947862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262626"/>
                  </a:solidFill>
                  <a:latin typeface="+mj-lt"/>
                  <a:ea typeface="+mj-ea"/>
                  <a:cs typeface="+mj-cs"/>
                </a:rPr>
                <a:t>改造任务完成情况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17357" y="2045018"/>
              <a:ext cx="3095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95959"/>
                  </a:solidFill>
                  <a:latin typeface="+mn-lt"/>
                  <a:ea typeface="+mn-ea"/>
                  <a:cs typeface="+mn-cs"/>
                </a:rPr>
                <a:t>完工率 92.6%，惠及居民 3.86 万户</a:t>
              </a:r>
            </a:p>
          </p:txBody>
        </p:sp>
      </p:grpSp>
      <p:grpSp>
        <p:nvGrpSpPr>
          <p:cNvPr id="15" name="toc-row-2"/>
          <p:cNvGrpSpPr/>
          <p:nvPr/>
        </p:nvGrpSpPr>
        <p:grpSpPr>
          <a:xfrm>
            <a:off x="673608" y="2514600"/>
            <a:ext cx="10839450" cy="724662"/>
            <a:chOff x="673608" y="2514600"/>
            <a:chExt cx="10839450" cy="724662"/>
          </a:xfrm>
        </p:grpSpPr>
        <p:sp>
          <p:nvSpPr>
            <p:cNvPr id="11" name="Line 11"/>
            <p:cNvSpPr/>
            <p:nvPr/>
          </p:nvSpPr>
          <p:spPr>
            <a:xfrm>
              <a:off x="685800" y="251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3608" y="2769870"/>
              <a:ext cx="3837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A32126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2570" y="2786062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262626"/>
                  </a:solidFill>
                  <a:latin typeface="+mj-lt"/>
                  <a:ea typeface="+mj-ea"/>
                  <a:cs typeface="+mj-cs"/>
                </a:rPr>
                <a:t>资金使用情况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07018" y="2883218"/>
              <a:ext cx="26060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95959"/>
                  </a:solidFill>
                  <a:latin typeface="+mn-lt"/>
                  <a:ea typeface="+mn-ea"/>
                  <a:cs typeface="+mn-cs"/>
                </a:rPr>
                <a:t>到位率 85.3%，支付率 78.6%</a:t>
              </a:r>
            </a:p>
          </p:txBody>
        </p:sp>
      </p:grpSp>
      <p:grpSp>
        <p:nvGrpSpPr>
          <p:cNvPr id="20" name="toc-row-3"/>
          <p:cNvGrpSpPr/>
          <p:nvPr/>
        </p:nvGrpSpPr>
        <p:grpSpPr>
          <a:xfrm>
            <a:off x="673608" y="3352800"/>
            <a:ext cx="10839450" cy="724662"/>
            <a:chOff x="673608" y="3352800"/>
            <a:chExt cx="10839450" cy="724662"/>
          </a:xfrm>
        </p:grpSpPr>
        <p:sp>
          <p:nvSpPr>
            <p:cNvPr id="16" name="Line 16"/>
            <p:cNvSpPr/>
            <p:nvPr/>
          </p:nvSpPr>
          <p:spPr>
            <a:xfrm>
              <a:off x="685800" y="3352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3608" y="3608070"/>
              <a:ext cx="3837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A32126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12570" y="3624262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262626"/>
                  </a:solidFill>
                  <a:latin typeface="+mj-lt"/>
                  <a:ea typeface="+mj-ea"/>
                  <a:cs typeface="+mj-cs"/>
                </a:rPr>
                <a:t>居民满意度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55024" y="37214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95959"/>
                  </a:solidFill>
                  <a:latin typeface="+mn-lt"/>
                  <a:ea typeface="+mn-ea"/>
                  <a:cs typeface="+mn-cs"/>
                </a:rPr>
                <a:t>总体满意率 91.2%，五个分项</a:t>
              </a:r>
            </a:p>
          </p:txBody>
        </p:sp>
      </p:grpSp>
      <p:grpSp>
        <p:nvGrpSpPr>
          <p:cNvPr id="25" name="toc-row-4"/>
          <p:cNvGrpSpPr/>
          <p:nvPr/>
        </p:nvGrpSpPr>
        <p:grpSpPr>
          <a:xfrm>
            <a:off x="673608" y="4191000"/>
            <a:ext cx="10839450" cy="724662"/>
            <a:chOff x="673608" y="4191000"/>
            <a:chExt cx="10839450" cy="724662"/>
          </a:xfrm>
        </p:grpSpPr>
        <p:sp>
          <p:nvSpPr>
            <p:cNvPr id="21" name="Line 21"/>
            <p:cNvSpPr/>
            <p:nvPr/>
          </p:nvSpPr>
          <p:spPr>
            <a:xfrm>
              <a:off x="685800" y="4191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3608" y="4446270"/>
              <a:ext cx="3837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A32126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12570" y="446246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262626"/>
                  </a:solidFill>
                  <a:latin typeface="+mj-lt"/>
                  <a:ea typeface="+mj-ea"/>
                  <a:cs typeface="+mj-cs"/>
                </a:rPr>
                <a:t>存在问题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39810" y="4559618"/>
              <a:ext cx="2673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95959"/>
                  </a:solidFill>
                  <a:latin typeface="+mn-lt"/>
                  <a:ea typeface="+mn-ea"/>
                  <a:cs typeface="+mn-cs"/>
                </a:rPr>
                <a:t>4 项，与前三部分数据逐项对应</a:t>
              </a:r>
            </a:p>
          </p:txBody>
        </p:sp>
      </p:grpSp>
      <p:grpSp>
        <p:nvGrpSpPr>
          <p:cNvPr id="31" name="toc-row-5"/>
          <p:cNvGrpSpPr/>
          <p:nvPr/>
        </p:nvGrpSpPr>
        <p:grpSpPr>
          <a:xfrm>
            <a:off x="673608" y="5029200"/>
            <a:ext cx="10839450" cy="847725"/>
            <a:chOff x="673608" y="5029200"/>
            <a:chExt cx="10839450" cy="847725"/>
          </a:xfrm>
        </p:grpSpPr>
        <p:sp>
          <p:nvSpPr>
            <p:cNvPr id="26" name="Line 26"/>
            <p:cNvSpPr/>
            <p:nvPr/>
          </p:nvSpPr>
          <p:spPr>
            <a:xfrm>
              <a:off x="685800" y="5029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685800" y="5867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3608" y="5284470"/>
              <a:ext cx="3837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A32126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12570" y="5300662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262626"/>
                  </a:solidFill>
                  <a:latin typeface="+mj-lt"/>
                  <a:ea typeface="+mj-ea"/>
                  <a:cs typeface="+mj-cs"/>
                </a:rPr>
                <a:t>下一步计划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31834" y="5397818"/>
              <a:ext cx="24812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95959"/>
                  </a:solidFill>
                  <a:latin typeface="+mn-lt"/>
                  <a:ea typeface="+mn-ea"/>
                  <a:cs typeface="+mn-cs"/>
                </a:rPr>
                <a:t>4 项整改措施，逐条对应问题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312347" y="6442710"/>
            <a:ext cx="1999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C8C8C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70560" y="552450"/>
            <a:ext cx="10835640" cy="720090"/>
            <a:chOff x="670560" y="552450"/>
            <a:chExt cx="10835640" cy="720090"/>
          </a:xfrm>
        </p:grpSpPr>
        <p:sp>
          <p:nvSpPr>
            <p:cNvPr id="2" name="Rectangle 2"/>
            <p:cNvSpPr/>
            <p:nvPr/>
          </p:nvSpPr>
          <p:spPr>
            <a:xfrm>
              <a:off x="685800" y="552450"/>
              <a:ext cx="419100" cy="76200"/>
            </a:xfrm>
            <a:prstGeom prst="rect">
              <a:avLst/>
            </a:prstGeom>
            <a:solidFill>
              <a:srgbClr val="A32126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0560" y="685800"/>
              <a:ext cx="40690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262626"/>
                  </a:solidFill>
                  <a:latin typeface="+mj-lt"/>
                  <a:ea typeface="+mj-ea"/>
                  <a:cs typeface="+mj-cs"/>
                </a:rPr>
                <a:t>一、改造任务完成情况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257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</p:grpSp>
      <p:grpSp>
        <p:nvGrpSpPr>
          <p:cNvPr id="27" name="section-overview"/>
          <p:cNvGrpSpPr/>
          <p:nvPr/>
        </p:nvGrpSpPr>
        <p:grpSpPr>
          <a:xfrm>
            <a:off x="666750" y="1433512"/>
            <a:ext cx="10016185" cy="1605344"/>
            <a:chOff x="666750" y="1433512"/>
            <a:chExt cx="10016185" cy="1605344"/>
          </a:xfrm>
        </p:grpSpPr>
        <p:sp>
          <p:nvSpPr>
            <p:cNvPr id="6" name="TextBox 6"/>
            <p:cNvSpPr txBox="1"/>
            <p:nvPr/>
          </p:nvSpPr>
          <p:spPr>
            <a:xfrm>
              <a:off x="674370" y="1433512"/>
              <a:ext cx="29032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（一）总体完成情况</a:t>
              </a:r>
            </a:p>
          </p:txBody>
        </p:sp>
        <p:grpSp>
          <p:nvGrpSpPr>
            <p:cNvPr id="11" name="kpi-plan"/>
            <p:cNvGrpSpPr/>
            <p:nvPr/>
          </p:nvGrpSpPr>
          <p:grpSpPr>
            <a:xfrm>
              <a:off x="666750" y="1828800"/>
              <a:ext cx="1493063" cy="1210056"/>
              <a:chOff x="666750" y="1828800"/>
              <a:chExt cx="1493063" cy="1210056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85800" y="1828800"/>
                <a:ext cx="342900" cy="57150"/>
              </a:xfrm>
              <a:prstGeom prst="rect">
                <a:avLst/>
              </a:prstGeom>
              <a:solidFill>
                <a:srgbClr val="A32126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666750" y="1965960"/>
                <a:ext cx="999897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dirty="0">
                    <a:solidFill>
                      <a:srgbClr val="262626"/>
                    </a:solidFill>
                    <a:latin typeface="Arial"/>
                    <a:ea typeface="Arial"/>
                    <a:cs typeface="Arial"/>
                  </a:rPr>
                  <a:t>68</a:t>
                </a:r>
                <a:r>
                  <a:rPr lang="zh-CN" sz="1800" dirty="0">
                    <a:solidFill>
                      <a:srgbClr val="595959"/>
                    </a:solidFill>
                    <a:latin typeface="+mn-lt"/>
                    <a:ea typeface="+mn-ea"/>
                    <a:cs typeface="+mn-cs"/>
                  </a:rPr>
                  <a:t xml:space="preserve"> 个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78180" y="254317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rPr>
                  <a:t>计划改造小区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79704" y="2804160"/>
                <a:ext cx="148010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C8C8C"/>
                    </a:solidFill>
                    <a:latin typeface="+mn-lt"/>
                    <a:ea typeface="+mn-ea"/>
                    <a:cs typeface="+mn-cs"/>
                  </a:rPr>
                  <a:t>326 栋 · 3.86 万户</a:t>
                </a:r>
              </a:p>
            </p:txBody>
          </p:sp>
        </p:grpSp>
        <p:grpSp>
          <p:nvGrpSpPr>
            <p:cNvPr id="16" name="kpi-done"/>
            <p:cNvGrpSpPr/>
            <p:nvPr/>
          </p:nvGrpSpPr>
          <p:grpSpPr>
            <a:xfrm>
              <a:off x="3448050" y="1828800"/>
              <a:ext cx="1091946" cy="1210056"/>
              <a:chOff x="3448050" y="1828800"/>
              <a:chExt cx="1091946" cy="1210056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467100" y="1828800"/>
                <a:ext cx="342900" cy="57150"/>
              </a:xfrm>
              <a:prstGeom prst="rect">
                <a:avLst/>
              </a:prstGeom>
              <a:solidFill>
                <a:srgbClr val="A32126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448050" y="1965960"/>
                <a:ext cx="999897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dirty="0">
                    <a:solidFill>
                      <a:srgbClr val="262626"/>
                    </a:solidFill>
                    <a:latin typeface="Arial"/>
                    <a:ea typeface="Arial"/>
                    <a:cs typeface="Arial"/>
                  </a:rPr>
                  <a:t>63</a:t>
                </a:r>
                <a:r>
                  <a:rPr lang="zh-CN" sz="1800" dirty="0">
                    <a:solidFill>
                      <a:srgbClr val="595959"/>
                    </a:solidFill>
                    <a:latin typeface="+mn-lt"/>
                    <a:ea typeface="+mn-ea"/>
                    <a:cs typeface="+mn-cs"/>
                  </a:rPr>
                  <a:t xml:space="preserve"> 个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459480" y="2543175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rPr>
                  <a:t>已完工小区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461004" y="2804160"/>
                <a:ext cx="107899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C8C8C"/>
                    </a:solidFill>
                    <a:latin typeface="+mn-lt"/>
                    <a:ea typeface="+mn-ea"/>
                    <a:cs typeface="+mn-cs"/>
                  </a:rPr>
                  <a:t>占计划 92.6%</a:t>
                </a:r>
              </a:p>
            </p:txBody>
          </p:sp>
        </p:grpSp>
        <p:grpSp>
          <p:nvGrpSpPr>
            <p:cNvPr id="21" name="kpi-rate"/>
            <p:cNvGrpSpPr/>
            <p:nvPr/>
          </p:nvGrpSpPr>
          <p:grpSpPr>
            <a:xfrm>
              <a:off x="6229350" y="1828800"/>
              <a:ext cx="1641360" cy="1210056"/>
              <a:chOff x="6229350" y="1828800"/>
              <a:chExt cx="1641360" cy="1210056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248400" y="1828800"/>
                <a:ext cx="342900" cy="57150"/>
              </a:xfrm>
              <a:prstGeom prst="rect">
                <a:avLst/>
              </a:prstGeom>
              <a:solidFill>
                <a:srgbClr val="A32126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229350" y="1965960"/>
                <a:ext cx="1641360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dirty="0">
                    <a:solidFill>
                      <a:srgbClr val="A32126"/>
                    </a:solidFill>
                    <a:latin typeface="Arial"/>
                    <a:ea typeface="Arial"/>
                    <a:cs typeface="Arial"/>
                  </a:rPr>
                  <a:t>92.6%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240780" y="2543175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rPr>
                  <a:t>年度完工率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242304" y="2804160"/>
                <a:ext cx="102778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C8C8C"/>
                    </a:solidFill>
                    <a:latin typeface="+mn-lt"/>
                    <a:ea typeface="+mn-ea"/>
                    <a:cs typeface="+mn-cs"/>
                  </a:rPr>
                  <a:t>63 个 ÷ 68 个</a:t>
                </a:r>
              </a:p>
            </p:txBody>
          </p:sp>
        </p:grpSp>
        <p:grpSp>
          <p:nvGrpSpPr>
            <p:cNvPr id="26" name="kpi-ongoing"/>
            <p:cNvGrpSpPr/>
            <p:nvPr/>
          </p:nvGrpSpPr>
          <p:grpSpPr>
            <a:xfrm>
              <a:off x="9010650" y="1828800"/>
              <a:ext cx="1672285" cy="1210056"/>
              <a:chOff x="9010650" y="1828800"/>
              <a:chExt cx="1672285" cy="1210056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9029700" y="1828800"/>
                <a:ext cx="342900" cy="57150"/>
              </a:xfrm>
              <a:prstGeom prst="rect">
                <a:avLst/>
              </a:prstGeom>
              <a:solidFill>
                <a:srgbClr val="A32126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010650" y="1965960"/>
                <a:ext cx="685419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dirty="0">
                    <a:solidFill>
                      <a:srgbClr val="262626"/>
                    </a:solidFill>
                    <a:latin typeface="Arial"/>
                    <a:ea typeface="Arial"/>
                    <a:cs typeface="Arial"/>
                  </a:rPr>
                  <a:t>5</a:t>
                </a:r>
                <a:r>
                  <a:rPr lang="zh-CN" sz="1800" dirty="0">
                    <a:solidFill>
                      <a:srgbClr val="595959"/>
                    </a:solidFill>
                    <a:latin typeface="+mn-lt"/>
                    <a:ea typeface="+mn-ea"/>
                    <a:cs typeface="+mn-cs"/>
                  </a:rPr>
                  <a:t xml:space="preserve"> 个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022080" y="254317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rPr>
                  <a:t>在建小区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023604" y="2804160"/>
                <a:ext cx="165933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C8C8C"/>
                    </a:solidFill>
                    <a:latin typeface="+mn-lt"/>
                    <a:ea typeface="+mn-ea"/>
                    <a:cs typeface="+mn-cs"/>
                  </a:rPr>
                  <a:t>2027 年 6 月底前完工</a:t>
                </a:r>
              </a:p>
            </p:txBody>
          </p:sp>
        </p:grpSp>
      </p:grpSp>
      <p:grpSp>
        <p:nvGrpSpPr>
          <p:cNvPr id="44" name="task-completion"/>
          <p:cNvGrpSpPr/>
          <p:nvPr/>
        </p:nvGrpSpPr>
        <p:grpSpPr>
          <a:xfrm>
            <a:off x="674370" y="3262312"/>
            <a:ext cx="9488864" cy="2138744"/>
            <a:chOff x="674370" y="3262312"/>
            <a:chExt cx="9488864" cy="2138744"/>
          </a:xfrm>
        </p:grpSpPr>
        <p:sp>
          <p:nvSpPr>
            <p:cNvPr id="28" name="TextBox 28"/>
            <p:cNvSpPr txBox="1"/>
            <p:nvPr/>
          </p:nvSpPr>
          <p:spPr>
            <a:xfrm>
              <a:off x="674370" y="3262312"/>
              <a:ext cx="41833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（二）分类改造内容完成进度</a:t>
              </a:r>
            </a:p>
          </p:txBody>
        </p:sp>
        <p:grpSp>
          <p:nvGrpSpPr>
            <p:cNvPr id="43" name="task-completion-chartArea"/>
            <p:cNvGrpSpPr/>
            <p:nvPr/>
          </p:nvGrpSpPr>
          <p:grpSpPr>
            <a:xfrm>
              <a:off x="677418" y="3657600"/>
              <a:ext cx="9485816" cy="1743456"/>
              <a:chOff x="677418" y="3657600"/>
              <a:chExt cx="9485816" cy="1743456"/>
            </a:xfrm>
          </p:grpSpPr>
          <p:sp>
            <p:nvSpPr>
              <p:cNvPr id="29" name="Line 29"/>
              <p:cNvSpPr/>
              <p:nvPr/>
            </p:nvSpPr>
            <p:spPr>
              <a:xfrm>
                <a:off x="9334500" y="3657600"/>
                <a:ext cx="9525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0">
                    <a:moveTo>
                      <a:pt x="0" y="0"/>
                    </a:moveTo>
                    <a:lnTo>
                      <a:pt x="0" y="1428750"/>
                    </a:lnTo>
                  </a:path>
                </a:pathLst>
              </a:custGeom>
              <a:noFill/>
              <a:ln w="9525">
                <a:solidFill>
                  <a:srgbClr val="BFBFBF"/>
                </a:solidFill>
                <a:prstDash val="dash"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9123578" y="5166360"/>
                <a:ext cx="42184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595959"/>
                    </a:solidFill>
                    <a:latin typeface="+mn-lt"/>
                    <a:ea typeface="+mn-ea"/>
                    <a:cs typeface="+mn-cs"/>
                  </a:rPr>
                  <a:t>100%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77418" y="3727132"/>
                <a:ext cx="236372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基础类（管网更新等）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4000500" y="3771900"/>
                <a:ext cx="5334000" cy="171450"/>
              </a:xfrm>
              <a:prstGeom prst="rect">
                <a:avLst/>
              </a:prstGeom>
              <a:solidFill>
                <a:srgbClr val="E5E5E5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4000500" y="3771900"/>
                <a:ext cx="5099685" cy="171450"/>
              </a:xfrm>
              <a:prstGeom prst="rect">
                <a:avLst/>
              </a:prstGeom>
              <a:solidFill>
                <a:srgbClr val="A32126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9516618" y="3727132"/>
                <a:ext cx="64661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A32126"/>
                    </a:solidFill>
                    <a:latin typeface="Arial"/>
                    <a:ea typeface="Arial"/>
                    <a:cs typeface="Arial"/>
                  </a:rPr>
                  <a:t>95.6%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77418" y="4260532"/>
                <a:ext cx="236372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完善类（加装电梯等）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4000500" y="4305300"/>
                <a:ext cx="5334000" cy="171450"/>
              </a:xfrm>
              <a:prstGeom prst="rect">
                <a:avLst/>
              </a:prstGeom>
              <a:solidFill>
                <a:srgbClr val="E5E5E5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4000500" y="4305300"/>
                <a:ext cx="4704398" cy="171450"/>
              </a:xfrm>
              <a:prstGeom prst="rect">
                <a:avLst/>
              </a:prstGeom>
              <a:solidFill>
                <a:srgbClr val="A32126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9516618" y="4260532"/>
                <a:ext cx="64661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A32126"/>
                    </a:solidFill>
                    <a:latin typeface="Arial"/>
                    <a:ea typeface="Arial"/>
                    <a:cs typeface="Arial"/>
                  </a:rPr>
                  <a:t>88.2%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77418" y="4793932"/>
                <a:ext cx="236372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提升类（养老托育等）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4000500" y="4838700"/>
                <a:ext cx="5334000" cy="171450"/>
              </a:xfrm>
              <a:prstGeom prst="rect">
                <a:avLst/>
              </a:prstGeom>
              <a:solidFill>
                <a:srgbClr val="E5E5E5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4000500" y="4838700"/>
                <a:ext cx="4080510" cy="171450"/>
              </a:xfrm>
              <a:prstGeom prst="rect">
                <a:avLst/>
              </a:prstGeom>
              <a:solidFill>
                <a:srgbClr val="A32126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516618" y="4793932"/>
                <a:ext cx="64661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A32126"/>
                    </a:solidFill>
                    <a:latin typeface="Arial"/>
                    <a:ea typeface="Arial"/>
                    <a:cs typeface="Arial"/>
                  </a:rPr>
                  <a:t>76.5%</a:t>
                </a:r>
              </a:p>
            </p:txBody>
          </p:sp>
        </p:grpSp>
      </p:grpSp>
      <p:grpSp>
        <p:nvGrpSpPr>
          <p:cNvPr id="46" name="ongoing-note"/>
          <p:cNvGrpSpPr/>
          <p:nvPr/>
        </p:nvGrpSpPr>
        <p:grpSpPr>
          <a:xfrm>
            <a:off x="678942" y="5454968"/>
            <a:ext cx="8078724" cy="264033"/>
            <a:chOff x="678942" y="5454968"/>
            <a:chExt cx="8078724" cy="264033"/>
          </a:xfrm>
        </p:grpSpPr>
        <p:sp>
          <p:nvSpPr>
            <p:cNvPr id="45" name="TextBox 45"/>
            <p:cNvSpPr txBox="1"/>
            <p:nvPr/>
          </p:nvSpPr>
          <p:spPr>
            <a:xfrm>
              <a:off x="678942" y="5454968"/>
              <a:ext cx="8078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在建 5 个小区中，3 个因地下管线迁改协调周期较长滞后于序时进度（详见第四部分（一））。</a:t>
              </a:r>
            </a:p>
          </p:txBody>
        </p:sp>
      </p:grpSp>
      <p:grpSp>
        <p:nvGrpSpPr>
          <p:cNvPr id="48" name="footnote"/>
          <p:cNvGrpSpPr/>
          <p:nvPr/>
        </p:nvGrpSpPr>
        <p:grpSpPr>
          <a:xfrm>
            <a:off x="679704" y="6404610"/>
            <a:ext cx="8981846" cy="234696"/>
            <a:chOff x="679704" y="6404610"/>
            <a:chExt cx="8981846" cy="234696"/>
          </a:xfrm>
        </p:grpSpPr>
        <p:sp>
          <p:nvSpPr>
            <p:cNvPr id="47" name="TextBox 47"/>
            <p:cNvSpPr txBox="1"/>
            <p:nvPr/>
          </p:nvSpPr>
          <p:spPr>
            <a:xfrm>
              <a:off x="679704" y="6404610"/>
              <a:ext cx="89818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C8C"/>
                  </a:solidFill>
                  <a:latin typeface="+mn-lt"/>
                  <a:ea typeface="+mn-ea"/>
                  <a:cs typeface="+mn-cs"/>
                </a:rPr>
                <a:t>注：完工率＝已完工小区数÷计划改造小区数；分类进度按工程量测算；本页数据为情景示例，正式汇报以核定数为准。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312347" y="6442710"/>
            <a:ext cx="1999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C8C8C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70560" y="552450"/>
            <a:ext cx="10835640" cy="720090"/>
            <a:chOff x="670560" y="552450"/>
            <a:chExt cx="10835640" cy="720090"/>
          </a:xfrm>
        </p:grpSpPr>
        <p:sp>
          <p:nvSpPr>
            <p:cNvPr id="2" name="Rectangle 2"/>
            <p:cNvSpPr/>
            <p:nvPr/>
          </p:nvSpPr>
          <p:spPr>
            <a:xfrm>
              <a:off x="685800" y="552450"/>
              <a:ext cx="419100" cy="76200"/>
            </a:xfrm>
            <a:prstGeom prst="rect">
              <a:avLst/>
            </a:prstGeom>
            <a:solidFill>
              <a:srgbClr val="A32126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0560" y="685800"/>
              <a:ext cx="32613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262626"/>
                  </a:solidFill>
                  <a:latin typeface="+mj-lt"/>
                  <a:ea typeface="+mj-ea"/>
                  <a:cs typeface="+mj-cs"/>
                </a:rPr>
                <a:t>二、资金使用情况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257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</p:grpSp>
      <p:grpSp>
        <p:nvGrpSpPr>
          <p:cNvPr id="23" name="section-funds-overview"/>
          <p:cNvGrpSpPr/>
          <p:nvPr/>
        </p:nvGrpSpPr>
        <p:grpSpPr>
          <a:xfrm>
            <a:off x="666750" y="1433512"/>
            <a:ext cx="10846308" cy="1510094"/>
            <a:chOff x="666750" y="1433512"/>
            <a:chExt cx="10846308" cy="1510094"/>
          </a:xfrm>
        </p:grpSpPr>
        <p:sp>
          <p:nvSpPr>
            <p:cNvPr id="6" name="TextBox 6"/>
            <p:cNvSpPr txBox="1"/>
            <p:nvPr/>
          </p:nvSpPr>
          <p:spPr>
            <a:xfrm>
              <a:off x="674370" y="1433512"/>
              <a:ext cx="29032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（一）资金总体情况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14694" y="1530668"/>
              <a:ext cx="5198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95959"/>
                  </a:solidFill>
                  <a:latin typeface="+mn-lt"/>
                  <a:ea typeface="+mn-ea"/>
                  <a:cs typeface="+mn-cs"/>
                </a:rPr>
                <a:t>资金实行专账核算、专款专用，审计核查未发现挤占挪用情形</a:t>
              </a:r>
            </a:p>
          </p:txBody>
        </p:sp>
        <p:grpSp>
          <p:nvGrpSpPr>
            <p:cNvPr id="12" name="kpi-total"/>
            <p:cNvGrpSpPr/>
            <p:nvPr/>
          </p:nvGrpSpPr>
          <p:grpSpPr>
            <a:xfrm>
              <a:off x="666750" y="1790700"/>
              <a:ext cx="1727476" cy="1152906"/>
              <a:chOff x="666750" y="1790700"/>
              <a:chExt cx="1727476" cy="1152906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685800" y="1790700"/>
                <a:ext cx="342900" cy="57150"/>
              </a:xfrm>
              <a:prstGeom prst="rect">
                <a:avLst/>
              </a:prstGeom>
              <a:solidFill>
                <a:srgbClr val="A32126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666750" y="1889760"/>
                <a:ext cx="1727476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dirty="0">
                    <a:solidFill>
                      <a:srgbClr val="262626"/>
                    </a:solidFill>
                    <a:latin typeface="Arial"/>
                    <a:ea typeface="Arial"/>
                    <a:cs typeface="Arial"/>
                  </a:rPr>
                  <a:t>4.28</a:t>
                </a:r>
                <a:r>
                  <a:rPr lang="zh-CN" sz="1800" dirty="0">
                    <a:solidFill>
                      <a:srgbClr val="595959"/>
                    </a:solidFill>
                    <a:latin typeface="+mn-lt"/>
                    <a:ea typeface="+mn-ea"/>
                    <a:cs typeface="+mn-cs"/>
                  </a:rPr>
                  <a:t xml:space="preserve"> 亿元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78180" y="2447925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rPr>
                  <a:t>计划总投资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79704" y="2708910"/>
                <a:ext cx="13776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C8C8C"/>
                    </a:solidFill>
                    <a:latin typeface="+mn-lt"/>
                    <a:ea typeface="+mn-ea"/>
                    <a:cs typeface="+mn-cs"/>
                  </a:rPr>
                  <a:t>五类渠道合计投入</a:t>
                </a:r>
              </a:p>
            </p:txBody>
          </p:sp>
        </p:grpSp>
        <p:grpSp>
          <p:nvGrpSpPr>
            <p:cNvPr id="17" name="kpi-arrival"/>
            <p:cNvGrpSpPr/>
            <p:nvPr/>
          </p:nvGrpSpPr>
          <p:grpSpPr>
            <a:xfrm>
              <a:off x="4362450" y="1790700"/>
              <a:ext cx="1641360" cy="1152906"/>
              <a:chOff x="4362450" y="1790700"/>
              <a:chExt cx="1641360" cy="1152906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381500" y="1790700"/>
                <a:ext cx="342900" cy="57150"/>
              </a:xfrm>
              <a:prstGeom prst="rect">
                <a:avLst/>
              </a:prstGeom>
              <a:solidFill>
                <a:srgbClr val="A32126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362450" y="1889760"/>
                <a:ext cx="1641360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dirty="0">
                    <a:solidFill>
                      <a:srgbClr val="A32126"/>
                    </a:solidFill>
                    <a:latin typeface="Arial"/>
                    <a:ea typeface="Arial"/>
                    <a:cs typeface="Arial"/>
                  </a:rPr>
                  <a:t>85.3%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373880" y="2447925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rPr>
                  <a:t>资金到位率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375404" y="2708910"/>
                <a:ext cx="15142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C8C8C"/>
                    </a:solidFill>
                    <a:latin typeface="+mn-lt"/>
                    <a:ea typeface="+mn-ea"/>
                    <a:cs typeface="+mn-cs"/>
                  </a:rPr>
                  <a:t>累计到位 3.65 亿元</a:t>
                </a:r>
              </a:p>
            </p:txBody>
          </p:sp>
        </p:grpSp>
        <p:grpSp>
          <p:nvGrpSpPr>
            <p:cNvPr id="22" name="kpi-payment"/>
            <p:cNvGrpSpPr/>
            <p:nvPr/>
          </p:nvGrpSpPr>
          <p:grpSpPr>
            <a:xfrm>
              <a:off x="8058150" y="1790700"/>
              <a:ext cx="1641360" cy="1152906"/>
              <a:chOff x="8058150" y="1790700"/>
              <a:chExt cx="1641360" cy="1152906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8077200" y="1790700"/>
                <a:ext cx="342900" cy="57150"/>
              </a:xfrm>
              <a:prstGeom prst="rect">
                <a:avLst/>
              </a:prstGeom>
              <a:solidFill>
                <a:srgbClr val="A32126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058150" y="1889760"/>
                <a:ext cx="1641360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dirty="0">
                    <a:solidFill>
                      <a:srgbClr val="262626"/>
                    </a:solidFill>
                    <a:latin typeface="Arial"/>
                    <a:ea typeface="Arial"/>
                    <a:cs typeface="Arial"/>
                  </a:rPr>
                  <a:t>78.6%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069580" y="2447925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rPr>
                  <a:t>资金支付率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071104" y="2708910"/>
                <a:ext cx="15142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C8C8C"/>
                    </a:solidFill>
                    <a:latin typeface="+mn-lt"/>
                    <a:ea typeface="+mn-ea"/>
                    <a:cs typeface="+mn-cs"/>
                  </a:rPr>
                  <a:t>累计支付 2.87 亿元</a:t>
                </a:r>
              </a:p>
            </p:txBody>
          </p:sp>
        </p:grpSp>
      </p:grpSp>
      <p:grpSp>
        <p:nvGrpSpPr>
          <p:cNvPr id="26" name="section-funds-head"/>
          <p:cNvGrpSpPr/>
          <p:nvPr/>
        </p:nvGrpSpPr>
        <p:grpSpPr>
          <a:xfrm>
            <a:off x="674370" y="2938462"/>
            <a:ext cx="10837926" cy="440055"/>
            <a:chOff x="674370" y="2938462"/>
            <a:chExt cx="10837926" cy="440055"/>
          </a:xfrm>
        </p:grpSpPr>
        <p:sp>
          <p:nvSpPr>
            <p:cNvPr id="24" name="TextBox 24"/>
            <p:cNvSpPr txBox="1"/>
            <p:nvPr/>
          </p:nvSpPr>
          <p:spPr>
            <a:xfrm>
              <a:off x="674370" y="2938462"/>
              <a:ext cx="38633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（二）资金构成与到位进度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46664" y="3070860"/>
              <a:ext cx="865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595959"/>
                  </a:solidFill>
                  <a:latin typeface="+mn-lt"/>
                  <a:ea typeface="+mn-ea"/>
                  <a:cs typeface="+mn-cs"/>
                </a:rPr>
                <a:t>单位：亿元</a:t>
              </a:r>
            </a:p>
          </p:txBody>
        </p:sp>
      </p:grpSp>
      <p:grpSp>
        <p:nvGrpSpPr>
          <p:cNvPr id="37" name="fund-composition"/>
          <p:cNvGrpSpPr/>
          <p:nvPr/>
        </p:nvGrpSpPr>
        <p:grpSpPr>
          <a:xfrm>
            <a:off x="1688606" y="3352800"/>
            <a:ext cx="2475849" cy="2347701"/>
            <a:chOff x="1688606" y="3352800"/>
            <a:chExt cx="2475849" cy="2347701"/>
          </a:xfrm>
        </p:grpSpPr>
        <p:grpSp>
          <p:nvGrpSpPr>
            <p:cNvPr id="36" name="fund-composition-chartArea"/>
            <p:cNvGrpSpPr/>
            <p:nvPr/>
          </p:nvGrpSpPr>
          <p:grpSpPr>
            <a:xfrm>
              <a:off x="1688606" y="3352800"/>
              <a:ext cx="2475849" cy="2347701"/>
              <a:chOff x="1688606" y="3352800"/>
              <a:chExt cx="2475849" cy="2347701"/>
            </a:xfrm>
          </p:grpSpPr>
          <p:grpSp>
            <p:nvGrpSpPr>
              <p:cNvPr id="32" name="fund-donut-sectors"/>
              <p:cNvGrpSpPr/>
              <p:nvPr/>
            </p:nvGrpSpPr>
            <p:grpSpPr>
              <a:xfrm>
                <a:off x="1688606" y="3352800"/>
                <a:ext cx="2475849" cy="2347701"/>
                <a:chOff x="1688606" y="3352800"/>
                <a:chExt cx="2475849" cy="2347701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2952750" y="3352800"/>
                  <a:ext cx="1211705" cy="1912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1705" h="1912811">
                      <a:moveTo>
                        <a:pt x="0" y="0"/>
                      </a:moveTo>
                      <a:cubicBezTo>
                        <a:pt x="453080" y="10"/>
                        <a:pt x="861852" y="272062"/>
                        <a:pt x="1036778" y="690012"/>
                      </a:cubicBezTo>
                      <a:cubicBezTo>
                        <a:pt x="1211705" y="1107963"/>
                        <a:pt x="1118577" y="1590077"/>
                        <a:pt x="800576" y="1912811"/>
                      </a:cubicBezTo>
                      <a:lnTo>
                        <a:pt x="488442" y="1605343"/>
                      </a:lnTo>
                      <a:cubicBezTo>
                        <a:pt x="682510" y="1408432"/>
                        <a:pt x="739361" y="1114246"/>
                        <a:pt x="632633" y="859206"/>
                      </a:cubicBezTo>
                      <a:cubicBezTo>
                        <a:pt x="525905" y="604166"/>
                        <a:pt x="276471" y="438153"/>
                        <a:pt x="0" y="438150"/>
                      </a:cubicBezTo>
                      <a:close/>
                    </a:path>
                  </a:pathLst>
                </a:custGeom>
                <a:solidFill>
                  <a:srgbClr val="6E1216"/>
                </a:solidFill>
                <a:ln>
                  <a:noFill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2443924" y="4958144"/>
                  <a:ext cx="1309402" cy="74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402" h="742357">
                      <a:moveTo>
                        <a:pt x="1309402" y="307467"/>
                      </a:moveTo>
                      <a:cubicBezTo>
                        <a:pt x="965930" y="656068"/>
                        <a:pt x="436372" y="742357"/>
                        <a:pt x="0" y="520827"/>
                      </a:cubicBezTo>
                      <a:lnTo>
                        <a:pt x="198406" y="130112"/>
                      </a:lnTo>
                      <a:cubicBezTo>
                        <a:pt x="464626" y="265254"/>
                        <a:pt x="787690" y="212636"/>
                        <a:pt x="997268" y="0"/>
                      </a:cubicBezTo>
                      <a:close/>
                    </a:path>
                  </a:pathLst>
                </a:custGeom>
                <a:solidFill>
                  <a:srgbClr val="8C1A20"/>
                </a:solidFill>
                <a:ln>
                  <a:noFill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688606" y="4042791"/>
                  <a:ext cx="953725" cy="14361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3725" h="1436179">
                      <a:moveTo>
                        <a:pt x="755319" y="1436179"/>
                      </a:moveTo>
                      <a:cubicBezTo>
                        <a:pt x="230322" y="1169639"/>
                        <a:pt x="0" y="543119"/>
                        <a:pt x="227348" y="0"/>
                      </a:cubicBezTo>
                      <a:lnTo>
                        <a:pt x="631494" y="169164"/>
                      </a:lnTo>
                      <a:cubicBezTo>
                        <a:pt x="492793" y="500575"/>
                        <a:pt x="633365" y="882857"/>
                        <a:pt x="953725" y="1045464"/>
                      </a:cubicBezTo>
                      <a:close/>
                    </a:path>
                  </a:pathLst>
                </a:custGeom>
                <a:solidFill>
                  <a:srgbClr val="A32126"/>
                </a:solidFill>
                <a:ln>
                  <a:noFill/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915954" y="3497961"/>
                  <a:ext cx="699707" cy="713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9707" h="713994">
                      <a:moveTo>
                        <a:pt x="0" y="544830"/>
                      </a:moveTo>
                      <a:cubicBezTo>
                        <a:pt x="96433" y="314452"/>
                        <a:pt x="266850" y="122754"/>
                        <a:pt x="484346" y="0"/>
                      </a:cubicBezTo>
                      <a:lnTo>
                        <a:pt x="699707" y="381572"/>
                      </a:lnTo>
                      <a:cubicBezTo>
                        <a:pt x="566989" y="456463"/>
                        <a:pt x="462996" y="573426"/>
                        <a:pt x="404146" y="713994"/>
                      </a:cubicBezTo>
                      <a:close/>
                    </a:path>
                  </a:pathLst>
                </a:custGeom>
                <a:solidFill>
                  <a:srgbClr val="B8545A"/>
                </a:solidFill>
                <a:ln>
                  <a:noFill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2400300" y="3352800"/>
                  <a:ext cx="552450" cy="5267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450" h="526733">
                      <a:moveTo>
                        <a:pt x="0" y="145161"/>
                      </a:moveTo>
                      <a:cubicBezTo>
                        <a:pt x="168577" y="50007"/>
                        <a:pt x="358872" y="5"/>
                        <a:pt x="552450" y="0"/>
                      </a:cubicBezTo>
                      <a:lnTo>
                        <a:pt x="552450" y="438150"/>
                      </a:lnTo>
                      <a:cubicBezTo>
                        <a:pt x="434333" y="438156"/>
                        <a:pt x="318220" y="468669"/>
                        <a:pt x="215360" y="526733"/>
                      </a:cubicBezTo>
                      <a:close/>
                    </a:path>
                  </a:pathLst>
                </a:custGeom>
                <a:solidFill>
                  <a:srgbClr val="C98A8D"/>
                </a:solidFill>
                <a:ln>
                  <a:noFill/>
                </a:ln>
              </p:spPr>
            </p:sp>
          </p:grpSp>
          <p:sp>
            <p:nvSpPr>
              <p:cNvPr id="33" name="Ellipse 33"/>
              <p:cNvSpPr/>
              <p:nvPr/>
            </p:nvSpPr>
            <p:spPr>
              <a:xfrm>
                <a:off x="2266950" y="3790950"/>
                <a:ext cx="1371600" cy="13716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2384887" y="4125278"/>
                <a:ext cx="1135725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dirty="0">
                    <a:solidFill>
                      <a:srgbClr val="262626"/>
                    </a:solidFill>
                    <a:latin typeface="Arial"/>
                    <a:ea typeface="Arial"/>
                    <a:cs typeface="Arial"/>
                  </a:rPr>
                  <a:t>4.28</a:t>
                </a:r>
                <a:r>
                  <a:rPr lang="zh-CN" sz="1350" dirty="0">
                    <a:solidFill>
                      <a:srgbClr val="595959"/>
                    </a:solidFill>
                    <a:latin typeface="+mn-lt"/>
                    <a:ea typeface="+mn-ea"/>
                    <a:cs typeface="+mn-cs"/>
                  </a:rPr>
                  <a:t xml:space="preserve"> 亿元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519934" y="4537710"/>
                <a:ext cx="86563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595959"/>
                    </a:solidFill>
                    <a:latin typeface="+mn-lt"/>
                    <a:ea typeface="+mn-ea"/>
                    <a:cs typeface="+mn-cs"/>
                  </a:rPr>
                  <a:t>计划总投资</a:t>
                </a:r>
              </a:p>
            </p:txBody>
          </p:sp>
        </p:grpSp>
      </p:grpSp>
      <p:grpSp>
        <p:nvGrpSpPr>
          <p:cNvPr id="48" name="fund-legend"/>
          <p:cNvGrpSpPr/>
          <p:nvPr/>
        </p:nvGrpSpPr>
        <p:grpSpPr>
          <a:xfrm>
            <a:off x="685800" y="5737860"/>
            <a:ext cx="4632198" cy="234696"/>
            <a:chOff x="685800" y="5737860"/>
            <a:chExt cx="4632198" cy="234696"/>
          </a:xfrm>
        </p:grpSpPr>
        <p:sp>
          <p:nvSpPr>
            <p:cNvPr id="38" name="Rectangle 38"/>
            <p:cNvSpPr/>
            <p:nvPr/>
          </p:nvSpPr>
          <p:spPr>
            <a:xfrm>
              <a:off x="685800" y="5753100"/>
              <a:ext cx="133350" cy="133350"/>
            </a:xfrm>
            <a:prstGeom prst="rect">
              <a:avLst/>
            </a:prstGeom>
            <a:solidFill>
              <a:srgbClr val="6E121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1154" y="5737860"/>
              <a:ext cx="694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中央补助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628775" y="5753100"/>
              <a:ext cx="133350" cy="133350"/>
            </a:xfrm>
            <a:prstGeom prst="rect">
              <a:avLst/>
            </a:prstGeom>
            <a:solidFill>
              <a:srgbClr val="8C1A2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794129" y="5737860"/>
              <a:ext cx="694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省级配套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571750" y="5753100"/>
              <a:ext cx="133350" cy="133350"/>
            </a:xfrm>
            <a:prstGeom prst="rect">
              <a:avLst/>
            </a:prstGeom>
            <a:solidFill>
              <a:srgbClr val="A3212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737104" y="5737860"/>
              <a:ext cx="694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市县财政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514725" y="5753100"/>
              <a:ext cx="133350" cy="133350"/>
            </a:xfrm>
            <a:prstGeom prst="rect">
              <a:avLst/>
            </a:prstGeom>
            <a:solidFill>
              <a:srgbClr val="B8545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680079" y="5737860"/>
              <a:ext cx="694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居民出资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457700" y="5753100"/>
              <a:ext cx="133350" cy="133350"/>
            </a:xfrm>
            <a:prstGeom prst="rect">
              <a:avLst/>
            </a:prstGeom>
            <a:solidFill>
              <a:srgbClr val="C98A8D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623054" y="5737860"/>
              <a:ext cx="694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社会资本</a:t>
              </a:r>
            </a:p>
          </p:txBody>
        </p:sp>
      </p:grpSp>
      <p:grpSp>
        <p:nvGrpSpPr>
          <p:cNvPr id="92" name="fund-table"/>
          <p:cNvGrpSpPr/>
          <p:nvPr/>
        </p:nvGrpSpPr>
        <p:grpSpPr>
          <a:xfrm>
            <a:off x="6096000" y="3352800"/>
            <a:ext cx="5410200" cy="2811589"/>
            <a:chOff x="6096000" y="3352800"/>
            <a:chExt cx="5410200" cy="2811589"/>
          </a:xfrm>
        </p:grpSpPr>
        <p:sp>
          <p:nvSpPr>
            <p:cNvPr id="49" name="Rectangle 49"/>
            <p:cNvSpPr/>
            <p:nvPr/>
          </p:nvSpPr>
          <p:spPr>
            <a:xfrm>
              <a:off x="6096000" y="3352800"/>
              <a:ext cx="5410200" cy="419100"/>
            </a:xfrm>
            <a:prstGeom prst="rect">
              <a:avLst/>
            </a:prstGeom>
            <a:solidFill>
              <a:srgbClr val="A32126"/>
            </a:solidFill>
            <a:ln>
              <a:noFill/>
            </a:ln>
          </p:spPr>
        </p:sp>
        <p:grpSp>
          <p:nvGrpSpPr>
            <p:cNvPr id="55" name="fund-table-header"/>
            <p:cNvGrpSpPr/>
            <p:nvPr/>
          </p:nvGrpSpPr>
          <p:grpSpPr>
            <a:xfrm>
              <a:off x="6240780" y="3457575"/>
              <a:ext cx="5158740" cy="293370"/>
              <a:chOff x="6240780" y="3457575"/>
              <a:chExt cx="5158740" cy="293370"/>
            </a:xfrm>
          </p:grpSpPr>
          <p:sp>
            <p:nvSpPr>
              <p:cNvPr id="50" name="TextBox 50"/>
              <p:cNvSpPr txBox="1"/>
              <p:nvPr/>
            </p:nvSpPr>
            <p:spPr>
              <a:xfrm>
                <a:off x="6240780" y="345757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资金渠道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833360" y="345757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计划投资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046845" y="345757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占比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643110" y="345757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累计到位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0778490" y="34575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到位率</a:t>
                </a:r>
              </a:p>
            </p:txBody>
          </p:sp>
        </p:grpSp>
        <p:grpSp>
          <p:nvGrpSpPr>
            <p:cNvPr id="91" name="fund-table-rows"/>
            <p:cNvGrpSpPr/>
            <p:nvPr/>
          </p:nvGrpSpPr>
          <p:grpSpPr>
            <a:xfrm>
              <a:off x="6096000" y="3771900"/>
              <a:ext cx="5410200" cy="2392489"/>
              <a:chOff x="6096000" y="3771900"/>
              <a:chExt cx="5410200" cy="2392489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6096000" y="3771900"/>
                <a:ext cx="5410200" cy="400050"/>
              </a:xfrm>
              <a:prstGeom prst="rect">
                <a:avLst/>
              </a:prstGeom>
              <a:solidFill>
                <a:srgbClr val="F5F6F7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6240018" y="3841432"/>
                <a:ext cx="14249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中央补助资金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123987" y="3841432"/>
                <a:ext cx="53309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1.60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757590" y="3841432"/>
                <a:ext cx="7091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37.4%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9933737" y="3841432"/>
                <a:ext cx="53309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1.60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10562082" y="3841432"/>
                <a:ext cx="83820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100.0%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240018" y="4241482"/>
                <a:ext cx="14249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省级配套资金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8123987" y="4241482"/>
                <a:ext cx="53309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0.86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757590" y="4241482"/>
                <a:ext cx="7091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20.1%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9933737" y="4241482"/>
                <a:ext cx="53309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0.86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0562082" y="4241482"/>
                <a:ext cx="83820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100.0%</a:t>
                </a:r>
              </a:p>
            </p:txBody>
          </p:sp>
          <p:sp>
            <p:nvSpPr>
              <p:cNvPr id="67" name="Rectangle 67"/>
              <p:cNvSpPr/>
              <p:nvPr/>
            </p:nvSpPr>
            <p:spPr>
              <a:xfrm>
                <a:off x="6096000" y="4572000"/>
                <a:ext cx="5410200" cy="400050"/>
              </a:xfrm>
              <a:prstGeom prst="rect">
                <a:avLst/>
              </a:prstGeom>
              <a:solidFill>
                <a:srgbClr val="F5F6F7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6240018" y="4641532"/>
                <a:ext cx="14249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市县财政资金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123987" y="4641532"/>
                <a:ext cx="53309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1.02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8757590" y="4641532"/>
                <a:ext cx="7091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23.8%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9933737" y="4641532"/>
                <a:ext cx="53309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0.70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10656547" y="4641532"/>
                <a:ext cx="74373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68.6%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6240018" y="5041582"/>
                <a:ext cx="95554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居民出资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123987" y="5041582"/>
                <a:ext cx="53309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0.45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8757590" y="5041582"/>
                <a:ext cx="7091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10.5%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9933737" y="5041582"/>
                <a:ext cx="53309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0.30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10656547" y="5041582"/>
                <a:ext cx="74373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66.7%</a:t>
                </a: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6096000" y="5372100"/>
                <a:ext cx="5410200" cy="400050"/>
              </a:xfrm>
              <a:prstGeom prst="rect">
                <a:avLst/>
              </a:prstGeom>
              <a:solidFill>
                <a:srgbClr val="F5F6F7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6240018" y="5441632"/>
                <a:ext cx="95554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社会资本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8123987" y="5441632"/>
                <a:ext cx="53309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0.35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8886673" y="5441632"/>
                <a:ext cx="58003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8.2%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9933737" y="5441632"/>
                <a:ext cx="53309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dirty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rPr>
                  <a:t>0.19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10656547" y="5441632"/>
                <a:ext cx="74373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54.3%</a:t>
                </a:r>
              </a:p>
            </p:txBody>
          </p:sp>
          <p:sp>
            <p:nvSpPr>
              <p:cNvPr id="84" name="Line 84"/>
              <p:cNvSpPr/>
              <p:nvPr/>
            </p:nvSpPr>
            <p:spPr>
              <a:xfrm>
                <a:off x="6096000" y="5772150"/>
                <a:ext cx="541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10200" h="9525">
                    <a:moveTo>
                      <a:pt x="0" y="0"/>
                    </a:moveTo>
                    <a:lnTo>
                      <a:pt x="5410200" y="0"/>
                    </a:lnTo>
                  </a:path>
                </a:pathLst>
              </a:custGeom>
              <a:noFill/>
              <a:ln w="19050">
                <a:solidFill>
                  <a:srgbClr val="A32126"/>
                </a:solidFill>
              </a:ln>
            </p:spPr>
          </p:sp>
          <p:grpSp>
            <p:nvGrpSpPr>
              <p:cNvPr id="90" name="fund-table-total"/>
              <p:cNvGrpSpPr/>
              <p:nvPr/>
            </p:nvGrpSpPr>
            <p:grpSpPr>
              <a:xfrm>
                <a:off x="6240018" y="5841682"/>
                <a:ext cx="5160264" cy="322707"/>
                <a:chOff x="6240018" y="5841682"/>
                <a:chExt cx="5160264" cy="322707"/>
              </a:xfrm>
            </p:grpSpPr>
            <p:sp>
              <p:nvSpPr>
                <p:cNvPr id="85" name="TextBox 85"/>
                <p:cNvSpPr txBox="1"/>
                <p:nvPr/>
              </p:nvSpPr>
              <p:spPr>
                <a:xfrm>
                  <a:off x="6240018" y="5841682"/>
                  <a:ext cx="486156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b="1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合计</a:t>
                  </a:r>
                </a:p>
              </p:txBody>
            </p:sp>
            <p:sp>
              <p:nvSpPr>
                <p:cNvPr id="86" name="TextBox 86"/>
                <p:cNvSpPr txBox="1"/>
                <p:nvPr/>
              </p:nvSpPr>
              <p:spPr>
                <a:xfrm>
                  <a:off x="8098170" y="5841682"/>
                  <a:ext cx="558912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650" b="1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4.28</a:t>
                  </a:r>
                </a:p>
              </p:txBody>
            </p:sp>
            <p:sp>
              <p:nvSpPr>
                <p:cNvPr id="87" name="TextBox 87"/>
                <p:cNvSpPr txBox="1"/>
                <p:nvPr/>
              </p:nvSpPr>
              <p:spPr>
                <a:xfrm>
                  <a:off x="8587435" y="5841682"/>
                  <a:ext cx="879272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650" b="1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100.0%</a:t>
                  </a:r>
                </a:p>
              </p:txBody>
            </p:sp>
            <p:sp>
              <p:nvSpPr>
                <p:cNvPr id="88" name="TextBox 88"/>
                <p:cNvSpPr txBox="1"/>
                <p:nvPr/>
              </p:nvSpPr>
              <p:spPr>
                <a:xfrm>
                  <a:off x="9907920" y="5841682"/>
                  <a:ext cx="558912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650" b="1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3.65</a:t>
                  </a:r>
                </a:p>
              </p:txBody>
            </p:sp>
            <p:sp>
              <p:nvSpPr>
                <p:cNvPr id="89" name="TextBox 89"/>
                <p:cNvSpPr txBox="1"/>
                <p:nvPr/>
              </p:nvSpPr>
              <p:spPr>
                <a:xfrm>
                  <a:off x="10656547" y="5841682"/>
                  <a:ext cx="74373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650" b="1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85.3%</a:t>
                  </a:r>
                </a:p>
              </p:txBody>
            </p:sp>
          </p:grpSp>
        </p:grpSp>
      </p:grpSp>
      <p:grpSp>
        <p:nvGrpSpPr>
          <p:cNvPr id="94" name="footnote"/>
          <p:cNvGrpSpPr/>
          <p:nvPr/>
        </p:nvGrpSpPr>
        <p:grpSpPr>
          <a:xfrm>
            <a:off x="679704" y="6366510"/>
            <a:ext cx="9758477" cy="234696"/>
            <a:chOff x="679704" y="6366510"/>
            <a:chExt cx="9758477" cy="234696"/>
          </a:xfrm>
        </p:grpSpPr>
        <p:sp>
          <p:nvSpPr>
            <p:cNvPr id="93" name="TextBox 93"/>
            <p:cNvSpPr txBox="1"/>
            <p:nvPr/>
          </p:nvSpPr>
          <p:spPr>
            <a:xfrm>
              <a:off x="679704" y="6366510"/>
              <a:ext cx="97584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C8C"/>
                  </a:solidFill>
                  <a:latin typeface="+mn-lt"/>
                  <a:ea typeface="+mn-ea"/>
                  <a:cs typeface="+mn-cs"/>
                </a:rPr>
                <a:t>注：到位率＝累计到位资金÷计划总投资；支付率＝累计支付资金÷累计到位资金；本页数据为情景示例，正式汇报以核定数为准。</a:t>
              </a:r>
            </a:p>
          </p:txBody>
        </p:sp>
      </p:grpSp>
      <p:sp>
        <p:nvSpPr>
          <p:cNvPr id="95" name="TextBox 95"/>
          <p:cNvSpPr txBox="1"/>
          <p:nvPr/>
        </p:nvSpPr>
        <p:spPr>
          <a:xfrm>
            <a:off x="11312347" y="6442710"/>
            <a:ext cx="1999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C8C8C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70560" y="552450"/>
            <a:ext cx="10835640" cy="720090"/>
            <a:chOff x="670560" y="552450"/>
            <a:chExt cx="10835640" cy="720090"/>
          </a:xfrm>
        </p:grpSpPr>
        <p:sp>
          <p:nvSpPr>
            <p:cNvPr id="2" name="Rectangle 2"/>
            <p:cNvSpPr/>
            <p:nvPr/>
          </p:nvSpPr>
          <p:spPr>
            <a:xfrm>
              <a:off x="685800" y="552450"/>
              <a:ext cx="419100" cy="76200"/>
            </a:xfrm>
            <a:prstGeom prst="rect">
              <a:avLst/>
            </a:prstGeom>
            <a:solidFill>
              <a:srgbClr val="A32126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0560" y="685800"/>
              <a:ext cx="28575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262626"/>
                  </a:solidFill>
                  <a:latin typeface="+mj-lt"/>
                  <a:ea typeface="+mj-ea"/>
                  <a:cs typeface="+mj-cs"/>
                </a:rPr>
                <a:t>三、居民满意度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257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</p:grpSp>
      <p:grpSp>
        <p:nvGrpSpPr>
          <p:cNvPr id="22" name="section-survey-overview"/>
          <p:cNvGrpSpPr/>
          <p:nvPr/>
        </p:nvGrpSpPr>
        <p:grpSpPr>
          <a:xfrm>
            <a:off x="666750" y="1433512"/>
            <a:ext cx="9157564" cy="1510094"/>
            <a:chOff x="666750" y="1433512"/>
            <a:chExt cx="9157564" cy="1510094"/>
          </a:xfrm>
        </p:grpSpPr>
        <p:sp>
          <p:nvSpPr>
            <p:cNvPr id="6" name="TextBox 6"/>
            <p:cNvSpPr txBox="1"/>
            <p:nvPr/>
          </p:nvSpPr>
          <p:spPr>
            <a:xfrm>
              <a:off x="674370" y="1433512"/>
              <a:ext cx="29032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（一）调查基本情况</a:t>
              </a:r>
            </a:p>
          </p:txBody>
        </p:sp>
        <p:grpSp>
          <p:nvGrpSpPr>
            <p:cNvPr id="11" name="kpi-sent"/>
            <p:cNvGrpSpPr/>
            <p:nvPr/>
          </p:nvGrpSpPr>
          <p:grpSpPr>
            <a:xfrm>
              <a:off x="666750" y="1790700"/>
              <a:ext cx="2100399" cy="1152906"/>
              <a:chOff x="666750" y="1790700"/>
              <a:chExt cx="2100399" cy="1152906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85800" y="1790700"/>
                <a:ext cx="342900" cy="57150"/>
              </a:xfrm>
              <a:prstGeom prst="rect">
                <a:avLst/>
              </a:prstGeom>
              <a:solidFill>
                <a:srgbClr val="A32126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666750" y="1889760"/>
                <a:ext cx="2100399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dirty="0">
                    <a:solidFill>
                      <a:srgbClr val="262626"/>
                    </a:solidFill>
                    <a:latin typeface="Arial"/>
                    <a:ea typeface="Arial"/>
                    <a:cs typeface="Arial"/>
                  </a:rPr>
                  <a:t>12,480</a:t>
                </a:r>
                <a:r>
                  <a:rPr lang="zh-CN" sz="1800" dirty="0">
                    <a:solidFill>
                      <a:srgbClr val="595959"/>
                    </a:solidFill>
                    <a:latin typeface="+mn-lt"/>
                    <a:ea typeface="+mn-ea"/>
                    <a:cs typeface="+mn-cs"/>
                  </a:rPr>
                  <a:t xml:space="preserve"> 份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78180" y="244792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rPr>
                  <a:t>发放问卷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79704" y="2708910"/>
                <a:ext cx="149717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C8C8C"/>
                    </a:solidFill>
                    <a:latin typeface="+mn-lt"/>
                    <a:ea typeface="+mn-ea"/>
                    <a:cs typeface="+mn-cs"/>
                  </a:rPr>
                  <a:t>覆盖 68 个改造小区</a:t>
                </a:r>
              </a:p>
            </p:txBody>
          </p:sp>
        </p:grpSp>
        <p:grpSp>
          <p:nvGrpSpPr>
            <p:cNvPr id="16" name="kpi-valid"/>
            <p:cNvGrpSpPr/>
            <p:nvPr/>
          </p:nvGrpSpPr>
          <p:grpSpPr>
            <a:xfrm>
              <a:off x="4362450" y="1790700"/>
              <a:ext cx="1885645" cy="1152906"/>
              <a:chOff x="4362450" y="1790700"/>
              <a:chExt cx="1885645" cy="1152906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381500" y="1790700"/>
                <a:ext cx="342900" cy="57150"/>
              </a:xfrm>
              <a:prstGeom prst="rect">
                <a:avLst/>
              </a:prstGeom>
              <a:solidFill>
                <a:srgbClr val="A32126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362450" y="1889760"/>
                <a:ext cx="1641360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dirty="0">
                    <a:solidFill>
                      <a:srgbClr val="262626"/>
                    </a:solidFill>
                    <a:latin typeface="Arial"/>
                    <a:ea typeface="Arial"/>
                    <a:cs typeface="Arial"/>
                  </a:rPr>
                  <a:t>95.8%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373880" y="2447925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rPr>
                  <a:t>问卷有效回收率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375404" y="2708910"/>
                <a:ext cx="18726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C8C8C"/>
                    </a:solidFill>
                    <a:latin typeface="+mn-lt"/>
                    <a:ea typeface="+mn-ea"/>
                    <a:cs typeface="+mn-cs"/>
                  </a:rPr>
                  <a:t>回收有效问卷 11,962 份</a:t>
                </a:r>
              </a:p>
            </p:txBody>
          </p:sp>
        </p:grpSp>
        <p:grpSp>
          <p:nvGrpSpPr>
            <p:cNvPr id="21" name="kpi-satisfaction"/>
            <p:cNvGrpSpPr/>
            <p:nvPr/>
          </p:nvGrpSpPr>
          <p:grpSpPr>
            <a:xfrm>
              <a:off x="8058150" y="1790700"/>
              <a:ext cx="1766164" cy="1152906"/>
              <a:chOff x="8058150" y="1790700"/>
              <a:chExt cx="1766164" cy="1152906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8077200" y="1790700"/>
                <a:ext cx="342900" cy="57150"/>
              </a:xfrm>
              <a:prstGeom prst="rect">
                <a:avLst/>
              </a:prstGeom>
              <a:solidFill>
                <a:srgbClr val="A32126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058150" y="1889760"/>
                <a:ext cx="1641360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dirty="0">
                    <a:solidFill>
                      <a:srgbClr val="A32126"/>
                    </a:solidFill>
                    <a:latin typeface="Arial"/>
                    <a:ea typeface="Arial"/>
                    <a:cs typeface="Arial"/>
                  </a:rPr>
                  <a:t>91.2%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069580" y="2447925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rPr>
                  <a:t>居民总体满意率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071104" y="2708910"/>
                <a:ext cx="17532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C8C8C"/>
                    </a:solidFill>
                    <a:latin typeface="+mn-lt"/>
                    <a:ea typeface="+mn-ea"/>
                    <a:cs typeface="+mn-cs"/>
                  </a:rPr>
                  <a:t>含“满意”与“基本满意”</a:t>
                </a:r>
              </a:p>
            </p:txBody>
          </p:sp>
        </p:grpSp>
      </p:grpSp>
      <p:grpSp>
        <p:nvGrpSpPr>
          <p:cNvPr id="24" name="survey-method"/>
          <p:cNvGrpSpPr/>
          <p:nvPr/>
        </p:nvGrpSpPr>
        <p:grpSpPr>
          <a:xfrm>
            <a:off x="678942" y="2978468"/>
            <a:ext cx="6100877" cy="264033"/>
            <a:chOff x="678942" y="2978468"/>
            <a:chExt cx="6100877" cy="264033"/>
          </a:xfrm>
        </p:grpSpPr>
        <p:sp>
          <p:nvSpPr>
            <p:cNvPr id="23" name="TextBox 23"/>
            <p:cNvSpPr txBox="1"/>
            <p:nvPr/>
          </p:nvSpPr>
          <p:spPr>
            <a:xfrm>
              <a:off x="678942" y="2978468"/>
              <a:ext cx="6100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调查方式：入户问卷与现场访谈相结合，调查覆盖全部 68 个改造小区。</a:t>
              </a:r>
            </a:p>
          </p:txBody>
        </p:sp>
      </p:grpSp>
      <p:grpSp>
        <p:nvGrpSpPr>
          <p:cNvPr id="26" name="section-survey-items-head"/>
          <p:cNvGrpSpPr/>
          <p:nvPr/>
        </p:nvGrpSpPr>
        <p:grpSpPr>
          <a:xfrm>
            <a:off x="674370" y="3224212"/>
            <a:ext cx="2583180" cy="440055"/>
            <a:chOff x="674370" y="3224212"/>
            <a:chExt cx="2583180" cy="440055"/>
          </a:xfrm>
        </p:grpSpPr>
        <p:sp>
          <p:nvSpPr>
            <p:cNvPr id="25" name="TextBox 25"/>
            <p:cNvSpPr txBox="1"/>
            <p:nvPr/>
          </p:nvSpPr>
          <p:spPr>
            <a:xfrm>
              <a:off x="674370" y="3224212"/>
              <a:ext cx="25831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62626"/>
                  </a:solidFill>
                  <a:latin typeface="+mn-lt"/>
                  <a:ea typeface="+mn-ea"/>
                  <a:cs typeface="+mn-cs"/>
                </a:rPr>
                <a:t>（二）分项满意率</a:t>
              </a:r>
            </a:p>
          </p:txBody>
        </p:sp>
      </p:grpSp>
      <p:grpSp>
        <p:nvGrpSpPr>
          <p:cNvPr id="57" name="satisfaction-items"/>
          <p:cNvGrpSpPr/>
          <p:nvPr/>
        </p:nvGrpSpPr>
        <p:grpSpPr>
          <a:xfrm>
            <a:off x="3060954" y="3619500"/>
            <a:ext cx="8016680" cy="2581656"/>
            <a:chOff x="3060954" y="3619500"/>
            <a:chExt cx="8016680" cy="2581656"/>
          </a:xfrm>
        </p:grpSpPr>
        <p:grpSp>
          <p:nvGrpSpPr>
            <p:cNvPr id="56" name="satisfaction-items-chartArea"/>
            <p:cNvGrpSpPr/>
            <p:nvPr/>
          </p:nvGrpSpPr>
          <p:grpSpPr>
            <a:xfrm>
              <a:off x="3060954" y="3619500"/>
              <a:ext cx="8016680" cy="2581656"/>
              <a:chOff x="3060954" y="3619500"/>
              <a:chExt cx="8016680" cy="2581656"/>
            </a:xfrm>
          </p:grpSpPr>
          <p:sp>
            <p:nvSpPr>
              <p:cNvPr id="27" name="Line 27"/>
              <p:cNvSpPr/>
              <p:nvPr/>
            </p:nvSpPr>
            <p:spPr>
              <a:xfrm>
                <a:off x="6400800" y="3619500"/>
                <a:ext cx="9525" cy="2286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0">
                    <a:moveTo>
                      <a:pt x="0" y="0"/>
                    </a:moveTo>
                    <a:lnTo>
                      <a:pt x="0" y="2286000"/>
                    </a:lnTo>
                  </a:path>
                </a:pathLst>
              </a:custGeom>
              <a:noFill/>
              <a:ln w="9525">
                <a:solidFill>
                  <a:srgbClr val="E5E5E5"/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7467600" y="3619500"/>
                <a:ext cx="9525" cy="2286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0">
                    <a:moveTo>
                      <a:pt x="0" y="0"/>
                    </a:moveTo>
                    <a:lnTo>
                      <a:pt x="0" y="2286000"/>
                    </a:lnTo>
                  </a:path>
                </a:pathLst>
              </a:custGeom>
              <a:noFill/>
              <a:ln w="9525">
                <a:solidFill>
                  <a:srgbClr val="E5E5E5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8534400" y="3619500"/>
                <a:ext cx="9525" cy="2286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0">
                    <a:moveTo>
                      <a:pt x="0" y="0"/>
                    </a:moveTo>
                    <a:lnTo>
                      <a:pt x="0" y="2286000"/>
                    </a:lnTo>
                  </a:path>
                </a:pathLst>
              </a:custGeom>
              <a:noFill/>
              <a:ln w="9525">
                <a:solidFill>
                  <a:srgbClr val="E5E5E5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9601200" y="3619500"/>
                <a:ext cx="9525" cy="2286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0">
                    <a:moveTo>
                      <a:pt x="0" y="0"/>
                    </a:moveTo>
                    <a:lnTo>
                      <a:pt x="0" y="2286000"/>
                    </a:lnTo>
                  </a:path>
                </a:pathLst>
              </a:custGeom>
              <a:noFill/>
              <a:ln w="9525">
                <a:solidFill>
                  <a:srgbClr val="E5E5E5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5334000" y="3619500"/>
                <a:ext cx="9525" cy="2286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0">
                    <a:moveTo>
                      <a:pt x="0" y="0"/>
                    </a:moveTo>
                    <a:lnTo>
                      <a:pt x="0" y="2286000"/>
                    </a:lnTo>
                  </a:path>
                </a:pathLst>
              </a:custGeom>
              <a:noFill/>
              <a:ln w="19050">
                <a:solidFill>
                  <a:srgbClr val="595959"/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5334000" y="5905500"/>
                <a:ext cx="533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34000" h="9525">
                    <a:moveTo>
                      <a:pt x="0" y="0"/>
                    </a:moveTo>
                    <a:lnTo>
                      <a:pt x="5334000" y="0"/>
                    </a:lnTo>
                  </a:path>
                </a:pathLst>
              </a:custGeom>
              <a:noFill/>
              <a:ln w="19050">
                <a:solidFill>
                  <a:srgbClr val="595959"/>
                </a:solidFill>
              </a:ln>
            </p:spPr>
          </p:sp>
          <p:grpSp>
            <p:nvGrpSpPr>
              <p:cNvPr id="39" name="satisfaction-ticks"/>
              <p:cNvGrpSpPr/>
              <p:nvPr/>
            </p:nvGrpSpPr>
            <p:grpSpPr>
              <a:xfrm>
                <a:off x="5216957" y="5966460"/>
                <a:ext cx="5661964" cy="234696"/>
                <a:chOff x="5216957" y="5966460"/>
                <a:chExt cx="5661964" cy="234696"/>
              </a:xfrm>
            </p:grpSpPr>
            <p:sp>
              <p:nvSpPr>
                <p:cNvPr id="33" name="TextBox 33"/>
                <p:cNvSpPr txBox="1"/>
                <p:nvPr/>
              </p:nvSpPr>
              <p:spPr>
                <a:xfrm>
                  <a:off x="5216957" y="5966460"/>
                  <a:ext cx="23408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rgbClr val="595959"/>
                      </a:solidFill>
                      <a:latin typeface="+mn-lt"/>
                      <a:ea typeface="+mn-ea"/>
                      <a:cs typeface="+mn-cs"/>
                    </a:rPr>
                    <a:t>0%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236818" y="5966460"/>
                  <a:ext cx="32796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rgbClr val="595959"/>
                      </a:solidFill>
                      <a:latin typeface="+mn-lt"/>
                      <a:ea typeface="+mn-ea"/>
                      <a:cs typeface="+mn-cs"/>
                    </a:rPr>
                    <a:t>20%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7303618" y="5966460"/>
                  <a:ext cx="32796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rgbClr val="595959"/>
                      </a:solidFill>
                      <a:latin typeface="+mn-lt"/>
                      <a:ea typeface="+mn-ea"/>
                      <a:cs typeface="+mn-cs"/>
                    </a:rPr>
                    <a:t>40%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8370418" y="5966460"/>
                  <a:ext cx="32796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rgbClr val="595959"/>
                      </a:solidFill>
                      <a:latin typeface="+mn-lt"/>
                      <a:ea typeface="+mn-ea"/>
                      <a:cs typeface="+mn-cs"/>
                    </a:rPr>
                    <a:t>60%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9437218" y="5966460"/>
                  <a:ext cx="32796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rgbClr val="595959"/>
                      </a:solidFill>
                      <a:latin typeface="+mn-lt"/>
                      <a:ea typeface="+mn-ea"/>
                      <a:cs typeface="+mn-cs"/>
                    </a:rPr>
                    <a:t>80%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10457078" y="5966460"/>
                  <a:ext cx="421843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rgbClr val="595959"/>
                      </a:solidFill>
                      <a:latin typeface="+mn-lt"/>
                      <a:ea typeface="+mn-ea"/>
                      <a:cs typeface="+mn-cs"/>
                    </a:rPr>
                    <a:t>100%</a:t>
                  </a:r>
                </a:p>
              </p:txBody>
            </p:sp>
          </p:grpSp>
          <p:grpSp>
            <p:nvGrpSpPr>
              <p:cNvPr id="55" name="satisfaction-bars"/>
              <p:cNvGrpSpPr/>
              <p:nvPr/>
            </p:nvGrpSpPr>
            <p:grpSpPr>
              <a:xfrm>
                <a:off x="3060954" y="3695700"/>
                <a:ext cx="8016680" cy="2192465"/>
                <a:chOff x="3060954" y="3695700"/>
                <a:chExt cx="8016680" cy="2192465"/>
              </a:xfrm>
            </p:grpSpPr>
            <p:sp>
              <p:nvSpPr>
                <p:cNvPr id="40" name="TextBox 40"/>
                <p:cNvSpPr txBox="1"/>
                <p:nvPr/>
              </p:nvSpPr>
              <p:spPr>
                <a:xfrm>
                  <a:off x="3765042" y="3736658"/>
                  <a:ext cx="1424940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改造工程质量</a:t>
                  </a:r>
                </a:p>
              </p:txBody>
            </p:sp>
            <p:sp>
              <p:nvSpPr>
                <p:cNvPr id="41" name="Rectangle 41"/>
                <p:cNvSpPr/>
                <p:nvPr/>
              </p:nvSpPr>
              <p:spPr>
                <a:xfrm>
                  <a:off x="5334000" y="3695700"/>
                  <a:ext cx="4987290" cy="304800"/>
                </a:xfrm>
                <a:prstGeom prst="rect">
                  <a:avLst/>
                </a:prstGeom>
                <a:solidFill>
                  <a:srgbClr val="A32126"/>
                </a:solidFill>
                <a:ln>
                  <a:noFill/>
                </a:ln>
              </p:spPr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10431018" y="3736658"/>
                  <a:ext cx="646616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Arial"/>
                      <a:ea typeface="Arial"/>
                      <a:cs typeface="Arial"/>
                    </a:rPr>
                    <a:t>93.5%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3060954" y="4193858"/>
                  <a:ext cx="2129028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施工组织与安全管理</a:t>
                  </a:r>
                </a:p>
              </p:txBody>
            </p:sp>
            <p:sp>
              <p:nvSpPr>
                <p:cNvPr id="44" name="Rectangle 44"/>
                <p:cNvSpPr/>
                <p:nvPr/>
              </p:nvSpPr>
              <p:spPr>
                <a:xfrm>
                  <a:off x="5334000" y="4152900"/>
                  <a:ext cx="4714875" cy="304800"/>
                </a:xfrm>
                <a:prstGeom prst="rect">
                  <a:avLst/>
                </a:prstGeom>
                <a:solidFill>
                  <a:srgbClr val="A32126"/>
                </a:solidFill>
                <a:ln>
                  <a:noFill/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10154793" y="4193858"/>
                  <a:ext cx="646616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Arial"/>
                      <a:ea typeface="Arial"/>
                      <a:cs typeface="Arial"/>
                    </a:rPr>
                    <a:t>88.4%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3060954" y="4651058"/>
                  <a:ext cx="2129028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改造内容与需求匹配</a:t>
                  </a:r>
                </a:p>
              </p:txBody>
            </p:sp>
            <p:sp>
              <p:nvSpPr>
                <p:cNvPr id="47" name="Rectangle 47"/>
                <p:cNvSpPr/>
                <p:nvPr/>
              </p:nvSpPr>
              <p:spPr>
                <a:xfrm>
                  <a:off x="5334000" y="4610100"/>
                  <a:ext cx="4592955" cy="304800"/>
                </a:xfrm>
                <a:prstGeom prst="rect">
                  <a:avLst/>
                </a:prstGeom>
                <a:solidFill>
                  <a:srgbClr val="A32126"/>
                </a:solidFill>
                <a:ln>
                  <a:noFill/>
                </a:ln>
              </p:spPr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10030968" y="4651058"/>
                  <a:ext cx="646616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Arial"/>
                      <a:ea typeface="Arial"/>
                      <a:cs typeface="Arial"/>
                    </a:rPr>
                    <a:t>86.1%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3060954" y="5108258"/>
                  <a:ext cx="2129028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沟通协商与信息公开</a:t>
                  </a:r>
                </a:p>
              </p:txBody>
            </p:sp>
            <p:sp>
              <p:nvSpPr>
                <p:cNvPr id="50" name="Rectangle 50"/>
                <p:cNvSpPr/>
                <p:nvPr/>
              </p:nvSpPr>
              <p:spPr>
                <a:xfrm>
                  <a:off x="5334000" y="5067300"/>
                  <a:ext cx="4528185" cy="304800"/>
                </a:xfrm>
                <a:prstGeom prst="rect">
                  <a:avLst/>
                </a:prstGeom>
                <a:solidFill>
                  <a:srgbClr val="A32126"/>
                </a:solidFill>
                <a:ln>
                  <a:noFill/>
                </a:ln>
              </p:spPr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9964293" y="5108258"/>
                  <a:ext cx="646616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262626"/>
                      </a:solidFill>
                      <a:latin typeface="Arial"/>
                      <a:ea typeface="Arial"/>
                      <a:cs typeface="Arial"/>
                    </a:rPr>
                    <a:t>84.9%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3765042" y="5565458"/>
                  <a:ext cx="1424940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650" dirty="0">
                      <a:solidFill>
                        <a:srgbClr val="262626"/>
                      </a:solidFill>
                      <a:latin typeface="+mn-lt"/>
                      <a:ea typeface="+mn-ea"/>
                      <a:cs typeface="+mn-cs"/>
                    </a:rPr>
                    <a:t>长效维护机制</a:t>
                  </a:r>
                </a:p>
              </p:txBody>
            </p:sp>
            <p:sp>
              <p:nvSpPr>
                <p:cNvPr id="53" name="Rectangle 53"/>
                <p:cNvSpPr/>
                <p:nvPr/>
              </p:nvSpPr>
              <p:spPr>
                <a:xfrm>
                  <a:off x="5334000" y="5524500"/>
                  <a:ext cx="4411028" cy="304800"/>
                </a:xfrm>
                <a:prstGeom prst="rect">
                  <a:avLst/>
                </a:prstGeom>
                <a:solidFill>
                  <a:srgbClr val="7E1418"/>
                </a:solidFill>
                <a:ln>
                  <a:noFill/>
                </a:ln>
              </p:spPr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9849993" y="5565458"/>
                  <a:ext cx="646616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b="1" dirty="0">
                      <a:solidFill>
                        <a:srgbClr val="7E1418"/>
                      </a:solidFill>
                      <a:latin typeface="Arial"/>
                      <a:ea typeface="Arial"/>
                      <a:cs typeface="Arial"/>
                    </a:rPr>
                    <a:t>82.7%</a:t>
                  </a:r>
                </a:p>
              </p:txBody>
            </p:sp>
          </p:grpSp>
        </p:grpSp>
      </p:grpSp>
      <p:grpSp>
        <p:nvGrpSpPr>
          <p:cNvPr id="59" name="shortboard-note"/>
          <p:cNvGrpSpPr/>
          <p:nvPr/>
        </p:nvGrpSpPr>
        <p:grpSpPr>
          <a:xfrm>
            <a:off x="678942" y="6197918"/>
            <a:ext cx="8232343" cy="264033"/>
            <a:chOff x="678942" y="6197918"/>
            <a:chExt cx="8232343" cy="264033"/>
          </a:xfrm>
        </p:grpSpPr>
        <p:sp>
          <p:nvSpPr>
            <p:cNvPr id="58" name="TextBox 58"/>
            <p:cNvSpPr txBox="1"/>
            <p:nvPr/>
          </p:nvSpPr>
          <p:spPr>
            <a:xfrm>
              <a:off x="678942" y="6197918"/>
              <a:ext cx="8232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32126"/>
                  </a:solidFill>
                  <a:latin typeface="+mn-lt"/>
                  <a:ea typeface="+mn-ea"/>
                  <a:cs typeface="+mn-cs"/>
                </a:rPr>
                <a:t>短板项：长效维护机制 82.7% 为五个分项最低；需求匹配 86.1%（对应问题（三）、（四））。</a:t>
              </a:r>
            </a:p>
          </p:txBody>
        </p:sp>
      </p:grpSp>
      <p:grpSp>
        <p:nvGrpSpPr>
          <p:cNvPr id="61" name="footnote"/>
          <p:cNvGrpSpPr/>
          <p:nvPr/>
        </p:nvGrpSpPr>
        <p:grpSpPr>
          <a:xfrm>
            <a:off x="679704" y="6442710"/>
            <a:ext cx="8503920" cy="234696"/>
            <a:chOff x="679704" y="6442710"/>
            <a:chExt cx="8503920" cy="234696"/>
          </a:xfrm>
        </p:grpSpPr>
        <p:sp>
          <p:nvSpPr>
            <p:cNvPr id="60" name="TextBox 60"/>
            <p:cNvSpPr txBox="1"/>
            <p:nvPr/>
          </p:nvSpPr>
          <p:spPr>
            <a:xfrm>
              <a:off x="679704" y="6442710"/>
              <a:ext cx="85039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C8C"/>
                  </a:solidFill>
                  <a:latin typeface="+mn-lt"/>
                  <a:ea typeface="+mn-ea"/>
                  <a:cs typeface="+mn-cs"/>
                </a:rPr>
                <a:t>注：满意率＝评价为“满意”或“基本满意”的样本数÷有效样本数；本页数据为情景示例，正式汇报以核定数为准。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312347" y="6442710"/>
            <a:ext cx="1999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C8C8C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70560" y="552450"/>
            <a:ext cx="10835640" cy="720090"/>
            <a:chOff x="670560" y="552450"/>
            <a:chExt cx="10835640" cy="720090"/>
          </a:xfrm>
        </p:grpSpPr>
        <p:sp>
          <p:nvSpPr>
            <p:cNvPr id="2" name="Rectangle 2"/>
            <p:cNvSpPr/>
            <p:nvPr/>
          </p:nvSpPr>
          <p:spPr>
            <a:xfrm>
              <a:off x="685800" y="552450"/>
              <a:ext cx="419100" cy="76200"/>
            </a:xfrm>
            <a:prstGeom prst="rect">
              <a:avLst/>
            </a:prstGeom>
            <a:solidFill>
              <a:srgbClr val="A32126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0560" y="685800"/>
              <a:ext cx="2453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262626"/>
                  </a:solidFill>
                  <a:latin typeface="+mj-lt"/>
                  <a:ea typeface="+mj-ea"/>
                  <a:cs typeface="+mj-cs"/>
                </a:rPr>
                <a:t>四、存在问题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257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</p:grpSp>
      <p:grpSp>
        <p:nvGrpSpPr>
          <p:cNvPr id="7" name="lead-line"/>
          <p:cNvGrpSpPr/>
          <p:nvPr/>
        </p:nvGrpSpPr>
        <p:grpSpPr>
          <a:xfrm>
            <a:off x="678942" y="1359218"/>
            <a:ext cx="6926580" cy="264033"/>
            <a:chOff x="678942" y="1359218"/>
            <a:chExt cx="6926580" cy="264033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359218"/>
              <a:ext cx="6926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对照前三部分任务完成、资金到位与满意度调查数据，主要存在以下四方面问题：</a:t>
              </a:r>
            </a:p>
          </p:txBody>
        </p:sp>
      </p:grpSp>
      <p:grpSp>
        <p:nvGrpSpPr>
          <p:cNvPr id="13" name="problem-1"/>
          <p:cNvGrpSpPr/>
          <p:nvPr/>
        </p:nvGrpSpPr>
        <p:grpSpPr>
          <a:xfrm>
            <a:off x="672084" y="1676400"/>
            <a:ext cx="4003548" cy="2124456"/>
            <a:chOff x="672084" y="1676400"/>
            <a:chExt cx="4003548" cy="2124456"/>
          </a:xfrm>
        </p:grpSpPr>
        <p:sp>
          <p:nvSpPr>
            <p:cNvPr id="8" name="Rectangle 8"/>
            <p:cNvSpPr/>
            <p:nvPr/>
          </p:nvSpPr>
          <p:spPr>
            <a:xfrm>
              <a:off x="685800" y="1676400"/>
              <a:ext cx="381000" cy="57150"/>
            </a:xfrm>
            <a:prstGeom prst="rect">
              <a:avLst/>
            </a:prstGeom>
            <a:solidFill>
              <a:srgbClr val="A3212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2084" y="1804035"/>
              <a:ext cx="43176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A32126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10056" y="19011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2626"/>
                  </a:solidFill>
                  <a:latin typeface="+mj-lt"/>
                  <a:ea typeface="+mj-ea"/>
                  <a:cs typeface="+mj-cs"/>
                </a:rPr>
                <a:t>个别在建项目收尾滞后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7418" y="2298382"/>
              <a:ext cx="3998214" cy="12371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年度完工率 92.6%，尚有 5 个小区在建；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其中 3 个因地下管线迁改协调周期较长，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工程进度滞后于序时进度；提升类完成进度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76.5%，低于基础类与完善类。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9704" y="3566160"/>
              <a:ext cx="34942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32126"/>
                  </a:solidFill>
                  <a:latin typeface="+mn-lt"/>
                  <a:ea typeface="+mn-ea"/>
                  <a:cs typeface="+mn-cs"/>
                </a:rPr>
                <a:t>〔对应第一部分：完工率 92.6%、在建 5 个〕</a:t>
              </a:r>
            </a:p>
          </p:txBody>
        </p:sp>
      </p:grpSp>
      <p:grpSp>
        <p:nvGrpSpPr>
          <p:cNvPr id="19" name="problem-2"/>
          <p:cNvGrpSpPr/>
          <p:nvPr/>
        </p:nvGrpSpPr>
        <p:grpSpPr>
          <a:xfrm>
            <a:off x="6387084" y="1676400"/>
            <a:ext cx="4534510" cy="2124456"/>
            <a:chOff x="6387084" y="1676400"/>
            <a:chExt cx="4534510" cy="2124456"/>
          </a:xfrm>
        </p:grpSpPr>
        <p:sp>
          <p:nvSpPr>
            <p:cNvPr id="14" name="Rectangle 14"/>
            <p:cNvSpPr/>
            <p:nvPr/>
          </p:nvSpPr>
          <p:spPr>
            <a:xfrm>
              <a:off x="6400800" y="1676400"/>
              <a:ext cx="381000" cy="57150"/>
            </a:xfrm>
            <a:prstGeom prst="rect">
              <a:avLst/>
            </a:prstGeom>
            <a:solidFill>
              <a:srgbClr val="A3212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87084" y="1804035"/>
              <a:ext cx="43176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A32126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25056" y="19011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2626"/>
                  </a:solidFill>
                  <a:latin typeface="+mj-lt"/>
                  <a:ea typeface="+mj-ea"/>
                  <a:cs typeface="+mj-cs"/>
                </a:rPr>
                <a:t>配套资金到位不均衡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92418" y="2298382"/>
              <a:ext cx="4040124" cy="12371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资金总体到位率 85.3%、支付率 78.6%，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分渠道到位不均衡。市县财政资金到位率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68.6%、社会资本到位率 54.3%，明显低于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中央与省级资金 100.0% 的到位水平。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94704" y="3566160"/>
              <a:ext cx="4526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32126"/>
                  </a:solidFill>
                  <a:latin typeface="+mn-lt"/>
                  <a:ea typeface="+mn-ea"/>
                  <a:cs typeface="+mn-cs"/>
                </a:rPr>
                <a:t>〔对应第二部分：到位率 68.6%／54.3%、支付率 78.6%〕</a:t>
              </a:r>
            </a:p>
          </p:txBody>
        </p:sp>
      </p:grpSp>
      <p:grpSp>
        <p:nvGrpSpPr>
          <p:cNvPr id="25" name="problem-3"/>
          <p:cNvGrpSpPr/>
          <p:nvPr/>
        </p:nvGrpSpPr>
        <p:grpSpPr>
          <a:xfrm>
            <a:off x="672084" y="4019550"/>
            <a:ext cx="4464558" cy="2124456"/>
            <a:chOff x="672084" y="4019550"/>
            <a:chExt cx="4464558" cy="2124456"/>
          </a:xfrm>
        </p:grpSpPr>
        <p:sp>
          <p:nvSpPr>
            <p:cNvPr id="20" name="Rectangle 20"/>
            <p:cNvSpPr/>
            <p:nvPr/>
          </p:nvSpPr>
          <p:spPr>
            <a:xfrm>
              <a:off x="685800" y="4019550"/>
              <a:ext cx="381000" cy="57150"/>
            </a:xfrm>
            <a:prstGeom prst="rect">
              <a:avLst/>
            </a:prstGeom>
            <a:solidFill>
              <a:srgbClr val="A3212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2084" y="4147185"/>
              <a:ext cx="43176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A32126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10056" y="42443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2626"/>
                  </a:solidFill>
                  <a:latin typeface="+mj-lt"/>
                  <a:ea typeface="+mj-ea"/>
                  <a:cs typeface="+mj-cs"/>
                </a:rPr>
                <a:t>长效维护机制尚不健全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7418" y="4641532"/>
              <a:ext cx="4459224" cy="12371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已完工小区管养责任划分不够明晰，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专业化物业服务覆盖不足，设施维护经费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保障尚未制度化落实。长效维护机制满意率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82.7%，为五个分项中最低，低于总体 91.2%。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9704" y="5909310"/>
              <a:ext cx="3639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32126"/>
                  </a:solidFill>
                  <a:latin typeface="+mn-lt"/>
                  <a:ea typeface="+mn-ea"/>
                  <a:cs typeface="+mn-cs"/>
                </a:rPr>
                <a:t>〔对应第三部分：长效维护机制满意率 82.7%〕</a:t>
              </a:r>
            </a:p>
          </p:txBody>
        </p:sp>
      </p:grpSp>
      <p:grpSp>
        <p:nvGrpSpPr>
          <p:cNvPr id="31" name="problem-4"/>
          <p:cNvGrpSpPr/>
          <p:nvPr/>
        </p:nvGrpSpPr>
        <p:grpSpPr>
          <a:xfrm>
            <a:off x="6387084" y="4019550"/>
            <a:ext cx="4108323" cy="2124456"/>
            <a:chOff x="6387084" y="4019550"/>
            <a:chExt cx="4108323" cy="2124456"/>
          </a:xfrm>
        </p:grpSpPr>
        <p:sp>
          <p:nvSpPr>
            <p:cNvPr id="26" name="Rectangle 26"/>
            <p:cNvSpPr/>
            <p:nvPr/>
          </p:nvSpPr>
          <p:spPr>
            <a:xfrm>
              <a:off x="6400800" y="4019550"/>
              <a:ext cx="381000" cy="57150"/>
            </a:xfrm>
            <a:prstGeom prst="rect">
              <a:avLst/>
            </a:prstGeom>
            <a:solidFill>
              <a:srgbClr val="A3212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87084" y="4147185"/>
              <a:ext cx="43176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A32126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25056" y="42443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2626"/>
                  </a:solidFill>
                  <a:latin typeface="+mj-lt"/>
                  <a:ea typeface="+mj-ea"/>
                  <a:cs typeface="+mj-cs"/>
                </a:rPr>
                <a:t>居民需求征集不够充分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92418" y="4641532"/>
              <a:ext cx="4102989" cy="12371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部分小区方案征询覆盖面不足，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意见征集渠道单一，方案公示与施工信息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公开不够及时、内容不够完整。需求匹配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满意率 86.1%，低于工程质量分项 93.5%。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94704" y="5909310"/>
              <a:ext cx="32979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32126"/>
                  </a:solidFill>
                  <a:latin typeface="+mn-lt"/>
                  <a:ea typeface="+mn-ea"/>
                  <a:cs typeface="+mn-cs"/>
                </a:rPr>
                <a:t>〔对应第三部分：需求匹配满意率 86.1%〕</a:t>
              </a:r>
            </a:p>
          </p:txBody>
        </p:sp>
      </p:grpSp>
      <p:grpSp>
        <p:nvGrpSpPr>
          <p:cNvPr id="33" name="footnote"/>
          <p:cNvGrpSpPr/>
          <p:nvPr/>
        </p:nvGrpSpPr>
        <p:grpSpPr>
          <a:xfrm>
            <a:off x="679704" y="6404610"/>
            <a:ext cx="5986272" cy="234696"/>
            <a:chOff x="679704" y="6404610"/>
            <a:chExt cx="598627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679704" y="6404610"/>
              <a:ext cx="59862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C8C"/>
                  </a:solidFill>
                  <a:latin typeface="+mn-lt"/>
                  <a:ea typeface="+mn-ea"/>
                  <a:cs typeface="+mn-cs"/>
                </a:rPr>
                <a:t>注：本页各项问题所引数据与前三部分汇报口径一致；整改安排详见第五部分。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312347" y="6442710"/>
            <a:ext cx="1999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C8C8C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70560" y="552450"/>
            <a:ext cx="10835640" cy="720090"/>
            <a:chOff x="670560" y="552450"/>
            <a:chExt cx="10835640" cy="720090"/>
          </a:xfrm>
        </p:grpSpPr>
        <p:sp>
          <p:nvSpPr>
            <p:cNvPr id="2" name="Rectangle 2"/>
            <p:cNvSpPr/>
            <p:nvPr/>
          </p:nvSpPr>
          <p:spPr>
            <a:xfrm>
              <a:off x="685800" y="552450"/>
              <a:ext cx="419100" cy="76200"/>
            </a:xfrm>
            <a:prstGeom prst="rect">
              <a:avLst/>
            </a:prstGeom>
            <a:solidFill>
              <a:srgbClr val="A32126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0560" y="685800"/>
              <a:ext cx="28575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262626"/>
                  </a:solidFill>
                  <a:latin typeface="+mj-lt"/>
                  <a:ea typeface="+mj-ea"/>
                  <a:cs typeface="+mj-cs"/>
                </a:rPr>
                <a:t>五、下一步计划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257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</p:grpSp>
      <p:grpSp>
        <p:nvGrpSpPr>
          <p:cNvPr id="7" name="lead-line"/>
          <p:cNvGrpSpPr/>
          <p:nvPr/>
        </p:nvGrpSpPr>
        <p:grpSpPr>
          <a:xfrm>
            <a:off x="678942" y="1359218"/>
            <a:ext cx="7051396" cy="264033"/>
            <a:chOff x="678942" y="1359218"/>
            <a:chExt cx="7051396" cy="264033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359218"/>
              <a:ext cx="70513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总体要求：坚持问题导向、目标导向，逐项对照整改，2027 年 6 月底前全面收官。</a:t>
              </a:r>
            </a:p>
          </p:txBody>
        </p:sp>
      </p:grpSp>
      <p:grpSp>
        <p:nvGrpSpPr>
          <p:cNvPr id="13" name="measure-1"/>
          <p:cNvGrpSpPr/>
          <p:nvPr/>
        </p:nvGrpSpPr>
        <p:grpSpPr>
          <a:xfrm>
            <a:off x="672084" y="1676400"/>
            <a:ext cx="4287012" cy="2124456"/>
            <a:chOff x="672084" y="1676400"/>
            <a:chExt cx="4287012" cy="2124456"/>
          </a:xfrm>
        </p:grpSpPr>
        <p:sp>
          <p:nvSpPr>
            <p:cNvPr id="8" name="Rectangle 8"/>
            <p:cNvSpPr/>
            <p:nvPr/>
          </p:nvSpPr>
          <p:spPr>
            <a:xfrm>
              <a:off x="685800" y="1676400"/>
              <a:ext cx="381000" cy="57150"/>
            </a:xfrm>
            <a:prstGeom prst="rect">
              <a:avLst/>
            </a:prstGeom>
            <a:solidFill>
              <a:srgbClr val="A3212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2084" y="1804035"/>
              <a:ext cx="43176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A32126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10056" y="19011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2626"/>
                  </a:solidFill>
                  <a:latin typeface="+mj-lt"/>
                  <a:ea typeface="+mj-ea"/>
                  <a:cs typeface="+mj-cs"/>
                </a:rPr>
                <a:t>攻坚收尾在建项目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7418" y="2298382"/>
              <a:ext cx="3715322" cy="12371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对 5 个在建小区实行“一小区一专班”，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逐周调度、挂图作战，2027 年 6 月底前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全部完工并完成竣工验收，年度完工率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达到 100.0%。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9704" y="3566160"/>
              <a:ext cx="42793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32126"/>
                  </a:solidFill>
                  <a:latin typeface="+mn-lt"/>
                  <a:ea typeface="+mn-ea"/>
                  <a:cs typeface="+mn-cs"/>
                </a:rPr>
                <a:t>〔对应问题（一）｜责任：市住建局改造办、属地街道〕</a:t>
              </a:r>
            </a:p>
          </p:txBody>
        </p:sp>
      </p:grpSp>
      <p:grpSp>
        <p:nvGrpSpPr>
          <p:cNvPr id="19" name="measure-2"/>
          <p:cNvGrpSpPr/>
          <p:nvPr/>
        </p:nvGrpSpPr>
        <p:grpSpPr>
          <a:xfrm>
            <a:off x="6387084" y="1676400"/>
            <a:ext cx="3961638" cy="2124456"/>
            <a:chOff x="6387084" y="1676400"/>
            <a:chExt cx="3961638" cy="2124456"/>
          </a:xfrm>
        </p:grpSpPr>
        <p:sp>
          <p:nvSpPr>
            <p:cNvPr id="14" name="Rectangle 14"/>
            <p:cNvSpPr/>
            <p:nvPr/>
          </p:nvSpPr>
          <p:spPr>
            <a:xfrm>
              <a:off x="6400800" y="1676400"/>
              <a:ext cx="381000" cy="57150"/>
            </a:xfrm>
            <a:prstGeom prst="rect">
              <a:avLst/>
            </a:prstGeom>
            <a:solidFill>
              <a:srgbClr val="A3212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87084" y="1804035"/>
              <a:ext cx="43176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A32126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25056" y="19011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2626"/>
                  </a:solidFill>
                  <a:latin typeface="+mj-lt"/>
                  <a:ea typeface="+mj-ea"/>
                  <a:cs typeface="+mj-cs"/>
                </a:rPr>
                <a:t>加快配套资金拨付到位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92418" y="2298382"/>
              <a:ext cx="3956304" cy="12371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压实市县配套与社会资本出资责任，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实行分渠道月度通报；2026 年 12 月底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前各渠道到位率达到 100.0%，累计支付率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提升至 90.0% 以上，同步加快竣工结算。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94704" y="3566160"/>
              <a:ext cx="37673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32126"/>
                  </a:solidFill>
                  <a:latin typeface="+mn-lt"/>
                  <a:ea typeface="+mn-ea"/>
                  <a:cs typeface="+mn-cs"/>
                </a:rPr>
                <a:t>〔对应问题（二）｜责任：市财政局、市住建局〕</a:t>
              </a:r>
            </a:p>
          </p:txBody>
        </p:sp>
      </p:grpSp>
      <p:grpSp>
        <p:nvGrpSpPr>
          <p:cNvPr id="25" name="measure-3"/>
          <p:cNvGrpSpPr/>
          <p:nvPr/>
        </p:nvGrpSpPr>
        <p:grpSpPr>
          <a:xfrm>
            <a:off x="672084" y="4019550"/>
            <a:ext cx="3774948" cy="2124456"/>
            <a:chOff x="672084" y="4019550"/>
            <a:chExt cx="3774948" cy="2124456"/>
          </a:xfrm>
        </p:grpSpPr>
        <p:sp>
          <p:nvSpPr>
            <p:cNvPr id="20" name="Rectangle 20"/>
            <p:cNvSpPr/>
            <p:nvPr/>
          </p:nvSpPr>
          <p:spPr>
            <a:xfrm>
              <a:off x="685800" y="4019550"/>
              <a:ext cx="381000" cy="57150"/>
            </a:xfrm>
            <a:prstGeom prst="rect">
              <a:avLst/>
            </a:prstGeom>
            <a:solidFill>
              <a:srgbClr val="A3212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2084" y="4147185"/>
              <a:ext cx="43176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A32126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10056" y="42443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2626"/>
                  </a:solidFill>
                  <a:latin typeface="+mj-lt"/>
                  <a:ea typeface="+mj-ea"/>
                  <a:cs typeface="+mj-cs"/>
                </a:rPr>
                <a:t>健全长效维护机制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7418" y="4641532"/>
              <a:ext cx="3442906" cy="12371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对已完工小区逐个明确管养责任，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2027 年 3 月底前 68 个小区全部建立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街道、社区、居民三方共管机制，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长效维护机制满意率提升至 90.0%。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9704" y="5909310"/>
              <a:ext cx="37673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32126"/>
                  </a:solidFill>
                  <a:latin typeface="+mn-lt"/>
                  <a:ea typeface="+mn-ea"/>
                  <a:cs typeface="+mn-cs"/>
                </a:rPr>
                <a:t>〔对应问题（三）｜责任：属地街道、市住建局〕</a:t>
              </a:r>
            </a:p>
          </p:txBody>
        </p:sp>
      </p:grpSp>
      <p:grpSp>
        <p:nvGrpSpPr>
          <p:cNvPr id="31" name="measure-4"/>
          <p:cNvGrpSpPr/>
          <p:nvPr/>
        </p:nvGrpSpPr>
        <p:grpSpPr>
          <a:xfrm>
            <a:off x="6387084" y="4019550"/>
            <a:ext cx="3433572" cy="2124456"/>
            <a:chOff x="6387084" y="4019550"/>
            <a:chExt cx="3433572" cy="2124456"/>
          </a:xfrm>
        </p:grpSpPr>
        <p:sp>
          <p:nvSpPr>
            <p:cNvPr id="26" name="Rectangle 26"/>
            <p:cNvSpPr/>
            <p:nvPr/>
          </p:nvSpPr>
          <p:spPr>
            <a:xfrm>
              <a:off x="6400800" y="4019550"/>
              <a:ext cx="381000" cy="57150"/>
            </a:xfrm>
            <a:prstGeom prst="rect">
              <a:avLst/>
            </a:prstGeom>
            <a:solidFill>
              <a:srgbClr val="A3212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87084" y="4147185"/>
              <a:ext cx="43176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A32126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25056" y="42443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62626"/>
                  </a:solidFill>
                  <a:latin typeface="+mj-lt"/>
                  <a:ea typeface="+mj-ea"/>
                  <a:cs typeface="+mj-cs"/>
                </a:rPr>
                <a:t>完善居民参与机制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92418" y="4641532"/>
              <a:ext cx="3369564" cy="12371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改造方案征询实现全覆盖，推行改造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前后两次公示与意见反馈闭环办理，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未采纳意见逐一说明理由，需求匹配</a:t>
              </a:r>
              <a:br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满意率提升至 90.0%。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94704" y="5909310"/>
              <a:ext cx="3425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32126"/>
                  </a:solidFill>
                  <a:latin typeface="+mn-lt"/>
                  <a:ea typeface="+mn-ea"/>
                  <a:cs typeface="+mn-cs"/>
                </a:rPr>
                <a:t>〔对应问题（四）｜责任：市住建局改造办〕</a:t>
              </a:r>
            </a:p>
          </p:txBody>
        </p:sp>
      </p:grpSp>
      <p:grpSp>
        <p:nvGrpSpPr>
          <p:cNvPr id="33" name="footnote"/>
          <p:cNvGrpSpPr/>
          <p:nvPr/>
        </p:nvGrpSpPr>
        <p:grpSpPr>
          <a:xfrm>
            <a:off x="679704" y="6404610"/>
            <a:ext cx="7343242" cy="234696"/>
            <a:chOff x="679704" y="6404610"/>
            <a:chExt cx="734324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679704" y="6404610"/>
              <a:ext cx="7343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C8C"/>
                  </a:solidFill>
                  <a:latin typeface="+mn-lt"/>
                  <a:ea typeface="+mn-ea"/>
                  <a:cs typeface="+mn-cs"/>
                </a:rPr>
                <a:t>注：完工率、到位率、支付率、满意率目标值均按前述统一口径测算，节点为 2027 年 6 月底前。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312347" y="6442710"/>
            <a:ext cx="1999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C8C8C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ing-red-column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A32126"/>
          </a:solidFill>
          <a:ln>
            <a:noFill/>
          </a:ln>
        </p:spPr>
      </p:sp>
      <p:grpSp>
        <p:nvGrpSpPr>
          <p:cNvPr id="4" name="ending-side-title"/>
          <p:cNvGrpSpPr/>
          <p:nvPr/>
        </p:nvGrpSpPr>
        <p:grpSpPr>
          <a:xfrm>
            <a:off x="1447800" y="645795"/>
            <a:ext cx="533400" cy="5829300"/>
            <a:chOff x="1447800" y="645795"/>
            <a:chExt cx="533400" cy="5829300"/>
          </a:xfrm>
        </p:grpSpPr>
        <p:sp>
          <p:nvSpPr>
            <p:cNvPr id="3" name="TextBox 3"/>
            <p:cNvSpPr txBox="1"/>
            <p:nvPr/>
          </p:nvSpPr>
          <p:spPr>
            <a:xfrm>
              <a:off x="1447800" y="645795"/>
              <a:ext cx="533400" cy="5829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5700"/>
                </a:lnSpc>
              </a:pPr>
              <a:r>
                <a:rPr lang="zh-CN" sz="39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城</a:t>
              </a:r>
              <a:br/>
              <a:r>
                <a:rPr lang="zh-CN" sz="39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镇</a:t>
              </a:r>
              <a:br/>
              <a:r>
                <a:rPr lang="zh-CN" sz="39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老</a:t>
              </a:r>
              <a:br/>
              <a:r>
                <a:rPr lang="zh-CN" sz="39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旧</a:t>
              </a:r>
              <a:br/>
              <a:r>
                <a:rPr lang="zh-CN" sz="39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小</a:t>
              </a:r>
              <a:br/>
              <a:r>
                <a:rPr lang="zh-CN" sz="39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区</a:t>
              </a:r>
              <a:br/>
              <a:r>
                <a:rPr lang="zh-CN" sz="39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改</a:t>
              </a:r>
              <a:br/>
              <a:r>
                <a:rPr lang="zh-CN" sz="39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造</a:t>
              </a:r>
            </a:p>
          </p:txBody>
        </p:sp>
      </p:grpSp>
      <p:grpSp>
        <p:nvGrpSpPr>
          <p:cNvPr id="6" name="ending-title"/>
          <p:cNvGrpSpPr/>
          <p:nvPr/>
        </p:nvGrpSpPr>
        <p:grpSpPr>
          <a:xfrm>
            <a:off x="4172712" y="2659380"/>
            <a:ext cx="6821424" cy="704088"/>
            <a:chOff x="4172712" y="2659380"/>
            <a:chExt cx="6821424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4172712" y="2659380"/>
              <a:ext cx="68214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262626"/>
                  </a:solidFill>
                  <a:latin typeface="+mj-lt"/>
                  <a:ea typeface="+mj-ea"/>
                  <a:cs typeface="+mj-cs"/>
                </a:rPr>
                <a:t>以上汇报完毕，请评审组审阅。</a:t>
              </a:r>
            </a:p>
          </p:txBody>
        </p:sp>
      </p:grpSp>
      <p:grpSp>
        <p:nvGrpSpPr>
          <p:cNvPr id="8" name="ending-request"/>
          <p:cNvGrpSpPr/>
          <p:nvPr/>
        </p:nvGrpSpPr>
        <p:grpSpPr>
          <a:xfrm>
            <a:off x="4184142" y="5188268"/>
            <a:ext cx="3278124" cy="264033"/>
            <a:chOff x="4184142" y="5188268"/>
            <a:chExt cx="327812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4184142" y="5188268"/>
              <a:ext cx="3278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95959"/>
                  </a:solidFill>
                  <a:latin typeface="+mn-lt"/>
                  <a:ea typeface="+mn-ea"/>
                  <a:cs typeface="+mn-cs"/>
                </a:rPr>
                <a:t>恳请评审组对汇报内容提出指导意见。</a:t>
              </a:r>
            </a:p>
          </p:txBody>
        </p:sp>
      </p:grpSp>
      <p:grpSp>
        <p:nvGrpSpPr>
          <p:cNvPr id="11" name="ending-signature"/>
          <p:cNvGrpSpPr/>
          <p:nvPr/>
        </p:nvGrpSpPr>
        <p:grpSpPr>
          <a:xfrm>
            <a:off x="7585710" y="4138612"/>
            <a:ext cx="2903220" cy="840105"/>
            <a:chOff x="7585710" y="4138612"/>
            <a:chExt cx="2903220" cy="840105"/>
          </a:xfrm>
        </p:grpSpPr>
        <p:sp>
          <p:nvSpPr>
            <p:cNvPr id="9" name="TextBox 9"/>
            <p:cNvSpPr txBox="1"/>
            <p:nvPr/>
          </p:nvSpPr>
          <p:spPr>
            <a:xfrm>
              <a:off x="7585710" y="4138612"/>
              <a:ext cx="29032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2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市住房和城乡建设局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25790" y="4538662"/>
              <a:ext cx="22631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2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二〇二六年九月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aojiu_xiaoqu_huibao">
  <a:themeElements>
    <a:clrScheme name="laojiu_xiaoqu_huiba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ojiu_xiaoqu_huibao">
      <a:majorFont>
        <a:latin typeface="SimHei"/>
        <a:ea typeface="SimHei"/>
        <a:cs typeface="SimHei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angSong"/>
        <a:ea typeface="FangSong"/>
        <a:cs typeface="FangSong"/>
        <a:font script="Jpan" typeface="FangSong"/>
        <a:font script="Hang" typeface="FangSong"/>
        <a:font script="Hans" typeface="FangSong"/>
        <a:font script="Hant" typeface="FangSong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ojiu_xiaoqu_huiba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2026-09-22T18:02:37Z</dcterms:created>
  <dcterms:modified xsi:type="dcterms:W3CDTF">2026-09-22T18:02:37Z</dcterms:modified>
  <cp:category/>
  <cp:contentStatus/>
</cp:coreProperties>
</file>