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同事，今天这个会不是通读政府工作报告全文，区委要求我们传达的是报告里跟基层落实直接相关的部分。我把它们拎出来做成了这份提纲：今年，街道要抓的就四件大事——稳增长促发展、十件民生实事、基层治理、统筹发展和安全。每件都有数字、有责任、有闭环。请大家翻开第一页，先记住这四块的框架，后面每一块单独讲、单独部署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看大局。去年全区发展稳中有进，地区生产总值增长百分之五点六，财政民生支出占比保持在八成以上，这些成绩属于全区上下，我们一带而过。今年的大盘是地区生产总值增长百分之五点五左右，点到即止。跟我们直接相关的是这四条目标：城镇新增就业二点五万人以上，登记失业率控制在百分之四以内，居民收入增长与经济增长基本同步，生态环境持续改善。特别是就业和失业率这两条，街道是直接的责任终端。下面四件大事各在哪一页，请各位记住自己条线对应的位置：稳增长在第三页，十件民生实事在第四第五页，基层治理在第六页，发展和安全在第七页，怎么抓落实在最后一页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件，稳增长、促发展。有同志觉得这是发改、工信的事，跟街道关系不大——不是。企业服务的最后一公里就在街道。四条：第一，企业开办一网通办，一个工作日办结，这个政策要宣传到辖区每一户企业；第二，惠企政策免申即享，要逐户告知、上门宣讲，不让一户企业漏享；第三，全区全年新增规上工业企业五十家，街道负责摸排辖区潜力企业，建立培育台账、动态跟踪；第四，常态化走访辖区企业，诉求收集、闭环办理、件件有回音。请经济条线的同志注意，这四条散会后就对着分工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件，十件民生实事。这是报告原文的十件，我一件不落、一条不合并地列出来，数字也一个不改，请大家照着这个口径传达。前五件：一，新增公办学位四千个；二，改造老旧小区二十五个，同步推进加装电梯不少于六十部；三，新建口袋公园八个；四，推动社区食堂，也就是老年助餐点，覆盖所有街道；五，新增普惠性托位八百个。每一件都请牵头科室记下来，会后填到分工表上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接着念后五件：六，完成棚户区改造一千二百户；七，城乡居民医保人均财政补助标准提高三十元；八，新增公共停车位三千个；九，完成八个村的农村供水管网改造；十，推动政务服务就近办，实现街道便民服务网点全覆盖。这后五件多是设施补短板，件件要落到村居一线。到这里十件全部念完，请各位对着屏幕核一遍，散会后这两页可以直接打印成台账首页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件，加强和创新基层治理。这一块就是街道的主场，报告讲得很清楚：治理重心和资源向基层下沉。三条基础工作：一是充实社区工作力量，为基层减负赋能，把资源、服务、管理沉到社区一线；二是深化网格化管理，格格有人、人在格上、事在格中，网格全覆盖、无死角；三是矛盾纠纷多元化解，把问题化解在基层、化解在萌芽，不上交、不外溢。右边这块是今年的硬抓手：全面推行接诉即办，健全受理、办理、反馈的闭环。注意右下角两个数字：群众诉求按时办结率、满意率，全年都要达到百分之九十以上，这两个百分之九十是写进报告的指标，到时候是要算账的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四件，统筹发展和安全。安全是底线任务，天天在场。四条：第一，重点领域隐患排查整治，消防、燃气、交通、危化品四个领域，常态化排查、台账管理、整改闭环，不能搞运动式检查；第二，强化食品药品安全监管，盯紧辖区的市场、餐饮、小作坊，隐患即查即改；第三，防汛抗旱和自然灾害防范，预案、队伍、演练都要落到社区，加强基层应急能力建设；第四，维护社会大局和谐稳定，矛盾纠纷不上交、风险不外溢。安全条线的同志，这四条就是你们全年的责任清单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讲怎么落实，三条机制。第一步，对号入座：每一页的任务当场明确三件事——牵头科室、责任人、完成时限，散会以后三天内报街道办汇总。第二步，建台账：任务清单化、清单节点化，十件民生实事逐件挂账，进度每月一报。第三步，闭环销号：每周调度、每月通报，办结一项销号一项，未办结的说明原因。最后这句话跟大家共勉：四件大事、十件实事，条条有牵头、件件有回音。蓝图已经绘就，关键在于落实，让我们以钉钉子精神抓好各项工作落实。散会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treet_delivery_dec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treet_delivery_deck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kicker"/>
          <p:cNvGrpSpPr/>
          <p:nvPr/>
        </p:nvGrpSpPr>
        <p:grpSpPr>
          <a:xfrm>
            <a:off x="678942" y="876300"/>
            <a:ext cx="3630759" cy="670751"/>
            <a:chOff x="678942" y="876300"/>
            <a:chExt cx="3630759" cy="670751"/>
          </a:xfrm>
        </p:grpSpPr>
        <p:sp>
          <p:nvSpPr>
            <p:cNvPr id="2" name="Rectangle 2"/>
            <p:cNvSpPr/>
            <p:nvPr/>
          </p:nvSpPr>
          <p:spPr>
            <a:xfrm>
              <a:off x="685800" y="876300"/>
              <a:ext cx="60960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8942" y="1283018"/>
              <a:ext cx="36307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3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区政府工作报告 · 街道传达学习材料</a:t>
              </a:r>
            </a:p>
          </p:txBody>
        </p:sp>
      </p:grpSp>
      <p:grpSp>
        <p:nvGrpSpPr>
          <p:cNvPr id="6" name="cover-title"/>
          <p:cNvGrpSpPr/>
          <p:nvPr/>
        </p:nvGrpSpPr>
        <p:grpSpPr>
          <a:xfrm>
            <a:off x="666750" y="1958340"/>
            <a:ext cx="4914900" cy="1695450"/>
            <a:chOff x="666750" y="1958340"/>
            <a:chExt cx="4914900" cy="1695450"/>
          </a:xfrm>
        </p:grpSpPr>
        <p:sp>
          <p:nvSpPr>
            <p:cNvPr id="5" name="TextBox 5"/>
            <p:cNvSpPr txBox="1"/>
            <p:nvPr/>
          </p:nvSpPr>
          <p:spPr>
            <a:xfrm>
              <a:off x="666750" y="1958340"/>
              <a:ext cx="4914900" cy="1695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6000"/>
                </a:lnSpc>
              </a:pPr>
              <a:r>
                <a:rPr lang="zh-CN" sz="4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今年，街道要抓的</a:t>
              </a:r>
              <a:br/>
              <a:r>
                <a:rPr lang="zh-CN" sz="4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四件大事</a:t>
              </a:r>
            </a:p>
          </p:txBody>
        </p:sp>
      </p:grpSp>
      <p:grpSp>
        <p:nvGrpSpPr>
          <p:cNvPr id="8" name="cover-subtitle"/>
          <p:cNvGrpSpPr/>
          <p:nvPr/>
        </p:nvGrpSpPr>
        <p:grpSpPr>
          <a:xfrm>
            <a:off x="675132" y="3697605"/>
            <a:ext cx="6085294" cy="410718"/>
            <a:chOff x="675132" y="3697605"/>
            <a:chExt cx="6085294" cy="410718"/>
          </a:xfrm>
        </p:grpSpPr>
        <p:sp>
          <p:nvSpPr>
            <p:cNvPr id="7" name="TextBox 7"/>
            <p:cNvSpPr txBox="1"/>
            <p:nvPr/>
          </p:nvSpPr>
          <p:spPr>
            <a:xfrm>
              <a:off x="675132" y="3697605"/>
              <a:ext cx="608529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稳增长 · 十件民生实事 · 基层治理 · 发展和安全</a:t>
              </a:r>
            </a:p>
          </p:txBody>
        </p:sp>
      </p:grpSp>
      <p:grpSp>
        <p:nvGrpSpPr>
          <p:cNvPr id="20" name="cover-footer"/>
          <p:cNvGrpSpPr/>
          <p:nvPr/>
        </p:nvGrpSpPr>
        <p:grpSpPr>
          <a:xfrm>
            <a:off x="685800" y="4476750"/>
            <a:ext cx="6457950" cy="899351"/>
            <a:chOff x="685800" y="4476750"/>
            <a:chExt cx="6457950" cy="899351"/>
          </a:xfrm>
        </p:grpSpPr>
        <p:sp>
          <p:nvSpPr>
            <p:cNvPr id="9" name="Line 9"/>
            <p:cNvSpPr/>
            <p:nvPr/>
          </p:nvSpPr>
          <p:spPr>
            <a:xfrm>
              <a:off x="685800" y="4476750"/>
              <a:ext cx="6457950" cy="9525"/>
            </a:xfrm>
            <a:custGeom>
              <a:avLst/>
              <a:gdLst/>
              <a:ahLst/>
              <a:cxnLst/>
              <a:rect l="l" t="t" r="r" b="b"/>
              <a:pathLst>
                <a:path w="6457950" h="9525">
                  <a:moveTo>
                    <a:pt x="0" y="0"/>
                  </a:moveTo>
                  <a:lnTo>
                    <a:pt x="64579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33425" y="4867275"/>
              <a:ext cx="285751" cy="295276"/>
              <a:chOff x="733425" y="4867275"/>
              <a:chExt cx="285751" cy="29527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733425" y="5153026"/>
                <a:ext cx="28575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9525">
                    <a:moveTo>
                      <a:pt x="0" y="0"/>
                    </a:moveTo>
                    <a:lnTo>
                      <a:pt x="285751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33425" y="4978400"/>
                <a:ext cx="28575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9525">
                    <a:moveTo>
                      <a:pt x="0" y="0"/>
                    </a:moveTo>
                    <a:lnTo>
                      <a:pt x="285751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65175" y="4867275"/>
                <a:ext cx="2222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47625">
                    <a:moveTo>
                      <a:pt x="0" y="47625"/>
                    </a:moveTo>
                    <a:lnTo>
                      <a:pt x="111125" y="0"/>
                    </a:lnTo>
                    <a:lnTo>
                      <a:pt x="222250" y="47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49300" y="4978400"/>
                <a:ext cx="9525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4625">
                    <a:moveTo>
                      <a:pt x="0" y="0"/>
                    </a:moveTo>
                    <a:lnTo>
                      <a:pt x="0" y="174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03301" y="4978400"/>
                <a:ext cx="9525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4625">
                    <a:moveTo>
                      <a:pt x="0" y="0"/>
                    </a:moveTo>
                    <a:lnTo>
                      <a:pt x="0" y="174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12800" y="504190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76300" y="504190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39801" y="504190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212342" y="4845368"/>
              <a:ext cx="4445698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××街道传达学习用 · 2026年9月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宣讲约 15 分钟 · 会后作条线部署底稿，转发各科室与社区</a:t>
              </a:r>
            </a:p>
          </p:txBody>
        </p:sp>
      </p:grpSp>
      <p:grpSp>
        <p:nvGrpSpPr>
          <p:cNvPr id="27" name="four-square"/>
          <p:cNvGrpSpPr/>
          <p:nvPr/>
        </p:nvGrpSpPr>
        <p:grpSpPr>
          <a:xfrm>
            <a:off x="8115300" y="1809750"/>
            <a:ext cx="3390900" cy="4023551"/>
            <a:chOff x="8115300" y="1809750"/>
            <a:chExt cx="3390900" cy="4023551"/>
          </a:xfrm>
        </p:grpSpPr>
        <p:sp>
          <p:nvSpPr>
            <p:cNvPr id="21" name="Rectangle 21"/>
            <p:cNvSpPr/>
            <p:nvPr/>
          </p:nvSpPr>
          <p:spPr>
            <a:xfrm>
              <a:off x="8115300" y="1809750"/>
              <a:ext cx="3390900" cy="3390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8763000" y="2400300"/>
              <a:ext cx="20955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8763000" y="3067050"/>
              <a:ext cx="20955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8763000" y="3733800"/>
              <a:ext cx="20955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8763000" y="4400550"/>
              <a:ext cx="20955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790708" y="5569268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四件大事 · 条条落实到人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669036" y="710565"/>
            <a:ext cx="10837164" cy="645414"/>
            <a:chOff x="669036" y="710565"/>
            <a:chExt cx="10837164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669036" y="710565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今年怎么干：一页看懂，对号入座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85800" y="1295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</p:grpSp>
      <p:grpSp>
        <p:nvGrpSpPr>
          <p:cNvPr id="8" name="lastyear"/>
          <p:cNvGrpSpPr/>
          <p:nvPr/>
        </p:nvGrpSpPr>
        <p:grpSpPr>
          <a:xfrm>
            <a:off x="676656" y="1502092"/>
            <a:ext cx="3874770" cy="979742"/>
            <a:chOff x="676656" y="1502092"/>
            <a:chExt cx="3874770" cy="979742"/>
          </a:xfrm>
        </p:grpSpPr>
        <p:sp>
          <p:nvSpPr>
            <p:cNvPr id="5" name="Rectangle 5"/>
            <p:cNvSpPr/>
            <p:nvPr/>
          </p:nvSpPr>
          <p:spPr>
            <a:xfrm>
              <a:off x="685800" y="1524000"/>
              <a:ext cx="133350" cy="133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26592" y="15020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去年一句话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6656" y="1824990"/>
              <a:ext cx="3874770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全区发展稳中有进——GDP 增长 </a:t>
              </a:r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5.6%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财政民生支出占比保持在八成以上。</a:t>
              </a:r>
            </a:p>
          </p:txBody>
        </p:sp>
      </p:grpSp>
      <p:grpSp>
        <p:nvGrpSpPr>
          <p:cNvPr id="24" name="thisyear"/>
          <p:cNvGrpSpPr/>
          <p:nvPr/>
        </p:nvGrpSpPr>
        <p:grpSpPr>
          <a:xfrm>
            <a:off x="5934456" y="1502092"/>
            <a:ext cx="4436920" cy="2008442"/>
            <a:chOff x="5934456" y="1502092"/>
            <a:chExt cx="4436920" cy="2008442"/>
          </a:xfrm>
        </p:grpSpPr>
        <p:sp>
          <p:nvSpPr>
            <p:cNvPr id="9" name="Rectangle 9"/>
            <p:cNvSpPr/>
            <p:nvPr/>
          </p:nvSpPr>
          <p:spPr>
            <a:xfrm>
              <a:off x="5943600" y="1524000"/>
              <a:ext cx="133350" cy="1333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184392" y="15020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今年目标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34456" y="1824990"/>
              <a:ext cx="4436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地区生产总值增长 </a:t>
              </a:r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5.5% 左右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——点到即止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943600" y="2362200"/>
              <a:ext cx="95250" cy="95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127242" y="23307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城镇新增就业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34456" y="2567940"/>
              <a:ext cx="14836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2.5 万人以上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763000" y="2362200"/>
              <a:ext cx="95250" cy="95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946642" y="23307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登记失业率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53856" y="2567940"/>
              <a:ext cx="9100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4% 以内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943600" y="2952750"/>
              <a:ext cx="95250" cy="95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127242" y="29213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居民收入增长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934456" y="31584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与经济增长基本同步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763000" y="2952750"/>
              <a:ext cx="95250" cy="95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946642" y="29213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生态环境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753856" y="31584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持续改善</a:t>
              </a:r>
            </a:p>
          </p:txBody>
        </p:sp>
      </p:grpSp>
      <p:sp>
        <p:nvSpPr>
          <p:cNvPr id="25" name="Line 25"/>
          <p:cNvSpPr/>
          <p:nvPr/>
        </p:nvSpPr>
        <p:spPr>
          <a:xfrm>
            <a:off x="685800" y="3505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grpSp>
        <p:nvGrpSpPr>
          <p:cNvPr id="54" name="nav"/>
          <p:cNvGrpSpPr/>
          <p:nvPr/>
        </p:nvGrpSpPr>
        <p:grpSpPr>
          <a:xfrm>
            <a:off x="678942" y="3664268"/>
            <a:ext cx="10827258" cy="1822132"/>
            <a:chOff x="678942" y="3664268"/>
            <a:chExt cx="10827258" cy="1822132"/>
          </a:xfrm>
        </p:grpSpPr>
        <p:sp>
          <p:nvSpPr>
            <p:cNvPr id="26" name="TextBox 26"/>
            <p:cNvSpPr txBox="1"/>
            <p:nvPr/>
          </p:nvSpPr>
          <p:spPr>
            <a:xfrm>
              <a:off x="678942" y="3664268"/>
              <a:ext cx="1687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四件大事 · 翻页直达</a:t>
              </a:r>
            </a:p>
          </p:txBody>
        </p:sp>
        <p:grpSp>
          <p:nvGrpSpPr>
            <p:cNvPr id="31" name="nav-card-1"/>
            <p:cNvGrpSpPr/>
            <p:nvPr/>
          </p:nvGrpSpPr>
          <p:grpSpPr>
            <a:xfrm>
              <a:off x="685800" y="4000500"/>
              <a:ext cx="1905000" cy="1485900"/>
              <a:chOff x="685800" y="4000500"/>
              <a:chExt cx="1905000" cy="14859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685800" y="4000500"/>
                <a:ext cx="1905000" cy="1485900"/>
              </a:xfrm>
              <a:prstGeom prst="rect">
                <a:avLst/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27532" y="4154805"/>
                <a:ext cx="34785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01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29056" y="4587240"/>
                <a:ext cx="704088" cy="6568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稳增长</a:t>
                </a:r>
                <a:br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促发展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32104" y="5166360"/>
                <a:ext cx="5210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第 3 页</a:t>
                </a:r>
              </a:p>
            </p:txBody>
          </p:sp>
        </p:grpSp>
        <p:grpSp>
          <p:nvGrpSpPr>
            <p:cNvPr id="36" name="nav-card-2"/>
            <p:cNvGrpSpPr/>
            <p:nvPr/>
          </p:nvGrpSpPr>
          <p:grpSpPr>
            <a:xfrm>
              <a:off x="2914650" y="4000500"/>
              <a:ext cx="1905000" cy="1485900"/>
              <a:chOff x="2914650" y="4000500"/>
              <a:chExt cx="1905000" cy="14859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2914650" y="4000500"/>
                <a:ext cx="1905000" cy="1485900"/>
              </a:xfrm>
              <a:prstGeom prst="rect">
                <a:avLst/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3056382" y="4154805"/>
                <a:ext cx="34785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02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057906" y="4587240"/>
                <a:ext cx="932688" cy="6568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十件</a:t>
                </a:r>
                <a:br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民生实事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3060954" y="5166360"/>
                <a:ext cx="69875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第 4–5 页</a:t>
                </a:r>
              </a:p>
            </p:txBody>
          </p:sp>
        </p:grpSp>
        <p:grpSp>
          <p:nvGrpSpPr>
            <p:cNvPr id="41" name="nav-card-3"/>
            <p:cNvGrpSpPr/>
            <p:nvPr/>
          </p:nvGrpSpPr>
          <p:grpSpPr>
            <a:xfrm>
              <a:off x="5143500" y="4000500"/>
              <a:ext cx="1905000" cy="1485900"/>
              <a:chOff x="5143500" y="4000500"/>
              <a:chExt cx="1905000" cy="14859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5143500" y="4000500"/>
                <a:ext cx="1905000" cy="1485900"/>
              </a:xfrm>
              <a:prstGeom prst="rect">
                <a:avLst/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5285232" y="4154805"/>
                <a:ext cx="34785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03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5286756" y="4587240"/>
                <a:ext cx="1389888" cy="6568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基层治理</a:t>
                </a:r>
                <a:br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（单独成页）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5289804" y="5166360"/>
                <a:ext cx="5210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第 6 页</a:t>
                </a:r>
              </a:p>
            </p:txBody>
          </p:sp>
        </p:grpSp>
        <p:grpSp>
          <p:nvGrpSpPr>
            <p:cNvPr id="46" name="nav-card-4"/>
            <p:cNvGrpSpPr/>
            <p:nvPr/>
          </p:nvGrpSpPr>
          <p:grpSpPr>
            <a:xfrm>
              <a:off x="7372350" y="4000500"/>
              <a:ext cx="1905000" cy="1485900"/>
              <a:chOff x="7372350" y="4000500"/>
              <a:chExt cx="1905000" cy="14859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7372350" y="4000500"/>
                <a:ext cx="1905000" cy="1485900"/>
              </a:xfrm>
              <a:prstGeom prst="rect">
                <a:avLst/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7514082" y="4154805"/>
                <a:ext cx="34785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04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7515606" y="4587240"/>
                <a:ext cx="932688" cy="6568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统筹发展</a:t>
                </a:r>
                <a:br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和安全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518654" y="5166360"/>
                <a:ext cx="5210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第 7 页</a:t>
                </a:r>
              </a:p>
            </p:txBody>
          </p:sp>
        </p:grpSp>
        <p:grpSp>
          <p:nvGrpSpPr>
            <p:cNvPr id="53" name="nav-card-5"/>
            <p:cNvGrpSpPr/>
            <p:nvPr/>
          </p:nvGrpSpPr>
          <p:grpSpPr>
            <a:xfrm>
              <a:off x="9601200" y="4000500"/>
              <a:ext cx="1905000" cy="1485900"/>
              <a:chOff x="9601200" y="4000500"/>
              <a:chExt cx="1905000" cy="1485900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9601200" y="4000500"/>
                <a:ext cx="1905000" cy="1485900"/>
              </a:xfrm>
              <a:prstGeom prst="rect">
                <a:avLst/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grpSp>
            <p:nvGrpSpPr>
              <p:cNvPr id="50" name="Group 50"/>
              <p:cNvGrpSpPr/>
              <p:nvPr/>
            </p:nvGrpSpPr>
            <p:grpSpPr>
              <a:xfrm>
                <a:off x="9791700" y="4152900"/>
                <a:ext cx="228599" cy="228599"/>
                <a:chOff x="9791700" y="4152900"/>
                <a:chExt cx="228599" cy="228599"/>
              </a:xfrm>
            </p:grpSpPr>
            <p:sp>
              <p:nvSpPr>
                <p:cNvPr id="48" name="Freeform 48"/>
                <p:cNvSpPr/>
                <p:nvPr/>
              </p:nvSpPr>
              <p:spPr>
                <a:xfrm>
                  <a:off x="9791700" y="4152900"/>
                  <a:ext cx="228599" cy="228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228599">
                      <a:moveTo>
                        <a:pt x="0" y="114300"/>
                      </a:moveTo>
                      <a:cubicBezTo>
                        <a:pt x="0" y="177426"/>
                        <a:pt x="51174" y="228599"/>
                        <a:pt x="114300" y="228599"/>
                      </a:cubicBezTo>
                      <a:cubicBezTo>
                        <a:pt x="177426" y="228599"/>
                        <a:pt x="228599" y="177426"/>
                        <a:pt x="228599" y="114300"/>
                      </a:cubicBezTo>
                      <a:cubicBezTo>
                        <a:pt x="228599" y="51174"/>
                        <a:pt x="177426" y="0"/>
                        <a:pt x="114300" y="0"/>
                      </a:cubicBezTo>
                      <a:cubicBezTo>
                        <a:pt x="51174" y="0"/>
                        <a:pt x="0" y="51174"/>
                        <a:pt x="0" y="114300"/>
                      </a:cubicBez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9867900" y="4241800"/>
                  <a:ext cx="762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50800">
                      <a:moveTo>
                        <a:pt x="0" y="25400"/>
                      </a:moveTo>
                      <a:lnTo>
                        <a:pt x="25400" y="50800"/>
                      </a:lnTo>
                      <a:lnTo>
                        <a:pt x="76200" y="0"/>
                      </a:ln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</p:grpSp>
          <p:sp>
            <p:nvSpPr>
              <p:cNvPr id="51" name="TextBox 51"/>
              <p:cNvSpPr txBox="1"/>
              <p:nvPr/>
            </p:nvSpPr>
            <p:spPr>
              <a:xfrm>
                <a:off x="9744456" y="4587240"/>
                <a:ext cx="932688" cy="6568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抓落实</a:t>
                </a:r>
                <a:br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分工到人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9747504" y="5166360"/>
                <a:ext cx="5210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第 8 页</a:t>
                </a:r>
              </a:p>
            </p:txBody>
          </p:sp>
        </p:grpSp>
      </p:grpSp>
      <p:grpSp>
        <p:nvGrpSpPr>
          <p:cNvPr id="57" name="page-footer"/>
          <p:cNvGrpSpPr/>
          <p:nvPr/>
        </p:nvGrpSpPr>
        <p:grpSpPr>
          <a:xfrm>
            <a:off x="679704" y="6042660"/>
            <a:ext cx="10832592" cy="653796"/>
            <a:chOff x="679704" y="6042660"/>
            <a:chExt cx="10832592" cy="653796"/>
          </a:xfrm>
        </p:grpSpPr>
        <p:sp>
          <p:nvSpPr>
            <p:cNvPr id="55" name="TextBox 55"/>
            <p:cNvSpPr txBox="1"/>
            <p:nvPr/>
          </p:nvSpPr>
          <p:spPr>
            <a:xfrm>
              <a:off x="679704" y="6042660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本页及后续数字均取自政府工作报告原文，未作调整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958932" y="64617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page-header"/>
          <p:cNvGrpSpPr/>
          <p:nvPr/>
        </p:nvGrpSpPr>
        <p:grpSpPr>
          <a:xfrm>
            <a:off x="666750" y="805815"/>
            <a:ext cx="10839450" cy="1038225"/>
            <a:chOff x="666750" y="805815"/>
            <a:chExt cx="10839450" cy="1038225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91059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1790700" y="838200"/>
              <a:ext cx="9525" cy="609600"/>
            </a:xfrm>
            <a:custGeom>
              <a:avLst/>
              <a:gdLst/>
              <a:ahLst/>
              <a:cxnLst/>
              <a:rect l="l" t="t" r="r" b="b"/>
              <a:pathLst>
                <a:path w="9525" h="609600">
                  <a:moveTo>
                    <a:pt x="0" y="0"/>
                  </a:moveTo>
                  <a:lnTo>
                    <a:pt x="0" y="6096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2040636" y="805815"/>
              <a:ext cx="31432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稳增长、促发展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046732" y="1316355"/>
              <a:ext cx="400743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企业服务的“最后一公里”在街道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10982325" y="987425"/>
              <a:ext cx="285751" cy="158750"/>
              <a:chOff x="10982325" y="987425"/>
              <a:chExt cx="285751" cy="15875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0982325" y="987425"/>
                <a:ext cx="285751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58750">
                    <a:moveTo>
                      <a:pt x="0" y="158750"/>
                    </a:moveTo>
                    <a:lnTo>
                      <a:pt x="95250" y="63500"/>
                    </a:lnTo>
                    <a:lnTo>
                      <a:pt x="158750" y="127000"/>
                    </a:lnTo>
                    <a:lnTo>
                      <a:pt x="285751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1156950" y="987425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0" y="0"/>
                    </a:moveTo>
                    <a:lnTo>
                      <a:pt x="111125" y="0"/>
                    </a:lnTo>
                    <a:lnTo>
                      <a:pt x="111125" y="1111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9" name="Line 9"/>
            <p:cNvSpPr/>
            <p:nvPr/>
          </p:nvSpPr>
          <p:spPr>
            <a:xfrm>
              <a:off x="685800" y="1809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</p:grpSp>
      <p:grpSp>
        <p:nvGrpSpPr>
          <p:cNvPr id="16" name="item-1"/>
          <p:cNvGrpSpPr/>
          <p:nvPr/>
        </p:nvGrpSpPr>
        <p:grpSpPr>
          <a:xfrm>
            <a:off x="685800" y="2000250"/>
            <a:ext cx="10820400" cy="767334"/>
            <a:chOff x="685800" y="2000250"/>
            <a:chExt cx="10820400" cy="767334"/>
          </a:xfrm>
        </p:grpSpPr>
        <p:sp>
          <p:nvSpPr>
            <p:cNvPr id="11" name="Rectangle 11"/>
            <p:cNvSpPr/>
            <p:nvPr/>
          </p:nvSpPr>
          <p:spPr>
            <a:xfrm>
              <a:off x="685800" y="2000250"/>
              <a:ext cx="10820400" cy="7429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914400" y="2181225"/>
              <a:ext cx="3810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32380" y="22793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13332" y="2116455"/>
              <a:ext cx="26094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企业开办“一网通办”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14856" y="2415540"/>
              <a:ext cx="48627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 个工作日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办结——把政策宣传到辖区每户企业</a:t>
              </a:r>
            </a:p>
          </p:txBody>
        </p:sp>
      </p:grpSp>
      <p:grpSp>
        <p:nvGrpSpPr>
          <p:cNvPr id="22" name="item-2"/>
          <p:cNvGrpSpPr/>
          <p:nvPr/>
        </p:nvGrpSpPr>
        <p:grpSpPr>
          <a:xfrm>
            <a:off x="685800" y="2857500"/>
            <a:ext cx="10820400" cy="767334"/>
            <a:chOff x="685800" y="2857500"/>
            <a:chExt cx="10820400" cy="767334"/>
          </a:xfrm>
        </p:grpSpPr>
        <p:sp>
          <p:nvSpPr>
            <p:cNvPr id="17" name="Rectangle 17"/>
            <p:cNvSpPr/>
            <p:nvPr/>
          </p:nvSpPr>
          <p:spPr>
            <a:xfrm>
              <a:off x="685800" y="2857500"/>
              <a:ext cx="10820400" cy="7429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914400" y="3038475"/>
              <a:ext cx="3810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32380" y="31365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13332" y="2973705"/>
              <a:ext cx="26094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惠企政策“免申即享”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14856" y="3272790"/>
              <a:ext cx="43799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逐户告知、上门宣讲，</a:t>
              </a:r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不让一户企业漏享</a:t>
              </a:r>
            </a:p>
          </p:txBody>
        </p:sp>
      </p:grpSp>
      <p:grpSp>
        <p:nvGrpSpPr>
          <p:cNvPr id="28" name="item-3"/>
          <p:cNvGrpSpPr/>
          <p:nvPr/>
        </p:nvGrpSpPr>
        <p:grpSpPr>
          <a:xfrm>
            <a:off x="685800" y="3714750"/>
            <a:ext cx="10820400" cy="767334"/>
            <a:chOff x="685800" y="3714750"/>
            <a:chExt cx="10820400" cy="767334"/>
          </a:xfrm>
        </p:grpSpPr>
        <p:sp>
          <p:nvSpPr>
            <p:cNvPr id="23" name="Rectangle 23"/>
            <p:cNvSpPr/>
            <p:nvPr/>
          </p:nvSpPr>
          <p:spPr>
            <a:xfrm>
              <a:off x="685800" y="3714750"/>
              <a:ext cx="10820400" cy="7429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914400" y="3895725"/>
              <a:ext cx="3810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32380" y="39938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13332" y="3830955"/>
              <a:ext cx="47664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新增规上工业企业 </a:t>
              </a:r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50 家</a:t>
              </a:r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（全区全年）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14856" y="413004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街道负责摸排辖区潜力企业，</a:t>
              </a:r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建培育台账、动态跟踪</a:t>
              </a:r>
            </a:p>
          </p:txBody>
        </p:sp>
      </p:grpSp>
      <p:grpSp>
        <p:nvGrpSpPr>
          <p:cNvPr id="34" name="item-4"/>
          <p:cNvGrpSpPr/>
          <p:nvPr/>
        </p:nvGrpSpPr>
        <p:grpSpPr>
          <a:xfrm>
            <a:off x="685800" y="4572000"/>
            <a:ext cx="10820400" cy="767334"/>
            <a:chOff x="685800" y="4572000"/>
            <a:chExt cx="10820400" cy="767334"/>
          </a:xfrm>
        </p:grpSpPr>
        <p:sp>
          <p:nvSpPr>
            <p:cNvPr id="29" name="Rectangle 29"/>
            <p:cNvSpPr/>
            <p:nvPr/>
          </p:nvSpPr>
          <p:spPr>
            <a:xfrm>
              <a:off x="685800" y="4572000"/>
              <a:ext cx="10820400" cy="7429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914400" y="4752975"/>
              <a:ext cx="3810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32380" y="48510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513332" y="4688205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常态化走访辖区企业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514856" y="498729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诉求收集、闭环办理、</a:t>
              </a:r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件件有回音</a:t>
              </a:r>
            </a:p>
          </p:txBody>
        </p:sp>
      </p:grpSp>
      <p:grpSp>
        <p:nvGrpSpPr>
          <p:cNvPr id="41" name="assign-strip"/>
          <p:cNvGrpSpPr/>
          <p:nvPr/>
        </p:nvGrpSpPr>
        <p:grpSpPr>
          <a:xfrm>
            <a:off x="685800" y="5600700"/>
            <a:ext cx="10820400" cy="571500"/>
            <a:chOff x="685800" y="5600700"/>
            <a:chExt cx="10820400" cy="571500"/>
          </a:xfrm>
        </p:grpSpPr>
        <p:sp>
          <p:nvSpPr>
            <p:cNvPr id="35" name="Rectangle 35"/>
            <p:cNvSpPr/>
            <p:nvPr/>
          </p:nvSpPr>
          <p:spPr>
            <a:xfrm>
              <a:off x="685800" y="5600700"/>
              <a:ext cx="10820400" cy="571500"/>
            </a:xfrm>
            <a:prstGeom prst="rect">
              <a:avLst/>
            </a:prstGeom>
            <a:solidFill>
              <a:schemeClr val="accent2">
                <a:alpha val="10000"/>
              </a:schemeClr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85800" y="5600700"/>
              <a:ext cx="57150" cy="57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45642" y="5807392"/>
              <a:ext cx="62018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传达后当场明确——本页任务 · 牵头科室 ____ · 责任人 ____ · 完成时限 ____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11049000" y="5772150"/>
              <a:ext cx="228599" cy="228599"/>
              <a:chOff x="11049000" y="5772150"/>
              <a:chExt cx="228599" cy="228599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11049000" y="5772150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114300"/>
                    </a:moveTo>
                    <a:cubicBezTo>
                      <a:pt x="0" y="177426"/>
                      <a:pt x="51174" y="228599"/>
                      <a:pt x="114300" y="228599"/>
                    </a:cubicBezTo>
                    <a:cubicBezTo>
                      <a:pt x="177426" y="228599"/>
                      <a:pt x="228599" y="177426"/>
                      <a:pt x="228599" y="114300"/>
                    </a:cubicBezTo>
                    <a:cubicBezTo>
                      <a:pt x="228599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1163300" y="5822950"/>
                <a:ext cx="381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01600">
                    <a:moveTo>
                      <a:pt x="0" y="0"/>
                    </a:moveTo>
                    <a:lnTo>
                      <a:pt x="0" y="63500"/>
                    </a:lnTo>
                    <a:lnTo>
                      <a:pt x="38100" y="10160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</p:grpSp>
      </p:grpSp>
      <p:sp>
        <p:nvSpPr>
          <p:cNvPr id="42" name="TextBox 42"/>
          <p:cNvSpPr txBox="1"/>
          <p:nvPr/>
        </p:nvSpPr>
        <p:spPr>
          <a:xfrm>
            <a:off x="10958932" y="646176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03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page-header"/>
          <p:cNvGrpSpPr/>
          <p:nvPr/>
        </p:nvGrpSpPr>
        <p:grpSpPr>
          <a:xfrm>
            <a:off x="666750" y="805815"/>
            <a:ext cx="10839450" cy="1038225"/>
            <a:chOff x="666750" y="805815"/>
            <a:chExt cx="10839450" cy="1038225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91059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1790700" y="838200"/>
              <a:ext cx="9525" cy="609600"/>
            </a:xfrm>
            <a:custGeom>
              <a:avLst/>
              <a:gdLst/>
              <a:ahLst/>
              <a:cxnLst/>
              <a:rect l="l" t="t" r="r" b="b"/>
              <a:pathLst>
                <a:path w="9525" h="609600">
                  <a:moveTo>
                    <a:pt x="0" y="0"/>
                  </a:moveTo>
                  <a:lnTo>
                    <a:pt x="0" y="6096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2040636" y="805815"/>
              <a:ext cx="492023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十件民生实事（一至五）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046732" y="1316355"/>
              <a:ext cx="68061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报告原文十件：一件不落、一条不合并、一个数字不改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10990263" y="947738"/>
              <a:ext cx="261937" cy="230188"/>
              <a:chOff x="10990263" y="947738"/>
              <a:chExt cx="261937" cy="230188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0990263" y="947738"/>
                <a:ext cx="63500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9688">
                    <a:moveTo>
                      <a:pt x="0" y="15875"/>
                    </a:moveTo>
                    <a:lnTo>
                      <a:pt x="23813" y="39688"/>
                    </a:ln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990263" y="1042988"/>
                <a:ext cx="63500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9688">
                    <a:moveTo>
                      <a:pt x="0" y="15875"/>
                    </a:moveTo>
                    <a:lnTo>
                      <a:pt x="23813" y="39688"/>
                    </a:ln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990263" y="1138238"/>
                <a:ext cx="63500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9688">
                    <a:moveTo>
                      <a:pt x="0" y="15875"/>
                    </a:moveTo>
                    <a:lnTo>
                      <a:pt x="23813" y="39688"/>
                    </a:ln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109325" y="971550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1109325" y="1066800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109325" y="1162051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13" name="Line 13"/>
            <p:cNvSpPr/>
            <p:nvPr/>
          </p:nvSpPr>
          <p:spPr>
            <a:xfrm>
              <a:off x="685800" y="1809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</p:grpSp>
      <p:grpSp>
        <p:nvGrpSpPr>
          <p:cNvPr id="19" name="fact-1"/>
          <p:cNvGrpSpPr/>
          <p:nvPr/>
        </p:nvGrpSpPr>
        <p:grpSpPr>
          <a:xfrm>
            <a:off x="685800" y="2076450"/>
            <a:ext cx="10820400" cy="523875"/>
            <a:chOff x="685800" y="2076450"/>
            <a:chExt cx="10820400" cy="523875"/>
          </a:xfrm>
        </p:grpSpPr>
        <p:sp>
          <p:nvSpPr>
            <p:cNvPr id="15" name="Rectangle 15"/>
            <p:cNvSpPr/>
            <p:nvPr/>
          </p:nvSpPr>
          <p:spPr>
            <a:xfrm>
              <a:off x="685800" y="2076450"/>
              <a:ext cx="438150" cy="438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74573" y="2186940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24356" y="2177415"/>
              <a:ext cx="24232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新增公办学位 </a:t>
              </a:r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4000 个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85800" y="2590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8E4DC"/>
              </a:solidFill>
            </a:ln>
          </p:spPr>
        </p:sp>
      </p:grpSp>
      <p:grpSp>
        <p:nvGrpSpPr>
          <p:cNvPr id="24" name="fact-2"/>
          <p:cNvGrpSpPr/>
          <p:nvPr/>
        </p:nvGrpSpPr>
        <p:grpSpPr>
          <a:xfrm>
            <a:off x="685800" y="2762250"/>
            <a:ext cx="10820400" cy="523875"/>
            <a:chOff x="685800" y="2762250"/>
            <a:chExt cx="10820400" cy="523875"/>
          </a:xfrm>
        </p:grpSpPr>
        <p:sp>
          <p:nvSpPr>
            <p:cNvPr id="20" name="Rectangle 20"/>
            <p:cNvSpPr/>
            <p:nvPr/>
          </p:nvSpPr>
          <p:spPr>
            <a:xfrm>
              <a:off x="685800" y="2762250"/>
              <a:ext cx="438150" cy="438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74573" y="2872740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24356" y="2863215"/>
              <a:ext cx="57260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改造老旧小区 </a:t>
              </a:r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25 个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，同步推进加装电梯</a:t>
              </a:r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不少于 60 部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85800" y="3276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8E4DC"/>
              </a:solidFill>
            </a:ln>
          </p:spPr>
        </p:sp>
      </p:grpSp>
      <p:grpSp>
        <p:nvGrpSpPr>
          <p:cNvPr id="29" name="fact-3"/>
          <p:cNvGrpSpPr/>
          <p:nvPr/>
        </p:nvGrpSpPr>
        <p:grpSpPr>
          <a:xfrm>
            <a:off x="685800" y="3448050"/>
            <a:ext cx="10820400" cy="523875"/>
            <a:chOff x="685800" y="3448050"/>
            <a:chExt cx="10820400" cy="523875"/>
          </a:xfrm>
        </p:grpSpPr>
        <p:sp>
          <p:nvSpPr>
            <p:cNvPr id="25" name="Rectangle 25"/>
            <p:cNvSpPr/>
            <p:nvPr/>
          </p:nvSpPr>
          <p:spPr>
            <a:xfrm>
              <a:off x="685800" y="3448050"/>
              <a:ext cx="438150" cy="438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74573" y="3558540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24356" y="3549015"/>
              <a:ext cx="20034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新建口袋公园 </a:t>
              </a:r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 个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85800" y="3962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8E4DC"/>
              </a:solidFill>
            </a:ln>
          </p:spPr>
        </p:sp>
      </p:grpSp>
      <p:grpSp>
        <p:nvGrpSpPr>
          <p:cNvPr id="34" name="fact-4"/>
          <p:cNvGrpSpPr/>
          <p:nvPr/>
        </p:nvGrpSpPr>
        <p:grpSpPr>
          <a:xfrm>
            <a:off x="685800" y="4133850"/>
            <a:ext cx="10820400" cy="523875"/>
            <a:chOff x="685800" y="4133850"/>
            <a:chExt cx="10820400" cy="523875"/>
          </a:xfrm>
        </p:grpSpPr>
        <p:sp>
          <p:nvSpPr>
            <p:cNvPr id="30" name="Rectangle 30"/>
            <p:cNvSpPr/>
            <p:nvPr/>
          </p:nvSpPr>
          <p:spPr>
            <a:xfrm>
              <a:off x="685800" y="4133850"/>
              <a:ext cx="438150" cy="438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74573" y="4244340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四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24356" y="4234815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推动社区食堂（老年助餐点）</a:t>
              </a:r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覆盖所有街道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685800" y="46482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8E4DC"/>
              </a:solidFill>
            </a:ln>
          </p:spPr>
        </p:sp>
      </p:grpSp>
      <p:grpSp>
        <p:nvGrpSpPr>
          <p:cNvPr id="38" name="fact-5"/>
          <p:cNvGrpSpPr/>
          <p:nvPr/>
        </p:nvGrpSpPr>
        <p:grpSpPr>
          <a:xfrm>
            <a:off x="685800" y="4819650"/>
            <a:ext cx="3164209" cy="462534"/>
            <a:chOff x="685800" y="4819650"/>
            <a:chExt cx="3164209" cy="462534"/>
          </a:xfrm>
        </p:grpSpPr>
        <p:sp>
          <p:nvSpPr>
            <p:cNvPr id="35" name="Rectangle 35"/>
            <p:cNvSpPr/>
            <p:nvPr/>
          </p:nvSpPr>
          <p:spPr>
            <a:xfrm>
              <a:off x="685800" y="4819650"/>
              <a:ext cx="438150" cy="438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74573" y="4930140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五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324356" y="4920615"/>
              <a:ext cx="25256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新增普惠性托位 </a:t>
              </a:r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800 个</a:t>
              </a:r>
            </a:p>
          </p:txBody>
        </p:sp>
      </p:grpSp>
      <p:grpSp>
        <p:nvGrpSpPr>
          <p:cNvPr id="45" name="assign-strip"/>
          <p:cNvGrpSpPr/>
          <p:nvPr/>
        </p:nvGrpSpPr>
        <p:grpSpPr>
          <a:xfrm>
            <a:off x="685800" y="5600700"/>
            <a:ext cx="10820400" cy="571500"/>
            <a:chOff x="685800" y="5600700"/>
            <a:chExt cx="10820400" cy="571500"/>
          </a:xfrm>
        </p:grpSpPr>
        <p:sp>
          <p:nvSpPr>
            <p:cNvPr id="39" name="Rectangle 39"/>
            <p:cNvSpPr/>
            <p:nvPr/>
          </p:nvSpPr>
          <p:spPr>
            <a:xfrm>
              <a:off x="685800" y="5600700"/>
              <a:ext cx="10820400" cy="571500"/>
            </a:xfrm>
            <a:prstGeom prst="rect">
              <a:avLst/>
            </a:prstGeom>
            <a:solidFill>
              <a:schemeClr val="accent2">
                <a:alpha val="10000"/>
              </a:schemeClr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85800" y="5600700"/>
              <a:ext cx="57150" cy="57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45642" y="5807392"/>
              <a:ext cx="62018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传达后当场明确——本页任务 · 牵头科室 ____ · 责任人 ____ · 完成时限 ____</a:t>
              </a:r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11049000" y="5772150"/>
              <a:ext cx="228599" cy="228599"/>
              <a:chOff x="11049000" y="5772150"/>
              <a:chExt cx="228599" cy="228599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11049000" y="5772150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114300"/>
                    </a:moveTo>
                    <a:cubicBezTo>
                      <a:pt x="0" y="177426"/>
                      <a:pt x="51174" y="228599"/>
                      <a:pt x="114300" y="228599"/>
                    </a:cubicBezTo>
                    <a:cubicBezTo>
                      <a:pt x="177426" y="228599"/>
                      <a:pt x="228599" y="177426"/>
                      <a:pt x="228599" y="114300"/>
                    </a:cubicBezTo>
                    <a:cubicBezTo>
                      <a:pt x="228599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1163300" y="5822950"/>
                <a:ext cx="381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01600">
                    <a:moveTo>
                      <a:pt x="0" y="0"/>
                    </a:moveTo>
                    <a:lnTo>
                      <a:pt x="0" y="63500"/>
                    </a:lnTo>
                    <a:lnTo>
                      <a:pt x="38100" y="10160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</p:grpSp>
      </p:grpSp>
      <p:sp>
        <p:nvSpPr>
          <p:cNvPr id="46" name="TextBox 46"/>
          <p:cNvSpPr txBox="1"/>
          <p:nvPr/>
        </p:nvSpPr>
        <p:spPr>
          <a:xfrm>
            <a:off x="10958932" y="646176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04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page-header"/>
          <p:cNvGrpSpPr/>
          <p:nvPr/>
        </p:nvGrpSpPr>
        <p:grpSpPr>
          <a:xfrm>
            <a:off x="666750" y="805815"/>
            <a:ext cx="10839450" cy="1038225"/>
            <a:chOff x="666750" y="805815"/>
            <a:chExt cx="10839450" cy="1038225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91059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1790700" y="838200"/>
              <a:ext cx="9525" cy="609600"/>
            </a:xfrm>
            <a:custGeom>
              <a:avLst/>
              <a:gdLst/>
              <a:ahLst/>
              <a:cxnLst/>
              <a:rect l="l" t="t" r="r" b="b"/>
              <a:pathLst>
                <a:path w="9525" h="609600">
                  <a:moveTo>
                    <a:pt x="0" y="0"/>
                  </a:moveTo>
                  <a:lnTo>
                    <a:pt x="0" y="6096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2040636" y="805815"/>
              <a:ext cx="492023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十件民生实事（六至十）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046732" y="1316355"/>
              <a:ext cx="57036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后五件多为设施补短板——件件要落到村居一线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10990263" y="947738"/>
              <a:ext cx="261937" cy="230188"/>
              <a:chOff x="10990263" y="947738"/>
              <a:chExt cx="261937" cy="230188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0990263" y="947738"/>
                <a:ext cx="63500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9688">
                    <a:moveTo>
                      <a:pt x="0" y="15875"/>
                    </a:moveTo>
                    <a:lnTo>
                      <a:pt x="23813" y="39688"/>
                    </a:ln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990263" y="1042988"/>
                <a:ext cx="63500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9688">
                    <a:moveTo>
                      <a:pt x="0" y="15875"/>
                    </a:moveTo>
                    <a:lnTo>
                      <a:pt x="23813" y="39688"/>
                    </a:ln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990263" y="1138238"/>
                <a:ext cx="63500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9688">
                    <a:moveTo>
                      <a:pt x="0" y="15875"/>
                    </a:moveTo>
                    <a:lnTo>
                      <a:pt x="23813" y="39688"/>
                    </a:ln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109325" y="971550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1109325" y="1066800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109325" y="1162051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13" name="Line 13"/>
            <p:cNvSpPr/>
            <p:nvPr/>
          </p:nvSpPr>
          <p:spPr>
            <a:xfrm>
              <a:off x="685800" y="1809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</p:grpSp>
      <p:grpSp>
        <p:nvGrpSpPr>
          <p:cNvPr id="19" name="fact-6"/>
          <p:cNvGrpSpPr/>
          <p:nvPr/>
        </p:nvGrpSpPr>
        <p:grpSpPr>
          <a:xfrm>
            <a:off x="685800" y="2076450"/>
            <a:ext cx="10820400" cy="523875"/>
            <a:chOff x="685800" y="2076450"/>
            <a:chExt cx="10820400" cy="523875"/>
          </a:xfrm>
        </p:grpSpPr>
        <p:sp>
          <p:nvSpPr>
            <p:cNvPr id="15" name="Rectangle 15"/>
            <p:cNvSpPr/>
            <p:nvPr/>
          </p:nvSpPr>
          <p:spPr>
            <a:xfrm>
              <a:off x="685800" y="2076450"/>
              <a:ext cx="438150" cy="438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74573" y="2186940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六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24356" y="2177415"/>
              <a:ext cx="26655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完成棚户区改造 </a:t>
              </a:r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1200 户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85800" y="2590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8E4DC"/>
              </a:solidFill>
            </a:ln>
          </p:spPr>
        </p:sp>
      </p:grpSp>
      <p:grpSp>
        <p:nvGrpSpPr>
          <p:cNvPr id="24" name="fact-7"/>
          <p:cNvGrpSpPr/>
          <p:nvPr/>
        </p:nvGrpSpPr>
        <p:grpSpPr>
          <a:xfrm>
            <a:off x="685800" y="2762250"/>
            <a:ext cx="10820400" cy="523875"/>
            <a:chOff x="685800" y="2762250"/>
            <a:chExt cx="10820400" cy="523875"/>
          </a:xfrm>
        </p:grpSpPr>
        <p:sp>
          <p:nvSpPr>
            <p:cNvPr id="20" name="Rectangle 20"/>
            <p:cNvSpPr/>
            <p:nvPr/>
          </p:nvSpPr>
          <p:spPr>
            <a:xfrm>
              <a:off x="685800" y="2762250"/>
              <a:ext cx="438150" cy="438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74573" y="2872740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24356" y="2863215"/>
              <a:ext cx="45701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城乡居民医保人均财政补助标准</a:t>
              </a:r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提高 30 元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85800" y="3276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8E4DC"/>
              </a:solidFill>
            </a:ln>
          </p:spPr>
        </p:sp>
      </p:grpSp>
      <p:grpSp>
        <p:nvGrpSpPr>
          <p:cNvPr id="29" name="fact-8"/>
          <p:cNvGrpSpPr/>
          <p:nvPr/>
        </p:nvGrpSpPr>
        <p:grpSpPr>
          <a:xfrm>
            <a:off x="685800" y="3448050"/>
            <a:ext cx="10820400" cy="523875"/>
            <a:chOff x="685800" y="3448050"/>
            <a:chExt cx="10820400" cy="523875"/>
          </a:xfrm>
        </p:grpSpPr>
        <p:sp>
          <p:nvSpPr>
            <p:cNvPr id="25" name="Rectangle 25"/>
            <p:cNvSpPr/>
            <p:nvPr/>
          </p:nvSpPr>
          <p:spPr>
            <a:xfrm>
              <a:off x="685800" y="3448050"/>
              <a:ext cx="438150" cy="438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74573" y="3558540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八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24356" y="3549015"/>
              <a:ext cx="26655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新增公共停车位 </a:t>
              </a:r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3000 个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85800" y="3962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8E4DC"/>
              </a:solidFill>
            </a:ln>
          </p:spPr>
        </p:sp>
      </p:grpSp>
      <p:grpSp>
        <p:nvGrpSpPr>
          <p:cNvPr id="34" name="fact-9"/>
          <p:cNvGrpSpPr/>
          <p:nvPr/>
        </p:nvGrpSpPr>
        <p:grpSpPr>
          <a:xfrm>
            <a:off x="685800" y="4133850"/>
            <a:ext cx="10820400" cy="523875"/>
            <a:chOff x="685800" y="4133850"/>
            <a:chExt cx="10820400" cy="523875"/>
          </a:xfrm>
        </p:grpSpPr>
        <p:sp>
          <p:nvSpPr>
            <p:cNvPr id="30" name="Rectangle 30"/>
            <p:cNvSpPr/>
            <p:nvPr/>
          </p:nvSpPr>
          <p:spPr>
            <a:xfrm>
              <a:off x="685800" y="4133850"/>
              <a:ext cx="438150" cy="438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74573" y="4244340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九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24356" y="4234815"/>
              <a:ext cx="34573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完成 </a:t>
              </a:r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 个村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的农村供水管网改造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685800" y="46482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8E4DC"/>
              </a:solidFill>
            </a:ln>
          </p:spPr>
        </p:sp>
      </p:grpSp>
      <p:grpSp>
        <p:nvGrpSpPr>
          <p:cNvPr id="38" name="fact-10"/>
          <p:cNvGrpSpPr/>
          <p:nvPr/>
        </p:nvGrpSpPr>
        <p:grpSpPr>
          <a:xfrm>
            <a:off x="685800" y="4819650"/>
            <a:ext cx="6496660" cy="462534"/>
            <a:chOff x="685800" y="4819650"/>
            <a:chExt cx="6496660" cy="462534"/>
          </a:xfrm>
        </p:grpSpPr>
        <p:sp>
          <p:nvSpPr>
            <p:cNvPr id="35" name="Rectangle 35"/>
            <p:cNvSpPr/>
            <p:nvPr/>
          </p:nvSpPr>
          <p:spPr>
            <a:xfrm>
              <a:off x="685800" y="4819650"/>
              <a:ext cx="438150" cy="438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74573" y="4930140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324356" y="4920615"/>
              <a:ext cx="58581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推动政务服务“就近办”，</a:t>
              </a:r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实现街道便民服务网点全覆盖</a:t>
              </a:r>
            </a:p>
          </p:txBody>
        </p:sp>
      </p:grpSp>
      <p:grpSp>
        <p:nvGrpSpPr>
          <p:cNvPr id="45" name="assign-strip"/>
          <p:cNvGrpSpPr/>
          <p:nvPr/>
        </p:nvGrpSpPr>
        <p:grpSpPr>
          <a:xfrm>
            <a:off x="685800" y="5600700"/>
            <a:ext cx="10820400" cy="571500"/>
            <a:chOff x="685800" y="5600700"/>
            <a:chExt cx="10820400" cy="571500"/>
          </a:xfrm>
        </p:grpSpPr>
        <p:sp>
          <p:nvSpPr>
            <p:cNvPr id="39" name="Rectangle 39"/>
            <p:cNvSpPr/>
            <p:nvPr/>
          </p:nvSpPr>
          <p:spPr>
            <a:xfrm>
              <a:off x="685800" y="5600700"/>
              <a:ext cx="10820400" cy="571500"/>
            </a:xfrm>
            <a:prstGeom prst="rect">
              <a:avLst/>
            </a:prstGeom>
            <a:solidFill>
              <a:schemeClr val="accent2">
                <a:alpha val="10000"/>
              </a:schemeClr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85800" y="5600700"/>
              <a:ext cx="57150" cy="57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45642" y="5807392"/>
              <a:ext cx="62018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传达后当场明确——本页任务 · 牵头科室 ____ · 责任人 ____ · 完成时限 ____</a:t>
              </a:r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11049000" y="5772150"/>
              <a:ext cx="228599" cy="228599"/>
              <a:chOff x="11049000" y="5772150"/>
              <a:chExt cx="228599" cy="228599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11049000" y="5772150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114300"/>
                    </a:moveTo>
                    <a:cubicBezTo>
                      <a:pt x="0" y="177426"/>
                      <a:pt x="51174" y="228599"/>
                      <a:pt x="114300" y="228599"/>
                    </a:cubicBezTo>
                    <a:cubicBezTo>
                      <a:pt x="177426" y="228599"/>
                      <a:pt x="228599" y="177426"/>
                      <a:pt x="228599" y="114300"/>
                    </a:cubicBezTo>
                    <a:cubicBezTo>
                      <a:pt x="228599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1163300" y="5822950"/>
                <a:ext cx="381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01600">
                    <a:moveTo>
                      <a:pt x="0" y="0"/>
                    </a:moveTo>
                    <a:lnTo>
                      <a:pt x="0" y="63500"/>
                    </a:lnTo>
                    <a:lnTo>
                      <a:pt x="38100" y="10160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</p:grpSp>
      </p:grpSp>
      <p:sp>
        <p:nvSpPr>
          <p:cNvPr id="46" name="TextBox 46"/>
          <p:cNvSpPr txBox="1"/>
          <p:nvPr/>
        </p:nvSpPr>
        <p:spPr>
          <a:xfrm>
            <a:off x="10958932" y="646176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05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page-header"/>
          <p:cNvGrpSpPr/>
          <p:nvPr/>
        </p:nvGrpSpPr>
        <p:grpSpPr>
          <a:xfrm>
            <a:off x="666750" y="805815"/>
            <a:ext cx="10839450" cy="1038225"/>
            <a:chOff x="666750" y="805815"/>
            <a:chExt cx="10839450" cy="1038225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91059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1790700" y="838200"/>
              <a:ext cx="9525" cy="609600"/>
            </a:xfrm>
            <a:custGeom>
              <a:avLst/>
              <a:gdLst/>
              <a:ahLst/>
              <a:cxnLst/>
              <a:rect l="l" t="t" r="r" b="b"/>
              <a:pathLst>
                <a:path w="9525" h="609600">
                  <a:moveTo>
                    <a:pt x="0" y="0"/>
                  </a:moveTo>
                  <a:lnTo>
                    <a:pt x="0" y="6096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2040636" y="805815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加强和创新基层治理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046732" y="1316355"/>
              <a:ext cx="65517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治理重心和资源向基层下沉——基层治理就是街道主场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0982325" y="923925"/>
              <a:ext cx="285751" cy="285751"/>
              <a:chOff x="10982325" y="923925"/>
              <a:chExt cx="285751" cy="28575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1014075" y="923925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982325" y="1114425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0" y="95250"/>
                    </a:move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lnTo>
                      <a:pt x="127000" y="0"/>
                    </a:lnTo>
                    <a:cubicBezTo>
                      <a:pt x="162070" y="0"/>
                      <a:pt x="190500" y="28430"/>
                      <a:pt x="190500" y="63500"/>
                    </a:cubicBezTo>
                    <a:lnTo>
                      <a:pt x="190500" y="9525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1188701" y="925989"/>
                <a:ext cx="47750" cy="123031"/>
              </a:xfrm>
              <a:custGeom>
                <a:avLst/>
                <a:gdLst/>
                <a:ahLst/>
                <a:cxnLst/>
                <a:rect l="l" t="t" r="r" b="b"/>
                <a:pathLst>
                  <a:path w="47750" h="123031">
                    <a:moveTo>
                      <a:pt x="0" y="0"/>
                    </a:moveTo>
                    <a:cubicBezTo>
                      <a:pt x="28097" y="7194"/>
                      <a:pt x="47750" y="32512"/>
                      <a:pt x="47750" y="61516"/>
                    </a:cubicBezTo>
                    <a:cubicBezTo>
                      <a:pt x="47750" y="90520"/>
                      <a:pt x="28097" y="115837"/>
                      <a:pt x="0" y="123031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220451" y="1116807"/>
                <a:ext cx="47625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2869">
                    <a:moveTo>
                      <a:pt x="47625" y="92869"/>
                    </a:moveTo>
                    <a:lnTo>
                      <a:pt x="47625" y="61119"/>
                    </a:lnTo>
                    <a:cubicBezTo>
                      <a:pt x="47459" y="32299"/>
                      <a:pt x="27905" y="7205"/>
                      <a:pt x="0" y="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11" name="Line 11"/>
            <p:cNvSpPr/>
            <p:nvPr/>
          </p:nvSpPr>
          <p:spPr>
            <a:xfrm>
              <a:off x="685800" y="1809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</p:grpSp>
      <p:grpSp>
        <p:nvGrpSpPr>
          <p:cNvPr id="18" name="left-item-1"/>
          <p:cNvGrpSpPr/>
          <p:nvPr/>
        </p:nvGrpSpPr>
        <p:grpSpPr>
          <a:xfrm>
            <a:off x="685800" y="2000250"/>
            <a:ext cx="6172200" cy="1072134"/>
            <a:chOff x="685800" y="2000250"/>
            <a:chExt cx="6172200" cy="1072134"/>
          </a:xfrm>
        </p:grpSpPr>
        <p:sp>
          <p:nvSpPr>
            <p:cNvPr id="13" name="Rectangle 13"/>
            <p:cNvSpPr/>
            <p:nvPr/>
          </p:nvSpPr>
          <p:spPr>
            <a:xfrm>
              <a:off x="685800" y="2000250"/>
              <a:ext cx="6172200" cy="10287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914400" y="2324100"/>
              <a:ext cx="3810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32380" y="24222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13332" y="2135505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力量下沉、减负赋能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14856" y="2453640"/>
              <a:ext cx="3447288" cy="6187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充实社区工作力量，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把资源、服务、管理沉到社区一线</a:t>
              </a:r>
            </a:p>
          </p:txBody>
        </p:sp>
      </p:grpSp>
      <p:grpSp>
        <p:nvGrpSpPr>
          <p:cNvPr id="24" name="left-item-2"/>
          <p:cNvGrpSpPr/>
          <p:nvPr/>
        </p:nvGrpSpPr>
        <p:grpSpPr>
          <a:xfrm>
            <a:off x="685800" y="3162300"/>
            <a:ext cx="6172200" cy="1072134"/>
            <a:chOff x="685800" y="3162300"/>
            <a:chExt cx="6172200" cy="1072134"/>
          </a:xfrm>
        </p:grpSpPr>
        <p:sp>
          <p:nvSpPr>
            <p:cNvPr id="19" name="Rectangle 19"/>
            <p:cNvSpPr/>
            <p:nvPr/>
          </p:nvSpPr>
          <p:spPr>
            <a:xfrm>
              <a:off x="685800" y="3162300"/>
              <a:ext cx="6172200" cy="10287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914400" y="3486150"/>
              <a:ext cx="3810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32380" y="358425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13332" y="329755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深化网格化管理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14856" y="3615690"/>
              <a:ext cx="3447288" cy="6187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格格有人、人在格上、事在格中，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网格全覆盖、无死角</a:t>
              </a:r>
            </a:p>
          </p:txBody>
        </p:sp>
      </p:grpSp>
      <p:grpSp>
        <p:nvGrpSpPr>
          <p:cNvPr id="30" name="left-item-3"/>
          <p:cNvGrpSpPr/>
          <p:nvPr/>
        </p:nvGrpSpPr>
        <p:grpSpPr>
          <a:xfrm>
            <a:off x="685800" y="4324350"/>
            <a:ext cx="6172200" cy="1072134"/>
            <a:chOff x="685800" y="4324350"/>
            <a:chExt cx="6172200" cy="1072134"/>
          </a:xfrm>
        </p:grpSpPr>
        <p:sp>
          <p:nvSpPr>
            <p:cNvPr id="25" name="Rectangle 25"/>
            <p:cNvSpPr/>
            <p:nvPr/>
          </p:nvSpPr>
          <p:spPr>
            <a:xfrm>
              <a:off x="685800" y="4324350"/>
              <a:ext cx="6172200" cy="10287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914400" y="4648200"/>
              <a:ext cx="3810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32380" y="47463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13332" y="4459605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矛盾纠纷多元化解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14856" y="4777740"/>
              <a:ext cx="3447288" cy="6187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把问题化解在基层、化解在萌芽，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不上交、不外溢</a:t>
              </a:r>
            </a:p>
          </p:txBody>
        </p:sp>
      </p:grpSp>
      <p:grpSp>
        <p:nvGrpSpPr>
          <p:cNvPr id="49" name="hotline-panel"/>
          <p:cNvGrpSpPr/>
          <p:nvPr/>
        </p:nvGrpSpPr>
        <p:grpSpPr>
          <a:xfrm>
            <a:off x="7391400" y="2000250"/>
            <a:ext cx="4114800" cy="3352800"/>
            <a:chOff x="7391400" y="2000250"/>
            <a:chExt cx="4114800" cy="3352800"/>
          </a:xfrm>
        </p:grpSpPr>
        <p:sp>
          <p:nvSpPr>
            <p:cNvPr id="31" name="Rectangle 31"/>
            <p:cNvSpPr/>
            <p:nvPr/>
          </p:nvSpPr>
          <p:spPr>
            <a:xfrm>
              <a:off x="7391400" y="2000250"/>
              <a:ext cx="4114800" cy="33528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609332" y="2116455"/>
              <a:ext cx="26094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全面推行“接诉即办”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620000" y="2590800"/>
              <a:ext cx="9906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863840" y="2634615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受理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686800" y="2762250"/>
              <a:ext cx="228600" cy="1"/>
            </a:xfrm>
            <a:prstGeom prst="line">
              <a:avLst/>
            </a:prstGeom>
            <a:noFill/>
            <a:ln w="23812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36" name="Rectangle 36"/>
            <p:cNvSpPr/>
            <p:nvPr/>
          </p:nvSpPr>
          <p:spPr>
            <a:xfrm>
              <a:off x="8953500" y="2590800"/>
              <a:ext cx="9906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197340" y="2634615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办理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10020300" y="2762250"/>
              <a:ext cx="228600" cy="1"/>
            </a:xfrm>
            <a:prstGeom prst="line">
              <a:avLst/>
            </a:prstGeom>
            <a:noFill/>
            <a:ln w="23812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39" name="Rectangle 39"/>
            <p:cNvSpPr/>
            <p:nvPr/>
          </p:nvSpPr>
          <p:spPr>
            <a:xfrm>
              <a:off x="10287000" y="2590800"/>
              <a:ext cx="9906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530840" y="2634615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反馈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13142" y="2997518"/>
              <a:ext cx="25762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健全群众诉求闭环——件件有回音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7620000" y="3314700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rgbClr val="E8E4DC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13142" y="3473768"/>
              <a:ext cx="20596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全年硬指标（两个 90%）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03236" y="3815715"/>
              <a:ext cx="115302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≥90%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13142" y="42929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群众诉求按时办结率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508236" y="3815715"/>
              <a:ext cx="115302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≥90%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518142" y="42929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群众满意率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613904" y="5013960"/>
              <a:ext cx="17003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原文：均达到 90% 以上</a:t>
              </a:r>
            </a:p>
          </p:txBody>
        </p:sp>
      </p:grpSp>
      <p:grpSp>
        <p:nvGrpSpPr>
          <p:cNvPr id="56" name="assign-strip"/>
          <p:cNvGrpSpPr/>
          <p:nvPr/>
        </p:nvGrpSpPr>
        <p:grpSpPr>
          <a:xfrm>
            <a:off x="685800" y="5600700"/>
            <a:ext cx="10820400" cy="571500"/>
            <a:chOff x="685800" y="5600700"/>
            <a:chExt cx="10820400" cy="571500"/>
          </a:xfrm>
        </p:grpSpPr>
        <p:sp>
          <p:nvSpPr>
            <p:cNvPr id="50" name="Rectangle 50"/>
            <p:cNvSpPr/>
            <p:nvPr/>
          </p:nvSpPr>
          <p:spPr>
            <a:xfrm>
              <a:off x="685800" y="5600700"/>
              <a:ext cx="10820400" cy="571500"/>
            </a:xfrm>
            <a:prstGeom prst="rect">
              <a:avLst/>
            </a:prstGeom>
            <a:solidFill>
              <a:schemeClr val="accent2">
                <a:alpha val="10000"/>
              </a:schemeClr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85800" y="5600700"/>
              <a:ext cx="57150" cy="57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45642" y="5807392"/>
              <a:ext cx="62018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传达后当场明确——本页任务 · 牵头科室 ____ · 责任人 ____ · 完成时限 ____</a:t>
              </a:r>
            </a:p>
          </p:txBody>
        </p:sp>
        <p:grpSp>
          <p:nvGrpSpPr>
            <p:cNvPr id="55" name="Group 55"/>
            <p:cNvGrpSpPr/>
            <p:nvPr/>
          </p:nvGrpSpPr>
          <p:grpSpPr>
            <a:xfrm>
              <a:off x="11049000" y="5772150"/>
              <a:ext cx="228599" cy="228599"/>
              <a:chOff x="11049000" y="5772150"/>
              <a:chExt cx="228599" cy="228599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11049000" y="5772150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114300"/>
                    </a:moveTo>
                    <a:cubicBezTo>
                      <a:pt x="0" y="177426"/>
                      <a:pt x="51174" y="228599"/>
                      <a:pt x="114300" y="228599"/>
                    </a:cubicBezTo>
                    <a:cubicBezTo>
                      <a:pt x="177426" y="228599"/>
                      <a:pt x="228599" y="177426"/>
                      <a:pt x="228599" y="114300"/>
                    </a:cubicBezTo>
                    <a:cubicBezTo>
                      <a:pt x="228599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1163300" y="5822950"/>
                <a:ext cx="381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01600">
                    <a:moveTo>
                      <a:pt x="0" y="0"/>
                    </a:moveTo>
                    <a:lnTo>
                      <a:pt x="0" y="63500"/>
                    </a:lnTo>
                    <a:lnTo>
                      <a:pt x="38100" y="10160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</p:grpSp>
      </p:grpSp>
      <p:sp>
        <p:nvSpPr>
          <p:cNvPr id="57" name="TextBox 57"/>
          <p:cNvSpPr txBox="1"/>
          <p:nvPr/>
        </p:nvSpPr>
        <p:spPr>
          <a:xfrm>
            <a:off x="10958932" y="646176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06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page-header"/>
          <p:cNvGrpSpPr/>
          <p:nvPr/>
        </p:nvGrpSpPr>
        <p:grpSpPr>
          <a:xfrm>
            <a:off x="666750" y="805815"/>
            <a:ext cx="10839450" cy="1038225"/>
            <a:chOff x="666750" y="805815"/>
            <a:chExt cx="10839450" cy="1038225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91059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04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1790700" y="838200"/>
              <a:ext cx="9525" cy="609600"/>
            </a:xfrm>
            <a:custGeom>
              <a:avLst/>
              <a:gdLst/>
              <a:ahLst/>
              <a:cxnLst/>
              <a:rect l="l" t="t" r="r" b="b"/>
              <a:pathLst>
                <a:path w="9525" h="609600">
                  <a:moveTo>
                    <a:pt x="0" y="0"/>
                  </a:moveTo>
                  <a:lnTo>
                    <a:pt x="0" y="6096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2040636" y="805815"/>
              <a:ext cx="31432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统筹发展和安全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046732" y="1316355"/>
              <a:ext cx="51382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压实安全生产责任——底线任务，天天在场</a:t>
              </a:r>
            </a:p>
          </p:txBody>
        </p:sp>
        <p:sp>
          <p:nvSpPr>
            <p:cNvPr id="6" name="Freeform 6"/>
            <p:cNvSpPr/>
            <p:nvPr/>
          </p:nvSpPr>
          <p:spPr>
            <a:xfrm>
              <a:off x="10975714" y="923925"/>
              <a:ext cx="298973" cy="285751"/>
            </a:xfrm>
            <a:custGeom>
              <a:avLst/>
              <a:gdLst/>
              <a:ahLst/>
              <a:cxnLst/>
              <a:rect l="l" t="t" r="r" b="b"/>
              <a:pathLst>
                <a:path w="298973" h="285751">
                  <a:moveTo>
                    <a:pt x="149486" y="0"/>
                  </a:moveTo>
                  <a:cubicBezTo>
                    <a:pt x="186568" y="32807"/>
                    <a:pt x="234965" y="49888"/>
                    <a:pt x="284424" y="47625"/>
                  </a:cubicBezTo>
                  <a:cubicBezTo>
                    <a:pt x="298973" y="97116"/>
                    <a:pt x="292829" y="150391"/>
                    <a:pt x="267397" y="195271"/>
                  </a:cubicBezTo>
                  <a:cubicBezTo>
                    <a:pt x="241965" y="240151"/>
                    <a:pt x="199419" y="272799"/>
                    <a:pt x="149486" y="285751"/>
                  </a:cubicBezTo>
                  <a:cubicBezTo>
                    <a:pt x="99554" y="272799"/>
                    <a:pt x="57008" y="240151"/>
                    <a:pt x="31576" y="195271"/>
                  </a:cubicBezTo>
                  <a:cubicBezTo>
                    <a:pt x="6144" y="150391"/>
                    <a:pt x="0" y="97116"/>
                    <a:pt x="14549" y="47625"/>
                  </a:cubicBezTo>
                  <a:cubicBezTo>
                    <a:pt x="64008" y="49888"/>
                    <a:pt x="112405" y="32807"/>
                    <a:pt x="149486" y="0"/>
                  </a:cubicBezTo>
                </a:path>
              </a:pathLst>
            </a:custGeom>
            <a:noFill/>
            <a:ln w="31750">
              <a:solidFill>
                <a:schemeClr val="accent1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85800" y="1809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</p:grpSp>
      <p:grpSp>
        <p:nvGrpSpPr>
          <p:cNvPr id="22" name="safety-item-1"/>
          <p:cNvGrpSpPr/>
          <p:nvPr/>
        </p:nvGrpSpPr>
        <p:grpSpPr>
          <a:xfrm>
            <a:off x="685800" y="2000250"/>
            <a:ext cx="10820400" cy="952500"/>
            <a:chOff x="685800" y="2000250"/>
            <a:chExt cx="10820400" cy="952500"/>
          </a:xfrm>
        </p:grpSpPr>
        <p:sp>
          <p:nvSpPr>
            <p:cNvPr id="9" name="Rectangle 9"/>
            <p:cNvSpPr/>
            <p:nvPr/>
          </p:nvSpPr>
          <p:spPr>
            <a:xfrm>
              <a:off x="685800" y="2000250"/>
              <a:ext cx="10820400" cy="9525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914400" y="2286000"/>
              <a:ext cx="3810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32380" y="23841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13332" y="2059305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重点领域隐患排查整治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524000" y="2457450"/>
              <a:ext cx="838200" cy="304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754505" y="25212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消防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514600" y="2457450"/>
              <a:ext cx="838200" cy="304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745105" y="25212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燃气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505200" y="2457450"/>
              <a:ext cx="838200" cy="304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735705" y="25212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交通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495800" y="2457450"/>
              <a:ext cx="838200" cy="304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35436" y="25212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危化品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86856" y="247269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常态化排查、</a:t>
              </a:r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台账管理、整改闭环</a:t>
              </a:r>
            </a:p>
          </p:txBody>
        </p:sp>
      </p:grpSp>
      <p:grpSp>
        <p:nvGrpSpPr>
          <p:cNvPr id="28" name="safety-item-2"/>
          <p:cNvGrpSpPr/>
          <p:nvPr/>
        </p:nvGrpSpPr>
        <p:grpSpPr>
          <a:xfrm>
            <a:off x="685800" y="3067050"/>
            <a:ext cx="10820400" cy="748284"/>
            <a:chOff x="685800" y="3067050"/>
            <a:chExt cx="10820400" cy="748284"/>
          </a:xfrm>
        </p:grpSpPr>
        <p:sp>
          <p:nvSpPr>
            <p:cNvPr id="23" name="Rectangle 23"/>
            <p:cNvSpPr/>
            <p:nvPr/>
          </p:nvSpPr>
          <p:spPr>
            <a:xfrm>
              <a:off x="685800" y="3067050"/>
              <a:ext cx="10820400" cy="7239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914400" y="3238500"/>
              <a:ext cx="3810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32380" y="33366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13332" y="3164205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强化食品药品安全监管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14856" y="3463290"/>
              <a:ext cx="4864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盯紧辖区市场、餐饮、小作坊，</a:t>
              </a:r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隐患即查即改</a:t>
              </a:r>
            </a:p>
          </p:txBody>
        </p:sp>
      </p:grpSp>
      <p:grpSp>
        <p:nvGrpSpPr>
          <p:cNvPr id="34" name="safety-item-3"/>
          <p:cNvGrpSpPr/>
          <p:nvPr/>
        </p:nvGrpSpPr>
        <p:grpSpPr>
          <a:xfrm>
            <a:off x="685800" y="3905250"/>
            <a:ext cx="10820400" cy="748284"/>
            <a:chOff x="685800" y="3905250"/>
            <a:chExt cx="10820400" cy="748284"/>
          </a:xfrm>
        </p:grpSpPr>
        <p:sp>
          <p:nvSpPr>
            <p:cNvPr id="29" name="Rectangle 29"/>
            <p:cNvSpPr/>
            <p:nvPr/>
          </p:nvSpPr>
          <p:spPr>
            <a:xfrm>
              <a:off x="685800" y="3905250"/>
              <a:ext cx="10820400" cy="7239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914400" y="4076700"/>
              <a:ext cx="3810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32380" y="41748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513332" y="4002405"/>
              <a:ext cx="31310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防汛抗旱与自然灾害防范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514856" y="430149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预案、队伍、演练落到社区，</a:t>
              </a:r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加强基层应急能力建设</a:t>
              </a:r>
            </a:p>
          </p:txBody>
        </p:sp>
      </p:grpSp>
      <p:grpSp>
        <p:nvGrpSpPr>
          <p:cNvPr id="40" name="safety-item-4"/>
          <p:cNvGrpSpPr/>
          <p:nvPr/>
        </p:nvGrpSpPr>
        <p:grpSpPr>
          <a:xfrm>
            <a:off x="685800" y="4743450"/>
            <a:ext cx="10820400" cy="748284"/>
            <a:chOff x="685800" y="4743450"/>
            <a:chExt cx="10820400" cy="748284"/>
          </a:xfrm>
        </p:grpSpPr>
        <p:sp>
          <p:nvSpPr>
            <p:cNvPr id="35" name="Rectangle 35"/>
            <p:cNvSpPr/>
            <p:nvPr/>
          </p:nvSpPr>
          <p:spPr>
            <a:xfrm>
              <a:off x="685800" y="4743450"/>
              <a:ext cx="10820400" cy="7239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914400" y="4914900"/>
              <a:ext cx="3810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32380" y="50130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513332" y="4840605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维护社会大局和谐稳定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514856" y="513969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矛盾纠纷不上交、风险不外溢，</a:t>
              </a:r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守好第一道防线</a:t>
              </a:r>
            </a:p>
          </p:txBody>
        </p:sp>
      </p:grpSp>
      <p:grpSp>
        <p:nvGrpSpPr>
          <p:cNvPr id="47" name="assign-strip"/>
          <p:cNvGrpSpPr/>
          <p:nvPr/>
        </p:nvGrpSpPr>
        <p:grpSpPr>
          <a:xfrm>
            <a:off x="685800" y="5600700"/>
            <a:ext cx="10820400" cy="571500"/>
            <a:chOff x="685800" y="5600700"/>
            <a:chExt cx="10820400" cy="571500"/>
          </a:xfrm>
        </p:grpSpPr>
        <p:sp>
          <p:nvSpPr>
            <p:cNvPr id="41" name="Rectangle 41"/>
            <p:cNvSpPr/>
            <p:nvPr/>
          </p:nvSpPr>
          <p:spPr>
            <a:xfrm>
              <a:off x="685800" y="5600700"/>
              <a:ext cx="10820400" cy="571500"/>
            </a:xfrm>
            <a:prstGeom prst="rect">
              <a:avLst/>
            </a:prstGeom>
            <a:solidFill>
              <a:schemeClr val="accent2">
                <a:alpha val="10000"/>
              </a:schemeClr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85800" y="5600700"/>
              <a:ext cx="57150" cy="57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45642" y="5807392"/>
              <a:ext cx="62018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传达后当场明确——本页任务 · 牵头科室 ____ · 责任人 ____ · 完成时限 ____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11049000" y="5772150"/>
              <a:ext cx="228599" cy="228599"/>
              <a:chOff x="11049000" y="5772150"/>
              <a:chExt cx="228599" cy="228599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11049000" y="5772150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114300"/>
                    </a:moveTo>
                    <a:cubicBezTo>
                      <a:pt x="0" y="177426"/>
                      <a:pt x="51174" y="228599"/>
                      <a:pt x="114300" y="228599"/>
                    </a:cubicBezTo>
                    <a:cubicBezTo>
                      <a:pt x="177426" y="228599"/>
                      <a:pt x="228599" y="177426"/>
                      <a:pt x="228599" y="114300"/>
                    </a:cubicBezTo>
                    <a:cubicBezTo>
                      <a:pt x="228599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1163300" y="5822950"/>
                <a:ext cx="381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01600">
                    <a:moveTo>
                      <a:pt x="0" y="0"/>
                    </a:moveTo>
                    <a:lnTo>
                      <a:pt x="0" y="63500"/>
                    </a:lnTo>
                    <a:lnTo>
                      <a:pt x="38100" y="10160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</p:grpSp>
      </p:grpSp>
      <p:sp>
        <p:nvSpPr>
          <p:cNvPr id="48" name="TextBox 48"/>
          <p:cNvSpPr txBox="1"/>
          <p:nvPr/>
        </p:nvSpPr>
        <p:spPr>
          <a:xfrm>
            <a:off x="10958932" y="646176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07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669036" y="710565"/>
            <a:ext cx="10837164" cy="1108710"/>
            <a:chOff x="669036" y="710565"/>
            <a:chExt cx="10837164" cy="1108710"/>
          </a:xfrm>
        </p:grpSpPr>
        <p:sp>
          <p:nvSpPr>
            <p:cNvPr id="2" name="TextBox 2"/>
            <p:cNvSpPr txBox="1"/>
            <p:nvPr/>
          </p:nvSpPr>
          <p:spPr>
            <a:xfrm>
              <a:off x="669036" y="710565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抓落实：分工到人，闭环销号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5132" y="1316355"/>
              <a:ext cx="612769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会后 3 日内报分工 · 周调度 · 月通报 · 逐项销号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809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</p:grpSp>
      <p:grpSp>
        <p:nvGrpSpPr>
          <p:cNvPr id="14" name="step-1"/>
          <p:cNvGrpSpPr/>
          <p:nvPr/>
        </p:nvGrpSpPr>
        <p:grpSpPr>
          <a:xfrm>
            <a:off x="685800" y="2038350"/>
            <a:ext cx="3333750" cy="2138934"/>
            <a:chOff x="685800" y="2038350"/>
            <a:chExt cx="3333750" cy="2138934"/>
          </a:xfrm>
        </p:grpSpPr>
        <p:sp>
          <p:nvSpPr>
            <p:cNvPr id="6" name="Rectangle 6"/>
            <p:cNvSpPr/>
            <p:nvPr/>
          </p:nvSpPr>
          <p:spPr>
            <a:xfrm>
              <a:off x="685800" y="2038350"/>
              <a:ext cx="3333750" cy="21336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03732" y="223075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3643312" y="2233612"/>
              <a:ext cx="257175" cy="257175"/>
              <a:chOff x="3643312" y="2233612"/>
              <a:chExt cx="257175" cy="25717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3757612" y="234791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3700462" y="22907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3643312" y="223361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903732" y="26117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对号入座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5256" y="2967990"/>
              <a:ext cx="2041398" cy="12092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当场明确三件事：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牵头科室 · 责任人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完成时限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 日内报街道办汇总</a:t>
              </a:r>
            </a:p>
          </p:txBody>
        </p:sp>
      </p:grpSp>
      <p:grpSp>
        <p:nvGrpSpPr>
          <p:cNvPr id="16" name="arrow-1"/>
          <p:cNvGrpSpPr/>
          <p:nvPr/>
        </p:nvGrpSpPr>
        <p:grpSpPr>
          <a:xfrm>
            <a:off x="4076700" y="3105150"/>
            <a:ext cx="247650" cy="1"/>
            <a:chOff x="4076700" y="3105150"/>
            <a:chExt cx="247650" cy="1"/>
          </a:xfrm>
        </p:grpSpPr>
        <p:sp>
          <p:nvSpPr>
            <p:cNvPr id="15" name="Line 15"/>
            <p:cNvSpPr/>
            <p:nvPr/>
          </p:nvSpPr>
          <p:spPr>
            <a:xfrm>
              <a:off x="4076700" y="3105150"/>
              <a:ext cx="247650" cy="1"/>
            </a:xfrm>
            <a:prstGeom prst="line">
              <a:avLst/>
            </a:prstGeom>
            <a:noFill/>
            <a:ln w="23812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26" name="step-2"/>
          <p:cNvGrpSpPr/>
          <p:nvPr/>
        </p:nvGrpSpPr>
        <p:grpSpPr>
          <a:xfrm>
            <a:off x="4429125" y="2038350"/>
            <a:ext cx="3333750" cy="2133600"/>
            <a:chOff x="4429125" y="2038350"/>
            <a:chExt cx="3333750" cy="2133600"/>
          </a:xfrm>
        </p:grpSpPr>
        <p:sp>
          <p:nvSpPr>
            <p:cNvPr id="17" name="Rectangle 17"/>
            <p:cNvSpPr/>
            <p:nvPr/>
          </p:nvSpPr>
          <p:spPr>
            <a:xfrm>
              <a:off x="4429125" y="2038350"/>
              <a:ext cx="3333750" cy="21336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647057" y="223075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7415212" y="2247900"/>
              <a:ext cx="214313" cy="242888"/>
              <a:chOff x="7415212" y="2247900"/>
              <a:chExt cx="214313" cy="242888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415212" y="2247900"/>
                <a:ext cx="17145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228600">
                    <a:moveTo>
                      <a:pt x="65937" y="228600"/>
                    </a:moveTo>
                    <a:lnTo>
                      <a:pt x="28575" y="228600"/>
                    </a:lnTo>
                    <a:cubicBezTo>
                      <a:pt x="12793" y="228600"/>
                      <a:pt x="0" y="215807"/>
                      <a:pt x="0" y="20002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142875" y="0"/>
                    </a:lnTo>
                    <a:cubicBezTo>
                      <a:pt x="158657" y="0"/>
                      <a:pt x="171450" y="12793"/>
                      <a:pt x="171450" y="28575"/>
                    </a:cubicBezTo>
                    <a:lnTo>
                      <a:pt x="171450" y="142875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543800" y="2433638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472362" y="230505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472362" y="2362200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4647057" y="2611755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建台账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48581" y="2967990"/>
              <a:ext cx="2532888" cy="9235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任务清单化、清单节点化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十件民生实事逐件挂账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进度每月一报</a:t>
              </a:r>
            </a:p>
          </p:txBody>
        </p:sp>
      </p:grpSp>
      <p:grpSp>
        <p:nvGrpSpPr>
          <p:cNvPr id="28" name="arrow-2"/>
          <p:cNvGrpSpPr/>
          <p:nvPr/>
        </p:nvGrpSpPr>
        <p:grpSpPr>
          <a:xfrm>
            <a:off x="7820025" y="3105150"/>
            <a:ext cx="247650" cy="1"/>
            <a:chOff x="7820025" y="3105150"/>
            <a:chExt cx="247650" cy="1"/>
          </a:xfrm>
        </p:grpSpPr>
        <p:sp>
          <p:nvSpPr>
            <p:cNvPr id="27" name="Line 27"/>
            <p:cNvSpPr/>
            <p:nvPr/>
          </p:nvSpPr>
          <p:spPr>
            <a:xfrm>
              <a:off x="7820025" y="3105150"/>
              <a:ext cx="247650" cy="1"/>
            </a:xfrm>
            <a:prstGeom prst="line">
              <a:avLst/>
            </a:prstGeom>
            <a:noFill/>
            <a:ln w="23812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36" name="step-3"/>
          <p:cNvGrpSpPr/>
          <p:nvPr/>
        </p:nvGrpSpPr>
        <p:grpSpPr>
          <a:xfrm>
            <a:off x="8172450" y="2038350"/>
            <a:ext cx="3333750" cy="2133600"/>
            <a:chOff x="8172450" y="2038350"/>
            <a:chExt cx="3333750" cy="2133600"/>
          </a:xfrm>
        </p:grpSpPr>
        <p:sp>
          <p:nvSpPr>
            <p:cNvPr id="29" name="Rectangle 29"/>
            <p:cNvSpPr/>
            <p:nvPr/>
          </p:nvSpPr>
          <p:spPr>
            <a:xfrm>
              <a:off x="8172450" y="2038350"/>
              <a:ext cx="3333750" cy="21336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390382" y="223075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11129962" y="2233612"/>
              <a:ext cx="257175" cy="257175"/>
              <a:chOff x="11129962" y="2233612"/>
              <a:chExt cx="257175" cy="25717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11129962" y="223361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1215688" y="2333625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8390382" y="26117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闭环销号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91906" y="2967990"/>
              <a:ext cx="2075688" cy="9235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每周调度、每月通报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办结一项、销号一项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未办结的说明原因</a:t>
              </a:r>
            </a:p>
          </p:txBody>
        </p:sp>
      </p:grpSp>
      <p:grpSp>
        <p:nvGrpSpPr>
          <p:cNvPr id="39" name="closing-band"/>
          <p:cNvGrpSpPr/>
          <p:nvPr/>
        </p:nvGrpSpPr>
        <p:grpSpPr>
          <a:xfrm>
            <a:off x="685800" y="4476750"/>
            <a:ext cx="10820400" cy="1428750"/>
            <a:chOff x="685800" y="4476750"/>
            <a:chExt cx="10820400" cy="1428750"/>
          </a:xfrm>
        </p:grpSpPr>
        <p:sp>
          <p:nvSpPr>
            <p:cNvPr id="37" name="Rectangle 37"/>
            <p:cNvSpPr/>
            <p:nvPr/>
          </p:nvSpPr>
          <p:spPr>
            <a:xfrm>
              <a:off x="685800" y="4476750"/>
              <a:ext cx="10820400" cy="1428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79932" y="4821555"/>
              <a:ext cx="6444996" cy="829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四件大事、十件实事——条条有牵头、件件有回音</a:t>
              </a:r>
            </a:p>
            <a:p>
              <a:pPr algn="l">
                <a:lnSpc>
                  <a:spcPts val="3300"/>
                </a:lnSpc>
              </a:pPr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蓝图已经绘就，关键在于落实——以钉钉子精神抓好各项工作落实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0958932" y="646176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08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treet_delivery_deck">
  <a:themeElements>
    <a:clrScheme name="street_delivery_deck">
      <a:dk1>
        <a:srgbClr val="2B2B2B"/>
      </a:dk1>
      <a:lt1>
        <a:srgbClr val="F7F6F2"/>
      </a:lt1>
      <a:dk2>
        <a:srgbClr val="1F497D"/>
      </a:dk2>
      <a:lt2>
        <a:srgbClr val="FFFFFF"/>
      </a:lt2>
      <a:accent1>
        <a:srgbClr val="A32124"/>
      </a:accent1>
      <a:accent2>
        <a:srgbClr val="C08A2D"/>
      </a:accent2>
      <a:accent3>
        <a:srgbClr val="1F3A5F"/>
      </a:accent3>
      <a:accent4>
        <a:srgbClr val="A32124"/>
      </a:accent4>
      <a:accent5>
        <a:srgbClr val="6E6A64"/>
      </a:accent5>
      <a:accent6>
        <a:srgbClr val="D8D4CC"/>
      </a:accent6>
      <a:hlink>
        <a:srgbClr val="C08A2D"/>
      </a:hlink>
      <a:folHlink>
        <a:srgbClr val="1F3A5F"/>
      </a:folHlink>
    </a:clrScheme>
    <a:fontScheme name="street_delivery_deck">
      <a:majorFont>
        <a:latin typeface="Arial"/>
        <a:ea typeface="SimHei"/>
        <a:cs typeface="Arial"/>
        <a:font script="Jpan" typeface="SimHei"/>
        <a:font script="Hang" typeface="SimHei"/>
        <a:font script="Hans" typeface="SimHei"/>
        <a:font script="Hant" typeface="Sim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reet_delivery_de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treet_delivery_deck">
  <a:themeElements>
    <a:clrScheme name="street_delivery_deck">
      <a:dk1>
        <a:srgbClr val="2B2B2B"/>
      </a:dk1>
      <a:lt1>
        <a:srgbClr val="F7F6F2"/>
      </a:lt1>
      <a:dk2>
        <a:srgbClr val="1F497D"/>
      </a:dk2>
      <a:lt2>
        <a:srgbClr val="FFFFFF"/>
      </a:lt2>
      <a:accent1>
        <a:srgbClr val="A32124"/>
      </a:accent1>
      <a:accent2>
        <a:srgbClr val="C08A2D"/>
      </a:accent2>
      <a:accent3>
        <a:srgbClr val="1F3A5F"/>
      </a:accent3>
      <a:accent4>
        <a:srgbClr val="A32124"/>
      </a:accent4>
      <a:accent5>
        <a:srgbClr val="6E6A64"/>
      </a:accent5>
      <a:accent6>
        <a:srgbClr val="D8D4CC"/>
      </a:accent6>
      <a:hlink>
        <a:srgbClr val="C08A2D"/>
      </a:hlink>
      <a:folHlink>
        <a:srgbClr val="1F3A5F"/>
      </a:folHlink>
    </a:clrScheme>
    <a:fontScheme name="street_delivery_deck">
      <a:majorFont>
        <a:latin typeface="Arial"/>
        <a:ea typeface="SimHei"/>
        <a:cs typeface="Arial"/>
        <a:font script="Jpan" typeface="SimHei"/>
        <a:font script="Hang" typeface="SimHei"/>
        <a:font script="Hans" typeface="SimHei"/>
        <a:font script="Hant" typeface="Sim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reet_delivery_de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2026-09-23T06:42:58Z</dcterms:created>
  <dcterms:modified xsi:type="dcterms:W3CDTF">2026-09-23T06:42:58Z</dcterms:modified>
  <cp:category/>
  <cp:contentStatus/>
</cp:coreProperties>
</file>