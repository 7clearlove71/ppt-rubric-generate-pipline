
<file path=[Content_Types].xml><?xml version="1.0" encoding="utf-8"?>
<Types xmlns="http://schemas.openxmlformats.org/package/2006/content-types">
  <Default Extension="ttf" ContentType="application/x-font-ttf"/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embeddedFontLst>
    <p:embeddedFont>
      <p:font typeface="NanxiXinyuanti"/>
      <p:regular r:id="rId2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1314" Target="fonts/20131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4429125" y="2864979"/>
            <a:ext cx="285750" cy="7144"/>
          </a:xfrm>
          <a:prstGeom prst="rect">
            <a:avLst/>
          </a:prstGeom>
          <a:solidFill>
            <a:srgbClr val="1D1D1F"/>
          </a:solidFill>
          <a:ln/>
        </p:spPr>
      </p:sp>
      <p:sp>
        <p:nvSpPr>
          <p:cNvPr id="4" name="Text 2"/>
          <p:cNvSpPr/>
          <p:nvPr/>
        </p:nvSpPr>
        <p:spPr>
          <a:xfrm>
            <a:off x="3929007" y="1304069"/>
            <a:ext cx="1285875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年会特邀报告 · 20 分钟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57250" y="1609465"/>
            <a:ext cx="7429500" cy="10429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柔性电子团队近三年研究进展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（2023–2025）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114369" y="3059255"/>
            <a:ext cx="6915150" cy="2071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可拉伸传感器阵列量产良率 78%→92% · 柔性 OLED 弯曲 10 万次无衰减 · 植入式电子皮肤进入临床试验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54035" y="3553569"/>
            <a:ext cx="835819" cy="285750"/>
          </a:xfrm>
          <a:prstGeom prst="roundRect">
            <a:avLst>
              <a:gd name="adj" fmla="val 40000"/>
            </a:avLst>
          </a:prstGeom>
          <a:ln w="6191">
            <a:solidFill>
              <a:srgbClr val="0066CC"/>
            </a:solidFill>
            <a:prstDash val="solid"/>
          </a:ln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了解更多 ›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5470" y="4688086"/>
            <a:ext cx="2778919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柔性电子团队 · 汇报对象：柔性电子 / 生物电子 / 柔性显示领域专家</a:t>
            </a:r>
            <a:endParaRPr lang="en-US" sz="700" dirty="0"/>
          </a:p>
        </p:txBody>
      </p:sp>
      <p:sp>
        <p:nvSpPr>
          <p:cNvPr id="65535" name="wm:hwcld:2026-09-22T19:07:46:581b05d5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2" y="853232"/>
            <a:ext cx="285750" cy="7144"/>
          </a:xfrm>
          <a:prstGeom prst="rect">
            <a:avLst/>
          </a:prstGeom>
          <a:solidFill>
            <a:srgbClr val="1D1D1F"/>
          </a:solidFill>
          <a:ln/>
        </p:spPr>
      </p:sp>
      <p:sp>
        <p:nvSpPr>
          <p:cNvPr id="4" name="Shape 2"/>
          <p:cNvSpPr/>
          <p:nvPr/>
        </p:nvSpPr>
        <p:spPr>
          <a:xfrm>
            <a:off x="215485" y="1216000"/>
            <a:ext cx="2750344" cy="857250"/>
          </a:xfrm>
          <a:prstGeom prst="roundRect">
            <a:avLst>
              <a:gd name="adj" fmla="val 7111"/>
            </a:avLst>
          </a:prstGeom>
          <a:solidFill>
            <a:srgbClr val="F5F5F7"/>
          </a:solidFill>
          <a:ln/>
        </p:spPr>
      </p:sp>
      <p:sp>
        <p:nvSpPr>
          <p:cNvPr id="5" name="Shape 3"/>
          <p:cNvSpPr/>
          <p:nvPr/>
        </p:nvSpPr>
        <p:spPr>
          <a:xfrm>
            <a:off x="3038438" y="1644625"/>
            <a:ext cx="78581" cy="0"/>
          </a:xfrm>
          <a:prstGeom prst="line">
            <a:avLst/>
          </a:prstGeom>
          <a:noFill/>
          <a:ln w="8890">
            <a:solidFill>
              <a:srgbClr val="000000">
                <a:alpha val="4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88444" y="1616050"/>
            <a:ext cx="28575" cy="28575"/>
          </a:xfrm>
          <a:prstGeom prst="line">
            <a:avLst/>
          </a:prstGeom>
          <a:noFill/>
          <a:ln w="8890">
            <a:solidFill>
              <a:srgbClr val="000000">
                <a:alpha val="4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96772" y="1216000"/>
            <a:ext cx="2750344" cy="857250"/>
          </a:xfrm>
          <a:prstGeom prst="roundRect">
            <a:avLst>
              <a:gd name="adj" fmla="val 7111"/>
            </a:avLst>
          </a:prstGeom>
          <a:solidFill>
            <a:srgbClr val="F5F5F7"/>
          </a:solidFill>
          <a:ln/>
        </p:spPr>
      </p:sp>
      <p:sp>
        <p:nvSpPr>
          <p:cNvPr id="8" name="Shape 6"/>
          <p:cNvSpPr/>
          <p:nvPr/>
        </p:nvSpPr>
        <p:spPr>
          <a:xfrm>
            <a:off x="6019726" y="1644625"/>
            <a:ext cx="78581" cy="0"/>
          </a:xfrm>
          <a:prstGeom prst="line">
            <a:avLst/>
          </a:prstGeom>
          <a:noFill/>
          <a:ln w="8890">
            <a:solidFill>
              <a:srgbClr val="000000">
                <a:alpha val="4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69732" y="1616050"/>
            <a:ext cx="28575" cy="28575"/>
          </a:xfrm>
          <a:prstGeom prst="line">
            <a:avLst/>
          </a:prstGeom>
          <a:noFill/>
          <a:ln w="8890">
            <a:solidFill>
              <a:srgbClr val="000000">
                <a:alpha val="4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8060" y="1216000"/>
            <a:ext cx="2750344" cy="857250"/>
          </a:xfrm>
          <a:prstGeom prst="roundRect">
            <a:avLst>
              <a:gd name="adj" fmla="val 7111"/>
            </a:avLst>
          </a:prstGeom>
          <a:solidFill>
            <a:srgbClr val="F5F5F7"/>
          </a:solidFill>
          <a:ln/>
        </p:spPr>
      </p:sp>
      <p:sp>
        <p:nvSpPr>
          <p:cNvPr id="11" name="Shape 9"/>
          <p:cNvSpPr/>
          <p:nvPr/>
        </p:nvSpPr>
        <p:spPr>
          <a:xfrm>
            <a:off x="535209" y="4038674"/>
            <a:ext cx="4236816" cy="0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5209" y="3710062"/>
            <a:ext cx="4236816" cy="0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5209" y="3388593"/>
            <a:ext cx="4236816" cy="0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5209" y="3059981"/>
            <a:ext cx="4236816" cy="0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5209" y="2738512"/>
            <a:ext cx="4236816" cy="0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5209" y="2542773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000000">
                    <a:alpha val="48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亿美元</a:t>
            </a:r>
            <a:endParaRPr lang="en-US" sz="788" dirty="0"/>
          </a:p>
        </p:txBody>
      </p:sp>
      <p:sp>
        <p:nvSpPr>
          <p:cNvPr id="17" name="Shape 15"/>
          <p:cNvSpPr/>
          <p:nvPr/>
        </p:nvSpPr>
        <p:spPr>
          <a:xfrm>
            <a:off x="535209" y="4038674"/>
            <a:ext cx="4236816" cy="0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31970" y="3975095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000000">
                    <a:alpha val="48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年份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145160" y="3975095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0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-154877" y="3650054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250</a:t>
            </a:r>
            <a:endParaRPr lang="en-US" sz="788" dirty="0"/>
          </a:p>
        </p:txBody>
      </p:sp>
      <p:sp>
        <p:nvSpPr>
          <p:cNvPr id="21" name="Text 19"/>
          <p:cNvSpPr/>
          <p:nvPr/>
        </p:nvSpPr>
        <p:spPr>
          <a:xfrm>
            <a:off x="-154877" y="3325014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500</a:t>
            </a:r>
            <a:endParaRPr lang="en-US" sz="788" dirty="0"/>
          </a:p>
        </p:txBody>
      </p:sp>
      <p:sp>
        <p:nvSpPr>
          <p:cNvPr id="22" name="Text 20"/>
          <p:cNvSpPr/>
          <p:nvPr/>
        </p:nvSpPr>
        <p:spPr>
          <a:xfrm>
            <a:off x="-154877" y="2999973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750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-304896" y="2674933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1000</a:t>
            </a:r>
            <a:endParaRPr lang="en-US" sz="788" dirty="0"/>
          </a:p>
        </p:txBody>
      </p:sp>
      <p:sp>
        <p:nvSpPr>
          <p:cNvPr id="24" name="Text 22"/>
          <p:cNvSpPr/>
          <p:nvPr/>
        </p:nvSpPr>
        <p:spPr>
          <a:xfrm>
            <a:off x="143732" y="4078679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2024</a:t>
            </a:r>
            <a:endParaRPr lang="en-US" sz="788" dirty="0"/>
          </a:p>
        </p:txBody>
      </p:sp>
      <p:sp>
        <p:nvSpPr>
          <p:cNvPr id="25" name="Text 23"/>
          <p:cNvSpPr/>
          <p:nvPr/>
        </p:nvSpPr>
        <p:spPr>
          <a:xfrm>
            <a:off x="991095" y="4078679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2026</a:t>
            </a:r>
            <a:endParaRPr lang="en-US" sz="788" dirty="0"/>
          </a:p>
        </p:txBody>
      </p:sp>
      <p:sp>
        <p:nvSpPr>
          <p:cNvPr id="26" name="Text 24"/>
          <p:cNvSpPr/>
          <p:nvPr/>
        </p:nvSpPr>
        <p:spPr>
          <a:xfrm>
            <a:off x="1838458" y="4078679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2028</a:t>
            </a:r>
            <a:endParaRPr lang="en-US" sz="788" dirty="0"/>
          </a:p>
        </p:txBody>
      </p:sp>
      <p:sp>
        <p:nvSpPr>
          <p:cNvPr id="27" name="Text 25"/>
          <p:cNvSpPr/>
          <p:nvPr/>
        </p:nvSpPr>
        <p:spPr>
          <a:xfrm>
            <a:off x="2685821" y="4078679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2030</a:t>
            </a:r>
            <a:endParaRPr lang="en-US" sz="788" dirty="0"/>
          </a:p>
        </p:txBody>
      </p:sp>
      <p:sp>
        <p:nvSpPr>
          <p:cNvPr id="28" name="Text 26"/>
          <p:cNvSpPr/>
          <p:nvPr/>
        </p:nvSpPr>
        <p:spPr>
          <a:xfrm>
            <a:off x="3533184" y="4078679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2032</a:t>
            </a:r>
            <a:endParaRPr lang="en-US" sz="788" dirty="0"/>
          </a:p>
        </p:txBody>
      </p:sp>
      <p:sp>
        <p:nvSpPr>
          <p:cNvPr id="29" name="Text 27"/>
          <p:cNvSpPr/>
          <p:nvPr/>
        </p:nvSpPr>
        <p:spPr>
          <a:xfrm>
            <a:off x="4380548" y="4078679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2034</a:t>
            </a:r>
            <a:endParaRPr lang="en-US" sz="788" dirty="0"/>
          </a:p>
        </p:txBody>
      </p:sp>
      <p:sp>
        <p:nvSpPr>
          <p:cNvPr id="30" name="Shape 28"/>
          <p:cNvSpPr/>
          <p:nvPr/>
        </p:nvSpPr>
        <p:spPr>
          <a:xfrm>
            <a:off x="535209" y="3003424"/>
            <a:ext cx="4236816" cy="665553"/>
          </a:xfrm>
          <a:custGeom>
            <a:avLst/>
            <a:gdLst/>
            <a:ahLst/>
            <a:cxnLst/>
            <a:rect l="l" t="t" r="r" b="b"/>
            <a:pathLst>
              <a:path w="4236816" h="665553">
                <a:moveTo>
                  <a:pt x="0" y="665553"/>
                </a:moveTo>
                <a:lnTo>
                  <a:pt x="423682" y="629409"/>
                </a:lnTo>
                <a:lnTo>
                  <a:pt x="4236816" y="0"/>
                </a:lnTo>
              </a:path>
            </a:pathLst>
          </a:custGeom>
          <a:noFill/>
          <a:ln w="12700">
            <a:solidFill>
              <a:srgbClr val="1D1D1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0206" y="3643974"/>
            <a:ext cx="50006" cy="50006"/>
          </a:xfrm>
          <a:prstGeom prst="ellipse">
            <a:avLst/>
          </a:prstGeom>
          <a:solidFill>
            <a:srgbClr val="1D1D1F"/>
          </a:solidFill>
          <a:ln/>
        </p:spPr>
      </p:sp>
      <p:sp>
        <p:nvSpPr>
          <p:cNvPr id="32" name="Shape 30"/>
          <p:cNvSpPr/>
          <p:nvPr/>
        </p:nvSpPr>
        <p:spPr>
          <a:xfrm>
            <a:off x="933887" y="3607829"/>
            <a:ext cx="50006" cy="50006"/>
          </a:xfrm>
          <a:prstGeom prst="ellipse">
            <a:avLst/>
          </a:prstGeom>
          <a:solidFill>
            <a:srgbClr val="1D1D1F"/>
          </a:solidFill>
          <a:ln/>
        </p:spPr>
      </p:sp>
      <p:sp>
        <p:nvSpPr>
          <p:cNvPr id="33" name="Shape 31"/>
          <p:cNvSpPr/>
          <p:nvPr/>
        </p:nvSpPr>
        <p:spPr>
          <a:xfrm>
            <a:off x="4747022" y="2978420"/>
            <a:ext cx="50006" cy="50006"/>
          </a:xfrm>
          <a:prstGeom prst="ellipse">
            <a:avLst/>
          </a:prstGeom>
          <a:solidFill>
            <a:srgbClr val="1D1D1F"/>
          </a:solidFill>
          <a:ln/>
        </p:spPr>
      </p:sp>
      <p:sp>
        <p:nvSpPr>
          <p:cNvPr id="34" name="Text 32"/>
          <p:cNvSpPr/>
          <p:nvPr/>
        </p:nvSpPr>
        <p:spPr>
          <a:xfrm>
            <a:off x="68722" y="3723269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281.6</a:t>
            </a:r>
            <a:endParaRPr lang="en-US" sz="788" dirty="0"/>
          </a:p>
        </p:txBody>
      </p:sp>
      <p:sp>
        <p:nvSpPr>
          <p:cNvPr id="35" name="Text 33"/>
          <p:cNvSpPr/>
          <p:nvPr/>
        </p:nvSpPr>
        <p:spPr>
          <a:xfrm>
            <a:off x="492404" y="3687125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309.4</a:t>
            </a:r>
            <a:endParaRPr lang="en-US" sz="788" dirty="0"/>
          </a:p>
        </p:txBody>
      </p:sp>
      <p:sp>
        <p:nvSpPr>
          <p:cNvPr id="36" name="Text 34"/>
          <p:cNvSpPr/>
          <p:nvPr/>
        </p:nvSpPr>
        <p:spPr>
          <a:xfrm>
            <a:off x="4305538" y="3057716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793.5</a:t>
            </a:r>
            <a:endParaRPr lang="en-US" sz="788" dirty="0"/>
          </a:p>
        </p:txBody>
      </p:sp>
      <p:sp>
        <p:nvSpPr>
          <p:cNvPr id="37" name="Shape 35"/>
          <p:cNvSpPr/>
          <p:nvPr/>
        </p:nvSpPr>
        <p:spPr>
          <a:xfrm>
            <a:off x="958891" y="2973780"/>
            <a:ext cx="3813134" cy="617447"/>
          </a:xfrm>
          <a:custGeom>
            <a:avLst/>
            <a:gdLst/>
            <a:ahLst/>
            <a:cxnLst/>
            <a:rect l="l" t="t" r="r" b="b"/>
            <a:pathLst>
              <a:path w="3813134" h="617447">
                <a:moveTo>
                  <a:pt x="0" y="617447"/>
                </a:moveTo>
                <a:lnTo>
                  <a:pt x="423682" y="578442"/>
                </a:lnTo>
                <a:lnTo>
                  <a:pt x="3813134" y="0"/>
                </a:lnTo>
              </a:path>
            </a:pathLst>
          </a:custGeom>
          <a:noFill/>
          <a:ln w="15875">
            <a:solidFill>
              <a:srgbClr val="0071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30316" y="3562652"/>
            <a:ext cx="57150" cy="57150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39" name="Shape 37"/>
          <p:cNvSpPr/>
          <p:nvPr/>
        </p:nvSpPr>
        <p:spPr>
          <a:xfrm>
            <a:off x="1353997" y="3523647"/>
            <a:ext cx="57150" cy="57150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40" name="Shape 38"/>
          <p:cNvSpPr/>
          <p:nvPr/>
        </p:nvSpPr>
        <p:spPr>
          <a:xfrm>
            <a:off x="4743450" y="2945205"/>
            <a:ext cx="57150" cy="57150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41" name="Text 39"/>
          <p:cNvSpPr/>
          <p:nvPr/>
        </p:nvSpPr>
        <p:spPr>
          <a:xfrm>
            <a:off x="492404" y="3413348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341.4</a:t>
            </a:r>
            <a:endParaRPr lang="en-US" sz="788" dirty="0"/>
          </a:p>
        </p:txBody>
      </p:sp>
      <p:sp>
        <p:nvSpPr>
          <p:cNvPr id="42" name="Text 40"/>
          <p:cNvSpPr/>
          <p:nvPr/>
        </p:nvSpPr>
        <p:spPr>
          <a:xfrm>
            <a:off x="916085" y="3374343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371.4</a:t>
            </a:r>
            <a:endParaRPr lang="en-US" sz="788" dirty="0"/>
          </a:p>
        </p:txBody>
      </p:sp>
      <p:sp>
        <p:nvSpPr>
          <p:cNvPr id="43" name="Text 41"/>
          <p:cNvSpPr/>
          <p:nvPr/>
        </p:nvSpPr>
        <p:spPr>
          <a:xfrm>
            <a:off x="4305538" y="2795900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816.3</a:t>
            </a:r>
            <a:endParaRPr lang="en-US" sz="788" dirty="0"/>
          </a:p>
        </p:txBody>
      </p:sp>
      <p:sp>
        <p:nvSpPr>
          <p:cNvPr id="44" name="Shape 42"/>
          <p:cNvSpPr/>
          <p:nvPr/>
        </p:nvSpPr>
        <p:spPr>
          <a:xfrm>
            <a:off x="1819437" y="2420615"/>
            <a:ext cx="3166900" cy="164306"/>
          </a:xfrm>
          <a:custGeom>
            <a:avLst/>
            <a:gdLst/>
            <a:ahLst/>
            <a:cxnLst/>
            <a:rect l="l" t="t" r="r" b="b"/>
            <a:pathLst>
              <a:path w="3166900" h="164306">
                <a:moveTo>
                  <a:pt x="0" y="0"/>
                </a:moveTo>
                <a:lnTo>
                  <a:pt x="3166900" y="0"/>
                </a:lnTo>
                <a:lnTo>
                  <a:pt x="3166900" y="164306"/>
                </a:lnTo>
                <a:lnTo>
                  <a:pt x="0" y="164306"/>
                </a:lnTo>
                <a:close/>
              </a:path>
            </a:pathLst>
          </a:custGeom>
          <a:noFill/>
          <a:ln/>
        </p:spPr>
      </p:sp>
      <p:sp>
        <p:nvSpPr>
          <p:cNvPr id="45" name="Shape 43"/>
          <p:cNvSpPr/>
          <p:nvPr/>
        </p:nvSpPr>
        <p:spPr>
          <a:xfrm>
            <a:off x="1855156" y="2474193"/>
            <a:ext cx="100013" cy="57150"/>
          </a:xfrm>
          <a:custGeom>
            <a:avLst/>
            <a:gdLst/>
            <a:ahLst/>
            <a:cxnLst/>
            <a:rect l="l" t="t" r="r" b="b"/>
            <a:pathLst>
              <a:path w="100013" h="57150">
                <a:moveTo>
                  <a:pt x="14288" y="0"/>
                </a:moveTo>
                <a:lnTo>
                  <a:pt x="85725" y="0"/>
                </a:lnTo>
                <a:lnTo>
                  <a:pt x="86426" y="17"/>
                </a:lnTo>
                <a:lnTo>
                  <a:pt x="87125" y="69"/>
                </a:lnTo>
                <a:lnTo>
                  <a:pt x="87821" y="155"/>
                </a:lnTo>
                <a:lnTo>
                  <a:pt x="88512" y="275"/>
                </a:lnTo>
                <a:lnTo>
                  <a:pt x="89197" y="428"/>
                </a:lnTo>
                <a:lnTo>
                  <a:pt x="89872" y="615"/>
                </a:lnTo>
                <a:lnTo>
                  <a:pt x="90538" y="835"/>
                </a:lnTo>
                <a:lnTo>
                  <a:pt x="91193" y="1088"/>
                </a:lnTo>
                <a:lnTo>
                  <a:pt x="91834" y="1372"/>
                </a:lnTo>
                <a:lnTo>
                  <a:pt x="92460" y="1687"/>
                </a:lnTo>
                <a:lnTo>
                  <a:pt x="93070" y="2033"/>
                </a:lnTo>
                <a:lnTo>
                  <a:pt x="93663" y="2408"/>
                </a:lnTo>
                <a:lnTo>
                  <a:pt x="94236" y="2812"/>
                </a:lnTo>
                <a:lnTo>
                  <a:pt x="94789" y="3243"/>
                </a:lnTo>
                <a:lnTo>
                  <a:pt x="95320" y="3701"/>
                </a:lnTo>
                <a:lnTo>
                  <a:pt x="95828" y="4185"/>
                </a:lnTo>
                <a:lnTo>
                  <a:pt x="96311" y="4693"/>
                </a:lnTo>
                <a:lnTo>
                  <a:pt x="96769" y="5224"/>
                </a:lnTo>
                <a:lnTo>
                  <a:pt x="97201" y="5776"/>
                </a:lnTo>
                <a:lnTo>
                  <a:pt x="97605" y="6350"/>
                </a:lnTo>
                <a:lnTo>
                  <a:pt x="97980" y="6942"/>
                </a:lnTo>
                <a:lnTo>
                  <a:pt x="98325" y="7552"/>
                </a:lnTo>
                <a:lnTo>
                  <a:pt x="98641" y="8179"/>
                </a:lnTo>
                <a:lnTo>
                  <a:pt x="98925" y="8820"/>
                </a:lnTo>
                <a:lnTo>
                  <a:pt x="99177" y="9474"/>
                </a:lnTo>
                <a:lnTo>
                  <a:pt x="99397" y="10140"/>
                </a:lnTo>
                <a:lnTo>
                  <a:pt x="99584" y="10816"/>
                </a:lnTo>
                <a:lnTo>
                  <a:pt x="99738" y="11500"/>
                </a:lnTo>
                <a:lnTo>
                  <a:pt x="99858" y="12191"/>
                </a:lnTo>
                <a:lnTo>
                  <a:pt x="99944" y="12887"/>
                </a:lnTo>
                <a:lnTo>
                  <a:pt x="99995" y="13586"/>
                </a:lnTo>
                <a:lnTo>
                  <a:pt x="100013" y="14288"/>
                </a:lnTo>
                <a:lnTo>
                  <a:pt x="100013" y="42863"/>
                </a:lnTo>
                <a:lnTo>
                  <a:pt x="99995" y="43564"/>
                </a:lnTo>
                <a:lnTo>
                  <a:pt x="99944" y="44263"/>
                </a:lnTo>
                <a:lnTo>
                  <a:pt x="99858" y="44959"/>
                </a:lnTo>
                <a:lnTo>
                  <a:pt x="99738" y="45650"/>
                </a:lnTo>
                <a:lnTo>
                  <a:pt x="99584" y="46334"/>
                </a:lnTo>
                <a:lnTo>
                  <a:pt x="99397" y="47010"/>
                </a:lnTo>
                <a:lnTo>
                  <a:pt x="99177" y="47676"/>
                </a:lnTo>
                <a:lnTo>
                  <a:pt x="98925" y="48330"/>
                </a:lnTo>
                <a:lnTo>
                  <a:pt x="98641" y="48971"/>
                </a:lnTo>
                <a:lnTo>
                  <a:pt x="98325" y="49598"/>
                </a:lnTo>
                <a:lnTo>
                  <a:pt x="97980" y="50208"/>
                </a:lnTo>
                <a:lnTo>
                  <a:pt x="97605" y="50800"/>
                </a:lnTo>
                <a:lnTo>
                  <a:pt x="97201" y="51374"/>
                </a:lnTo>
                <a:lnTo>
                  <a:pt x="96769" y="51926"/>
                </a:lnTo>
                <a:lnTo>
                  <a:pt x="96311" y="52457"/>
                </a:lnTo>
                <a:lnTo>
                  <a:pt x="95828" y="52965"/>
                </a:lnTo>
                <a:lnTo>
                  <a:pt x="95320" y="53449"/>
                </a:lnTo>
                <a:lnTo>
                  <a:pt x="94789" y="53907"/>
                </a:lnTo>
                <a:lnTo>
                  <a:pt x="94236" y="54338"/>
                </a:lnTo>
                <a:lnTo>
                  <a:pt x="93663" y="54742"/>
                </a:lnTo>
                <a:lnTo>
                  <a:pt x="93070" y="55117"/>
                </a:lnTo>
                <a:lnTo>
                  <a:pt x="92460" y="55463"/>
                </a:lnTo>
                <a:lnTo>
                  <a:pt x="91834" y="55778"/>
                </a:lnTo>
                <a:lnTo>
                  <a:pt x="91193" y="56062"/>
                </a:lnTo>
                <a:lnTo>
                  <a:pt x="90538" y="56315"/>
                </a:lnTo>
                <a:lnTo>
                  <a:pt x="89872" y="56535"/>
                </a:lnTo>
                <a:lnTo>
                  <a:pt x="89197" y="56722"/>
                </a:lnTo>
                <a:lnTo>
                  <a:pt x="88512" y="56875"/>
                </a:lnTo>
                <a:lnTo>
                  <a:pt x="87821" y="56995"/>
                </a:lnTo>
                <a:lnTo>
                  <a:pt x="87125" y="57081"/>
                </a:lnTo>
                <a:lnTo>
                  <a:pt x="86426" y="57133"/>
                </a:lnTo>
                <a:lnTo>
                  <a:pt x="85725" y="57150"/>
                </a:lnTo>
                <a:lnTo>
                  <a:pt x="14288" y="57150"/>
                </a:lnTo>
                <a:lnTo>
                  <a:pt x="13586" y="57133"/>
                </a:lnTo>
                <a:lnTo>
                  <a:pt x="12887" y="57081"/>
                </a:lnTo>
                <a:lnTo>
                  <a:pt x="12191" y="56995"/>
                </a:lnTo>
                <a:lnTo>
                  <a:pt x="11500" y="56875"/>
                </a:lnTo>
                <a:lnTo>
                  <a:pt x="10816" y="56722"/>
                </a:lnTo>
                <a:lnTo>
                  <a:pt x="10140" y="56535"/>
                </a:lnTo>
                <a:lnTo>
                  <a:pt x="9474" y="56315"/>
                </a:lnTo>
                <a:lnTo>
                  <a:pt x="8820" y="56062"/>
                </a:lnTo>
                <a:lnTo>
                  <a:pt x="8179" y="55778"/>
                </a:lnTo>
                <a:lnTo>
                  <a:pt x="7552" y="55463"/>
                </a:lnTo>
                <a:lnTo>
                  <a:pt x="6942" y="55117"/>
                </a:lnTo>
                <a:lnTo>
                  <a:pt x="6350" y="54742"/>
                </a:lnTo>
                <a:lnTo>
                  <a:pt x="5776" y="54338"/>
                </a:lnTo>
                <a:lnTo>
                  <a:pt x="5224" y="53907"/>
                </a:lnTo>
                <a:lnTo>
                  <a:pt x="4693" y="53449"/>
                </a:lnTo>
                <a:lnTo>
                  <a:pt x="4185" y="52965"/>
                </a:lnTo>
                <a:lnTo>
                  <a:pt x="3701" y="52457"/>
                </a:lnTo>
                <a:lnTo>
                  <a:pt x="3243" y="51926"/>
                </a:lnTo>
                <a:lnTo>
                  <a:pt x="2812" y="51374"/>
                </a:lnTo>
                <a:lnTo>
                  <a:pt x="2408" y="50800"/>
                </a:lnTo>
                <a:lnTo>
                  <a:pt x="2033" y="50208"/>
                </a:lnTo>
                <a:lnTo>
                  <a:pt x="1687" y="49598"/>
                </a:lnTo>
                <a:lnTo>
                  <a:pt x="1372" y="48971"/>
                </a:lnTo>
                <a:lnTo>
                  <a:pt x="1088" y="48330"/>
                </a:lnTo>
                <a:lnTo>
                  <a:pt x="835" y="47676"/>
                </a:lnTo>
                <a:lnTo>
                  <a:pt x="615" y="47010"/>
                </a:lnTo>
                <a:lnTo>
                  <a:pt x="428" y="46334"/>
                </a:lnTo>
                <a:lnTo>
                  <a:pt x="275" y="45650"/>
                </a:lnTo>
                <a:lnTo>
                  <a:pt x="155" y="44959"/>
                </a:lnTo>
                <a:lnTo>
                  <a:pt x="69" y="44263"/>
                </a:lnTo>
                <a:lnTo>
                  <a:pt x="17" y="43564"/>
                </a:lnTo>
                <a:lnTo>
                  <a:pt x="0" y="42863"/>
                </a:lnTo>
                <a:lnTo>
                  <a:pt x="0" y="14288"/>
                </a:lnTo>
                <a:lnTo>
                  <a:pt x="17" y="13586"/>
                </a:lnTo>
                <a:lnTo>
                  <a:pt x="69" y="12887"/>
                </a:lnTo>
                <a:lnTo>
                  <a:pt x="155" y="12191"/>
                </a:lnTo>
                <a:lnTo>
                  <a:pt x="275" y="11500"/>
                </a:lnTo>
                <a:lnTo>
                  <a:pt x="428" y="10816"/>
                </a:lnTo>
                <a:lnTo>
                  <a:pt x="615" y="10140"/>
                </a:lnTo>
                <a:lnTo>
                  <a:pt x="835" y="9474"/>
                </a:lnTo>
                <a:lnTo>
                  <a:pt x="1088" y="8820"/>
                </a:lnTo>
                <a:lnTo>
                  <a:pt x="1372" y="8179"/>
                </a:lnTo>
                <a:lnTo>
                  <a:pt x="1687" y="7552"/>
                </a:lnTo>
                <a:lnTo>
                  <a:pt x="2033" y="6942"/>
                </a:lnTo>
                <a:lnTo>
                  <a:pt x="2408" y="6350"/>
                </a:lnTo>
                <a:lnTo>
                  <a:pt x="2812" y="5776"/>
                </a:lnTo>
                <a:lnTo>
                  <a:pt x="3243" y="5224"/>
                </a:lnTo>
                <a:lnTo>
                  <a:pt x="3701" y="4693"/>
                </a:lnTo>
                <a:lnTo>
                  <a:pt x="4185" y="4185"/>
                </a:lnTo>
                <a:lnTo>
                  <a:pt x="4693" y="3701"/>
                </a:lnTo>
                <a:lnTo>
                  <a:pt x="5224" y="3243"/>
                </a:lnTo>
                <a:lnTo>
                  <a:pt x="5776" y="2812"/>
                </a:lnTo>
                <a:lnTo>
                  <a:pt x="6350" y="2408"/>
                </a:lnTo>
                <a:lnTo>
                  <a:pt x="6942" y="2033"/>
                </a:lnTo>
                <a:lnTo>
                  <a:pt x="7552" y="1687"/>
                </a:lnTo>
                <a:lnTo>
                  <a:pt x="8179" y="1372"/>
                </a:lnTo>
                <a:lnTo>
                  <a:pt x="8820" y="1088"/>
                </a:lnTo>
                <a:lnTo>
                  <a:pt x="9474" y="835"/>
                </a:lnTo>
                <a:lnTo>
                  <a:pt x="10140" y="615"/>
                </a:lnTo>
                <a:lnTo>
                  <a:pt x="10816" y="428"/>
                </a:lnTo>
                <a:lnTo>
                  <a:pt x="11500" y="275"/>
                </a:lnTo>
                <a:lnTo>
                  <a:pt x="12191" y="155"/>
                </a:lnTo>
                <a:lnTo>
                  <a:pt x="12887" y="69"/>
                </a:lnTo>
                <a:lnTo>
                  <a:pt x="13586" y="17"/>
                </a:lnTo>
                <a:lnTo>
                  <a:pt x="14288" y="0"/>
                </a:lnTo>
              </a:path>
            </a:pathLst>
          </a:custGeom>
          <a:solidFill>
            <a:srgbClr val="0071E3"/>
          </a:solidFill>
          <a:ln/>
        </p:spPr>
      </p:sp>
      <p:sp>
        <p:nvSpPr>
          <p:cNvPr id="46" name="Text 44"/>
          <p:cNvSpPr/>
          <p:nvPr/>
        </p:nvSpPr>
        <p:spPr>
          <a:xfrm>
            <a:off x="1990887" y="2442761"/>
            <a:ext cx="483346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口径一 · Fortune Business Insights</a:t>
            </a:r>
            <a:endParaRPr lang="en-US" sz="788" dirty="0"/>
          </a:p>
        </p:txBody>
      </p:sp>
      <p:sp>
        <p:nvSpPr>
          <p:cNvPr id="47" name="Shape 45"/>
          <p:cNvSpPr/>
          <p:nvPr/>
        </p:nvSpPr>
        <p:spPr>
          <a:xfrm>
            <a:off x="1855156" y="2456334"/>
            <a:ext cx="1565403" cy="92869"/>
          </a:xfrm>
          <a:custGeom>
            <a:avLst/>
            <a:gdLst/>
            <a:ahLst/>
            <a:cxnLst/>
            <a:rect l="l" t="t" r="r" b="b"/>
            <a:pathLst>
              <a:path w="1565403" h="92869">
                <a:moveTo>
                  <a:pt x="0" y="0"/>
                </a:moveTo>
                <a:lnTo>
                  <a:pt x="1565403" y="0"/>
                </a:lnTo>
                <a:lnTo>
                  <a:pt x="1565403" y="92869"/>
                </a:lnTo>
                <a:lnTo>
                  <a:pt x="0" y="92869"/>
                </a:lnTo>
                <a:close/>
              </a:path>
            </a:pathLst>
          </a:custGeom>
          <a:noFill/>
          <a:ln/>
        </p:spPr>
      </p:sp>
      <p:sp>
        <p:nvSpPr>
          <p:cNvPr id="48" name="Shape 46"/>
          <p:cNvSpPr/>
          <p:nvPr/>
        </p:nvSpPr>
        <p:spPr>
          <a:xfrm>
            <a:off x="3534858" y="2474193"/>
            <a:ext cx="100013" cy="57150"/>
          </a:xfrm>
          <a:custGeom>
            <a:avLst/>
            <a:gdLst/>
            <a:ahLst/>
            <a:cxnLst/>
            <a:rect l="l" t="t" r="r" b="b"/>
            <a:pathLst>
              <a:path w="100013" h="57150">
                <a:moveTo>
                  <a:pt x="14288" y="0"/>
                </a:moveTo>
                <a:lnTo>
                  <a:pt x="85725" y="0"/>
                </a:lnTo>
                <a:lnTo>
                  <a:pt x="86426" y="17"/>
                </a:lnTo>
                <a:lnTo>
                  <a:pt x="87125" y="69"/>
                </a:lnTo>
                <a:lnTo>
                  <a:pt x="87821" y="155"/>
                </a:lnTo>
                <a:lnTo>
                  <a:pt x="88512" y="275"/>
                </a:lnTo>
                <a:lnTo>
                  <a:pt x="89197" y="428"/>
                </a:lnTo>
                <a:lnTo>
                  <a:pt x="89872" y="615"/>
                </a:lnTo>
                <a:lnTo>
                  <a:pt x="90538" y="835"/>
                </a:lnTo>
                <a:lnTo>
                  <a:pt x="91193" y="1088"/>
                </a:lnTo>
                <a:lnTo>
                  <a:pt x="91834" y="1372"/>
                </a:lnTo>
                <a:lnTo>
                  <a:pt x="92460" y="1687"/>
                </a:lnTo>
                <a:lnTo>
                  <a:pt x="93070" y="2033"/>
                </a:lnTo>
                <a:lnTo>
                  <a:pt x="93663" y="2408"/>
                </a:lnTo>
                <a:lnTo>
                  <a:pt x="94236" y="2812"/>
                </a:lnTo>
                <a:lnTo>
                  <a:pt x="94789" y="3243"/>
                </a:lnTo>
                <a:lnTo>
                  <a:pt x="95320" y="3701"/>
                </a:lnTo>
                <a:lnTo>
                  <a:pt x="95828" y="4185"/>
                </a:lnTo>
                <a:lnTo>
                  <a:pt x="96311" y="4693"/>
                </a:lnTo>
                <a:lnTo>
                  <a:pt x="96769" y="5224"/>
                </a:lnTo>
                <a:lnTo>
                  <a:pt x="97201" y="5776"/>
                </a:lnTo>
                <a:lnTo>
                  <a:pt x="97605" y="6350"/>
                </a:lnTo>
                <a:lnTo>
                  <a:pt x="97980" y="6942"/>
                </a:lnTo>
                <a:lnTo>
                  <a:pt x="98325" y="7552"/>
                </a:lnTo>
                <a:lnTo>
                  <a:pt x="98641" y="8179"/>
                </a:lnTo>
                <a:lnTo>
                  <a:pt x="98925" y="8820"/>
                </a:lnTo>
                <a:lnTo>
                  <a:pt x="99177" y="9474"/>
                </a:lnTo>
                <a:lnTo>
                  <a:pt x="99397" y="10140"/>
                </a:lnTo>
                <a:lnTo>
                  <a:pt x="99584" y="10816"/>
                </a:lnTo>
                <a:lnTo>
                  <a:pt x="99738" y="11500"/>
                </a:lnTo>
                <a:lnTo>
                  <a:pt x="99858" y="12191"/>
                </a:lnTo>
                <a:lnTo>
                  <a:pt x="99944" y="12887"/>
                </a:lnTo>
                <a:lnTo>
                  <a:pt x="99995" y="13586"/>
                </a:lnTo>
                <a:lnTo>
                  <a:pt x="100013" y="14288"/>
                </a:lnTo>
                <a:lnTo>
                  <a:pt x="100013" y="42863"/>
                </a:lnTo>
                <a:lnTo>
                  <a:pt x="99995" y="43564"/>
                </a:lnTo>
                <a:lnTo>
                  <a:pt x="99944" y="44263"/>
                </a:lnTo>
                <a:lnTo>
                  <a:pt x="99858" y="44959"/>
                </a:lnTo>
                <a:lnTo>
                  <a:pt x="99738" y="45650"/>
                </a:lnTo>
                <a:lnTo>
                  <a:pt x="99584" y="46334"/>
                </a:lnTo>
                <a:lnTo>
                  <a:pt x="99397" y="47010"/>
                </a:lnTo>
                <a:lnTo>
                  <a:pt x="99177" y="47676"/>
                </a:lnTo>
                <a:lnTo>
                  <a:pt x="98925" y="48330"/>
                </a:lnTo>
                <a:lnTo>
                  <a:pt x="98641" y="48971"/>
                </a:lnTo>
                <a:lnTo>
                  <a:pt x="98325" y="49598"/>
                </a:lnTo>
                <a:lnTo>
                  <a:pt x="97980" y="50208"/>
                </a:lnTo>
                <a:lnTo>
                  <a:pt x="97605" y="50800"/>
                </a:lnTo>
                <a:lnTo>
                  <a:pt x="97201" y="51374"/>
                </a:lnTo>
                <a:lnTo>
                  <a:pt x="96769" y="51926"/>
                </a:lnTo>
                <a:lnTo>
                  <a:pt x="96311" y="52457"/>
                </a:lnTo>
                <a:lnTo>
                  <a:pt x="95828" y="52965"/>
                </a:lnTo>
                <a:lnTo>
                  <a:pt x="95320" y="53449"/>
                </a:lnTo>
                <a:lnTo>
                  <a:pt x="94789" y="53907"/>
                </a:lnTo>
                <a:lnTo>
                  <a:pt x="94236" y="54338"/>
                </a:lnTo>
                <a:lnTo>
                  <a:pt x="93663" y="54742"/>
                </a:lnTo>
                <a:lnTo>
                  <a:pt x="93070" y="55117"/>
                </a:lnTo>
                <a:lnTo>
                  <a:pt x="92460" y="55463"/>
                </a:lnTo>
                <a:lnTo>
                  <a:pt x="91834" y="55778"/>
                </a:lnTo>
                <a:lnTo>
                  <a:pt x="91193" y="56062"/>
                </a:lnTo>
                <a:lnTo>
                  <a:pt x="90538" y="56315"/>
                </a:lnTo>
                <a:lnTo>
                  <a:pt x="89872" y="56535"/>
                </a:lnTo>
                <a:lnTo>
                  <a:pt x="89197" y="56722"/>
                </a:lnTo>
                <a:lnTo>
                  <a:pt x="88512" y="56875"/>
                </a:lnTo>
                <a:lnTo>
                  <a:pt x="87821" y="56995"/>
                </a:lnTo>
                <a:lnTo>
                  <a:pt x="87125" y="57081"/>
                </a:lnTo>
                <a:lnTo>
                  <a:pt x="86426" y="57133"/>
                </a:lnTo>
                <a:lnTo>
                  <a:pt x="85725" y="57150"/>
                </a:lnTo>
                <a:lnTo>
                  <a:pt x="14288" y="57150"/>
                </a:lnTo>
                <a:lnTo>
                  <a:pt x="13586" y="57133"/>
                </a:lnTo>
                <a:lnTo>
                  <a:pt x="12887" y="57081"/>
                </a:lnTo>
                <a:lnTo>
                  <a:pt x="12191" y="56995"/>
                </a:lnTo>
                <a:lnTo>
                  <a:pt x="11500" y="56875"/>
                </a:lnTo>
                <a:lnTo>
                  <a:pt x="10816" y="56722"/>
                </a:lnTo>
                <a:lnTo>
                  <a:pt x="10140" y="56535"/>
                </a:lnTo>
                <a:lnTo>
                  <a:pt x="9474" y="56315"/>
                </a:lnTo>
                <a:lnTo>
                  <a:pt x="8820" y="56062"/>
                </a:lnTo>
                <a:lnTo>
                  <a:pt x="8179" y="55778"/>
                </a:lnTo>
                <a:lnTo>
                  <a:pt x="7552" y="55463"/>
                </a:lnTo>
                <a:lnTo>
                  <a:pt x="6942" y="55117"/>
                </a:lnTo>
                <a:lnTo>
                  <a:pt x="6350" y="54742"/>
                </a:lnTo>
                <a:lnTo>
                  <a:pt x="5776" y="54338"/>
                </a:lnTo>
                <a:lnTo>
                  <a:pt x="5224" y="53907"/>
                </a:lnTo>
                <a:lnTo>
                  <a:pt x="4693" y="53449"/>
                </a:lnTo>
                <a:lnTo>
                  <a:pt x="4185" y="52965"/>
                </a:lnTo>
                <a:lnTo>
                  <a:pt x="3701" y="52457"/>
                </a:lnTo>
                <a:lnTo>
                  <a:pt x="3243" y="51926"/>
                </a:lnTo>
                <a:lnTo>
                  <a:pt x="2812" y="51374"/>
                </a:lnTo>
                <a:lnTo>
                  <a:pt x="2408" y="50800"/>
                </a:lnTo>
                <a:lnTo>
                  <a:pt x="2033" y="50208"/>
                </a:lnTo>
                <a:lnTo>
                  <a:pt x="1687" y="49598"/>
                </a:lnTo>
                <a:lnTo>
                  <a:pt x="1372" y="48971"/>
                </a:lnTo>
                <a:lnTo>
                  <a:pt x="1088" y="48330"/>
                </a:lnTo>
                <a:lnTo>
                  <a:pt x="835" y="47676"/>
                </a:lnTo>
                <a:lnTo>
                  <a:pt x="615" y="47010"/>
                </a:lnTo>
                <a:lnTo>
                  <a:pt x="428" y="46334"/>
                </a:lnTo>
                <a:lnTo>
                  <a:pt x="275" y="45650"/>
                </a:lnTo>
                <a:lnTo>
                  <a:pt x="155" y="44959"/>
                </a:lnTo>
                <a:lnTo>
                  <a:pt x="69" y="44263"/>
                </a:lnTo>
                <a:lnTo>
                  <a:pt x="17" y="43564"/>
                </a:lnTo>
                <a:lnTo>
                  <a:pt x="0" y="42863"/>
                </a:lnTo>
                <a:lnTo>
                  <a:pt x="0" y="14288"/>
                </a:lnTo>
                <a:lnTo>
                  <a:pt x="17" y="13586"/>
                </a:lnTo>
                <a:lnTo>
                  <a:pt x="69" y="12887"/>
                </a:lnTo>
                <a:lnTo>
                  <a:pt x="155" y="12191"/>
                </a:lnTo>
                <a:lnTo>
                  <a:pt x="275" y="11500"/>
                </a:lnTo>
                <a:lnTo>
                  <a:pt x="428" y="10816"/>
                </a:lnTo>
                <a:lnTo>
                  <a:pt x="615" y="10140"/>
                </a:lnTo>
                <a:lnTo>
                  <a:pt x="835" y="9474"/>
                </a:lnTo>
                <a:lnTo>
                  <a:pt x="1088" y="8820"/>
                </a:lnTo>
                <a:lnTo>
                  <a:pt x="1372" y="8179"/>
                </a:lnTo>
                <a:lnTo>
                  <a:pt x="1687" y="7552"/>
                </a:lnTo>
                <a:lnTo>
                  <a:pt x="2033" y="6942"/>
                </a:lnTo>
                <a:lnTo>
                  <a:pt x="2408" y="6350"/>
                </a:lnTo>
                <a:lnTo>
                  <a:pt x="2812" y="5776"/>
                </a:lnTo>
                <a:lnTo>
                  <a:pt x="3243" y="5224"/>
                </a:lnTo>
                <a:lnTo>
                  <a:pt x="3701" y="4693"/>
                </a:lnTo>
                <a:lnTo>
                  <a:pt x="4185" y="4185"/>
                </a:lnTo>
                <a:lnTo>
                  <a:pt x="4693" y="3701"/>
                </a:lnTo>
                <a:lnTo>
                  <a:pt x="5224" y="3243"/>
                </a:lnTo>
                <a:lnTo>
                  <a:pt x="5776" y="2812"/>
                </a:lnTo>
                <a:lnTo>
                  <a:pt x="6350" y="2408"/>
                </a:lnTo>
                <a:lnTo>
                  <a:pt x="6942" y="2033"/>
                </a:lnTo>
                <a:lnTo>
                  <a:pt x="7552" y="1687"/>
                </a:lnTo>
                <a:lnTo>
                  <a:pt x="8179" y="1372"/>
                </a:lnTo>
                <a:lnTo>
                  <a:pt x="8820" y="1088"/>
                </a:lnTo>
                <a:lnTo>
                  <a:pt x="9474" y="835"/>
                </a:lnTo>
                <a:lnTo>
                  <a:pt x="10140" y="615"/>
                </a:lnTo>
                <a:lnTo>
                  <a:pt x="10816" y="428"/>
                </a:lnTo>
                <a:lnTo>
                  <a:pt x="11500" y="275"/>
                </a:lnTo>
                <a:lnTo>
                  <a:pt x="12191" y="155"/>
                </a:lnTo>
                <a:lnTo>
                  <a:pt x="12887" y="69"/>
                </a:lnTo>
                <a:lnTo>
                  <a:pt x="13586" y="17"/>
                </a:lnTo>
                <a:lnTo>
                  <a:pt x="14288" y="0"/>
                </a:lnTo>
              </a:path>
            </a:pathLst>
          </a:custGeom>
          <a:solidFill>
            <a:srgbClr val="1D1D1F"/>
          </a:solidFill>
          <a:ln/>
        </p:spPr>
      </p:sp>
      <p:sp>
        <p:nvSpPr>
          <p:cNvPr id="49" name="Text 47"/>
          <p:cNvSpPr/>
          <p:nvPr/>
        </p:nvSpPr>
        <p:spPr>
          <a:xfrm>
            <a:off x="3670589" y="2442761"/>
            <a:ext cx="393334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口径二 · Precedence Research</a:t>
            </a:r>
            <a:endParaRPr lang="en-US" sz="788" dirty="0"/>
          </a:p>
        </p:txBody>
      </p:sp>
      <p:sp>
        <p:nvSpPr>
          <p:cNvPr id="50" name="Shape 48"/>
          <p:cNvSpPr/>
          <p:nvPr/>
        </p:nvSpPr>
        <p:spPr>
          <a:xfrm>
            <a:off x="3534858" y="2456334"/>
            <a:ext cx="1415761" cy="92869"/>
          </a:xfrm>
          <a:custGeom>
            <a:avLst/>
            <a:gdLst/>
            <a:ahLst/>
            <a:cxnLst/>
            <a:rect l="l" t="t" r="r" b="b"/>
            <a:pathLst>
              <a:path w="1415761" h="92869">
                <a:moveTo>
                  <a:pt x="0" y="0"/>
                </a:moveTo>
                <a:lnTo>
                  <a:pt x="1415761" y="0"/>
                </a:lnTo>
                <a:lnTo>
                  <a:pt x="1415761" y="92869"/>
                </a:lnTo>
                <a:lnTo>
                  <a:pt x="0" y="92869"/>
                </a:lnTo>
                <a:close/>
              </a:path>
            </a:pathLst>
          </a:custGeom>
          <a:noFill/>
          <a:ln/>
        </p:spPr>
      </p:sp>
      <p:sp>
        <p:nvSpPr>
          <p:cNvPr id="51" name="Shape 49"/>
          <p:cNvSpPr/>
          <p:nvPr/>
        </p:nvSpPr>
        <p:spPr>
          <a:xfrm>
            <a:off x="5214938" y="2216125"/>
            <a:ext cx="3714750" cy="1042988"/>
          </a:xfrm>
          <a:prstGeom prst="roundRect">
            <a:avLst>
              <a:gd name="adj" fmla="val 4804"/>
            </a:avLst>
          </a:prstGeom>
          <a:solidFill>
            <a:srgbClr val="F5F5F7"/>
          </a:solidFill>
          <a:ln/>
        </p:spPr>
      </p:sp>
      <p:sp>
        <p:nvSpPr>
          <p:cNvPr id="52" name="Shape 50"/>
          <p:cNvSpPr/>
          <p:nvPr/>
        </p:nvSpPr>
        <p:spPr>
          <a:xfrm>
            <a:off x="5329238" y="2660712"/>
            <a:ext cx="3486150" cy="28575"/>
          </a:xfrm>
          <a:prstGeom prst="roundRect">
            <a:avLst>
              <a:gd name="adj" fmla="val 400000"/>
            </a:avLst>
          </a:prstGeom>
          <a:solidFill>
            <a:srgbClr val="FFFFFF"/>
          </a:solidFill>
          <a:ln/>
        </p:spPr>
      </p:sp>
      <p:sp>
        <p:nvSpPr>
          <p:cNvPr id="53" name="Shape 51"/>
          <p:cNvSpPr/>
          <p:nvPr/>
        </p:nvSpPr>
        <p:spPr>
          <a:xfrm>
            <a:off x="5327898" y="2660712"/>
            <a:ext cx="2721769" cy="28575"/>
          </a:xfrm>
          <a:prstGeom prst="roundRect">
            <a:avLst>
              <a:gd name="adj" fmla="val 400000"/>
            </a:avLst>
          </a:prstGeom>
          <a:solidFill>
            <a:srgbClr val="0071E3"/>
          </a:solidFill>
          <a:ln/>
        </p:spPr>
      </p:sp>
      <p:sp>
        <p:nvSpPr>
          <p:cNvPr id="54" name="Shape 52"/>
          <p:cNvSpPr/>
          <p:nvPr/>
        </p:nvSpPr>
        <p:spPr>
          <a:xfrm>
            <a:off x="5329238" y="2886521"/>
            <a:ext cx="3486150" cy="28575"/>
          </a:xfrm>
          <a:prstGeom prst="roundRect">
            <a:avLst>
              <a:gd name="adj" fmla="val 400000"/>
            </a:avLst>
          </a:prstGeom>
          <a:solidFill>
            <a:srgbClr val="FFFFFF"/>
          </a:solidFill>
          <a:ln/>
        </p:spPr>
      </p:sp>
      <p:sp>
        <p:nvSpPr>
          <p:cNvPr id="55" name="Shape 53"/>
          <p:cNvSpPr/>
          <p:nvPr/>
        </p:nvSpPr>
        <p:spPr>
          <a:xfrm>
            <a:off x="5330633" y="2886521"/>
            <a:ext cx="2786063" cy="28575"/>
          </a:xfrm>
          <a:prstGeom prst="rect">
            <a:avLst/>
          </a:prstGeom>
          <a:solidFill>
            <a:srgbClr val="1D1D1F"/>
          </a:solidFill>
          <a:ln/>
        </p:spPr>
      </p:sp>
      <p:sp>
        <p:nvSpPr>
          <p:cNvPr id="56" name="Shape 54"/>
          <p:cNvSpPr/>
          <p:nvPr/>
        </p:nvSpPr>
        <p:spPr>
          <a:xfrm>
            <a:off x="5329238" y="3112331"/>
            <a:ext cx="3486150" cy="28575"/>
          </a:xfrm>
          <a:prstGeom prst="roundRect">
            <a:avLst>
              <a:gd name="adj" fmla="val 400000"/>
            </a:avLst>
          </a:prstGeom>
          <a:solidFill>
            <a:srgbClr val="FFFFFF"/>
          </a:solidFill>
          <a:ln/>
        </p:spPr>
      </p:sp>
      <p:sp>
        <p:nvSpPr>
          <p:cNvPr id="57" name="Shape 55"/>
          <p:cNvSpPr/>
          <p:nvPr/>
        </p:nvSpPr>
        <p:spPr>
          <a:xfrm>
            <a:off x="5328512" y="3112331"/>
            <a:ext cx="2964656" cy="28575"/>
          </a:xfrm>
          <a:prstGeom prst="rect">
            <a:avLst/>
          </a:prstGeom>
          <a:solidFill>
            <a:srgbClr val="1D1D1F"/>
          </a:solidFill>
          <a:ln/>
        </p:spPr>
      </p:sp>
      <p:sp>
        <p:nvSpPr>
          <p:cNvPr id="58" name="Shape 56"/>
          <p:cNvSpPr/>
          <p:nvPr/>
        </p:nvSpPr>
        <p:spPr>
          <a:xfrm>
            <a:off x="5214938" y="3373413"/>
            <a:ext cx="3714750" cy="842962"/>
          </a:xfrm>
          <a:prstGeom prst="roundRect">
            <a:avLst>
              <a:gd name="adj" fmla="val 7354"/>
            </a:avLst>
          </a:prstGeom>
          <a:solidFill>
            <a:srgbClr val="F5F5F7"/>
          </a:solidFill>
          <a:ln/>
        </p:spPr>
      </p:sp>
      <p:sp>
        <p:nvSpPr>
          <p:cNvPr id="59" name="Text 57"/>
          <p:cNvSpPr/>
          <p:nvPr/>
        </p:nvSpPr>
        <p:spPr>
          <a:xfrm>
            <a:off x="214313" y="501625"/>
            <a:ext cx="8715375" cy="2643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柔性电子正卡在“实验室性能”到“量产与临床可用”的三道关口</a:t>
            </a:r>
            <a:endParaRPr lang="en-US" sz="1900" dirty="0"/>
          </a:p>
        </p:txBody>
      </p:sp>
      <p:sp>
        <p:nvSpPr>
          <p:cNvPr id="60" name="Text 58"/>
          <p:cNvSpPr/>
          <p:nvPr/>
        </p:nvSpPr>
        <p:spPr>
          <a:xfrm>
            <a:off x="329785" y="1300386"/>
            <a:ext cx="252174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关口一 · 良率与一致性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27720" y="1485565"/>
            <a:ext cx="771525" cy="1857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80%–85%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1156674" y="1533395"/>
            <a:ext cx="1107281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全球柔性 OLED 综合良率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329785" y="1709142"/>
            <a:ext cx="2521744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大面积/高密度阵列受材料—工艺—检测三重变异源影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响；领先厂商约 85%、京东方 80% 以上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3311072" y="1300386"/>
            <a:ext cx="252174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关口二 · 弯折可靠性与封装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3310682" y="1485565"/>
            <a:ext cx="1064419" cy="1857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30 万–60 万次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4433199" y="1533395"/>
            <a:ext cx="792956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折叠弯折认证口径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3311072" y="1709142"/>
            <a:ext cx="2521744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多层复合阻隔封装抑制水汽与氧气侵入；弯折时阻隔层开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裂与中性层应力集中是主要失效路径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6292360" y="1300386"/>
            <a:ext cx="252174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关口三 · 植入级临床转化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290128" y="1485565"/>
            <a:ext cx="485775" cy="1857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12.8%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6832550" y="1533395"/>
            <a:ext cx="892969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电子皮肤市场 CAGR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6292360" y="1709142"/>
            <a:ext cx="2521744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2025 年市场约 82.7 亿美元，但长期生物相容性、封装稳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定性与注册临床周期仍是约束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214313" y="2214786"/>
            <a:ext cx="477202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全球柔性电子市场规模（亿美元）· CAGR 10.36% / 10.96%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329238" y="2300511"/>
            <a:ext cx="3486150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良率对标：团队起点 vs 行业基线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5328958" y="2504945"/>
            <a:ext cx="1293019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团队 2023 起点（自有成果）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8607549" y="2504945"/>
            <a:ext cx="207169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78%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328679" y="2730754"/>
            <a:ext cx="1042988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全球综合基线（2025）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8344123" y="2730754"/>
            <a:ext cx="471488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80%–85%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5328568" y="2956564"/>
            <a:ext cx="992981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领先厂商（三星显示）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8480636" y="2956564"/>
            <a:ext cx="335756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约 85%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5329238" y="3482132"/>
            <a:ext cx="3486150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实验室性能 ≠ 量产良率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5329238" y="3675013"/>
            <a:ext cx="3486150" cy="2571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复旦“纤维芯片”在 1 cm 长度集成约 10 万个晶体管、器件良率 99.99%；面板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级量产仍停在 80%–85%，落差约 15 个百分点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5329238" y="3977060"/>
            <a:ext cx="3486150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良率每提升 5 个百分点，单位制造成本下降 8%–12%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214313" y="4514850"/>
            <a:ext cx="8715375" cy="3000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数据来源：Fortune Business Insights、Precedence Research、Research Nester、芯智讯（TrendForce 集邦咨询）、维科网、新浪财经、TÜV 莱茵、PR Newswire、凤凰科技 · 市场绝对值存在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机构口径差异，本页并列给出两家口径与 CAGR；团队良率 78% 起点、弯曲 10 万次无衰减、植入式电子皮肤临床试验均为团队自有成果，行业数值仅用于建立可比基线</a:t>
            </a:r>
            <a:endParaRPr lang="en-US" sz="700" dirty="0"/>
          </a:p>
        </p:txBody>
      </p:sp>
      <p:sp>
        <p:nvSpPr>
          <p:cNvPr id="65535" name="wm:hwcld:2026-09-22T19:07:46:581b05d5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2" y="1120676"/>
            <a:ext cx="285750" cy="7144"/>
          </a:xfrm>
          <a:prstGeom prst="rect">
            <a:avLst/>
          </a:prstGeom>
          <a:solidFill>
            <a:srgbClr val="1D1D1F"/>
          </a:solidFill>
          <a:ln/>
        </p:spPr>
      </p:sp>
      <p:sp>
        <p:nvSpPr>
          <p:cNvPr id="4" name="Shape 2"/>
          <p:cNvSpPr/>
          <p:nvPr/>
        </p:nvSpPr>
        <p:spPr>
          <a:xfrm>
            <a:off x="214647" y="1460450"/>
            <a:ext cx="5022056" cy="2928938"/>
          </a:xfrm>
          <a:prstGeom prst="roundRect">
            <a:avLst>
              <a:gd name="adj" fmla="val 609"/>
            </a:avLst>
          </a:prstGeom>
          <a:solidFill>
            <a:srgbClr val="F5F5F7"/>
          </a:solidFill>
          <a:ln/>
        </p:spPr>
      </p:sp>
      <p:sp>
        <p:nvSpPr>
          <p:cNvPr id="5" name="Text 3"/>
          <p:cNvSpPr/>
          <p:nvPr/>
        </p:nvSpPr>
        <p:spPr>
          <a:xfrm>
            <a:off x="2582810" y="3715911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00000">
                    <a:alpha val="48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量产良率（%）</a:t>
            </a:r>
            <a:endParaRPr lang="en-US" sz="788" dirty="0"/>
          </a:p>
        </p:txBody>
      </p:sp>
      <p:sp>
        <p:nvSpPr>
          <p:cNvPr id="6" name="Text 4"/>
          <p:cNvSpPr/>
          <p:nvPr/>
        </p:nvSpPr>
        <p:spPr>
          <a:xfrm>
            <a:off x="-420793" y="2062728"/>
            <a:ext cx="198310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团队阵列良率（2025）</a:t>
            </a:r>
            <a:endParaRPr lang="en-US" sz="788" dirty="0"/>
          </a:p>
        </p:txBody>
      </p:sp>
      <p:sp>
        <p:nvSpPr>
          <p:cNvPr id="7" name="Text 5"/>
          <p:cNvSpPr/>
          <p:nvPr/>
        </p:nvSpPr>
        <p:spPr>
          <a:xfrm>
            <a:off x="-270774" y="2321094"/>
            <a:ext cx="183308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国内头部触觉传感器厂商</a:t>
            </a:r>
            <a:endParaRPr lang="en-US" sz="788" dirty="0"/>
          </a:p>
        </p:txBody>
      </p:sp>
      <p:sp>
        <p:nvSpPr>
          <p:cNvPr id="8" name="Text 6"/>
          <p:cNvSpPr/>
          <p:nvPr/>
        </p:nvSpPr>
        <p:spPr>
          <a:xfrm>
            <a:off x="-420793" y="2579460"/>
            <a:ext cx="198310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柔性 OLED 头部厂商</a:t>
            </a:r>
            <a:endParaRPr lang="en-US" sz="788" dirty="0"/>
          </a:p>
        </p:txBody>
      </p:sp>
      <p:sp>
        <p:nvSpPr>
          <p:cNvPr id="9" name="Text 7"/>
          <p:cNvSpPr/>
          <p:nvPr/>
        </p:nvSpPr>
        <p:spPr>
          <a:xfrm>
            <a:off x="-420793" y="2837825"/>
            <a:ext cx="198310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柔性 OLED 全球综合</a:t>
            </a:r>
            <a:endParaRPr lang="en-US" sz="788" dirty="0"/>
          </a:p>
        </p:txBody>
      </p:sp>
      <p:sp>
        <p:nvSpPr>
          <p:cNvPr id="10" name="Text 8"/>
          <p:cNvSpPr/>
          <p:nvPr/>
        </p:nvSpPr>
        <p:spPr>
          <a:xfrm>
            <a:off x="-870849" y="3096191"/>
            <a:ext cx="243316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团队阵列良率（2023 起点）</a:t>
            </a:r>
            <a:endParaRPr lang="en-US" sz="788" dirty="0"/>
          </a:p>
        </p:txBody>
      </p:sp>
      <p:sp>
        <p:nvSpPr>
          <p:cNvPr id="11" name="Text 9"/>
          <p:cNvSpPr/>
          <p:nvPr/>
        </p:nvSpPr>
        <p:spPr>
          <a:xfrm>
            <a:off x="-1770961" y="3354556"/>
            <a:ext cx="33332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三星 8.6 代 IT 用 OLED 产线</a:t>
            </a:r>
            <a:endParaRPr lang="en-US" sz="788" dirty="0"/>
          </a:p>
        </p:txBody>
      </p:sp>
      <p:sp>
        <p:nvSpPr>
          <p:cNvPr id="12" name="Text 10"/>
          <p:cNvSpPr/>
          <p:nvPr/>
        </p:nvSpPr>
        <p:spPr>
          <a:xfrm>
            <a:off x="1453013" y="3587323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0</a:t>
            </a:r>
            <a:endParaRPr lang="en-US" sz="788" dirty="0"/>
          </a:p>
        </p:txBody>
      </p:sp>
      <p:sp>
        <p:nvSpPr>
          <p:cNvPr id="13" name="Text 11"/>
          <p:cNvSpPr/>
          <p:nvPr/>
        </p:nvSpPr>
        <p:spPr>
          <a:xfrm>
            <a:off x="2009945" y="3587323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20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2641886" y="3587323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40</a:t>
            </a:r>
            <a:endParaRPr lang="en-US" sz="788" dirty="0"/>
          </a:p>
        </p:txBody>
      </p:sp>
      <p:sp>
        <p:nvSpPr>
          <p:cNvPr id="15" name="Text 13"/>
          <p:cNvSpPr/>
          <p:nvPr/>
        </p:nvSpPr>
        <p:spPr>
          <a:xfrm>
            <a:off x="3273828" y="3587323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60</a:t>
            </a:r>
            <a:endParaRPr lang="en-US" sz="788" dirty="0"/>
          </a:p>
        </p:txBody>
      </p:sp>
      <p:sp>
        <p:nvSpPr>
          <p:cNvPr id="16" name="Text 14"/>
          <p:cNvSpPr/>
          <p:nvPr/>
        </p:nvSpPr>
        <p:spPr>
          <a:xfrm>
            <a:off x="3905769" y="3587323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80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4462701" y="3587323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100</a:t>
            </a:r>
            <a:endParaRPr lang="en-US" sz="788" dirty="0"/>
          </a:p>
        </p:txBody>
      </p:sp>
      <p:sp>
        <p:nvSpPr>
          <p:cNvPr id="18" name="Shape 16"/>
          <p:cNvSpPr/>
          <p:nvPr/>
        </p:nvSpPr>
        <p:spPr>
          <a:xfrm>
            <a:off x="1619462" y="2058442"/>
            <a:ext cx="2906930" cy="128588"/>
          </a:xfrm>
          <a:custGeom>
            <a:avLst/>
            <a:gdLst/>
            <a:ahLst/>
            <a:cxnLst/>
            <a:rect l="l" t="t" r="r" b="b"/>
            <a:pathLst>
              <a:path w="2906930" h="128588">
                <a:moveTo>
                  <a:pt x="0" y="0"/>
                </a:moveTo>
                <a:lnTo>
                  <a:pt x="2885498" y="0"/>
                </a:lnTo>
                <a:lnTo>
                  <a:pt x="2886550" y="26"/>
                </a:lnTo>
                <a:lnTo>
                  <a:pt x="2887599" y="103"/>
                </a:lnTo>
                <a:lnTo>
                  <a:pt x="2888643" y="232"/>
                </a:lnTo>
                <a:lnTo>
                  <a:pt x="2889680" y="412"/>
                </a:lnTo>
                <a:lnTo>
                  <a:pt x="2890706" y="642"/>
                </a:lnTo>
                <a:lnTo>
                  <a:pt x="2891720" y="923"/>
                </a:lnTo>
                <a:lnTo>
                  <a:pt x="2892718" y="1253"/>
                </a:lnTo>
                <a:lnTo>
                  <a:pt x="2893700" y="1631"/>
                </a:lnTo>
                <a:lnTo>
                  <a:pt x="2894662" y="2058"/>
                </a:lnTo>
                <a:lnTo>
                  <a:pt x="2895601" y="2531"/>
                </a:lnTo>
                <a:lnTo>
                  <a:pt x="2896516" y="3049"/>
                </a:lnTo>
                <a:lnTo>
                  <a:pt x="2897405" y="3612"/>
                </a:lnTo>
                <a:lnTo>
                  <a:pt x="2898265" y="4218"/>
                </a:lnTo>
                <a:lnTo>
                  <a:pt x="2899094" y="4865"/>
                </a:lnTo>
                <a:lnTo>
                  <a:pt x="2899891" y="5552"/>
                </a:lnTo>
                <a:lnTo>
                  <a:pt x="2900653" y="6277"/>
                </a:lnTo>
                <a:lnTo>
                  <a:pt x="2901378" y="7039"/>
                </a:lnTo>
                <a:lnTo>
                  <a:pt x="2902065" y="7835"/>
                </a:lnTo>
                <a:lnTo>
                  <a:pt x="2902712" y="8665"/>
                </a:lnTo>
                <a:lnTo>
                  <a:pt x="2903318" y="9525"/>
                </a:lnTo>
                <a:lnTo>
                  <a:pt x="2903881" y="10413"/>
                </a:lnTo>
                <a:lnTo>
                  <a:pt x="2904399" y="11329"/>
                </a:lnTo>
                <a:lnTo>
                  <a:pt x="2904872" y="12268"/>
                </a:lnTo>
                <a:lnTo>
                  <a:pt x="2905298" y="13230"/>
                </a:lnTo>
                <a:lnTo>
                  <a:pt x="2905677" y="14211"/>
                </a:lnTo>
                <a:lnTo>
                  <a:pt x="2906007" y="15210"/>
                </a:lnTo>
                <a:lnTo>
                  <a:pt x="2906287" y="16224"/>
                </a:lnTo>
                <a:lnTo>
                  <a:pt x="2906518" y="17250"/>
                </a:lnTo>
                <a:lnTo>
                  <a:pt x="2906698" y="18287"/>
                </a:lnTo>
                <a:lnTo>
                  <a:pt x="2906827" y="19331"/>
                </a:lnTo>
                <a:lnTo>
                  <a:pt x="2906904" y="20380"/>
                </a:lnTo>
                <a:lnTo>
                  <a:pt x="2906930" y="21431"/>
                </a:lnTo>
                <a:lnTo>
                  <a:pt x="2906930" y="107156"/>
                </a:lnTo>
                <a:lnTo>
                  <a:pt x="2906904" y="108208"/>
                </a:lnTo>
                <a:lnTo>
                  <a:pt x="2906827" y="109257"/>
                </a:lnTo>
                <a:lnTo>
                  <a:pt x="2906698" y="110301"/>
                </a:lnTo>
                <a:lnTo>
                  <a:pt x="2906518" y="111337"/>
                </a:lnTo>
                <a:lnTo>
                  <a:pt x="2906287" y="112364"/>
                </a:lnTo>
                <a:lnTo>
                  <a:pt x="2906007" y="113377"/>
                </a:lnTo>
                <a:lnTo>
                  <a:pt x="2905677" y="114376"/>
                </a:lnTo>
                <a:lnTo>
                  <a:pt x="2905298" y="115358"/>
                </a:lnTo>
                <a:lnTo>
                  <a:pt x="2904872" y="116319"/>
                </a:lnTo>
                <a:lnTo>
                  <a:pt x="2904399" y="117259"/>
                </a:lnTo>
                <a:lnTo>
                  <a:pt x="2903881" y="118174"/>
                </a:lnTo>
                <a:lnTo>
                  <a:pt x="2903318" y="119063"/>
                </a:lnTo>
                <a:lnTo>
                  <a:pt x="2902712" y="119923"/>
                </a:lnTo>
                <a:lnTo>
                  <a:pt x="2902065" y="120752"/>
                </a:lnTo>
                <a:lnTo>
                  <a:pt x="2901378" y="121549"/>
                </a:lnTo>
                <a:lnTo>
                  <a:pt x="2900653" y="122310"/>
                </a:lnTo>
                <a:lnTo>
                  <a:pt x="2899891" y="123036"/>
                </a:lnTo>
                <a:lnTo>
                  <a:pt x="2899094" y="123723"/>
                </a:lnTo>
                <a:lnTo>
                  <a:pt x="2898265" y="124370"/>
                </a:lnTo>
                <a:lnTo>
                  <a:pt x="2897405" y="124976"/>
                </a:lnTo>
                <a:lnTo>
                  <a:pt x="2896516" y="125538"/>
                </a:lnTo>
                <a:lnTo>
                  <a:pt x="2895601" y="126057"/>
                </a:lnTo>
                <a:lnTo>
                  <a:pt x="2894662" y="126530"/>
                </a:lnTo>
                <a:lnTo>
                  <a:pt x="2893700" y="126956"/>
                </a:lnTo>
                <a:lnTo>
                  <a:pt x="2892718" y="127335"/>
                </a:lnTo>
                <a:lnTo>
                  <a:pt x="2891720" y="127665"/>
                </a:lnTo>
                <a:lnTo>
                  <a:pt x="2890706" y="127945"/>
                </a:lnTo>
                <a:lnTo>
                  <a:pt x="2889680" y="128176"/>
                </a:lnTo>
                <a:lnTo>
                  <a:pt x="2888643" y="128356"/>
                </a:lnTo>
                <a:lnTo>
                  <a:pt x="2887599" y="128484"/>
                </a:lnTo>
                <a:lnTo>
                  <a:pt x="2886550" y="128562"/>
                </a:lnTo>
                <a:lnTo>
                  <a:pt x="2885498" y="128588"/>
                </a:lnTo>
                <a:lnTo>
                  <a:pt x="0" y="128588"/>
                </a:lnTo>
                <a:lnTo>
                  <a:pt x="0" y="0"/>
                </a:lnTo>
              </a:path>
            </a:pathLst>
          </a:custGeom>
          <a:solidFill>
            <a:srgbClr val="0071E3"/>
          </a:solidFill>
          <a:ln/>
        </p:spPr>
      </p:sp>
      <p:sp>
        <p:nvSpPr>
          <p:cNvPr id="19" name="Shape 17"/>
          <p:cNvSpPr/>
          <p:nvPr/>
        </p:nvSpPr>
        <p:spPr>
          <a:xfrm>
            <a:off x="1619462" y="3091904"/>
            <a:ext cx="2464571" cy="128588"/>
          </a:xfrm>
          <a:custGeom>
            <a:avLst/>
            <a:gdLst/>
            <a:ahLst/>
            <a:cxnLst/>
            <a:rect l="l" t="t" r="r" b="b"/>
            <a:pathLst>
              <a:path w="2464571" h="128588">
                <a:moveTo>
                  <a:pt x="0" y="0"/>
                </a:moveTo>
                <a:lnTo>
                  <a:pt x="2443140" y="0"/>
                </a:lnTo>
                <a:lnTo>
                  <a:pt x="2444191" y="26"/>
                </a:lnTo>
                <a:lnTo>
                  <a:pt x="2445240" y="103"/>
                </a:lnTo>
                <a:lnTo>
                  <a:pt x="2446284" y="232"/>
                </a:lnTo>
                <a:lnTo>
                  <a:pt x="2447321" y="412"/>
                </a:lnTo>
                <a:lnTo>
                  <a:pt x="2448347" y="642"/>
                </a:lnTo>
                <a:lnTo>
                  <a:pt x="2449361" y="923"/>
                </a:lnTo>
                <a:lnTo>
                  <a:pt x="2450360" y="1253"/>
                </a:lnTo>
                <a:lnTo>
                  <a:pt x="2451341" y="1631"/>
                </a:lnTo>
                <a:lnTo>
                  <a:pt x="2452303" y="2058"/>
                </a:lnTo>
                <a:lnTo>
                  <a:pt x="2453242" y="2531"/>
                </a:lnTo>
                <a:lnTo>
                  <a:pt x="2454158" y="3049"/>
                </a:lnTo>
                <a:lnTo>
                  <a:pt x="2455046" y="3612"/>
                </a:lnTo>
                <a:lnTo>
                  <a:pt x="2455906" y="4218"/>
                </a:lnTo>
                <a:lnTo>
                  <a:pt x="2456735" y="4865"/>
                </a:lnTo>
                <a:lnTo>
                  <a:pt x="2457532" y="5552"/>
                </a:lnTo>
                <a:lnTo>
                  <a:pt x="2458294" y="6277"/>
                </a:lnTo>
                <a:lnTo>
                  <a:pt x="2459019" y="7039"/>
                </a:lnTo>
                <a:lnTo>
                  <a:pt x="2459706" y="7835"/>
                </a:lnTo>
                <a:lnTo>
                  <a:pt x="2460353" y="8665"/>
                </a:lnTo>
                <a:lnTo>
                  <a:pt x="2460959" y="9525"/>
                </a:lnTo>
                <a:lnTo>
                  <a:pt x="2461522" y="10413"/>
                </a:lnTo>
                <a:lnTo>
                  <a:pt x="2462040" y="11329"/>
                </a:lnTo>
                <a:lnTo>
                  <a:pt x="2462513" y="12268"/>
                </a:lnTo>
                <a:lnTo>
                  <a:pt x="2462940" y="13230"/>
                </a:lnTo>
                <a:lnTo>
                  <a:pt x="2463318" y="14211"/>
                </a:lnTo>
                <a:lnTo>
                  <a:pt x="2463648" y="15210"/>
                </a:lnTo>
                <a:lnTo>
                  <a:pt x="2463929" y="16224"/>
                </a:lnTo>
                <a:lnTo>
                  <a:pt x="2464159" y="17250"/>
                </a:lnTo>
                <a:lnTo>
                  <a:pt x="2464339" y="18287"/>
                </a:lnTo>
                <a:lnTo>
                  <a:pt x="2464468" y="19331"/>
                </a:lnTo>
                <a:lnTo>
                  <a:pt x="2464545" y="20380"/>
                </a:lnTo>
                <a:lnTo>
                  <a:pt x="2464571" y="21431"/>
                </a:lnTo>
                <a:lnTo>
                  <a:pt x="2464571" y="107156"/>
                </a:lnTo>
                <a:lnTo>
                  <a:pt x="2464545" y="108208"/>
                </a:lnTo>
                <a:lnTo>
                  <a:pt x="2464468" y="109257"/>
                </a:lnTo>
                <a:lnTo>
                  <a:pt x="2464339" y="110301"/>
                </a:lnTo>
                <a:lnTo>
                  <a:pt x="2464159" y="111337"/>
                </a:lnTo>
                <a:lnTo>
                  <a:pt x="2463929" y="112364"/>
                </a:lnTo>
                <a:lnTo>
                  <a:pt x="2463648" y="113377"/>
                </a:lnTo>
                <a:lnTo>
                  <a:pt x="2463318" y="114376"/>
                </a:lnTo>
                <a:lnTo>
                  <a:pt x="2462940" y="115358"/>
                </a:lnTo>
                <a:lnTo>
                  <a:pt x="2462513" y="116319"/>
                </a:lnTo>
                <a:lnTo>
                  <a:pt x="2462040" y="117259"/>
                </a:lnTo>
                <a:lnTo>
                  <a:pt x="2461522" y="118174"/>
                </a:lnTo>
                <a:lnTo>
                  <a:pt x="2460959" y="119063"/>
                </a:lnTo>
                <a:lnTo>
                  <a:pt x="2460353" y="119923"/>
                </a:lnTo>
                <a:lnTo>
                  <a:pt x="2459706" y="120752"/>
                </a:lnTo>
                <a:lnTo>
                  <a:pt x="2459019" y="121549"/>
                </a:lnTo>
                <a:lnTo>
                  <a:pt x="2458294" y="122310"/>
                </a:lnTo>
                <a:lnTo>
                  <a:pt x="2457532" y="123036"/>
                </a:lnTo>
                <a:lnTo>
                  <a:pt x="2456735" y="123723"/>
                </a:lnTo>
                <a:lnTo>
                  <a:pt x="2455906" y="124370"/>
                </a:lnTo>
                <a:lnTo>
                  <a:pt x="2455046" y="124976"/>
                </a:lnTo>
                <a:lnTo>
                  <a:pt x="2454158" y="125538"/>
                </a:lnTo>
                <a:lnTo>
                  <a:pt x="2453242" y="126057"/>
                </a:lnTo>
                <a:lnTo>
                  <a:pt x="2452303" y="126530"/>
                </a:lnTo>
                <a:lnTo>
                  <a:pt x="2451341" y="126956"/>
                </a:lnTo>
                <a:lnTo>
                  <a:pt x="2450360" y="127335"/>
                </a:lnTo>
                <a:lnTo>
                  <a:pt x="2449361" y="127665"/>
                </a:lnTo>
                <a:lnTo>
                  <a:pt x="2448347" y="127945"/>
                </a:lnTo>
                <a:lnTo>
                  <a:pt x="2447321" y="128176"/>
                </a:lnTo>
                <a:lnTo>
                  <a:pt x="2446284" y="128356"/>
                </a:lnTo>
                <a:lnTo>
                  <a:pt x="2445240" y="128484"/>
                </a:lnTo>
                <a:lnTo>
                  <a:pt x="2444191" y="128562"/>
                </a:lnTo>
                <a:lnTo>
                  <a:pt x="2443140" y="128588"/>
                </a:lnTo>
                <a:lnTo>
                  <a:pt x="0" y="128588"/>
                </a:lnTo>
                <a:lnTo>
                  <a:pt x="0" y="0"/>
                </a:lnTo>
              </a:path>
            </a:pathLst>
          </a:custGeom>
          <a:solidFill>
            <a:srgbClr val="0071E3"/>
          </a:solidFill>
          <a:ln/>
        </p:spPr>
      </p:sp>
      <p:sp>
        <p:nvSpPr>
          <p:cNvPr id="20" name="Shape 18"/>
          <p:cNvSpPr/>
          <p:nvPr/>
        </p:nvSpPr>
        <p:spPr>
          <a:xfrm>
            <a:off x="1619462" y="2316807"/>
            <a:ext cx="2906930" cy="128588"/>
          </a:xfrm>
          <a:custGeom>
            <a:avLst/>
            <a:gdLst/>
            <a:ahLst/>
            <a:cxnLst/>
            <a:rect l="l" t="t" r="r" b="b"/>
            <a:pathLst>
              <a:path w="2906930" h="128588">
                <a:moveTo>
                  <a:pt x="0" y="0"/>
                </a:moveTo>
                <a:lnTo>
                  <a:pt x="2885498" y="0"/>
                </a:lnTo>
                <a:lnTo>
                  <a:pt x="2886550" y="26"/>
                </a:lnTo>
                <a:lnTo>
                  <a:pt x="2887599" y="103"/>
                </a:lnTo>
                <a:lnTo>
                  <a:pt x="2888643" y="232"/>
                </a:lnTo>
                <a:lnTo>
                  <a:pt x="2889680" y="412"/>
                </a:lnTo>
                <a:lnTo>
                  <a:pt x="2890706" y="642"/>
                </a:lnTo>
                <a:lnTo>
                  <a:pt x="2891720" y="923"/>
                </a:lnTo>
                <a:lnTo>
                  <a:pt x="2892718" y="1253"/>
                </a:lnTo>
                <a:lnTo>
                  <a:pt x="2893700" y="1631"/>
                </a:lnTo>
                <a:lnTo>
                  <a:pt x="2894662" y="2058"/>
                </a:lnTo>
                <a:lnTo>
                  <a:pt x="2895601" y="2531"/>
                </a:lnTo>
                <a:lnTo>
                  <a:pt x="2896516" y="3049"/>
                </a:lnTo>
                <a:lnTo>
                  <a:pt x="2897405" y="3612"/>
                </a:lnTo>
                <a:lnTo>
                  <a:pt x="2898265" y="4218"/>
                </a:lnTo>
                <a:lnTo>
                  <a:pt x="2899094" y="4865"/>
                </a:lnTo>
                <a:lnTo>
                  <a:pt x="2899891" y="5552"/>
                </a:lnTo>
                <a:lnTo>
                  <a:pt x="2900653" y="6277"/>
                </a:lnTo>
                <a:lnTo>
                  <a:pt x="2901378" y="7039"/>
                </a:lnTo>
                <a:lnTo>
                  <a:pt x="2902065" y="7835"/>
                </a:lnTo>
                <a:lnTo>
                  <a:pt x="2902712" y="8665"/>
                </a:lnTo>
                <a:lnTo>
                  <a:pt x="2903318" y="9525"/>
                </a:lnTo>
                <a:lnTo>
                  <a:pt x="2903881" y="10413"/>
                </a:lnTo>
                <a:lnTo>
                  <a:pt x="2904399" y="11329"/>
                </a:lnTo>
                <a:lnTo>
                  <a:pt x="2904872" y="12268"/>
                </a:lnTo>
                <a:lnTo>
                  <a:pt x="2905298" y="13230"/>
                </a:lnTo>
                <a:lnTo>
                  <a:pt x="2905677" y="14211"/>
                </a:lnTo>
                <a:lnTo>
                  <a:pt x="2906007" y="15210"/>
                </a:lnTo>
                <a:lnTo>
                  <a:pt x="2906287" y="16224"/>
                </a:lnTo>
                <a:lnTo>
                  <a:pt x="2906518" y="17250"/>
                </a:lnTo>
                <a:lnTo>
                  <a:pt x="2906698" y="18287"/>
                </a:lnTo>
                <a:lnTo>
                  <a:pt x="2906827" y="19331"/>
                </a:lnTo>
                <a:lnTo>
                  <a:pt x="2906904" y="20380"/>
                </a:lnTo>
                <a:lnTo>
                  <a:pt x="2906930" y="21431"/>
                </a:lnTo>
                <a:lnTo>
                  <a:pt x="2906930" y="107156"/>
                </a:lnTo>
                <a:lnTo>
                  <a:pt x="2906904" y="108208"/>
                </a:lnTo>
                <a:lnTo>
                  <a:pt x="2906827" y="109257"/>
                </a:lnTo>
                <a:lnTo>
                  <a:pt x="2906698" y="110301"/>
                </a:lnTo>
                <a:lnTo>
                  <a:pt x="2906518" y="111337"/>
                </a:lnTo>
                <a:lnTo>
                  <a:pt x="2906287" y="112364"/>
                </a:lnTo>
                <a:lnTo>
                  <a:pt x="2906007" y="113377"/>
                </a:lnTo>
                <a:lnTo>
                  <a:pt x="2905677" y="114376"/>
                </a:lnTo>
                <a:lnTo>
                  <a:pt x="2905298" y="115358"/>
                </a:lnTo>
                <a:lnTo>
                  <a:pt x="2904872" y="116319"/>
                </a:lnTo>
                <a:lnTo>
                  <a:pt x="2904399" y="117259"/>
                </a:lnTo>
                <a:lnTo>
                  <a:pt x="2903881" y="118174"/>
                </a:lnTo>
                <a:lnTo>
                  <a:pt x="2903318" y="119063"/>
                </a:lnTo>
                <a:lnTo>
                  <a:pt x="2902712" y="119923"/>
                </a:lnTo>
                <a:lnTo>
                  <a:pt x="2902065" y="120752"/>
                </a:lnTo>
                <a:lnTo>
                  <a:pt x="2901378" y="121549"/>
                </a:lnTo>
                <a:lnTo>
                  <a:pt x="2900653" y="122310"/>
                </a:lnTo>
                <a:lnTo>
                  <a:pt x="2899891" y="123036"/>
                </a:lnTo>
                <a:lnTo>
                  <a:pt x="2899094" y="123723"/>
                </a:lnTo>
                <a:lnTo>
                  <a:pt x="2898265" y="124370"/>
                </a:lnTo>
                <a:lnTo>
                  <a:pt x="2897405" y="124976"/>
                </a:lnTo>
                <a:lnTo>
                  <a:pt x="2896516" y="125538"/>
                </a:lnTo>
                <a:lnTo>
                  <a:pt x="2895601" y="126057"/>
                </a:lnTo>
                <a:lnTo>
                  <a:pt x="2894662" y="126530"/>
                </a:lnTo>
                <a:lnTo>
                  <a:pt x="2893700" y="126956"/>
                </a:lnTo>
                <a:lnTo>
                  <a:pt x="2892718" y="127335"/>
                </a:lnTo>
                <a:lnTo>
                  <a:pt x="2891720" y="127665"/>
                </a:lnTo>
                <a:lnTo>
                  <a:pt x="2890706" y="127945"/>
                </a:lnTo>
                <a:lnTo>
                  <a:pt x="2889680" y="128176"/>
                </a:lnTo>
                <a:lnTo>
                  <a:pt x="2888643" y="128356"/>
                </a:lnTo>
                <a:lnTo>
                  <a:pt x="2887599" y="128484"/>
                </a:lnTo>
                <a:lnTo>
                  <a:pt x="2886550" y="128562"/>
                </a:lnTo>
                <a:lnTo>
                  <a:pt x="2885498" y="128588"/>
                </a:lnTo>
                <a:lnTo>
                  <a:pt x="0" y="128588"/>
                </a:lnTo>
                <a:lnTo>
                  <a:pt x="0" y="0"/>
                </a:lnTo>
              </a:path>
            </a:pathLst>
          </a:custGeom>
          <a:solidFill>
            <a:srgbClr val="1D1D1F"/>
          </a:solidFill>
          <a:ln/>
        </p:spPr>
      </p:sp>
      <p:sp>
        <p:nvSpPr>
          <p:cNvPr id="21" name="Shape 19"/>
          <p:cNvSpPr/>
          <p:nvPr/>
        </p:nvSpPr>
        <p:spPr>
          <a:xfrm>
            <a:off x="1619462" y="2575173"/>
            <a:ext cx="2685751" cy="128587"/>
          </a:xfrm>
          <a:custGeom>
            <a:avLst/>
            <a:gdLst/>
            <a:ahLst/>
            <a:cxnLst/>
            <a:rect l="l" t="t" r="r" b="b"/>
            <a:pathLst>
              <a:path w="2685751" h="128587">
                <a:moveTo>
                  <a:pt x="0" y="0"/>
                </a:moveTo>
                <a:lnTo>
                  <a:pt x="2664319" y="0"/>
                </a:lnTo>
                <a:lnTo>
                  <a:pt x="2665371" y="26"/>
                </a:lnTo>
                <a:lnTo>
                  <a:pt x="2666420" y="103"/>
                </a:lnTo>
                <a:lnTo>
                  <a:pt x="2667464" y="232"/>
                </a:lnTo>
                <a:lnTo>
                  <a:pt x="2668500" y="412"/>
                </a:lnTo>
                <a:lnTo>
                  <a:pt x="2669527" y="642"/>
                </a:lnTo>
                <a:lnTo>
                  <a:pt x="2670541" y="923"/>
                </a:lnTo>
                <a:lnTo>
                  <a:pt x="2671539" y="1253"/>
                </a:lnTo>
                <a:lnTo>
                  <a:pt x="2672521" y="1631"/>
                </a:lnTo>
                <a:lnTo>
                  <a:pt x="2673482" y="2058"/>
                </a:lnTo>
                <a:lnTo>
                  <a:pt x="2674422" y="2531"/>
                </a:lnTo>
                <a:lnTo>
                  <a:pt x="2675337" y="3049"/>
                </a:lnTo>
                <a:lnTo>
                  <a:pt x="2676226" y="3612"/>
                </a:lnTo>
                <a:lnTo>
                  <a:pt x="2677086" y="4218"/>
                </a:lnTo>
                <a:lnTo>
                  <a:pt x="2677915" y="4865"/>
                </a:lnTo>
                <a:lnTo>
                  <a:pt x="2678712" y="5552"/>
                </a:lnTo>
                <a:lnTo>
                  <a:pt x="2679474" y="6277"/>
                </a:lnTo>
                <a:lnTo>
                  <a:pt x="2680199" y="7039"/>
                </a:lnTo>
                <a:lnTo>
                  <a:pt x="2680886" y="7835"/>
                </a:lnTo>
                <a:lnTo>
                  <a:pt x="2681533" y="8665"/>
                </a:lnTo>
                <a:lnTo>
                  <a:pt x="2682139" y="9525"/>
                </a:lnTo>
                <a:lnTo>
                  <a:pt x="2682702" y="10413"/>
                </a:lnTo>
                <a:lnTo>
                  <a:pt x="2683220" y="11329"/>
                </a:lnTo>
                <a:lnTo>
                  <a:pt x="2683693" y="12268"/>
                </a:lnTo>
                <a:lnTo>
                  <a:pt x="2684119" y="13230"/>
                </a:lnTo>
                <a:lnTo>
                  <a:pt x="2684498" y="14211"/>
                </a:lnTo>
                <a:lnTo>
                  <a:pt x="2684828" y="15210"/>
                </a:lnTo>
                <a:lnTo>
                  <a:pt x="2685108" y="16224"/>
                </a:lnTo>
                <a:lnTo>
                  <a:pt x="2685339" y="17250"/>
                </a:lnTo>
                <a:lnTo>
                  <a:pt x="2685519" y="18287"/>
                </a:lnTo>
                <a:lnTo>
                  <a:pt x="2685647" y="19331"/>
                </a:lnTo>
                <a:lnTo>
                  <a:pt x="2685725" y="20380"/>
                </a:lnTo>
                <a:lnTo>
                  <a:pt x="2685751" y="21431"/>
                </a:lnTo>
                <a:lnTo>
                  <a:pt x="2685751" y="107156"/>
                </a:lnTo>
                <a:lnTo>
                  <a:pt x="2685725" y="108208"/>
                </a:lnTo>
                <a:lnTo>
                  <a:pt x="2685647" y="109257"/>
                </a:lnTo>
                <a:lnTo>
                  <a:pt x="2685519" y="110301"/>
                </a:lnTo>
                <a:lnTo>
                  <a:pt x="2685339" y="111337"/>
                </a:lnTo>
                <a:lnTo>
                  <a:pt x="2685108" y="112364"/>
                </a:lnTo>
                <a:lnTo>
                  <a:pt x="2684828" y="113377"/>
                </a:lnTo>
                <a:lnTo>
                  <a:pt x="2684498" y="114376"/>
                </a:lnTo>
                <a:lnTo>
                  <a:pt x="2684119" y="115358"/>
                </a:lnTo>
                <a:lnTo>
                  <a:pt x="2683693" y="116319"/>
                </a:lnTo>
                <a:lnTo>
                  <a:pt x="2683220" y="117259"/>
                </a:lnTo>
                <a:lnTo>
                  <a:pt x="2682702" y="118174"/>
                </a:lnTo>
                <a:lnTo>
                  <a:pt x="2682139" y="119063"/>
                </a:lnTo>
                <a:lnTo>
                  <a:pt x="2681533" y="119923"/>
                </a:lnTo>
                <a:lnTo>
                  <a:pt x="2680886" y="120752"/>
                </a:lnTo>
                <a:lnTo>
                  <a:pt x="2680199" y="121549"/>
                </a:lnTo>
                <a:lnTo>
                  <a:pt x="2679474" y="122310"/>
                </a:lnTo>
                <a:lnTo>
                  <a:pt x="2678712" y="123036"/>
                </a:lnTo>
                <a:lnTo>
                  <a:pt x="2677915" y="123723"/>
                </a:lnTo>
                <a:lnTo>
                  <a:pt x="2677086" y="124370"/>
                </a:lnTo>
                <a:lnTo>
                  <a:pt x="2676226" y="124976"/>
                </a:lnTo>
                <a:lnTo>
                  <a:pt x="2675337" y="125538"/>
                </a:lnTo>
                <a:lnTo>
                  <a:pt x="2674422" y="126057"/>
                </a:lnTo>
                <a:lnTo>
                  <a:pt x="2673482" y="126530"/>
                </a:lnTo>
                <a:lnTo>
                  <a:pt x="2672521" y="126956"/>
                </a:lnTo>
                <a:lnTo>
                  <a:pt x="2671539" y="127335"/>
                </a:lnTo>
                <a:lnTo>
                  <a:pt x="2670541" y="127665"/>
                </a:lnTo>
                <a:lnTo>
                  <a:pt x="2669527" y="127945"/>
                </a:lnTo>
                <a:lnTo>
                  <a:pt x="2668500" y="128176"/>
                </a:lnTo>
                <a:lnTo>
                  <a:pt x="2667464" y="128356"/>
                </a:lnTo>
                <a:lnTo>
                  <a:pt x="2666420" y="128484"/>
                </a:lnTo>
                <a:lnTo>
                  <a:pt x="2665371" y="128562"/>
                </a:lnTo>
                <a:lnTo>
                  <a:pt x="2664319" y="128587"/>
                </a:lnTo>
                <a:lnTo>
                  <a:pt x="0" y="128587"/>
                </a:lnTo>
                <a:lnTo>
                  <a:pt x="0" y="0"/>
                </a:lnTo>
              </a:path>
            </a:pathLst>
          </a:custGeom>
          <a:solidFill>
            <a:srgbClr val="1D1D1F"/>
          </a:solidFill>
          <a:ln/>
        </p:spPr>
      </p:sp>
      <p:sp>
        <p:nvSpPr>
          <p:cNvPr id="22" name="Shape 20"/>
          <p:cNvSpPr/>
          <p:nvPr/>
        </p:nvSpPr>
        <p:spPr>
          <a:xfrm>
            <a:off x="1619462" y="2833538"/>
            <a:ext cx="2527765" cy="128588"/>
          </a:xfrm>
          <a:custGeom>
            <a:avLst/>
            <a:gdLst/>
            <a:ahLst/>
            <a:cxnLst/>
            <a:rect l="l" t="t" r="r" b="b"/>
            <a:pathLst>
              <a:path w="2527765" h="128588">
                <a:moveTo>
                  <a:pt x="0" y="0"/>
                </a:moveTo>
                <a:lnTo>
                  <a:pt x="2506334" y="0"/>
                </a:lnTo>
                <a:lnTo>
                  <a:pt x="2507386" y="26"/>
                </a:lnTo>
                <a:lnTo>
                  <a:pt x="2508435" y="103"/>
                </a:lnTo>
                <a:lnTo>
                  <a:pt x="2509479" y="232"/>
                </a:lnTo>
                <a:lnTo>
                  <a:pt x="2510515" y="412"/>
                </a:lnTo>
                <a:lnTo>
                  <a:pt x="2511541" y="642"/>
                </a:lnTo>
                <a:lnTo>
                  <a:pt x="2512555" y="923"/>
                </a:lnTo>
                <a:lnTo>
                  <a:pt x="2513554" y="1253"/>
                </a:lnTo>
                <a:lnTo>
                  <a:pt x="2514535" y="1631"/>
                </a:lnTo>
                <a:lnTo>
                  <a:pt x="2515497" y="2058"/>
                </a:lnTo>
                <a:lnTo>
                  <a:pt x="2516437" y="2531"/>
                </a:lnTo>
                <a:lnTo>
                  <a:pt x="2517352" y="3049"/>
                </a:lnTo>
                <a:lnTo>
                  <a:pt x="2518241" y="3612"/>
                </a:lnTo>
                <a:lnTo>
                  <a:pt x="2519101" y="4218"/>
                </a:lnTo>
                <a:lnTo>
                  <a:pt x="2519930" y="4865"/>
                </a:lnTo>
                <a:lnTo>
                  <a:pt x="2520726" y="5552"/>
                </a:lnTo>
                <a:lnTo>
                  <a:pt x="2521488" y="6277"/>
                </a:lnTo>
                <a:lnTo>
                  <a:pt x="2522213" y="7039"/>
                </a:lnTo>
                <a:lnTo>
                  <a:pt x="2522901" y="7835"/>
                </a:lnTo>
                <a:lnTo>
                  <a:pt x="2523548" y="8665"/>
                </a:lnTo>
                <a:lnTo>
                  <a:pt x="2524153" y="9525"/>
                </a:lnTo>
                <a:lnTo>
                  <a:pt x="2524716" y="10413"/>
                </a:lnTo>
                <a:lnTo>
                  <a:pt x="2525235" y="11329"/>
                </a:lnTo>
                <a:lnTo>
                  <a:pt x="2525708" y="12268"/>
                </a:lnTo>
                <a:lnTo>
                  <a:pt x="2526134" y="13230"/>
                </a:lnTo>
                <a:lnTo>
                  <a:pt x="2526512" y="14211"/>
                </a:lnTo>
                <a:lnTo>
                  <a:pt x="2526842" y="15210"/>
                </a:lnTo>
                <a:lnTo>
                  <a:pt x="2527123" y="16224"/>
                </a:lnTo>
                <a:lnTo>
                  <a:pt x="2527353" y="17250"/>
                </a:lnTo>
                <a:lnTo>
                  <a:pt x="2527533" y="18287"/>
                </a:lnTo>
                <a:lnTo>
                  <a:pt x="2527662" y="19331"/>
                </a:lnTo>
                <a:lnTo>
                  <a:pt x="2527739" y="20380"/>
                </a:lnTo>
                <a:lnTo>
                  <a:pt x="2527765" y="21431"/>
                </a:lnTo>
                <a:lnTo>
                  <a:pt x="2527765" y="107156"/>
                </a:lnTo>
                <a:lnTo>
                  <a:pt x="2527739" y="108208"/>
                </a:lnTo>
                <a:lnTo>
                  <a:pt x="2527662" y="109257"/>
                </a:lnTo>
                <a:lnTo>
                  <a:pt x="2527533" y="110301"/>
                </a:lnTo>
                <a:lnTo>
                  <a:pt x="2527353" y="111337"/>
                </a:lnTo>
                <a:lnTo>
                  <a:pt x="2527123" y="112364"/>
                </a:lnTo>
                <a:lnTo>
                  <a:pt x="2526842" y="113377"/>
                </a:lnTo>
                <a:lnTo>
                  <a:pt x="2526512" y="114376"/>
                </a:lnTo>
                <a:lnTo>
                  <a:pt x="2526134" y="115358"/>
                </a:lnTo>
                <a:lnTo>
                  <a:pt x="2525708" y="116319"/>
                </a:lnTo>
                <a:lnTo>
                  <a:pt x="2525235" y="117259"/>
                </a:lnTo>
                <a:lnTo>
                  <a:pt x="2524716" y="118174"/>
                </a:lnTo>
                <a:lnTo>
                  <a:pt x="2524153" y="119063"/>
                </a:lnTo>
                <a:lnTo>
                  <a:pt x="2523548" y="119923"/>
                </a:lnTo>
                <a:lnTo>
                  <a:pt x="2522901" y="120752"/>
                </a:lnTo>
                <a:lnTo>
                  <a:pt x="2522213" y="121549"/>
                </a:lnTo>
                <a:lnTo>
                  <a:pt x="2521488" y="122310"/>
                </a:lnTo>
                <a:lnTo>
                  <a:pt x="2520726" y="123036"/>
                </a:lnTo>
                <a:lnTo>
                  <a:pt x="2519930" y="123723"/>
                </a:lnTo>
                <a:lnTo>
                  <a:pt x="2519101" y="124370"/>
                </a:lnTo>
                <a:lnTo>
                  <a:pt x="2518241" y="124976"/>
                </a:lnTo>
                <a:lnTo>
                  <a:pt x="2517352" y="125538"/>
                </a:lnTo>
                <a:lnTo>
                  <a:pt x="2516437" y="126057"/>
                </a:lnTo>
                <a:lnTo>
                  <a:pt x="2515497" y="126530"/>
                </a:lnTo>
                <a:lnTo>
                  <a:pt x="2514535" y="126956"/>
                </a:lnTo>
                <a:lnTo>
                  <a:pt x="2513554" y="127335"/>
                </a:lnTo>
                <a:lnTo>
                  <a:pt x="2512555" y="127665"/>
                </a:lnTo>
                <a:lnTo>
                  <a:pt x="2511541" y="127945"/>
                </a:lnTo>
                <a:lnTo>
                  <a:pt x="2510515" y="128176"/>
                </a:lnTo>
                <a:lnTo>
                  <a:pt x="2509479" y="128356"/>
                </a:lnTo>
                <a:lnTo>
                  <a:pt x="2508435" y="128484"/>
                </a:lnTo>
                <a:lnTo>
                  <a:pt x="2507386" y="128562"/>
                </a:lnTo>
                <a:lnTo>
                  <a:pt x="2506334" y="128588"/>
                </a:lnTo>
                <a:lnTo>
                  <a:pt x="0" y="128588"/>
                </a:lnTo>
                <a:lnTo>
                  <a:pt x="0" y="0"/>
                </a:lnTo>
              </a:path>
            </a:pathLst>
          </a:custGeom>
          <a:solidFill>
            <a:srgbClr val="1D1D1F"/>
          </a:solidFill>
          <a:ln/>
        </p:spPr>
      </p:sp>
      <p:sp>
        <p:nvSpPr>
          <p:cNvPr id="23" name="Shape 21"/>
          <p:cNvSpPr/>
          <p:nvPr/>
        </p:nvSpPr>
        <p:spPr>
          <a:xfrm>
            <a:off x="1619462" y="3350270"/>
            <a:ext cx="2211794" cy="128588"/>
          </a:xfrm>
          <a:custGeom>
            <a:avLst/>
            <a:gdLst/>
            <a:ahLst/>
            <a:cxnLst/>
            <a:rect l="l" t="t" r="r" b="b"/>
            <a:pathLst>
              <a:path w="2211794" h="128588">
                <a:moveTo>
                  <a:pt x="0" y="0"/>
                </a:moveTo>
                <a:lnTo>
                  <a:pt x="2190363" y="0"/>
                </a:lnTo>
                <a:lnTo>
                  <a:pt x="2191415" y="26"/>
                </a:lnTo>
                <a:lnTo>
                  <a:pt x="2192464" y="103"/>
                </a:lnTo>
                <a:lnTo>
                  <a:pt x="2193508" y="232"/>
                </a:lnTo>
                <a:lnTo>
                  <a:pt x="2194544" y="412"/>
                </a:lnTo>
                <a:lnTo>
                  <a:pt x="2195570" y="642"/>
                </a:lnTo>
                <a:lnTo>
                  <a:pt x="2196584" y="923"/>
                </a:lnTo>
                <a:lnTo>
                  <a:pt x="2197583" y="1253"/>
                </a:lnTo>
                <a:lnTo>
                  <a:pt x="2198564" y="1631"/>
                </a:lnTo>
                <a:lnTo>
                  <a:pt x="2199526" y="2058"/>
                </a:lnTo>
                <a:lnTo>
                  <a:pt x="2200466" y="2531"/>
                </a:lnTo>
                <a:lnTo>
                  <a:pt x="2201381" y="3049"/>
                </a:lnTo>
                <a:lnTo>
                  <a:pt x="2202270" y="3612"/>
                </a:lnTo>
                <a:lnTo>
                  <a:pt x="2203130" y="4218"/>
                </a:lnTo>
                <a:lnTo>
                  <a:pt x="2203959" y="4865"/>
                </a:lnTo>
                <a:lnTo>
                  <a:pt x="2204755" y="5552"/>
                </a:lnTo>
                <a:lnTo>
                  <a:pt x="2205517" y="6277"/>
                </a:lnTo>
                <a:lnTo>
                  <a:pt x="2206243" y="7039"/>
                </a:lnTo>
                <a:lnTo>
                  <a:pt x="2206930" y="7835"/>
                </a:lnTo>
                <a:lnTo>
                  <a:pt x="2207577" y="8665"/>
                </a:lnTo>
                <a:lnTo>
                  <a:pt x="2208182" y="9525"/>
                </a:lnTo>
                <a:lnTo>
                  <a:pt x="2208745" y="10413"/>
                </a:lnTo>
                <a:lnTo>
                  <a:pt x="2209264" y="11329"/>
                </a:lnTo>
                <a:lnTo>
                  <a:pt x="2209737" y="12268"/>
                </a:lnTo>
                <a:lnTo>
                  <a:pt x="2210163" y="13230"/>
                </a:lnTo>
                <a:lnTo>
                  <a:pt x="2210542" y="14211"/>
                </a:lnTo>
                <a:lnTo>
                  <a:pt x="2210871" y="15210"/>
                </a:lnTo>
                <a:lnTo>
                  <a:pt x="2211152" y="16224"/>
                </a:lnTo>
                <a:lnTo>
                  <a:pt x="2211383" y="17250"/>
                </a:lnTo>
                <a:lnTo>
                  <a:pt x="2211562" y="18287"/>
                </a:lnTo>
                <a:lnTo>
                  <a:pt x="2211691" y="19331"/>
                </a:lnTo>
                <a:lnTo>
                  <a:pt x="2211768" y="20380"/>
                </a:lnTo>
                <a:lnTo>
                  <a:pt x="2211794" y="21431"/>
                </a:lnTo>
                <a:lnTo>
                  <a:pt x="2211794" y="107156"/>
                </a:lnTo>
                <a:lnTo>
                  <a:pt x="2211768" y="108208"/>
                </a:lnTo>
                <a:lnTo>
                  <a:pt x="2211691" y="109257"/>
                </a:lnTo>
                <a:lnTo>
                  <a:pt x="2211562" y="110301"/>
                </a:lnTo>
                <a:lnTo>
                  <a:pt x="2211383" y="111337"/>
                </a:lnTo>
                <a:lnTo>
                  <a:pt x="2211152" y="112364"/>
                </a:lnTo>
                <a:lnTo>
                  <a:pt x="2210871" y="113377"/>
                </a:lnTo>
                <a:lnTo>
                  <a:pt x="2210542" y="114376"/>
                </a:lnTo>
                <a:lnTo>
                  <a:pt x="2210163" y="115358"/>
                </a:lnTo>
                <a:lnTo>
                  <a:pt x="2209737" y="116319"/>
                </a:lnTo>
                <a:lnTo>
                  <a:pt x="2209264" y="117259"/>
                </a:lnTo>
                <a:lnTo>
                  <a:pt x="2208745" y="118174"/>
                </a:lnTo>
                <a:lnTo>
                  <a:pt x="2208182" y="119063"/>
                </a:lnTo>
                <a:lnTo>
                  <a:pt x="2207577" y="119923"/>
                </a:lnTo>
                <a:lnTo>
                  <a:pt x="2206930" y="120752"/>
                </a:lnTo>
                <a:lnTo>
                  <a:pt x="2206243" y="121549"/>
                </a:lnTo>
                <a:lnTo>
                  <a:pt x="2205517" y="122310"/>
                </a:lnTo>
                <a:lnTo>
                  <a:pt x="2204755" y="123036"/>
                </a:lnTo>
                <a:lnTo>
                  <a:pt x="2203959" y="123723"/>
                </a:lnTo>
                <a:lnTo>
                  <a:pt x="2203130" y="124370"/>
                </a:lnTo>
                <a:lnTo>
                  <a:pt x="2202270" y="124976"/>
                </a:lnTo>
                <a:lnTo>
                  <a:pt x="2201381" y="125538"/>
                </a:lnTo>
                <a:lnTo>
                  <a:pt x="2200466" y="126057"/>
                </a:lnTo>
                <a:lnTo>
                  <a:pt x="2199526" y="126530"/>
                </a:lnTo>
                <a:lnTo>
                  <a:pt x="2198564" y="126956"/>
                </a:lnTo>
                <a:lnTo>
                  <a:pt x="2197583" y="127335"/>
                </a:lnTo>
                <a:lnTo>
                  <a:pt x="2196584" y="127665"/>
                </a:lnTo>
                <a:lnTo>
                  <a:pt x="2195570" y="127945"/>
                </a:lnTo>
                <a:lnTo>
                  <a:pt x="2194544" y="128176"/>
                </a:lnTo>
                <a:lnTo>
                  <a:pt x="2193508" y="128356"/>
                </a:lnTo>
                <a:lnTo>
                  <a:pt x="2192464" y="128484"/>
                </a:lnTo>
                <a:lnTo>
                  <a:pt x="2191415" y="128562"/>
                </a:lnTo>
                <a:lnTo>
                  <a:pt x="2190363" y="128588"/>
                </a:lnTo>
                <a:lnTo>
                  <a:pt x="0" y="128588"/>
                </a:lnTo>
                <a:lnTo>
                  <a:pt x="0" y="0"/>
                </a:lnTo>
              </a:path>
            </a:pathLst>
          </a:custGeom>
          <a:solidFill>
            <a:srgbClr val="1D1D1F"/>
          </a:solidFill>
          <a:ln/>
        </p:spPr>
      </p:sp>
      <p:sp>
        <p:nvSpPr>
          <p:cNvPr id="24" name="Text 22"/>
          <p:cNvSpPr/>
          <p:nvPr/>
        </p:nvSpPr>
        <p:spPr>
          <a:xfrm>
            <a:off x="4569255" y="2062728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92%</a:t>
            </a:r>
            <a:endParaRPr lang="en-US" sz="788" dirty="0"/>
          </a:p>
        </p:txBody>
      </p:sp>
      <p:sp>
        <p:nvSpPr>
          <p:cNvPr id="25" name="Text 23"/>
          <p:cNvSpPr/>
          <p:nvPr/>
        </p:nvSpPr>
        <p:spPr>
          <a:xfrm>
            <a:off x="4126896" y="3096191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78%</a:t>
            </a:r>
            <a:endParaRPr lang="en-US" sz="788" dirty="0"/>
          </a:p>
        </p:txBody>
      </p:sp>
      <p:sp>
        <p:nvSpPr>
          <p:cNvPr id="26" name="Text 24"/>
          <p:cNvSpPr/>
          <p:nvPr/>
        </p:nvSpPr>
        <p:spPr>
          <a:xfrm>
            <a:off x="4569255" y="2321094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92%</a:t>
            </a:r>
            <a:endParaRPr lang="en-US" sz="788" dirty="0"/>
          </a:p>
        </p:txBody>
      </p:sp>
      <p:sp>
        <p:nvSpPr>
          <p:cNvPr id="27" name="Text 25"/>
          <p:cNvSpPr/>
          <p:nvPr/>
        </p:nvSpPr>
        <p:spPr>
          <a:xfrm>
            <a:off x="4348076" y="2579460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85%</a:t>
            </a:r>
            <a:endParaRPr lang="en-US" sz="788" dirty="0"/>
          </a:p>
        </p:txBody>
      </p:sp>
      <p:sp>
        <p:nvSpPr>
          <p:cNvPr id="28" name="Text 26"/>
          <p:cNvSpPr/>
          <p:nvPr/>
        </p:nvSpPr>
        <p:spPr>
          <a:xfrm>
            <a:off x="4190090" y="2837825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80%</a:t>
            </a:r>
            <a:endParaRPr lang="en-US" sz="788" dirty="0"/>
          </a:p>
        </p:txBody>
      </p:sp>
      <p:sp>
        <p:nvSpPr>
          <p:cNvPr id="29" name="Text 27"/>
          <p:cNvSpPr/>
          <p:nvPr/>
        </p:nvSpPr>
        <p:spPr>
          <a:xfrm>
            <a:off x="3874119" y="3354556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70%</a:t>
            </a:r>
            <a:endParaRPr lang="en-US" sz="788" dirty="0"/>
          </a:p>
        </p:txBody>
      </p:sp>
      <p:sp>
        <p:nvSpPr>
          <p:cNvPr id="30" name="Shape 28"/>
          <p:cNvSpPr/>
          <p:nvPr/>
        </p:nvSpPr>
        <p:spPr>
          <a:xfrm>
            <a:off x="328613" y="1779240"/>
            <a:ext cx="2206245" cy="164306"/>
          </a:xfrm>
          <a:custGeom>
            <a:avLst/>
            <a:gdLst/>
            <a:ahLst/>
            <a:cxnLst/>
            <a:rect l="l" t="t" r="r" b="b"/>
            <a:pathLst>
              <a:path w="2206245" h="164306">
                <a:moveTo>
                  <a:pt x="0" y="0"/>
                </a:moveTo>
                <a:lnTo>
                  <a:pt x="2206245" y="0"/>
                </a:lnTo>
                <a:lnTo>
                  <a:pt x="2206245" y="164306"/>
                </a:lnTo>
                <a:lnTo>
                  <a:pt x="0" y="164306"/>
                </a:lnTo>
                <a:close/>
              </a:path>
            </a:pathLst>
          </a:custGeom>
          <a:noFill/>
          <a:ln/>
        </p:spPr>
      </p:sp>
      <p:sp>
        <p:nvSpPr>
          <p:cNvPr id="31" name="Shape 29"/>
          <p:cNvSpPr/>
          <p:nvPr/>
        </p:nvSpPr>
        <p:spPr>
          <a:xfrm>
            <a:off x="364331" y="1818531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0" y="0"/>
                </a:moveTo>
                <a:lnTo>
                  <a:pt x="85725" y="0"/>
                </a:lnTo>
                <a:lnTo>
                  <a:pt x="85725" y="85725"/>
                </a:lnTo>
                <a:lnTo>
                  <a:pt x="0" y="85725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2" name="Text 30"/>
          <p:cNvSpPr/>
          <p:nvPr/>
        </p:nvSpPr>
        <p:spPr>
          <a:xfrm>
            <a:off x="485775" y="1801386"/>
            <a:ext cx="198310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团队自有成果（用户素材）</a:t>
            </a:r>
            <a:endParaRPr lang="en-US" sz="788" dirty="0"/>
          </a:p>
        </p:txBody>
      </p:sp>
      <p:sp>
        <p:nvSpPr>
          <p:cNvPr id="33" name="Shape 31"/>
          <p:cNvSpPr/>
          <p:nvPr/>
        </p:nvSpPr>
        <p:spPr>
          <a:xfrm>
            <a:off x="364331" y="1814959"/>
            <a:ext cx="1235870" cy="92869"/>
          </a:xfrm>
          <a:custGeom>
            <a:avLst/>
            <a:gdLst/>
            <a:ahLst/>
            <a:cxnLst/>
            <a:rect l="l" t="t" r="r" b="b"/>
            <a:pathLst>
              <a:path w="1235870" h="92869">
                <a:moveTo>
                  <a:pt x="0" y="0"/>
                </a:moveTo>
                <a:lnTo>
                  <a:pt x="1235870" y="0"/>
                </a:lnTo>
                <a:lnTo>
                  <a:pt x="1235870" y="92869"/>
                </a:lnTo>
                <a:lnTo>
                  <a:pt x="0" y="92869"/>
                </a:lnTo>
                <a:close/>
              </a:path>
            </a:pathLst>
          </a:custGeom>
          <a:noFill/>
          <a:ln/>
        </p:spPr>
      </p:sp>
      <p:sp>
        <p:nvSpPr>
          <p:cNvPr id="34" name="Shape 32"/>
          <p:cNvSpPr/>
          <p:nvPr/>
        </p:nvSpPr>
        <p:spPr>
          <a:xfrm>
            <a:off x="1743076" y="1818531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0" y="0"/>
                </a:moveTo>
                <a:lnTo>
                  <a:pt x="85725" y="0"/>
                </a:lnTo>
                <a:lnTo>
                  <a:pt x="85725" y="85725"/>
                </a:lnTo>
                <a:lnTo>
                  <a:pt x="0" y="85725"/>
                </a:lnTo>
                <a:close/>
              </a:path>
            </a:pathLst>
          </a:custGeom>
          <a:solidFill>
            <a:srgbClr val="1D1D1F"/>
          </a:solidFill>
          <a:ln/>
        </p:spPr>
      </p:sp>
      <p:sp>
        <p:nvSpPr>
          <p:cNvPr id="35" name="Text 33"/>
          <p:cNvSpPr/>
          <p:nvPr/>
        </p:nvSpPr>
        <p:spPr>
          <a:xfrm>
            <a:off x="1864520" y="1801386"/>
            <a:ext cx="153304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行业基线 / 对标</a:t>
            </a:r>
            <a:endParaRPr lang="en-US" sz="788" dirty="0"/>
          </a:p>
        </p:txBody>
      </p:sp>
      <p:sp>
        <p:nvSpPr>
          <p:cNvPr id="36" name="Shape 34"/>
          <p:cNvSpPr/>
          <p:nvPr/>
        </p:nvSpPr>
        <p:spPr>
          <a:xfrm>
            <a:off x="1743076" y="1814959"/>
            <a:ext cx="756062" cy="92869"/>
          </a:xfrm>
          <a:custGeom>
            <a:avLst/>
            <a:gdLst/>
            <a:ahLst/>
            <a:cxnLst/>
            <a:rect l="l" t="t" r="r" b="b"/>
            <a:pathLst>
              <a:path w="756062" h="92869">
                <a:moveTo>
                  <a:pt x="0" y="0"/>
                </a:moveTo>
                <a:lnTo>
                  <a:pt x="756062" y="0"/>
                </a:lnTo>
                <a:lnTo>
                  <a:pt x="756062" y="92869"/>
                </a:lnTo>
                <a:lnTo>
                  <a:pt x="0" y="92869"/>
                </a:lnTo>
                <a:close/>
              </a:path>
            </a:pathLst>
          </a:custGeom>
          <a:noFill/>
          <a:ln/>
        </p:spPr>
      </p:sp>
      <p:sp>
        <p:nvSpPr>
          <p:cNvPr id="37" name="Shape 35"/>
          <p:cNvSpPr/>
          <p:nvPr/>
        </p:nvSpPr>
        <p:spPr>
          <a:xfrm>
            <a:off x="5465304" y="1460450"/>
            <a:ext cx="3464719" cy="900113"/>
          </a:xfrm>
          <a:prstGeom prst="roundRect">
            <a:avLst>
              <a:gd name="adj" fmla="val 6450"/>
            </a:avLst>
          </a:prstGeom>
          <a:solidFill>
            <a:srgbClr val="F5F5F7"/>
          </a:solidFill>
          <a:ln/>
        </p:spPr>
      </p:sp>
      <p:sp>
        <p:nvSpPr>
          <p:cNvPr id="38" name="Shape 36"/>
          <p:cNvSpPr/>
          <p:nvPr/>
        </p:nvSpPr>
        <p:spPr>
          <a:xfrm>
            <a:off x="5465304" y="2474863"/>
            <a:ext cx="3464719" cy="900113"/>
          </a:xfrm>
          <a:prstGeom prst="roundRect">
            <a:avLst>
              <a:gd name="adj" fmla="val 6450"/>
            </a:avLst>
          </a:prstGeom>
          <a:solidFill>
            <a:srgbClr val="F5F5F7"/>
          </a:solidFill>
          <a:ln/>
        </p:spPr>
      </p:sp>
      <p:sp>
        <p:nvSpPr>
          <p:cNvPr id="39" name="Shape 37"/>
          <p:cNvSpPr/>
          <p:nvPr/>
        </p:nvSpPr>
        <p:spPr>
          <a:xfrm>
            <a:off x="5465304" y="3489275"/>
            <a:ext cx="3464719" cy="900113"/>
          </a:xfrm>
          <a:prstGeom prst="roundRect">
            <a:avLst>
              <a:gd name="adj" fmla="val 6450"/>
            </a:avLst>
          </a:prstGeom>
          <a:solidFill>
            <a:srgbClr val="F5F5F7"/>
          </a:solidFill>
          <a:ln/>
        </p:spPr>
      </p:sp>
      <p:sp>
        <p:nvSpPr>
          <p:cNvPr id="40" name="Text 38"/>
          <p:cNvSpPr/>
          <p:nvPr/>
        </p:nvSpPr>
        <p:spPr>
          <a:xfrm>
            <a:off x="214313" y="499616"/>
            <a:ext cx="8715375" cy="53578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三年三项硬指标同时跨越：良率 78%→92%、弯曲 10 万次无衰减、植入式电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子皮肤进入临床试验</a:t>
            </a:r>
            <a:endParaRPr lang="en-US" sz="1900" dirty="0"/>
          </a:p>
        </p:txBody>
      </p:sp>
      <p:sp>
        <p:nvSpPr>
          <p:cNvPr id="41" name="Text 39"/>
          <p:cNvSpPr/>
          <p:nvPr/>
        </p:nvSpPr>
        <p:spPr>
          <a:xfrm>
            <a:off x="328947" y="1573411"/>
            <a:ext cx="479345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量产良率对标：团队阵列 92% 已站上柔性品类头部区间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8947" y="4009988"/>
            <a:ext cx="4793456" cy="2643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口径：面板良率以玻璃/PI 基板上的屏体为单位、阵列良率以传感器件为单位，头部触觉传感器厂商取 ≥92%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下限；10 万次弯折按 IEC 62715-6-1 变形试验执行，折叠终端铰链行业标杆约 2 万次 → 50 万次。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608179" y="1599586"/>
            <a:ext cx="3178969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可拉伸传感器阵列量产良率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608179" y="1778347"/>
            <a:ext cx="3178969" cy="2643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78% → 92%</a:t>
            </a:r>
            <a:endParaRPr lang="en-US" sz="1900" dirty="0"/>
          </a:p>
        </p:txBody>
      </p:sp>
      <p:sp>
        <p:nvSpPr>
          <p:cNvPr id="45" name="Text 43"/>
          <p:cNvSpPr/>
          <p:nvPr/>
        </p:nvSpPr>
        <p:spPr>
          <a:xfrm>
            <a:off x="5608179" y="2085696"/>
            <a:ext cx="3178969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提升 14 个百分点，失效率 22% → 8%（相对下降约 64%）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608179" y="2613999"/>
            <a:ext cx="3178969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柔性 OLED 弯曲循环寿命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608179" y="2792760"/>
            <a:ext cx="3178969" cy="2643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10 万次</a:t>
            </a:r>
            <a:endParaRPr lang="en-US" sz="1900" dirty="0"/>
          </a:p>
        </p:txBody>
      </p:sp>
      <p:sp>
        <p:nvSpPr>
          <p:cNvPr id="48" name="Text 46"/>
          <p:cNvSpPr/>
          <p:nvPr/>
        </p:nvSpPr>
        <p:spPr>
          <a:xfrm>
            <a:off x="5608179" y="3100108"/>
            <a:ext cx="3178969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循环后亮度、色度与驱动电压无衰减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608179" y="3628411"/>
            <a:ext cx="3178969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植入式电子皮肤临床转化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608179" y="3807172"/>
            <a:ext cx="3178969" cy="2643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临床试验</a:t>
            </a:r>
            <a:endParaRPr lang="en-US" sz="1900" dirty="0"/>
          </a:p>
        </p:txBody>
      </p:sp>
      <p:sp>
        <p:nvSpPr>
          <p:cNvPr id="51" name="Text 49"/>
          <p:cNvSpPr/>
          <p:nvPr/>
        </p:nvSpPr>
        <p:spPr>
          <a:xfrm>
            <a:off x="5608179" y="4114521"/>
            <a:ext cx="3178969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与三甲医院合作研发，已进入临床试验阶段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214313" y="4664869"/>
            <a:ext cx="871537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数据来源：团队三项成果为用户素材、逐字使用；行业基线取自芯智讯、Leaderobot 触觉量产图谱、电子工程专辑；机械测试方法参照 IEC 62715-6-1。</a:t>
            </a:r>
            <a:endParaRPr lang="en-US" sz="700" dirty="0"/>
          </a:p>
        </p:txBody>
      </p:sp>
      <p:sp>
        <p:nvSpPr>
          <p:cNvPr id="65535" name="wm:hwcld:2026-09-22T19:07:46:581b05d5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2" y="853232"/>
            <a:ext cx="285750" cy="7144"/>
          </a:xfrm>
          <a:prstGeom prst="rect">
            <a:avLst/>
          </a:prstGeom>
          <a:solidFill>
            <a:srgbClr val="1D1D1F"/>
          </a:solidFill>
          <a:ln/>
        </p:spPr>
      </p:sp>
      <p:sp>
        <p:nvSpPr>
          <p:cNvPr id="4" name="Shape 2"/>
          <p:cNvSpPr/>
          <p:nvPr/>
        </p:nvSpPr>
        <p:spPr>
          <a:xfrm>
            <a:off x="214313" y="1179947"/>
            <a:ext cx="5000625" cy="514350"/>
          </a:xfrm>
          <a:prstGeom prst="roundRect">
            <a:avLst>
              <a:gd name="adj" fmla="val 4938"/>
            </a:avLst>
          </a:prstGeom>
          <a:solidFill>
            <a:srgbClr val="F5F5F7"/>
          </a:solidFill>
          <a:ln/>
        </p:spPr>
      </p:sp>
      <p:sp>
        <p:nvSpPr>
          <p:cNvPr id="5" name="Shape 3"/>
          <p:cNvSpPr/>
          <p:nvPr/>
        </p:nvSpPr>
        <p:spPr>
          <a:xfrm>
            <a:off x="2142790" y="1308534"/>
            <a:ext cx="7144" cy="2571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214313" y="1778626"/>
            <a:ext cx="5000625" cy="414338"/>
          </a:xfrm>
          <a:prstGeom prst="roundRect">
            <a:avLst>
              <a:gd name="adj" fmla="val 7610"/>
            </a:avLst>
          </a:prstGeom>
          <a:solidFill>
            <a:srgbClr val="F5F5F7"/>
          </a:solidFill>
          <a:ln/>
        </p:spPr>
      </p:sp>
      <p:sp>
        <p:nvSpPr>
          <p:cNvPr id="7" name="Shape 5"/>
          <p:cNvSpPr/>
          <p:nvPr/>
        </p:nvSpPr>
        <p:spPr>
          <a:xfrm>
            <a:off x="214313" y="2248049"/>
            <a:ext cx="5000625" cy="414338"/>
          </a:xfrm>
          <a:prstGeom prst="roundRect">
            <a:avLst>
              <a:gd name="adj" fmla="val 7610"/>
            </a:avLst>
          </a:prstGeom>
          <a:solidFill>
            <a:srgbClr val="F5F5F7"/>
          </a:solidFill>
          <a:ln/>
        </p:spPr>
      </p:sp>
      <p:sp>
        <p:nvSpPr>
          <p:cNvPr id="8" name="Shape 6"/>
          <p:cNvSpPr/>
          <p:nvPr/>
        </p:nvSpPr>
        <p:spPr>
          <a:xfrm>
            <a:off x="214313" y="2717527"/>
            <a:ext cx="5000625" cy="414338"/>
          </a:xfrm>
          <a:prstGeom prst="roundRect">
            <a:avLst>
              <a:gd name="adj" fmla="val 7610"/>
            </a:avLst>
          </a:prstGeom>
          <a:solidFill>
            <a:srgbClr val="F5F5F7"/>
          </a:solidFill>
          <a:ln/>
        </p:spPr>
      </p:sp>
      <p:sp>
        <p:nvSpPr>
          <p:cNvPr id="9" name="Shape 7"/>
          <p:cNvSpPr/>
          <p:nvPr/>
        </p:nvSpPr>
        <p:spPr>
          <a:xfrm>
            <a:off x="214313" y="3187005"/>
            <a:ext cx="5000625" cy="414338"/>
          </a:xfrm>
          <a:prstGeom prst="roundRect">
            <a:avLst>
              <a:gd name="adj" fmla="val 7610"/>
            </a:avLst>
          </a:prstGeom>
          <a:solidFill>
            <a:srgbClr val="F5F5F7"/>
          </a:solidFill>
          <a:ln/>
        </p:spPr>
      </p:sp>
      <p:sp>
        <p:nvSpPr>
          <p:cNvPr id="10" name="Shape 8"/>
          <p:cNvSpPr/>
          <p:nvPr/>
        </p:nvSpPr>
        <p:spPr>
          <a:xfrm>
            <a:off x="214313" y="3686901"/>
            <a:ext cx="5000625" cy="564356"/>
          </a:xfrm>
          <a:prstGeom prst="roundRect">
            <a:avLst>
              <a:gd name="adj" fmla="val 4102"/>
            </a:avLst>
          </a:prstGeom>
          <a:solidFill>
            <a:srgbClr val="F5F5F7"/>
          </a:solidFill>
          <a:ln/>
        </p:spPr>
      </p:sp>
      <p:sp>
        <p:nvSpPr>
          <p:cNvPr id="11" name="Shape 9"/>
          <p:cNvSpPr/>
          <p:nvPr/>
        </p:nvSpPr>
        <p:spPr>
          <a:xfrm>
            <a:off x="5808901" y="3467174"/>
            <a:ext cx="2977911" cy="0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08901" y="3009974"/>
            <a:ext cx="2977911" cy="0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08901" y="2552774"/>
            <a:ext cx="2977911" cy="0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8901" y="2102718"/>
            <a:ext cx="2977911" cy="0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08901" y="1645518"/>
            <a:ext cx="2977911" cy="0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8901" y="1431920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可拉伸性（%）</a:t>
            </a:r>
            <a:endParaRPr lang="en-US" sz="788" dirty="0"/>
          </a:p>
        </p:txBody>
      </p:sp>
      <p:sp>
        <p:nvSpPr>
          <p:cNvPr id="17" name="Shape 15"/>
          <p:cNvSpPr/>
          <p:nvPr/>
        </p:nvSpPr>
        <p:spPr>
          <a:xfrm>
            <a:off x="5808901" y="3467174"/>
            <a:ext cx="2977911" cy="0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18852" y="3403596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0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5118815" y="2948181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300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5118815" y="2492767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600</a:t>
            </a:r>
            <a:endParaRPr lang="en-US" sz="788" dirty="0"/>
          </a:p>
        </p:txBody>
      </p:sp>
      <p:sp>
        <p:nvSpPr>
          <p:cNvPr id="21" name="Text 19"/>
          <p:cNvSpPr/>
          <p:nvPr/>
        </p:nvSpPr>
        <p:spPr>
          <a:xfrm>
            <a:off x="5118815" y="2037353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900</a:t>
            </a:r>
            <a:endParaRPr lang="en-US" sz="788" dirty="0"/>
          </a:p>
        </p:txBody>
      </p:sp>
      <p:sp>
        <p:nvSpPr>
          <p:cNvPr id="22" name="Text 20"/>
          <p:cNvSpPr/>
          <p:nvPr/>
        </p:nvSpPr>
        <p:spPr>
          <a:xfrm>
            <a:off x="4968796" y="1581939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1200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5538695" y="3510752"/>
            <a:ext cx="153304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蛇形互连 · 综述</a:t>
            </a:r>
            <a:endParaRPr lang="en-US" sz="788" dirty="0"/>
          </a:p>
        </p:txBody>
      </p:sp>
      <p:sp>
        <p:nvSpPr>
          <p:cNvPr id="24" name="Text 22"/>
          <p:cNvSpPr/>
          <p:nvPr/>
        </p:nvSpPr>
        <p:spPr>
          <a:xfrm>
            <a:off x="6531333" y="3510752"/>
            <a:ext cx="153304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蛇形互连 · 实测</a:t>
            </a:r>
            <a:endParaRPr lang="en-US" sz="788" dirty="0"/>
          </a:p>
        </p:txBody>
      </p:sp>
      <p:sp>
        <p:nvSpPr>
          <p:cNvPr id="25" name="Text 23"/>
          <p:cNvSpPr/>
          <p:nvPr/>
        </p:nvSpPr>
        <p:spPr>
          <a:xfrm>
            <a:off x="7523970" y="3510752"/>
            <a:ext cx="153304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岛桥结构 · 综述</a:t>
            </a:r>
            <a:endParaRPr lang="en-US" sz="788" dirty="0"/>
          </a:p>
        </p:txBody>
      </p:sp>
      <p:sp>
        <p:nvSpPr>
          <p:cNvPr id="26" name="Shape 24"/>
          <p:cNvSpPr/>
          <p:nvPr/>
        </p:nvSpPr>
        <p:spPr>
          <a:xfrm>
            <a:off x="6105194" y="2400970"/>
            <a:ext cx="400050" cy="1062633"/>
          </a:xfrm>
          <a:custGeom>
            <a:avLst/>
            <a:gdLst/>
            <a:ahLst/>
            <a:cxnLst/>
            <a:rect l="l" t="t" r="r" b="b"/>
            <a:pathLst>
              <a:path w="400050" h="1062633">
                <a:moveTo>
                  <a:pt x="0" y="1062633"/>
                </a:moveTo>
                <a:lnTo>
                  <a:pt x="400050" y="1062633"/>
                </a:lnTo>
                <a:lnTo>
                  <a:pt x="4000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7" name="Shape 25"/>
          <p:cNvSpPr/>
          <p:nvPr/>
        </p:nvSpPr>
        <p:spPr>
          <a:xfrm>
            <a:off x="7097832" y="2856385"/>
            <a:ext cx="400050" cy="607219"/>
          </a:xfrm>
          <a:custGeom>
            <a:avLst/>
            <a:gdLst/>
            <a:ahLst/>
            <a:cxnLst/>
            <a:rect l="l" t="t" r="r" b="b"/>
            <a:pathLst>
              <a:path w="400050" h="607219">
                <a:moveTo>
                  <a:pt x="0" y="607219"/>
                </a:moveTo>
                <a:lnTo>
                  <a:pt x="400050" y="607219"/>
                </a:lnTo>
                <a:lnTo>
                  <a:pt x="4000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8" name="Shape 26"/>
          <p:cNvSpPr/>
          <p:nvPr/>
        </p:nvSpPr>
        <p:spPr>
          <a:xfrm>
            <a:off x="8090469" y="1945556"/>
            <a:ext cx="400050" cy="1518048"/>
          </a:xfrm>
          <a:custGeom>
            <a:avLst/>
            <a:gdLst/>
            <a:ahLst/>
            <a:cxnLst/>
            <a:rect l="l" t="t" r="r" b="b"/>
            <a:pathLst>
              <a:path w="400050" h="1518048">
                <a:moveTo>
                  <a:pt x="0" y="1518048"/>
                </a:moveTo>
                <a:lnTo>
                  <a:pt x="400050" y="1518048"/>
                </a:lnTo>
                <a:lnTo>
                  <a:pt x="4000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9" name="Text 27"/>
          <p:cNvSpPr/>
          <p:nvPr/>
        </p:nvSpPr>
        <p:spPr>
          <a:xfrm>
            <a:off x="5838733" y="2248094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&gt;700%</a:t>
            </a:r>
            <a:endParaRPr lang="en-US" sz="788" dirty="0"/>
          </a:p>
        </p:txBody>
      </p:sp>
      <p:sp>
        <p:nvSpPr>
          <p:cNvPr id="30" name="Text 28"/>
          <p:cNvSpPr/>
          <p:nvPr/>
        </p:nvSpPr>
        <p:spPr>
          <a:xfrm>
            <a:off x="6681351" y="2703508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400% 以上</a:t>
            </a:r>
            <a:endParaRPr lang="en-US" sz="788" dirty="0"/>
          </a:p>
        </p:txBody>
      </p:sp>
      <p:sp>
        <p:nvSpPr>
          <p:cNvPr id="31" name="Text 29"/>
          <p:cNvSpPr/>
          <p:nvPr/>
        </p:nvSpPr>
        <p:spPr>
          <a:xfrm>
            <a:off x="7748998" y="1792680"/>
            <a:ext cx="1082993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&gt;1000%</a:t>
            </a:r>
            <a:endParaRPr lang="en-US" sz="788" dirty="0"/>
          </a:p>
        </p:txBody>
      </p:sp>
      <p:sp>
        <p:nvSpPr>
          <p:cNvPr id="32" name="Text 30"/>
          <p:cNvSpPr/>
          <p:nvPr/>
        </p:nvSpPr>
        <p:spPr>
          <a:xfrm>
            <a:off x="214313" y="501625"/>
            <a:ext cx="8715375" cy="2643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良率从 78% 提升到 92% 的关键，是把失效拆成可归因的四类并逐一收敛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357020" y="1267067"/>
            <a:ext cx="1643062" cy="17859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78% → 92%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57020" y="1473901"/>
            <a:ext cx="1643062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阵列量产良率 · 绝对提升 14 个百分点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292083" y="1267067"/>
            <a:ext cx="1107281" cy="17859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22% → 8%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292083" y="1473901"/>
            <a:ext cx="1107281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失效率 · 相对下降约 64%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28612" y="1914302"/>
            <a:ext cx="942975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① 导体裂纹 / 断路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357313" y="1857152"/>
            <a:ext cx="1250156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机理：临界应变下裂纹萌生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→中点开裂→碎片屈曲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693194" y="1857152"/>
            <a:ext cx="1250156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收敛：ink 流变窗口 + 蛇形/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分形几何 + 冗余布线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029075" y="1857152"/>
            <a:ext cx="1071563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对标：蛇形互连可拉伸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性 &gt;700%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28612" y="2312343"/>
            <a:ext cx="942975" cy="2857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② 电极-弹性体界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面分层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357313" y="2326630"/>
            <a:ext cx="1250156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机理：黏附不足与环境老化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导致脱黏、界面滑移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693194" y="2326630"/>
            <a:ext cx="1250156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收敛：黏附促进层 / 应力缓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冲层 + 裂纹偏转中间层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029075" y="2326630"/>
            <a:ext cx="1071563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对标：黏附强度提升近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7 倍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28612" y="2781821"/>
            <a:ext cx="942975" cy="2857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③ 阵列串扰与寄生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电容漂移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357313" y="2796108"/>
            <a:ext cx="1250156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机理：相邻电极寄生电容耦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合、布线串扰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693194" y="2796108"/>
            <a:ext cx="1250156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收敛：双层印刷 64 通道分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区布线 + 岛桥应变隔离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029075" y="2796108"/>
            <a:ext cx="1071563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对标：串扰 −11.65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dB、循环后波动 1.32%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28612" y="3251299"/>
            <a:ext cx="942975" cy="2857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④ 封装与引线键合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失效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357313" y="3265587"/>
            <a:ext cx="1250156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机理：水汽/氧气渗透、阻隔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层开裂与键合疲劳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2693194" y="3265587"/>
            <a:ext cx="1250156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收敛：多层复合阻隔封装 +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中性层设计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029075" y="3265587"/>
            <a:ext cx="1071563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对标：WVTR 与弯折后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阻隔衰减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28947" y="3770449"/>
            <a:ext cx="1464469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检测与返修：良率的闭环闸门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880815" y="3784681"/>
            <a:ext cx="2178844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受工艺窗口、材料批次差异与环境控制三因素影响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328445" y="3974883"/>
            <a:ext cx="735806" cy="192881"/>
          </a:xfrm>
          <a:prstGeom prst="roundRect">
            <a:avLst>
              <a:gd name="adj" fmla="val 35117"/>
            </a:avLst>
          </a:prstGeom>
          <a:solidFill>
            <a:srgbClr val="FFFFFF"/>
          </a:solidFill>
          <a:ln/>
        </p:spPr>
        <p:txBody>
          <a:bodyPr wrap="none" lIns="60722" tIns="24289" rIns="60722" bIns="24289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AOI 在线检测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120341" y="4003458"/>
            <a:ext cx="42863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›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1219293" y="3974883"/>
            <a:ext cx="1014413" cy="192881"/>
          </a:xfrm>
          <a:prstGeom prst="roundRect">
            <a:avLst>
              <a:gd name="adj" fmla="val 35117"/>
            </a:avLst>
          </a:prstGeom>
          <a:solidFill>
            <a:srgbClr val="FFFFFF"/>
          </a:solidFill>
          <a:ln/>
        </p:spPr>
        <p:txBody>
          <a:bodyPr wrap="none" lIns="60722" tIns="24289" rIns="60722" bIns="24289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缺陷识别 · 反馈控制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2289795" y="4003458"/>
            <a:ext cx="42863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›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2390031" y="3974883"/>
            <a:ext cx="1071563" cy="192881"/>
          </a:xfrm>
          <a:prstGeom prst="roundRect">
            <a:avLst>
              <a:gd name="adj" fmla="val 35117"/>
            </a:avLst>
          </a:prstGeom>
          <a:solidFill>
            <a:srgbClr val="FFFFFF"/>
          </a:solidFill>
          <a:ln/>
        </p:spPr>
        <p:txBody>
          <a:bodyPr wrap="none" lIns="60722" tIns="24289" rIns="60722" bIns="24289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电学全检 + 在线 SPC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3518967" y="4003458"/>
            <a:ext cx="42863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›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3618700" y="3974883"/>
            <a:ext cx="835819" cy="192881"/>
          </a:xfrm>
          <a:prstGeom prst="roundRect">
            <a:avLst>
              <a:gd name="adj" fmla="val 35117"/>
            </a:avLst>
          </a:prstGeom>
          <a:solidFill>
            <a:srgbClr val="FFFFFF"/>
          </a:solidFill>
          <a:ln/>
        </p:spPr>
        <p:txBody>
          <a:bodyPr wrap="none" lIns="60722" tIns="24289" rIns="60722" bIns="24289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返修与批次回溯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443538" y="1178942"/>
            <a:ext cx="3486150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结构方案可拉伸性对标（单位：%）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443538" y="3721894"/>
            <a:ext cx="3486150" cy="5286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口径说明：&gt;700%（蛇形互连）与 &gt;1000%（岛桥结构）取自 Rogers 课题组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综述口径，400% 以上取自武汉大学《先进制造工艺》实测口径，两类口径并列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呈现、不做合并推算。可靠性量级对标：折叠屏铰链弯折寿命 2 万次→50 万次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（非同源指标）。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214313" y="4514850"/>
            <a:ext cx="8715375" cy="3000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数据来源：用户团队数据（2023–2025，可拉伸传感器阵列量产良率 78%→92%）；机理与对标：Taylor &amp; Francis《Failure mechanisms in flexible electronics》、Rogers 课题组综述、武汉大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学先进功能材料与器件研究院、RSC Nanoscale、University of Illinois、Nature Electronics、维科网 OFweek。</a:t>
            </a:r>
            <a:endParaRPr lang="en-US" sz="700" dirty="0"/>
          </a:p>
        </p:txBody>
      </p:sp>
      <p:sp>
        <p:nvSpPr>
          <p:cNvPr id="65535" name="wm:hwcld:2026-09-22T19:07:46:581b05d5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2" y="853232"/>
            <a:ext cx="285750" cy="7144"/>
          </a:xfrm>
          <a:prstGeom prst="rect">
            <a:avLst/>
          </a:prstGeom>
          <a:solidFill>
            <a:srgbClr val="1D1D1F"/>
          </a:solidFill>
          <a:ln/>
        </p:spPr>
      </p:sp>
      <p:sp>
        <p:nvSpPr>
          <p:cNvPr id="4" name="Shape 2"/>
          <p:cNvSpPr/>
          <p:nvPr/>
        </p:nvSpPr>
        <p:spPr>
          <a:xfrm>
            <a:off x="483560" y="3877382"/>
            <a:ext cx="3988428" cy="0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3560" y="3527338"/>
            <a:ext cx="3988428" cy="0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3560" y="3177294"/>
            <a:ext cx="3988428" cy="0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3560" y="2827251"/>
            <a:ext cx="3988428" cy="0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3560" y="2477207"/>
            <a:ext cx="3988428" cy="0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3560" y="2127163"/>
            <a:ext cx="3988428" cy="0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3560" y="1917137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量产良率（%）</a:t>
            </a:r>
            <a:endParaRPr lang="en-US" sz="788" dirty="0"/>
          </a:p>
        </p:txBody>
      </p:sp>
      <p:sp>
        <p:nvSpPr>
          <p:cNvPr id="11" name="Shape 9"/>
          <p:cNvSpPr/>
          <p:nvPr/>
        </p:nvSpPr>
        <p:spPr>
          <a:xfrm>
            <a:off x="483560" y="3877382"/>
            <a:ext cx="3988428" cy="0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511" y="3813803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0</a:t>
            </a:r>
            <a:endParaRPr lang="en-US" sz="788" dirty="0"/>
          </a:p>
        </p:txBody>
      </p:sp>
      <p:sp>
        <p:nvSpPr>
          <p:cNvPr id="13" name="Text 11"/>
          <p:cNvSpPr/>
          <p:nvPr/>
        </p:nvSpPr>
        <p:spPr>
          <a:xfrm>
            <a:off x="-56508" y="3463759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20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-56508" y="3113715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40</a:t>
            </a:r>
            <a:endParaRPr lang="en-US" sz="788" dirty="0"/>
          </a:p>
        </p:txBody>
      </p:sp>
      <p:sp>
        <p:nvSpPr>
          <p:cNvPr id="15" name="Text 13"/>
          <p:cNvSpPr/>
          <p:nvPr/>
        </p:nvSpPr>
        <p:spPr>
          <a:xfrm>
            <a:off x="-56508" y="2763671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60</a:t>
            </a:r>
            <a:endParaRPr lang="en-US" sz="788" dirty="0"/>
          </a:p>
        </p:txBody>
      </p:sp>
      <p:sp>
        <p:nvSpPr>
          <p:cNvPr id="16" name="Text 14"/>
          <p:cNvSpPr/>
          <p:nvPr/>
        </p:nvSpPr>
        <p:spPr>
          <a:xfrm>
            <a:off x="-56508" y="2413628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80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-206527" y="2063584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100</a:t>
            </a:r>
            <a:endParaRPr lang="en-US" sz="788" dirty="0"/>
          </a:p>
        </p:txBody>
      </p:sp>
      <p:sp>
        <p:nvSpPr>
          <p:cNvPr id="18" name="Shape 16"/>
          <p:cNvSpPr/>
          <p:nvPr/>
        </p:nvSpPr>
        <p:spPr>
          <a:xfrm>
            <a:off x="676626" y="3930960"/>
            <a:ext cx="278606" cy="257175"/>
          </a:xfrm>
          <a:custGeom>
            <a:avLst/>
            <a:gdLst/>
            <a:ahLst/>
            <a:cxnLst/>
            <a:rect l="l" t="t" r="r" b="b"/>
            <a:pathLst>
              <a:path w="278606" h="257175">
                <a:moveTo>
                  <a:pt x="0" y="0"/>
                </a:moveTo>
                <a:lnTo>
                  <a:pt x="278606" y="0"/>
                </a:lnTo>
                <a:lnTo>
                  <a:pt x="278606" y="257175"/>
                </a:lnTo>
                <a:lnTo>
                  <a:pt x="0" y="257175"/>
                </a:lnTo>
                <a:close/>
              </a:path>
            </a:pathLst>
          </a:custGeom>
          <a:noFill/>
          <a:ln/>
        </p:spPr>
      </p:sp>
      <p:sp>
        <p:nvSpPr>
          <p:cNvPr id="19" name="Text 17"/>
          <p:cNvSpPr/>
          <p:nvPr/>
        </p:nvSpPr>
        <p:spPr>
          <a:xfrm>
            <a:off x="499461" y="3935246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本团队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424452" y="4063834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2023</a:t>
            </a:r>
            <a:endParaRPr lang="en-US" sz="788" dirty="0"/>
          </a:p>
        </p:txBody>
      </p:sp>
      <p:sp>
        <p:nvSpPr>
          <p:cNvPr id="21" name="Shape 19"/>
          <p:cNvSpPr/>
          <p:nvPr/>
        </p:nvSpPr>
        <p:spPr>
          <a:xfrm>
            <a:off x="1341364" y="3930960"/>
            <a:ext cx="278606" cy="257175"/>
          </a:xfrm>
          <a:custGeom>
            <a:avLst/>
            <a:gdLst/>
            <a:ahLst/>
            <a:cxnLst/>
            <a:rect l="l" t="t" r="r" b="b"/>
            <a:pathLst>
              <a:path w="278606" h="257175">
                <a:moveTo>
                  <a:pt x="0" y="0"/>
                </a:moveTo>
                <a:lnTo>
                  <a:pt x="278606" y="0"/>
                </a:lnTo>
                <a:lnTo>
                  <a:pt x="278606" y="257175"/>
                </a:lnTo>
                <a:lnTo>
                  <a:pt x="0" y="257175"/>
                </a:lnTo>
                <a:close/>
              </a:path>
            </a:pathLst>
          </a:custGeom>
          <a:noFill/>
          <a:ln/>
        </p:spPr>
      </p:sp>
      <p:sp>
        <p:nvSpPr>
          <p:cNvPr id="22" name="Text 20"/>
          <p:cNvSpPr/>
          <p:nvPr/>
        </p:nvSpPr>
        <p:spPr>
          <a:xfrm>
            <a:off x="1164199" y="3935246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本团队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1089190" y="4063834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2025</a:t>
            </a:r>
            <a:endParaRPr lang="en-US" sz="788" dirty="0"/>
          </a:p>
        </p:txBody>
      </p:sp>
      <p:sp>
        <p:nvSpPr>
          <p:cNvPr id="24" name="Shape 22"/>
          <p:cNvSpPr/>
          <p:nvPr/>
        </p:nvSpPr>
        <p:spPr>
          <a:xfrm>
            <a:off x="1959667" y="3930960"/>
            <a:ext cx="371476" cy="257175"/>
          </a:xfrm>
          <a:custGeom>
            <a:avLst/>
            <a:gdLst/>
            <a:ahLst/>
            <a:cxnLst/>
            <a:rect l="l" t="t" r="r" b="b"/>
            <a:pathLst>
              <a:path w="371476" h="257175">
                <a:moveTo>
                  <a:pt x="0" y="0"/>
                </a:moveTo>
                <a:lnTo>
                  <a:pt x="371476" y="0"/>
                </a:lnTo>
                <a:lnTo>
                  <a:pt x="371476" y="257175"/>
                </a:lnTo>
                <a:lnTo>
                  <a:pt x="0" y="257175"/>
                </a:lnTo>
                <a:close/>
              </a:path>
            </a:pathLst>
          </a:custGeom>
          <a:noFill/>
          <a:ln/>
        </p:spPr>
      </p:sp>
      <p:sp>
        <p:nvSpPr>
          <p:cNvPr id="25" name="Text 23"/>
          <p:cNvSpPr/>
          <p:nvPr/>
        </p:nvSpPr>
        <p:spPr>
          <a:xfrm>
            <a:off x="1753927" y="3935246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印刷电子</a:t>
            </a:r>
            <a:endParaRPr lang="en-US" sz="788" dirty="0"/>
          </a:p>
        </p:txBody>
      </p:sp>
      <p:sp>
        <p:nvSpPr>
          <p:cNvPr id="26" name="Text 24"/>
          <p:cNvSpPr/>
          <p:nvPr/>
        </p:nvSpPr>
        <p:spPr>
          <a:xfrm>
            <a:off x="1828936" y="4063834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卷对卷</a:t>
            </a:r>
            <a:endParaRPr lang="en-US" sz="788" dirty="0"/>
          </a:p>
        </p:txBody>
      </p:sp>
      <p:sp>
        <p:nvSpPr>
          <p:cNvPr id="27" name="Shape 25"/>
          <p:cNvSpPr/>
          <p:nvPr/>
        </p:nvSpPr>
        <p:spPr>
          <a:xfrm>
            <a:off x="2577925" y="3930960"/>
            <a:ext cx="464434" cy="257175"/>
          </a:xfrm>
          <a:custGeom>
            <a:avLst/>
            <a:gdLst/>
            <a:ahLst/>
            <a:cxnLst/>
            <a:rect l="l" t="t" r="r" b="b"/>
            <a:pathLst>
              <a:path w="464434" h="257175">
                <a:moveTo>
                  <a:pt x="0" y="0"/>
                </a:moveTo>
                <a:lnTo>
                  <a:pt x="464434" y="0"/>
                </a:lnTo>
                <a:lnTo>
                  <a:pt x="464434" y="257175"/>
                </a:lnTo>
                <a:lnTo>
                  <a:pt x="0" y="257175"/>
                </a:lnTo>
                <a:close/>
              </a:path>
            </a:pathLst>
          </a:custGeom>
          <a:noFill/>
          <a:ln/>
        </p:spPr>
      </p:sp>
      <p:sp>
        <p:nvSpPr>
          <p:cNvPr id="28" name="Text 26"/>
          <p:cNvSpPr/>
          <p:nvPr/>
        </p:nvSpPr>
        <p:spPr>
          <a:xfrm>
            <a:off x="2418665" y="3935246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三星显示</a:t>
            </a:r>
            <a:endParaRPr lang="en-US" sz="788" dirty="0"/>
          </a:p>
        </p:txBody>
      </p:sp>
      <p:sp>
        <p:nvSpPr>
          <p:cNvPr id="29" name="Text 27"/>
          <p:cNvSpPr/>
          <p:nvPr/>
        </p:nvSpPr>
        <p:spPr>
          <a:xfrm>
            <a:off x="2193637" y="4063834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柔性 OLED</a:t>
            </a:r>
            <a:endParaRPr lang="en-US" sz="788" dirty="0"/>
          </a:p>
        </p:txBody>
      </p:sp>
      <p:sp>
        <p:nvSpPr>
          <p:cNvPr id="30" name="Shape 28"/>
          <p:cNvSpPr/>
          <p:nvPr/>
        </p:nvSpPr>
        <p:spPr>
          <a:xfrm>
            <a:off x="3242663" y="3930960"/>
            <a:ext cx="464434" cy="257175"/>
          </a:xfrm>
          <a:custGeom>
            <a:avLst/>
            <a:gdLst/>
            <a:ahLst/>
            <a:cxnLst/>
            <a:rect l="l" t="t" r="r" b="b"/>
            <a:pathLst>
              <a:path w="464434" h="257175">
                <a:moveTo>
                  <a:pt x="0" y="0"/>
                </a:moveTo>
                <a:lnTo>
                  <a:pt x="464434" y="0"/>
                </a:lnTo>
                <a:lnTo>
                  <a:pt x="464434" y="257175"/>
                </a:lnTo>
                <a:lnTo>
                  <a:pt x="0" y="257175"/>
                </a:lnTo>
                <a:close/>
              </a:path>
            </a:pathLst>
          </a:custGeom>
          <a:noFill/>
          <a:ln/>
        </p:spPr>
      </p:sp>
      <p:sp>
        <p:nvSpPr>
          <p:cNvPr id="31" name="Text 29"/>
          <p:cNvSpPr/>
          <p:nvPr/>
        </p:nvSpPr>
        <p:spPr>
          <a:xfrm>
            <a:off x="3008394" y="3935246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LG 显示</a:t>
            </a:r>
            <a:endParaRPr lang="en-US" sz="788" dirty="0"/>
          </a:p>
        </p:txBody>
      </p:sp>
      <p:sp>
        <p:nvSpPr>
          <p:cNvPr id="32" name="Text 30"/>
          <p:cNvSpPr/>
          <p:nvPr/>
        </p:nvSpPr>
        <p:spPr>
          <a:xfrm>
            <a:off x="2858375" y="4063834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柔性 OLED</a:t>
            </a:r>
            <a:endParaRPr lang="en-US" sz="788" dirty="0"/>
          </a:p>
        </p:txBody>
      </p:sp>
      <p:sp>
        <p:nvSpPr>
          <p:cNvPr id="33" name="Shape 31"/>
          <p:cNvSpPr/>
          <p:nvPr/>
        </p:nvSpPr>
        <p:spPr>
          <a:xfrm>
            <a:off x="3907401" y="3930960"/>
            <a:ext cx="464434" cy="257175"/>
          </a:xfrm>
          <a:custGeom>
            <a:avLst/>
            <a:gdLst/>
            <a:ahLst/>
            <a:cxnLst/>
            <a:rect l="l" t="t" r="r" b="b"/>
            <a:pathLst>
              <a:path w="464434" h="257175">
                <a:moveTo>
                  <a:pt x="0" y="0"/>
                </a:moveTo>
                <a:lnTo>
                  <a:pt x="464434" y="0"/>
                </a:lnTo>
                <a:lnTo>
                  <a:pt x="464434" y="257175"/>
                </a:lnTo>
                <a:lnTo>
                  <a:pt x="0" y="257175"/>
                </a:lnTo>
                <a:close/>
              </a:path>
            </a:pathLst>
          </a:custGeom>
          <a:noFill/>
          <a:ln/>
        </p:spPr>
      </p:sp>
      <p:sp>
        <p:nvSpPr>
          <p:cNvPr id="34" name="Text 32"/>
          <p:cNvSpPr/>
          <p:nvPr/>
        </p:nvSpPr>
        <p:spPr>
          <a:xfrm>
            <a:off x="3823151" y="3935246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京东方</a:t>
            </a:r>
            <a:endParaRPr lang="en-US" sz="788" dirty="0"/>
          </a:p>
        </p:txBody>
      </p:sp>
      <p:sp>
        <p:nvSpPr>
          <p:cNvPr id="35" name="Text 33"/>
          <p:cNvSpPr/>
          <p:nvPr/>
        </p:nvSpPr>
        <p:spPr>
          <a:xfrm>
            <a:off x="3523113" y="4063834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柔性 OLED</a:t>
            </a:r>
            <a:endParaRPr lang="en-US" sz="788" dirty="0"/>
          </a:p>
        </p:txBody>
      </p:sp>
      <p:sp>
        <p:nvSpPr>
          <p:cNvPr id="36" name="Shape 34"/>
          <p:cNvSpPr/>
          <p:nvPr/>
        </p:nvSpPr>
        <p:spPr>
          <a:xfrm>
            <a:off x="680198" y="2508639"/>
            <a:ext cx="271463" cy="1365171"/>
          </a:xfrm>
          <a:custGeom>
            <a:avLst/>
            <a:gdLst/>
            <a:ahLst/>
            <a:cxnLst/>
            <a:rect l="l" t="t" r="r" b="b"/>
            <a:pathLst>
              <a:path w="271463" h="1365171">
                <a:moveTo>
                  <a:pt x="0" y="1365171"/>
                </a:moveTo>
                <a:lnTo>
                  <a:pt x="271463" y="1365171"/>
                </a:lnTo>
                <a:lnTo>
                  <a:pt x="27146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7" name="Shape 35"/>
          <p:cNvSpPr/>
          <p:nvPr/>
        </p:nvSpPr>
        <p:spPr>
          <a:xfrm>
            <a:off x="1344936" y="2263609"/>
            <a:ext cx="271463" cy="1610201"/>
          </a:xfrm>
          <a:custGeom>
            <a:avLst/>
            <a:gdLst/>
            <a:ahLst/>
            <a:cxnLst/>
            <a:rect l="l" t="t" r="r" b="b"/>
            <a:pathLst>
              <a:path w="271463" h="1610201">
                <a:moveTo>
                  <a:pt x="0" y="1610201"/>
                </a:moveTo>
                <a:lnTo>
                  <a:pt x="271463" y="1610201"/>
                </a:lnTo>
                <a:lnTo>
                  <a:pt x="27146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8" name="Shape 36"/>
          <p:cNvSpPr/>
          <p:nvPr/>
        </p:nvSpPr>
        <p:spPr>
          <a:xfrm>
            <a:off x="2009673" y="2211102"/>
            <a:ext cx="271463" cy="1662708"/>
          </a:xfrm>
          <a:custGeom>
            <a:avLst/>
            <a:gdLst/>
            <a:ahLst/>
            <a:cxnLst/>
            <a:rect l="l" t="t" r="r" b="b"/>
            <a:pathLst>
              <a:path w="271463" h="1662708">
                <a:moveTo>
                  <a:pt x="0" y="1662708"/>
                </a:moveTo>
                <a:lnTo>
                  <a:pt x="271463" y="1662708"/>
                </a:lnTo>
                <a:lnTo>
                  <a:pt x="271463" y="0"/>
                </a:lnTo>
                <a:lnTo>
                  <a:pt x="0" y="0"/>
                </a:lnTo>
                <a:close/>
              </a:path>
            </a:pathLst>
          </a:custGeom>
          <a:solidFill>
            <a:srgbClr val="1D1D1F"/>
          </a:solidFill>
          <a:ln/>
        </p:spPr>
      </p:sp>
      <p:sp>
        <p:nvSpPr>
          <p:cNvPr id="39" name="Shape 37"/>
          <p:cNvSpPr/>
          <p:nvPr/>
        </p:nvSpPr>
        <p:spPr>
          <a:xfrm>
            <a:off x="2674411" y="2228604"/>
            <a:ext cx="271463" cy="1645206"/>
          </a:xfrm>
          <a:custGeom>
            <a:avLst/>
            <a:gdLst/>
            <a:ahLst/>
            <a:cxnLst/>
            <a:rect l="l" t="t" r="r" b="b"/>
            <a:pathLst>
              <a:path w="271463" h="1645206">
                <a:moveTo>
                  <a:pt x="0" y="1645206"/>
                </a:moveTo>
                <a:lnTo>
                  <a:pt x="271463" y="1645206"/>
                </a:lnTo>
                <a:lnTo>
                  <a:pt x="271463" y="0"/>
                </a:lnTo>
                <a:lnTo>
                  <a:pt x="0" y="0"/>
                </a:lnTo>
                <a:close/>
              </a:path>
            </a:pathLst>
          </a:custGeom>
          <a:solidFill>
            <a:srgbClr val="1D1D1F"/>
          </a:solidFill>
          <a:ln/>
        </p:spPr>
      </p:sp>
      <p:sp>
        <p:nvSpPr>
          <p:cNvPr id="40" name="Shape 38"/>
          <p:cNvSpPr/>
          <p:nvPr/>
        </p:nvSpPr>
        <p:spPr>
          <a:xfrm>
            <a:off x="3339149" y="2386124"/>
            <a:ext cx="271463" cy="1487686"/>
          </a:xfrm>
          <a:custGeom>
            <a:avLst/>
            <a:gdLst/>
            <a:ahLst/>
            <a:cxnLst/>
            <a:rect l="l" t="t" r="r" b="b"/>
            <a:pathLst>
              <a:path w="271463" h="1487686">
                <a:moveTo>
                  <a:pt x="0" y="1487686"/>
                </a:moveTo>
                <a:lnTo>
                  <a:pt x="271463" y="1487686"/>
                </a:lnTo>
                <a:lnTo>
                  <a:pt x="271463" y="0"/>
                </a:lnTo>
                <a:lnTo>
                  <a:pt x="0" y="0"/>
                </a:lnTo>
                <a:close/>
              </a:path>
            </a:pathLst>
          </a:custGeom>
          <a:solidFill>
            <a:srgbClr val="1D1D1F"/>
          </a:solidFill>
          <a:ln/>
        </p:spPr>
      </p:sp>
      <p:sp>
        <p:nvSpPr>
          <p:cNvPr id="41" name="Shape 39"/>
          <p:cNvSpPr/>
          <p:nvPr/>
        </p:nvSpPr>
        <p:spPr>
          <a:xfrm>
            <a:off x="4003888" y="2473635"/>
            <a:ext cx="271463" cy="1400175"/>
          </a:xfrm>
          <a:custGeom>
            <a:avLst/>
            <a:gdLst/>
            <a:ahLst/>
            <a:cxnLst/>
            <a:rect l="l" t="t" r="r" b="b"/>
            <a:pathLst>
              <a:path w="271463" h="1400175">
                <a:moveTo>
                  <a:pt x="0" y="1400175"/>
                </a:moveTo>
                <a:lnTo>
                  <a:pt x="271463" y="1400175"/>
                </a:lnTo>
                <a:lnTo>
                  <a:pt x="271463" y="0"/>
                </a:lnTo>
                <a:lnTo>
                  <a:pt x="0" y="0"/>
                </a:lnTo>
                <a:close/>
              </a:path>
            </a:pathLst>
          </a:custGeom>
          <a:solidFill>
            <a:srgbClr val="1D1D1F"/>
          </a:solidFill>
          <a:ln/>
        </p:spPr>
      </p:sp>
      <p:sp>
        <p:nvSpPr>
          <p:cNvPr id="42" name="Text 40"/>
          <p:cNvSpPr/>
          <p:nvPr/>
        </p:nvSpPr>
        <p:spPr>
          <a:xfrm>
            <a:off x="499461" y="2355763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78%</a:t>
            </a:r>
            <a:endParaRPr lang="en-US" sz="788" dirty="0"/>
          </a:p>
        </p:txBody>
      </p:sp>
      <p:sp>
        <p:nvSpPr>
          <p:cNvPr id="43" name="Text 41"/>
          <p:cNvSpPr/>
          <p:nvPr/>
        </p:nvSpPr>
        <p:spPr>
          <a:xfrm>
            <a:off x="1164199" y="2110733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92%</a:t>
            </a:r>
            <a:endParaRPr lang="en-US" sz="788" dirty="0"/>
          </a:p>
        </p:txBody>
      </p:sp>
      <p:sp>
        <p:nvSpPr>
          <p:cNvPr id="44" name="Text 42"/>
          <p:cNvSpPr/>
          <p:nvPr/>
        </p:nvSpPr>
        <p:spPr>
          <a:xfrm>
            <a:off x="1828936" y="2058226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95%</a:t>
            </a:r>
            <a:endParaRPr lang="en-US" sz="788" dirty="0"/>
          </a:p>
        </p:txBody>
      </p:sp>
      <p:sp>
        <p:nvSpPr>
          <p:cNvPr id="45" name="Text 43"/>
          <p:cNvSpPr/>
          <p:nvPr/>
        </p:nvSpPr>
        <p:spPr>
          <a:xfrm>
            <a:off x="2493675" y="2075728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94%</a:t>
            </a:r>
            <a:endParaRPr lang="en-US" sz="788" dirty="0"/>
          </a:p>
        </p:txBody>
      </p:sp>
      <p:sp>
        <p:nvSpPr>
          <p:cNvPr id="46" name="Text 44"/>
          <p:cNvSpPr/>
          <p:nvPr/>
        </p:nvSpPr>
        <p:spPr>
          <a:xfrm>
            <a:off x="3158413" y="2233248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85%</a:t>
            </a:r>
            <a:endParaRPr lang="en-US" sz="788" dirty="0"/>
          </a:p>
        </p:txBody>
      </p:sp>
      <p:sp>
        <p:nvSpPr>
          <p:cNvPr id="47" name="Text 45"/>
          <p:cNvSpPr/>
          <p:nvPr/>
        </p:nvSpPr>
        <p:spPr>
          <a:xfrm>
            <a:off x="3823151" y="2320759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80%</a:t>
            </a:r>
            <a:endParaRPr lang="en-US" sz="788" dirty="0"/>
          </a:p>
        </p:txBody>
      </p:sp>
      <p:sp>
        <p:nvSpPr>
          <p:cNvPr id="48" name="Shape 46"/>
          <p:cNvSpPr/>
          <p:nvPr/>
        </p:nvSpPr>
        <p:spPr>
          <a:xfrm>
            <a:off x="2736055" y="1723541"/>
            <a:ext cx="1821658" cy="164306"/>
          </a:xfrm>
          <a:custGeom>
            <a:avLst/>
            <a:gdLst/>
            <a:ahLst/>
            <a:cxnLst/>
            <a:rect l="l" t="t" r="r" b="b"/>
            <a:pathLst>
              <a:path w="1821658" h="164306">
                <a:moveTo>
                  <a:pt x="0" y="0"/>
                </a:moveTo>
                <a:lnTo>
                  <a:pt x="1821658" y="0"/>
                </a:lnTo>
                <a:lnTo>
                  <a:pt x="1821658" y="164306"/>
                </a:lnTo>
                <a:lnTo>
                  <a:pt x="0" y="164306"/>
                </a:lnTo>
                <a:close/>
              </a:path>
            </a:pathLst>
          </a:custGeom>
          <a:noFill/>
          <a:ln/>
        </p:spPr>
      </p:sp>
      <p:sp>
        <p:nvSpPr>
          <p:cNvPr id="49" name="Shape 47"/>
          <p:cNvSpPr/>
          <p:nvPr/>
        </p:nvSpPr>
        <p:spPr>
          <a:xfrm>
            <a:off x="2771774" y="1762832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21431" y="0"/>
                </a:moveTo>
                <a:lnTo>
                  <a:pt x="64294" y="0"/>
                </a:lnTo>
                <a:lnTo>
                  <a:pt x="65345" y="26"/>
                </a:lnTo>
                <a:lnTo>
                  <a:pt x="66394" y="103"/>
                </a:lnTo>
                <a:lnTo>
                  <a:pt x="67438" y="232"/>
                </a:lnTo>
                <a:lnTo>
                  <a:pt x="68475" y="412"/>
                </a:lnTo>
                <a:lnTo>
                  <a:pt x="69501" y="642"/>
                </a:lnTo>
                <a:lnTo>
                  <a:pt x="70515" y="923"/>
                </a:lnTo>
                <a:lnTo>
                  <a:pt x="71514" y="1253"/>
                </a:lnTo>
                <a:lnTo>
                  <a:pt x="72495" y="1631"/>
                </a:lnTo>
                <a:lnTo>
                  <a:pt x="73457" y="2058"/>
                </a:lnTo>
                <a:lnTo>
                  <a:pt x="74396" y="2531"/>
                </a:lnTo>
                <a:lnTo>
                  <a:pt x="75312" y="3049"/>
                </a:lnTo>
                <a:lnTo>
                  <a:pt x="76200" y="3612"/>
                </a:lnTo>
                <a:lnTo>
                  <a:pt x="77060" y="4218"/>
                </a:lnTo>
                <a:lnTo>
                  <a:pt x="77890" y="4865"/>
                </a:lnTo>
                <a:lnTo>
                  <a:pt x="78686" y="5552"/>
                </a:lnTo>
                <a:lnTo>
                  <a:pt x="79448" y="6277"/>
                </a:lnTo>
                <a:lnTo>
                  <a:pt x="80173" y="7039"/>
                </a:lnTo>
                <a:lnTo>
                  <a:pt x="80860" y="7835"/>
                </a:lnTo>
                <a:lnTo>
                  <a:pt x="81507" y="8665"/>
                </a:lnTo>
                <a:lnTo>
                  <a:pt x="82113" y="9525"/>
                </a:lnTo>
                <a:lnTo>
                  <a:pt x="82676" y="10413"/>
                </a:lnTo>
                <a:lnTo>
                  <a:pt x="83194" y="11329"/>
                </a:lnTo>
                <a:lnTo>
                  <a:pt x="83667" y="12268"/>
                </a:lnTo>
                <a:lnTo>
                  <a:pt x="84094" y="13230"/>
                </a:lnTo>
                <a:lnTo>
                  <a:pt x="84472" y="14211"/>
                </a:lnTo>
                <a:lnTo>
                  <a:pt x="84802" y="15210"/>
                </a:lnTo>
                <a:lnTo>
                  <a:pt x="85083" y="16224"/>
                </a:lnTo>
                <a:lnTo>
                  <a:pt x="85313" y="17250"/>
                </a:lnTo>
                <a:lnTo>
                  <a:pt x="85493" y="18287"/>
                </a:lnTo>
                <a:lnTo>
                  <a:pt x="85622" y="19331"/>
                </a:lnTo>
                <a:lnTo>
                  <a:pt x="85699" y="20380"/>
                </a:lnTo>
                <a:lnTo>
                  <a:pt x="85725" y="21431"/>
                </a:lnTo>
                <a:lnTo>
                  <a:pt x="85725" y="64294"/>
                </a:lnTo>
                <a:lnTo>
                  <a:pt x="85699" y="65345"/>
                </a:lnTo>
                <a:lnTo>
                  <a:pt x="85622" y="66394"/>
                </a:lnTo>
                <a:lnTo>
                  <a:pt x="85493" y="67438"/>
                </a:lnTo>
                <a:lnTo>
                  <a:pt x="85313" y="68475"/>
                </a:lnTo>
                <a:lnTo>
                  <a:pt x="85083" y="69501"/>
                </a:lnTo>
                <a:lnTo>
                  <a:pt x="84802" y="70515"/>
                </a:lnTo>
                <a:lnTo>
                  <a:pt x="84472" y="71514"/>
                </a:lnTo>
                <a:lnTo>
                  <a:pt x="84094" y="72495"/>
                </a:lnTo>
                <a:lnTo>
                  <a:pt x="83667" y="73457"/>
                </a:lnTo>
                <a:lnTo>
                  <a:pt x="83194" y="74396"/>
                </a:lnTo>
                <a:lnTo>
                  <a:pt x="82676" y="75312"/>
                </a:lnTo>
                <a:lnTo>
                  <a:pt x="82113" y="76200"/>
                </a:lnTo>
                <a:lnTo>
                  <a:pt x="81507" y="77060"/>
                </a:lnTo>
                <a:lnTo>
                  <a:pt x="80860" y="77890"/>
                </a:lnTo>
                <a:lnTo>
                  <a:pt x="80173" y="78686"/>
                </a:lnTo>
                <a:lnTo>
                  <a:pt x="79448" y="79448"/>
                </a:lnTo>
                <a:lnTo>
                  <a:pt x="78686" y="80173"/>
                </a:lnTo>
                <a:lnTo>
                  <a:pt x="77890" y="80860"/>
                </a:lnTo>
                <a:lnTo>
                  <a:pt x="77060" y="81507"/>
                </a:lnTo>
                <a:lnTo>
                  <a:pt x="76200" y="82113"/>
                </a:lnTo>
                <a:lnTo>
                  <a:pt x="75312" y="82676"/>
                </a:lnTo>
                <a:lnTo>
                  <a:pt x="74396" y="83194"/>
                </a:lnTo>
                <a:lnTo>
                  <a:pt x="73457" y="83667"/>
                </a:lnTo>
                <a:lnTo>
                  <a:pt x="72495" y="84094"/>
                </a:lnTo>
                <a:lnTo>
                  <a:pt x="71514" y="84472"/>
                </a:lnTo>
                <a:lnTo>
                  <a:pt x="70515" y="84802"/>
                </a:lnTo>
                <a:lnTo>
                  <a:pt x="69501" y="85083"/>
                </a:lnTo>
                <a:lnTo>
                  <a:pt x="68475" y="85313"/>
                </a:lnTo>
                <a:lnTo>
                  <a:pt x="67438" y="85493"/>
                </a:lnTo>
                <a:lnTo>
                  <a:pt x="66394" y="85622"/>
                </a:lnTo>
                <a:lnTo>
                  <a:pt x="65345" y="85699"/>
                </a:lnTo>
                <a:lnTo>
                  <a:pt x="64294" y="85725"/>
                </a:lnTo>
                <a:lnTo>
                  <a:pt x="21431" y="85725"/>
                </a:lnTo>
                <a:lnTo>
                  <a:pt x="20380" y="85699"/>
                </a:lnTo>
                <a:lnTo>
                  <a:pt x="19331" y="85622"/>
                </a:lnTo>
                <a:lnTo>
                  <a:pt x="18287" y="85493"/>
                </a:lnTo>
                <a:lnTo>
                  <a:pt x="17250" y="85313"/>
                </a:lnTo>
                <a:lnTo>
                  <a:pt x="16224" y="85083"/>
                </a:lnTo>
                <a:lnTo>
                  <a:pt x="15210" y="84802"/>
                </a:lnTo>
                <a:lnTo>
                  <a:pt x="14211" y="84472"/>
                </a:lnTo>
                <a:lnTo>
                  <a:pt x="13230" y="84094"/>
                </a:lnTo>
                <a:lnTo>
                  <a:pt x="12268" y="83667"/>
                </a:lnTo>
                <a:lnTo>
                  <a:pt x="11329" y="83194"/>
                </a:lnTo>
                <a:lnTo>
                  <a:pt x="10413" y="82676"/>
                </a:lnTo>
                <a:lnTo>
                  <a:pt x="9525" y="82113"/>
                </a:lnTo>
                <a:lnTo>
                  <a:pt x="8665" y="81507"/>
                </a:lnTo>
                <a:lnTo>
                  <a:pt x="7835" y="80860"/>
                </a:lnTo>
                <a:lnTo>
                  <a:pt x="7039" y="80173"/>
                </a:lnTo>
                <a:lnTo>
                  <a:pt x="6277" y="79448"/>
                </a:lnTo>
                <a:lnTo>
                  <a:pt x="5552" y="78686"/>
                </a:lnTo>
                <a:lnTo>
                  <a:pt x="4865" y="77890"/>
                </a:lnTo>
                <a:lnTo>
                  <a:pt x="4218" y="77060"/>
                </a:lnTo>
                <a:lnTo>
                  <a:pt x="3612" y="76200"/>
                </a:lnTo>
                <a:lnTo>
                  <a:pt x="3049" y="75312"/>
                </a:lnTo>
                <a:lnTo>
                  <a:pt x="2531" y="74396"/>
                </a:lnTo>
                <a:lnTo>
                  <a:pt x="2058" y="73457"/>
                </a:lnTo>
                <a:lnTo>
                  <a:pt x="1631" y="72495"/>
                </a:lnTo>
                <a:lnTo>
                  <a:pt x="1253" y="71514"/>
                </a:lnTo>
                <a:lnTo>
                  <a:pt x="923" y="70515"/>
                </a:lnTo>
                <a:lnTo>
                  <a:pt x="642" y="69501"/>
                </a:lnTo>
                <a:lnTo>
                  <a:pt x="412" y="68475"/>
                </a:lnTo>
                <a:lnTo>
                  <a:pt x="232" y="67438"/>
                </a:lnTo>
                <a:lnTo>
                  <a:pt x="103" y="66394"/>
                </a:lnTo>
                <a:lnTo>
                  <a:pt x="26" y="65345"/>
                </a:lnTo>
                <a:lnTo>
                  <a:pt x="0" y="64294"/>
                </a:lnTo>
                <a:lnTo>
                  <a:pt x="0" y="21431"/>
                </a:lnTo>
                <a:lnTo>
                  <a:pt x="26" y="20380"/>
                </a:lnTo>
                <a:lnTo>
                  <a:pt x="103" y="19331"/>
                </a:lnTo>
                <a:lnTo>
                  <a:pt x="232" y="18287"/>
                </a:lnTo>
                <a:lnTo>
                  <a:pt x="412" y="17250"/>
                </a:lnTo>
                <a:lnTo>
                  <a:pt x="642" y="16224"/>
                </a:lnTo>
                <a:lnTo>
                  <a:pt x="923" y="15210"/>
                </a:lnTo>
                <a:lnTo>
                  <a:pt x="1253" y="14211"/>
                </a:lnTo>
                <a:lnTo>
                  <a:pt x="1631" y="13230"/>
                </a:lnTo>
                <a:lnTo>
                  <a:pt x="2058" y="12268"/>
                </a:lnTo>
                <a:lnTo>
                  <a:pt x="2531" y="11329"/>
                </a:lnTo>
                <a:lnTo>
                  <a:pt x="3049" y="10413"/>
                </a:lnTo>
                <a:lnTo>
                  <a:pt x="3612" y="9525"/>
                </a:lnTo>
                <a:lnTo>
                  <a:pt x="4218" y="8665"/>
                </a:lnTo>
                <a:lnTo>
                  <a:pt x="4865" y="7835"/>
                </a:lnTo>
                <a:lnTo>
                  <a:pt x="5552" y="7039"/>
                </a:lnTo>
                <a:lnTo>
                  <a:pt x="6277" y="6277"/>
                </a:lnTo>
                <a:lnTo>
                  <a:pt x="7039" y="5552"/>
                </a:lnTo>
                <a:lnTo>
                  <a:pt x="7835" y="4865"/>
                </a:lnTo>
                <a:lnTo>
                  <a:pt x="8665" y="4218"/>
                </a:lnTo>
                <a:lnTo>
                  <a:pt x="9525" y="3612"/>
                </a:lnTo>
                <a:lnTo>
                  <a:pt x="10413" y="3049"/>
                </a:lnTo>
                <a:lnTo>
                  <a:pt x="11329" y="2531"/>
                </a:lnTo>
                <a:lnTo>
                  <a:pt x="12268" y="2058"/>
                </a:lnTo>
                <a:lnTo>
                  <a:pt x="13230" y="1631"/>
                </a:lnTo>
                <a:lnTo>
                  <a:pt x="14211" y="1253"/>
                </a:lnTo>
                <a:lnTo>
                  <a:pt x="15210" y="923"/>
                </a:lnTo>
                <a:lnTo>
                  <a:pt x="16224" y="642"/>
                </a:lnTo>
                <a:lnTo>
                  <a:pt x="17250" y="412"/>
                </a:lnTo>
                <a:lnTo>
                  <a:pt x="18287" y="232"/>
                </a:lnTo>
                <a:lnTo>
                  <a:pt x="19331" y="103"/>
                </a:lnTo>
                <a:lnTo>
                  <a:pt x="20380" y="26"/>
                </a:lnTo>
                <a:lnTo>
                  <a:pt x="21431" y="0"/>
                </a:lnTo>
              </a:path>
            </a:pathLst>
          </a:custGeom>
          <a:solidFill>
            <a:srgbClr val="0071E3"/>
          </a:solidFill>
          <a:ln/>
        </p:spPr>
      </p:sp>
      <p:sp>
        <p:nvSpPr>
          <p:cNvPr id="50" name="Text 48"/>
          <p:cNvSpPr/>
          <p:nvPr/>
        </p:nvSpPr>
        <p:spPr>
          <a:xfrm>
            <a:off x="2893217" y="1745687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本团队量产良率</a:t>
            </a:r>
            <a:endParaRPr lang="en-US" sz="788" dirty="0"/>
          </a:p>
        </p:txBody>
      </p:sp>
      <p:sp>
        <p:nvSpPr>
          <p:cNvPr id="51" name="Shape 49"/>
          <p:cNvSpPr/>
          <p:nvPr/>
        </p:nvSpPr>
        <p:spPr>
          <a:xfrm>
            <a:off x="2771774" y="1759260"/>
            <a:ext cx="771526" cy="92869"/>
          </a:xfrm>
          <a:custGeom>
            <a:avLst/>
            <a:gdLst/>
            <a:ahLst/>
            <a:cxnLst/>
            <a:rect l="l" t="t" r="r" b="b"/>
            <a:pathLst>
              <a:path w="771526" h="92869">
                <a:moveTo>
                  <a:pt x="0" y="0"/>
                </a:moveTo>
                <a:lnTo>
                  <a:pt x="771526" y="0"/>
                </a:lnTo>
                <a:lnTo>
                  <a:pt x="771526" y="92869"/>
                </a:lnTo>
                <a:lnTo>
                  <a:pt x="0" y="92869"/>
                </a:lnTo>
                <a:close/>
              </a:path>
            </a:pathLst>
          </a:custGeom>
          <a:noFill/>
          <a:ln/>
        </p:spPr>
      </p:sp>
      <p:sp>
        <p:nvSpPr>
          <p:cNvPr id="52" name="Shape 50"/>
          <p:cNvSpPr/>
          <p:nvPr/>
        </p:nvSpPr>
        <p:spPr>
          <a:xfrm>
            <a:off x="3657599" y="1762832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21431" y="0"/>
                </a:moveTo>
                <a:lnTo>
                  <a:pt x="64294" y="0"/>
                </a:lnTo>
                <a:lnTo>
                  <a:pt x="65345" y="26"/>
                </a:lnTo>
                <a:lnTo>
                  <a:pt x="66394" y="103"/>
                </a:lnTo>
                <a:lnTo>
                  <a:pt x="67438" y="232"/>
                </a:lnTo>
                <a:lnTo>
                  <a:pt x="68475" y="412"/>
                </a:lnTo>
                <a:lnTo>
                  <a:pt x="69501" y="642"/>
                </a:lnTo>
                <a:lnTo>
                  <a:pt x="70515" y="923"/>
                </a:lnTo>
                <a:lnTo>
                  <a:pt x="71514" y="1253"/>
                </a:lnTo>
                <a:lnTo>
                  <a:pt x="72495" y="1631"/>
                </a:lnTo>
                <a:lnTo>
                  <a:pt x="73457" y="2058"/>
                </a:lnTo>
                <a:lnTo>
                  <a:pt x="74396" y="2531"/>
                </a:lnTo>
                <a:lnTo>
                  <a:pt x="75312" y="3049"/>
                </a:lnTo>
                <a:lnTo>
                  <a:pt x="76200" y="3612"/>
                </a:lnTo>
                <a:lnTo>
                  <a:pt x="77060" y="4218"/>
                </a:lnTo>
                <a:lnTo>
                  <a:pt x="77890" y="4865"/>
                </a:lnTo>
                <a:lnTo>
                  <a:pt x="78686" y="5552"/>
                </a:lnTo>
                <a:lnTo>
                  <a:pt x="79448" y="6277"/>
                </a:lnTo>
                <a:lnTo>
                  <a:pt x="80173" y="7039"/>
                </a:lnTo>
                <a:lnTo>
                  <a:pt x="80860" y="7835"/>
                </a:lnTo>
                <a:lnTo>
                  <a:pt x="81507" y="8665"/>
                </a:lnTo>
                <a:lnTo>
                  <a:pt x="82113" y="9525"/>
                </a:lnTo>
                <a:lnTo>
                  <a:pt x="82676" y="10413"/>
                </a:lnTo>
                <a:lnTo>
                  <a:pt x="83194" y="11329"/>
                </a:lnTo>
                <a:lnTo>
                  <a:pt x="83667" y="12268"/>
                </a:lnTo>
                <a:lnTo>
                  <a:pt x="84094" y="13230"/>
                </a:lnTo>
                <a:lnTo>
                  <a:pt x="84472" y="14211"/>
                </a:lnTo>
                <a:lnTo>
                  <a:pt x="84802" y="15210"/>
                </a:lnTo>
                <a:lnTo>
                  <a:pt x="85083" y="16224"/>
                </a:lnTo>
                <a:lnTo>
                  <a:pt x="85313" y="17250"/>
                </a:lnTo>
                <a:lnTo>
                  <a:pt x="85493" y="18287"/>
                </a:lnTo>
                <a:lnTo>
                  <a:pt x="85622" y="19331"/>
                </a:lnTo>
                <a:lnTo>
                  <a:pt x="85699" y="20380"/>
                </a:lnTo>
                <a:lnTo>
                  <a:pt x="85725" y="21431"/>
                </a:lnTo>
                <a:lnTo>
                  <a:pt x="85725" y="64294"/>
                </a:lnTo>
                <a:lnTo>
                  <a:pt x="85699" y="65345"/>
                </a:lnTo>
                <a:lnTo>
                  <a:pt x="85622" y="66394"/>
                </a:lnTo>
                <a:lnTo>
                  <a:pt x="85493" y="67438"/>
                </a:lnTo>
                <a:lnTo>
                  <a:pt x="85313" y="68475"/>
                </a:lnTo>
                <a:lnTo>
                  <a:pt x="85083" y="69501"/>
                </a:lnTo>
                <a:lnTo>
                  <a:pt x="84802" y="70515"/>
                </a:lnTo>
                <a:lnTo>
                  <a:pt x="84472" y="71514"/>
                </a:lnTo>
                <a:lnTo>
                  <a:pt x="84094" y="72495"/>
                </a:lnTo>
                <a:lnTo>
                  <a:pt x="83667" y="73457"/>
                </a:lnTo>
                <a:lnTo>
                  <a:pt x="83194" y="74396"/>
                </a:lnTo>
                <a:lnTo>
                  <a:pt x="82676" y="75312"/>
                </a:lnTo>
                <a:lnTo>
                  <a:pt x="82113" y="76200"/>
                </a:lnTo>
                <a:lnTo>
                  <a:pt x="81507" y="77060"/>
                </a:lnTo>
                <a:lnTo>
                  <a:pt x="80860" y="77890"/>
                </a:lnTo>
                <a:lnTo>
                  <a:pt x="80173" y="78686"/>
                </a:lnTo>
                <a:lnTo>
                  <a:pt x="79448" y="79448"/>
                </a:lnTo>
                <a:lnTo>
                  <a:pt x="78686" y="80173"/>
                </a:lnTo>
                <a:lnTo>
                  <a:pt x="77890" y="80860"/>
                </a:lnTo>
                <a:lnTo>
                  <a:pt x="77060" y="81507"/>
                </a:lnTo>
                <a:lnTo>
                  <a:pt x="76200" y="82113"/>
                </a:lnTo>
                <a:lnTo>
                  <a:pt x="75312" y="82676"/>
                </a:lnTo>
                <a:lnTo>
                  <a:pt x="74396" y="83194"/>
                </a:lnTo>
                <a:lnTo>
                  <a:pt x="73457" y="83667"/>
                </a:lnTo>
                <a:lnTo>
                  <a:pt x="72495" y="84094"/>
                </a:lnTo>
                <a:lnTo>
                  <a:pt x="71514" y="84472"/>
                </a:lnTo>
                <a:lnTo>
                  <a:pt x="70515" y="84802"/>
                </a:lnTo>
                <a:lnTo>
                  <a:pt x="69501" y="85083"/>
                </a:lnTo>
                <a:lnTo>
                  <a:pt x="68475" y="85313"/>
                </a:lnTo>
                <a:lnTo>
                  <a:pt x="67438" y="85493"/>
                </a:lnTo>
                <a:lnTo>
                  <a:pt x="66394" y="85622"/>
                </a:lnTo>
                <a:lnTo>
                  <a:pt x="65345" y="85699"/>
                </a:lnTo>
                <a:lnTo>
                  <a:pt x="64294" y="85725"/>
                </a:lnTo>
                <a:lnTo>
                  <a:pt x="21431" y="85725"/>
                </a:lnTo>
                <a:lnTo>
                  <a:pt x="20380" y="85699"/>
                </a:lnTo>
                <a:lnTo>
                  <a:pt x="19331" y="85622"/>
                </a:lnTo>
                <a:lnTo>
                  <a:pt x="18287" y="85493"/>
                </a:lnTo>
                <a:lnTo>
                  <a:pt x="17250" y="85313"/>
                </a:lnTo>
                <a:lnTo>
                  <a:pt x="16224" y="85083"/>
                </a:lnTo>
                <a:lnTo>
                  <a:pt x="15210" y="84802"/>
                </a:lnTo>
                <a:lnTo>
                  <a:pt x="14211" y="84472"/>
                </a:lnTo>
                <a:lnTo>
                  <a:pt x="13230" y="84094"/>
                </a:lnTo>
                <a:lnTo>
                  <a:pt x="12268" y="83667"/>
                </a:lnTo>
                <a:lnTo>
                  <a:pt x="11329" y="83194"/>
                </a:lnTo>
                <a:lnTo>
                  <a:pt x="10413" y="82676"/>
                </a:lnTo>
                <a:lnTo>
                  <a:pt x="9525" y="82113"/>
                </a:lnTo>
                <a:lnTo>
                  <a:pt x="8665" y="81507"/>
                </a:lnTo>
                <a:lnTo>
                  <a:pt x="7835" y="80860"/>
                </a:lnTo>
                <a:lnTo>
                  <a:pt x="7039" y="80173"/>
                </a:lnTo>
                <a:lnTo>
                  <a:pt x="6277" y="79448"/>
                </a:lnTo>
                <a:lnTo>
                  <a:pt x="5552" y="78686"/>
                </a:lnTo>
                <a:lnTo>
                  <a:pt x="4865" y="77890"/>
                </a:lnTo>
                <a:lnTo>
                  <a:pt x="4218" y="77060"/>
                </a:lnTo>
                <a:lnTo>
                  <a:pt x="3612" y="76200"/>
                </a:lnTo>
                <a:lnTo>
                  <a:pt x="3049" y="75312"/>
                </a:lnTo>
                <a:lnTo>
                  <a:pt x="2531" y="74396"/>
                </a:lnTo>
                <a:lnTo>
                  <a:pt x="2058" y="73457"/>
                </a:lnTo>
                <a:lnTo>
                  <a:pt x="1631" y="72495"/>
                </a:lnTo>
                <a:lnTo>
                  <a:pt x="1253" y="71514"/>
                </a:lnTo>
                <a:lnTo>
                  <a:pt x="923" y="70515"/>
                </a:lnTo>
                <a:lnTo>
                  <a:pt x="642" y="69501"/>
                </a:lnTo>
                <a:lnTo>
                  <a:pt x="412" y="68475"/>
                </a:lnTo>
                <a:lnTo>
                  <a:pt x="232" y="67438"/>
                </a:lnTo>
                <a:lnTo>
                  <a:pt x="103" y="66394"/>
                </a:lnTo>
                <a:lnTo>
                  <a:pt x="26" y="65345"/>
                </a:lnTo>
                <a:lnTo>
                  <a:pt x="0" y="64294"/>
                </a:lnTo>
                <a:lnTo>
                  <a:pt x="0" y="21431"/>
                </a:lnTo>
                <a:lnTo>
                  <a:pt x="26" y="20380"/>
                </a:lnTo>
                <a:lnTo>
                  <a:pt x="103" y="19331"/>
                </a:lnTo>
                <a:lnTo>
                  <a:pt x="232" y="18287"/>
                </a:lnTo>
                <a:lnTo>
                  <a:pt x="412" y="17250"/>
                </a:lnTo>
                <a:lnTo>
                  <a:pt x="642" y="16224"/>
                </a:lnTo>
                <a:lnTo>
                  <a:pt x="923" y="15210"/>
                </a:lnTo>
                <a:lnTo>
                  <a:pt x="1253" y="14211"/>
                </a:lnTo>
                <a:lnTo>
                  <a:pt x="1631" y="13230"/>
                </a:lnTo>
                <a:lnTo>
                  <a:pt x="2058" y="12268"/>
                </a:lnTo>
                <a:lnTo>
                  <a:pt x="2531" y="11329"/>
                </a:lnTo>
                <a:lnTo>
                  <a:pt x="3049" y="10413"/>
                </a:lnTo>
                <a:lnTo>
                  <a:pt x="3612" y="9525"/>
                </a:lnTo>
                <a:lnTo>
                  <a:pt x="4218" y="8665"/>
                </a:lnTo>
                <a:lnTo>
                  <a:pt x="4865" y="7835"/>
                </a:lnTo>
                <a:lnTo>
                  <a:pt x="5552" y="7039"/>
                </a:lnTo>
                <a:lnTo>
                  <a:pt x="6277" y="6277"/>
                </a:lnTo>
                <a:lnTo>
                  <a:pt x="7039" y="5552"/>
                </a:lnTo>
                <a:lnTo>
                  <a:pt x="7835" y="4865"/>
                </a:lnTo>
                <a:lnTo>
                  <a:pt x="8665" y="4218"/>
                </a:lnTo>
                <a:lnTo>
                  <a:pt x="9525" y="3612"/>
                </a:lnTo>
                <a:lnTo>
                  <a:pt x="10413" y="3049"/>
                </a:lnTo>
                <a:lnTo>
                  <a:pt x="11329" y="2531"/>
                </a:lnTo>
                <a:lnTo>
                  <a:pt x="12268" y="2058"/>
                </a:lnTo>
                <a:lnTo>
                  <a:pt x="13230" y="1631"/>
                </a:lnTo>
                <a:lnTo>
                  <a:pt x="14211" y="1253"/>
                </a:lnTo>
                <a:lnTo>
                  <a:pt x="15210" y="923"/>
                </a:lnTo>
                <a:lnTo>
                  <a:pt x="16224" y="642"/>
                </a:lnTo>
                <a:lnTo>
                  <a:pt x="17250" y="412"/>
                </a:lnTo>
                <a:lnTo>
                  <a:pt x="18287" y="232"/>
                </a:lnTo>
                <a:lnTo>
                  <a:pt x="19331" y="103"/>
                </a:lnTo>
                <a:lnTo>
                  <a:pt x="20380" y="26"/>
                </a:lnTo>
                <a:lnTo>
                  <a:pt x="21431" y="0"/>
                </a:lnTo>
              </a:path>
            </a:pathLst>
          </a:custGeom>
          <a:solidFill>
            <a:srgbClr val="1D1D1F"/>
          </a:solidFill>
          <a:ln/>
        </p:spPr>
      </p:sp>
      <p:sp>
        <p:nvSpPr>
          <p:cNvPr id="53" name="Text 51"/>
          <p:cNvSpPr/>
          <p:nvPr/>
        </p:nvSpPr>
        <p:spPr>
          <a:xfrm>
            <a:off x="3779043" y="1745687"/>
            <a:ext cx="138303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行业公开对标良率</a:t>
            </a:r>
            <a:endParaRPr lang="en-US" sz="788" dirty="0"/>
          </a:p>
        </p:txBody>
      </p:sp>
      <p:sp>
        <p:nvSpPr>
          <p:cNvPr id="54" name="Shape 52"/>
          <p:cNvSpPr/>
          <p:nvPr/>
        </p:nvSpPr>
        <p:spPr>
          <a:xfrm>
            <a:off x="3657599" y="1759260"/>
            <a:ext cx="864394" cy="92869"/>
          </a:xfrm>
          <a:custGeom>
            <a:avLst/>
            <a:gdLst/>
            <a:ahLst/>
            <a:cxnLst/>
            <a:rect l="l" t="t" r="r" b="b"/>
            <a:pathLst>
              <a:path w="864394" h="92869">
                <a:moveTo>
                  <a:pt x="0" y="0"/>
                </a:moveTo>
                <a:lnTo>
                  <a:pt x="864394" y="0"/>
                </a:lnTo>
                <a:lnTo>
                  <a:pt x="864394" y="92869"/>
                </a:lnTo>
                <a:lnTo>
                  <a:pt x="0" y="92869"/>
                </a:lnTo>
                <a:close/>
              </a:path>
            </a:pathLst>
          </a:custGeom>
          <a:noFill/>
          <a:ln/>
        </p:spPr>
      </p:sp>
      <p:sp>
        <p:nvSpPr>
          <p:cNvPr id="55" name="Shape 53"/>
          <p:cNvSpPr/>
          <p:nvPr/>
        </p:nvSpPr>
        <p:spPr>
          <a:xfrm>
            <a:off x="4788043" y="1200541"/>
            <a:ext cx="4143375" cy="1064419"/>
          </a:xfrm>
          <a:prstGeom prst="roundRect">
            <a:avLst>
              <a:gd name="adj" fmla="val 4612"/>
            </a:avLst>
          </a:prstGeom>
          <a:solidFill>
            <a:srgbClr val="F5F5F7"/>
          </a:solidFill>
          <a:ln/>
        </p:spPr>
      </p:sp>
      <p:sp>
        <p:nvSpPr>
          <p:cNvPr id="56" name="Shape 54"/>
          <p:cNvSpPr/>
          <p:nvPr/>
        </p:nvSpPr>
        <p:spPr>
          <a:xfrm>
            <a:off x="4788043" y="2376971"/>
            <a:ext cx="4143375" cy="935831"/>
          </a:xfrm>
          <a:prstGeom prst="roundRect">
            <a:avLst>
              <a:gd name="adj" fmla="val 5967"/>
            </a:avLst>
          </a:prstGeom>
          <a:solidFill>
            <a:srgbClr val="F5F5F7"/>
          </a:solidFill>
          <a:ln/>
        </p:spPr>
      </p:sp>
      <p:sp>
        <p:nvSpPr>
          <p:cNvPr id="57" name="Shape 55"/>
          <p:cNvSpPr/>
          <p:nvPr/>
        </p:nvSpPr>
        <p:spPr>
          <a:xfrm>
            <a:off x="4788043" y="3424703"/>
            <a:ext cx="4143375" cy="807244"/>
          </a:xfrm>
          <a:prstGeom prst="roundRect">
            <a:avLst>
              <a:gd name="adj" fmla="val 8019"/>
            </a:avLst>
          </a:prstGeom>
          <a:solidFill>
            <a:srgbClr val="F5F5F7"/>
          </a:solidFill>
          <a:ln/>
        </p:spPr>
      </p:sp>
      <p:sp>
        <p:nvSpPr>
          <p:cNvPr id="58" name="Text 56"/>
          <p:cNvSpPr/>
          <p:nvPr/>
        </p:nvSpPr>
        <p:spPr>
          <a:xfrm>
            <a:off x="214313" y="501625"/>
            <a:ext cx="8715375" cy="2643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92% 的良率站得住：批次一致性数据与行业对标同时给出</a:t>
            </a:r>
            <a:endParaRPr lang="en-US" sz="1900" dirty="0"/>
          </a:p>
        </p:txBody>
      </p:sp>
      <p:sp>
        <p:nvSpPr>
          <p:cNvPr id="59" name="Text 57"/>
          <p:cNvSpPr/>
          <p:nvPr/>
        </p:nvSpPr>
        <p:spPr>
          <a:xfrm>
            <a:off x="216043" y="1201099"/>
            <a:ext cx="4343400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量产良率行业对标：本团队 × 印刷电子卷对卷 × 柔性 OLED 面板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16043" y="1372716"/>
            <a:ext cx="4343400" cy="2643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零基线；本团队 78%→92%（2023–2025，团队自有成果）；印刷电子为 95%+ 先进线，图中取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其下限；柔性 OLED 为 2022-05 厂商公开口径。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4934322" y="1285987"/>
            <a:ext cx="878681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92% 的四段证据链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706251" y="1286042"/>
            <a:ext cx="2078831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前三段为团队内部量产口径，未随素材公开数值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4932648" y="1477584"/>
            <a:ext cx="942975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01 连续批次统计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5959618" y="1477584"/>
            <a:ext cx="2828925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≥12 批次均值 / 标准差 / Cpk + SPC 在线管控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4932648" y="1663433"/>
            <a:ext cx="942975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02 单器件一致性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959618" y="1663433"/>
            <a:ext cx="2828925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灵敏度系数、迟滞、重复性 %RSD、温漂 %/℃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4932648" y="1849282"/>
            <a:ext cx="942975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03 可靠性抽检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959618" y="1849282"/>
            <a:ext cx="2828925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拉伸循环（次数与应变）后阻值与灵敏度漂移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4932648" y="2035132"/>
            <a:ext cx="942975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04 公开口径对标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959618" y="2035132"/>
            <a:ext cx="2828925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印刷电子卷对卷 95%+ · 柔性 OLED 80%–94%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4930918" y="2491048"/>
            <a:ext cx="3857625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跨类对标：统计口径不同，不可直接读数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4932648" y="2682534"/>
            <a:ext cx="942975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本团队 · 阵列级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959618" y="2682534"/>
            <a:ext cx="2828925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功能良率 + 电学全检 + 可靠性抽检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4932648" y="2868383"/>
            <a:ext cx="942975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印刷电子卷对卷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959618" y="2868383"/>
            <a:ext cx="2828925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连续工艺成品率，控线宽线距与膜厚均匀性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4932648" y="3054232"/>
            <a:ext cx="942975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柔性 OLED 面板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5959618" y="3054232"/>
            <a:ext cx="2828925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面板级综合良率，含 Mura 与亮点（2022 口径）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4930918" y="3510260"/>
            <a:ext cx="3857625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结论与公开参照线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4930918" y="3687459"/>
            <a:ext cx="3857625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92% 处于行业头部区间，距印刷电子卷对卷先进线约 3 个百分点（2026 目标 95%）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4930918" y="3859076"/>
            <a:ext cx="3857625" cy="2857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参照线：循环后电阻变化 5%（中科院宁波材料所）；重复性 0.75% / 迟滞 1.377% /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灵敏度 0.594 pm/με（光纤光栅标定，量级参照）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214313" y="4514850"/>
            <a:ext cx="8715375" cy="3000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来源：团队自有成果（2023–2025，量产良率 78%→92%）；Patsnap Eureka 印刷电子良率报告；维科网显示 OFweek、芯智讯（柔性 OLED，2022-05）；中科院宁波材料所、光学精密工程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（2025）。批次均值/标准差/Cpk 与迟滞/重复性/温漂属团队内部数据，不以外部值替代。</a:t>
            </a:r>
            <a:endParaRPr lang="en-US" sz="700" dirty="0"/>
          </a:p>
        </p:txBody>
      </p:sp>
      <p:sp>
        <p:nvSpPr>
          <p:cNvPr id="65535" name="wm:hwcld:2026-09-22T19:07:46:581b05d5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2" y="853232"/>
            <a:ext cx="285750" cy="7144"/>
          </a:xfrm>
          <a:prstGeom prst="rect">
            <a:avLst/>
          </a:prstGeom>
          <a:solidFill>
            <a:srgbClr val="1D1D1F"/>
          </a:solidFill>
          <a:ln/>
        </p:spPr>
      </p:sp>
      <p:sp>
        <p:nvSpPr>
          <p:cNvPr id="4" name="Shape 2"/>
          <p:cNvSpPr/>
          <p:nvPr/>
        </p:nvSpPr>
        <p:spPr>
          <a:xfrm>
            <a:off x="214313" y="1239273"/>
            <a:ext cx="2828925" cy="592931"/>
          </a:xfrm>
          <a:prstGeom prst="roundRect">
            <a:avLst>
              <a:gd name="adj" fmla="val 3716"/>
            </a:avLst>
          </a:prstGeom>
          <a:solidFill>
            <a:srgbClr val="F5F5F7"/>
          </a:solidFill>
          <a:ln/>
        </p:spPr>
      </p:sp>
      <p:sp>
        <p:nvSpPr>
          <p:cNvPr id="5" name="Text 3"/>
          <p:cNvSpPr/>
          <p:nvPr/>
        </p:nvSpPr>
        <p:spPr>
          <a:xfrm>
            <a:off x="428625" y="1298153"/>
            <a:ext cx="1965246" cy="1000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公开基准 · 3D 打印柔性 OLED（64 像素）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157538" y="1239273"/>
            <a:ext cx="2828925" cy="592931"/>
          </a:xfrm>
          <a:prstGeom prst="roundRect">
            <a:avLst>
              <a:gd name="adj" fmla="val 3716"/>
            </a:avLst>
          </a:prstGeom>
          <a:solidFill>
            <a:srgbClr val="F5F5F7"/>
          </a:solidFill>
          <a:ln/>
        </p:spPr>
      </p:sp>
      <p:sp>
        <p:nvSpPr>
          <p:cNvPr id="7" name="Text 5"/>
          <p:cNvSpPr/>
          <p:nvPr/>
        </p:nvSpPr>
        <p:spPr>
          <a:xfrm>
            <a:off x="3371850" y="1298153"/>
            <a:ext cx="2133548" cy="1000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公开基准 · 可穿戴柔性 OLED（1.0 mm 半径）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100763" y="1239273"/>
            <a:ext cx="2828925" cy="592931"/>
          </a:xfrm>
          <a:prstGeom prst="roundRect">
            <a:avLst>
              <a:gd name="adj" fmla="val 3716"/>
            </a:avLst>
          </a:prstGeom>
          <a:solidFill>
            <a:srgbClr val="F5F5F7"/>
          </a:solidFill>
          <a:ln/>
        </p:spPr>
      </p:sp>
      <p:sp>
        <p:nvSpPr>
          <p:cNvPr id="9" name="Shape 7"/>
          <p:cNvSpPr/>
          <p:nvPr/>
        </p:nvSpPr>
        <p:spPr>
          <a:xfrm>
            <a:off x="6215063" y="1328849"/>
            <a:ext cx="42863" cy="42863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0" name="Text 8"/>
          <p:cNvSpPr/>
          <p:nvPr/>
        </p:nvSpPr>
        <p:spPr>
          <a:xfrm>
            <a:off x="6315075" y="1298153"/>
            <a:ext cx="1219606" cy="1000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团队自有成果 · 柔性 OLED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510903" y="2406439"/>
            <a:ext cx="0" cy="1364457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0966" y="2406439"/>
            <a:ext cx="0" cy="1364457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1028" y="2406439"/>
            <a:ext cx="0" cy="1364457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11091" y="2406439"/>
            <a:ext cx="0" cy="1364457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18297" y="2406439"/>
            <a:ext cx="0" cy="1364457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18359" y="2406439"/>
            <a:ext cx="0" cy="1364457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18359" y="2406439"/>
            <a:ext cx="0" cy="1364457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08621" y="3774467"/>
            <a:ext cx="2506167" cy="0"/>
          </a:xfrm>
          <a:prstGeom prst="line">
            <a:avLst/>
          </a:prstGeom>
          <a:noFill/>
          <a:ln w="6350">
            <a:solidFill>
              <a:srgbClr val="1D1D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45086" y="3989495"/>
            <a:ext cx="30332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WVTR（g/m²·day，对数刻度）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-395903" y="2482877"/>
            <a:ext cx="183308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混合有机-无机 TFE</a:t>
            </a:r>
            <a:endParaRPr lang="en-US" sz="788" dirty="0"/>
          </a:p>
        </p:txBody>
      </p:sp>
      <p:sp>
        <p:nvSpPr>
          <p:cNvPr id="21" name="Text 19"/>
          <p:cNvSpPr/>
          <p:nvPr/>
        </p:nvSpPr>
        <p:spPr>
          <a:xfrm>
            <a:off x="-245884" y="2755769"/>
            <a:ext cx="1683068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多功能封装膜 TFE</a:t>
            </a:r>
            <a:endParaRPr lang="en-US" sz="788" dirty="0"/>
          </a:p>
        </p:txBody>
      </p:sp>
      <p:sp>
        <p:nvSpPr>
          <p:cNvPr id="22" name="Text 20"/>
          <p:cNvSpPr/>
          <p:nvPr/>
        </p:nvSpPr>
        <p:spPr>
          <a:xfrm>
            <a:off x="-995978" y="3028660"/>
            <a:ext cx="243316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高温高湿 1,000 次弯曲后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-1145997" y="3301551"/>
            <a:ext cx="258318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100% 应变 1,000 次后</a:t>
            </a:r>
            <a:endParaRPr lang="en-US" sz="788" dirty="0"/>
          </a:p>
        </p:txBody>
      </p:sp>
      <p:sp>
        <p:nvSpPr>
          <p:cNvPr id="24" name="Text 22"/>
          <p:cNvSpPr/>
          <p:nvPr/>
        </p:nvSpPr>
        <p:spPr>
          <a:xfrm>
            <a:off x="-1596053" y="3574443"/>
            <a:ext cx="30332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85 ℃/85%RH + 30% 拉伸</a:t>
            </a:r>
            <a:endParaRPr lang="en-US" sz="788" dirty="0"/>
          </a:p>
        </p:txBody>
      </p:sp>
      <p:sp>
        <p:nvSpPr>
          <p:cNvPr id="25" name="Text 23"/>
          <p:cNvSpPr/>
          <p:nvPr/>
        </p:nvSpPr>
        <p:spPr>
          <a:xfrm>
            <a:off x="1117143" y="3846620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10⁻⁷</a:t>
            </a:r>
            <a:endParaRPr lang="en-US" sz="788" dirty="0"/>
          </a:p>
        </p:txBody>
      </p:sp>
      <p:sp>
        <p:nvSpPr>
          <p:cNvPr id="26" name="Text 24"/>
          <p:cNvSpPr/>
          <p:nvPr/>
        </p:nvSpPr>
        <p:spPr>
          <a:xfrm>
            <a:off x="1618377" y="3846620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10⁻⁶</a:t>
            </a:r>
            <a:endParaRPr lang="en-US" sz="788" dirty="0"/>
          </a:p>
        </p:txBody>
      </p:sp>
      <p:sp>
        <p:nvSpPr>
          <p:cNvPr id="27" name="Text 25"/>
          <p:cNvSpPr/>
          <p:nvPr/>
        </p:nvSpPr>
        <p:spPr>
          <a:xfrm>
            <a:off x="2119610" y="3846620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10⁻⁵</a:t>
            </a:r>
            <a:endParaRPr lang="en-US" sz="788" dirty="0"/>
          </a:p>
        </p:txBody>
      </p:sp>
      <p:sp>
        <p:nvSpPr>
          <p:cNvPr id="28" name="Text 26"/>
          <p:cNvSpPr/>
          <p:nvPr/>
        </p:nvSpPr>
        <p:spPr>
          <a:xfrm>
            <a:off x="2620843" y="3846620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10⁻⁴</a:t>
            </a:r>
            <a:endParaRPr lang="en-US" sz="788" dirty="0"/>
          </a:p>
        </p:txBody>
      </p:sp>
      <p:sp>
        <p:nvSpPr>
          <p:cNvPr id="29" name="Text 27"/>
          <p:cNvSpPr/>
          <p:nvPr/>
        </p:nvSpPr>
        <p:spPr>
          <a:xfrm>
            <a:off x="3122077" y="3846620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10⁻³</a:t>
            </a:r>
            <a:endParaRPr lang="en-US" sz="788" dirty="0"/>
          </a:p>
        </p:txBody>
      </p:sp>
      <p:sp>
        <p:nvSpPr>
          <p:cNvPr id="30" name="Text 28"/>
          <p:cNvSpPr/>
          <p:nvPr/>
        </p:nvSpPr>
        <p:spPr>
          <a:xfrm>
            <a:off x="3623310" y="3846620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10⁻²</a:t>
            </a:r>
            <a:endParaRPr lang="en-US" sz="788" dirty="0"/>
          </a:p>
        </p:txBody>
      </p:sp>
      <p:sp>
        <p:nvSpPr>
          <p:cNvPr id="31" name="Shape 29"/>
          <p:cNvSpPr/>
          <p:nvPr/>
        </p:nvSpPr>
        <p:spPr>
          <a:xfrm>
            <a:off x="1636572" y="2492879"/>
            <a:ext cx="2378215" cy="100012"/>
          </a:xfrm>
          <a:custGeom>
            <a:avLst/>
            <a:gdLst/>
            <a:ahLst/>
            <a:cxnLst/>
            <a:rect l="l" t="t" r="r" b="b"/>
            <a:pathLst>
              <a:path w="2378215" h="100012">
                <a:moveTo>
                  <a:pt x="0" y="0"/>
                </a:moveTo>
                <a:lnTo>
                  <a:pt x="2356784" y="0"/>
                </a:lnTo>
                <a:lnTo>
                  <a:pt x="2357835" y="26"/>
                </a:lnTo>
                <a:lnTo>
                  <a:pt x="2358884" y="103"/>
                </a:lnTo>
                <a:lnTo>
                  <a:pt x="2359928" y="232"/>
                </a:lnTo>
                <a:lnTo>
                  <a:pt x="2360965" y="412"/>
                </a:lnTo>
                <a:lnTo>
                  <a:pt x="2361991" y="642"/>
                </a:lnTo>
                <a:lnTo>
                  <a:pt x="2363005" y="923"/>
                </a:lnTo>
                <a:lnTo>
                  <a:pt x="2364004" y="1253"/>
                </a:lnTo>
                <a:lnTo>
                  <a:pt x="2364985" y="1631"/>
                </a:lnTo>
                <a:lnTo>
                  <a:pt x="2365947" y="2058"/>
                </a:lnTo>
                <a:lnTo>
                  <a:pt x="2366886" y="2531"/>
                </a:lnTo>
                <a:lnTo>
                  <a:pt x="2367802" y="3049"/>
                </a:lnTo>
                <a:lnTo>
                  <a:pt x="2368690" y="3612"/>
                </a:lnTo>
                <a:lnTo>
                  <a:pt x="2369550" y="4218"/>
                </a:lnTo>
                <a:lnTo>
                  <a:pt x="2370380" y="4865"/>
                </a:lnTo>
                <a:lnTo>
                  <a:pt x="2371176" y="5552"/>
                </a:lnTo>
                <a:lnTo>
                  <a:pt x="2371938" y="6277"/>
                </a:lnTo>
                <a:lnTo>
                  <a:pt x="2372663" y="7039"/>
                </a:lnTo>
                <a:lnTo>
                  <a:pt x="2373350" y="7835"/>
                </a:lnTo>
                <a:lnTo>
                  <a:pt x="2373998" y="8665"/>
                </a:lnTo>
                <a:lnTo>
                  <a:pt x="2374603" y="9525"/>
                </a:lnTo>
                <a:lnTo>
                  <a:pt x="2375166" y="10413"/>
                </a:lnTo>
                <a:lnTo>
                  <a:pt x="2375685" y="11329"/>
                </a:lnTo>
                <a:lnTo>
                  <a:pt x="2376157" y="12268"/>
                </a:lnTo>
                <a:lnTo>
                  <a:pt x="2376584" y="13230"/>
                </a:lnTo>
                <a:lnTo>
                  <a:pt x="2376962" y="14211"/>
                </a:lnTo>
                <a:lnTo>
                  <a:pt x="2377292" y="15210"/>
                </a:lnTo>
                <a:lnTo>
                  <a:pt x="2377573" y="16224"/>
                </a:lnTo>
                <a:lnTo>
                  <a:pt x="2377803" y="17250"/>
                </a:lnTo>
                <a:lnTo>
                  <a:pt x="2377983" y="18287"/>
                </a:lnTo>
                <a:lnTo>
                  <a:pt x="2378112" y="19331"/>
                </a:lnTo>
                <a:lnTo>
                  <a:pt x="2378189" y="20380"/>
                </a:lnTo>
                <a:lnTo>
                  <a:pt x="2378215" y="21431"/>
                </a:lnTo>
                <a:lnTo>
                  <a:pt x="2378215" y="78581"/>
                </a:lnTo>
                <a:lnTo>
                  <a:pt x="2378189" y="79633"/>
                </a:lnTo>
                <a:lnTo>
                  <a:pt x="2378112" y="80682"/>
                </a:lnTo>
                <a:lnTo>
                  <a:pt x="2377983" y="81726"/>
                </a:lnTo>
                <a:lnTo>
                  <a:pt x="2377803" y="82762"/>
                </a:lnTo>
                <a:lnTo>
                  <a:pt x="2377573" y="83789"/>
                </a:lnTo>
                <a:lnTo>
                  <a:pt x="2377292" y="84802"/>
                </a:lnTo>
                <a:lnTo>
                  <a:pt x="2376962" y="85801"/>
                </a:lnTo>
                <a:lnTo>
                  <a:pt x="2376584" y="86783"/>
                </a:lnTo>
                <a:lnTo>
                  <a:pt x="2376157" y="87744"/>
                </a:lnTo>
                <a:lnTo>
                  <a:pt x="2375685" y="88684"/>
                </a:lnTo>
                <a:lnTo>
                  <a:pt x="2375166" y="89599"/>
                </a:lnTo>
                <a:lnTo>
                  <a:pt x="2374603" y="90488"/>
                </a:lnTo>
                <a:lnTo>
                  <a:pt x="2373998" y="91348"/>
                </a:lnTo>
                <a:lnTo>
                  <a:pt x="2373350" y="92177"/>
                </a:lnTo>
                <a:lnTo>
                  <a:pt x="2372663" y="92974"/>
                </a:lnTo>
                <a:lnTo>
                  <a:pt x="2371938" y="93735"/>
                </a:lnTo>
                <a:lnTo>
                  <a:pt x="2371176" y="94461"/>
                </a:lnTo>
                <a:lnTo>
                  <a:pt x="2370380" y="95148"/>
                </a:lnTo>
                <a:lnTo>
                  <a:pt x="2369550" y="95795"/>
                </a:lnTo>
                <a:lnTo>
                  <a:pt x="2368690" y="96401"/>
                </a:lnTo>
                <a:lnTo>
                  <a:pt x="2367802" y="96963"/>
                </a:lnTo>
                <a:lnTo>
                  <a:pt x="2366886" y="97482"/>
                </a:lnTo>
                <a:lnTo>
                  <a:pt x="2365947" y="97955"/>
                </a:lnTo>
                <a:lnTo>
                  <a:pt x="2364985" y="98381"/>
                </a:lnTo>
                <a:lnTo>
                  <a:pt x="2364004" y="98760"/>
                </a:lnTo>
                <a:lnTo>
                  <a:pt x="2363005" y="99090"/>
                </a:lnTo>
                <a:lnTo>
                  <a:pt x="2361991" y="99370"/>
                </a:lnTo>
                <a:lnTo>
                  <a:pt x="2360965" y="99601"/>
                </a:lnTo>
                <a:lnTo>
                  <a:pt x="2359928" y="99781"/>
                </a:lnTo>
                <a:lnTo>
                  <a:pt x="2358884" y="99909"/>
                </a:lnTo>
                <a:lnTo>
                  <a:pt x="2357835" y="99987"/>
                </a:lnTo>
                <a:lnTo>
                  <a:pt x="2356784" y="100012"/>
                </a:lnTo>
                <a:lnTo>
                  <a:pt x="0" y="100012"/>
                </a:lnTo>
                <a:lnTo>
                  <a:pt x="0" y="0"/>
                </a:lnTo>
              </a:path>
            </a:pathLst>
          </a:custGeom>
          <a:solidFill>
            <a:srgbClr val="0071E3"/>
          </a:solidFill>
          <a:ln/>
        </p:spPr>
      </p:sp>
      <p:sp>
        <p:nvSpPr>
          <p:cNvPr id="32" name="Shape 30"/>
          <p:cNvSpPr/>
          <p:nvPr/>
        </p:nvSpPr>
        <p:spPr>
          <a:xfrm>
            <a:off x="2480773" y="2765770"/>
            <a:ext cx="1534015" cy="100013"/>
          </a:xfrm>
          <a:custGeom>
            <a:avLst/>
            <a:gdLst/>
            <a:ahLst/>
            <a:cxnLst/>
            <a:rect l="l" t="t" r="r" b="b"/>
            <a:pathLst>
              <a:path w="1534015" h="100013">
                <a:moveTo>
                  <a:pt x="0" y="0"/>
                </a:moveTo>
                <a:lnTo>
                  <a:pt x="1512583" y="0"/>
                </a:lnTo>
                <a:lnTo>
                  <a:pt x="1513635" y="26"/>
                </a:lnTo>
                <a:lnTo>
                  <a:pt x="1514684" y="103"/>
                </a:lnTo>
                <a:lnTo>
                  <a:pt x="1515728" y="232"/>
                </a:lnTo>
                <a:lnTo>
                  <a:pt x="1516764" y="412"/>
                </a:lnTo>
                <a:lnTo>
                  <a:pt x="1517791" y="642"/>
                </a:lnTo>
                <a:lnTo>
                  <a:pt x="1518804" y="923"/>
                </a:lnTo>
                <a:lnTo>
                  <a:pt x="1519803" y="1253"/>
                </a:lnTo>
                <a:lnTo>
                  <a:pt x="1520785" y="1631"/>
                </a:lnTo>
                <a:lnTo>
                  <a:pt x="1521746" y="2058"/>
                </a:lnTo>
                <a:lnTo>
                  <a:pt x="1522686" y="2531"/>
                </a:lnTo>
                <a:lnTo>
                  <a:pt x="1523601" y="3049"/>
                </a:lnTo>
                <a:lnTo>
                  <a:pt x="1524490" y="3612"/>
                </a:lnTo>
                <a:lnTo>
                  <a:pt x="1525350" y="4218"/>
                </a:lnTo>
                <a:lnTo>
                  <a:pt x="1526179" y="4865"/>
                </a:lnTo>
                <a:lnTo>
                  <a:pt x="1526976" y="5552"/>
                </a:lnTo>
                <a:lnTo>
                  <a:pt x="1527738" y="6277"/>
                </a:lnTo>
                <a:lnTo>
                  <a:pt x="1528463" y="7039"/>
                </a:lnTo>
                <a:lnTo>
                  <a:pt x="1529150" y="7835"/>
                </a:lnTo>
                <a:lnTo>
                  <a:pt x="1529797" y="8665"/>
                </a:lnTo>
                <a:lnTo>
                  <a:pt x="1530403" y="9525"/>
                </a:lnTo>
                <a:lnTo>
                  <a:pt x="1530966" y="10413"/>
                </a:lnTo>
                <a:lnTo>
                  <a:pt x="1531484" y="11329"/>
                </a:lnTo>
                <a:lnTo>
                  <a:pt x="1531957" y="12268"/>
                </a:lnTo>
                <a:lnTo>
                  <a:pt x="1532383" y="13230"/>
                </a:lnTo>
                <a:lnTo>
                  <a:pt x="1532762" y="14211"/>
                </a:lnTo>
                <a:lnTo>
                  <a:pt x="1533092" y="15210"/>
                </a:lnTo>
                <a:lnTo>
                  <a:pt x="1533372" y="16224"/>
                </a:lnTo>
                <a:lnTo>
                  <a:pt x="1533603" y="17250"/>
                </a:lnTo>
                <a:lnTo>
                  <a:pt x="1533783" y="18287"/>
                </a:lnTo>
                <a:lnTo>
                  <a:pt x="1533911" y="19331"/>
                </a:lnTo>
                <a:lnTo>
                  <a:pt x="1533989" y="20380"/>
                </a:lnTo>
                <a:lnTo>
                  <a:pt x="1534015" y="21431"/>
                </a:lnTo>
                <a:lnTo>
                  <a:pt x="1534015" y="78581"/>
                </a:lnTo>
                <a:lnTo>
                  <a:pt x="1533989" y="79633"/>
                </a:lnTo>
                <a:lnTo>
                  <a:pt x="1533911" y="80682"/>
                </a:lnTo>
                <a:lnTo>
                  <a:pt x="1533783" y="81726"/>
                </a:lnTo>
                <a:lnTo>
                  <a:pt x="1533603" y="82762"/>
                </a:lnTo>
                <a:lnTo>
                  <a:pt x="1533372" y="83789"/>
                </a:lnTo>
                <a:lnTo>
                  <a:pt x="1533092" y="84802"/>
                </a:lnTo>
                <a:lnTo>
                  <a:pt x="1532762" y="85801"/>
                </a:lnTo>
                <a:lnTo>
                  <a:pt x="1532383" y="86783"/>
                </a:lnTo>
                <a:lnTo>
                  <a:pt x="1531957" y="87744"/>
                </a:lnTo>
                <a:lnTo>
                  <a:pt x="1531484" y="88684"/>
                </a:lnTo>
                <a:lnTo>
                  <a:pt x="1530966" y="89599"/>
                </a:lnTo>
                <a:lnTo>
                  <a:pt x="1530403" y="90488"/>
                </a:lnTo>
                <a:lnTo>
                  <a:pt x="1529797" y="91348"/>
                </a:lnTo>
                <a:lnTo>
                  <a:pt x="1529150" y="92177"/>
                </a:lnTo>
                <a:lnTo>
                  <a:pt x="1528463" y="92974"/>
                </a:lnTo>
                <a:lnTo>
                  <a:pt x="1527738" y="93735"/>
                </a:lnTo>
                <a:lnTo>
                  <a:pt x="1526976" y="94461"/>
                </a:lnTo>
                <a:lnTo>
                  <a:pt x="1526179" y="95148"/>
                </a:lnTo>
                <a:lnTo>
                  <a:pt x="1525350" y="95795"/>
                </a:lnTo>
                <a:lnTo>
                  <a:pt x="1524490" y="96401"/>
                </a:lnTo>
                <a:lnTo>
                  <a:pt x="1523601" y="96963"/>
                </a:lnTo>
                <a:lnTo>
                  <a:pt x="1522686" y="97482"/>
                </a:lnTo>
                <a:lnTo>
                  <a:pt x="1521746" y="97955"/>
                </a:lnTo>
                <a:lnTo>
                  <a:pt x="1520785" y="98381"/>
                </a:lnTo>
                <a:lnTo>
                  <a:pt x="1519803" y="98760"/>
                </a:lnTo>
                <a:lnTo>
                  <a:pt x="1518804" y="99090"/>
                </a:lnTo>
                <a:lnTo>
                  <a:pt x="1517791" y="99370"/>
                </a:lnTo>
                <a:lnTo>
                  <a:pt x="1516764" y="99601"/>
                </a:lnTo>
                <a:lnTo>
                  <a:pt x="1515728" y="99781"/>
                </a:lnTo>
                <a:lnTo>
                  <a:pt x="1514684" y="99909"/>
                </a:lnTo>
                <a:lnTo>
                  <a:pt x="1513635" y="99987"/>
                </a:lnTo>
                <a:lnTo>
                  <a:pt x="1512583" y="100013"/>
                </a:lnTo>
                <a:lnTo>
                  <a:pt x="0" y="100013"/>
                </a:lnTo>
                <a:lnTo>
                  <a:pt x="0" y="0"/>
                </a:lnTo>
              </a:path>
            </a:pathLst>
          </a:custGeom>
          <a:solidFill>
            <a:srgbClr val="0071E3"/>
          </a:solidFill>
          <a:ln/>
        </p:spPr>
      </p:sp>
      <p:sp>
        <p:nvSpPr>
          <p:cNvPr id="33" name="Shape 31"/>
          <p:cNvSpPr/>
          <p:nvPr/>
        </p:nvSpPr>
        <p:spPr>
          <a:xfrm>
            <a:off x="2626596" y="3038661"/>
            <a:ext cx="1388191" cy="100013"/>
          </a:xfrm>
          <a:custGeom>
            <a:avLst/>
            <a:gdLst/>
            <a:ahLst/>
            <a:cxnLst/>
            <a:rect l="l" t="t" r="r" b="b"/>
            <a:pathLst>
              <a:path w="1388191" h="100013">
                <a:moveTo>
                  <a:pt x="0" y="0"/>
                </a:moveTo>
                <a:lnTo>
                  <a:pt x="1366760" y="0"/>
                </a:lnTo>
                <a:lnTo>
                  <a:pt x="1367812" y="26"/>
                </a:lnTo>
                <a:lnTo>
                  <a:pt x="1368861" y="103"/>
                </a:lnTo>
                <a:lnTo>
                  <a:pt x="1369905" y="232"/>
                </a:lnTo>
                <a:lnTo>
                  <a:pt x="1370941" y="412"/>
                </a:lnTo>
                <a:lnTo>
                  <a:pt x="1371967" y="642"/>
                </a:lnTo>
                <a:lnTo>
                  <a:pt x="1372981" y="923"/>
                </a:lnTo>
                <a:lnTo>
                  <a:pt x="1373980" y="1253"/>
                </a:lnTo>
                <a:lnTo>
                  <a:pt x="1374961" y="1631"/>
                </a:lnTo>
                <a:lnTo>
                  <a:pt x="1375923" y="2058"/>
                </a:lnTo>
                <a:lnTo>
                  <a:pt x="1376863" y="2531"/>
                </a:lnTo>
                <a:lnTo>
                  <a:pt x="1377778" y="3049"/>
                </a:lnTo>
                <a:lnTo>
                  <a:pt x="1378667" y="3612"/>
                </a:lnTo>
                <a:lnTo>
                  <a:pt x="1379527" y="4218"/>
                </a:lnTo>
                <a:lnTo>
                  <a:pt x="1380356" y="4865"/>
                </a:lnTo>
                <a:lnTo>
                  <a:pt x="1381152" y="5552"/>
                </a:lnTo>
                <a:lnTo>
                  <a:pt x="1381914" y="6277"/>
                </a:lnTo>
                <a:lnTo>
                  <a:pt x="1382640" y="7039"/>
                </a:lnTo>
                <a:lnTo>
                  <a:pt x="1383327" y="7835"/>
                </a:lnTo>
                <a:lnTo>
                  <a:pt x="1383974" y="8665"/>
                </a:lnTo>
                <a:lnTo>
                  <a:pt x="1384580" y="9525"/>
                </a:lnTo>
                <a:lnTo>
                  <a:pt x="1385142" y="10413"/>
                </a:lnTo>
                <a:lnTo>
                  <a:pt x="1385661" y="11329"/>
                </a:lnTo>
                <a:lnTo>
                  <a:pt x="1386134" y="12268"/>
                </a:lnTo>
                <a:lnTo>
                  <a:pt x="1386560" y="13230"/>
                </a:lnTo>
                <a:lnTo>
                  <a:pt x="1386939" y="14211"/>
                </a:lnTo>
                <a:lnTo>
                  <a:pt x="1387269" y="15210"/>
                </a:lnTo>
                <a:lnTo>
                  <a:pt x="1387549" y="16224"/>
                </a:lnTo>
                <a:lnTo>
                  <a:pt x="1387780" y="17250"/>
                </a:lnTo>
                <a:lnTo>
                  <a:pt x="1387959" y="18287"/>
                </a:lnTo>
                <a:lnTo>
                  <a:pt x="1388088" y="19331"/>
                </a:lnTo>
                <a:lnTo>
                  <a:pt x="1388166" y="20380"/>
                </a:lnTo>
                <a:lnTo>
                  <a:pt x="1388191" y="21431"/>
                </a:lnTo>
                <a:lnTo>
                  <a:pt x="1388191" y="78581"/>
                </a:lnTo>
                <a:lnTo>
                  <a:pt x="1388166" y="79633"/>
                </a:lnTo>
                <a:lnTo>
                  <a:pt x="1388088" y="80682"/>
                </a:lnTo>
                <a:lnTo>
                  <a:pt x="1387959" y="81726"/>
                </a:lnTo>
                <a:lnTo>
                  <a:pt x="1387780" y="82762"/>
                </a:lnTo>
                <a:lnTo>
                  <a:pt x="1387549" y="83789"/>
                </a:lnTo>
                <a:lnTo>
                  <a:pt x="1387269" y="84802"/>
                </a:lnTo>
                <a:lnTo>
                  <a:pt x="1386939" y="85801"/>
                </a:lnTo>
                <a:lnTo>
                  <a:pt x="1386560" y="86783"/>
                </a:lnTo>
                <a:lnTo>
                  <a:pt x="1386134" y="87744"/>
                </a:lnTo>
                <a:lnTo>
                  <a:pt x="1385661" y="88684"/>
                </a:lnTo>
                <a:lnTo>
                  <a:pt x="1385142" y="89599"/>
                </a:lnTo>
                <a:lnTo>
                  <a:pt x="1384580" y="90488"/>
                </a:lnTo>
                <a:lnTo>
                  <a:pt x="1383974" y="91348"/>
                </a:lnTo>
                <a:lnTo>
                  <a:pt x="1383327" y="92177"/>
                </a:lnTo>
                <a:lnTo>
                  <a:pt x="1382640" y="92974"/>
                </a:lnTo>
                <a:lnTo>
                  <a:pt x="1381914" y="93735"/>
                </a:lnTo>
                <a:lnTo>
                  <a:pt x="1381152" y="94461"/>
                </a:lnTo>
                <a:lnTo>
                  <a:pt x="1380356" y="95148"/>
                </a:lnTo>
                <a:lnTo>
                  <a:pt x="1379527" y="95795"/>
                </a:lnTo>
                <a:lnTo>
                  <a:pt x="1378667" y="96401"/>
                </a:lnTo>
                <a:lnTo>
                  <a:pt x="1377778" y="96963"/>
                </a:lnTo>
                <a:lnTo>
                  <a:pt x="1376863" y="97482"/>
                </a:lnTo>
                <a:lnTo>
                  <a:pt x="1375923" y="97955"/>
                </a:lnTo>
                <a:lnTo>
                  <a:pt x="1374961" y="98381"/>
                </a:lnTo>
                <a:lnTo>
                  <a:pt x="1373980" y="98760"/>
                </a:lnTo>
                <a:lnTo>
                  <a:pt x="1372981" y="99090"/>
                </a:lnTo>
                <a:lnTo>
                  <a:pt x="1371967" y="99370"/>
                </a:lnTo>
                <a:lnTo>
                  <a:pt x="1370941" y="99601"/>
                </a:lnTo>
                <a:lnTo>
                  <a:pt x="1369905" y="99781"/>
                </a:lnTo>
                <a:lnTo>
                  <a:pt x="1368861" y="99909"/>
                </a:lnTo>
                <a:lnTo>
                  <a:pt x="1367812" y="99987"/>
                </a:lnTo>
                <a:lnTo>
                  <a:pt x="1366760" y="100013"/>
                </a:lnTo>
                <a:lnTo>
                  <a:pt x="0" y="100013"/>
                </a:lnTo>
                <a:lnTo>
                  <a:pt x="0" y="0"/>
                </a:lnTo>
              </a:path>
            </a:pathLst>
          </a:custGeom>
          <a:solidFill>
            <a:srgbClr val="0071E3"/>
          </a:solidFill>
          <a:ln/>
        </p:spPr>
      </p:sp>
      <p:sp>
        <p:nvSpPr>
          <p:cNvPr id="34" name="Shape 32"/>
          <p:cNvSpPr/>
          <p:nvPr/>
        </p:nvSpPr>
        <p:spPr>
          <a:xfrm>
            <a:off x="2750237" y="3311552"/>
            <a:ext cx="1264551" cy="100013"/>
          </a:xfrm>
          <a:custGeom>
            <a:avLst/>
            <a:gdLst/>
            <a:ahLst/>
            <a:cxnLst/>
            <a:rect l="l" t="t" r="r" b="b"/>
            <a:pathLst>
              <a:path w="1264551" h="100013">
                <a:moveTo>
                  <a:pt x="0" y="0"/>
                </a:moveTo>
                <a:lnTo>
                  <a:pt x="1243120" y="0"/>
                </a:lnTo>
                <a:lnTo>
                  <a:pt x="1244171" y="26"/>
                </a:lnTo>
                <a:lnTo>
                  <a:pt x="1245220" y="103"/>
                </a:lnTo>
                <a:lnTo>
                  <a:pt x="1246264" y="232"/>
                </a:lnTo>
                <a:lnTo>
                  <a:pt x="1247301" y="412"/>
                </a:lnTo>
                <a:lnTo>
                  <a:pt x="1248327" y="642"/>
                </a:lnTo>
                <a:lnTo>
                  <a:pt x="1249341" y="923"/>
                </a:lnTo>
                <a:lnTo>
                  <a:pt x="1250340" y="1253"/>
                </a:lnTo>
                <a:lnTo>
                  <a:pt x="1251321" y="1631"/>
                </a:lnTo>
                <a:lnTo>
                  <a:pt x="1252283" y="2058"/>
                </a:lnTo>
                <a:lnTo>
                  <a:pt x="1253222" y="2531"/>
                </a:lnTo>
                <a:lnTo>
                  <a:pt x="1254138" y="3049"/>
                </a:lnTo>
                <a:lnTo>
                  <a:pt x="1255026" y="3612"/>
                </a:lnTo>
                <a:lnTo>
                  <a:pt x="1255886" y="4218"/>
                </a:lnTo>
                <a:lnTo>
                  <a:pt x="1256715" y="4865"/>
                </a:lnTo>
                <a:lnTo>
                  <a:pt x="1257512" y="5552"/>
                </a:lnTo>
                <a:lnTo>
                  <a:pt x="1258274" y="6277"/>
                </a:lnTo>
                <a:lnTo>
                  <a:pt x="1258999" y="7039"/>
                </a:lnTo>
                <a:lnTo>
                  <a:pt x="1259686" y="7835"/>
                </a:lnTo>
                <a:lnTo>
                  <a:pt x="1260333" y="8665"/>
                </a:lnTo>
                <a:lnTo>
                  <a:pt x="1260939" y="9525"/>
                </a:lnTo>
                <a:lnTo>
                  <a:pt x="1261502" y="10413"/>
                </a:lnTo>
                <a:lnTo>
                  <a:pt x="1262020" y="11329"/>
                </a:lnTo>
                <a:lnTo>
                  <a:pt x="1262493" y="12268"/>
                </a:lnTo>
                <a:lnTo>
                  <a:pt x="1262920" y="13230"/>
                </a:lnTo>
                <a:lnTo>
                  <a:pt x="1263298" y="14211"/>
                </a:lnTo>
                <a:lnTo>
                  <a:pt x="1263628" y="15210"/>
                </a:lnTo>
                <a:lnTo>
                  <a:pt x="1263909" y="16224"/>
                </a:lnTo>
                <a:lnTo>
                  <a:pt x="1264139" y="17250"/>
                </a:lnTo>
                <a:lnTo>
                  <a:pt x="1264319" y="18287"/>
                </a:lnTo>
                <a:lnTo>
                  <a:pt x="1264448" y="19331"/>
                </a:lnTo>
                <a:lnTo>
                  <a:pt x="1264525" y="20380"/>
                </a:lnTo>
                <a:lnTo>
                  <a:pt x="1264551" y="21431"/>
                </a:lnTo>
                <a:lnTo>
                  <a:pt x="1264551" y="78581"/>
                </a:lnTo>
                <a:lnTo>
                  <a:pt x="1264525" y="79633"/>
                </a:lnTo>
                <a:lnTo>
                  <a:pt x="1264448" y="80682"/>
                </a:lnTo>
                <a:lnTo>
                  <a:pt x="1264319" y="81726"/>
                </a:lnTo>
                <a:lnTo>
                  <a:pt x="1264139" y="82762"/>
                </a:lnTo>
                <a:lnTo>
                  <a:pt x="1263909" y="83789"/>
                </a:lnTo>
                <a:lnTo>
                  <a:pt x="1263628" y="84802"/>
                </a:lnTo>
                <a:lnTo>
                  <a:pt x="1263298" y="85801"/>
                </a:lnTo>
                <a:lnTo>
                  <a:pt x="1262920" y="86783"/>
                </a:lnTo>
                <a:lnTo>
                  <a:pt x="1262493" y="87744"/>
                </a:lnTo>
                <a:lnTo>
                  <a:pt x="1262020" y="88684"/>
                </a:lnTo>
                <a:lnTo>
                  <a:pt x="1261502" y="89599"/>
                </a:lnTo>
                <a:lnTo>
                  <a:pt x="1260939" y="90488"/>
                </a:lnTo>
                <a:lnTo>
                  <a:pt x="1260333" y="91348"/>
                </a:lnTo>
                <a:lnTo>
                  <a:pt x="1259686" y="92177"/>
                </a:lnTo>
                <a:lnTo>
                  <a:pt x="1258999" y="92974"/>
                </a:lnTo>
                <a:lnTo>
                  <a:pt x="1258274" y="93735"/>
                </a:lnTo>
                <a:lnTo>
                  <a:pt x="1257512" y="94461"/>
                </a:lnTo>
                <a:lnTo>
                  <a:pt x="1256715" y="95148"/>
                </a:lnTo>
                <a:lnTo>
                  <a:pt x="1255886" y="95795"/>
                </a:lnTo>
                <a:lnTo>
                  <a:pt x="1255026" y="96401"/>
                </a:lnTo>
                <a:lnTo>
                  <a:pt x="1254138" y="96963"/>
                </a:lnTo>
                <a:lnTo>
                  <a:pt x="1253222" y="97482"/>
                </a:lnTo>
                <a:lnTo>
                  <a:pt x="1252283" y="97955"/>
                </a:lnTo>
                <a:lnTo>
                  <a:pt x="1251321" y="98381"/>
                </a:lnTo>
                <a:lnTo>
                  <a:pt x="1250340" y="98760"/>
                </a:lnTo>
                <a:lnTo>
                  <a:pt x="1249341" y="99090"/>
                </a:lnTo>
                <a:lnTo>
                  <a:pt x="1248327" y="99370"/>
                </a:lnTo>
                <a:lnTo>
                  <a:pt x="1247301" y="99601"/>
                </a:lnTo>
                <a:lnTo>
                  <a:pt x="1246264" y="99781"/>
                </a:lnTo>
                <a:lnTo>
                  <a:pt x="1245220" y="99909"/>
                </a:lnTo>
                <a:lnTo>
                  <a:pt x="1244171" y="99987"/>
                </a:lnTo>
                <a:lnTo>
                  <a:pt x="1243120" y="100013"/>
                </a:lnTo>
                <a:lnTo>
                  <a:pt x="0" y="100013"/>
                </a:lnTo>
                <a:lnTo>
                  <a:pt x="0" y="0"/>
                </a:lnTo>
              </a:path>
            </a:pathLst>
          </a:custGeom>
          <a:solidFill>
            <a:srgbClr val="0071E3"/>
          </a:solidFill>
          <a:ln/>
        </p:spPr>
      </p:sp>
      <p:sp>
        <p:nvSpPr>
          <p:cNvPr id="35" name="Shape 33"/>
          <p:cNvSpPr/>
          <p:nvPr/>
        </p:nvSpPr>
        <p:spPr>
          <a:xfrm>
            <a:off x="3314093" y="3584444"/>
            <a:ext cx="700694" cy="100013"/>
          </a:xfrm>
          <a:custGeom>
            <a:avLst/>
            <a:gdLst/>
            <a:ahLst/>
            <a:cxnLst/>
            <a:rect l="l" t="t" r="r" b="b"/>
            <a:pathLst>
              <a:path w="700694" h="100013">
                <a:moveTo>
                  <a:pt x="0" y="0"/>
                </a:moveTo>
                <a:lnTo>
                  <a:pt x="679263" y="0"/>
                </a:lnTo>
                <a:lnTo>
                  <a:pt x="680314" y="26"/>
                </a:lnTo>
                <a:lnTo>
                  <a:pt x="681363" y="103"/>
                </a:lnTo>
                <a:lnTo>
                  <a:pt x="682407" y="232"/>
                </a:lnTo>
                <a:lnTo>
                  <a:pt x="683444" y="412"/>
                </a:lnTo>
                <a:lnTo>
                  <a:pt x="684470" y="642"/>
                </a:lnTo>
                <a:lnTo>
                  <a:pt x="685484" y="923"/>
                </a:lnTo>
                <a:lnTo>
                  <a:pt x="686483" y="1253"/>
                </a:lnTo>
                <a:lnTo>
                  <a:pt x="687464" y="1631"/>
                </a:lnTo>
                <a:lnTo>
                  <a:pt x="688426" y="2058"/>
                </a:lnTo>
                <a:lnTo>
                  <a:pt x="689365" y="2531"/>
                </a:lnTo>
                <a:lnTo>
                  <a:pt x="690281" y="3049"/>
                </a:lnTo>
                <a:lnTo>
                  <a:pt x="691169" y="3612"/>
                </a:lnTo>
                <a:lnTo>
                  <a:pt x="692029" y="4218"/>
                </a:lnTo>
                <a:lnTo>
                  <a:pt x="692859" y="4865"/>
                </a:lnTo>
                <a:lnTo>
                  <a:pt x="693655" y="5552"/>
                </a:lnTo>
                <a:lnTo>
                  <a:pt x="694417" y="6277"/>
                </a:lnTo>
                <a:lnTo>
                  <a:pt x="695142" y="7039"/>
                </a:lnTo>
                <a:lnTo>
                  <a:pt x="695829" y="7835"/>
                </a:lnTo>
                <a:lnTo>
                  <a:pt x="696476" y="8665"/>
                </a:lnTo>
                <a:lnTo>
                  <a:pt x="697082" y="9525"/>
                </a:lnTo>
                <a:lnTo>
                  <a:pt x="697645" y="10413"/>
                </a:lnTo>
                <a:lnTo>
                  <a:pt x="698163" y="11329"/>
                </a:lnTo>
                <a:lnTo>
                  <a:pt x="698636" y="12268"/>
                </a:lnTo>
                <a:lnTo>
                  <a:pt x="699063" y="13230"/>
                </a:lnTo>
                <a:lnTo>
                  <a:pt x="699441" y="14211"/>
                </a:lnTo>
                <a:lnTo>
                  <a:pt x="699771" y="15210"/>
                </a:lnTo>
                <a:lnTo>
                  <a:pt x="700052" y="16224"/>
                </a:lnTo>
                <a:lnTo>
                  <a:pt x="700282" y="17250"/>
                </a:lnTo>
                <a:lnTo>
                  <a:pt x="700462" y="18287"/>
                </a:lnTo>
                <a:lnTo>
                  <a:pt x="700591" y="19331"/>
                </a:lnTo>
                <a:lnTo>
                  <a:pt x="700668" y="20380"/>
                </a:lnTo>
                <a:lnTo>
                  <a:pt x="700694" y="21431"/>
                </a:lnTo>
                <a:lnTo>
                  <a:pt x="700694" y="78581"/>
                </a:lnTo>
                <a:lnTo>
                  <a:pt x="700668" y="79633"/>
                </a:lnTo>
                <a:lnTo>
                  <a:pt x="700591" y="80682"/>
                </a:lnTo>
                <a:lnTo>
                  <a:pt x="700462" y="81726"/>
                </a:lnTo>
                <a:lnTo>
                  <a:pt x="700282" y="82762"/>
                </a:lnTo>
                <a:lnTo>
                  <a:pt x="700052" y="83789"/>
                </a:lnTo>
                <a:lnTo>
                  <a:pt x="699771" y="84802"/>
                </a:lnTo>
                <a:lnTo>
                  <a:pt x="699441" y="85801"/>
                </a:lnTo>
                <a:lnTo>
                  <a:pt x="699063" y="86783"/>
                </a:lnTo>
                <a:lnTo>
                  <a:pt x="698636" y="87744"/>
                </a:lnTo>
                <a:lnTo>
                  <a:pt x="698163" y="88684"/>
                </a:lnTo>
                <a:lnTo>
                  <a:pt x="697645" y="89599"/>
                </a:lnTo>
                <a:lnTo>
                  <a:pt x="697082" y="90488"/>
                </a:lnTo>
                <a:lnTo>
                  <a:pt x="696476" y="91348"/>
                </a:lnTo>
                <a:lnTo>
                  <a:pt x="695829" y="92177"/>
                </a:lnTo>
                <a:lnTo>
                  <a:pt x="695142" y="92974"/>
                </a:lnTo>
                <a:lnTo>
                  <a:pt x="694417" y="93735"/>
                </a:lnTo>
                <a:lnTo>
                  <a:pt x="693655" y="94461"/>
                </a:lnTo>
                <a:lnTo>
                  <a:pt x="692859" y="95148"/>
                </a:lnTo>
                <a:lnTo>
                  <a:pt x="692029" y="95795"/>
                </a:lnTo>
                <a:lnTo>
                  <a:pt x="691169" y="96401"/>
                </a:lnTo>
                <a:lnTo>
                  <a:pt x="690281" y="96963"/>
                </a:lnTo>
                <a:lnTo>
                  <a:pt x="689365" y="97482"/>
                </a:lnTo>
                <a:lnTo>
                  <a:pt x="688426" y="97955"/>
                </a:lnTo>
                <a:lnTo>
                  <a:pt x="687464" y="98381"/>
                </a:lnTo>
                <a:lnTo>
                  <a:pt x="686483" y="98760"/>
                </a:lnTo>
                <a:lnTo>
                  <a:pt x="685484" y="99090"/>
                </a:lnTo>
                <a:lnTo>
                  <a:pt x="684470" y="99370"/>
                </a:lnTo>
                <a:lnTo>
                  <a:pt x="683444" y="99601"/>
                </a:lnTo>
                <a:lnTo>
                  <a:pt x="682407" y="99781"/>
                </a:lnTo>
                <a:lnTo>
                  <a:pt x="681363" y="99909"/>
                </a:lnTo>
                <a:lnTo>
                  <a:pt x="680314" y="99987"/>
                </a:lnTo>
                <a:lnTo>
                  <a:pt x="679263" y="100013"/>
                </a:lnTo>
                <a:lnTo>
                  <a:pt x="0" y="100013"/>
                </a:lnTo>
                <a:lnTo>
                  <a:pt x="0" y="0"/>
                </a:lnTo>
              </a:path>
            </a:pathLst>
          </a:custGeom>
          <a:solidFill>
            <a:srgbClr val="0071E3"/>
          </a:solidFill>
          <a:ln/>
        </p:spPr>
      </p:sp>
      <p:sp>
        <p:nvSpPr>
          <p:cNvPr id="36" name="Text 34"/>
          <p:cNvSpPr/>
          <p:nvPr/>
        </p:nvSpPr>
        <p:spPr>
          <a:xfrm>
            <a:off x="4057650" y="2482877"/>
            <a:ext cx="138303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1.8×10⁻⁷</a:t>
            </a:r>
            <a:endParaRPr lang="en-US" sz="788" dirty="0"/>
          </a:p>
        </p:txBody>
      </p:sp>
      <p:sp>
        <p:nvSpPr>
          <p:cNvPr id="37" name="Text 35"/>
          <p:cNvSpPr/>
          <p:nvPr/>
        </p:nvSpPr>
        <p:spPr>
          <a:xfrm>
            <a:off x="4057650" y="2755769"/>
            <a:ext cx="153304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8.70×10⁻⁶</a:t>
            </a:r>
            <a:endParaRPr lang="en-US" sz="788" dirty="0"/>
          </a:p>
        </p:txBody>
      </p:sp>
      <p:sp>
        <p:nvSpPr>
          <p:cNvPr id="38" name="Text 36"/>
          <p:cNvSpPr/>
          <p:nvPr/>
        </p:nvSpPr>
        <p:spPr>
          <a:xfrm>
            <a:off x="4057650" y="3028660"/>
            <a:ext cx="153304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1.70×10⁻⁵</a:t>
            </a:r>
            <a:endParaRPr lang="en-US" sz="788" dirty="0"/>
          </a:p>
        </p:txBody>
      </p:sp>
      <p:sp>
        <p:nvSpPr>
          <p:cNvPr id="39" name="Text 37"/>
          <p:cNvSpPr/>
          <p:nvPr/>
        </p:nvSpPr>
        <p:spPr>
          <a:xfrm>
            <a:off x="4057650" y="3301551"/>
            <a:ext cx="1082993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3×10⁻⁵</a:t>
            </a:r>
            <a:endParaRPr lang="en-US" sz="788" dirty="0"/>
          </a:p>
        </p:txBody>
      </p:sp>
      <p:sp>
        <p:nvSpPr>
          <p:cNvPr id="40" name="Text 38"/>
          <p:cNvSpPr/>
          <p:nvPr/>
        </p:nvSpPr>
        <p:spPr>
          <a:xfrm>
            <a:off x="4057650" y="3574443"/>
            <a:ext cx="1082993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4×10⁻⁴</a:t>
            </a:r>
            <a:endParaRPr lang="en-US" sz="788" dirty="0"/>
          </a:p>
        </p:txBody>
      </p:sp>
      <p:sp>
        <p:nvSpPr>
          <p:cNvPr id="41" name="Shape 39"/>
          <p:cNvSpPr/>
          <p:nvPr/>
        </p:nvSpPr>
        <p:spPr>
          <a:xfrm>
            <a:off x="4788043" y="1944886"/>
            <a:ext cx="4143375" cy="850106"/>
          </a:xfrm>
          <a:prstGeom prst="roundRect">
            <a:avLst>
              <a:gd name="adj" fmla="val 7231"/>
            </a:avLst>
          </a:prstGeom>
          <a:solidFill>
            <a:srgbClr val="F5F5F7"/>
          </a:solidFill>
          <a:ln/>
        </p:spPr>
      </p:sp>
      <p:sp>
        <p:nvSpPr>
          <p:cNvPr id="42" name="Shape 40"/>
          <p:cNvSpPr/>
          <p:nvPr/>
        </p:nvSpPr>
        <p:spPr>
          <a:xfrm>
            <a:off x="4904073" y="2265573"/>
            <a:ext cx="42863" cy="42863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43" name="Shape 41"/>
          <p:cNvSpPr/>
          <p:nvPr/>
        </p:nvSpPr>
        <p:spPr>
          <a:xfrm>
            <a:off x="4904073" y="2441377"/>
            <a:ext cx="42863" cy="42863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44" name="Shape 42"/>
          <p:cNvSpPr/>
          <p:nvPr/>
        </p:nvSpPr>
        <p:spPr>
          <a:xfrm>
            <a:off x="4904073" y="2617180"/>
            <a:ext cx="42863" cy="42863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45" name="Shape 43"/>
          <p:cNvSpPr/>
          <p:nvPr/>
        </p:nvSpPr>
        <p:spPr>
          <a:xfrm>
            <a:off x="4788043" y="2911022"/>
            <a:ext cx="4143375" cy="1357313"/>
          </a:xfrm>
          <a:prstGeom prst="roundRect">
            <a:avLst>
              <a:gd name="adj" fmla="val 2837"/>
            </a:avLst>
          </a:prstGeom>
          <a:solidFill>
            <a:srgbClr val="F5F5F7"/>
          </a:solidFill>
          <a:ln/>
        </p:spPr>
      </p:sp>
      <p:sp>
        <p:nvSpPr>
          <p:cNvPr id="46" name="Shape 44"/>
          <p:cNvSpPr/>
          <p:nvPr/>
        </p:nvSpPr>
        <p:spPr>
          <a:xfrm>
            <a:off x="4904073" y="3302422"/>
            <a:ext cx="42863" cy="42863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47" name="Shape 45"/>
          <p:cNvSpPr/>
          <p:nvPr/>
        </p:nvSpPr>
        <p:spPr>
          <a:xfrm>
            <a:off x="4904073" y="3478225"/>
            <a:ext cx="42863" cy="42863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48" name="Shape 46"/>
          <p:cNvSpPr/>
          <p:nvPr/>
        </p:nvSpPr>
        <p:spPr>
          <a:xfrm>
            <a:off x="4904073" y="3654028"/>
            <a:ext cx="42863" cy="42863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49" name="Shape 47"/>
          <p:cNvSpPr/>
          <p:nvPr/>
        </p:nvSpPr>
        <p:spPr>
          <a:xfrm>
            <a:off x="4904073" y="3829831"/>
            <a:ext cx="42863" cy="42863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50" name="Text 48"/>
          <p:cNvSpPr/>
          <p:nvPr/>
        </p:nvSpPr>
        <p:spPr>
          <a:xfrm>
            <a:off x="214313" y="501625"/>
            <a:ext cx="8715375" cy="2643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10 万次弯曲无衰减 = 中性层设计 × 多层复合阻隔封装</a:t>
            </a:r>
            <a:endParaRPr lang="en-US" sz="1900" dirty="0"/>
          </a:p>
        </p:txBody>
      </p:sp>
      <p:sp>
        <p:nvSpPr>
          <p:cNvPr id="51" name="Text 49"/>
          <p:cNvSpPr/>
          <p:nvPr/>
        </p:nvSpPr>
        <p:spPr>
          <a:xfrm>
            <a:off x="328613" y="1446442"/>
            <a:ext cx="2600325" cy="17859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2,000 次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28613" y="1653276"/>
            <a:ext cx="2600325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耐弯折循环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271838" y="1446442"/>
            <a:ext cx="2600325" cy="17859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10,000 次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3271838" y="1653276"/>
            <a:ext cx="2600325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循环后发光效率无明显损失、TFT 各层无裂纹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215063" y="1446442"/>
            <a:ext cx="2600325" cy="17859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1E3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100,000 次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215063" y="1653276"/>
            <a:ext cx="2600325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弯曲无衰减，高出公开基准 1–2 个数量级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213364" y="1943435"/>
            <a:ext cx="1785938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封装阻隔对标 · WVTR 公开实测水平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845737" y="1957667"/>
            <a:ext cx="714375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单位：g/m²·day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4902343" y="2031169"/>
            <a:ext cx="3914775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三条退化通道 · 须在同一叠层内同时压制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005369" y="2221316"/>
            <a:ext cx="1446324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裂纹与分层</a:t>
            </a:r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· 有机发光层与电极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5005815" y="2397119"/>
            <a:ext cx="1340310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暗点与效率衰减</a:t>
            </a:r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· 水汽氧侵入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005815" y="2572922"/>
            <a:ext cx="1340310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驱动电压漂移</a:t>
            </a:r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· 弯曲应力集中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4902343" y="3068017"/>
            <a:ext cx="3914775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系统级组合设计 · 协同而非分步优化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002411" y="3258164"/>
            <a:ext cx="2188416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中性层位置调控</a:t>
            </a:r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· 发光层与电极移至中性轴附近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5004978" y="3433967"/>
            <a:ext cx="3483292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无机-有机交替多层 TFE</a:t>
            </a:r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· 单层无机膜达不到阈值，交替叠层兼顾阻隔与柔韧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005313" y="3609770"/>
            <a:ext cx="3665029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UTG/CPI 盖板与支撑层</a:t>
            </a:r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· UTG 耐折 ≥20 万次、−20 ℃ 不脆化，CPI 约 8 万次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003806" y="3785574"/>
            <a:ext cx="2809351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弯曲区走线应变隔离</a:t>
            </a:r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· 水滴铰链半径由 1.5 mm 放大到 3 mm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4902343" y="3975664"/>
            <a:ext cx="3914775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边界条件：面板约 0.3 mm、寿命约 30,000 h、工作温度 −40~85 ℃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214313" y="4664869"/>
            <a:ext cx="871537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数据来源：Springer 柔性封装可靠性综述 · ACS AMI 混合 TFE · PMC 多功能封装膜综述 · MDPI Micromachines · OFweek 显示 · 搜狐 UTG 与 CPI 对比 · 团队自有成果</a:t>
            </a:r>
            <a:endParaRPr lang="en-US" sz="700" dirty="0"/>
          </a:p>
        </p:txBody>
      </p:sp>
      <p:sp>
        <p:nvSpPr>
          <p:cNvPr id="65535" name="wm:hwcld:2026-09-22T19:07:46:581b05d5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2" y="853232"/>
            <a:ext cx="285750" cy="7144"/>
          </a:xfrm>
          <a:prstGeom prst="rect">
            <a:avLst/>
          </a:prstGeom>
          <a:solidFill>
            <a:srgbClr val="1D1D1F"/>
          </a:solidFill>
          <a:ln/>
        </p:spPr>
      </p:sp>
      <p:sp>
        <p:nvSpPr>
          <p:cNvPr id="4" name="Shape 2"/>
          <p:cNvSpPr/>
          <p:nvPr/>
        </p:nvSpPr>
        <p:spPr>
          <a:xfrm>
            <a:off x="1346597" y="1943546"/>
            <a:ext cx="0" cy="1928812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46684" y="1943546"/>
            <a:ext cx="0" cy="1928812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6772" y="1943546"/>
            <a:ext cx="0" cy="1928812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46859" y="1943546"/>
            <a:ext cx="0" cy="1928812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46947" y="1943546"/>
            <a:ext cx="0" cy="1928812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46597" y="1943546"/>
            <a:ext cx="0" cy="1928812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2614" y="4030235"/>
            <a:ext cx="138303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循环次数（万次）</a:t>
            </a:r>
            <a:endParaRPr lang="en-US" sz="788" dirty="0"/>
          </a:p>
        </p:txBody>
      </p:sp>
      <p:sp>
        <p:nvSpPr>
          <p:cNvPr id="11" name="Text 9"/>
          <p:cNvSpPr/>
          <p:nvPr/>
        </p:nvSpPr>
        <p:spPr>
          <a:xfrm>
            <a:off x="-1895523" y="1979980"/>
            <a:ext cx="31832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伯恩 30μm UTG · R0.4mm</a:t>
            </a:r>
            <a:endParaRPr lang="en-US" sz="788" dirty="0"/>
          </a:p>
        </p:txBody>
      </p:sp>
      <p:sp>
        <p:nvSpPr>
          <p:cNvPr id="12" name="Text 10"/>
          <p:cNvSpPr/>
          <p:nvPr/>
        </p:nvSpPr>
        <p:spPr>
          <a:xfrm>
            <a:off x="-1895523" y="2172861"/>
            <a:ext cx="31832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华为 nova Flip S · SGS</a:t>
            </a:r>
            <a:endParaRPr lang="en-US" sz="788" dirty="0"/>
          </a:p>
        </p:txBody>
      </p:sp>
      <p:sp>
        <p:nvSpPr>
          <p:cNvPr id="13" name="Text 11"/>
          <p:cNvSpPr/>
          <p:nvPr/>
        </p:nvSpPr>
        <p:spPr>
          <a:xfrm>
            <a:off x="-695373" y="2365742"/>
            <a:ext cx="198310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荣耀鲁班铰链 · SGS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-1145430" y="2558623"/>
            <a:ext cx="243316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BOE 柔性 OLED 宣称值</a:t>
            </a:r>
            <a:endParaRPr lang="en-US" sz="788" dirty="0"/>
          </a:p>
        </p:txBody>
      </p:sp>
      <p:sp>
        <p:nvSpPr>
          <p:cNvPr id="15" name="Text 13"/>
          <p:cNvSpPr/>
          <p:nvPr/>
        </p:nvSpPr>
        <p:spPr>
          <a:xfrm>
            <a:off x="-695373" y="2751505"/>
            <a:ext cx="198310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折叠屏国标 · 常温内折</a:t>
            </a:r>
            <a:endParaRPr lang="en-US" sz="788" dirty="0"/>
          </a:p>
        </p:txBody>
      </p:sp>
      <p:sp>
        <p:nvSpPr>
          <p:cNvPr id="16" name="Text 14"/>
          <p:cNvSpPr/>
          <p:nvPr/>
        </p:nvSpPr>
        <p:spPr>
          <a:xfrm>
            <a:off x="-845392" y="2944385"/>
            <a:ext cx="213312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普通 UTG 盖板折痕起点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-1745505" y="3137266"/>
            <a:ext cx="30332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BOE × 荣耀 Magic V 内屏</a:t>
            </a:r>
            <a:endParaRPr lang="en-US" sz="788" dirty="0"/>
          </a:p>
        </p:txBody>
      </p:sp>
      <p:sp>
        <p:nvSpPr>
          <p:cNvPr id="18" name="Text 16"/>
          <p:cNvSpPr/>
          <p:nvPr/>
        </p:nvSpPr>
        <p:spPr>
          <a:xfrm>
            <a:off x="-2045542" y="3330148"/>
            <a:ext cx="33332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BOE × 华硕 Zenbook Fold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-845392" y="3523029"/>
            <a:ext cx="213312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本团队柔性 OLED 器件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-845392" y="3715910"/>
            <a:ext cx="213312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折叠屏国标 · 高低温循环</a:t>
            </a:r>
            <a:endParaRPr lang="en-US" sz="788" dirty="0"/>
          </a:p>
        </p:txBody>
      </p:sp>
      <p:sp>
        <p:nvSpPr>
          <p:cNvPr id="21" name="Text 19"/>
          <p:cNvSpPr/>
          <p:nvPr/>
        </p:nvSpPr>
        <p:spPr>
          <a:xfrm>
            <a:off x="1178432" y="3912364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0</a:t>
            </a:r>
            <a:endParaRPr lang="en-US" sz="788" dirty="0"/>
          </a:p>
        </p:txBody>
      </p:sp>
      <p:sp>
        <p:nvSpPr>
          <p:cNvPr id="22" name="Text 20"/>
          <p:cNvSpPr/>
          <p:nvPr/>
        </p:nvSpPr>
        <p:spPr>
          <a:xfrm>
            <a:off x="1803047" y="3912364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50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2427661" y="3912364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100</a:t>
            </a:r>
            <a:endParaRPr lang="en-US" sz="788" dirty="0"/>
          </a:p>
        </p:txBody>
      </p:sp>
      <p:sp>
        <p:nvSpPr>
          <p:cNvPr id="24" name="Text 22"/>
          <p:cNvSpPr/>
          <p:nvPr/>
        </p:nvSpPr>
        <p:spPr>
          <a:xfrm>
            <a:off x="3127284" y="3912364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150</a:t>
            </a:r>
            <a:endParaRPr lang="en-US" sz="788" dirty="0"/>
          </a:p>
        </p:txBody>
      </p:sp>
      <p:sp>
        <p:nvSpPr>
          <p:cNvPr id="25" name="Text 23"/>
          <p:cNvSpPr/>
          <p:nvPr/>
        </p:nvSpPr>
        <p:spPr>
          <a:xfrm>
            <a:off x="3826907" y="3912364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200</a:t>
            </a:r>
            <a:endParaRPr lang="en-US" sz="788" dirty="0"/>
          </a:p>
        </p:txBody>
      </p:sp>
      <p:sp>
        <p:nvSpPr>
          <p:cNvPr id="26" name="Shape 24"/>
          <p:cNvSpPr/>
          <p:nvPr/>
        </p:nvSpPr>
        <p:spPr>
          <a:xfrm>
            <a:off x="1344882" y="3536602"/>
            <a:ext cx="139925" cy="92869"/>
          </a:xfrm>
          <a:custGeom>
            <a:avLst/>
            <a:gdLst/>
            <a:ahLst/>
            <a:cxnLst/>
            <a:rect l="l" t="t" r="r" b="b"/>
            <a:pathLst>
              <a:path w="139925" h="92869">
                <a:moveTo>
                  <a:pt x="0" y="0"/>
                </a:moveTo>
                <a:lnTo>
                  <a:pt x="139925" y="0"/>
                </a:lnTo>
                <a:lnTo>
                  <a:pt x="139925" y="92869"/>
                </a:lnTo>
                <a:lnTo>
                  <a:pt x="0" y="92869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7" name="Shape 25"/>
          <p:cNvSpPr/>
          <p:nvPr/>
        </p:nvSpPr>
        <p:spPr>
          <a:xfrm>
            <a:off x="1344882" y="1993553"/>
            <a:ext cx="2798493" cy="92869"/>
          </a:xfrm>
          <a:custGeom>
            <a:avLst/>
            <a:gdLst/>
            <a:ahLst/>
            <a:cxnLst/>
            <a:rect l="l" t="t" r="r" b="b"/>
            <a:pathLst>
              <a:path w="2798493" h="92869">
                <a:moveTo>
                  <a:pt x="0" y="0"/>
                </a:moveTo>
                <a:lnTo>
                  <a:pt x="2798493" y="0"/>
                </a:lnTo>
                <a:lnTo>
                  <a:pt x="2798493" y="92869"/>
                </a:lnTo>
                <a:lnTo>
                  <a:pt x="0" y="92869"/>
                </a:lnTo>
                <a:close/>
              </a:path>
            </a:pathLst>
          </a:custGeom>
          <a:solidFill>
            <a:srgbClr val="1D1D1F"/>
          </a:solidFill>
          <a:ln/>
        </p:spPr>
      </p:sp>
      <p:sp>
        <p:nvSpPr>
          <p:cNvPr id="28" name="Shape 26"/>
          <p:cNvSpPr/>
          <p:nvPr/>
        </p:nvSpPr>
        <p:spPr>
          <a:xfrm>
            <a:off x="1344882" y="2186434"/>
            <a:ext cx="1679096" cy="92869"/>
          </a:xfrm>
          <a:custGeom>
            <a:avLst/>
            <a:gdLst/>
            <a:ahLst/>
            <a:cxnLst/>
            <a:rect l="l" t="t" r="r" b="b"/>
            <a:pathLst>
              <a:path w="1679096" h="92869">
                <a:moveTo>
                  <a:pt x="0" y="0"/>
                </a:moveTo>
                <a:lnTo>
                  <a:pt x="1679096" y="0"/>
                </a:lnTo>
                <a:lnTo>
                  <a:pt x="1679096" y="92869"/>
                </a:lnTo>
                <a:lnTo>
                  <a:pt x="0" y="92869"/>
                </a:lnTo>
                <a:close/>
              </a:path>
            </a:pathLst>
          </a:custGeom>
          <a:solidFill>
            <a:srgbClr val="1D1D1F"/>
          </a:solidFill>
          <a:ln/>
        </p:spPr>
      </p:sp>
      <p:sp>
        <p:nvSpPr>
          <p:cNvPr id="29" name="Shape 27"/>
          <p:cNvSpPr/>
          <p:nvPr/>
        </p:nvSpPr>
        <p:spPr>
          <a:xfrm>
            <a:off x="1344882" y="2379315"/>
            <a:ext cx="699623" cy="92869"/>
          </a:xfrm>
          <a:custGeom>
            <a:avLst/>
            <a:gdLst/>
            <a:ahLst/>
            <a:cxnLst/>
            <a:rect l="l" t="t" r="r" b="b"/>
            <a:pathLst>
              <a:path w="699623" h="92869">
                <a:moveTo>
                  <a:pt x="0" y="0"/>
                </a:moveTo>
                <a:lnTo>
                  <a:pt x="699623" y="0"/>
                </a:lnTo>
                <a:lnTo>
                  <a:pt x="699623" y="92869"/>
                </a:lnTo>
                <a:lnTo>
                  <a:pt x="0" y="92869"/>
                </a:lnTo>
                <a:close/>
              </a:path>
            </a:pathLst>
          </a:custGeom>
          <a:solidFill>
            <a:srgbClr val="1D1D1F"/>
          </a:solidFill>
          <a:ln/>
        </p:spPr>
      </p:sp>
      <p:sp>
        <p:nvSpPr>
          <p:cNvPr id="30" name="Shape 28"/>
          <p:cNvSpPr/>
          <p:nvPr/>
        </p:nvSpPr>
        <p:spPr>
          <a:xfrm>
            <a:off x="1344882" y="2572196"/>
            <a:ext cx="699623" cy="92869"/>
          </a:xfrm>
          <a:custGeom>
            <a:avLst/>
            <a:gdLst/>
            <a:ahLst/>
            <a:cxnLst/>
            <a:rect l="l" t="t" r="r" b="b"/>
            <a:pathLst>
              <a:path w="699623" h="92869">
                <a:moveTo>
                  <a:pt x="0" y="0"/>
                </a:moveTo>
                <a:lnTo>
                  <a:pt x="699623" y="0"/>
                </a:lnTo>
                <a:lnTo>
                  <a:pt x="699623" y="92869"/>
                </a:lnTo>
                <a:lnTo>
                  <a:pt x="0" y="92869"/>
                </a:lnTo>
                <a:close/>
              </a:path>
            </a:pathLst>
          </a:custGeom>
          <a:solidFill>
            <a:srgbClr val="1D1D1F"/>
          </a:solidFill>
          <a:ln/>
        </p:spPr>
      </p:sp>
      <p:sp>
        <p:nvSpPr>
          <p:cNvPr id="31" name="Shape 29"/>
          <p:cNvSpPr/>
          <p:nvPr/>
        </p:nvSpPr>
        <p:spPr>
          <a:xfrm>
            <a:off x="1344882" y="2765078"/>
            <a:ext cx="279849" cy="92869"/>
          </a:xfrm>
          <a:custGeom>
            <a:avLst/>
            <a:gdLst/>
            <a:ahLst/>
            <a:cxnLst/>
            <a:rect l="l" t="t" r="r" b="b"/>
            <a:pathLst>
              <a:path w="279849" h="92869">
                <a:moveTo>
                  <a:pt x="0" y="0"/>
                </a:moveTo>
                <a:lnTo>
                  <a:pt x="279849" y="0"/>
                </a:lnTo>
                <a:lnTo>
                  <a:pt x="279849" y="92869"/>
                </a:lnTo>
                <a:lnTo>
                  <a:pt x="0" y="92869"/>
                </a:lnTo>
                <a:close/>
              </a:path>
            </a:pathLst>
          </a:custGeom>
          <a:solidFill>
            <a:srgbClr val="1D1D1F"/>
          </a:solidFill>
          <a:ln/>
        </p:spPr>
      </p:sp>
      <p:sp>
        <p:nvSpPr>
          <p:cNvPr id="32" name="Shape 30"/>
          <p:cNvSpPr/>
          <p:nvPr/>
        </p:nvSpPr>
        <p:spPr>
          <a:xfrm>
            <a:off x="1344882" y="2957958"/>
            <a:ext cx="279849" cy="92869"/>
          </a:xfrm>
          <a:custGeom>
            <a:avLst/>
            <a:gdLst/>
            <a:ahLst/>
            <a:cxnLst/>
            <a:rect l="l" t="t" r="r" b="b"/>
            <a:pathLst>
              <a:path w="279849" h="92869">
                <a:moveTo>
                  <a:pt x="0" y="0"/>
                </a:moveTo>
                <a:lnTo>
                  <a:pt x="279849" y="0"/>
                </a:lnTo>
                <a:lnTo>
                  <a:pt x="279849" y="92869"/>
                </a:lnTo>
                <a:lnTo>
                  <a:pt x="0" y="92869"/>
                </a:lnTo>
                <a:close/>
              </a:path>
            </a:pathLst>
          </a:custGeom>
          <a:solidFill>
            <a:srgbClr val="1D1D1F"/>
          </a:solidFill>
          <a:ln/>
        </p:spPr>
      </p:sp>
      <p:sp>
        <p:nvSpPr>
          <p:cNvPr id="33" name="Shape 31"/>
          <p:cNvSpPr/>
          <p:nvPr/>
        </p:nvSpPr>
        <p:spPr>
          <a:xfrm>
            <a:off x="1344882" y="3150840"/>
            <a:ext cx="279849" cy="92869"/>
          </a:xfrm>
          <a:custGeom>
            <a:avLst/>
            <a:gdLst/>
            <a:ahLst/>
            <a:cxnLst/>
            <a:rect l="l" t="t" r="r" b="b"/>
            <a:pathLst>
              <a:path w="279849" h="92869">
                <a:moveTo>
                  <a:pt x="0" y="0"/>
                </a:moveTo>
                <a:lnTo>
                  <a:pt x="279849" y="0"/>
                </a:lnTo>
                <a:lnTo>
                  <a:pt x="279849" y="92869"/>
                </a:lnTo>
                <a:lnTo>
                  <a:pt x="0" y="92869"/>
                </a:lnTo>
                <a:close/>
              </a:path>
            </a:pathLst>
          </a:custGeom>
          <a:solidFill>
            <a:srgbClr val="1D1D1F"/>
          </a:solidFill>
          <a:ln/>
        </p:spPr>
      </p:sp>
      <p:sp>
        <p:nvSpPr>
          <p:cNvPr id="34" name="Shape 32"/>
          <p:cNvSpPr/>
          <p:nvPr/>
        </p:nvSpPr>
        <p:spPr>
          <a:xfrm>
            <a:off x="1344882" y="3343721"/>
            <a:ext cx="139925" cy="92869"/>
          </a:xfrm>
          <a:custGeom>
            <a:avLst/>
            <a:gdLst/>
            <a:ahLst/>
            <a:cxnLst/>
            <a:rect l="l" t="t" r="r" b="b"/>
            <a:pathLst>
              <a:path w="139925" h="92869">
                <a:moveTo>
                  <a:pt x="0" y="0"/>
                </a:moveTo>
                <a:lnTo>
                  <a:pt x="139925" y="0"/>
                </a:lnTo>
                <a:lnTo>
                  <a:pt x="139925" y="92869"/>
                </a:lnTo>
                <a:lnTo>
                  <a:pt x="0" y="92869"/>
                </a:lnTo>
                <a:close/>
              </a:path>
            </a:pathLst>
          </a:custGeom>
          <a:solidFill>
            <a:srgbClr val="1D1D1F"/>
          </a:solidFill>
          <a:ln/>
        </p:spPr>
      </p:sp>
      <p:sp>
        <p:nvSpPr>
          <p:cNvPr id="35" name="Shape 33"/>
          <p:cNvSpPr/>
          <p:nvPr/>
        </p:nvSpPr>
        <p:spPr>
          <a:xfrm>
            <a:off x="1344882" y="3729483"/>
            <a:ext cx="69962" cy="92869"/>
          </a:xfrm>
          <a:custGeom>
            <a:avLst/>
            <a:gdLst/>
            <a:ahLst/>
            <a:cxnLst/>
            <a:rect l="l" t="t" r="r" b="b"/>
            <a:pathLst>
              <a:path w="69962" h="92869">
                <a:moveTo>
                  <a:pt x="0" y="0"/>
                </a:moveTo>
                <a:lnTo>
                  <a:pt x="69962" y="0"/>
                </a:lnTo>
                <a:lnTo>
                  <a:pt x="69962" y="92869"/>
                </a:lnTo>
                <a:lnTo>
                  <a:pt x="0" y="92869"/>
                </a:lnTo>
                <a:close/>
              </a:path>
            </a:pathLst>
          </a:custGeom>
          <a:solidFill>
            <a:srgbClr val="1D1D1F"/>
          </a:solidFill>
          <a:ln/>
        </p:spPr>
      </p:sp>
      <p:sp>
        <p:nvSpPr>
          <p:cNvPr id="36" name="Text 34"/>
          <p:cNvSpPr/>
          <p:nvPr/>
        </p:nvSpPr>
        <p:spPr>
          <a:xfrm>
            <a:off x="1527670" y="3523029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0071E3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10万次</a:t>
            </a:r>
            <a:endParaRPr lang="en-US" sz="788" dirty="0"/>
          </a:p>
        </p:txBody>
      </p:sp>
      <p:sp>
        <p:nvSpPr>
          <p:cNvPr id="37" name="Text 35"/>
          <p:cNvSpPr/>
          <p:nvPr/>
        </p:nvSpPr>
        <p:spPr>
          <a:xfrm>
            <a:off x="4186238" y="1979980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200万次</a:t>
            </a:r>
            <a:endParaRPr lang="en-US" sz="788" dirty="0"/>
          </a:p>
        </p:txBody>
      </p:sp>
      <p:sp>
        <p:nvSpPr>
          <p:cNvPr id="38" name="Text 36"/>
          <p:cNvSpPr/>
          <p:nvPr/>
        </p:nvSpPr>
        <p:spPr>
          <a:xfrm>
            <a:off x="3066840" y="2172861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120万次</a:t>
            </a:r>
            <a:endParaRPr lang="en-US" sz="788" dirty="0"/>
          </a:p>
        </p:txBody>
      </p:sp>
      <p:sp>
        <p:nvSpPr>
          <p:cNvPr id="39" name="Text 37"/>
          <p:cNvSpPr/>
          <p:nvPr/>
        </p:nvSpPr>
        <p:spPr>
          <a:xfrm>
            <a:off x="2087368" y="2365742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50万次</a:t>
            </a:r>
            <a:endParaRPr lang="en-US" sz="788" dirty="0"/>
          </a:p>
        </p:txBody>
      </p:sp>
      <p:sp>
        <p:nvSpPr>
          <p:cNvPr id="40" name="Text 38"/>
          <p:cNvSpPr/>
          <p:nvPr/>
        </p:nvSpPr>
        <p:spPr>
          <a:xfrm>
            <a:off x="2087368" y="2558623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50万次</a:t>
            </a:r>
            <a:endParaRPr lang="en-US" sz="788" dirty="0"/>
          </a:p>
        </p:txBody>
      </p:sp>
      <p:sp>
        <p:nvSpPr>
          <p:cNvPr id="41" name="Text 39"/>
          <p:cNvSpPr/>
          <p:nvPr/>
        </p:nvSpPr>
        <p:spPr>
          <a:xfrm>
            <a:off x="1667594" y="2751505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20万次</a:t>
            </a:r>
            <a:endParaRPr lang="en-US" sz="788" dirty="0"/>
          </a:p>
        </p:txBody>
      </p:sp>
      <p:sp>
        <p:nvSpPr>
          <p:cNvPr id="42" name="Text 40"/>
          <p:cNvSpPr/>
          <p:nvPr/>
        </p:nvSpPr>
        <p:spPr>
          <a:xfrm>
            <a:off x="1667594" y="2944385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20万次</a:t>
            </a:r>
            <a:endParaRPr lang="en-US" sz="788" dirty="0"/>
          </a:p>
        </p:txBody>
      </p:sp>
      <p:sp>
        <p:nvSpPr>
          <p:cNvPr id="43" name="Text 41"/>
          <p:cNvSpPr/>
          <p:nvPr/>
        </p:nvSpPr>
        <p:spPr>
          <a:xfrm>
            <a:off x="1667594" y="3137266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20万次</a:t>
            </a:r>
            <a:endParaRPr lang="en-US" sz="788" dirty="0"/>
          </a:p>
        </p:txBody>
      </p:sp>
      <p:sp>
        <p:nvSpPr>
          <p:cNvPr id="44" name="Text 42"/>
          <p:cNvSpPr/>
          <p:nvPr/>
        </p:nvSpPr>
        <p:spPr>
          <a:xfrm>
            <a:off x="1527670" y="3330148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10万次</a:t>
            </a:r>
            <a:endParaRPr lang="en-US" sz="788" dirty="0"/>
          </a:p>
        </p:txBody>
      </p:sp>
      <p:sp>
        <p:nvSpPr>
          <p:cNvPr id="45" name="Text 43"/>
          <p:cNvSpPr/>
          <p:nvPr/>
        </p:nvSpPr>
        <p:spPr>
          <a:xfrm>
            <a:off x="1457707" y="3715910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5万次</a:t>
            </a:r>
            <a:endParaRPr lang="en-US" sz="788" dirty="0"/>
          </a:p>
        </p:txBody>
      </p:sp>
      <p:sp>
        <p:nvSpPr>
          <p:cNvPr id="46" name="Shape 44"/>
          <p:cNvSpPr/>
          <p:nvPr/>
        </p:nvSpPr>
        <p:spPr>
          <a:xfrm>
            <a:off x="214313" y="1700659"/>
            <a:ext cx="2471740" cy="164306"/>
          </a:xfrm>
          <a:custGeom>
            <a:avLst/>
            <a:gdLst/>
            <a:ahLst/>
            <a:cxnLst/>
            <a:rect l="l" t="t" r="r" b="b"/>
            <a:pathLst>
              <a:path w="2471740" h="164306">
                <a:moveTo>
                  <a:pt x="0" y="0"/>
                </a:moveTo>
                <a:lnTo>
                  <a:pt x="2471740" y="0"/>
                </a:lnTo>
                <a:lnTo>
                  <a:pt x="2471740" y="164306"/>
                </a:lnTo>
                <a:lnTo>
                  <a:pt x="0" y="164306"/>
                </a:lnTo>
                <a:close/>
              </a:path>
            </a:pathLst>
          </a:custGeom>
          <a:noFill/>
          <a:ln/>
        </p:spPr>
      </p:sp>
      <p:sp>
        <p:nvSpPr>
          <p:cNvPr id="47" name="Shape 45"/>
          <p:cNvSpPr/>
          <p:nvPr/>
        </p:nvSpPr>
        <p:spPr>
          <a:xfrm>
            <a:off x="250031" y="1739950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21431" y="0"/>
                </a:moveTo>
                <a:lnTo>
                  <a:pt x="64294" y="0"/>
                </a:lnTo>
                <a:lnTo>
                  <a:pt x="65345" y="26"/>
                </a:lnTo>
                <a:lnTo>
                  <a:pt x="66394" y="103"/>
                </a:lnTo>
                <a:lnTo>
                  <a:pt x="67438" y="232"/>
                </a:lnTo>
                <a:lnTo>
                  <a:pt x="68475" y="412"/>
                </a:lnTo>
                <a:lnTo>
                  <a:pt x="69501" y="642"/>
                </a:lnTo>
                <a:lnTo>
                  <a:pt x="70515" y="923"/>
                </a:lnTo>
                <a:lnTo>
                  <a:pt x="71514" y="1253"/>
                </a:lnTo>
                <a:lnTo>
                  <a:pt x="72495" y="1631"/>
                </a:lnTo>
                <a:lnTo>
                  <a:pt x="73457" y="2058"/>
                </a:lnTo>
                <a:lnTo>
                  <a:pt x="74396" y="2531"/>
                </a:lnTo>
                <a:lnTo>
                  <a:pt x="75312" y="3049"/>
                </a:lnTo>
                <a:lnTo>
                  <a:pt x="76200" y="3612"/>
                </a:lnTo>
                <a:lnTo>
                  <a:pt x="77060" y="4218"/>
                </a:lnTo>
                <a:lnTo>
                  <a:pt x="77890" y="4865"/>
                </a:lnTo>
                <a:lnTo>
                  <a:pt x="78686" y="5552"/>
                </a:lnTo>
                <a:lnTo>
                  <a:pt x="79448" y="6277"/>
                </a:lnTo>
                <a:lnTo>
                  <a:pt x="80173" y="7039"/>
                </a:lnTo>
                <a:lnTo>
                  <a:pt x="80860" y="7835"/>
                </a:lnTo>
                <a:lnTo>
                  <a:pt x="81507" y="8665"/>
                </a:lnTo>
                <a:lnTo>
                  <a:pt x="82113" y="9525"/>
                </a:lnTo>
                <a:lnTo>
                  <a:pt x="82676" y="10413"/>
                </a:lnTo>
                <a:lnTo>
                  <a:pt x="83194" y="11329"/>
                </a:lnTo>
                <a:lnTo>
                  <a:pt x="83667" y="12268"/>
                </a:lnTo>
                <a:lnTo>
                  <a:pt x="84094" y="13230"/>
                </a:lnTo>
                <a:lnTo>
                  <a:pt x="84472" y="14211"/>
                </a:lnTo>
                <a:lnTo>
                  <a:pt x="84802" y="15210"/>
                </a:lnTo>
                <a:lnTo>
                  <a:pt x="85083" y="16224"/>
                </a:lnTo>
                <a:lnTo>
                  <a:pt x="85313" y="17250"/>
                </a:lnTo>
                <a:lnTo>
                  <a:pt x="85493" y="18287"/>
                </a:lnTo>
                <a:lnTo>
                  <a:pt x="85622" y="19331"/>
                </a:lnTo>
                <a:lnTo>
                  <a:pt x="85699" y="20380"/>
                </a:lnTo>
                <a:lnTo>
                  <a:pt x="85725" y="21431"/>
                </a:lnTo>
                <a:lnTo>
                  <a:pt x="85725" y="64294"/>
                </a:lnTo>
                <a:lnTo>
                  <a:pt x="85699" y="65345"/>
                </a:lnTo>
                <a:lnTo>
                  <a:pt x="85622" y="66394"/>
                </a:lnTo>
                <a:lnTo>
                  <a:pt x="85493" y="67438"/>
                </a:lnTo>
                <a:lnTo>
                  <a:pt x="85313" y="68475"/>
                </a:lnTo>
                <a:lnTo>
                  <a:pt x="85083" y="69501"/>
                </a:lnTo>
                <a:lnTo>
                  <a:pt x="84802" y="70515"/>
                </a:lnTo>
                <a:lnTo>
                  <a:pt x="84472" y="71514"/>
                </a:lnTo>
                <a:lnTo>
                  <a:pt x="84094" y="72495"/>
                </a:lnTo>
                <a:lnTo>
                  <a:pt x="83667" y="73457"/>
                </a:lnTo>
                <a:lnTo>
                  <a:pt x="83194" y="74396"/>
                </a:lnTo>
                <a:lnTo>
                  <a:pt x="82676" y="75312"/>
                </a:lnTo>
                <a:lnTo>
                  <a:pt x="82113" y="76200"/>
                </a:lnTo>
                <a:lnTo>
                  <a:pt x="81507" y="77060"/>
                </a:lnTo>
                <a:lnTo>
                  <a:pt x="80860" y="77890"/>
                </a:lnTo>
                <a:lnTo>
                  <a:pt x="80173" y="78686"/>
                </a:lnTo>
                <a:lnTo>
                  <a:pt x="79448" y="79448"/>
                </a:lnTo>
                <a:lnTo>
                  <a:pt x="78686" y="80173"/>
                </a:lnTo>
                <a:lnTo>
                  <a:pt x="77890" y="80860"/>
                </a:lnTo>
                <a:lnTo>
                  <a:pt x="77060" y="81507"/>
                </a:lnTo>
                <a:lnTo>
                  <a:pt x="76200" y="82113"/>
                </a:lnTo>
                <a:lnTo>
                  <a:pt x="75312" y="82676"/>
                </a:lnTo>
                <a:lnTo>
                  <a:pt x="74396" y="83194"/>
                </a:lnTo>
                <a:lnTo>
                  <a:pt x="73457" y="83667"/>
                </a:lnTo>
                <a:lnTo>
                  <a:pt x="72495" y="84094"/>
                </a:lnTo>
                <a:lnTo>
                  <a:pt x="71514" y="84472"/>
                </a:lnTo>
                <a:lnTo>
                  <a:pt x="70515" y="84802"/>
                </a:lnTo>
                <a:lnTo>
                  <a:pt x="69501" y="85083"/>
                </a:lnTo>
                <a:lnTo>
                  <a:pt x="68475" y="85313"/>
                </a:lnTo>
                <a:lnTo>
                  <a:pt x="67438" y="85493"/>
                </a:lnTo>
                <a:lnTo>
                  <a:pt x="66394" y="85622"/>
                </a:lnTo>
                <a:lnTo>
                  <a:pt x="65345" y="85699"/>
                </a:lnTo>
                <a:lnTo>
                  <a:pt x="64294" y="85725"/>
                </a:lnTo>
                <a:lnTo>
                  <a:pt x="21431" y="85725"/>
                </a:lnTo>
                <a:lnTo>
                  <a:pt x="20380" y="85699"/>
                </a:lnTo>
                <a:lnTo>
                  <a:pt x="19331" y="85622"/>
                </a:lnTo>
                <a:lnTo>
                  <a:pt x="18287" y="85493"/>
                </a:lnTo>
                <a:lnTo>
                  <a:pt x="17250" y="85313"/>
                </a:lnTo>
                <a:lnTo>
                  <a:pt x="16224" y="85083"/>
                </a:lnTo>
                <a:lnTo>
                  <a:pt x="15210" y="84802"/>
                </a:lnTo>
                <a:lnTo>
                  <a:pt x="14211" y="84472"/>
                </a:lnTo>
                <a:lnTo>
                  <a:pt x="13230" y="84094"/>
                </a:lnTo>
                <a:lnTo>
                  <a:pt x="12268" y="83667"/>
                </a:lnTo>
                <a:lnTo>
                  <a:pt x="11329" y="83194"/>
                </a:lnTo>
                <a:lnTo>
                  <a:pt x="10413" y="82676"/>
                </a:lnTo>
                <a:lnTo>
                  <a:pt x="9525" y="82113"/>
                </a:lnTo>
                <a:lnTo>
                  <a:pt x="8665" y="81507"/>
                </a:lnTo>
                <a:lnTo>
                  <a:pt x="7835" y="80860"/>
                </a:lnTo>
                <a:lnTo>
                  <a:pt x="7039" y="80173"/>
                </a:lnTo>
                <a:lnTo>
                  <a:pt x="6277" y="79448"/>
                </a:lnTo>
                <a:lnTo>
                  <a:pt x="5552" y="78686"/>
                </a:lnTo>
                <a:lnTo>
                  <a:pt x="4865" y="77890"/>
                </a:lnTo>
                <a:lnTo>
                  <a:pt x="4218" y="77060"/>
                </a:lnTo>
                <a:lnTo>
                  <a:pt x="3612" y="76200"/>
                </a:lnTo>
                <a:lnTo>
                  <a:pt x="3049" y="75312"/>
                </a:lnTo>
                <a:lnTo>
                  <a:pt x="2531" y="74396"/>
                </a:lnTo>
                <a:lnTo>
                  <a:pt x="2058" y="73457"/>
                </a:lnTo>
                <a:lnTo>
                  <a:pt x="1631" y="72495"/>
                </a:lnTo>
                <a:lnTo>
                  <a:pt x="1253" y="71514"/>
                </a:lnTo>
                <a:lnTo>
                  <a:pt x="923" y="70515"/>
                </a:lnTo>
                <a:lnTo>
                  <a:pt x="642" y="69501"/>
                </a:lnTo>
                <a:lnTo>
                  <a:pt x="412" y="68475"/>
                </a:lnTo>
                <a:lnTo>
                  <a:pt x="232" y="67438"/>
                </a:lnTo>
                <a:lnTo>
                  <a:pt x="103" y="66394"/>
                </a:lnTo>
                <a:lnTo>
                  <a:pt x="26" y="65345"/>
                </a:lnTo>
                <a:lnTo>
                  <a:pt x="0" y="64294"/>
                </a:lnTo>
                <a:lnTo>
                  <a:pt x="0" y="21431"/>
                </a:lnTo>
                <a:lnTo>
                  <a:pt x="26" y="20380"/>
                </a:lnTo>
                <a:lnTo>
                  <a:pt x="103" y="19331"/>
                </a:lnTo>
                <a:lnTo>
                  <a:pt x="232" y="18287"/>
                </a:lnTo>
                <a:lnTo>
                  <a:pt x="412" y="17250"/>
                </a:lnTo>
                <a:lnTo>
                  <a:pt x="642" y="16224"/>
                </a:lnTo>
                <a:lnTo>
                  <a:pt x="923" y="15210"/>
                </a:lnTo>
                <a:lnTo>
                  <a:pt x="1253" y="14211"/>
                </a:lnTo>
                <a:lnTo>
                  <a:pt x="1631" y="13230"/>
                </a:lnTo>
                <a:lnTo>
                  <a:pt x="2058" y="12268"/>
                </a:lnTo>
                <a:lnTo>
                  <a:pt x="2531" y="11329"/>
                </a:lnTo>
                <a:lnTo>
                  <a:pt x="3049" y="10413"/>
                </a:lnTo>
                <a:lnTo>
                  <a:pt x="3612" y="9525"/>
                </a:lnTo>
                <a:lnTo>
                  <a:pt x="4218" y="8665"/>
                </a:lnTo>
                <a:lnTo>
                  <a:pt x="4865" y="7835"/>
                </a:lnTo>
                <a:lnTo>
                  <a:pt x="5552" y="7039"/>
                </a:lnTo>
                <a:lnTo>
                  <a:pt x="6277" y="6277"/>
                </a:lnTo>
                <a:lnTo>
                  <a:pt x="7039" y="5552"/>
                </a:lnTo>
                <a:lnTo>
                  <a:pt x="7835" y="4865"/>
                </a:lnTo>
                <a:lnTo>
                  <a:pt x="8665" y="4218"/>
                </a:lnTo>
                <a:lnTo>
                  <a:pt x="9525" y="3612"/>
                </a:lnTo>
                <a:lnTo>
                  <a:pt x="10413" y="3049"/>
                </a:lnTo>
                <a:lnTo>
                  <a:pt x="11329" y="2531"/>
                </a:lnTo>
                <a:lnTo>
                  <a:pt x="12268" y="2058"/>
                </a:lnTo>
                <a:lnTo>
                  <a:pt x="13230" y="1631"/>
                </a:lnTo>
                <a:lnTo>
                  <a:pt x="14211" y="1253"/>
                </a:lnTo>
                <a:lnTo>
                  <a:pt x="15210" y="923"/>
                </a:lnTo>
                <a:lnTo>
                  <a:pt x="16224" y="642"/>
                </a:lnTo>
                <a:lnTo>
                  <a:pt x="17250" y="412"/>
                </a:lnTo>
                <a:lnTo>
                  <a:pt x="18287" y="232"/>
                </a:lnTo>
                <a:lnTo>
                  <a:pt x="19331" y="103"/>
                </a:lnTo>
                <a:lnTo>
                  <a:pt x="20380" y="26"/>
                </a:lnTo>
                <a:lnTo>
                  <a:pt x="21431" y="0"/>
                </a:lnTo>
              </a:path>
            </a:pathLst>
          </a:custGeom>
          <a:solidFill>
            <a:srgbClr val="0071E3"/>
          </a:solidFill>
          <a:ln/>
        </p:spPr>
      </p:sp>
      <p:sp>
        <p:nvSpPr>
          <p:cNvPr id="48" name="Text 46"/>
          <p:cNvSpPr/>
          <p:nvPr/>
        </p:nvSpPr>
        <p:spPr>
          <a:xfrm>
            <a:off x="371475" y="1722805"/>
            <a:ext cx="183308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本团队器件（自有数据）</a:t>
            </a:r>
            <a:endParaRPr lang="en-US" sz="788" dirty="0"/>
          </a:p>
        </p:txBody>
      </p:sp>
      <p:sp>
        <p:nvSpPr>
          <p:cNvPr id="49" name="Shape 47"/>
          <p:cNvSpPr/>
          <p:nvPr/>
        </p:nvSpPr>
        <p:spPr>
          <a:xfrm>
            <a:off x="250031" y="1736378"/>
            <a:ext cx="1143001" cy="92869"/>
          </a:xfrm>
          <a:custGeom>
            <a:avLst/>
            <a:gdLst/>
            <a:ahLst/>
            <a:cxnLst/>
            <a:rect l="l" t="t" r="r" b="b"/>
            <a:pathLst>
              <a:path w="1143001" h="92869">
                <a:moveTo>
                  <a:pt x="0" y="0"/>
                </a:moveTo>
                <a:lnTo>
                  <a:pt x="1143001" y="0"/>
                </a:lnTo>
                <a:lnTo>
                  <a:pt x="1143001" y="92869"/>
                </a:lnTo>
                <a:lnTo>
                  <a:pt x="0" y="92869"/>
                </a:lnTo>
                <a:close/>
              </a:path>
            </a:pathLst>
          </a:custGeom>
          <a:noFill/>
          <a:ln/>
        </p:spPr>
      </p:sp>
      <p:sp>
        <p:nvSpPr>
          <p:cNvPr id="50" name="Shape 48"/>
          <p:cNvSpPr/>
          <p:nvPr/>
        </p:nvSpPr>
        <p:spPr>
          <a:xfrm>
            <a:off x="1507333" y="1739950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21431" y="0"/>
                </a:moveTo>
                <a:lnTo>
                  <a:pt x="64294" y="0"/>
                </a:lnTo>
                <a:lnTo>
                  <a:pt x="65345" y="26"/>
                </a:lnTo>
                <a:lnTo>
                  <a:pt x="66394" y="103"/>
                </a:lnTo>
                <a:lnTo>
                  <a:pt x="67438" y="232"/>
                </a:lnTo>
                <a:lnTo>
                  <a:pt x="68475" y="412"/>
                </a:lnTo>
                <a:lnTo>
                  <a:pt x="69501" y="642"/>
                </a:lnTo>
                <a:lnTo>
                  <a:pt x="70515" y="923"/>
                </a:lnTo>
                <a:lnTo>
                  <a:pt x="71514" y="1253"/>
                </a:lnTo>
                <a:lnTo>
                  <a:pt x="72495" y="1631"/>
                </a:lnTo>
                <a:lnTo>
                  <a:pt x="73457" y="2058"/>
                </a:lnTo>
                <a:lnTo>
                  <a:pt x="74396" y="2531"/>
                </a:lnTo>
                <a:lnTo>
                  <a:pt x="75312" y="3049"/>
                </a:lnTo>
                <a:lnTo>
                  <a:pt x="76200" y="3612"/>
                </a:lnTo>
                <a:lnTo>
                  <a:pt x="77060" y="4218"/>
                </a:lnTo>
                <a:lnTo>
                  <a:pt x="77890" y="4865"/>
                </a:lnTo>
                <a:lnTo>
                  <a:pt x="78686" y="5552"/>
                </a:lnTo>
                <a:lnTo>
                  <a:pt x="79448" y="6277"/>
                </a:lnTo>
                <a:lnTo>
                  <a:pt x="80173" y="7039"/>
                </a:lnTo>
                <a:lnTo>
                  <a:pt x="80860" y="7835"/>
                </a:lnTo>
                <a:lnTo>
                  <a:pt x="81507" y="8665"/>
                </a:lnTo>
                <a:lnTo>
                  <a:pt x="82113" y="9525"/>
                </a:lnTo>
                <a:lnTo>
                  <a:pt x="82676" y="10413"/>
                </a:lnTo>
                <a:lnTo>
                  <a:pt x="83194" y="11329"/>
                </a:lnTo>
                <a:lnTo>
                  <a:pt x="83667" y="12268"/>
                </a:lnTo>
                <a:lnTo>
                  <a:pt x="84094" y="13230"/>
                </a:lnTo>
                <a:lnTo>
                  <a:pt x="84472" y="14211"/>
                </a:lnTo>
                <a:lnTo>
                  <a:pt x="84802" y="15210"/>
                </a:lnTo>
                <a:lnTo>
                  <a:pt x="85083" y="16224"/>
                </a:lnTo>
                <a:lnTo>
                  <a:pt x="85313" y="17250"/>
                </a:lnTo>
                <a:lnTo>
                  <a:pt x="85493" y="18287"/>
                </a:lnTo>
                <a:lnTo>
                  <a:pt x="85622" y="19331"/>
                </a:lnTo>
                <a:lnTo>
                  <a:pt x="85699" y="20380"/>
                </a:lnTo>
                <a:lnTo>
                  <a:pt x="85725" y="21431"/>
                </a:lnTo>
                <a:lnTo>
                  <a:pt x="85725" y="64294"/>
                </a:lnTo>
                <a:lnTo>
                  <a:pt x="85699" y="65345"/>
                </a:lnTo>
                <a:lnTo>
                  <a:pt x="85622" y="66394"/>
                </a:lnTo>
                <a:lnTo>
                  <a:pt x="85493" y="67438"/>
                </a:lnTo>
                <a:lnTo>
                  <a:pt x="85313" y="68475"/>
                </a:lnTo>
                <a:lnTo>
                  <a:pt x="85083" y="69501"/>
                </a:lnTo>
                <a:lnTo>
                  <a:pt x="84802" y="70515"/>
                </a:lnTo>
                <a:lnTo>
                  <a:pt x="84472" y="71514"/>
                </a:lnTo>
                <a:lnTo>
                  <a:pt x="84094" y="72495"/>
                </a:lnTo>
                <a:lnTo>
                  <a:pt x="83667" y="73457"/>
                </a:lnTo>
                <a:lnTo>
                  <a:pt x="83194" y="74396"/>
                </a:lnTo>
                <a:lnTo>
                  <a:pt x="82676" y="75312"/>
                </a:lnTo>
                <a:lnTo>
                  <a:pt x="82113" y="76200"/>
                </a:lnTo>
                <a:lnTo>
                  <a:pt x="81507" y="77060"/>
                </a:lnTo>
                <a:lnTo>
                  <a:pt x="80860" y="77890"/>
                </a:lnTo>
                <a:lnTo>
                  <a:pt x="80173" y="78686"/>
                </a:lnTo>
                <a:lnTo>
                  <a:pt x="79448" y="79448"/>
                </a:lnTo>
                <a:lnTo>
                  <a:pt x="78686" y="80173"/>
                </a:lnTo>
                <a:lnTo>
                  <a:pt x="77890" y="80860"/>
                </a:lnTo>
                <a:lnTo>
                  <a:pt x="77060" y="81507"/>
                </a:lnTo>
                <a:lnTo>
                  <a:pt x="76200" y="82113"/>
                </a:lnTo>
                <a:lnTo>
                  <a:pt x="75312" y="82676"/>
                </a:lnTo>
                <a:lnTo>
                  <a:pt x="74396" y="83194"/>
                </a:lnTo>
                <a:lnTo>
                  <a:pt x="73457" y="83667"/>
                </a:lnTo>
                <a:lnTo>
                  <a:pt x="72495" y="84094"/>
                </a:lnTo>
                <a:lnTo>
                  <a:pt x="71514" y="84472"/>
                </a:lnTo>
                <a:lnTo>
                  <a:pt x="70515" y="84802"/>
                </a:lnTo>
                <a:lnTo>
                  <a:pt x="69501" y="85083"/>
                </a:lnTo>
                <a:lnTo>
                  <a:pt x="68475" y="85313"/>
                </a:lnTo>
                <a:lnTo>
                  <a:pt x="67438" y="85493"/>
                </a:lnTo>
                <a:lnTo>
                  <a:pt x="66394" y="85622"/>
                </a:lnTo>
                <a:lnTo>
                  <a:pt x="65345" y="85699"/>
                </a:lnTo>
                <a:lnTo>
                  <a:pt x="64294" y="85725"/>
                </a:lnTo>
                <a:lnTo>
                  <a:pt x="21431" y="85725"/>
                </a:lnTo>
                <a:lnTo>
                  <a:pt x="20380" y="85699"/>
                </a:lnTo>
                <a:lnTo>
                  <a:pt x="19331" y="85622"/>
                </a:lnTo>
                <a:lnTo>
                  <a:pt x="18287" y="85493"/>
                </a:lnTo>
                <a:lnTo>
                  <a:pt x="17250" y="85313"/>
                </a:lnTo>
                <a:lnTo>
                  <a:pt x="16224" y="85083"/>
                </a:lnTo>
                <a:lnTo>
                  <a:pt x="15210" y="84802"/>
                </a:lnTo>
                <a:lnTo>
                  <a:pt x="14211" y="84472"/>
                </a:lnTo>
                <a:lnTo>
                  <a:pt x="13230" y="84094"/>
                </a:lnTo>
                <a:lnTo>
                  <a:pt x="12268" y="83667"/>
                </a:lnTo>
                <a:lnTo>
                  <a:pt x="11329" y="83194"/>
                </a:lnTo>
                <a:lnTo>
                  <a:pt x="10413" y="82676"/>
                </a:lnTo>
                <a:lnTo>
                  <a:pt x="9525" y="82113"/>
                </a:lnTo>
                <a:lnTo>
                  <a:pt x="8665" y="81507"/>
                </a:lnTo>
                <a:lnTo>
                  <a:pt x="7835" y="80860"/>
                </a:lnTo>
                <a:lnTo>
                  <a:pt x="7039" y="80173"/>
                </a:lnTo>
                <a:lnTo>
                  <a:pt x="6277" y="79448"/>
                </a:lnTo>
                <a:lnTo>
                  <a:pt x="5552" y="78686"/>
                </a:lnTo>
                <a:lnTo>
                  <a:pt x="4865" y="77890"/>
                </a:lnTo>
                <a:lnTo>
                  <a:pt x="4218" y="77060"/>
                </a:lnTo>
                <a:lnTo>
                  <a:pt x="3612" y="76200"/>
                </a:lnTo>
                <a:lnTo>
                  <a:pt x="3049" y="75312"/>
                </a:lnTo>
                <a:lnTo>
                  <a:pt x="2531" y="74396"/>
                </a:lnTo>
                <a:lnTo>
                  <a:pt x="2058" y="73457"/>
                </a:lnTo>
                <a:lnTo>
                  <a:pt x="1631" y="72495"/>
                </a:lnTo>
                <a:lnTo>
                  <a:pt x="1253" y="71514"/>
                </a:lnTo>
                <a:lnTo>
                  <a:pt x="923" y="70515"/>
                </a:lnTo>
                <a:lnTo>
                  <a:pt x="642" y="69501"/>
                </a:lnTo>
                <a:lnTo>
                  <a:pt x="412" y="68475"/>
                </a:lnTo>
                <a:lnTo>
                  <a:pt x="232" y="67438"/>
                </a:lnTo>
                <a:lnTo>
                  <a:pt x="103" y="66394"/>
                </a:lnTo>
                <a:lnTo>
                  <a:pt x="26" y="65345"/>
                </a:lnTo>
                <a:lnTo>
                  <a:pt x="0" y="64294"/>
                </a:lnTo>
                <a:lnTo>
                  <a:pt x="0" y="21431"/>
                </a:lnTo>
                <a:lnTo>
                  <a:pt x="26" y="20380"/>
                </a:lnTo>
                <a:lnTo>
                  <a:pt x="103" y="19331"/>
                </a:lnTo>
                <a:lnTo>
                  <a:pt x="232" y="18287"/>
                </a:lnTo>
                <a:lnTo>
                  <a:pt x="412" y="17250"/>
                </a:lnTo>
                <a:lnTo>
                  <a:pt x="642" y="16224"/>
                </a:lnTo>
                <a:lnTo>
                  <a:pt x="923" y="15210"/>
                </a:lnTo>
                <a:lnTo>
                  <a:pt x="1253" y="14211"/>
                </a:lnTo>
                <a:lnTo>
                  <a:pt x="1631" y="13230"/>
                </a:lnTo>
                <a:lnTo>
                  <a:pt x="2058" y="12268"/>
                </a:lnTo>
                <a:lnTo>
                  <a:pt x="2531" y="11329"/>
                </a:lnTo>
                <a:lnTo>
                  <a:pt x="3049" y="10413"/>
                </a:lnTo>
                <a:lnTo>
                  <a:pt x="3612" y="9525"/>
                </a:lnTo>
                <a:lnTo>
                  <a:pt x="4218" y="8665"/>
                </a:lnTo>
                <a:lnTo>
                  <a:pt x="4865" y="7835"/>
                </a:lnTo>
                <a:lnTo>
                  <a:pt x="5552" y="7039"/>
                </a:lnTo>
                <a:lnTo>
                  <a:pt x="6277" y="6277"/>
                </a:lnTo>
                <a:lnTo>
                  <a:pt x="7039" y="5552"/>
                </a:lnTo>
                <a:lnTo>
                  <a:pt x="7835" y="4865"/>
                </a:lnTo>
                <a:lnTo>
                  <a:pt x="8665" y="4218"/>
                </a:lnTo>
                <a:lnTo>
                  <a:pt x="9525" y="3612"/>
                </a:lnTo>
                <a:lnTo>
                  <a:pt x="10413" y="3049"/>
                </a:lnTo>
                <a:lnTo>
                  <a:pt x="11329" y="2531"/>
                </a:lnTo>
                <a:lnTo>
                  <a:pt x="12268" y="2058"/>
                </a:lnTo>
                <a:lnTo>
                  <a:pt x="13230" y="1631"/>
                </a:lnTo>
                <a:lnTo>
                  <a:pt x="14211" y="1253"/>
                </a:lnTo>
                <a:lnTo>
                  <a:pt x="15210" y="923"/>
                </a:lnTo>
                <a:lnTo>
                  <a:pt x="16224" y="642"/>
                </a:lnTo>
                <a:lnTo>
                  <a:pt x="17250" y="412"/>
                </a:lnTo>
                <a:lnTo>
                  <a:pt x="18287" y="232"/>
                </a:lnTo>
                <a:lnTo>
                  <a:pt x="19331" y="103"/>
                </a:lnTo>
                <a:lnTo>
                  <a:pt x="20380" y="26"/>
                </a:lnTo>
                <a:lnTo>
                  <a:pt x="21431" y="0"/>
                </a:lnTo>
              </a:path>
            </a:pathLst>
          </a:custGeom>
          <a:solidFill>
            <a:srgbClr val="1D1D1F"/>
          </a:solidFill>
          <a:ln/>
        </p:spPr>
      </p:sp>
      <p:sp>
        <p:nvSpPr>
          <p:cNvPr id="51" name="Text 49"/>
          <p:cNvSpPr/>
          <p:nvPr/>
        </p:nvSpPr>
        <p:spPr>
          <a:xfrm>
            <a:off x="1628776" y="1722805"/>
            <a:ext cx="183308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行业公开验证与认证门槛</a:t>
            </a:r>
            <a:endParaRPr lang="en-US" sz="788" dirty="0"/>
          </a:p>
        </p:txBody>
      </p:sp>
      <p:sp>
        <p:nvSpPr>
          <p:cNvPr id="52" name="Shape 50"/>
          <p:cNvSpPr/>
          <p:nvPr/>
        </p:nvSpPr>
        <p:spPr>
          <a:xfrm>
            <a:off x="1507333" y="1736378"/>
            <a:ext cx="1143001" cy="92869"/>
          </a:xfrm>
          <a:custGeom>
            <a:avLst/>
            <a:gdLst/>
            <a:ahLst/>
            <a:cxnLst/>
            <a:rect l="l" t="t" r="r" b="b"/>
            <a:pathLst>
              <a:path w="1143001" h="92869">
                <a:moveTo>
                  <a:pt x="0" y="0"/>
                </a:moveTo>
                <a:lnTo>
                  <a:pt x="1143001" y="0"/>
                </a:lnTo>
                <a:lnTo>
                  <a:pt x="1143001" y="92869"/>
                </a:lnTo>
                <a:lnTo>
                  <a:pt x="0" y="92869"/>
                </a:lnTo>
                <a:close/>
              </a:path>
            </a:pathLst>
          </a:custGeom>
          <a:noFill/>
          <a:ln/>
        </p:spPr>
      </p:sp>
      <p:sp>
        <p:nvSpPr>
          <p:cNvPr id="53" name="Shape 51"/>
          <p:cNvSpPr/>
          <p:nvPr/>
        </p:nvSpPr>
        <p:spPr>
          <a:xfrm>
            <a:off x="4788043" y="1202885"/>
            <a:ext cx="4143375" cy="950119"/>
          </a:xfrm>
          <a:prstGeom prst="roundRect">
            <a:avLst>
              <a:gd name="adj" fmla="val 5789"/>
            </a:avLst>
          </a:prstGeom>
          <a:solidFill>
            <a:srgbClr val="F5F5F7"/>
          </a:solidFill>
          <a:ln/>
        </p:spPr>
      </p:sp>
      <p:sp>
        <p:nvSpPr>
          <p:cNvPr id="54" name="Shape 52"/>
          <p:cNvSpPr/>
          <p:nvPr/>
        </p:nvSpPr>
        <p:spPr>
          <a:xfrm>
            <a:off x="4904073" y="1505099"/>
            <a:ext cx="42863" cy="42863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55" name="Shape 53"/>
          <p:cNvSpPr/>
          <p:nvPr/>
        </p:nvSpPr>
        <p:spPr>
          <a:xfrm>
            <a:off x="4904073" y="1665833"/>
            <a:ext cx="42863" cy="42863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56" name="Shape 54"/>
          <p:cNvSpPr/>
          <p:nvPr/>
        </p:nvSpPr>
        <p:spPr>
          <a:xfrm>
            <a:off x="4904073" y="1826568"/>
            <a:ext cx="42863" cy="42863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57" name="Shape 55"/>
          <p:cNvSpPr/>
          <p:nvPr/>
        </p:nvSpPr>
        <p:spPr>
          <a:xfrm>
            <a:off x="4904073" y="1987302"/>
            <a:ext cx="42863" cy="42863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58" name="Shape 56"/>
          <p:cNvSpPr/>
          <p:nvPr/>
        </p:nvSpPr>
        <p:spPr>
          <a:xfrm>
            <a:off x="4788043" y="2241073"/>
            <a:ext cx="4143375" cy="950119"/>
          </a:xfrm>
          <a:prstGeom prst="roundRect">
            <a:avLst>
              <a:gd name="adj" fmla="val 5789"/>
            </a:avLst>
          </a:prstGeom>
          <a:solidFill>
            <a:srgbClr val="F5F5F7"/>
          </a:solidFill>
          <a:ln/>
        </p:spPr>
      </p:sp>
      <p:sp>
        <p:nvSpPr>
          <p:cNvPr id="59" name="Shape 57"/>
          <p:cNvSpPr/>
          <p:nvPr/>
        </p:nvSpPr>
        <p:spPr>
          <a:xfrm>
            <a:off x="4904073" y="2543287"/>
            <a:ext cx="42863" cy="42863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60" name="Shape 58"/>
          <p:cNvSpPr/>
          <p:nvPr/>
        </p:nvSpPr>
        <p:spPr>
          <a:xfrm>
            <a:off x="4904073" y="2704021"/>
            <a:ext cx="42863" cy="42863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61" name="Shape 59"/>
          <p:cNvSpPr/>
          <p:nvPr/>
        </p:nvSpPr>
        <p:spPr>
          <a:xfrm>
            <a:off x="4904073" y="2864755"/>
            <a:ext cx="42863" cy="42863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62" name="Shape 60"/>
          <p:cNvSpPr/>
          <p:nvPr/>
        </p:nvSpPr>
        <p:spPr>
          <a:xfrm>
            <a:off x="4904073" y="3025490"/>
            <a:ext cx="42863" cy="42863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63" name="Shape 61"/>
          <p:cNvSpPr/>
          <p:nvPr/>
        </p:nvSpPr>
        <p:spPr>
          <a:xfrm>
            <a:off x="4788043" y="3279260"/>
            <a:ext cx="4143375" cy="950119"/>
          </a:xfrm>
          <a:prstGeom prst="roundRect">
            <a:avLst>
              <a:gd name="adj" fmla="val 5789"/>
            </a:avLst>
          </a:prstGeom>
          <a:solidFill>
            <a:srgbClr val="F5F5F7"/>
          </a:solidFill>
          <a:ln/>
        </p:spPr>
      </p:sp>
      <p:sp>
        <p:nvSpPr>
          <p:cNvPr id="64" name="Shape 62"/>
          <p:cNvSpPr/>
          <p:nvPr/>
        </p:nvSpPr>
        <p:spPr>
          <a:xfrm>
            <a:off x="4904073" y="3581474"/>
            <a:ext cx="42863" cy="42863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65" name="Shape 63"/>
          <p:cNvSpPr/>
          <p:nvPr/>
        </p:nvSpPr>
        <p:spPr>
          <a:xfrm>
            <a:off x="4904073" y="3742209"/>
            <a:ext cx="42863" cy="42863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66" name="Shape 64"/>
          <p:cNvSpPr/>
          <p:nvPr/>
        </p:nvSpPr>
        <p:spPr>
          <a:xfrm>
            <a:off x="4904073" y="3902943"/>
            <a:ext cx="42863" cy="42863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67" name="Shape 65"/>
          <p:cNvSpPr/>
          <p:nvPr/>
        </p:nvSpPr>
        <p:spPr>
          <a:xfrm>
            <a:off x="4904073" y="4063678"/>
            <a:ext cx="42863" cy="42863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68" name="Text 66"/>
          <p:cNvSpPr/>
          <p:nvPr/>
        </p:nvSpPr>
        <p:spPr>
          <a:xfrm>
            <a:off x="214313" y="501625"/>
            <a:ext cx="8715375" cy="2643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与行业测试口径对齐后，10 万次弯曲的"无衰减"是可比的</a:t>
            </a:r>
            <a:endParaRPr lang="en-US" sz="1900" dirty="0"/>
          </a:p>
        </p:txBody>
      </p:sp>
      <p:sp>
        <p:nvSpPr>
          <p:cNvPr id="69" name="Text 67"/>
          <p:cNvSpPr/>
          <p:nvPr/>
        </p:nvSpPr>
        <p:spPr>
          <a:xfrm>
            <a:off x="213754" y="1200373"/>
            <a:ext cx="1693069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行业公开弯折 / 折叠循环门槛对标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066803" y="1214605"/>
            <a:ext cx="492919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单位：万次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216043" y="1378409"/>
            <a:ext cx="4343400" cy="2643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零基线横向柱状图；科技蓝为本团队自有数据，近黑为厂商、国标与学术公开口径。10 万次处于面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板厂量产验证区间中位，低于 2025–2026 旗舰整机 50 万–200 万次门槛。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4902343" y="1277838"/>
            <a:ext cx="3914775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同一把尺子：进入比较框架的口径锚点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003248" y="1467594"/>
            <a:ext cx="2968371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循环弯折条款</a:t>
            </a:r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· IEC 62715-6-1 §76.2（弯曲/卷绕/扭转/拉伸）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005425" y="1628329"/>
            <a:ext cx="3006233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模组耐久标准</a:t>
            </a:r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· IEC 62715-6-23 区分静态与动态弯折并复测光电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002913" y="1789063"/>
            <a:ext cx="314253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折叠屏国标</a:t>
            </a:r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· 常温 20±5℃、1 次/秒、20 万次，阻尼力衰减 ≤30%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004308" y="1949797"/>
            <a:ext cx="240801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高低温循环</a:t>
            </a:r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· −20℃ 至 60℃ 温度冲击下完成 5 万次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4902343" y="2316026"/>
            <a:ext cx="3914775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可比性的隐藏变量：速率、夹具与盖板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5005592" y="2505782"/>
            <a:ext cx="2991088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循环速率</a:t>
            </a:r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· 常见 1–60 cycles/min，高速设备 5–180 cycles/min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5005369" y="2666516"/>
            <a:ext cx="2627614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夹具与中性层</a:t>
            </a:r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· 弯矩 M 与惯性矩 I 决定同一半径下的应变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5004029" y="2827251"/>
            <a:ext cx="304409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盖板路线</a:t>
            </a:r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· 普通 UTG 约 20 万次见折痕，30μm UTG 达 200 万次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5004978" y="2987985"/>
            <a:ext cx="2370153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失效判据</a:t>
            </a:r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· 室温 20 万次循环后可见叠层间物理剥离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4902343" y="3354214"/>
            <a:ext cx="3914775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验证补强清单与衰减率披露范式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5004253" y="3543970"/>
            <a:ext cx="2498884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量化阈值</a:t>
            </a:r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· 亮度、色坐标、电阻需给出“无衰减”判定线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5005201" y="3704704"/>
            <a:ext cx="2748772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组合老化</a:t>
            </a:r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· 60℃/90%RH、240 小时湿热偏压叠加弯折试验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5003639" y="3865438"/>
            <a:ext cx="3210687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衰减率披露</a:t>
            </a:r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· MXene 柔性 OLED 60% 应变降 10.6%、亮度保持 83%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5004588" y="4026173"/>
            <a:ext cx="2779062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学术参照</a:t>
            </a:r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· 超 5000 次动态折叠与水洗后亮度保持 90% 以上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214313" y="4514850"/>
            <a:ext cx="8715375" cy="3000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数据来源：IEC 62715-6-1:2018、IEC 62715-6-23；磐石测控（折叠屏国标解读）；BOE 与 BOE 品质实验室、DoNews、荣耀官网、京东商品页、搜狐、DisplayModule；Drexel、Lim 2025 可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拉伸显示综述。本团队 10 万次弯曲无衰减为团队自有数据，外部数值仅用于建立可比口径。</a:t>
            </a:r>
            <a:endParaRPr lang="en-US" sz="700" dirty="0"/>
          </a:p>
        </p:txBody>
      </p:sp>
      <p:sp>
        <p:nvSpPr>
          <p:cNvPr id="65535" name="wm:hwcld:2026-09-22T19:07:46:581b05d5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2" y="853232"/>
            <a:ext cx="285750" cy="7144"/>
          </a:xfrm>
          <a:prstGeom prst="rect">
            <a:avLst/>
          </a:prstGeom>
          <a:solidFill>
            <a:srgbClr val="1D1D1F"/>
          </a:solidFill>
          <a:ln/>
        </p:spPr>
      </p:sp>
      <p:sp>
        <p:nvSpPr>
          <p:cNvPr id="4" name="Shape 2"/>
          <p:cNvSpPr/>
          <p:nvPr/>
        </p:nvSpPr>
        <p:spPr>
          <a:xfrm>
            <a:off x="214313" y="973113"/>
            <a:ext cx="2093119" cy="735806"/>
          </a:xfrm>
          <a:prstGeom prst="roundRect">
            <a:avLst>
              <a:gd name="adj" fmla="val 9652"/>
            </a:avLst>
          </a:prstGeom>
          <a:solidFill>
            <a:srgbClr val="F5F5F7"/>
          </a:solidFill>
          <a:ln/>
        </p:spPr>
      </p:sp>
      <p:sp>
        <p:nvSpPr>
          <p:cNvPr id="5" name="Shape 3"/>
          <p:cNvSpPr/>
          <p:nvPr/>
        </p:nvSpPr>
        <p:spPr>
          <a:xfrm>
            <a:off x="2421731" y="973113"/>
            <a:ext cx="2093119" cy="735806"/>
          </a:xfrm>
          <a:prstGeom prst="roundRect">
            <a:avLst>
              <a:gd name="adj" fmla="val 9652"/>
            </a:avLst>
          </a:prstGeom>
          <a:solidFill>
            <a:srgbClr val="F5F5F7"/>
          </a:solidFill>
          <a:ln/>
        </p:spPr>
      </p:sp>
      <p:sp>
        <p:nvSpPr>
          <p:cNvPr id="6" name="Shape 4"/>
          <p:cNvSpPr/>
          <p:nvPr/>
        </p:nvSpPr>
        <p:spPr>
          <a:xfrm>
            <a:off x="4629150" y="973113"/>
            <a:ext cx="2093119" cy="735806"/>
          </a:xfrm>
          <a:prstGeom prst="roundRect">
            <a:avLst>
              <a:gd name="adj" fmla="val 9652"/>
            </a:avLst>
          </a:prstGeom>
          <a:solidFill>
            <a:srgbClr val="F5F5F7"/>
          </a:solidFill>
          <a:ln/>
        </p:spPr>
      </p:sp>
      <p:sp>
        <p:nvSpPr>
          <p:cNvPr id="7" name="Shape 5"/>
          <p:cNvSpPr/>
          <p:nvPr/>
        </p:nvSpPr>
        <p:spPr>
          <a:xfrm>
            <a:off x="6836569" y="973113"/>
            <a:ext cx="2093119" cy="735806"/>
          </a:xfrm>
          <a:prstGeom prst="roundRect">
            <a:avLst>
              <a:gd name="adj" fmla="val 9652"/>
            </a:avLst>
          </a:prstGeom>
          <a:solidFill>
            <a:srgbClr val="F5F5F7"/>
          </a:solidFill>
          <a:ln/>
        </p:spPr>
      </p:sp>
      <p:sp>
        <p:nvSpPr>
          <p:cNvPr id="8" name="Shape 6"/>
          <p:cNvSpPr/>
          <p:nvPr/>
        </p:nvSpPr>
        <p:spPr>
          <a:xfrm>
            <a:off x="214312" y="2186043"/>
            <a:ext cx="5093494" cy="2100263"/>
          </a:xfrm>
          <a:prstGeom prst="roundRect">
            <a:avLst>
              <a:gd name="adj" fmla="val 1185"/>
            </a:avLst>
          </a:prstGeom>
          <a:solidFill>
            <a:srgbClr val="F5F5F7"/>
          </a:solidFill>
          <a:ln/>
        </p:spPr>
      </p:sp>
      <p:sp>
        <p:nvSpPr>
          <p:cNvPr id="9" name="Shape 7"/>
          <p:cNvSpPr/>
          <p:nvPr/>
        </p:nvSpPr>
        <p:spPr>
          <a:xfrm>
            <a:off x="1653778" y="2316249"/>
            <a:ext cx="0" cy="1421606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68116" y="2316249"/>
            <a:ext cx="0" cy="1421606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89597" y="2316249"/>
            <a:ext cx="0" cy="1421606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11078" y="2316249"/>
            <a:ext cx="0" cy="1421606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25416" y="2316249"/>
            <a:ext cx="0" cy="1421606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6897" y="2316249"/>
            <a:ext cx="0" cy="1421606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1234" y="2316249"/>
            <a:ext cx="0" cy="1421606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82716" y="2316249"/>
            <a:ext cx="0" cy="1421606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8788" y="3924307"/>
            <a:ext cx="183308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有效杨氏模量（对数轴）</a:t>
            </a:r>
            <a:endParaRPr lang="en-US" sz="788" dirty="0"/>
          </a:p>
        </p:txBody>
      </p:sp>
      <p:sp>
        <p:nvSpPr>
          <p:cNvPr id="18" name="Text 16"/>
          <p:cNvSpPr/>
          <p:nvPr/>
        </p:nvSpPr>
        <p:spPr>
          <a:xfrm>
            <a:off x="-1888924" y="2433943"/>
            <a:ext cx="3483293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PI / 派瑞林 C / SU-8 超薄封装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361357" y="2789344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PDMS 基底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-838793" y="3144746"/>
            <a:ext cx="243316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6 μm 褶皱派瑞林（热退火）</a:t>
            </a:r>
            <a:endParaRPr lang="en-US" sz="788" dirty="0"/>
          </a:p>
        </p:txBody>
      </p:sp>
      <p:sp>
        <p:nvSpPr>
          <p:cNvPr id="21" name="Text 19"/>
          <p:cNvSpPr/>
          <p:nvPr/>
        </p:nvSpPr>
        <p:spPr>
          <a:xfrm>
            <a:off x="361357" y="3500147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超顺从 MEA</a:t>
            </a:r>
            <a:endParaRPr lang="en-US" sz="788" dirty="0"/>
          </a:p>
        </p:txBody>
      </p:sp>
      <p:sp>
        <p:nvSpPr>
          <p:cNvPr id="22" name="Text 20"/>
          <p:cNvSpPr/>
          <p:nvPr/>
        </p:nvSpPr>
        <p:spPr>
          <a:xfrm>
            <a:off x="1185032" y="3781432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1 kPa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1528255" y="3781432"/>
            <a:ext cx="1082993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10 kPa</a:t>
            </a:r>
            <a:endParaRPr lang="en-US" sz="788" dirty="0"/>
          </a:p>
        </p:txBody>
      </p:sp>
      <p:sp>
        <p:nvSpPr>
          <p:cNvPr id="24" name="Text 22"/>
          <p:cNvSpPr/>
          <p:nvPr/>
        </p:nvSpPr>
        <p:spPr>
          <a:xfrm>
            <a:off x="1871477" y="3781432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100 kPa</a:t>
            </a:r>
            <a:endParaRPr lang="en-US" sz="788" dirty="0"/>
          </a:p>
        </p:txBody>
      </p:sp>
      <p:sp>
        <p:nvSpPr>
          <p:cNvPr id="25" name="Text 23"/>
          <p:cNvSpPr/>
          <p:nvPr/>
        </p:nvSpPr>
        <p:spPr>
          <a:xfrm>
            <a:off x="2439728" y="3781432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1 MPa</a:t>
            </a:r>
            <a:endParaRPr lang="en-US" sz="788" dirty="0"/>
          </a:p>
        </p:txBody>
      </p:sp>
      <p:sp>
        <p:nvSpPr>
          <p:cNvPr id="26" name="Text 24"/>
          <p:cNvSpPr/>
          <p:nvPr/>
        </p:nvSpPr>
        <p:spPr>
          <a:xfrm>
            <a:off x="2782951" y="3781432"/>
            <a:ext cx="1082993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10 MPa</a:t>
            </a:r>
            <a:endParaRPr lang="en-US" sz="788" dirty="0"/>
          </a:p>
        </p:txBody>
      </p:sp>
      <p:sp>
        <p:nvSpPr>
          <p:cNvPr id="27" name="Text 25"/>
          <p:cNvSpPr/>
          <p:nvPr/>
        </p:nvSpPr>
        <p:spPr>
          <a:xfrm>
            <a:off x="3126174" y="3781432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100 MPa</a:t>
            </a:r>
            <a:endParaRPr lang="en-US" sz="788" dirty="0"/>
          </a:p>
        </p:txBody>
      </p:sp>
      <p:sp>
        <p:nvSpPr>
          <p:cNvPr id="28" name="Text 26"/>
          <p:cNvSpPr/>
          <p:nvPr/>
        </p:nvSpPr>
        <p:spPr>
          <a:xfrm>
            <a:off x="3694425" y="3781432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1 GPa</a:t>
            </a:r>
            <a:endParaRPr lang="en-US" sz="788" dirty="0"/>
          </a:p>
        </p:txBody>
      </p:sp>
      <p:sp>
        <p:nvSpPr>
          <p:cNvPr id="29" name="Text 27"/>
          <p:cNvSpPr/>
          <p:nvPr/>
        </p:nvSpPr>
        <p:spPr>
          <a:xfrm>
            <a:off x="4037648" y="3781432"/>
            <a:ext cx="1082993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10 GPa</a:t>
            </a:r>
            <a:endParaRPr lang="en-US" sz="788" dirty="0"/>
          </a:p>
        </p:txBody>
      </p:sp>
      <p:sp>
        <p:nvSpPr>
          <p:cNvPr id="30" name="Shape 28"/>
          <p:cNvSpPr/>
          <p:nvPr/>
        </p:nvSpPr>
        <p:spPr>
          <a:xfrm>
            <a:off x="1651519" y="2422513"/>
            <a:ext cx="2509393" cy="142875"/>
          </a:xfrm>
          <a:custGeom>
            <a:avLst/>
            <a:gdLst/>
            <a:ahLst/>
            <a:cxnLst/>
            <a:rect l="l" t="t" r="r" b="b"/>
            <a:pathLst>
              <a:path w="2509393" h="142875">
                <a:moveTo>
                  <a:pt x="0" y="0"/>
                </a:moveTo>
                <a:lnTo>
                  <a:pt x="2509393" y="0"/>
                </a:lnTo>
                <a:lnTo>
                  <a:pt x="2509393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000000">
              <a:alpha val="4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651519" y="2777914"/>
            <a:ext cx="1254697" cy="142875"/>
          </a:xfrm>
          <a:custGeom>
            <a:avLst/>
            <a:gdLst/>
            <a:ahLst/>
            <a:cxnLst/>
            <a:rect l="l" t="t" r="r" b="b"/>
            <a:pathLst>
              <a:path w="1254697" h="142875">
                <a:moveTo>
                  <a:pt x="0" y="0"/>
                </a:moveTo>
                <a:lnTo>
                  <a:pt x="1254697" y="0"/>
                </a:lnTo>
                <a:lnTo>
                  <a:pt x="1254697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651519" y="3133316"/>
            <a:ext cx="1067098" cy="142875"/>
          </a:xfrm>
          <a:custGeom>
            <a:avLst/>
            <a:gdLst/>
            <a:ahLst/>
            <a:cxnLst/>
            <a:rect l="l" t="t" r="r" b="b"/>
            <a:pathLst>
              <a:path w="1067098" h="142875">
                <a:moveTo>
                  <a:pt x="0" y="0"/>
                </a:moveTo>
                <a:lnTo>
                  <a:pt x="1067098" y="0"/>
                </a:lnTo>
                <a:lnTo>
                  <a:pt x="1067098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1D1D1F"/>
          </a:solidFill>
          <a:ln/>
        </p:spPr>
      </p:sp>
      <p:sp>
        <p:nvSpPr>
          <p:cNvPr id="33" name="Shape 31"/>
          <p:cNvSpPr/>
          <p:nvPr/>
        </p:nvSpPr>
        <p:spPr>
          <a:xfrm>
            <a:off x="1651519" y="3488717"/>
            <a:ext cx="418232" cy="142875"/>
          </a:xfrm>
          <a:custGeom>
            <a:avLst/>
            <a:gdLst/>
            <a:ahLst/>
            <a:cxnLst/>
            <a:rect l="l" t="t" r="r" b="b"/>
            <a:pathLst>
              <a:path w="418232" h="142875">
                <a:moveTo>
                  <a:pt x="0" y="0"/>
                </a:moveTo>
                <a:lnTo>
                  <a:pt x="418232" y="0"/>
                </a:lnTo>
                <a:lnTo>
                  <a:pt x="418232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4" name="Text 32"/>
          <p:cNvSpPr/>
          <p:nvPr/>
        </p:nvSpPr>
        <p:spPr>
          <a:xfrm>
            <a:off x="4218061" y="2433943"/>
            <a:ext cx="1082993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GPa 量级</a:t>
            </a:r>
            <a:endParaRPr lang="en-US" sz="788" dirty="0"/>
          </a:p>
        </p:txBody>
      </p:sp>
      <p:sp>
        <p:nvSpPr>
          <p:cNvPr id="35" name="Text 33"/>
          <p:cNvSpPr/>
          <p:nvPr/>
        </p:nvSpPr>
        <p:spPr>
          <a:xfrm>
            <a:off x="2963365" y="2789344"/>
            <a:ext cx="138303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低至 1 MPa</a:t>
            </a:r>
            <a:endParaRPr lang="en-US" sz="788" dirty="0"/>
          </a:p>
        </p:txBody>
      </p:sp>
      <p:sp>
        <p:nvSpPr>
          <p:cNvPr id="36" name="Text 34"/>
          <p:cNvSpPr/>
          <p:nvPr/>
        </p:nvSpPr>
        <p:spPr>
          <a:xfrm>
            <a:off x="2775767" y="3144746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356 kPa</a:t>
            </a:r>
            <a:endParaRPr lang="en-US" sz="788" dirty="0"/>
          </a:p>
        </p:txBody>
      </p:sp>
      <p:sp>
        <p:nvSpPr>
          <p:cNvPr id="37" name="Text 35"/>
          <p:cNvSpPr/>
          <p:nvPr/>
        </p:nvSpPr>
        <p:spPr>
          <a:xfrm>
            <a:off x="2126901" y="3500147"/>
            <a:ext cx="138303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1–10 kPa</a:t>
            </a:r>
            <a:endParaRPr lang="en-US" sz="788" dirty="0"/>
          </a:p>
        </p:txBody>
      </p:sp>
      <p:sp>
        <p:nvSpPr>
          <p:cNvPr id="38" name="Shape 36"/>
          <p:cNvSpPr/>
          <p:nvPr/>
        </p:nvSpPr>
        <p:spPr>
          <a:xfrm>
            <a:off x="5536406" y="1822828"/>
            <a:ext cx="3393281" cy="850106"/>
          </a:xfrm>
          <a:prstGeom prst="roundRect">
            <a:avLst>
              <a:gd name="adj" fmla="val 7231"/>
            </a:avLst>
          </a:prstGeom>
          <a:solidFill>
            <a:srgbClr val="F5F5F7"/>
          </a:solidFill>
          <a:ln/>
        </p:spPr>
      </p:sp>
      <p:sp>
        <p:nvSpPr>
          <p:cNvPr id="39" name="Shape 37"/>
          <p:cNvSpPr/>
          <p:nvPr/>
        </p:nvSpPr>
        <p:spPr>
          <a:xfrm>
            <a:off x="5536406" y="2789579"/>
            <a:ext cx="3393281" cy="850106"/>
          </a:xfrm>
          <a:prstGeom prst="roundRect">
            <a:avLst>
              <a:gd name="adj" fmla="val 7231"/>
            </a:avLst>
          </a:prstGeom>
          <a:solidFill>
            <a:srgbClr val="F5F5F7"/>
          </a:solidFill>
          <a:ln/>
        </p:spPr>
      </p:sp>
      <p:sp>
        <p:nvSpPr>
          <p:cNvPr id="40" name="Shape 38"/>
          <p:cNvSpPr/>
          <p:nvPr/>
        </p:nvSpPr>
        <p:spPr>
          <a:xfrm>
            <a:off x="5536406" y="3756385"/>
            <a:ext cx="3393281" cy="850106"/>
          </a:xfrm>
          <a:prstGeom prst="roundRect">
            <a:avLst>
              <a:gd name="adj" fmla="val 7231"/>
            </a:avLst>
          </a:prstGeom>
          <a:solidFill>
            <a:srgbClr val="F5F5F7"/>
          </a:solidFill>
          <a:ln/>
        </p:spPr>
      </p:sp>
      <p:sp>
        <p:nvSpPr>
          <p:cNvPr id="41" name="Text 39"/>
          <p:cNvSpPr/>
          <p:nvPr/>
        </p:nvSpPr>
        <p:spPr>
          <a:xfrm>
            <a:off x="214313" y="501625"/>
            <a:ext cx="8715375" cy="2643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植入式电子皮肤的器件-生物界面：柔性电极、封装与信号链的一体化设计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314325" y="1078762"/>
            <a:ext cx="1893094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柔性电子电极阻抗典型区间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14325" y="1241003"/>
            <a:ext cx="1893094" cy="20002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0.1–2 kΩ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314325" y="1467538"/>
            <a:ext cx="1893094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@1 kHz，阻抗随频率变化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521744" y="1078762"/>
            <a:ext cx="1893094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高密度柔性阵列规格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2521744" y="1241003"/>
            <a:ext cx="1893094" cy="20002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529 通道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2521744" y="1467538"/>
            <a:ext cx="1893094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电极间距 300 μm，多尺寸寻优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729163" y="1078762"/>
            <a:ext cx="1893094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单电感链路供电与传数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729163" y="1241003"/>
            <a:ext cx="1893094" cy="20002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3.39 Mbps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729163" y="1467538"/>
            <a:ext cx="1893094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13.56 MHz，功率传输效率 70%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936581" y="1078762"/>
            <a:ext cx="1893094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可拉伸柔性电极在体记录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936581" y="1241003"/>
            <a:ext cx="1893094" cy="20002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超 8 个月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936581" y="1467538"/>
            <a:ext cx="1893094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256 通道，猕猴脑内稳定记录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214312" y="1820317"/>
            <a:ext cx="509349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封装层有效杨氏模量的公开对标带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14312" y="1996176"/>
            <a:ext cx="5093494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模量失配越大纤维包封风险越高；组织反应按 Type I 部分／Type II 完全纤维包封分型判读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214312" y="4342619"/>
            <a:ext cx="5093494" cy="2643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柔性 MEMS 微电极的行业定义为弹性模量 &lt;10 GPa、厚度 &lt;200 μm；超顺从 MEA 的 1–10 kPa 量级用于匹配神经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组织。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636419" y="1941426"/>
            <a:ext cx="3193256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柔性电极、互连与低阻抗界面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636419" y="2132186"/>
            <a:ext cx="3193256" cy="42148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微结构 + 高容性涂层把界面阻抗压低一个量级：微针阵列归一化接触阻抗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低至 0.98 kΩ·cm² @1 kHz；柔性阵列顺应脑回与脑沟形貌维持稳定接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触，可拉伸设计降低机械损伤与胶质瘢痕。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5636419" y="2908176"/>
            <a:ext cx="3193256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阻抗评估与封装验收判据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636419" y="3098936"/>
            <a:ext cx="3193256" cy="42148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阻抗须给出频率曲线，并与前端噪声、电极面积联合评估；派瑞林可通过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ISO 10993 认证，最低组合为细胞毒性与刺激致敏；封装验收需同时给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出 WVTR（g/m²/day）与长期浸泡后阻抗漂移。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5636419" y="3875038"/>
            <a:ext cx="3193256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信号链功耗取舍与触觉功能终点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636419" y="4065798"/>
            <a:ext cx="3193256" cy="42148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低功耗工作点 125 kbps @1 mW，完整神经接口约 100 mW，32–128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Mbps 因功耗过高不适合长期植入；高密度触觉阵列已实现 500 μm 图案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与盲文点的亚毫米纹理重建，是双向刺激/记录的临床功能标尺。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214313" y="4664869"/>
            <a:ext cx="871537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数据来源：Y Zhou 生物相容性封装综述、Nature Biomedical Engineering、USC Zhao Group、Wiley BioResearch、Chen 2023、科技日报；均为公开文献对标口径</a:t>
            </a:r>
            <a:endParaRPr lang="en-US" sz="700" dirty="0"/>
          </a:p>
        </p:txBody>
      </p:sp>
      <p:sp>
        <p:nvSpPr>
          <p:cNvPr id="65535" name="wm:hwcld:2026-09-22T19:07:46:581b05d5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2" y="853232"/>
            <a:ext cx="285750" cy="7144"/>
          </a:xfrm>
          <a:prstGeom prst="rect">
            <a:avLst/>
          </a:prstGeom>
          <a:solidFill>
            <a:srgbClr val="1D1D1F"/>
          </a:solidFill>
          <a:ln/>
        </p:spPr>
      </p:sp>
      <p:sp>
        <p:nvSpPr>
          <p:cNvPr id="4" name="Shape 2"/>
          <p:cNvSpPr/>
          <p:nvPr/>
        </p:nvSpPr>
        <p:spPr>
          <a:xfrm>
            <a:off x="214313" y="1176654"/>
            <a:ext cx="1357313" cy="742950"/>
          </a:xfrm>
          <a:prstGeom prst="roundRect">
            <a:avLst>
              <a:gd name="adj" fmla="val 9467"/>
            </a:avLst>
          </a:prstGeom>
          <a:solidFill>
            <a:srgbClr val="F5F5F7"/>
          </a:solidFill>
          <a:ln/>
        </p:spPr>
      </p:sp>
      <p:sp>
        <p:nvSpPr>
          <p:cNvPr id="5" name="Shape 3"/>
          <p:cNvSpPr/>
          <p:nvPr/>
        </p:nvSpPr>
        <p:spPr>
          <a:xfrm>
            <a:off x="1685925" y="1176654"/>
            <a:ext cx="1357313" cy="742950"/>
          </a:xfrm>
          <a:prstGeom prst="roundRect">
            <a:avLst>
              <a:gd name="adj" fmla="val 9467"/>
            </a:avLst>
          </a:prstGeom>
          <a:solidFill>
            <a:srgbClr val="F5F5F7"/>
          </a:solidFill>
          <a:ln/>
        </p:spPr>
      </p:sp>
      <p:sp>
        <p:nvSpPr>
          <p:cNvPr id="6" name="Shape 4"/>
          <p:cNvSpPr/>
          <p:nvPr/>
        </p:nvSpPr>
        <p:spPr>
          <a:xfrm>
            <a:off x="3157538" y="1176654"/>
            <a:ext cx="1357313" cy="742950"/>
          </a:xfrm>
          <a:prstGeom prst="roundRect">
            <a:avLst>
              <a:gd name="adj" fmla="val 9467"/>
            </a:avLst>
          </a:prstGeom>
          <a:solidFill>
            <a:srgbClr val="F5F5F7"/>
          </a:solidFill>
          <a:ln/>
        </p:spPr>
      </p:sp>
      <p:sp>
        <p:nvSpPr>
          <p:cNvPr id="7" name="Shape 5"/>
          <p:cNvSpPr/>
          <p:nvPr/>
        </p:nvSpPr>
        <p:spPr>
          <a:xfrm>
            <a:off x="4629150" y="1176654"/>
            <a:ext cx="1357313" cy="742950"/>
          </a:xfrm>
          <a:prstGeom prst="roundRect">
            <a:avLst>
              <a:gd name="adj" fmla="val 9467"/>
            </a:avLst>
          </a:prstGeom>
          <a:solidFill>
            <a:srgbClr val="F5F5F7"/>
          </a:solidFill>
          <a:ln/>
        </p:spPr>
      </p:sp>
      <p:sp>
        <p:nvSpPr>
          <p:cNvPr id="8" name="Shape 6"/>
          <p:cNvSpPr/>
          <p:nvPr/>
        </p:nvSpPr>
        <p:spPr>
          <a:xfrm>
            <a:off x="6100763" y="1176654"/>
            <a:ext cx="1357313" cy="742950"/>
          </a:xfrm>
          <a:prstGeom prst="roundRect">
            <a:avLst>
              <a:gd name="adj" fmla="val 9467"/>
            </a:avLst>
          </a:prstGeom>
          <a:solidFill>
            <a:srgbClr val="F5F5F7"/>
          </a:solidFill>
          <a:ln/>
        </p:spPr>
      </p:sp>
      <p:sp>
        <p:nvSpPr>
          <p:cNvPr id="9" name="Shape 7"/>
          <p:cNvSpPr/>
          <p:nvPr/>
        </p:nvSpPr>
        <p:spPr>
          <a:xfrm>
            <a:off x="7572375" y="1176654"/>
            <a:ext cx="1357313" cy="742950"/>
          </a:xfrm>
          <a:prstGeom prst="roundRect">
            <a:avLst>
              <a:gd name="adj" fmla="val 9467"/>
            </a:avLst>
          </a:prstGeom>
          <a:solidFill>
            <a:srgbClr val="F5F5F7"/>
          </a:solidFill>
          <a:ln/>
        </p:spPr>
      </p:sp>
      <p:sp>
        <p:nvSpPr>
          <p:cNvPr id="10" name="Shape 8"/>
          <p:cNvSpPr/>
          <p:nvPr/>
        </p:nvSpPr>
        <p:spPr>
          <a:xfrm>
            <a:off x="1646634" y="2494397"/>
            <a:ext cx="0" cy="1735931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03872" y="2494397"/>
            <a:ext cx="0" cy="1735931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68253" y="2494397"/>
            <a:ext cx="0" cy="1735931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25491" y="2494397"/>
            <a:ext cx="0" cy="1735931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89872" y="2494397"/>
            <a:ext cx="0" cy="1735931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646634" y="2494397"/>
            <a:ext cx="0" cy="1735931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565" y="3953329"/>
            <a:ext cx="138303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触觉重建临床范式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801640" y="3519346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北脑一号</a:t>
            </a:r>
            <a:endParaRPr lang="en-US" sz="788" dirty="0"/>
          </a:p>
        </p:txBody>
      </p:sp>
      <p:sp>
        <p:nvSpPr>
          <p:cNvPr id="18" name="Text 16"/>
          <p:cNvSpPr/>
          <p:nvPr/>
        </p:nvSpPr>
        <p:spPr>
          <a:xfrm>
            <a:off x="-998585" y="3085363"/>
            <a:ext cx="258318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阶梯医疗（中科院 × 华山医院）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-698547" y="2651380"/>
            <a:ext cx="2283143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NEO（清华 × 宣武医院）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1475296" y="4273905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0</a:t>
            </a:r>
            <a:endParaRPr lang="en-US" sz="788" dirty="0"/>
          </a:p>
        </p:txBody>
      </p:sp>
      <p:sp>
        <p:nvSpPr>
          <p:cNvPr id="21" name="Text 19"/>
          <p:cNvSpPr/>
          <p:nvPr/>
        </p:nvSpPr>
        <p:spPr>
          <a:xfrm>
            <a:off x="2161425" y="4273905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10</a:t>
            </a:r>
            <a:endParaRPr lang="en-US" sz="788" dirty="0"/>
          </a:p>
        </p:txBody>
      </p:sp>
      <p:sp>
        <p:nvSpPr>
          <p:cNvPr id="22" name="Text 20"/>
          <p:cNvSpPr/>
          <p:nvPr/>
        </p:nvSpPr>
        <p:spPr>
          <a:xfrm>
            <a:off x="2922564" y="4273905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20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3683703" y="4273905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30</a:t>
            </a:r>
            <a:endParaRPr lang="en-US" sz="788" dirty="0"/>
          </a:p>
        </p:txBody>
      </p:sp>
      <p:sp>
        <p:nvSpPr>
          <p:cNvPr id="24" name="Text 22"/>
          <p:cNvSpPr/>
          <p:nvPr/>
        </p:nvSpPr>
        <p:spPr>
          <a:xfrm>
            <a:off x="4444841" y="4273905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40</a:t>
            </a:r>
            <a:endParaRPr lang="en-US" sz="788" dirty="0"/>
          </a:p>
        </p:txBody>
      </p:sp>
      <p:sp>
        <p:nvSpPr>
          <p:cNvPr id="25" name="Shape 23"/>
          <p:cNvSpPr/>
          <p:nvPr/>
        </p:nvSpPr>
        <p:spPr>
          <a:xfrm>
            <a:off x="1641745" y="3941899"/>
            <a:ext cx="380570" cy="142875"/>
          </a:xfrm>
          <a:custGeom>
            <a:avLst/>
            <a:gdLst/>
            <a:ahLst/>
            <a:cxnLst/>
            <a:rect l="l" t="t" r="r" b="b"/>
            <a:pathLst>
              <a:path w="380570" h="142875">
                <a:moveTo>
                  <a:pt x="0" y="0"/>
                </a:moveTo>
                <a:lnTo>
                  <a:pt x="351995" y="0"/>
                </a:lnTo>
                <a:lnTo>
                  <a:pt x="353397" y="34"/>
                </a:lnTo>
                <a:lnTo>
                  <a:pt x="354796" y="138"/>
                </a:lnTo>
                <a:lnTo>
                  <a:pt x="356188" y="309"/>
                </a:lnTo>
                <a:lnTo>
                  <a:pt x="357569" y="549"/>
                </a:lnTo>
                <a:lnTo>
                  <a:pt x="358938" y="856"/>
                </a:lnTo>
                <a:lnTo>
                  <a:pt x="360290" y="1230"/>
                </a:lnTo>
                <a:lnTo>
                  <a:pt x="361621" y="1670"/>
                </a:lnTo>
                <a:lnTo>
                  <a:pt x="362930" y="2175"/>
                </a:lnTo>
                <a:lnTo>
                  <a:pt x="364212" y="2744"/>
                </a:lnTo>
                <a:lnTo>
                  <a:pt x="365465" y="3374"/>
                </a:lnTo>
                <a:lnTo>
                  <a:pt x="366685" y="4065"/>
                </a:lnTo>
                <a:lnTo>
                  <a:pt x="367870" y="4816"/>
                </a:lnTo>
                <a:lnTo>
                  <a:pt x="369017" y="5623"/>
                </a:lnTo>
                <a:lnTo>
                  <a:pt x="370122" y="6486"/>
                </a:lnTo>
                <a:lnTo>
                  <a:pt x="371185" y="7402"/>
                </a:lnTo>
                <a:lnTo>
                  <a:pt x="372200" y="8369"/>
                </a:lnTo>
                <a:lnTo>
                  <a:pt x="373167" y="9385"/>
                </a:lnTo>
                <a:lnTo>
                  <a:pt x="374083" y="10447"/>
                </a:lnTo>
                <a:lnTo>
                  <a:pt x="374946" y="11553"/>
                </a:lnTo>
                <a:lnTo>
                  <a:pt x="375754" y="12700"/>
                </a:lnTo>
                <a:lnTo>
                  <a:pt x="376504" y="13885"/>
                </a:lnTo>
                <a:lnTo>
                  <a:pt x="377196" y="15105"/>
                </a:lnTo>
                <a:lnTo>
                  <a:pt x="377826" y="16358"/>
                </a:lnTo>
                <a:lnTo>
                  <a:pt x="378395" y="17640"/>
                </a:lnTo>
                <a:lnTo>
                  <a:pt x="378899" y="18948"/>
                </a:lnTo>
                <a:lnTo>
                  <a:pt x="379339" y="20280"/>
                </a:lnTo>
                <a:lnTo>
                  <a:pt x="379713" y="21632"/>
                </a:lnTo>
                <a:lnTo>
                  <a:pt x="380021" y="23000"/>
                </a:lnTo>
                <a:lnTo>
                  <a:pt x="380260" y="24382"/>
                </a:lnTo>
                <a:lnTo>
                  <a:pt x="380432" y="25774"/>
                </a:lnTo>
                <a:lnTo>
                  <a:pt x="380535" y="27173"/>
                </a:lnTo>
                <a:lnTo>
                  <a:pt x="380570" y="28575"/>
                </a:lnTo>
                <a:lnTo>
                  <a:pt x="380570" y="114300"/>
                </a:lnTo>
                <a:lnTo>
                  <a:pt x="380535" y="115702"/>
                </a:lnTo>
                <a:lnTo>
                  <a:pt x="380432" y="117101"/>
                </a:lnTo>
                <a:lnTo>
                  <a:pt x="380260" y="118493"/>
                </a:lnTo>
                <a:lnTo>
                  <a:pt x="380021" y="119875"/>
                </a:lnTo>
                <a:lnTo>
                  <a:pt x="379713" y="121243"/>
                </a:lnTo>
                <a:lnTo>
                  <a:pt x="379339" y="122595"/>
                </a:lnTo>
                <a:lnTo>
                  <a:pt x="378899" y="123927"/>
                </a:lnTo>
                <a:lnTo>
                  <a:pt x="378395" y="125235"/>
                </a:lnTo>
                <a:lnTo>
                  <a:pt x="377826" y="126517"/>
                </a:lnTo>
                <a:lnTo>
                  <a:pt x="377196" y="127770"/>
                </a:lnTo>
                <a:lnTo>
                  <a:pt x="376504" y="128990"/>
                </a:lnTo>
                <a:lnTo>
                  <a:pt x="375754" y="130175"/>
                </a:lnTo>
                <a:lnTo>
                  <a:pt x="374946" y="131322"/>
                </a:lnTo>
                <a:lnTo>
                  <a:pt x="374083" y="132428"/>
                </a:lnTo>
                <a:lnTo>
                  <a:pt x="373167" y="133490"/>
                </a:lnTo>
                <a:lnTo>
                  <a:pt x="372200" y="134506"/>
                </a:lnTo>
                <a:lnTo>
                  <a:pt x="371185" y="135473"/>
                </a:lnTo>
                <a:lnTo>
                  <a:pt x="370122" y="136389"/>
                </a:lnTo>
                <a:lnTo>
                  <a:pt x="369017" y="137252"/>
                </a:lnTo>
                <a:lnTo>
                  <a:pt x="367870" y="138059"/>
                </a:lnTo>
                <a:lnTo>
                  <a:pt x="366685" y="138810"/>
                </a:lnTo>
                <a:lnTo>
                  <a:pt x="365465" y="139501"/>
                </a:lnTo>
                <a:lnTo>
                  <a:pt x="364212" y="140131"/>
                </a:lnTo>
                <a:lnTo>
                  <a:pt x="362930" y="140700"/>
                </a:lnTo>
                <a:lnTo>
                  <a:pt x="361621" y="141205"/>
                </a:lnTo>
                <a:lnTo>
                  <a:pt x="360290" y="141645"/>
                </a:lnTo>
                <a:lnTo>
                  <a:pt x="358938" y="142019"/>
                </a:lnTo>
                <a:lnTo>
                  <a:pt x="357569" y="142326"/>
                </a:lnTo>
                <a:lnTo>
                  <a:pt x="356188" y="142566"/>
                </a:lnTo>
                <a:lnTo>
                  <a:pt x="354796" y="142737"/>
                </a:lnTo>
                <a:lnTo>
                  <a:pt x="353397" y="142841"/>
                </a:lnTo>
                <a:lnTo>
                  <a:pt x="351995" y="142875"/>
                </a:lnTo>
                <a:lnTo>
                  <a:pt x="0" y="142875"/>
                </a:lnTo>
                <a:lnTo>
                  <a:pt x="0" y="0"/>
                </a:lnTo>
              </a:path>
            </a:pathLst>
          </a:custGeom>
          <a:solidFill>
            <a:srgbClr val="0071E3"/>
          </a:solidFill>
          <a:ln/>
        </p:spPr>
      </p:sp>
      <p:sp>
        <p:nvSpPr>
          <p:cNvPr id="26" name="Shape 24"/>
          <p:cNvSpPr/>
          <p:nvPr/>
        </p:nvSpPr>
        <p:spPr>
          <a:xfrm>
            <a:off x="1641745" y="3507916"/>
            <a:ext cx="380570" cy="142875"/>
          </a:xfrm>
          <a:custGeom>
            <a:avLst/>
            <a:gdLst/>
            <a:ahLst/>
            <a:cxnLst/>
            <a:rect l="l" t="t" r="r" b="b"/>
            <a:pathLst>
              <a:path w="380570" h="142875">
                <a:moveTo>
                  <a:pt x="0" y="0"/>
                </a:moveTo>
                <a:lnTo>
                  <a:pt x="351995" y="0"/>
                </a:lnTo>
                <a:lnTo>
                  <a:pt x="353397" y="34"/>
                </a:lnTo>
                <a:lnTo>
                  <a:pt x="354796" y="138"/>
                </a:lnTo>
                <a:lnTo>
                  <a:pt x="356188" y="309"/>
                </a:lnTo>
                <a:lnTo>
                  <a:pt x="357569" y="549"/>
                </a:lnTo>
                <a:lnTo>
                  <a:pt x="358938" y="856"/>
                </a:lnTo>
                <a:lnTo>
                  <a:pt x="360290" y="1230"/>
                </a:lnTo>
                <a:lnTo>
                  <a:pt x="361621" y="1670"/>
                </a:lnTo>
                <a:lnTo>
                  <a:pt x="362930" y="2175"/>
                </a:lnTo>
                <a:lnTo>
                  <a:pt x="364212" y="2744"/>
                </a:lnTo>
                <a:lnTo>
                  <a:pt x="365465" y="3374"/>
                </a:lnTo>
                <a:lnTo>
                  <a:pt x="366685" y="4065"/>
                </a:lnTo>
                <a:lnTo>
                  <a:pt x="367870" y="4816"/>
                </a:lnTo>
                <a:lnTo>
                  <a:pt x="369017" y="5623"/>
                </a:lnTo>
                <a:lnTo>
                  <a:pt x="370122" y="6486"/>
                </a:lnTo>
                <a:lnTo>
                  <a:pt x="371185" y="7402"/>
                </a:lnTo>
                <a:lnTo>
                  <a:pt x="372200" y="8369"/>
                </a:lnTo>
                <a:lnTo>
                  <a:pt x="373167" y="9385"/>
                </a:lnTo>
                <a:lnTo>
                  <a:pt x="374083" y="10447"/>
                </a:lnTo>
                <a:lnTo>
                  <a:pt x="374946" y="11553"/>
                </a:lnTo>
                <a:lnTo>
                  <a:pt x="375754" y="12700"/>
                </a:lnTo>
                <a:lnTo>
                  <a:pt x="376504" y="13885"/>
                </a:lnTo>
                <a:lnTo>
                  <a:pt x="377196" y="15105"/>
                </a:lnTo>
                <a:lnTo>
                  <a:pt x="377826" y="16358"/>
                </a:lnTo>
                <a:lnTo>
                  <a:pt x="378395" y="17640"/>
                </a:lnTo>
                <a:lnTo>
                  <a:pt x="378899" y="18948"/>
                </a:lnTo>
                <a:lnTo>
                  <a:pt x="379339" y="20280"/>
                </a:lnTo>
                <a:lnTo>
                  <a:pt x="379713" y="21632"/>
                </a:lnTo>
                <a:lnTo>
                  <a:pt x="380021" y="23000"/>
                </a:lnTo>
                <a:lnTo>
                  <a:pt x="380260" y="24382"/>
                </a:lnTo>
                <a:lnTo>
                  <a:pt x="380432" y="25774"/>
                </a:lnTo>
                <a:lnTo>
                  <a:pt x="380535" y="27173"/>
                </a:lnTo>
                <a:lnTo>
                  <a:pt x="380570" y="28575"/>
                </a:lnTo>
                <a:lnTo>
                  <a:pt x="380570" y="114300"/>
                </a:lnTo>
                <a:lnTo>
                  <a:pt x="380535" y="115702"/>
                </a:lnTo>
                <a:lnTo>
                  <a:pt x="380432" y="117101"/>
                </a:lnTo>
                <a:lnTo>
                  <a:pt x="380260" y="118493"/>
                </a:lnTo>
                <a:lnTo>
                  <a:pt x="380021" y="119875"/>
                </a:lnTo>
                <a:lnTo>
                  <a:pt x="379713" y="121243"/>
                </a:lnTo>
                <a:lnTo>
                  <a:pt x="379339" y="122595"/>
                </a:lnTo>
                <a:lnTo>
                  <a:pt x="378899" y="123927"/>
                </a:lnTo>
                <a:lnTo>
                  <a:pt x="378395" y="125235"/>
                </a:lnTo>
                <a:lnTo>
                  <a:pt x="377826" y="126517"/>
                </a:lnTo>
                <a:lnTo>
                  <a:pt x="377196" y="127770"/>
                </a:lnTo>
                <a:lnTo>
                  <a:pt x="376504" y="128990"/>
                </a:lnTo>
                <a:lnTo>
                  <a:pt x="375754" y="130175"/>
                </a:lnTo>
                <a:lnTo>
                  <a:pt x="374946" y="131322"/>
                </a:lnTo>
                <a:lnTo>
                  <a:pt x="374083" y="132428"/>
                </a:lnTo>
                <a:lnTo>
                  <a:pt x="373167" y="133490"/>
                </a:lnTo>
                <a:lnTo>
                  <a:pt x="372200" y="134506"/>
                </a:lnTo>
                <a:lnTo>
                  <a:pt x="371185" y="135473"/>
                </a:lnTo>
                <a:lnTo>
                  <a:pt x="370122" y="136389"/>
                </a:lnTo>
                <a:lnTo>
                  <a:pt x="369017" y="137252"/>
                </a:lnTo>
                <a:lnTo>
                  <a:pt x="367870" y="138059"/>
                </a:lnTo>
                <a:lnTo>
                  <a:pt x="366685" y="138810"/>
                </a:lnTo>
                <a:lnTo>
                  <a:pt x="365465" y="139501"/>
                </a:lnTo>
                <a:lnTo>
                  <a:pt x="364212" y="140131"/>
                </a:lnTo>
                <a:lnTo>
                  <a:pt x="362930" y="140700"/>
                </a:lnTo>
                <a:lnTo>
                  <a:pt x="361621" y="141205"/>
                </a:lnTo>
                <a:lnTo>
                  <a:pt x="360290" y="141645"/>
                </a:lnTo>
                <a:lnTo>
                  <a:pt x="358938" y="142019"/>
                </a:lnTo>
                <a:lnTo>
                  <a:pt x="357569" y="142326"/>
                </a:lnTo>
                <a:lnTo>
                  <a:pt x="356188" y="142566"/>
                </a:lnTo>
                <a:lnTo>
                  <a:pt x="354796" y="142737"/>
                </a:lnTo>
                <a:lnTo>
                  <a:pt x="353397" y="142841"/>
                </a:lnTo>
                <a:lnTo>
                  <a:pt x="351995" y="142875"/>
                </a:lnTo>
                <a:lnTo>
                  <a:pt x="0" y="142875"/>
                </a:lnTo>
                <a:lnTo>
                  <a:pt x="0" y="0"/>
                </a:lnTo>
              </a:path>
            </a:pathLst>
          </a:custGeom>
          <a:solidFill>
            <a:srgbClr val="0071E3"/>
          </a:solidFill>
          <a:ln/>
        </p:spPr>
      </p:sp>
      <p:sp>
        <p:nvSpPr>
          <p:cNvPr id="27" name="Shape 25"/>
          <p:cNvSpPr/>
          <p:nvPr/>
        </p:nvSpPr>
        <p:spPr>
          <a:xfrm>
            <a:off x="1641745" y="3073933"/>
            <a:ext cx="3044555" cy="142875"/>
          </a:xfrm>
          <a:custGeom>
            <a:avLst/>
            <a:gdLst/>
            <a:ahLst/>
            <a:cxnLst/>
            <a:rect l="l" t="t" r="r" b="b"/>
            <a:pathLst>
              <a:path w="3044555" h="142875">
                <a:moveTo>
                  <a:pt x="0" y="0"/>
                </a:moveTo>
                <a:lnTo>
                  <a:pt x="3015980" y="0"/>
                </a:lnTo>
                <a:lnTo>
                  <a:pt x="3017382" y="34"/>
                </a:lnTo>
                <a:lnTo>
                  <a:pt x="3018781" y="138"/>
                </a:lnTo>
                <a:lnTo>
                  <a:pt x="3020173" y="309"/>
                </a:lnTo>
                <a:lnTo>
                  <a:pt x="3021555" y="549"/>
                </a:lnTo>
                <a:lnTo>
                  <a:pt x="3022923" y="856"/>
                </a:lnTo>
                <a:lnTo>
                  <a:pt x="3024275" y="1230"/>
                </a:lnTo>
                <a:lnTo>
                  <a:pt x="3025606" y="1670"/>
                </a:lnTo>
                <a:lnTo>
                  <a:pt x="3026915" y="2175"/>
                </a:lnTo>
                <a:lnTo>
                  <a:pt x="3028197" y="2744"/>
                </a:lnTo>
                <a:lnTo>
                  <a:pt x="3029450" y="3374"/>
                </a:lnTo>
                <a:lnTo>
                  <a:pt x="3030670" y="4065"/>
                </a:lnTo>
                <a:lnTo>
                  <a:pt x="3031855" y="4816"/>
                </a:lnTo>
                <a:lnTo>
                  <a:pt x="3033002" y="5623"/>
                </a:lnTo>
                <a:lnTo>
                  <a:pt x="3034108" y="6486"/>
                </a:lnTo>
                <a:lnTo>
                  <a:pt x="3035170" y="7402"/>
                </a:lnTo>
                <a:lnTo>
                  <a:pt x="3036185" y="8369"/>
                </a:lnTo>
                <a:lnTo>
                  <a:pt x="3037152" y="9385"/>
                </a:lnTo>
                <a:lnTo>
                  <a:pt x="3038069" y="10447"/>
                </a:lnTo>
                <a:lnTo>
                  <a:pt x="3038931" y="11553"/>
                </a:lnTo>
                <a:lnTo>
                  <a:pt x="3039739" y="12700"/>
                </a:lnTo>
                <a:lnTo>
                  <a:pt x="3040489" y="13885"/>
                </a:lnTo>
                <a:lnTo>
                  <a:pt x="3041181" y="15105"/>
                </a:lnTo>
                <a:lnTo>
                  <a:pt x="3041811" y="16358"/>
                </a:lnTo>
                <a:lnTo>
                  <a:pt x="3042380" y="17640"/>
                </a:lnTo>
                <a:lnTo>
                  <a:pt x="3042884" y="18948"/>
                </a:lnTo>
                <a:lnTo>
                  <a:pt x="3043324" y="20280"/>
                </a:lnTo>
                <a:lnTo>
                  <a:pt x="3043698" y="21632"/>
                </a:lnTo>
                <a:lnTo>
                  <a:pt x="3044006" y="23000"/>
                </a:lnTo>
                <a:lnTo>
                  <a:pt x="3044246" y="24382"/>
                </a:lnTo>
                <a:lnTo>
                  <a:pt x="3044417" y="25774"/>
                </a:lnTo>
                <a:lnTo>
                  <a:pt x="3044520" y="27173"/>
                </a:lnTo>
                <a:lnTo>
                  <a:pt x="3044555" y="28575"/>
                </a:lnTo>
                <a:lnTo>
                  <a:pt x="3044555" y="114300"/>
                </a:lnTo>
                <a:lnTo>
                  <a:pt x="3044520" y="115702"/>
                </a:lnTo>
                <a:lnTo>
                  <a:pt x="3044417" y="117101"/>
                </a:lnTo>
                <a:lnTo>
                  <a:pt x="3044246" y="118493"/>
                </a:lnTo>
                <a:lnTo>
                  <a:pt x="3044006" y="119875"/>
                </a:lnTo>
                <a:lnTo>
                  <a:pt x="3043698" y="121243"/>
                </a:lnTo>
                <a:lnTo>
                  <a:pt x="3043324" y="122595"/>
                </a:lnTo>
                <a:lnTo>
                  <a:pt x="3042884" y="123927"/>
                </a:lnTo>
                <a:lnTo>
                  <a:pt x="3042380" y="125235"/>
                </a:lnTo>
                <a:lnTo>
                  <a:pt x="3041811" y="126517"/>
                </a:lnTo>
                <a:lnTo>
                  <a:pt x="3041181" y="127770"/>
                </a:lnTo>
                <a:lnTo>
                  <a:pt x="3040489" y="128990"/>
                </a:lnTo>
                <a:lnTo>
                  <a:pt x="3039739" y="130175"/>
                </a:lnTo>
                <a:lnTo>
                  <a:pt x="3038931" y="131322"/>
                </a:lnTo>
                <a:lnTo>
                  <a:pt x="3038069" y="132428"/>
                </a:lnTo>
                <a:lnTo>
                  <a:pt x="3037152" y="133490"/>
                </a:lnTo>
                <a:lnTo>
                  <a:pt x="3036185" y="134506"/>
                </a:lnTo>
                <a:lnTo>
                  <a:pt x="3035170" y="135473"/>
                </a:lnTo>
                <a:lnTo>
                  <a:pt x="3034108" y="136389"/>
                </a:lnTo>
                <a:lnTo>
                  <a:pt x="3033002" y="137252"/>
                </a:lnTo>
                <a:lnTo>
                  <a:pt x="3031855" y="138059"/>
                </a:lnTo>
                <a:lnTo>
                  <a:pt x="3030670" y="138810"/>
                </a:lnTo>
                <a:lnTo>
                  <a:pt x="3029450" y="139501"/>
                </a:lnTo>
                <a:lnTo>
                  <a:pt x="3028197" y="140131"/>
                </a:lnTo>
                <a:lnTo>
                  <a:pt x="3026915" y="140700"/>
                </a:lnTo>
                <a:lnTo>
                  <a:pt x="3025606" y="141205"/>
                </a:lnTo>
                <a:lnTo>
                  <a:pt x="3024275" y="141645"/>
                </a:lnTo>
                <a:lnTo>
                  <a:pt x="3022923" y="142019"/>
                </a:lnTo>
                <a:lnTo>
                  <a:pt x="3021555" y="142326"/>
                </a:lnTo>
                <a:lnTo>
                  <a:pt x="3020173" y="142566"/>
                </a:lnTo>
                <a:lnTo>
                  <a:pt x="3018781" y="142737"/>
                </a:lnTo>
                <a:lnTo>
                  <a:pt x="3017382" y="142841"/>
                </a:lnTo>
                <a:lnTo>
                  <a:pt x="3015980" y="142875"/>
                </a:lnTo>
                <a:lnTo>
                  <a:pt x="0" y="142875"/>
                </a:lnTo>
                <a:lnTo>
                  <a:pt x="0" y="0"/>
                </a:lnTo>
              </a:path>
            </a:pathLst>
          </a:custGeom>
          <a:solidFill>
            <a:srgbClr val="0071E3"/>
          </a:solidFill>
          <a:ln/>
        </p:spPr>
      </p:sp>
      <p:sp>
        <p:nvSpPr>
          <p:cNvPr id="28" name="Shape 26"/>
          <p:cNvSpPr/>
          <p:nvPr/>
        </p:nvSpPr>
        <p:spPr>
          <a:xfrm>
            <a:off x="1641745" y="2639950"/>
            <a:ext cx="2740100" cy="142875"/>
          </a:xfrm>
          <a:custGeom>
            <a:avLst/>
            <a:gdLst/>
            <a:ahLst/>
            <a:cxnLst/>
            <a:rect l="l" t="t" r="r" b="b"/>
            <a:pathLst>
              <a:path w="2740100" h="142875">
                <a:moveTo>
                  <a:pt x="0" y="0"/>
                </a:moveTo>
                <a:lnTo>
                  <a:pt x="2711525" y="0"/>
                </a:lnTo>
                <a:lnTo>
                  <a:pt x="2712927" y="34"/>
                </a:lnTo>
                <a:lnTo>
                  <a:pt x="2714325" y="138"/>
                </a:lnTo>
                <a:lnTo>
                  <a:pt x="2715717" y="309"/>
                </a:lnTo>
                <a:lnTo>
                  <a:pt x="2717099" y="549"/>
                </a:lnTo>
                <a:lnTo>
                  <a:pt x="2718468" y="856"/>
                </a:lnTo>
                <a:lnTo>
                  <a:pt x="2719819" y="1230"/>
                </a:lnTo>
                <a:lnTo>
                  <a:pt x="2721151" y="1670"/>
                </a:lnTo>
                <a:lnTo>
                  <a:pt x="2722460" y="2175"/>
                </a:lnTo>
                <a:lnTo>
                  <a:pt x="2723742" y="2744"/>
                </a:lnTo>
                <a:lnTo>
                  <a:pt x="2724995" y="3374"/>
                </a:lnTo>
                <a:lnTo>
                  <a:pt x="2726215" y="4065"/>
                </a:lnTo>
                <a:lnTo>
                  <a:pt x="2727400" y="4816"/>
                </a:lnTo>
                <a:lnTo>
                  <a:pt x="2728547" y="5623"/>
                </a:lnTo>
                <a:lnTo>
                  <a:pt x="2729652" y="6486"/>
                </a:lnTo>
                <a:lnTo>
                  <a:pt x="2730714" y="7402"/>
                </a:lnTo>
                <a:lnTo>
                  <a:pt x="2731730" y="8369"/>
                </a:lnTo>
                <a:lnTo>
                  <a:pt x="2732697" y="9385"/>
                </a:lnTo>
                <a:lnTo>
                  <a:pt x="2733613" y="10447"/>
                </a:lnTo>
                <a:lnTo>
                  <a:pt x="2734476" y="11553"/>
                </a:lnTo>
                <a:lnTo>
                  <a:pt x="2735284" y="12700"/>
                </a:lnTo>
                <a:lnTo>
                  <a:pt x="2736034" y="13885"/>
                </a:lnTo>
                <a:lnTo>
                  <a:pt x="2736726" y="15105"/>
                </a:lnTo>
                <a:lnTo>
                  <a:pt x="2737356" y="16358"/>
                </a:lnTo>
                <a:lnTo>
                  <a:pt x="2737924" y="17640"/>
                </a:lnTo>
                <a:lnTo>
                  <a:pt x="2738429" y="18948"/>
                </a:lnTo>
                <a:lnTo>
                  <a:pt x="2738869" y="20280"/>
                </a:lnTo>
                <a:lnTo>
                  <a:pt x="2739243" y="21632"/>
                </a:lnTo>
                <a:lnTo>
                  <a:pt x="2739551" y="23000"/>
                </a:lnTo>
                <a:lnTo>
                  <a:pt x="2739790" y="24382"/>
                </a:lnTo>
                <a:lnTo>
                  <a:pt x="2739962" y="25774"/>
                </a:lnTo>
                <a:lnTo>
                  <a:pt x="2740065" y="27173"/>
                </a:lnTo>
                <a:lnTo>
                  <a:pt x="2740100" y="28575"/>
                </a:lnTo>
                <a:lnTo>
                  <a:pt x="2740100" y="114300"/>
                </a:lnTo>
                <a:lnTo>
                  <a:pt x="2740065" y="115702"/>
                </a:lnTo>
                <a:lnTo>
                  <a:pt x="2739962" y="117101"/>
                </a:lnTo>
                <a:lnTo>
                  <a:pt x="2739790" y="118493"/>
                </a:lnTo>
                <a:lnTo>
                  <a:pt x="2739551" y="119875"/>
                </a:lnTo>
                <a:lnTo>
                  <a:pt x="2739243" y="121243"/>
                </a:lnTo>
                <a:lnTo>
                  <a:pt x="2738869" y="122595"/>
                </a:lnTo>
                <a:lnTo>
                  <a:pt x="2738429" y="123927"/>
                </a:lnTo>
                <a:lnTo>
                  <a:pt x="2737924" y="125235"/>
                </a:lnTo>
                <a:lnTo>
                  <a:pt x="2737356" y="126517"/>
                </a:lnTo>
                <a:lnTo>
                  <a:pt x="2736726" y="127770"/>
                </a:lnTo>
                <a:lnTo>
                  <a:pt x="2736034" y="128990"/>
                </a:lnTo>
                <a:lnTo>
                  <a:pt x="2735284" y="130175"/>
                </a:lnTo>
                <a:lnTo>
                  <a:pt x="2734476" y="131322"/>
                </a:lnTo>
                <a:lnTo>
                  <a:pt x="2733613" y="132428"/>
                </a:lnTo>
                <a:lnTo>
                  <a:pt x="2732697" y="133490"/>
                </a:lnTo>
                <a:lnTo>
                  <a:pt x="2731730" y="134506"/>
                </a:lnTo>
                <a:lnTo>
                  <a:pt x="2730714" y="135473"/>
                </a:lnTo>
                <a:lnTo>
                  <a:pt x="2729652" y="136389"/>
                </a:lnTo>
                <a:lnTo>
                  <a:pt x="2728547" y="137252"/>
                </a:lnTo>
                <a:lnTo>
                  <a:pt x="2727400" y="138059"/>
                </a:lnTo>
                <a:lnTo>
                  <a:pt x="2726215" y="138810"/>
                </a:lnTo>
                <a:lnTo>
                  <a:pt x="2724995" y="139501"/>
                </a:lnTo>
                <a:lnTo>
                  <a:pt x="2723742" y="140131"/>
                </a:lnTo>
                <a:lnTo>
                  <a:pt x="2722460" y="140700"/>
                </a:lnTo>
                <a:lnTo>
                  <a:pt x="2721151" y="141205"/>
                </a:lnTo>
                <a:lnTo>
                  <a:pt x="2719819" y="141645"/>
                </a:lnTo>
                <a:lnTo>
                  <a:pt x="2718468" y="142019"/>
                </a:lnTo>
                <a:lnTo>
                  <a:pt x="2717099" y="142326"/>
                </a:lnTo>
                <a:lnTo>
                  <a:pt x="2715717" y="142566"/>
                </a:lnTo>
                <a:lnTo>
                  <a:pt x="2714325" y="142737"/>
                </a:lnTo>
                <a:lnTo>
                  <a:pt x="2712927" y="142841"/>
                </a:lnTo>
                <a:lnTo>
                  <a:pt x="2711525" y="142875"/>
                </a:lnTo>
                <a:lnTo>
                  <a:pt x="0" y="142875"/>
                </a:lnTo>
                <a:lnTo>
                  <a:pt x="0" y="0"/>
                </a:lnTo>
              </a:path>
            </a:pathLst>
          </a:custGeom>
          <a:solidFill>
            <a:srgbClr val="0071E3"/>
          </a:solidFill>
          <a:ln/>
        </p:spPr>
      </p:sp>
      <p:sp>
        <p:nvSpPr>
          <p:cNvPr id="29" name="Text 27"/>
          <p:cNvSpPr/>
          <p:nvPr/>
        </p:nvSpPr>
        <p:spPr>
          <a:xfrm>
            <a:off x="2065177" y="3953329"/>
            <a:ext cx="1082993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首批 5 例</a:t>
            </a:r>
            <a:endParaRPr lang="en-US" sz="788" dirty="0"/>
          </a:p>
        </p:txBody>
      </p:sp>
      <p:sp>
        <p:nvSpPr>
          <p:cNvPr id="30" name="Text 28"/>
          <p:cNvSpPr/>
          <p:nvPr/>
        </p:nvSpPr>
        <p:spPr>
          <a:xfrm>
            <a:off x="2065177" y="3519346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5 例</a:t>
            </a:r>
            <a:endParaRPr lang="en-US" sz="788" dirty="0"/>
          </a:p>
        </p:txBody>
      </p:sp>
      <p:sp>
        <p:nvSpPr>
          <p:cNvPr id="31" name="Text 29"/>
          <p:cNvSpPr/>
          <p:nvPr/>
        </p:nvSpPr>
        <p:spPr>
          <a:xfrm>
            <a:off x="4729163" y="3085363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40 余例</a:t>
            </a:r>
            <a:endParaRPr lang="en-US" sz="788" dirty="0"/>
          </a:p>
        </p:txBody>
      </p:sp>
      <p:sp>
        <p:nvSpPr>
          <p:cNvPr id="32" name="Text 30"/>
          <p:cNvSpPr/>
          <p:nvPr/>
        </p:nvSpPr>
        <p:spPr>
          <a:xfrm>
            <a:off x="4424707" y="2651380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36 例</a:t>
            </a:r>
            <a:endParaRPr lang="en-US" sz="788" dirty="0"/>
          </a:p>
        </p:txBody>
      </p:sp>
      <p:sp>
        <p:nvSpPr>
          <p:cNvPr id="33" name="Shape 31"/>
          <p:cNvSpPr/>
          <p:nvPr/>
        </p:nvSpPr>
        <p:spPr>
          <a:xfrm>
            <a:off x="5316569" y="2046573"/>
            <a:ext cx="3614738" cy="528638"/>
          </a:xfrm>
          <a:prstGeom prst="roundRect">
            <a:avLst>
              <a:gd name="adj" fmla="val 4675"/>
            </a:avLst>
          </a:prstGeom>
          <a:solidFill>
            <a:srgbClr val="F5F5F7"/>
          </a:solidFill>
          <a:ln/>
        </p:spPr>
      </p:sp>
      <p:sp>
        <p:nvSpPr>
          <p:cNvPr id="34" name="Shape 32"/>
          <p:cNvSpPr/>
          <p:nvPr/>
        </p:nvSpPr>
        <p:spPr>
          <a:xfrm>
            <a:off x="5316569" y="2657363"/>
            <a:ext cx="3614738" cy="528638"/>
          </a:xfrm>
          <a:prstGeom prst="roundRect">
            <a:avLst>
              <a:gd name="adj" fmla="val 4675"/>
            </a:avLst>
          </a:prstGeom>
          <a:solidFill>
            <a:srgbClr val="F5F5F7"/>
          </a:solidFill>
          <a:ln/>
        </p:spPr>
      </p:sp>
      <p:sp>
        <p:nvSpPr>
          <p:cNvPr id="35" name="Shape 33"/>
          <p:cNvSpPr/>
          <p:nvPr/>
        </p:nvSpPr>
        <p:spPr>
          <a:xfrm>
            <a:off x="5316569" y="3268154"/>
            <a:ext cx="3614738" cy="528638"/>
          </a:xfrm>
          <a:prstGeom prst="roundRect">
            <a:avLst>
              <a:gd name="adj" fmla="val 4675"/>
            </a:avLst>
          </a:prstGeom>
          <a:solidFill>
            <a:srgbClr val="F5F5F7"/>
          </a:solidFill>
          <a:ln/>
        </p:spPr>
      </p:sp>
      <p:sp>
        <p:nvSpPr>
          <p:cNvPr id="36" name="Shape 34"/>
          <p:cNvSpPr/>
          <p:nvPr/>
        </p:nvSpPr>
        <p:spPr>
          <a:xfrm>
            <a:off x="5316569" y="3878945"/>
            <a:ext cx="3614738" cy="528638"/>
          </a:xfrm>
          <a:prstGeom prst="roundRect">
            <a:avLst>
              <a:gd name="adj" fmla="val 4675"/>
            </a:avLst>
          </a:prstGeom>
          <a:solidFill>
            <a:srgbClr val="F5F5F7"/>
          </a:solidFill>
          <a:ln/>
        </p:spPr>
      </p:sp>
      <p:sp>
        <p:nvSpPr>
          <p:cNvPr id="37" name="Text 35"/>
          <p:cNvSpPr/>
          <p:nvPr/>
        </p:nvSpPr>
        <p:spPr>
          <a:xfrm>
            <a:off x="214313" y="501625"/>
            <a:ext cx="8715375" cy="2643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临床路径已跑通：从伦理批件到受试者入组的六个节点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300038" y="1305074"/>
            <a:ext cx="142875" cy="142875"/>
          </a:xfrm>
          <a:prstGeom prst="ellipse">
            <a:avLst/>
          </a:prstGeom>
          <a:solidFill>
            <a:srgbClr val="1D1D1F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01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00453" y="1305018"/>
            <a:ext cx="450056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医工协同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00038" y="1505210"/>
            <a:ext cx="1185863" cy="2857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临床需求定义—器件迭代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—术式与植入方案设计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1771650" y="1305074"/>
            <a:ext cx="142875" cy="142875"/>
          </a:xfrm>
          <a:prstGeom prst="ellipse">
            <a:avLst/>
          </a:prstGeom>
          <a:solidFill>
            <a:srgbClr val="1D1D1F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02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972066" y="1305018"/>
            <a:ext cx="450056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注册检验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771650" y="1505210"/>
            <a:ext cx="1185863" cy="2857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二、三类器械注册前须取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得合格注册检验报告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243263" y="1305074"/>
            <a:ext cx="142875" cy="142875"/>
          </a:xfrm>
          <a:prstGeom prst="ellipse">
            <a:avLst/>
          </a:prstGeom>
          <a:solidFill>
            <a:srgbClr val="1D1D1F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03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443678" y="1305018"/>
            <a:ext cx="450056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动物实验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243263" y="1505210"/>
            <a:ext cx="1185863" cy="2857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序列位于注册检验之后、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伦理送审之前的验证节点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714875" y="1233636"/>
            <a:ext cx="142875" cy="142875"/>
          </a:xfrm>
          <a:prstGeom prst="ellipse">
            <a:avLst/>
          </a:prstGeom>
          <a:solidFill>
            <a:srgbClr val="1D1D1F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04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915291" y="1233581"/>
            <a:ext cx="450056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伦理审批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714875" y="1433829"/>
            <a:ext cx="1185863" cy="42862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NEO 2023 年 4 月通过宣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武医院伦理审查并完成试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验注册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186488" y="1305074"/>
            <a:ext cx="142875" cy="142875"/>
          </a:xfrm>
          <a:prstGeom prst="ellipse">
            <a:avLst/>
          </a:prstGeom>
          <a:solidFill>
            <a:srgbClr val="1D1D1F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05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385285" y="1305018"/>
            <a:ext cx="678656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临床试验备案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186488" y="1505210"/>
            <a:ext cx="1185863" cy="2857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按 2022 年 5 月施行的规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范完成项目备案后开展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7658100" y="1305074"/>
            <a:ext cx="142875" cy="142875"/>
          </a:xfrm>
          <a:prstGeom prst="ellipse">
            <a:avLst/>
          </a:prstGeom>
          <a:solidFill>
            <a:srgbClr val="1D1D1F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06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7858516" y="1305018"/>
            <a:ext cx="450056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首例入组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658100" y="1505210"/>
            <a:ext cx="1185863" cy="2857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NEO 2023-10-24 首例植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入，距伦理通过约 6 个月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215038" y="2047745"/>
            <a:ext cx="1914525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对标项目累计临床植入与注册验证例数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691211" y="2054107"/>
            <a:ext cx="400050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单位：例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215931" y="2217186"/>
            <a:ext cx="4872038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NEO 于 2026-03-13 获国家药监局批准上市；例数取公开报道的累计临床口径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5430869" y="2126493"/>
            <a:ext cx="3386138" cy="2071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11 家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5430869" y="2359391"/>
            <a:ext cx="3386138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NEO 获批上市前开展多中心确证性试验的合作医院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5430869" y="2737284"/>
            <a:ext cx="3386138" cy="2071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36 例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5430869" y="2970181"/>
            <a:ext cx="3386138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NEO 累计临床手术：4 例可行性 + 32 例多中心确证性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5430869" y="3348075"/>
            <a:ext cx="3386138" cy="2071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约 29 个月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5430869" y="3580972"/>
            <a:ext cx="3386138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NEO 首例植入至获批上市全链路时长（公开日期推算）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5430869" y="3958865"/>
            <a:ext cx="3386138" cy="2071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98% 以上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5430869" y="4191763"/>
            <a:ext cx="3386138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北脑一号植入后设备有效通道数占比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214313" y="4664869"/>
            <a:ext cx="871537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来源：首都医科大学新闻网 / 清华大学 / 国家药监局 / 财联社 / 北京市科学技术委员会 / 中国科学院 / 阶梯医疗官网 / 解放日报；时长为按公开日期推算</a:t>
            </a:r>
            <a:endParaRPr lang="en-US" sz="700" dirty="0"/>
          </a:p>
        </p:txBody>
      </p:sp>
      <p:sp>
        <p:nvSpPr>
          <p:cNvPr id="65535" name="wm:hwcld:2026-09-22T19:07:46:581b05d5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2" y="853232"/>
            <a:ext cx="285750" cy="7144"/>
          </a:xfrm>
          <a:prstGeom prst="rect">
            <a:avLst/>
          </a:prstGeom>
          <a:solidFill>
            <a:srgbClr val="1D1D1F"/>
          </a:solidFill>
          <a:ln/>
        </p:spPr>
      </p:sp>
      <p:sp>
        <p:nvSpPr>
          <p:cNvPr id="4" name="Shape 2"/>
          <p:cNvSpPr/>
          <p:nvPr/>
        </p:nvSpPr>
        <p:spPr>
          <a:xfrm>
            <a:off x="1472115" y="1205285"/>
            <a:ext cx="2064544" cy="200025"/>
          </a:xfrm>
          <a:prstGeom prst="roundRect">
            <a:avLst>
              <a:gd name="adj" fmla="val 20408"/>
            </a:avLst>
          </a:prstGeom>
          <a:solidFill>
            <a:srgbClr val="F5F5F7"/>
          </a:solidFill>
          <a:ln/>
        </p:spPr>
      </p:sp>
      <p:sp>
        <p:nvSpPr>
          <p:cNvPr id="5" name="Shape 3"/>
          <p:cNvSpPr/>
          <p:nvPr/>
        </p:nvSpPr>
        <p:spPr>
          <a:xfrm>
            <a:off x="3622886" y="1283866"/>
            <a:ext cx="42863" cy="42863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6" name="Shape 4"/>
          <p:cNvSpPr/>
          <p:nvPr/>
        </p:nvSpPr>
        <p:spPr>
          <a:xfrm>
            <a:off x="5401345" y="1283866"/>
            <a:ext cx="42863" cy="42863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7" name="Shape 5"/>
          <p:cNvSpPr/>
          <p:nvPr/>
        </p:nvSpPr>
        <p:spPr>
          <a:xfrm>
            <a:off x="7179804" y="1283866"/>
            <a:ext cx="42863" cy="42863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8" name="Shape 6"/>
          <p:cNvSpPr/>
          <p:nvPr/>
        </p:nvSpPr>
        <p:spPr>
          <a:xfrm>
            <a:off x="214313" y="1462460"/>
            <a:ext cx="8715375" cy="564356"/>
          </a:xfrm>
          <a:prstGeom prst="roundRect">
            <a:avLst>
              <a:gd name="adj" fmla="val 4102"/>
            </a:avLst>
          </a:prstGeom>
          <a:solidFill>
            <a:srgbClr val="F5F5F7"/>
          </a:solidFill>
          <a:ln/>
        </p:spPr>
      </p:sp>
      <p:sp>
        <p:nvSpPr>
          <p:cNvPr id="9" name="Shape 7"/>
          <p:cNvSpPr/>
          <p:nvPr/>
        </p:nvSpPr>
        <p:spPr>
          <a:xfrm>
            <a:off x="1472115" y="1491035"/>
            <a:ext cx="2064544" cy="507206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594143" y="1491035"/>
            <a:ext cx="1721644" cy="507206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3680036" y="1569616"/>
            <a:ext cx="42863" cy="42863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2" name="Shape 10"/>
          <p:cNvSpPr/>
          <p:nvPr/>
        </p:nvSpPr>
        <p:spPr>
          <a:xfrm>
            <a:off x="5372602" y="1491035"/>
            <a:ext cx="1721644" cy="507206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458495" y="1569616"/>
            <a:ext cx="42863" cy="42863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4" name="Shape 12"/>
          <p:cNvSpPr/>
          <p:nvPr/>
        </p:nvSpPr>
        <p:spPr>
          <a:xfrm>
            <a:off x="7151061" y="1491035"/>
            <a:ext cx="1721644" cy="507206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236954" y="1569616"/>
            <a:ext cx="42863" cy="42863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6" name="Shape 14"/>
          <p:cNvSpPr/>
          <p:nvPr/>
        </p:nvSpPr>
        <p:spPr>
          <a:xfrm>
            <a:off x="214313" y="2083966"/>
            <a:ext cx="8715375" cy="564356"/>
          </a:xfrm>
          <a:prstGeom prst="roundRect">
            <a:avLst>
              <a:gd name="adj" fmla="val 4102"/>
            </a:avLst>
          </a:prstGeom>
          <a:solidFill>
            <a:srgbClr val="F5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1472115" y="2112541"/>
            <a:ext cx="2064544" cy="507206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3594143" y="2112541"/>
            <a:ext cx="1721644" cy="507206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3680036" y="2191122"/>
            <a:ext cx="42863" cy="42863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20" name="Shape 18"/>
          <p:cNvSpPr/>
          <p:nvPr/>
        </p:nvSpPr>
        <p:spPr>
          <a:xfrm>
            <a:off x="5372602" y="2112541"/>
            <a:ext cx="1721644" cy="507206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458495" y="2191122"/>
            <a:ext cx="42863" cy="42863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22" name="Shape 20"/>
          <p:cNvSpPr/>
          <p:nvPr/>
        </p:nvSpPr>
        <p:spPr>
          <a:xfrm>
            <a:off x="7151061" y="2112541"/>
            <a:ext cx="1721644" cy="507206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7236954" y="2191122"/>
            <a:ext cx="42863" cy="42863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24" name="Shape 22"/>
          <p:cNvSpPr/>
          <p:nvPr/>
        </p:nvSpPr>
        <p:spPr>
          <a:xfrm>
            <a:off x="214313" y="2705472"/>
            <a:ext cx="8715375" cy="564356"/>
          </a:xfrm>
          <a:prstGeom prst="roundRect">
            <a:avLst>
              <a:gd name="adj" fmla="val 4102"/>
            </a:avLst>
          </a:prstGeom>
          <a:solidFill>
            <a:srgbClr val="F5F5F7"/>
          </a:solidFill>
          <a:ln/>
        </p:spPr>
      </p:sp>
      <p:sp>
        <p:nvSpPr>
          <p:cNvPr id="25" name="Shape 23"/>
          <p:cNvSpPr/>
          <p:nvPr/>
        </p:nvSpPr>
        <p:spPr>
          <a:xfrm>
            <a:off x="1472115" y="2734047"/>
            <a:ext cx="2064544" cy="507206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3594143" y="2734047"/>
            <a:ext cx="1721644" cy="507206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3680036" y="2812628"/>
            <a:ext cx="42863" cy="42863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28" name="Shape 26"/>
          <p:cNvSpPr/>
          <p:nvPr/>
        </p:nvSpPr>
        <p:spPr>
          <a:xfrm>
            <a:off x="5372602" y="2734047"/>
            <a:ext cx="1721644" cy="507206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5458495" y="2812628"/>
            <a:ext cx="42863" cy="42863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30" name="Shape 28"/>
          <p:cNvSpPr/>
          <p:nvPr/>
        </p:nvSpPr>
        <p:spPr>
          <a:xfrm>
            <a:off x="7151061" y="2734047"/>
            <a:ext cx="1721644" cy="507206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7236954" y="2812628"/>
            <a:ext cx="42863" cy="42863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32" name="Shape 30"/>
          <p:cNvSpPr/>
          <p:nvPr/>
        </p:nvSpPr>
        <p:spPr>
          <a:xfrm>
            <a:off x="214313" y="3326978"/>
            <a:ext cx="8715375" cy="564356"/>
          </a:xfrm>
          <a:prstGeom prst="roundRect">
            <a:avLst>
              <a:gd name="adj" fmla="val 4102"/>
            </a:avLst>
          </a:prstGeom>
          <a:solidFill>
            <a:srgbClr val="F5F5F7"/>
          </a:solidFill>
          <a:ln/>
        </p:spPr>
      </p:sp>
      <p:sp>
        <p:nvSpPr>
          <p:cNvPr id="33" name="Shape 31"/>
          <p:cNvSpPr/>
          <p:nvPr/>
        </p:nvSpPr>
        <p:spPr>
          <a:xfrm>
            <a:off x="1472115" y="3355553"/>
            <a:ext cx="2064544" cy="507206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3594143" y="3355553"/>
            <a:ext cx="1721644" cy="507206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3680036" y="3434135"/>
            <a:ext cx="42863" cy="42863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36" name="Shape 34"/>
          <p:cNvSpPr/>
          <p:nvPr/>
        </p:nvSpPr>
        <p:spPr>
          <a:xfrm>
            <a:off x="5372602" y="3355553"/>
            <a:ext cx="1721644" cy="507206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5458495" y="3434135"/>
            <a:ext cx="42863" cy="42863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38" name="Shape 36"/>
          <p:cNvSpPr/>
          <p:nvPr/>
        </p:nvSpPr>
        <p:spPr>
          <a:xfrm>
            <a:off x="7151061" y="3355553"/>
            <a:ext cx="1721644" cy="507206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7236954" y="3434135"/>
            <a:ext cx="42863" cy="42863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40" name="Shape 38"/>
          <p:cNvSpPr/>
          <p:nvPr/>
        </p:nvSpPr>
        <p:spPr>
          <a:xfrm>
            <a:off x="214313" y="3948485"/>
            <a:ext cx="2828925" cy="428625"/>
          </a:xfrm>
          <a:prstGeom prst="roundRect">
            <a:avLst>
              <a:gd name="adj" fmla="val 7111"/>
            </a:avLst>
          </a:prstGeom>
          <a:solidFill>
            <a:srgbClr val="F5F5F7"/>
          </a:solidFill>
          <a:ln/>
        </p:spPr>
      </p:sp>
      <p:sp>
        <p:nvSpPr>
          <p:cNvPr id="41" name="Shape 39"/>
          <p:cNvSpPr/>
          <p:nvPr/>
        </p:nvSpPr>
        <p:spPr>
          <a:xfrm>
            <a:off x="3157538" y="3948485"/>
            <a:ext cx="2828925" cy="428625"/>
          </a:xfrm>
          <a:prstGeom prst="roundRect">
            <a:avLst>
              <a:gd name="adj" fmla="val 7111"/>
            </a:avLst>
          </a:prstGeom>
          <a:solidFill>
            <a:srgbClr val="F5F5F7"/>
          </a:solidFill>
          <a:ln/>
        </p:spPr>
      </p:sp>
      <p:sp>
        <p:nvSpPr>
          <p:cNvPr id="42" name="Shape 40"/>
          <p:cNvSpPr/>
          <p:nvPr/>
        </p:nvSpPr>
        <p:spPr>
          <a:xfrm>
            <a:off x="6100763" y="3948485"/>
            <a:ext cx="2828925" cy="428625"/>
          </a:xfrm>
          <a:prstGeom prst="roundRect">
            <a:avLst>
              <a:gd name="adj" fmla="val 7111"/>
            </a:avLst>
          </a:prstGeom>
          <a:solidFill>
            <a:srgbClr val="F5F5F7"/>
          </a:solidFill>
          <a:ln/>
        </p:spPr>
      </p:sp>
      <p:sp>
        <p:nvSpPr>
          <p:cNvPr id="43" name="Text 41"/>
          <p:cNvSpPr/>
          <p:nvPr/>
        </p:nvSpPr>
        <p:spPr>
          <a:xfrm>
            <a:off x="214313" y="501625"/>
            <a:ext cx="8715375" cy="2643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技术路线图：材料—器件—系统—临床四级演进，2026–2028 里程碑已明确</a:t>
            </a:r>
            <a:endParaRPr lang="en-US" sz="1900" dirty="0"/>
          </a:p>
        </p:txBody>
      </p:sp>
      <p:sp>
        <p:nvSpPr>
          <p:cNvPr id="44" name="Text 42"/>
          <p:cNvSpPr/>
          <p:nvPr/>
        </p:nvSpPr>
        <p:spPr>
          <a:xfrm>
            <a:off x="272579" y="1249542"/>
            <a:ext cx="571500" cy="135731"/>
          </a:xfrm>
          <a:prstGeom prst="rect">
            <a:avLst/>
          </a:prstGeom>
          <a:ln/>
        </p:spPr>
        <p:txBody>
          <a:bodyPr wrap="none" lIns="0" tIns="0" rIns="0" bIns="0" rtlCol="0" anchor="b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泳道 · 责任方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1657350" y="1237376"/>
            <a:ext cx="1271588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2023–2025 已完成（实测）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3723177" y="1230288"/>
            <a:ext cx="535781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71E3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2026 目标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501636" y="1230288"/>
            <a:ext cx="535781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71E3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2027 目标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280095" y="1230288"/>
            <a:ext cx="535781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71E3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2028 目标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71462" y="1533060"/>
            <a:ext cx="1143000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材料层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71462" y="1688213"/>
            <a:ext cx="1143000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材料与工艺组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271462" y="1821154"/>
            <a:ext cx="1143000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可拉伸导体与介电材料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1657852" y="1518270"/>
            <a:ext cx="1793081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支撑良率 78% → 92%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657852" y="1682018"/>
            <a:ext cx="1793081" cy="2643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可拉伸导体/介电材料选型与小批量验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证，批次一致性攻关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3779379" y="1518270"/>
            <a:ext cx="113585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单站良率 ≥95%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779379" y="1679842"/>
            <a:ext cx="1204008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71E3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M1</a:t>
            </a:r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关键工序 CPK ≥1.33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558340" y="1518270"/>
            <a:ext cx="1450181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批次一致性放行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558340" y="1682018"/>
            <a:ext cx="1450181" cy="2643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纳入供应商放行标准，来料检测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能力就位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7336799" y="1518270"/>
            <a:ext cx="1450181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可降解 · 自修复材料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336799" y="1682018"/>
            <a:ext cx="1450181" cy="2643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完成器件级验证，进入阵列工艺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适配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271462" y="2154566"/>
            <a:ext cx="1143000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器件层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71462" y="2309719"/>
            <a:ext cx="1143000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器件与制程整合组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271462" y="2442660"/>
            <a:ext cx="1143000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传感阵列与柔性 OLED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1657852" y="2139776"/>
            <a:ext cx="1793081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良率 92% · 弯曲 10 万次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657852" y="2303525"/>
            <a:ext cx="1793081" cy="2643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可拉伸传感阵列量产良率 78% → 92%；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柔性 OLED 弯曲无衰减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3779881" y="2139776"/>
            <a:ext cx="1450181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良率 95% · 弯折 50 万次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3779881" y="2303525"/>
            <a:ext cx="1450181" cy="2643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71E3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M2 M3</a:t>
            </a:r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连续 3 批次总良率 ≥95%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558340" y="2139776"/>
            <a:ext cx="1450181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良率 96%–97%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558340" y="2303525"/>
            <a:ext cx="1450181" cy="2643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71E3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M3</a:t>
            </a:r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50 万次整机级验证 + 湿热偏压复测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7336799" y="2139776"/>
            <a:ext cx="1450181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弯折 100 万次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7336799" y="2303525"/>
            <a:ext cx="1450181" cy="2643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阵列总良率 ≥97%，连续批次稳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定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271462" y="2776072"/>
            <a:ext cx="1143000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系统层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271462" y="2931226"/>
            <a:ext cx="1143000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电子与算法组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271462" y="3064166"/>
            <a:ext cx="1143000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无线信号链与解码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1657852" y="2761283"/>
            <a:ext cx="1793081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无线信号链工程样机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1657852" y="2925031"/>
            <a:ext cx="1793081" cy="2643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通道数与采集链路验证，支撑临床试验数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据采集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3779881" y="2761283"/>
            <a:ext cx="1450181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解码延迟进入毫秒窗口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779881" y="2925031"/>
            <a:ext cx="1450181" cy="2643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十几毫秒窗口内完成解码；通道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数与功耗双达标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5558340" y="2761283"/>
            <a:ext cx="1450181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AI 标定自动化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5558340" y="2925031"/>
            <a:ext cx="1450181" cy="2643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跨受试者迁移，标定居留时间达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标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7336799" y="2761283"/>
            <a:ext cx="1450181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多中心数据平台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7336799" y="2925031"/>
            <a:ext cx="1450181" cy="2643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远程标定；端到端延迟与误码率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达标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271462" y="3397579"/>
            <a:ext cx="1143000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临床/产业层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271462" y="3552732"/>
            <a:ext cx="1143000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临床注册与医工合作组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271462" y="3685673"/>
            <a:ext cx="1143000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注册临床与中试量产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1657852" y="3382789"/>
            <a:ext cx="1793081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进入临床试验阶段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1657852" y="3546537"/>
            <a:ext cx="1793081" cy="2643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植入式电子皮肤与三甲医院合作；中试工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艺定型→中试放大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3779881" y="3382789"/>
            <a:ext cx="1450181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入组完成 · 随访 6 个月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3779881" y="3546537"/>
            <a:ext cx="1450181" cy="2643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71E3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M4</a:t>
            </a:r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随访完成率与不良事件率达方案要求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5558340" y="3382789"/>
            <a:ext cx="1450181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型式检验/注册检验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5558340" y="3546537"/>
            <a:ext cx="1450181" cy="2643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71E3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M5</a:t>
            </a:r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启动多中心，可靠性验证符合在研行业标准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7336799" y="3382789"/>
            <a:ext cx="1450181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多中心 · 适应证拓展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7336799" y="3546537"/>
            <a:ext cx="1450181" cy="2643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71E3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M6 M7</a:t>
            </a:r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注册申报推进；中试→量产产能爬坡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328613" y="4021317"/>
            <a:ext cx="2600325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量化判定标准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328613" y="4168546"/>
            <a:ext cx="2600325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单站良率 ≥95%、CPK ≥1.33；弯折后光电无衰减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3271838" y="4021317"/>
            <a:ext cx="2600325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外部依赖条件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3271838" y="4168546"/>
            <a:ext cx="2600325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中试线稼动率、材料批次放行、医院临床与伦理资源</a:t>
            </a:r>
            <a:endParaRPr lang="en-US" sz="700" dirty="0"/>
          </a:p>
        </p:txBody>
      </p:sp>
      <p:sp>
        <p:nvSpPr>
          <p:cNvPr id="97" name="Text 95"/>
          <p:cNvSpPr/>
          <p:nvPr/>
        </p:nvSpPr>
        <p:spPr>
          <a:xfrm>
            <a:off x="6215063" y="4021317"/>
            <a:ext cx="2600325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审评时钟（不可压缩）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6215063" y="4168546"/>
            <a:ext cx="2600325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技术审评 90 个工作日；三类注册整体 2–3 年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214313" y="4664869"/>
            <a:ext cx="871537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灰色节点 = 2023–2025 实测已完成；蓝色节点 = 2026–2028 团队目标（自定）｜来源：团队自有数据、国家药监局器审中心、飞度 CRO、上海市科委、机器人大讲堂</a:t>
            </a:r>
            <a:endParaRPr lang="en-US" sz="700" dirty="0"/>
          </a:p>
        </p:txBody>
      </p:sp>
      <p:sp>
        <p:nvSpPr>
          <p:cNvPr id="65535" name="wm:hwcld:2026-09-22T19:07:46:581b05d5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2" y="853232"/>
            <a:ext cx="285750" cy="7144"/>
          </a:xfrm>
          <a:prstGeom prst="rect">
            <a:avLst/>
          </a:prstGeom>
          <a:solidFill>
            <a:srgbClr val="1D1D1F"/>
          </a:solidFill>
          <a:ln/>
        </p:spPr>
      </p:sp>
      <p:sp>
        <p:nvSpPr>
          <p:cNvPr id="4" name="Shape 2"/>
          <p:cNvSpPr/>
          <p:nvPr/>
        </p:nvSpPr>
        <p:spPr>
          <a:xfrm>
            <a:off x="214313" y="1194569"/>
            <a:ext cx="2828925" cy="1143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/>
        </p:spPr>
      </p:sp>
      <p:sp>
        <p:nvSpPr>
          <p:cNvPr id="5" name="Text 3"/>
          <p:cNvSpPr/>
          <p:nvPr/>
        </p:nvSpPr>
        <p:spPr>
          <a:xfrm>
            <a:off x="428625" y="1295363"/>
            <a:ext cx="1009579" cy="1000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差距一 · 良率损失结构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157538" y="1194569"/>
            <a:ext cx="2828925" cy="1143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/>
        </p:spPr>
      </p:sp>
      <p:sp>
        <p:nvSpPr>
          <p:cNvPr id="7" name="Text 5"/>
          <p:cNvSpPr/>
          <p:nvPr/>
        </p:nvSpPr>
        <p:spPr>
          <a:xfrm>
            <a:off x="3371850" y="1295363"/>
            <a:ext cx="1112952" cy="1000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差距二 · 长期机械稳定性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100763" y="1194569"/>
            <a:ext cx="2828925" cy="1143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/>
        </p:spPr>
      </p:sp>
      <p:sp>
        <p:nvSpPr>
          <p:cNvPr id="9" name="Text 7"/>
          <p:cNvSpPr/>
          <p:nvPr/>
        </p:nvSpPr>
        <p:spPr>
          <a:xfrm>
            <a:off x="6315075" y="1295363"/>
            <a:ext cx="1009579" cy="1000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差距三 · 临床长期数据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375172" y="2813521"/>
            <a:ext cx="0" cy="871538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3828" y="2813521"/>
            <a:ext cx="0" cy="871538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32484" y="2813521"/>
            <a:ext cx="0" cy="871538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1141" y="2813521"/>
            <a:ext cx="0" cy="871538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89797" y="2813521"/>
            <a:ext cx="0" cy="871538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32722" y="2813521"/>
            <a:ext cx="0" cy="871538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08620" y="3842936"/>
            <a:ext cx="138303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00000">
                    <a:alpha val="48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弯折寿命（万次）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-1119192" y="2862456"/>
            <a:ext cx="243316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团队柔性 OLED（2025）</a:t>
            </a:r>
            <a:endParaRPr lang="en-US" sz="788" dirty="0"/>
          </a:p>
        </p:txBody>
      </p:sp>
      <p:sp>
        <p:nvSpPr>
          <p:cNvPr id="18" name="Text 16"/>
          <p:cNvSpPr/>
          <p:nvPr/>
        </p:nvSpPr>
        <p:spPr>
          <a:xfrm>
            <a:off x="-219080" y="3080340"/>
            <a:ext cx="153304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折叠屏盖板量产门槛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-219080" y="3298225"/>
            <a:ext cx="153304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UTG 盖板领先线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-69061" y="3516109"/>
            <a:ext cx="138303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UTG 极限测试</a:t>
            </a:r>
            <a:endParaRPr lang="en-US" sz="788" dirty="0"/>
          </a:p>
        </p:txBody>
      </p:sp>
      <p:sp>
        <p:nvSpPr>
          <p:cNvPr id="21" name="Text 19"/>
          <p:cNvSpPr/>
          <p:nvPr/>
        </p:nvSpPr>
        <p:spPr>
          <a:xfrm>
            <a:off x="1204670" y="3728636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0</a:t>
            </a:r>
            <a:endParaRPr lang="en-US" sz="788" dirty="0"/>
          </a:p>
        </p:txBody>
      </p:sp>
      <p:sp>
        <p:nvSpPr>
          <p:cNvPr id="22" name="Text 20"/>
          <p:cNvSpPr/>
          <p:nvPr/>
        </p:nvSpPr>
        <p:spPr>
          <a:xfrm>
            <a:off x="1808417" y="3728636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50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2412164" y="3728636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100</a:t>
            </a:r>
            <a:endParaRPr lang="en-US" sz="788" dirty="0"/>
          </a:p>
        </p:txBody>
      </p:sp>
      <p:sp>
        <p:nvSpPr>
          <p:cNvPr id="24" name="Text 22"/>
          <p:cNvSpPr/>
          <p:nvPr/>
        </p:nvSpPr>
        <p:spPr>
          <a:xfrm>
            <a:off x="3090921" y="3728636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150</a:t>
            </a:r>
            <a:endParaRPr lang="en-US" sz="788" dirty="0"/>
          </a:p>
        </p:txBody>
      </p:sp>
      <p:sp>
        <p:nvSpPr>
          <p:cNvPr id="25" name="Text 23"/>
          <p:cNvSpPr/>
          <p:nvPr/>
        </p:nvSpPr>
        <p:spPr>
          <a:xfrm>
            <a:off x="3769677" y="3728636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200</a:t>
            </a:r>
            <a:endParaRPr lang="en-US" sz="788" dirty="0"/>
          </a:p>
        </p:txBody>
      </p:sp>
      <p:sp>
        <p:nvSpPr>
          <p:cNvPr id="26" name="Text 24"/>
          <p:cNvSpPr/>
          <p:nvPr/>
        </p:nvSpPr>
        <p:spPr>
          <a:xfrm>
            <a:off x="4312682" y="3728636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240</a:t>
            </a:r>
            <a:endParaRPr lang="en-US" sz="788" dirty="0"/>
          </a:p>
        </p:txBody>
      </p:sp>
      <p:sp>
        <p:nvSpPr>
          <p:cNvPr id="27" name="Shape 25"/>
          <p:cNvSpPr/>
          <p:nvPr/>
        </p:nvSpPr>
        <p:spPr>
          <a:xfrm>
            <a:off x="1371119" y="2858170"/>
            <a:ext cx="135751" cy="128588"/>
          </a:xfrm>
          <a:custGeom>
            <a:avLst/>
            <a:gdLst/>
            <a:ahLst/>
            <a:cxnLst/>
            <a:rect l="l" t="t" r="r" b="b"/>
            <a:pathLst>
              <a:path w="135751" h="128588">
                <a:moveTo>
                  <a:pt x="0" y="0"/>
                </a:moveTo>
                <a:lnTo>
                  <a:pt x="114320" y="0"/>
                </a:lnTo>
                <a:lnTo>
                  <a:pt x="115372" y="26"/>
                </a:lnTo>
                <a:lnTo>
                  <a:pt x="116421" y="103"/>
                </a:lnTo>
                <a:lnTo>
                  <a:pt x="117465" y="232"/>
                </a:lnTo>
                <a:lnTo>
                  <a:pt x="118501" y="412"/>
                </a:lnTo>
                <a:lnTo>
                  <a:pt x="119527" y="642"/>
                </a:lnTo>
                <a:lnTo>
                  <a:pt x="120541" y="923"/>
                </a:lnTo>
                <a:lnTo>
                  <a:pt x="121540" y="1253"/>
                </a:lnTo>
                <a:lnTo>
                  <a:pt x="122521" y="1631"/>
                </a:lnTo>
                <a:lnTo>
                  <a:pt x="123483" y="2058"/>
                </a:lnTo>
                <a:lnTo>
                  <a:pt x="124423" y="2531"/>
                </a:lnTo>
                <a:lnTo>
                  <a:pt x="125338" y="3049"/>
                </a:lnTo>
                <a:lnTo>
                  <a:pt x="126227" y="3612"/>
                </a:lnTo>
                <a:lnTo>
                  <a:pt x="127087" y="4218"/>
                </a:lnTo>
                <a:lnTo>
                  <a:pt x="127916" y="4865"/>
                </a:lnTo>
                <a:lnTo>
                  <a:pt x="128712" y="5552"/>
                </a:lnTo>
                <a:lnTo>
                  <a:pt x="129474" y="6277"/>
                </a:lnTo>
                <a:lnTo>
                  <a:pt x="130200" y="7039"/>
                </a:lnTo>
                <a:lnTo>
                  <a:pt x="130887" y="7835"/>
                </a:lnTo>
                <a:lnTo>
                  <a:pt x="131534" y="8665"/>
                </a:lnTo>
                <a:lnTo>
                  <a:pt x="132139" y="9525"/>
                </a:lnTo>
                <a:lnTo>
                  <a:pt x="132702" y="10413"/>
                </a:lnTo>
                <a:lnTo>
                  <a:pt x="133221" y="11329"/>
                </a:lnTo>
                <a:lnTo>
                  <a:pt x="133694" y="12268"/>
                </a:lnTo>
                <a:lnTo>
                  <a:pt x="134120" y="13230"/>
                </a:lnTo>
                <a:lnTo>
                  <a:pt x="134498" y="14211"/>
                </a:lnTo>
                <a:lnTo>
                  <a:pt x="134828" y="15210"/>
                </a:lnTo>
                <a:lnTo>
                  <a:pt x="135109" y="16224"/>
                </a:lnTo>
                <a:lnTo>
                  <a:pt x="135339" y="17250"/>
                </a:lnTo>
                <a:lnTo>
                  <a:pt x="135519" y="18287"/>
                </a:lnTo>
                <a:lnTo>
                  <a:pt x="135648" y="19331"/>
                </a:lnTo>
                <a:lnTo>
                  <a:pt x="135725" y="20380"/>
                </a:lnTo>
                <a:lnTo>
                  <a:pt x="135751" y="21431"/>
                </a:lnTo>
                <a:lnTo>
                  <a:pt x="135751" y="107156"/>
                </a:lnTo>
                <a:lnTo>
                  <a:pt x="135725" y="108208"/>
                </a:lnTo>
                <a:lnTo>
                  <a:pt x="135648" y="109257"/>
                </a:lnTo>
                <a:lnTo>
                  <a:pt x="135519" y="110301"/>
                </a:lnTo>
                <a:lnTo>
                  <a:pt x="135339" y="111337"/>
                </a:lnTo>
                <a:lnTo>
                  <a:pt x="135109" y="112364"/>
                </a:lnTo>
                <a:lnTo>
                  <a:pt x="134828" y="113377"/>
                </a:lnTo>
                <a:lnTo>
                  <a:pt x="134498" y="114376"/>
                </a:lnTo>
                <a:lnTo>
                  <a:pt x="134120" y="115358"/>
                </a:lnTo>
                <a:lnTo>
                  <a:pt x="133694" y="116319"/>
                </a:lnTo>
                <a:lnTo>
                  <a:pt x="133221" y="117259"/>
                </a:lnTo>
                <a:lnTo>
                  <a:pt x="132702" y="118174"/>
                </a:lnTo>
                <a:lnTo>
                  <a:pt x="132139" y="119063"/>
                </a:lnTo>
                <a:lnTo>
                  <a:pt x="131534" y="119923"/>
                </a:lnTo>
                <a:lnTo>
                  <a:pt x="130887" y="120752"/>
                </a:lnTo>
                <a:lnTo>
                  <a:pt x="130200" y="121549"/>
                </a:lnTo>
                <a:lnTo>
                  <a:pt x="129474" y="122310"/>
                </a:lnTo>
                <a:lnTo>
                  <a:pt x="128712" y="123036"/>
                </a:lnTo>
                <a:lnTo>
                  <a:pt x="127916" y="123723"/>
                </a:lnTo>
                <a:lnTo>
                  <a:pt x="127087" y="124370"/>
                </a:lnTo>
                <a:lnTo>
                  <a:pt x="126227" y="124976"/>
                </a:lnTo>
                <a:lnTo>
                  <a:pt x="125338" y="125538"/>
                </a:lnTo>
                <a:lnTo>
                  <a:pt x="124423" y="126057"/>
                </a:lnTo>
                <a:lnTo>
                  <a:pt x="123483" y="126530"/>
                </a:lnTo>
                <a:lnTo>
                  <a:pt x="122521" y="126956"/>
                </a:lnTo>
                <a:lnTo>
                  <a:pt x="121540" y="127335"/>
                </a:lnTo>
                <a:lnTo>
                  <a:pt x="120541" y="127665"/>
                </a:lnTo>
                <a:lnTo>
                  <a:pt x="119527" y="127945"/>
                </a:lnTo>
                <a:lnTo>
                  <a:pt x="118501" y="128176"/>
                </a:lnTo>
                <a:lnTo>
                  <a:pt x="117465" y="128356"/>
                </a:lnTo>
                <a:lnTo>
                  <a:pt x="116421" y="128484"/>
                </a:lnTo>
                <a:lnTo>
                  <a:pt x="115372" y="128562"/>
                </a:lnTo>
                <a:lnTo>
                  <a:pt x="114320" y="128588"/>
                </a:lnTo>
                <a:lnTo>
                  <a:pt x="0" y="128588"/>
                </a:lnTo>
                <a:lnTo>
                  <a:pt x="0" y="0"/>
                </a:lnTo>
              </a:path>
            </a:pathLst>
          </a:custGeom>
          <a:solidFill>
            <a:srgbClr val="0071E3"/>
          </a:solidFill>
          <a:ln/>
        </p:spPr>
      </p:sp>
      <p:sp>
        <p:nvSpPr>
          <p:cNvPr id="28" name="Shape 26"/>
          <p:cNvSpPr/>
          <p:nvPr/>
        </p:nvSpPr>
        <p:spPr>
          <a:xfrm>
            <a:off x="1371119" y="3076054"/>
            <a:ext cx="271503" cy="128588"/>
          </a:xfrm>
          <a:custGeom>
            <a:avLst/>
            <a:gdLst/>
            <a:ahLst/>
            <a:cxnLst/>
            <a:rect l="l" t="t" r="r" b="b"/>
            <a:pathLst>
              <a:path w="271503" h="128588">
                <a:moveTo>
                  <a:pt x="0" y="0"/>
                </a:moveTo>
                <a:lnTo>
                  <a:pt x="250071" y="0"/>
                </a:lnTo>
                <a:lnTo>
                  <a:pt x="251123" y="26"/>
                </a:lnTo>
                <a:lnTo>
                  <a:pt x="252172" y="103"/>
                </a:lnTo>
                <a:lnTo>
                  <a:pt x="253216" y="232"/>
                </a:lnTo>
                <a:lnTo>
                  <a:pt x="254252" y="412"/>
                </a:lnTo>
                <a:lnTo>
                  <a:pt x="255279" y="642"/>
                </a:lnTo>
                <a:lnTo>
                  <a:pt x="256292" y="923"/>
                </a:lnTo>
                <a:lnTo>
                  <a:pt x="257291" y="1253"/>
                </a:lnTo>
                <a:lnTo>
                  <a:pt x="258273" y="1631"/>
                </a:lnTo>
                <a:lnTo>
                  <a:pt x="259234" y="2058"/>
                </a:lnTo>
                <a:lnTo>
                  <a:pt x="260174" y="2531"/>
                </a:lnTo>
                <a:lnTo>
                  <a:pt x="261089" y="3049"/>
                </a:lnTo>
                <a:lnTo>
                  <a:pt x="261978" y="3612"/>
                </a:lnTo>
                <a:lnTo>
                  <a:pt x="262838" y="4218"/>
                </a:lnTo>
                <a:lnTo>
                  <a:pt x="263667" y="4865"/>
                </a:lnTo>
                <a:lnTo>
                  <a:pt x="264464" y="5552"/>
                </a:lnTo>
                <a:lnTo>
                  <a:pt x="265225" y="6277"/>
                </a:lnTo>
                <a:lnTo>
                  <a:pt x="265951" y="7039"/>
                </a:lnTo>
                <a:lnTo>
                  <a:pt x="266638" y="7835"/>
                </a:lnTo>
                <a:lnTo>
                  <a:pt x="267285" y="8665"/>
                </a:lnTo>
                <a:lnTo>
                  <a:pt x="267891" y="9525"/>
                </a:lnTo>
                <a:lnTo>
                  <a:pt x="268453" y="10413"/>
                </a:lnTo>
                <a:lnTo>
                  <a:pt x="268972" y="11329"/>
                </a:lnTo>
                <a:lnTo>
                  <a:pt x="269445" y="12268"/>
                </a:lnTo>
                <a:lnTo>
                  <a:pt x="269871" y="13230"/>
                </a:lnTo>
                <a:lnTo>
                  <a:pt x="270250" y="14211"/>
                </a:lnTo>
                <a:lnTo>
                  <a:pt x="270580" y="15210"/>
                </a:lnTo>
                <a:lnTo>
                  <a:pt x="270860" y="16224"/>
                </a:lnTo>
                <a:lnTo>
                  <a:pt x="271091" y="17250"/>
                </a:lnTo>
                <a:lnTo>
                  <a:pt x="271271" y="18287"/>
                </a:lnTo>
                <a:lnTo>
                  <a:pt x="271399" y="19331"/>
                </a:lnTo>
                <a:lnTo>
                  <a:pt x="271477" y="20380"/>
                </a:lnTo>
                <a:lnTo>
                  <a:pt x="271503" y="21431"/>
                </a:lnTo>
                <a:lnTo>
                  <a:pt x="271503" y="107156"/>
                </a:lnTo>
                <a:lnTo>
                  <a:pt x="271477" y="108208"/>
                </a:lnTo>
                <a:lnTo>
                  <a:pt x="271399" y="109257"/>
                </a:lnTo>
                <a:lnTo>
                  <a:pt x="271271" y="110301"/>
                </a:lnTo>
                <a:lnTo>
                  <a:pt x="271091" y="111337"/>
                </a:lnTo>
                <a:lnTo>
                  <a:pt x="270860" y="112364"/>
                </a:lnTo>
                <a:lnTo>
                  <a:pt x="270580" y="113377"/>
                </a:lnTo>
                <a:lnTo>
                  <a:pt x="270250" y="114376"/>
                </a:lnTo>
                <a:lnTo>
                  <a:pt x="269871" y="115358"/>
                </a:lnTo>
                <a:lnTo>
                  <a:pt x="269445" y="116319"/>
                </a:lnTo>
                <a:lnTo>
                  <a:pt x="268972" y="117259"/>
                </a:lnTo>
                <a:lnTo>
                  <a:pt x="268453" y="118174"/>
                </a:lnTo>
                <a:lnTo>
                  <a:pt x="267891" y="119063"/>
                </a:lnTo>
                <a:lnTo>
                  <a:pt x="267285" y="119923"/>
                </a:lnTo>
                <a:lnTo>
                  <a:pt x="266638" y="120752"/>
                </a:lnTo>
                <a:lnTo>
                  <a:pt x="265951" y="121549"/>
                </a:lnTo>
                <a:lnTo>
                  <a:pt x="265225" y="122310"/>
                </a:lnTo>
                <a:lnTo>
                  <a:pt x="264464" y="123036"/>
                </a:lnTo>
                <a:lnTo>
                  <a:pt x="263667" y="123723"/>
                </a:lnTo>
                <a:lnTo>
                  <a:pt x="262838" y="124370"/>
                </a:lnTo>
                <a:lnTo>
                  <a:pt x="261978" y="124976"/>
                </a:lnTo>
                <a:lnTo>
                  <a:pt x="261089" y="125538"/>
                </a:lnTo>
                <a:lnTo>
                  <a:pt x="260174" y="126057"/>
                </a:lnTo>
                <a:lnTo>
                  <a:pt x="259234" y="126530"/>
                </a:lnTo>
                <a:lnTo>
                  <a:pt x="258273" y="126956"/>
                </a:lnTo>
                <a:lnTo>
                  <a:pt x="257291" y="127335"/>
                </a:lnTo>
                <a:lnTo>
                  <a:pt x="256292" y="127665"/>
                </a:lnTo>
                <a:lnTo>
                  <a:pt x="255279" y="127945"/>
                </a:lnTo>
                <a:lnTo>
                  <a:pt x="254252" y="128176"/>
                </a:lnTo>
                <a:lnTo>
                  <a:pt x="253216" y="128356"/>
                </a:lnTo>
                <a:lnTo>
                  <a:pt x="252172" y="128484"/>
                </a:lnTo>
                <a:lnTo>
                  <a:pt x="251123" y="128562"/>
                </a:lnTo>
                <a:lnTo>
                  <a:pt x="250071" y="128588"/>
                </a:lnTo>
                <a:lnTo>
                  <a:pt x="0" y="128588"/>
                </a:lnTo>
                <a:lnTo>
                  <a:pt x="0" y="0"/>
                </a:lnTo>
              </a:path>
            </a:pathLst>
          </a:custGeom>
          <a:solidFill>
            <a:srgbClr val="1D1D1F"/>
          </a:solidFill>
          <a:ln/>
        </p:spPr>
      </p:sp>
      <p:sp>
        <p:nvSpPr>
          <p:cNvPr id="29" name="Shape 27"/>
          <p:cNvSpPr/>
          <p:nvPr/>
        </p:nvSpPr>
        <p:spPr>
          <a:xfrm>
            <a:off x="1371119" y="3293938"/>
            <a:ext cx="678756" cy="128588"/>
          </a:xfrm>
          <a:custGeom>
            <a:avLst/>
            <a:gdLst/>
            <a:ahLst/>
            <a:cxnLst/>
            <a:rect l="l" t="t" r="r" b="b"/>
            <a:pathLst>
              <a:path w="678756" h="128588">
                <a:moveTo>
                  <a:pt x="0" y="0"/>
                </a:moveTo>
                <a:lnTo>
                  <a:pt x="657325" y="0"/>
                </a:lnTo>
                <a:lnTo>
                  <a:pt x="658377" y="26"/>
                </a:lnTo>
                <a:lnTo>
                  <a:pt x="659426" y="103"/>
                </a:lnTo>
                <a:lnTo>
                  <a:pt x="660470" y="232"/>
                </a:lnTo>
                <a:lnTo>
                  <a:pt x="661506" y="412"/>
                </a:lnTo>
                <a:lnTo>
                  <a:pt x="662532" y="642"/>
                </a:lnTo>
                <a:lnTo>
                  <a:pt x="663546" y="923"/>
                </a:lnTo>
                <a:lnTo>
                  <a:pt x="664545" y="1253"/>
                </a:lnTo>
                <a:lnTo>
                  <a:pt x="665526" y="1631"/>
                </a:lnTo>
                <a:lnTo>
                  <a:pt x="666488" y="2058"/>
                </a:lnTo>
                <a:lnTo>
                  <a:pt x="667428" y="2531"/>
                </a:lnTo>
                <a:lnTo>
                  <a:pt x="668343" y="3049"/>
                </a:lnTo>
                <a:lnTo>
                  <a:pt x="669232" y="3612"/>
                </a:lnTo>
                <a:lnTo>
                  <a:pt x="670092" y="4218"/>
                </a:lnTo>
                <a:lnTo>
                  <a:pt x="670921" y="4865"/>
                </a:lnTo>
                <a:lnTo>
                  <a:pt x="671717" y="5552"/>
                </a:lnTo>
                <a:lnTo>
                  <a:pt x="672479" y="6277"/>
                </a:lnTo>
                <a:lnTo>
                  <a:pt x="673205" y="7039"/>
                </a:lnTo>
                <a:lnTo>
                  <a:pt x="673892" y="7835"/>
                </a:lnTo>
                <a:lnTo>
                  <a:pt x="674539" y="8665"/>
                </a:lnTo>
                <a:lnTo>
                  <a:pt x="675144" y="9525"/>
                </a:lnTo>
                <a:lnTo>
                  <a:pt x="675707" y="10413"/>
                </a:lnTo>
                <a:lnTo>
                  <a:pt x="676226" y="11329"/>
                </a:lnTo>
                <a:lnTo>
                  <a:pt x="676699" y="12268"/>
                </a:lnTo>
                <a:lnTo>
                  <a:pt x="677125" y="13230"/>
                </a:lnTo>
                <a:lnTo>
                  <a:pt x="677503" y="14211"/>
                </a:lnTo>
                <a:lnTo>
                  <a:pt x="677833" y="15210"/>
                </a:lnTo>
                <a:lnTo>
                  <a:pt x="678114" y="16224"/>
                </a:lnTo>
                <a:lnTo>
                  <a:pt x="678344" y="17250"/>
                </a:lnTo>
                <a:lnTo>
                  <a:pt x="678524" y="18287"/>
                </a:lnTo>
                <a:lnTo>
                  <a:pt x="678653" y="19331"/>
                </a:lnTo>
                <a:lnTo>
                  <a:pt x="678730" y="20380"/>
                </a:lnTo>
                <a:lnTo>
                  <a:pt x="678756" y="21431"/>
                </a:lnTo>
                <a:lnTo>
                  <a:pt x="678756" y="107156"/>
                </a:lnTo>
                <a:lnTo>
                  <a:pt x="678730" y="108208"/>
                </a:lnTo>
                <a:lnTo>
                  <a:pt x="678653" y="109257"/>
                </a:lnTo>
                <a:lnTo>
                  <a:pt x="678524" y="110301"/>
                </a:lnTo>
                <a:lnTo>
                  <a:pt x="678344" y="111337"/>
                </a:lnTo>
                <a:lnTo>
                  <a:pt x="678114" y="112364"/>
                </a:lnTo>
                <a:lnTo>
                  <a:pt x="677833" y="113377"/>
                </a:lnTo>
                <a:lnTo>
                  <a:pt x="677503" y="114376"/>
                </a:lnTo>
                <a:lnTo>
                  <a:pt x="677125" y="115358"/>
                </a:lnTo>
                <a:lnTo>
                  <a:pt x="676699" y="116319"/>
                </a:lnTo>
                <a:lnTo>
                  <a:pt x="676226" y="117259"/>
                </a:lnTo>
                <a:lnTo>
                  <a:pt x="675707" y="118174"/>
                </a:lnTo>
                <a:lnTo>
                  <a:pt x="675144" y="119063"/>
                </a:lnTo>
                <a:lnTo>
                  <a:pt x="674539" y="119923"/>
                </a:lnTo>
                <a:lnTo>
                  <a:pt x="673892" y="120752"/>
                </a:lnTo>
                <a:lnTo>
                  <a:pt x="673205" y="121549"/>
                </a:lnTo>
                <a:lnTo>
                  <a:pt x="672479" y="122310"/>
                </a:lnTo>
                <a:lnTo>
                  <a:pt x="671717" y="123036"/>
                </a:lnTo>
                <a:lnTo>
                  <a:pt x="670921" y="123723"/>
                </a:lnTo>
                <a:lnTo>
                  <a:pt x="670092" y="124370"/>
                </a:lnTo>
                <a:lnTo>
                  <a:pt x="669232" y="124976"/>
                </a:lnTo>
                <a:lnTo>
                  <a:pt x="668343" y="125538"/>
                </a:lnTo>
                <a:lnTo>
                  <a:pt x="667428" y="126057"/>
                </a:lnTo>
                <a:lnTo>
                  <a:pt x="666488" y="126530"/>
                </a:lnTo>
                <a:lnTo>
                  <a:pt x="665526" y="126956"/>
                </a:lnTo>
                <a:lnTo>
                  <a:pt x="664545" y="127335"/>
                </a:lnTo>
                <a:lnTo>
                  <a:pt x="663546" y="127665"/>
                </a:lnTo>
                <a:lnTo>
                  <a:pt x="662532" y="127945"/>
                </a:lnTo>
                <a:lnTo>
                  <a:pt x="661506" y="128176"/>
                </a:lnTo>
                <a:lnTo>
                  <a:pt x="660470" y="128356"/>
                </a:lnTo>
                <a:lnTo>
                  <a:pt x="659426" y="128484"/>
                </a:lnTo>
                <a:lnTo>
                  <a:pt x="658377" y="128562"/>
                </a:lnTo>
                <a:lnTo>
                  <a:pt x="657325" y="128588"/>
                </a:lnTo>
                <a:lnTo>
                  <a:pt x="0" y="128588"/>
                </a:lnTo>
                <a:lnTo>
                  <a:pt x="0" y="0"/>
                </a:lnTo>
              </a:path>
            </a:pathLst>
          </a:custGeom>
          <a:solidFill>
            <a:srgbClr val="1D1D1F"/>
          </a:solidFill>
          <a:ln/>
        </p:spPr>
      </p:sp>
      <p:sp>
        <p:nvSpPr>
          <p:cNvPr id="30" name="Shape 28"/>
          <p:cNvSpPr/>
          <p:nvPr/>
        </p:nvSpPr>
        <p:spPr>
          <a:xfrm>
            <a:off x="1371119" y="3511823"/>
            <a:ext cx="2715026" cy="128588"/>
          </a:xfrm>
          <a:custGeom>
            <a:avLst/>
            <a:gdLst/>
            <a:ahLst/>
            <a:cxnLst/>
            <a:rect l="l" t="t" r="r" b="b"/>
            <a:pathLst>
              <a:path w="2715026" h="128588">
                <a:moveTo>
                  <a:pt x="0" y="0"/>
                </a:moveTo>
                <a:lnTo>
                  <a:pt x="2693595" y="0"/>
                </a:lnTo>
                <a:lnTo>
                  <a:pt x="2694646" y="26"/>
                </a:lnTo>
                <a:lnTo>
                  <a:pt x="2695695" y="103"/>
                </a:lnTo>
                <a:lnTo>
                  <a:pt x="2696739" y="232"/>
                </a:lnTo>
                <a:lnTo>
                  <a:pt x="2697776" y="412"/>
                </a:lnTo>
                <a:lnTo>
                  <a:pt x="2698802" y="642"/>
                </a:lnTo>
                <a:lnTo>
                  <a:pt x="2699816" y="923"/>
                </a:lnTo>
                <a:lnTo>
                  <a:pt x="2700814" y="1253"/>
                </a:lnTo>
                <a:lnTo>
                  <a:pt x="2701796" y="1631"/>
                </a:lnTo>
                <a:lnTo>
                  <a:pt x="2702758" y="2058"/>
                </a:lnTo>
                <a:lnTo>
                  <a:pt x="2703697" y="2531"/>
                </a:lnTo>
                <a:lnTo>
                  <a:pt x="2704612" y="3049"/>
                </a:lnTo>
                <a:lnTo>
                  <a:pt x="2705501" y="3612"/>
                </a:lnTo>
                <a:lnTo>
                  <a:pt x="2706361" y="4218"/>
                </a:lnTo>
                <a:lnTo>
                  <a:pt x="2707190" y="4865"/>
                </a:lnTo>
                <a:lnTo>
                  <a:pt x="2707987" y="5552"/>
                </a:lnTo>
                <a:lnTo>
                  <a:pt x="2708749" y="6277"/>
                </a:lnTo>
                <a:lnTo>
                  <a:pt x="2709474" y="7039"/>
                </a:lnTo>
                <a:lnTo>
                  <a:pt x="2710161" y="7835"/>
                </a:lnTo>
                <a:lnTo>
                  <a:pt x="2710808" y="8665"/>
                </a:lnTo>
                <a:lnTo>
                  <a:pt x="2711414" y="9525"/>
                </a:lnTo>
                <a:lnTo>
                  <a:pt x="2711977" y="10413"/>
                </a:lnTo>
                <a:lnTo>
                  <a:pt x="2712495" y="11329"/>
                </a:lnTo>
                <a:lnTo>
                  <a:pt x="2712968" y="12268"/>
                </a:lnTo>
                <a:lnTo>
                  <a:pt x="2713394" y="13230"/>
                </a:lnTo>
                <a:lnTo>
                  <a:pt x="2713773" y="14211"/>
                </a:lnTo>
                <a:lnTo>
                  <a:pt x="2714103" y="15210"/>
                </a:lnTo>
                <a:lnTo>
                  <a:pt x="2714383" y="16224"/>
                </a:lnTo>
                <a:lnTo>
                  <a:pt x="2714614" y="17250"/>
                </a:lnTo>
                <a:lnTo>
                  <a:pt x="2714794" y="18287"/>
                </a:lnTo>
                <a:lnTo>
                  <a:pt x="2714923" y="19331"/>
                </a:lnTo>
                <a:lnTo>
                  <a:pt x="2715000" y="20380"/>
                </a:lnTo>
                <a:lnTo>
                  <a:pt x="2715026" y="21431"/>
                </a:lnTo>
                <a:lnTo>
                  <a:pt x="2715026" y="107156"/>
                </a:lnTo>
                <a:lnTo>
                  <a:pt x="2715000" y="108208"/>
                </a:lnTo>
                <a:lnTo>
                  <a:pt x="2714923" y="109257"/>
                </a:lnTo>
                <a:lnTo>
                  <a:pt x="2714794" y="110301"/>
                </a:lnTo>
                <a:lnTo>
                  <a:pt x="2714614" y="111337"/>
                </a:lnTo>
                <a:lnTo>
                  <a:pt x="2714383" y="112364"/>
                </a:lnTo>
                <a:lnTo>
                  <a:pt x="2714103" y="113377"/>
                </a:lnTo>
                <a:lnTo>
                  <a:pt x="2713773" y="114376"/>
                </a:lnTo>
                <a:lnTo>
                  <a:pt x="2713394" y="115358"/>
                </a:lnTo>
                <a:lnTo>
                  <a:pt x="2712968" y="116319"/>
                </a:lnTo>
                <a:lnTo>
                  <a:pt x="2712495" y="117259"/>
                </a:lnTo>
                <a:lnTo>
                  <a:pt x="2711977" y="118174"/>
                </a:lnTo>
                <a:lnTo>
                  <a:pt x="2711414" y="119063"/>
                </a:lnTo>
                <a:lnTo>
                  <a:pt x="2710808" y="119923"/>
                </a:lnTo>
                <a:lnTo>
                  <a:pt x="2710161" y="120752"/>
                </a:lnTo>
                <a:lnTo>
                  <a:pt x="2709474" y="121549"/>
                </a:lnTo>
                <a:lnTo>
                  <a:pt x="2708749" y="122310"/>
                </a:lnTo>
                <a:lnTo>
                  <a:pt x="2707987" y="123036"/>
                </a:lnTo>
                <a:lnTo>
                  <a:pt x="2707190" y="123723"/>
                </a:lnTo>
                <a:lnTo>
                  <a:pt x="2706361" y="124370"/>
                </a:lnTo>
                <a:lnTo>
                  <a:pt x="2705501" y="124976"/>
                </a:lnTo>
                <a:lnTo>
                  <a:pt x="2704612" y="125538"/>
                </a:lnTo>
                <a:lnTo>
                  <a:pt x="2703697" y="126057"/>
                </a:lnTo>
                <a:lnTo>
                  <a:pt x="2702758" y="126530"/>
                </a:lnTo>
                <a:lnTo>
                  <a:pt x="2701796" y="126956"/>
                </a:lnTo>
                <a:lnTo>
                  <a:pt x="2700814" y="127335"/>
                </a:lnTo>
                <a:lnTo>
                  <a:pt x="2699816" y="127665"/>
                </a:lnTo>
                <a:lnTo>
                  <a:pt x="2698802" y="127945"/>
                </a:lnTo>
                <a:lnTo>
                  <a:pt x="2697776" y="128176"/>
                </a:lnTo>
                <a:lnTo>
                  <a:pt x="2696739" y="128356"/>
                </a:lnTo>
                <a:lnTo>
                  <a:pt x="2695695" y="128484"/>
                </a:lnTo>
                <a:lnTo>
                  <a:pt x="2694646" y="128562"/>
                </a:lnTo>
                <a:lnTo>
                  <a:pt x="2693595" y="128588"/>
                </a:lnTo>
                <a:lnTo>
                  <a:pt x="0" y="128588"/>
                </a:lnTo>
                <a:lnTo>
                  <a:pt x="0" y="0"/>
                </a:lnTo>
              </a:path>
            </a:pathLst>
          </a:custGeom>
          <a:solidFill>
            <a:srgbClr val="1D1D1F"/>
          </a:solidFill>
          <a:ln/>
        </p:spPr>
      </p:sp>
      <p:sp>
        <p:nvSpPr>
          <p:cNvPr id="31" name="Text 29"/>
          <p:cNvSpPr/>
          <p:nvPr/>
        </p:nvSpPr>
        <p:spPr>
          <a:xfrm>
            <a:off x="1549733" y="2862456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10 万次</a:t>
            </a:r>
            <a:endParaRPr lang="en-US" sz="788" dirty="0"/>
          </a:p>
        </p:txBody>
      </p:sp>
      <p:sp>
        <p:nvSpPr>
          <p:cNvPr id="32" name="Text 30"/>
          <p:cNvSpPr/>
          <p:nvPr/>
        </p:nvSpPr>
        <p:spPr>
          <a:xfrm>
            <a:off x="1685484" y="3080340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20 万次</a:t>
            </a:r>
            <a:endParaRPr lang="en-US" sz="788" dirty="0"/>
          </a:p>
        </p:txBody>
      </p:sp>
      <p:sp>
        <p:nvSpPr>
          <p:cNvPr id="33" name="Text 31"/>
          <p:cNvSpPr/>
          <p:nvPr/>
        </p:nvSpPr>
        <p:spPr>
          <a:xfrm>
            <a:off x="2092738" y="3298225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50 万次</a:t>
            </a:r>
            <a:endParaRPr lang="en-US" sz="788" dirty="0"/>
          </a:p>
        </p:txBody>
      </p:sp>
      <p:sp>
        <p:nvSpPr>
          <p:cNvPr id="34" name="Text 32"/>
          <p:cNvSpPr/>
          <p:nvPr/>
        </p:nvSpPr>
        <p:spPr>
          <a:xfrm>
            <a:off x="4129007" y="3516109"/>
            <a:ext cx="1082993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200 万次</a:t>
            </a:r>
            <a:endParaRPr lang="en-US" sz="788" dirty="0"/>
          </a:p>
        </p:txBody>
      </p:sp>
      <p:sp>
        <p:nvSpPr>
          <p:cNvPr id="35" name="Shape 33"/>
          <p:cNvSpPr/>
          <p:nvPr/>
        </p:nvSpPr>
        <p:spPr>
          <a:xfrm>
            <a:off x="214313" y="2627784"/>
            <a:ext cx="1571626" cy="164306"/>
          </a:xfrm>
          <a:custGeom>
            <a:avLst/>
            <a:gdLst/>
            <a:ahLst/>
            <a:cxnLst/>
            <a:rect l="l" t="t" r="r" b="b"/>
            <a:pathLst>
              <a:path w="1571626" h="164306">
                <a:moveTo>
                  <a:pt x="0" y="0"/>
                </a:moveTo>
                <a:lnTo>
                  <a:pt x="1571626" y="0"/>
                </a:lnTo>
                <a:lnTo>
                  <a:pt x="1571626" y="164306"/>
                </a:lnTo>
                <a:lnTo>
                  <a:pt x="0" y="164306"/>
                </a:lnTo>
                <a:close/>
              </a:path>
            </a:pathLst>
          </a:custGeom>
          <a:noFill/>
          <a:ln/>
        </p:spPr>
      </p:sp>
      <p:sp>
        <p:nvSpPr>
          <p:cNvPr id="36" name="Shape 34"/>
          <p:cNvSpPr/>
          <p:nvPr/>
        </p:nvSpPr>
        <p:spPr>
          <a:xfrm>
            <a:off x="250031" y="2667074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0" y="0"/>
                </a:moveTo>
                <a:lnTo>
                  <a:pt x="85725" y="0"/>
                </a:lnTo>
                <a:lnTo>
                  <a:pt x="85725" y="85725"/>
                </a:lnTo>
                <a:lnTo>
                  <a:pt x="0" y="85725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7" name="Text 35"/>
          <p:cNvSpPr/>
          <p:nvPr/>
        </p:nvSpPr>
        <p:spPr>
          <a:xfrm>
            <a:off x="371475" y="2649929"/>
            <a:ext cx="1082993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团队自有成果</a:t>
            </a:r>
            <a:endParaRPr lang="en-US" sz="788" dirty="0"/>
          </a:p>
        </p:txBody>
      </p:sp>
      <p:sp>
        <p:nvSpPr>
          <p:cNvPr id="38" name="Shape 36"/>
          <p:cNvSpPr/>
          <p:nvPr/>
        </p:nvSpPr>
        <p:spPr>
          <a:xfrm>
            <a:off x="250031" y="2663503"/>
            <a:ext cx="678657" cy="92869"/>
          </a:xfrm>
          <a:custGeom>
            <a:avLst/>
            <a:gdLst/>
            <a:ahLst/>
            <a:cxnLst/>
            <a:rect l="l" t="t" r="r" b="b"/>
            <a:pathLst>
              <a:path w="678657" h="92869">
                <a:moveTo>
                  <a:pt x="0" y="0"/>
                </a:moveTo>
                <a:lnTo>
                  <a:pt x="678657" y="0"/>
                </a:lnTo>
                <a:lnTo>
                  <a:pt x="678657" y="92869"/>
                </a:lnTo>
                <a:lnTo>
                  <a:pt x="0" y="92869"/>
                </a:lnTo>
                <a:close/>
              </a:path>
            </a:pathLst>
          </a:custGeom>
          <a:noFill/>
          <a:ln/>
        </p:spPr>
      </p:sp>
      <p:sp>
        <p:nvSpPr>
          <p:cNvPr id="39" name="Shape 37"/>
          <p:cNvSpPr/>
          <p:nvPr/>
        </p:nvSpPr>
        <p:spPr>
          <a:xfrm>
            <a:off x="1071563" y="2667074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0" y="0"/>
                </a:moveTo>
                <a:lnTo>
                  <a:pt x="85725" y="0"/>
                </a:lnTo>
                <a:lnTo>
                  <a:pt x="85725" y="85725"/>
                </a:lnTo>
                <a:lnTo>
                  <a:pt x="0" y="85725"/>
                </a:lnTo>
                <a:close/>
              </a:path>
            </a:pathLst>
          </a:custGeom>
          <a:solidFill>
            <a:srgbClr val="1D1D1F"/>
          </a:solidFill>
          <a:ln/>
        </p:spPr>
      </p:sp>
      <p:sp>
        <p:nvSpPr>
          <p:cNvPr id="40" name="Text 38"/>
          <p:cNvSpPr/>
          <p:nvPr/>
        </p:nvSpPr>
        <p:spPr>
          <a:xfrm>
            <a:off x="1193007" y="2649929"/>
            <a:ext cx="1082993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行业公开基准</a:t>
            </a:r>
            <a:endParaRPr lang="en-US" sz="788" dirty="0"/>
          </a:p>
        </p:txBody>
      </p:sp>
      <p:sp>
        <p:nvSpPr>
          <p:cNvPr id="41" name="Shape 39"/>
          <p:cNvSpPr/>
          <p:nvPr/>
        </p:nvSpPr>
        <p:spPr>
          <a:xfrm>
            <a:off x="1071563" y="2663503"/>
            <a:ext cx="678657" cy="92869"/>
          </a:xfrm>
          <a:custGeom>
            <a:avLst/>
            <a:gdLst/>
            <a:ahLst/>
            <a:cxnLst/>
            <a:rect l="l" t="t" r="r" b="b"/>
            <a:pathLst>
              <a:path w="678657" h="92869">
                <a:moveTo>
                  <a:pt x="0" y="0"/>
                </a:moveTo>
                <a:lnTo>
                  <a:pt x="678657" y="0"/>
                </a:lnTo>
                <a:lnTo>
                  <a:pt x="678657" y="92869"/>
                </a:lnTo>
                <a:lnTo>
                  <a:pt x="0" y="92869"/>
                </a:lnTo>
                <a:close/>
              </a:path>
            </a:pathLst>
          </a:custGeom>
          <a:noFill/>
          <a:ln/>
        </p:spPr>
      </p:sp>
      <p:sp>
        <p:nvSpPr>
          <p:cNvPr id="42" name="Shape 40"/>
          <p:cNvSpPr/>
          <p:nvPr/>
        </p:nvSpPr>
        <p:spPr>
          <a:xfrm>
            <a:off x="5316569" y="2451869"/>
            <a:ext cx="3614738" cy="1785938"/>
          </a:xfrm>
          <a:prstGeom prst="roundRect">
            <a:avLst>
              <a:gd name="adj" fmla="val 1638"/>
            </a:avLst>
          </a:prstGeom>
          <a:solidFill>
            <a:srgbClr val="F5F5F7"/>
          </a:solidFill>
          <a:ln/>
        </p:spPr>
      </p:sp>
      <p:sp>
        <p:nvSpPr>
          <p:cNvPr id="43" name="Text 41"/>
          <p:cNvSpPr/>
          <p:nvPr/>
        </p:nvSpPr>
        <p:spPr>
          <a:xfrm>
            <a:off x="214313" y="501625"/>
            <a:ext cx="8715375" cy="2643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三处差距可量化：良率损失结构、长期机械稳定性、临床长期数据</a:t>
            </a:r>
            <a:endParaRPr lang="en-US" sz="1900" dirty="0"/>
          </a:p>
        </p:txBody>
      </p:sp>
      <p:sp>
        <p:nvSpPr>
          <p:cNvPr id="44" name="Text 42"/>
          <p:cNvSpPr/>
          <p:nvPr/>
        </p:nvSpPr>
        <p:spPr>
          <a:xfrm>
            <a:off x="328613" y="1453921"/>
            <a:ext cx="2600325" cy="17859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约 2 个百分点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28613" y="1677219"/>
            <a:ext cx="2600325" cy="2643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团队 92% 对三星显示 94%+（2021）；2026 口径整体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90%+、关键工序 95%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328613" y="1985963"/>
            <a:ext cx="2600325" cy="2643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剩余 8% 损失需按工艺变异、检测漏检、材料批次波动三级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拆分并核算单件成本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271838" y="1453921"/>
            <a:ext cx="2600325" cy="17859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0.5 倍 / 0.2 倍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271838" y="1677219"/>
            <a:ext cx="2600325" cy="2643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弯曲 10 万次对盖板门槛 20 万次、UTG 领先线 50 万次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（极限测试 200 万次）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271838" y="1985963"/>
            <a:ext cx="2600325" cy="2643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文献最优：动态迟滞全应变区间 &lt;1%、湿度致漂移约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6.5%、灵敏度约 −0.56%/°C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215063" y="1453921"/>
            <a:ext cx="2600325" cy="17859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≥60 个月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215063" y="1677219"/>
            <a:ext cx="2600325" cy="2643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植入类器械长期随访建议至少 5 年；注册试验设计随访至术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后 6 个月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215063" y="1985963"/>
            <a:ext cx="2600325" cy="2643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标杆：已获批植入式脑机接口完成 36 例手术，含 32 例多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中心确证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212973" y="2450529"/>
            <a:ext cx="180022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差距量化 · 柔性 OLED 弯折寿命对标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595217" y="2464761"/>
            <a:ext cx="492919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单位：万次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215931" y="4103470"/>
            <a:ext cx="4872038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以 20 万次盖板门槛计为 0.5 倍，以 50 万次 UTG 领先线计为 0.2 倍。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430869" y="2536254"/>
            <a:ext cx="3386138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共性瓶颈 · 风险等级与应对方向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433659" y="2740689"/>
            <a:ext cx="1385887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可拉伸材料标准化与批次一致性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8492803" y="2740689"/>
            <a:ext cx="321469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风险 中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5430869" y="2875806"/>
            <a:ext cx="3386138" cy="2643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参与 IPC/SEMI 与国家标准测试方法制定、建立批次放行规范（卷对卷批次波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动参照约 20%）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433268" y="3246220"/>
            <a:ext cx="1421606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大面积高密度阵列良率-成本权衡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8492803" y="3246220"/>
            <a:ext cx="321469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风险 中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430869" y="3381338"/>
            <a:ext cx="3386138" cy="2643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阵列规模-良率-成本曲线建模与量产导向设计，对标 4096 通道 NeuroCam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高密度 ECoG 阵列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5431371" y="3751752"/>
            <a:ext cx="1092994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监管与支付路径不确定性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8492803" y="3751752"/>
            <a:ext cx="321469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风险 中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5430869" y="3886870"/>
            <a:ext cx="3386138" cy="2643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前置沟通审评要点，按植入类指导原则设计随访与伦理方案，覆盖术后风险与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隐私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214313" y="4514850"/>
            <a:ext cx="8715375" cy="3000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数据来源：团队良率 78%→92%、弯曲 10 万次无衰减与植入式电子皮肤进入临床试验为团队自有成果；行业对标取自 OFweek显示、什么值得买·行业评测、财联社、搜狐时间线·伯恩光学、NMPA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植入类临床指导原则、清华大学／科技日报、IEEE·Sangma 2025、IntechOpen·Rubio 2025。</a:t>
            </a:r>
            <a:endParaRPr lang="en-US" sz="700" dirty="0"/>
          </a:p>
        </p:txBody>
      </p:sp>
      <p:sp>
        <p:nvSpPr>
          <p:cNvPr id="65535" name="wm:hwcld:2026-09-22T19:07:46:581b05d5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2" y="853232"/>
            <a:ext cx="285750" cy="7144"/>
          </a:xfrm>
          <a:prstGeom prst="rect">
            <a:avLst/>
          </a:prstGeom>
          <a:solidFill>
            <a:srgbClr val="1D1D1F"/>
          </a:solidFill>
          <a:ln/>
        </p:spPr>
      </p:sp>
      <p:sp>
        <p:nvSpPr>
          <p:cNvPr id="4" name="Shape 2"/>
          <p:cNvSpPr/>
          <p:nvPr/>
        </p:nvSpPr>
        <p:spPr>
          <a:xfrm>
            <a:off x="214313" y="1201713"/>
            <a:ext cx="2828925" cy="5715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/>
        </p:spPr>
      </p:sp>
      <p:sp>
        <p:nvSpPr>
          <p:cNvPr id="5" name="Shape 3"/>
          <p:cNvSpPr/>
          <p:nvPr/>
        </p:nvSpPr>
        <p:spPr>
          <a:xfrm>
            <a:off x="300038" y="1295921"/>
            <a:ext cx="42863" cy="42863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6" name="Text 4"/>
          <p:cNvSpPr/>
          <p:nvPr/>
        </p:nvSpPr>
        <p:spPr>
          <a:xfrm>
            <a:off x="400050" y="1265225"/>
            <a:ext cx="1331299" cy="1000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量产良率 · 团队目标（自定）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157538" y="1201713"/>
            <a:ext cx="2828925" cy="5715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/>
        </p:spPr>
      </p:sp>
      <p:sp>
        <p:nvSpPr>
          <p:cNvPr id="8" name="Shape 6"/>
          <p:cNvSpPr/>
          <p:nvPr/>
        </p:nvSpPr>
        <p:spPr>
          <a:xfrm>
            <a:off x="3243262" y="1295921"/>
            <a:ext cx="42863" cy="42863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9" name="Text 7"/>
          <p:cNvSpPr/>
          <p:nvPr/>
        </p:nvSpPr>
        <p:spPr>
          <a:xfrm>
            <a:off x="3343275" y="1265225"/>
            <a:ext cx="1871718" cy="1000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柔性 OLED 弯折寿命 · 团队目标（自定）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6100763" y="1201713"/>
            <a:ext cx="2828925" cy="5715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/>
        </p:spPr>
      </p:sp>
      <p:sp>
        <p:nvSpPr>
          <p:cNvPr id="11" name="Shape 9"/>
          <p:cNvSpPr/>
          <p:nvPr/>
        </p:nvSpPr>
        <p:spPr>
          <a:xfrm>
            <a:off x="6186487" y="1295921"/>
            <a:ext cx="42863" cy="42863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2" name="Text 10"/>
          <p:cNvSpPr/>
          <p:nvPr/>
        </p:nvSpPr>
        <p:spPr>
          <a:xfrm>
            <a:off x="6286500" y="1265225"/>
            <a:ext cx="1557617" cy="1000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临床多中心推进 · NMPA 规范约束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00209" y="3045693"/>
            <a:ext cx="2228704" cy="0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0209" y="2824237"/>
            <a:ext cx="2228704" cy="0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0209" y="2602781"/>
            <a:ext cx="2228704" cy="0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0209" y="2388468"/>
            <a:ext cx="2228704" cy="0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0209" y="2167012"/>
            <a:ext cx="2228704" cy="0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0209" y="3045693"/>
            <a:ext cx="2228704" cy="0"/>
          </a:xfrm>
          <a:prstGeom prst="line">
            <a:avLst/>
          </a:prstGeom>
          <a:noFill/>
          <a:ln w="6350">
            <a:solidFill>
              <a:srgbClr val="1D1D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-189877" y="2982115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88%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-189877" y="2762443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90%</a:t>
            </a:r>
            <a:endParaRPr lang="en-US" sz="788" dirty="0"/>
          </a:p>
        </p:txBody>
      </p:sp>
      <p:sp>
        <p:nvSpPr>
          <p:cNvPr id="21" name="Text 19"/>
          <p:cNvSpPr/>
          <p:nvPr/>
        </p:nvSpPr>
        <p:spPr>
          <a:xfrm>
            <a:off x="-189877" y="2542773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92%</a:t>
            </a:r>
            <a:endParaRPr lang="en-US" sz="788" dirty="0"/>
          </a:p>
        </p:txBody>
      </p:sp>
      <p:sp>
        <p:nvSpPr>
          <p:cNvPr id="22" name="Text 20"/>
          <p:cNvSpPr/>
          <p:nvPr/>
        </p:nvSpPr>
        <p:spPr>
          <a:xfrm>
            <a:off x="-189877" y="2323103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94%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-189877" y="2103433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96%</a:t>
            </a:r>
            <a:endParaRPr lang="en-US" sz="788" dirty="0"/>
          </a:p>
        </p:txBody>
      </p:sp>
      <p:sp>
        <p:nvSpPr>
          <p:cNvPr id="24" name="Text 22"/>
          <p:cNvSpPr/>
          <p:nvPr/>
        </p:nvSpPr>
        <p:spPr>
          <a:xfrm>
            <a:off x="481621" y="3089271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Q1</a:t>
            </a:r>
            <a:endParaRPr lang="en-US" sz="788" dirty="0"/>
          </a:p>
        </p:txBody>
      </p:sp>
      <p:sp>
        <p:nvSpPr>
          <p:cNvPr id="25" name="Text 23"/>
          <p:cNvSpPr/>
          <p:nvPr/>
        </p:nvSpPr>
        <p:spPr>
          <a:xfrm>
            <a:off x="927362" y="3089271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Q2</a:t>
            </a:r>
            <a:endParaRPr lang="en-US" sz="788" dirty="0"/>
          </a:p>
        </p:txBody>
      </p:sp>
      <p:sp>
        <p:nvSpPr>
          <p:cNvPr id="26" name="Text 24"/>
          <p:cNvSpPr/>
          <p:nvPr/>
        </p:nvSpPr>
        <p:spPr>
          <a:xfrm>
            <a:off x="1373102" y="3089271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Q3</a:t>
            </a:r>
            <a:endParaRPr lang="en-US" sz="788" dirty="0"/>
          </a:p>
        </p:txBody>
      </p:sp>
      <p:sp>
        <p:nvSpPr>
          <p:cNvPr id="27" name="Text 25"/>
          <p:cNvSpPr/>
          <p:nvPr/>
        </p:nvSpPr>
        <p:spPr>
          <a:xfrm>
            <a:off x="1818843" y="3089271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Q4</a:t>
            </a:r>
            <a:endParaRPr lang="en-US" sz="788" dirty="0"/>
          </a:p>
        </p:txBody>
      </p:sp>
      <p:sp>
        <p:nvSpPr>
          <p:cNvPr id="28" name="Text 26"/>
          <p:cNvSpPr/>
          <p:nvPr/>
        </p:nvSpPr>
        <p:spPr>
          <a:xfrm>
            <a:off x="2114565" y="3089271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27H1</a:t>
            </a:r>
            <a:endParaRPr lang="en-US" sz="788" dirty="0"/>
          </a:p>
        </p:txBody>
      </p:sp>
      <p:sp>
        <p:nvSpPr>
          <p:cNvPr id="29" name="Shape 27"/>
          <p:cNvSpPr/>
          <p:nvPr/>
        </p:nvSpPr>
        <p:spPr>
          <a:xfrm>
            <a:off x="723080" y="2273275"/>
            <a:ext cx="1782963" cy="768847"/>
          </a:xfrm>
          <a:custGeom>
            <a:avLst/>
            <a:gdLst/>
            <a:ahLst/>
            <a:cxnLst/>
            <a:rect l="l" t="t" r="r" b="b"/>
            <a:pathLst>
              <a:path w="1782963" h="768847">
                <a:moveTo>
                  <a:pt x="0" y="329505"/>
                </a:moveTo>
                <a:lnTo>
                  <a:pt x="445740" y="219670"/>
                </a:lnTo>
                <a:lnTo>
                  <a:pt x="891481" y="109835"/>
                </a:lnTo>
                <a:lnTo>
                  <a:pt x="1337222" y="0"/>
                </a:lnTo>
                <a:lnTo>
                  <a:pt x="1782963" y="0"/>
                </a:lnTo>
                <a:lnTo>
                  <a:pt x="1782963" y="768847"/>
                </a:lnTo>
                <a:lnTo>
                  <a:pt x="1337222" y="768847"/>
                </a:lnTo>
                <a:lnTo>
                  <a:pt x="891481" y="768847"/>
                </a:lnTo>
                <a:lnTo>
                  <a:pt x="445740" y="768847"/>
                </a:lnTo>
                <a:lnTo>
                  <a:pt x="0" y="768847"/>
                </a:lnTo>
                <a:close/>
              </a:path>
            </a:pathLst>
          </a:custGeom>
          <a:solidFill>
            <a:srgbClr val="0071E3">
              <a:alpha val="126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23080" y="2273275"/>
            <a:ext cx="1782963" cy="329505"/>
          </a:xfrm>
          <a:custGeom>
            <a:avLst/>
            <a:gdLst/>
            <a:ahLst/>
            <a:cxnLst/>
            <a:rect l="l" t="t" r="r" b="b"/>
            <a:pathLst>
              <a:path w="1782963" h="329505">
                <a:moveTo>
                  <a:pt x="0" y="329505"/>
                </a:moveTo>
                <a:lnTo>
                  <a:pt x="445740" y="219670"/>
                </a:lnTo>
                <a:lnTo>
                  <a:pt x="891481" y="109835"/>
                </a:lnTo>
                <a:lnTo>
                  <a:pt x="1337222" y="0"/>
                </a:lnTo>
                <a:lnTo>
                  <a:pt x="1782963" y="0"/>
                </a:lnTo>
              </a:path>
            </a:pathLst>
          </a:custGeom>
          <a:noFill/>
          <a:ln w="12700">
            <a:solidFill>
              <a:srgbClr val="0071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8077" y="2577778"/>
            <a:ext cx="50006" cy="50006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32" name="Shape 30"/>
          <p:cNvSpPr/>
          <p:nvPr/>
        </p:nvSpPr>
        <p:spPr>
          <a:xfrm>
            <a:off x="1143817" y="2467942"/>
            <a:ext cx="50006" cy="50006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33" name="Shape 31"/>
          <p:cNvSpPr/>
          <p:nvPr/>
        </p:nvSpPr>
        <p:spPr>
          <a:xfrm>
            <a:off x="1589558" y="2358107"/>
            <a:ext cx="50006" cy="50006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34" name="Shape 32"/>
          <p:cNvSpPr/>
          <p:nvPr/>
        </p:nvSpPr>
        <p:spPr>
          <a:xfrm>
            <a:off x="2035299" y="2248272"/>
            <a:ext cx="50006" cy="50006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35" name="Shape 33"/>
          <p:cNvSpPr/>
          <p:nvPr/>
        </p:nvSpPr>
        <p:spPr>
          <a:xfrm>
            <a:off x="2481039" y="2248272"/>
            <a:ext cx="50006" cy="50006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36" name="Text 34"/>
          <p:cNvSpPr/>
          <p:nvPr/>
        </p:nvSpPr>
        <p:spPr>
          <a:xfrm>
            <a:off x="406612" y="2424902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92%</a:t>
            </a:r>
            <a:endParaRPr lang="en-US" sz="788" dirty="0"/>
          </a:p>
        </p:txBody>
      </p:sp>
      <p:sp>
        <p:nvSpPr>
          <p:cNvPr id="37" name="Text 35"/>
          <p:cNvSpPr/>
          <p:nvPr/>
        </p:nvSpPr>
        <p:spPr>
          <a:xfrm>
            <a:off x="852352" y="2315066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93%</a:t>
            </a:r>
            <a:endParaRPr lang="en-US" sz="788" dirty="0"/>
          </a:p>
        </p:txBody>
      </p:sp>
      <p:sp>
        <p:nvSpPr>
          <p:cNvPr id="38" name="Text 36"/>
          <p:cNvSpPr/>
          <p:nvPr/>
        </p:nvSpPr>
        <p:spPr>
          <a:xfrm>
            <a:off x="1298093" y="2205231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94%</a:t>
            </a:r>
            <a:endParaRPr lang="en-US" sz="788" dirty="0"/>
          </a:p>
        </p:txBody>
      </p:sp>
      <p:sp>
        <p:nvSpPr>
          <p:cNvPr id="39" name="Text 37"/>
          <p:cNvSpPr/>
          <p:nvPr/>
        </p:nvSpPr>
        <p:spPr>
          <a:xfrm>
            <a:off x="1743834" y="2095396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95%</a:t>
            </a:r>
            <a:endParaRPr lang="en-US" sz="788" dirty="0"/>
          </a:p>
        </p:txBody>
      </p:sp>
      <p:sp>
        <p:nvSpPr>
          <p:cNvPr id="40" name="Text 38"/>
          <p:cNvSpPr/>
          <p:nvPr/>
        </p:nvSpPr>
        <p:spPr>
          <a:xfrm>
            <a:off x="2189574" y="2095396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95%</a:t>
            </a:r>
            <a:endParaRPr lang="en-US" sz="788" dirty="0"/>
          </a:p>
        </p:txBody>
      </p:sp>
      <p:sp>
        <p:nvSpPr>
          <p:cNvPr id="41" name="Shape 39"/>
          <p:cNvSpPr/>
          <p:nvPr/>
        </p:nvSpPr>
        <p:spPr>
          <a:xfrm>
            <a:off x="3199131" y="3045693"/>
            <a:ext cx="2317630" cy="0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199131" y="2824237"/>
            <a:ext cx="2317630" cy="0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199131" y="2602781"/>
            <a:ext cx="2317630" cy="0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199131" y="2388468"/>
            <a:ext cx="2317630" cy="0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199131" y="2167012"/>
            <a:ext cx="2317630" cy="0"/>
          </a:xfrm>
          <a:prstGeom prst="line">
            <a:avLst/>
          </a:prstGeom>
          <a:noFill/>
          <a:ln w="6350">
            <a:solidFill>
              <a:srgbClr val="F5F5F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199131" y="3045693"/>
            <a:ext cx="2317630" cy="0"/>
          </a:xfrm>
          <a:prstGeom prst="line">
            <a:avLst/>
          </a:prstGeom>
          <a:noFill/>
          <a:ln w="6350">
            <a:solidFill>
              <a:srgbClr val="1D1D1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09082" y="2982115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0</a:t>
            </a:r>
            <a:endParaRPr lang="en-US" sz="788" dirty="0"/>
          </a:p>
        </p:txBody>
      </p:sp>
      <p:sp>
        <p:nvSpPr>
          <p:cNvPr id="48" name="Text 46"/>
          <p:cNvSpPr/>
          <p:nvPr/>
        </p:nvSpPr>
        <p:spPr>
          <a:xfrm>
            <a:off x="2659063" y="2762443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15</a:t>
            </a:r>
            <a:endParaRPr lang="en-US" sz="788" dirty="0"/>
          </a:p>
        </p:txBody>
      </p:sp>
      <p:sp>
        <p:nvSpPr>
          <p:cNvPr id="49" name="Text 47"/>
          <p:cNvSpPr/>
          <p:nvPr/>
        </p:nvSpPr>
        <p:spPr>
          <a:xfrm>
            <a:off x="2659063" y="2542773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30</a:t>
            </a:r>
            <a:endParaRPr lang="en-US" sz="788" dirty="0"/>
          </a:p>
        </p:txBody>
      </p:sp>
      <p:sp>
        <p:nvSpPr>
          <p:cNvPr id="50" name="Text 48"/>
          <p:cNvSpPr/>
          <p:nvPr/>
        </p:nvSpPr>
        <p:spPr>
          <a:xfrm>
            <a:off x="2659063" y="2323103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45</a:t>
            </a:r>
            <a:endParaRPr lang="en-US" sz="788" dirty="0"/>
          </a:p>
        </p:txBody>
      </p:sp>
      <p:sp>
        <p:nvSpPr>
          <p:cNvPr id="51" name="Text 49"/>
          <p:cNvSpPr/>
          <p:nvPr/>
        </p:nvSpPr>
        <p:spPr>
          <a:xfrm>
            <a:off x="2659063" y="2103433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60</a:t>
            </a:r>
            <a:endParaRPr lang="en-US" sz="788" dirty="0"/>
          </a:p>
        </p:txBody>
      </p:sp>
      <p:sp>
        <p:nvSpPr>
          <p:cNvPr id="52" name="Text 50"/>
          <p:cNvSpPr/>
          <p:nvPr/>
        </p:nvSpPr>
        <p:spPr>
          <a:xfrm>
            <a:off x="3189434" y="3089271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Q1</a:t>
            </a:r>
            <a:endParaRPr lang="en-US" sz="788" dirty="0"/>
          </a:p>
        </p:txBody>
      </p:sp>
      <p:sp>
        <p:nvSpPr>
          <p:cNvPr id="53" name="Text 51"/>
          <p:cNvSpPr/>
          <p:nvPr/>
        </p:nvSpPr>
        <p:spPr>
          <a:xfrm>
            <a:off x="3652961" y="3089271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Q2</a:t>
            </a:r>
            <a:endParaRPr lang="en-US" sz="788" dirty="0"/>
          </a:p>
        </p:txBody>
      </p:sp>
      <p:sp>
        <p:nvSpPr>
          <p:cNvPr id="54" name="Text 52"/>
          <p:cNvSpPr/>
          <p:nvPr/>
        </p:nvSpPr>
        <p:spPr>
          <a:xfrm>
            <a:off x="4116487" y="3089271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Q3</a:t>
            </a:r>
            <a:endParaRPr lang="en-US" sz="788" dirty="0"/>
          </a:p>
        </p:txBody>
      </p:sp>
      <p:sp>
        <p:nvSpPr>
          <p:cNvPr id="55" name="Text 53"/>
          <p:cNvSpPr/>
          <p:nvPr/>
        </p:nvSpPr>
        <p:spPr>
          <a:xfrm>
            <a:off x="4580013" y="3089271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Q4</a:t>
            </a:r>
            <a:endParaRPr lang="en-US" sz="788" dirty="0"/>
          </a:p>
        </p:txBody>
      </p:sp>
      <p:sp>
        <p:nvSpPr>
          <p:cNvPr id="56" name="Text 54"/>
          <p:cNvSpPr/>
          <p:nvPr/>
        </p:nvSpPr>
        <p:spPr>
          <a:xfrm>
            <a:off x="4893520" y="3089271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00000">
                    <a:alpha val="80000"/>
                  </a:srgbClr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27H1</a:t>
            </a:r>
            <a:endParaRPr lang="en-US" sz="788" dirty="0"/>
          </a:p>
        </p:txBody>
      </p:sp>
      <p:sp>
        <p:nvSpPr>
          <p:cNvPr id="57" name="Shape 55"/>
          <p:cNvSpPr/>
          <p:nvPr/>
        </p:nvSpPr>
        <p:spPr>
          <a:xfrm>
            <a:off x="3345168" y="2895675"/>
            <a:ext cx="171450" cy="146447"/>
          </a:xfrm>
          <a:custGeom>
            <a:avLst/>
            <a:gdLst/>
            <a:ahLst/>
            <a:cxnLst/>
            <a:rect l="l" t="t" r="r" b="b"/>
            <a:pathLst>
              <a:path w="171450" h="146447">
                <a:moveTo>
                  <a:pt x="21431" y="0"/>
                </a:moveTo>
                <a:lnTo>
                  <a:pt x="150019" y="0"/>
                </a:lnTo>
                <a:lnTo>
                  <a:pt x="151070" y="26"/>
                </a:lnTo>
                <a:lnTo>
                  <a:pt x="152119" y="103"/>
                </a:lnTo>
                <a:lnTo>
                  <a:pt x="153163" y="232"/>
                </a:lnTo>
                <a:lnTo>
                  <a:pt x="154200" y="412"/>
                </a:lnTo>
                <a:lnTo>
                  <a:pt x="155226" y="642"/>
                </a:lnTo>
                <a:lnTo>
                  <a:pt x="156240" y="923"/>
                </a:lnTo>
                <a:lnTo>
                  <a:pt x="157239" y="1253"/>
                </a:lnTo>
                <a:lnTo>
                  <a:pt x="158220" y="1631"/>
                </a:lnTo>
                <a:lnTo>
                  <a:pt x="159182" y="2058"/>
                </a:lnTo>
                <a:lnTo>
                  <a:pt x="160121" y="2531"/>
                </a:lnTo>
                <a:lnTo>
                  <a:pt x="161037" y="3049"/>
                </a:lnTo>
                <a:lnTo>
                  <a:pt x="161925" y="3612"/>
                </a:lnTo>
                <a:lnTo>
                  <a:pt x="162785" y="4218"/>
                </a:lnTo>
                <a:lnTo>
                  <a:pt x="163615" y="4865"/>
                </a:lnTo>
                <a:lnTo>
                  <a:pt x="164411" y="5552"/>
                </a:lnTo>
                <a:lnTo>
                  <a:pt x="165173" y="6277"/>
                </a:lnTo>
                <a:lnTo>
                  <a:pt x="165898" y="7039"/>
                </a:lnTo>
                <a:lnTo>
                  <a:pt x="166585" y="7835"/>
                </a:lnTo>
                <a:lnTo>
                  <a:pt x="167232" y="8665"/>
                </a:lnTo>
                <a:lnTo>
                  <a:pt x="167838" y="9525"/>
                </a:lnTo>
                <a:lnTo>
                  <a:pt x="168401" y="10413"/>
                </a:lnTo>
                <a:lnTo>
                  <a:pt x="168919" y="11329"/>
                </a:lnTo>
                <a:lnTo>
                  <a:pt x="169392" y="12268"/>
                </a:lnTo>
                <a:lnTo>
                  <a:pt x="169819" y="13230"/>
                </a:lnTo>
                <a:lnTo>
                  <a:pt x="170197" y="14211"/>
                </a:lnTo>
                <a:lnTo>
                  <a:pt x="170527" y="15210"/>
                </a:lnTo>
                <a:lnTo>
                  <a:pt x="170808" y="16224"/>
                </a:lnTo>
                <a:lnTo>
                  <a:pt x="171038" y="17250"/>
                </a:lnTo>
                <a:lnTo>
                  <a:pt x="171218" y="18287"/>
                </a:lnTo>
                <a:lnTo>
                  <a:pt x="171347" y="19331"/>
                </a:lnTo>
                <a:lnTo>
                  <a:pt x="171424" y="20380"/>
                </a:lnTo>
                <a:lnTo>
                  <a:pt x="171450" y="21431"/>
                </a:lnTo>
                <a:lnTo>
                  <a:pt x="171450" y="146447"/>
                </a:lnTo>
                <a:lnTo>
                  <a:pt x="0" y="146447"/>
                </a:lnTo>
                <a:lnTo>
                  <a:pt x="0" y="21431"/>
                </a:lnTo>
                <a:lnTo>
                  <a:pt x="26" y="20380"/>
                </a:lnTo>
                <a:lnTo>
                  <a:pt x="103" y="19331"/>
                </a:lnTo>
                <a:lnTo>
                  <a:pt x="232" y="18287"/>
                </a:lnTo>
                <a:lnTo>
                  <a:pt x="412" y="17250"/>
                </a:lnTo>
                <a:lnTo>
                  <a:pt x="642" y="16224"/>
                </a:lnTo>
                <a:lnTo>
                  <a:pt x="923" y="15210"/>
                </a:lnTo>
                <a:lnTo>
                  <a:pt x="1253" y="14211"/>
                </a:lnTo>
                <a:lnTo>
                  <a:pt x="1631" y="13230"/>
                </a:lnTo>
                <a:lnTo>
                  <a:pt x="2058" y="12268"/>
                </a:lnTo>
                <a:lnTo>
                  <a:pt x="2531" y="11329"/>
                </a:lnTo>
                <a:lnTo>
                  <a:pt x="3049" y="10413"/>
                </a:lnTo>
                <a:lnTo>
                  <a:pt x="3612" y="9525"/>
                </a:lnTo>
                <a:lnTo>
                  <a:pt x="4218" y="8665"/>
                </a:lnTo>
                <a:lnTo>
                  <a:pt x="4865" y="7835"/>
                </a:lnTo>
                <a:lnTo>
                  <a:pt x="5552" y="7039"/>
                </a:lnTo>
                <a:lnTo>
                  <a:pt x="6277" y="6277"/>
                </a:lnTo>
                <a:lnTo>
                  <a:pt x="7039" y="5552"/>
                </a:lnTo>
                <a:lnTo>
                  <a:pt x="7835" y="4865"/>
                </a:lnTo>
                <a:lnTo>
                  <a:pt x="8665" y="4218"/>
                </a:lnTo>
                <a:lnTo>
                  <a:pt x="9525" y="3612"/>
                </a:lnTo>
                <a:lnTo>
                  <a:pt x="10413" y="3049"/>
                </a:lnTo>
                <a:lnTo>
                  <a:pt x="11329" y="2531"/>
                </a:lnTo>
                <a:lnTo>
                  <a:pt x="12268" y="2058"/>
                </a:lnTo>
                <a:lnTo>
                  <a:pt x="13230" y="1631"/>
                </a:lnTo>
                <a:lnTo>
                  <a:pt x="14211" y="1253"/>
                </a:lnTo>
                <a:lnTo>
                  <a:pt x="15210" y="923"/>
                </a:lnTo>
                <a:lnTo>
                  <a:pt x="16224" y="642"/>
                </a:lnTo>
                <a:lnTo>
                  <a:pt x="17250" y="412"/>
                </a:lnTo>
                <a:lnTo>
                  <a:pt x="18287" y="232"/>
                </a:lnTo>
                <a:lnTo>
                  <a:pt x="19331" y="103"/>
                </a:lnTo>
                <a:lnTo>
                  <a:pt x="20380" y="26"/>
                </a:lnTo>
                <a:lnTo>
                  <a:pt x="21431" y="0"/>
                </a:lnTo>
              </a:path>
            </a:pathLst>
          </a:custGeom>
          <a:solidFill>
            <a:srgbClr val="0071E3"/>
          </a:solidFill>
          <a:ln/>
        </p:spPr>
      </p:sp>
      <p:sp>
        <p:nvSpPr>
          <p:cNvPr id="58" name="Shape 56"/>
          <p:cNvSpPr/>
          <p:nvPr/>
        </p:nvSpPr>
        <p:spPr>
          <a:xfrm>
            <a:off x="3808695" y="2749228"/>
            <a:ext cx="171450" cy="292894"/>
          </a:xfrm>
          <a:custGeom>
            <a:avLst/>
            <a:gdLst/>
            <a:ahLst/>
            <a:cxnLst/>
            <a:rect l="l" t="t" r="r" b="b"/>
            <a:pathLst>
              <a:path w="171450" h="292894">
                <a:moveTo>
                  <a:pt x="21431" y="0"/>
                </a:moveTo>
                <a:lnTo>
                  <a:pt x="150019" y="0"/>
                </a:lnTo>
                <a:lnTo>
                  <a:pt x="151070" y="26"/>
                </a:lnTo>
                <a:lnTo>
                  <a:pt x="152119" y="103"/>
                </a:lnTo>
                <a:lnTo>
                  <a:pt x="153163" y="232"/>
                </a:lnTo>
                <a:lnTo>
                  <a:pt x="154200" y="412"/>
                </a:lnTo>
                <a:lnTo>
                  <a:pt x="155226" y="642"/>
                </a:lnTo>
                <a:lnTo>
                  <a:pt x="156240" y="923"/>
                </a:lnTo>
                <a:lnTo>
                  <a:pt x="157239" y="1253"/>
                </a:lnTo>
                <a:lnTo>
                  <a:pt x="158220" y="1631"/>
                </a:lnTo>
                <a:lnTo>
                  <a:pt x="159182" y="2058"/>
                </a:lnTo>
                <a:lnTo>
                  <a:pt x="160121" y="2531"/>
                </a:lnTo>
                <a:lnTo>
                  <a:pt x="161037" y="3049"/>
                </a:lnTo>
                <a:lnTo>
                  <a:pt x="161925" y="3612"/>
                </a:lnTo>
                <a:lnTo>
                  <a:pt x="162785" y="4218"/>
                </a:lnTo>
                <a:lnTo>
                  <a:pt x="163615" y="4865"/>
                </a:lnTo>
                <a:lnTo>
                  <a:pt x="164411" y="5552"/>
                </a:lnTo>
                <a:lnTo>
                  <a:pt x="165173" y="6277"/>
                </a:lnTo>
                <a:lnTo>
                  <a:pt x="165898" y="7039"/>
                </a:lnTo>
                <a:lnTo>
                  <a:pt x="166585" y="7835"/>
                </a:lnTo>
                <a:lnTo>
                  <a:pt x="167232" y="8665"/>
                </a:lnTo>
                <a:lnTo>
                  <a:pt x="167838" y="9525"/>
                </a:lnTo>
                <a:lnTo>
                  <a:pt x="168401" y="10413"/>
                </a:lnTo>
                <a:lnTo>
                  <a:pt x="168919" y="11329"/>
                </a:lnTo>
                <a:lnTo>
                  <a:pt x="169392" y="12268"/>
                </a:lnTo>
                <a:lnTo>
                  <a:pt x="169819" y="13230"/>
                </a:lnTo>
                <a:lnTo>
                  <a:pt x="170197" y="14211"/>
                </a:lnTo>
                <a:lnTo>
                  <a:pt x="170527" y="15210"/>
                </a:lnTo>
                <a:lnTo>
                  <a:pt x="170808" y="16224"/>
                </a:lnTo>
                <a:lnTo>
                  <a:pt x="171038" y="17250"/>
                </a:lnTo>
                <a:lnTo>
                  <a:pt x="171218" y="18287"/>
                </a:lnTo>
                <a:lnTo>
                  <a:pt x="171347" y="19331"/>
                </a:lnTo>
                <a:lnTo>
                  <a:pt x="171424" y="20380"/>
                </a:lnTo>
                <a:lnTo>
                  <a:pt x="171450" y="21431"/>
                </a:lnTo>
                <a:lnTo>
                  <a:pt x="171450" y="292894"/>
                </a:lnTo>
                <a:lnTo>
                  <a:pt x="0" y="292894"/>
                </a:lnTo>
                <a:lnTo>
                  <a:pt x="0" y="21431"/>
                </a:lnTo>
                <a:lnTo>
                  <a:pt x="26" y="20380"/>
                </a:lnTo>
                <a:lnTo>
                  <a:pt x="103" y="19331"/>
                </a:lnTo>
                <a:lnTo>
                  <a:pt x="232" y="18287"/>
                </a:lnTo>
                <a:lnTo>
                  <a:pt x="412" y="17250"/>
                </a:lnTo>
                <a:lnTo>
                  <a:pt x="642" y="16224"/>
                </a:lnTo>
                <a:lnTo>
                  <a:pt x="923" y="15210"/>
                </a:lnTo>
                <a:lnTo>
                  <a:pt x="1253" y="14211"/>
                </a:lnTo>
                <a:lnTo>
                  <a:pt x="1631" y="13230"/>
                </a:lnTo>
                <a:lnTo>
                  <a:pt x="2058" y="12268"/>
                </a:lnTo>
                <a:lnTo>
                  <a:pt x="2531" y="11329"/>
                </a:lnTo>
                <a:lnTo>
                  <a:pt x="3049" y="10413"/>
                </a:lnTo>
                <a:lnTo>
                  <a:pt x="3612" y="9525"/>
                </a:lnTo>
                <a:lnTo>
                  <a:pt x="4218" y="8665"/>
                </a:lnTo>
                <a:lnTo>
                  <a:pt x="4865" y="7835"/>
                </a:lnTo>
                <a:lnTo>
                  <a:pt x="5552" y="7039"/>
                </a:lnTo>
                <a:lnTo>
                  <a:pt x="6277" y="6277"/>
                </a:lnTo>
                <a:lnTo>
                  <a:pt x="7039" y="5552"/>
                </a:lnTo>
                <a:lnTo>
                  <a:pt x="7835" y="4865"/>
                </a:lnTo>
                <a:lnTo>
                  <a:pt x="8665" y="4218"/>
                </a:lnTo>
                <a:lnTo>
                  <a:pt x="9525" y="3612"/>
                </a:lnTo>
                <a:lnTo>
                  <a:pt x="10413" y="3049"/>
                </a:lnTo>
                <a:lnTo>
                  <a:pt x="11329" y="2531"/>
                </a:lnTo>
                <a:lnTo>
                  <a:pt x="12268" y="2058"/>
                </a:lnTo>
                <a:lnTo>
                  <a:pt x="13230" y="1631"/>
                </a:lnTo>
                <a:lnTo>
                  <a:pt x="14211" y="1253"/>
                </a:lnTo>
                <a:lnTo>
                  <a:pt x="15210" y="923"/>
                </a:lnTo>
                <a:lnTo>
                  <a:pt x="16224" y="642"/>
                </a:lnTo>
                <a:lnTo>
                  <a:pt x="17250" y="412"/>
                </a:lnTo>
                <a:lnTo>
                  <a:pt x="18287" y="232"/>
                </a:lnTo>
                <a:lnTo>
                  <a:pt x="19331" y="103"/>
                </a:lnTo>
                <a:lnTo>
                  <a:pt x="20380" y="26"/>
                </a:lnTo>
                <a:lnTo>
                  <a:pt x="21431" y="0"/>
                </a:lnTo>
              </a:path>
            </a:pathLst>
          </a:custGeom>
          <a:solidFill>
            <a:srgbClr val="0071E3"/>
          </a:solidFill>
          <a:ln/>
        </p:spPr>
      </p:sp>
      <p:sp>
        <p:nvSpPr>
          <p:cNvPr id="59" name="Shape 57"/>
          <p:cNvSpPr/>
          <p:nvPr/>
        </p:nvSpPr>
        <p:spPr>
          <a:xfrm>
            <a:off x="4272220" y="2602781"/>
            <a:ext cx="171450" cy="439341"/>
          </a:xfrm>
          <a:custGeom>
            <a:avLst/>
            <a:gdLst/>
            <a:ahLst/>
            <a:cxnLst/>
            <a:rect l="l" t="t" r="r" b="b"/>
            <a:pathLst>
              <a:path w="171450" h="439341">
                <a:moveTo>
                  <a:pt x="21431" y="0"/>
                </a:moveTo>
                <a:lnTo>
                  <a:pt x="150019" y="0"/>
                </a:lnTo>
                <a:lnTo>
                  <a:pt x="151070" y="26"/>
                </a:lnTo>
                <a:lnTo>
                  <a:pt x="152119" y="103"/>
                </a:lnTo>
                <a:lnTo>
                  <a:pt x="153163" y="232"/>
                </a:lnTo>
                <a:lnTo>
                  <a:pt x="154200" y="412"/>
                </a:lnTo>
                <a:lnTo>
                  <a:pt x="155226" y="642"/>
                </a:lnTo>
                <a:lnTo>
                  <a:pt x="156240" y="923"/>
                </a:lnTo>
                <a:lnTo>
                  <a:pt x="157239" y="1253"/>
                </a:lnTo>
                <a:lnTo>
                  <a:pt x="158220" y="1631"/>
                </a:lnTo>
                <a:lnTo>
                  <a:pt x="159182" y="2058"/>
                </a:lnTo>
                <a:lnTo>
                  <a:pt x="160121" y="2531"/>
                </a:lnTo>
                <a:lnTo>
                  <a:pt x="161037" y="3049"/>
                </a:lnTo>
                <a:lnTo>
                  <a:pt x="161925" y="3612"/>
                </a:lnTo>
                <a:lnTo>
                  <a:pt x="162785" y="4218"/>
                </a:lnTo>
                <a:lnTo>
                  <a:pt x="163615" y="4865"/>
                </a:lnTo>
                <a:lnTo>
                  <a:pt x="164411" y="5552"/>
                </a:lnTo>
                <a:lnTo>
                  <a:pt x="165173" y="6277"/>
                </a:lnTo>
                <a:lnTo>
                  <a:pt x="165898" y="7039"/>
                </a:lnTo>
                <a:lnTo>
                  <a:pt x="166585" y="7835"/>
                </a:lnTo>
                <a:lnTo>
                  <a:pt x="167232" y="8665"/>
                </a:lnTo>
                <a:lnTo>
                  <a:pt x="167838" y="9525"/>
                </a:lnTo>
                <a:lnTo>
                  <a:pt x="168401" y="10413"/>
                </a:lnTo>
                <a:lnTo>
                  <a:pt x="168919" y="11329"/>
                </a:lnTo>
                <a:lnTo>
                  <a:pt x="169392" y="12268"/>
                </a:lnTo>
                <a:lnTo>
                  <a:pt x="169819" y="13230"/>
                </a:lnTo>
                <a:lnTo>
                  <a:pt x="170197" y="14211"/>
                </a:lnTo>
                <a:lnTo>
                  <a:pt x="170527" y="15210"/>
                </a:lnTo>
                <a:lnTo>
                  <a:pt x="170808" y="16224"/>
                </a:lnTo>
                <a:lnTo>
                  <a:pt x="171038" y="17250"/>
                </a:lnTo>
                <a:lnTo>
                  <a:pt x="171218" y="18287"/>
                </a:lnTo>
                <a:lnTo>
                  <a:pt x="171347" y="19331"/>
                </a:lnTo>
                <a:lnTo>
                  <a:pt x="171424" y="20380"/>
                </a:lnTo>
                <a:lnTo>
                  <a:pt x="171450" y="21431"/>
                </a:lnTo>
                <a:lnTo>
                  <a:pt x="171450" y="439341"/>
                </a:lnTo>
                <a:lnTo>
                  <a:pt x="0" y="439341"/>
                </a:lnTo>
                <a:lnTo>
                  <a:pt x="0" y="21431"/>
                </a:lnTo>
                <a:lnTo>
                  <a:pt x="26" y="20380"/>
                </a:lnTo>
                <a:lnTo>
                  <a:pt x="103" y="19331"/>
                </a:lnTo>
                <a:lnTo>
                  <a:pt x="232" y="18287"/>
                </a:lnTo>
                <a:lnTo>
                  <a:pt x="412" y="17250"/>
                </a:lnTo>
                <a:lnTo>
                  <a:pt x="642" y="16224"/>
                </a:lnTo>
                <a:lnTo>
                  <a:pt x="923" y="15210"/>
                </a:lnTo>
                <a:lnTo>
                  <a:pt x="1253" y="14211"/>
                </a:lnTo>
                <a:lnTo>
                  <a:pt x="1631" y="13230"/>
                </a:lnTo>
                <a:lnTo>
                  <a:pt x="2058" y="12268"/>
                </a:lnTo>
                <a:lnTo>
                  <a:pt x="2531" y="11329"/>
                </a:lnTo>
                <a:lnTo>
                  <a:pt x="3049" y="10413"/>
                </a:lnTo>
                <a:lnTo>
                  <a:pt x="3612" y="9525"/>
                </a:lnTo>
                <a:lnTo>
                  <a:pt x="4218" y="8665"/>
                </a:lnTo>
                <a:lnTo>
                  <a:pt x="4865" y="7835"/>
                </a:lnTo>
                <a:lnTo>
                  <a:pt x="5552" y="7039"/>
                </a:lnTo>
                <a:lnTo>
                  <a:pt x="6277" y="6277"/>
                </a:lnTo>
                <a:lnTo>
                  <a:pt x="7039" y="5552"/>
                </a:lnTo>
                <a:lnTo>
                  <a:pt x="7835" y="4865"/>
                </a:lnTo>
                <a:lnTo>
                  <a:pt x="8665" y="4218"/>
                </a:lnTo>
                <a:lnTo>
                  <a:pt x="9525" y="3612"/>
                </a:lnTo>
                <a:lnTo>
                  <a:pt x="10413" y="3049"/>
                </a:lnTo>
                <a:lnTo>
                  <a:pt x="11329" y="2531"/>
                </a:lnTo>
                <a:lnTo>
                  <a:pt x="12268" y="2058"/>
                </a:lnTo>
                <a:lnTo>
                  <a:pt x="13230" y="1631"/>
                </a:lnTo>
                <a:lnTo>
                  <a:pt x="14211" y="1253"/>
                </a:lnTo>
                <a:lnTo>
                  <a:pt x="15210" y="923"/>
                </a:lnTo>
                <a:lnTo>
                  <a:pt x="16224" y="642"/>
                </a:lnTo>
                <a:lnTo>
                  <a:pt x="17250" y="412"/>
                </a:lnTo>
                <a:lnTo>
                  <a:pt x="18287" y="232"/>
                </a:lnTo>
                <a:lnTo>
                  <a:pt x="19331" y="103"/>
                </a:lnTo>
                <a:lnTo>
                  <a:pt x="20380" y="26"/>
                </a:lnTo>
                <a:lnTo>
                  <a:pt x="21431" y="0"/>
                </a:lnTo>
              </a:path>
            </a:pathLst>
          </a:custGeom>
          <a:solidFill>
            <a:srgbClr val="0071E3"/>
          </a:solidFill>
          <a:ln/>
        </p:spPr>
      </p:sp>
      <p:sp>
        <p:nvSpPr>
          <p:cNvPr id="60" name="Shape 58"/>
          <p:cNvSpPr/>
          <p:nvPr/>
        </p:nvSpPr>
        <p:spPr>
          <a:xfrm>
            <a:off x="4735747" y="2309887"/>
            <a:ext cx="171450" cy="732235"/>
          </a:xfrm>
          <a:custGeom>
            <a:avLst/>
            <a:gdLst/>
            <a:ahLst/>
            <a:cxnLst/>
            <a:rect l="l" t="t" r="r" b="b"/>
            <a:pathLst>
              <a:path w="171450" h="732235">
                <a:moveTo>
                  <a:pt x="21431" y="0"/>
                </a:moveTo>
                <a:lnTo>
                  <a:pt x="150019" y="0"/>
                </a:lnTo>
                <a:lnTo>
                  <a:pt x="151070" y="26"/>
                </a:lnTo>
                <a:lnTo>
                  <a:pt x="152119" y="103"/>
                </a:lnTo>
                <a:lnTo>
                  <a:pt x="153163" y="232"/>
                </a:lnTo>
                <a:lnTo>
                  <a:pt x="154200" y="412"/>
                </a:lnTo>
                <a:lnTo>
                  <a:pt x="155226" y="642"/>
                </a:lnTo>
                <a:lnTo>
                  <a:pt x="156240" y="923"/>
                </a:lnTo>
                <a:lnTo>
                  <a:pt x="157239" y="1253"/>
                </a:lnTo>
                <a:lnTo>
                  <a:pt x="158220" y="1631"/>
                </a:lnTo>
                <a:lnTo>
                  <a:pt x="159182" y="2058"/>
                </a:lnTo>
                <a:lnTo>
                  <a:pt x="160121" y="2531"/>
                </a:lnTo>
                <a:lnTo>
                  <a:pt x="161037" y="3049"/>
                </a:lnTo>
                <a:lnTo>
                  <a:pt x="161925" y="3612"/>
                </a:lnTo>
                <a:lnTo>
                  <a:pt x="162785" y="4218"/>
                </a:lnTo>
                <a:lnTo>
                  <a:pt x="163615" y="4865"/>
                </a:lnTo>
                <a:lnTo>
                  <a:pt x="164411" y="5552"/>
                </a:lnTo>
                <a:lnTo>
                  <a:pt x="165173" y="6277"/>
                </a:lnTo>
                <a:lnTo>
                  <a:pt x="165898" y="7039"/>
                </a:lnTo>
                <a:lnTo>
                  <a:pt x="166585" y="7835"/>
                </a:lnTo>
                <a:lnTo>
                  <a:pt x="167232" y="8665"/>
                </a:lnTo>
                <a:lnTo>
                  <a:pt x="167838" y="9525"/>
                </a:lnTo>
                <a:lnTo>
                  <a:pt x="168401" y="10413"/>
                </a:lnTo>
                <a:lnTo>
                  <a:pt x="168919" y="11329"/>
                </a:lnTo>
                <a:lnTo>
                  <a:pt x="169392" y="12268"/>
                </a:lnTo>
                <a:lnTo>
                  <a:pt x="169819" y="13230"/>
                </a:lnTo>
                <a:lnTo>
                  <a:pt x="170197" y="14211"/>
                </a:lnTo>
                <a:lnTo>
                  <a:pt x="170527" y="15210"/>
                </a:lnTo>
                <a:lnTo>
                  <a:pt x="170808" y="16224"/>
                </a:lnTo>
                <a:lnTo>
                  <a:pt x="171038" y="17250"/>
                </a:lnTo>
                <a:lnTo>
                  <a:pt x="171218" y="18287"/>
                </a:lnTo>
                <a:lnTo>
                  <a:pt x="171347" y="19331"/>
                </a:lnTo>
                <a:lnTo>
                  <a:pt x="171424" y="20380"/>
                </a:lnTo>
                <a:lnTo>
                  <a:pt x="171450" y="21431"/>
                </a:lnTo>
                <a:lnTo>
                  <a:pt x="171450" y="732235"/>
                </a:lnTo>
                <a:lnTo>
                  <a:pt x="0" y="732235"/>
                </a:lnTo>
                <a:lnTo>
                  <a:pt x="0" y="21431"/>
                </a:lnTo>
                <a:lnTo>
                  <a:pt x="26" y="20380"/>
                </a:lnTo>
                <a:lnTo>
                  <a:pt x="103" y="19331"/>
                </a:lnTo>
                <a:lnTo>
                  <a:pt x="232" y="18287"/>
                </a:lnTo>
                <a:lnTo>
                  <a:pt x="412" y="17250"/>
                </a:lnTo>
                <a:lnTo>
                  <a:pt x="642" y="16224"/>
                </a:lnTo>
                <a:lnTo>
                  <a:pt x="923" y="15210"/>
                </a:lnTo>
                <a:lnTo>
                  <a:pt x="1253" y="14211"/>
                </a:lnTo>
                <a:lnTo>
                  <a:pt x="1631" y="13230"/>
                </a:lnTo>
                <a:lnTo>
                  <a:pt x="2058" y="12268"/>
                </a:lnTo>
                <a:lnTo>
                  <a:pt x="2531" y="11329"/>
                </a:lnTo>
                <a:lnTo>
                  <a:pt x="3049" y="10413"/>
                </a:lnTo>
                <a:lnTo>
                  <a:pt x="3612" y="9525"/>
                </a:lnTo>
                <a:lnTo>
                  <a:pt x="4218" y="8665"/>
                </a:lnTo>
                <a:lnTo>
                  <a:pt x="4865" y="7835"/>
                </a:lnTo>
                <a:lnTo>
                  <a:pt x="5552" y="7039"/>
                </a:lnTo>
                <a:lnTo>
                  <a:pt x="6277" y="6277"/>
                </a:lnTo>
                <a:lnTo>
                  <a:pt x="7039" y="5552"/>
                </a:lnTo>
                <a:lnTo>
                  <a:pt x="7835" y="4865"/>
                </a:lnTo>
                <a:lnTo>
                  <a:pt x="8665" y="4218"/>
                </a:lnTo>
                <a:lnTo>
                  <a:pt x="9525" y="3612"/>
                </a:lnTo>
                <a:lnTo>
                  <a:pt x="10413" y="3049"/>
                </a:lnTo>
                <a:lnTo>
                  <a:pt x="11329" y="2531"/>
                </a:lnTo>
                <a:lnTo>
                  <a:pt x="12268" y="2058"/>
                </a:lnTo>
                <a:lnTo>
                  <a:pt x="13230" y="1631"/>
                </a:lnTo>
                <a:lnTo>
                  <a:pt x="14211" y="1253"/>
                </a:lnTo>
                <a:lnTo>
                  <a:pt x="15210" y="923"/>
                </a:lnTo>
                <a:lnTo>
                  <a:pt x="16224" y="642"/>
                </a:lnTo>
                <a:lnTo>
                  <a:pt x="17250" y="412"/>
                </a:lnTo>
                <a:lnTo>
                  <a:pt x="18287" y="232"/>
                </a:lnTo>
                <a:lnTo>
                  <a:pt x="19331" y="103"/>
                </a:lnTo>
                <a:lnTo>
                  <a:pt x="20380" y="26"/>
                </a:lnTo>
                <a:lnTo>
                  <a:pt x="21431" y="0"/>
                </a:lnTo>
              </a:path>
            </a:pathLst>
          </a:custGeom>
          <a:solidFill>
            <a:srgbClr val="0071E3"/>
          </a:solidFill>
          <a:ln/>
        </p:spPr>
      </p:sp>
      <p:sp>
        <p:nvSpPr>
          <p:cNvPr id="61" name="Shape 59"/>
          <p:cNvSpPr/>
          <p:nvPr/>
        </p:nvSpPr>
        <p:spPr>
          <a:xfrm>
            <a:off x="5199273" y="2309887"/>
            <a:ext cx="171450" cy="732235"/>
          </a:xfrm>
          <a:custGeom>
            <a:avLst/>
            <a:gdLst/>
            <a:ahLst/>
            <a:cxnLst/>
            <a:rect l="l" t="t" r="r" b="b"/>
            <a:pathLst>
              <a:path w="171450" h="732235">
                <a:moveTo>
                  <a:pt x="21431" y="0"/>
                </a:moveTo>
                <a:lnTo>
                  <a:pt x="150019" y="0"/>
                </a:lnTo>
                <a:lnTo>
                  <a:pt x="151070" y="26"/>
                </a:lnTo>
                <a:lnTo>
                  <a:pt x="152119" y="103"/>
                </a:lnTo>
                <a:lnTo>
                  <a:pt x="153163" y="232"/>
                </a:lnTo>
                <a:lnTo>
                  <a:pt x="154200" y="412"/>
                </a:lnTo>
                <a:lnTo>
                  <a:pt x="155226" y="642"/>
                </a:lnTo>
                <a:lnTo>
                  <a:pt x="156240" y="923"/>
                </a:lnTo>
                <a:lnTo>
                  <a:pt x="157239" y="1253"/>
                </a:lnTo>
                <a:lnTo>
                  <a:pt x="158220" y="1631"/>
                </a:lnTo>
                <a:lnTo>
                  <a:pt x="159182" y="2058"/>
                </a:lnTo>
                <a:lnTo>
                  <a:pt x="160121" y="2531"/>
                </a:lnTo>
                <a:lnTo>
                  <a:pt x="161037" y="3049"/>
                </a:lnTo>
                <a:lnTo>
                  <a:pt x="161925" y="3612"/>
                </a:lnTo>
                <a:lnTo>
                  <a:pt x="162785" y="4218"/>
                </a:lnTo>
                <a:lnTo>
                  <a:pt x="163615" y="4865"/>
                </a:lnTo>
                <a:lnTo>
                  <a:pt x="164411" y="5552"/>
                </a:lnTo>
                <a:lnTo>
                  <a:pt x="165173" y="6277"/>
                </a:lnTo>
                <a:lnTo>
                  <a:pt x="165898" y="7039"/>
                </a:lnTo>
                <a:lnTo>
                  <a:pt x="166585" y="7835"/>
                </a:lnTo>
                <a:lnTo>
                  <a:pt x="167232" y="8665"/>
                </a:lnTo>
                <a:lnTo>
                  <a:pt x="167838" y="9525"/>
                </a:lnTo>
                <a:lnTo>
                  <a:pt x="168401" y="10413"/>
                </a:lnTo>
                <a:lnTo>
                  <a:pt x="168919" y="11329"/>
                </a:lnTo>
                <a:lnTo>
                  <a:pt x="169392" y="12268"/>
                </a:lnTo>
                <a:lnTo>
                  <a:pt x="169819" y="13230"/>
                </a:lnTo>
                <a:lnTo>
                  <a:pt x="170197" y="14211"/>
                </a:lnTo>
                <a:lnTo>
                  <a:pt x="170527" y="15210"/>
                </a:lnTo>
                <a:lnTo>
                  <a:pt x="170808" y="16224"/>
                </a:lnTo>
                <a:lnTo>
                  <a:pt x="171038" y="17250"/>
                </a:lnTo>
                <a:lnTo>
                  <a:pt x="171218" y="18287"/>
                </a:lnTo>
                <a:lnTo>
                  <a:pt x="171347" y="19331"/>
                </a:lnTo>
                <a:lnTo>
                  <a:pt x="171424" y="20380"/>
                </a:lnTo>
                <a:lnTo>
                  <a:pt x="171450" y="21431"/>
                </a:lnTo>
                <a:lnTo>
                  <a:pt x="171450" y="732235"/>
                </a:lnTo>
                <a:lnTo>
                  <a:pt x="0" y="732235"/>
                </a:lnTo>
                <a:lnTo>
                  <a:pt x="0" y="21431"/>
                </a:lnTo>
                <a:lnTo>
                  <a:pt x="26" y="20380"/>
                </a:lnTo>
                <a:lnTo>
                  <a:pt x="103" y="19331"/>
                </a:lnTo>
                <a:lnTo>
                  <a:pt x="232" y="18287"/>
                </a:lnTo>
                <a:lnTo>
                  <a:pt x="412" y="17250"/>
                </a:lnTo>
                <a:lnTo>
                  <a:pt x="642" y="16224"/>
                </a:lnTo>
                <a:lnTo>
                  <a:pt x="923" y="15210"/>
                </a:lnTo>
                <a:lnTo>
                  <a:pt x="1253" y="14211"/>
                </a:lnTo>
                <a:lnTo>
                  <a:pt x="1631" y="13230"/>
                </a:lnTo>
                <a:lnTo>
                  <a:pt x="2058" y="12268"/>
                </a:lnTo>
                <a:lnTo>
                  <a:pt x="2531" y="11329"/>
                </a:lnTo>
                <a:lnTo>
                  <a:pt x="3049" y="10413"/>
                </a:lnTo>
                <a:lnTo>
                  <a:pt x="3612" y="9525"/>
                </a:lnTo>
                <a:lnTo>
                  <a:pt x="4218" y="8665"/>
                </a:lnTo>
                <a:lnTo>
                  <a:pt x="4865" y="7835"/>
                </a:lnTo>
                <a:lnTo>
                  <a:pt x="5552" y="7039"/>
                </a:lnTo>
                <a:lnTo>
                  <a:pt x="6277" y="6277"/>
                </a:lnTo>
                <a:lnTo>
                  <a:pt x="7039" y="5552"/>
                </a:lnTo>
                <a:lnTo>
                  <a:pt x="7835" y="4865"/>
                </a:lnTo>
                <a:lnTo>
                  <a:pt x="8665" y="4218"/>
                </a:lnTo>
                <a:lnTo>
                  <a:pt x="9525" y="3612"/>
                </a:lnTo>
                <a:lnTo>
                  <a:pt x="10413" y="3049"/>
                </a:lnTo>
                <a:lnTo>
                  <a:pt x="11329" y="2531"/>
                </a:lnTo>
                <a:lnTo>
                  <a:pt x="12268" y="2058"/>
                </a:lnTo>
                <a:lnTo>
                  <a:pt x="13230" y="1631"/>
                </a:lnTo>
                <a:lnTo>
                  <a:pt x="14211" y="1253"/>
                </a:lnTo>
                <a:lnTo>
                  <a:pt x="15210" y="923"/>
                </a:lnTo>
                <a:lnTo>
                  <a:pt x="16224" y="642"/>
                </a:lnTo>
                <a:lnTo>
                  <a:pt x="17250" y="412"/>
                </a:lnTo>
                <a:lnTo>
                  <a:pt x="18287" y="232"/>
                </a:lnTo>
                <a:lnTo>
                  <a:pt x="19331" y="103"/>
                </a:lnTo>
                <a:lnTo>
                  <a:pt x="20380" y="26"/>
                </a:lnTo>
                <a:lnTo>
                  <a:pt x="21431" y="0"/>
                </a:lnTo>
              </a:path>
            </a:pathLst>
          </a:custGeom>
          <a:solidFill>
            <a:srgbClr val="0071E3"/>
          </a:solidFill>
          <a:ln/>
        </p:spPr>
      </p:sp>
      <p:sp>
        <p:nvSpPr>
          <p:cNvPr id="62" name="Text 60"/>
          <p:cNvSpPr/>
          <p:nvPr/>
        </p:nvSpPr>
        <p:spPr>
          <a:xfrm>
            <a:off x="3189434" y="2749943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10</a:t>
            </a:r>
            <a:endParaRPr lang="en-US" sz="788" dirty="0"/>
          </a:p>
        </p:txBody>
      </p:sp>
      <p:sp>
        <p:nvSpPr>
          <p:cNvPr id="63" name="Text 61"/>
          <p:cNvSpPr/>
          <p:nvPr/>
        </p:nvSpPr>
        <p:spPr>
          <a:xfrm>
            <a:off x="3652961" y="2603495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20</a:t>
            </a:r>
            <a:endParaRPr lang="en-US" sz="788" dirty="0"/>
          </a:p>
        </p:txBody>
      </p:sp>
      <p:sp>
        <p:nvSpPr>
          <p:cNvPr id="64" name="Text 62"/>
          <p:cNvSpPr/>
          <p:nvPr/>
        </p:nvSpPr>
        <p:spPr>
          <a:xfrm>
            <a:off x="4116487" y="2457048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30</a:t>
            </a:r>
            <a:endParaRPr lang="en-US" sz="788" dirty="0"/>
          </a:p>
        </p:txBody>
      </p:sp>
      <p:sp>
        <p:nvSpPr>
          <p:cNvPr id="65" name="Text 63"/>
          <p:cNvSpPr/>
          <p:nvPr/>
        </p:nvSpPr>
        <p:spPr>
          <a:xfrm>
            <a:off x="4580013" y="2164155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50</a:t>
            </a:r>
            <a:endParaRPr lang="en-US" sz="788" dirty="0"/>
          </a:p>
        </p:txBody>
      </p:sp>
      <p:sp>
        <p:nvSpPr>
          <p:cNvPr id="66" name="Text 64"/>
          <p:cNvSpPr/>
          <p:nvPr/>
        </p:nvSpPr>
        <p:spPr>
          <a:xfrm>
            <a:off x="5043539" y="2164155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50</a:t>
            </a:r>
            <a:endParaRPr lang="en-US" sz="788" dirty="0"/>
          </a:p>
        </p:txBody>
      </p:sp>
      <p:sp>
        <p:nvSpPr>
          <p:cNvPr id="67" name="Shape 65"/>
          <p:cNvSpPr/>
          <p:nvPr/>
        </p:nvSpPr>
        <p:spPr>
          <a:xfrm>
            <a:off x="3199131" y="2309887"/>
            <a:ext cx="2317630" cy="0"/>
          </a:xfrm>
          <a:prstGeom prst="line">
            <a:avLst/>
          </a:prstGeom>
          <a:noFill/>
          <a:ln w="6350">
            <a:solidFill>
              <a:srgbClr val="1D1D1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27706" y="2171298"/>
            <a:ext cx="138303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门槛 50 万次</a:t>
            </a:r>
            <a:endParaRPr lang="en-US" sz="788" dirty="0"/>
          </a:p>
        </p:txBody>
      </p:sp>
      <p:sp>
        <p:nvSpPr>
          <p:cNvPr id="69" name="Shape 67"/>
          <p:cNvSpPr/>
          <p:nvPr/>
        </p:nvSpPr>
        <p:spPr>
          <a:xfrm>
            <a:off x="5788223" y="1830363"/>
            <a:ext cx="3143250" cy="1543050"/>
          </a:xfrm>
          <a:prstGeom prst="roundRect">
            <a:avLst>
              <a:gd name="adj" fmla="val 2195"/>
            </a:avLst>
          </a:prstGeom>
          <a:solidFill>
            <a:srgbClr val="F5F5F7"/>
          </a:solidFill>
          <a:ln/>
        </p:spPr>
      </p:sp>
      <p:sp>
        <p:nvSpPr>
          <p:cNvPr id="70" name="Shape 68"/>
          <p:cNvSpPr/>
          <p:nvPr/>
        </p:nvSpPr>
        <p:spPr>
          <a:xfrm>
            <a:off x="5875734" y="2120578"/>
            <a:ext cx="42863" cy="42863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71" name="Shape 69"/>
          <p:cNvSpPr/>
          <p:nvPr/>
        </p:nvSpPr>
        <p:spPr>
          <a:xfrm>
            <a:off x="5875734" y="2396951"/>
            <a:ext cx="42863" cy="42863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72" name="Shape 70"/>
          <p:cNvSpPr/>
          <p:nvPr/>
        </p:nvSpPr>
        <p:spPr>
          <a:xfrm>
            <a:off x="5875734" y="2673325"/>
            <a:ext cx="42863" cy="42863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73" name="Shape 71"/>
          <p:cNvSpPr/>
          <p:nvPr/>
        </p:nvSpPr>
        <p:spPr>
          <a:xfrm>
            <a:off x="5875734" y="2949699"/>
            <a:ext cx="42863" cy="42863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74" name="Shape 72"/>
          <p:cNvSpPr/>
          <p:nvPr/>
        </p:nvSpPr>
        <p:spPr>
          <a:xfrm>
            <a:off x="5875734" y="3226073"/>
            <a:ext cx="42863" cy="42863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75" name="Shape 73"/>
          <p:cNvSpPr/>
          <p:nvPr/>
        </p:nvSpPr>
        <p:spPr>
          <a:xfrm>
            <a:off x="214313" y="3430563"/>
            <a:ext cx="4243388" cy="800100"/>
          </a:xfrm>
          <a:prstGeom prst="roundRect">
            <a:avLst>
              <a:gd name="adj" fmla="val 8163"/>
            </a:avLst>
          </a:prstGeom>
          <a:solidFill>
            <a:srgbClr val="F5F5F7"/>
          </a:solidFill>
          <a:ln/>
        </p:spPr>
      </p:sp>
      <p:sp>
        <p:nvSpPr>
          <p:cNvPr id="76" name="Shape 74"/>
          <p:cNvSpPr/>
          <p:nvPr/>
        </p:nvSpPr>
        <p:spPr>
          <a:xfrm>
            <a:off x="4686300" y="3430563"/>
            <a:ext cx="4243388" cy="800100"/>
          </a:xfrm>
          <a:prstGeom prst="roundRect">
            <a:avLst>
              <a:gd name="adj" fmla="val 8163"/>
            </a:avLst>
          </a:prstGeom>
          <a:solidFill>
            <a:srgbClr val="F5F5F7"/>
          </a:solidFill>
          <a:ln/>
        </p:spPr>
      </p:sp>
      <p:sp>
        <p:nvSpPr>
          <p:cNvPr id="77" name="Text 75"/>
          <p:cNvSpPr/>
          <p:nvPr/>
        </p:nvSpPr>
        <p:spPr>
          <a:xfrm>
            <a:off x="214313" y="501625"/>
            <a:ext cx="8715375" cy="2643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下一步计划：2026 聚焦良率 95%、弯折 50 万次与临床多中心</a:t>
            </a:r>
            <a:endParaRPr lang="en-US" sz="1900" dirty="0"/>
          </a:p>
        </p:txBody>
      </p:sp>
      <p:sp>
        <p:nvSpPr>
          <p:cNvPr id="78" name="Text 76"/>
          <p:cNvSpPr/>
          <p:nvPr/>
        </p:nvSpPr>
        <p:spPr>
          <a:xfrm>
            <a:off x="300038" y="1398110"/>
            <a:ext cx="2657475" cy="17859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92% → 95%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300038" y="1589540"/>
            <a:ext cx="2657475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验收 · 缺陷识别速度 / 漏检率 / 误判率并列考核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3243263" y="1398110"/>
            <a:ext cx="2657475" cy="17859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10 万次 → 50 万次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3243263" y="1589540"/>
            <a:ext cx="2657475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验收 · 半径 R1.5–3 mm、速率、温湿度、偏压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6186488" y="1398110"/>
            <a:ext cx="2657475" cy="17859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多中心 + 长期随访库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6186488" y="1589540"/>
            <a:ext cx="2657475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验收 · 统一方案、随访一致、资料保存 10 年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214089" y="1829023"/>
            <a:ext cx="1300163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2026 季度爬坡 · 量产良率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2450585" y="1843255"/>
            <a:ext cx="378619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单位：%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215205" y="3239077"/>
            <a:ext cx="2614613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手段 · AI 缺陷分类 + 在线量测 + 工艺窗口收紧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3001938" y="1829023"/>
            <a:ext cx="1300163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2026 季度爬坡 · 弯折寿命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5124190" y="1843255"/>
            <a:ext cx="492919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单位：万次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3003054" y="3239077"/>
            <a:ext cx="2614613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路径 · TFE 叠层迭代 + UTG 盖板比选 + 整机验证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5875679" y="1886173"/>
            <a:ext cx="1014413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临床与中试季度节点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7909471" y="1900405"/>
            <a:ext cx="935831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2026 Q1 – 2027 H1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5976696" y="2076320"/>
            <a:ext cx="2597325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Q1</a:t>
            </a:r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· 方案冻结、各中心统一 SOP 与伦理；设备清单盘点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5974017" y="2352694"/>
            <a:ext cx="2127837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Q2</a:t>
            </a:r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· 新增中心启动、入组过半；关键设备到位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5975635" y="2629067"/>
            <a:ext cx="2809351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Q3</a:t>
            </a:r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· 入组完成、随访数据库上线（10 年保存期）；中试爬坡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5974017" y="2905441"/>
            <a:ext cx="2127837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Q4</a:t>
            </a:r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· 中期安全性与有效性分析；扩产方案定版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5976696" y="3181815"/>
            <a:ext cx="2385298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2027 H1</a:t>
            </a:r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· 随访满 12 个月、适应证拓展；产能验收</a:t>
            </a:r>
            <a:endParaRPr lang="en-US" sz="700" dirty="0"/>
          </a:p>
        </p:txBody>
      </p:sp>
      <p:sp>
        <p:nvSpPr>
          <p:cNvPr id="97" name="Text 95"/>
          <p:cNvSpPr/>
          <p:nvPr/>
        </p:nvSpPr>
        <p:spPr>
          <a:xfrm>
            <a:off x="300038" y="3506130"/>
            <a:ext cx="4071938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资源需求 · 设备 / 产能 / 资金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400608" y="3696277"/>
            <a:ext cx="2476167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设备经费</a:t>
            </a:r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· R2R 关键设备投资 5,000–8,000 万元量级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400887" y="3857792"/>
            <a:ext cx="2347436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产能对标</a:t>
            </a:r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· 柔性中试线 10K m/月、幅宽 1250 mm</a:t>
            </a:r>
            <a:endParaRPr lang="en-US" sz="700" dirty="0"/>
          </a:p>
        </p:txBody>
      </p:sp>
      <p:sp>
        <p:nvSpPr>
          <p:cNvPr id="100" name="Text 98"/>
          <p:cNvSpPr/>
          <p:nvPr/>
        </p:nvSpPr>
        <p:spPr>
          <a:xfrm>
            <a:off x="400664" y="4019308"/>
            <a:ext cx="2498884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资金通道</a:t>
            </a:r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· 中试基地专项资金与风险补偿（宁波模式）</a:t>
            </a:r>
            <a:endParaRPr lang="en-US" sz="700" dirty="0"/>
          </a:p>
        </p:txBody>
      </p:sp>
      <p:sp>
        <p:nvSpPr>
          <p:cNvPr id="101" name="Text 99"/>
          <p:cNvSpPr/>
          <p:nvPr/>
        </p:nvSpPr>
        <p:spPr>
          <a:xfrm>
            <a:off x="4772025" y="3506130"/>
            <a:ext cx="4071938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风险与应对 · 技术 / 供应链 / 监管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4871033" y="3696277"/>
            <a:ext cx="2347436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技术</a:t>
            </a:r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· 阻隔与弯折寿命不同步 → 组合工况验证前置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4872651" y="3857792"/>
            <a:ext cx="2680621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供应链</a:t>
            </a:r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· 设备定制化、通用性差 → 双供应商 + 国产化评估</a:t>
            </a:r>
            <a:endParaRPr lang="en-US" sz="700" dirty="0"/>
          </a:p>
        </p:txBody>
      </p:sp>
      <p:sp>
        <p:nvSpPr>
          <p:cNvPr id="104" name="Text 102"/>
          <p:cNvSpPr/>
          <p:nvPr/>
        </p:nvSpPr>
        <p:spPr>
          <a:xfrm>
            <a:off x="4873265" y="4019308"/>
            <a:ext cx="2938082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监管</a:t>
            </a:r>
            <a:pPr algn="l" indent="0" marL="0">
              <a:buNone/>
            </a:pPr>
            <a:r>
              <a:rPr lang="en-US" sz="700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 · 方案或随访不一致 → 方案冻结 + 统一 SOP + 数据库先行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214313" y="4514850"/>
            <a:ext cx="8715375" cy="3000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数据来源：团队自有数据（良率 78%→92%、弯曲 10 万次无衰减、植入式电子皮肤进入临床试验）；95% 良率与 50 万次弯折为团队目标（自定），行业数值仅用于论证可行性 · PowerArena、美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光、清软微视、Applied Materials、南方plus、NMPA 医疗器械临床试验质量管理规范、EEFocus、中研网、CZTV</a:t>
            </a:r>
            <a:endParaRPr lang="en-US" sz="700" dirty="0"/>
          </a:p>
        </p:txBody>
      </p:sp>
      <p:sp>
        <p:nvSpPr>
          <p:cNvPr id="65535" name="wm:hwcld:2026-09-22T19:07:46:581b05d5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4429125" y="2515493"/>
            <a:ext cx="285750" cy="7144"/>
          </a:xfrm>
          <a:prstGeom prst="rect">
            <a:avLst/>
          </a:prstGeom>
          <a:solidFill>
            <a:srgbClr val="1D1D1F"/>
          </a:solidFill>
          <a:ln/>
        </p:spPr>
      </p:sp>
      <p:sp>
        <p:nvSpPr>
          <p:cNvPr id="4" name="Text 2"/>
          <p:cNvSpPr/>
          <p:nvPr/>
        </p:nvSpPr>
        <p:spPr>
          <a:xfrm>
            <a:off x="4200469" y="1443707"/>
            <a:ext cx="742950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THANK YOU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364525" y="1751000"/>
            <a:ext cx="4414838" cy="5500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感谢聆听 · 欢迎交流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57250" y="2707593"/>
            <a:ext cx="7429500" cy="42148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感谢年会主办方、合作三甲医院、产业伙伴与团队成员三年来的支持。数据可复核、方法可复现、合作可对接，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欢迎各位专家提问与后续交流。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54035" y="3414043"/>
            <a:ext cx="835819" cy="285750"/>
          </a:xfrm>
          <a:prstGeom prst="roundRect">
            <a:avLst>
              <a:gd name="adj" fmla="val 40000"/>
            </a:avLst>
          </a:prstGeom>
          <a:ln w="6191">
            <a:solidFill>
              <a:srgbClr val="0066CC"/>
            </a:solidFill>
            <a:prstDash val="solid"/>
          </a:ln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返回首页 ›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591" y="4688086"/>
            <a:ext cx="4221956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anxiXinyuanti" pitchFamily="34" charset="0"/>
                <a:ea typeface="NanxiXinyuanti" pitchFamily="34" charset="-122"/>
                <a:cs typeface="NanxiXinyuanti" pitchFamily="34" charset="-120"/>
              </a:rPr>
              <a:t>柔性电子团队 · 年会特邀报告（2023–2025 研究进展） · 合作与交流对接可通过年会主办方转达课题组</a:t>
            </a:r>
            <a:endParaRPr lang="en-US" sz="700" dirty="0"/>
          </a:p>
        </p:txBody>
      </p:sp>
      <p:sp>
        <p:nvSpPr>
          <p:cNvPr id="65535" name="wm:hwcld:2026-09-22T19:07:46:581b05d5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2026-09-22T19:07:49Z</dcterms:created>
  <dcterms:modified xsi:type="dcterms:W3CDTF">2026-09-22T19:07:49Z</dcterms:modified>
</cp:coreProperties>
</file>