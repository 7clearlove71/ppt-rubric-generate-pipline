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  <Relationship Id="rId20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各位专家，下午好。感谢年会的邀请。今天这二十分钟，我想向大家汇报柔性电子团队近三年的进展。三年前，我们的三条主线——可拉伸传感阵列、柔性 OLED 器件、植入式电子皮肤——大多还停留在实验室原型；今天，它们分别跨过了量产良率、可靠性验证和临床试验三道门槛。这个报告的题目，就叫"从实验室到临床"。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报告分五个部分。先用一页把三大突破的总览讲清楚；然后依次展开三条主线的证据：可拉伸阵列的良率从百分之七十八提升到百分之九十二，柔性 OLED 弯曲十万次无衰减，植入式电子皮肤与三甲医院合作进入临床试验；最后是技术路线图和下一步计划。整体节奏大约每部分三到四分钟，欢迎在报告后交流。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先把结论放在最前面：三年之内，三条主线全部跨过了工程化门槛。第一条线，可拉伸传感器阵列，量产良率达到百分之九十二，量产工艺已经稳定；第二条线，柔性 OLED 器件，通过十万次弯曲循环且性能无衰减，可靠性得到验证；第三条线，植入式电子皮肤，已与三甲医院合作进入临床试验阶段。三条线合在一起，意味着团队形成了从材料、器件、系统到应用的完整闭环。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看第一条主线的核心数字。可拉伸传感器阵列的量产良率，三年前是百分之七十八，现在是百分之九十二。柱图上两根柱子共享同一个零基线，十四个百分点的跃迁清晰可见。换一个角度看，不良率从百分之二十二降到百分之八，相对下降了大约三分之二。对我们而言，这不是一个孤立的数字，而是可拉伸阵列从"能做"走向"能量产"的分界线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为什么我们强调这个九十二。在工程化语境里，良率是规模化的前置条件：越过九十以后，单位成本结构才有实质性改善的余地，工艺参数窗口才能收窄到可固化、可交接的状态，下游的传感系统和电子皮肤才有稳定的阵列供给。当然，这一页属于工程含义的解读，具体成本数字今天不展开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第二条主线，柔性 OLED。这个数字请大家记住量级：十万次弯曲循环。反复弯曲之后，器件性能零衰减。判据很明确——关键性能参数在循环前后保持一致。它的工程意义在于，折叠和贴合形态下的长寿命可用性，第一次在我们的器件上得到了验证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专家们会关心这个结论怎么来的。验证体系由三部分构成：第一，弯曲条件，弯曲形态与循环频率共同构成测试剖面；第二，循环规模，累计十万次弯曲；第三，衰减判据，循环前后关键性能无衰减。三要素齐备，我们才敢说"无衰减"。需要说明，这一页是方法学框架的表述，具体的弯曲半径和频率参数，欢迎会后单独交流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三条主线走得更远——从器件走向了人体。植入式电子皮肤，与三甲医院合作，已经进入临床试验阶段。阶段推进条上，当前所在的位置是临床试验，前面的实验室研究和验证阶段已经完成，后面的临床应用还在规划中。合作模式是团队与医院联合推进临床验证。对我们来说，临床转化通道已经打开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想说明三条主线不是并行的三件事，而是在临床汇合的一条链。可拉伸阵列提供传感单元的规模化供给，可靠性方法提供临床级器件的验证范式，两者共同托举起植入式电子皮肤进入临床。良率和十万次弯曲，正是临床器件的供给前提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把三条主线放在一张表里横向对照。可拉伸传感器阵列，关键指标是量产良率百分之九十二，量产验证完成，处于规模化交付阶段；柔性 OLED 器件，关键指标是弯曲十万次无衰减，可靠性验证完成，处于应用评估阶段；植入式电子皮肤，关键指标是进入临床试验，处于临床转化阶段。三条线成熟度不同，但正好构成工程化闭环的三个台阶。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接下来是未来三年的技术路线图，这里的阶段划分属于团队规划。二零二六年，工艺与验证固化，在百分之九十二的良率和十万次弯曲的基础上，把工艺窗口和可靠性协议标准化；二零二七年，系统与集成，做阵列、器件、皮肤的系统级集成与验证；二零二八年，临床与规模，临床推进与规模化交付，衔接当前的临床试验阶段。一句话：先固化工艺，再集成系统，最后拓展临床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下一步是三个动作。传感主线，良率工艺固化与产能扩展，支撑规模交付；显示主线，弯曲疲劳验证体系标准化，向应用评估推进；医疗主线，临床试验持续推进，用临床反馈驱动器件迭代。同时我们开放三个合作切口：工艺、验证方法、临床转化，欢迎各位会后就感兴趣的方向交流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最后用一句话收束这三年：从实验室到临床。百分之七十八到百分之九十二的量产良率，十万次弯曲无衰减的柔性 OLED，已经进入临床试验的植入式电子皮肤——柔性电子的工程化闭环已经成形。欢迎大家就工艺、验证与临床转化开展合作交流。谢谢大家。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flexible_electronics_repor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flexible_electronics_repor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21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over-kicker"/>
          <p:cNvGrpSpPr/>
          <p:nvPr/>
        </p:nvGrpSpPr>
        <p:grpSpPr>
          <a:xfrm>
            <a:off x="754380" y="1400175"/>
            <a:ext cx="2666048" cy="293370"/>
            <a:chOff x="754380" y="1400175"/>
            <a:chExt cx="2666048" cy="293370"/>
          </a:xfrm>
        </p:grpSpPr>
        <p:sp>
          <p:nvSpPr>
            <p:cNvPr id="2" name="TextBox 2"/>
            <p:cNvSpPr txBox="1"/>
            <p:nvPr/>
          </p:nvSpPr>
          <p:spPr>
            <a:xfrm>
              <a:off x="754380" y="1400175"/>
              <a:ext cx="26660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spc="3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年会特邀报告 · 20 分钟</a:t>
              </a:r>
            </a:p>
          </p:txBody>
        </p:sp>
      </p:grpSp>
      <p:grpSp>
        <p:nvGrpSpPr>
          <p:cNvPr id="6" name="cover-title"/>
          <p:cNvGrpSpPr/>
          <p:nvPr/>
        </p:nvGrpSpPr>
        <p:grpSpPr>
          <a:xfrm>
            <a:off x="742950" y="2179320"/>
            <a:ext cx="5126736" cy="1543431"/>
            <a:chOff x="742950" y="2179320"/>
            <a:chExt cx="5126736" cy="1543431"/>
          </a:xfrm>
        </p:grpSpPr>
        <p:sp>
          <p:nvSpPr>
            <p:cNvPr id="4" name="TextBox 4"/>
            <p:cNvSpPr txBox="1"/>
            <p:nvPr/>
          </p:nvSpPr>
          <p:spPr>
            <a:xfrm>
              <a:off x="742950" y="2179320"/>
              <a:ext cx="5126736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从实验室到临床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8284" y="3194685"/>
              <a:ext cx="366217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柔性电子的工程化三年</a:t>
              </a:r>
            </a:p>
          </p:txBody>
        </p:sp>
      </p:grpSp>
      <p:grpSp>
        <p:nvGrpSpPr>
          <p:cNvPr id="9" name="cover-meta"/>
          <p:cNvGrpSpPr/>
          <p:nvPr/>
        </p:nvGrpSpPr>
        <p:grpSpPr>
          <a:xfrm>
            <a:off x="751332" y="5526405"/>
            <a:ext cx="3683318" cy="777240"/>
            <a:chOff x="751332" y="5526405"/>
            <a:chExt cx="3683318" cy="777240"/>
          </a:xfrm>
        </p:grpSpPr>
        <p:sp>
          <p:nvSpPr>
            <p:cNvPr id="7" name="TextBox 7"/>
            <p:cNvSpPr txBox="1"/>
            <p:nvPr/>
          </p:nvSpPr>
          <p:spPr>
            <a:xfrm>
              <a:off x="751332" y="552640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柔性电子团队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4380" y="6010275"/>
              <a:ext cx="36802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近三年研究进展 · 汇报对象：领域内专家</a:t>
              </a:r>
            </a:p>
          </p:txBody>
        </p:sp>
      </p:grpSp>
      <p:grpSp>
        <p:nvGrpSpPr>
          <p:cNvPr id="24" name="cover-lines"/>
          <p:cNvGrpSpPr/>
          <p:nvPr/>
        </p:nvGrpSpPr>
        <p:grpSpPr>
          <a:xfrm>
            <a:off x="8124825" y="0"/>
            <a:ext cx="4067175" cy="6858000"/>
            <a:chOff x="8124825" y="0"/>
            <a:chExt cx="4067175" cy="6858000"/>
          </a:xfrm>
        </p:grpSpPr>
        <p:sp>
          <p:nvSpPr>
            <p:cNvPr id="10" name="Rectangle 10"/>
            <p:cNvSpPr/>
            <p:nvPr/>
          </p:nvSpPr>
          <p:spPr>
            <a:xfrm>
              <a:off x="8124825" y="0"/>
              <a:ext cx="406717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574405" y="1266825"/>
              <a:ext cx="18404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spc="150" dirty="0">
                  <a:solidFill>
                    <a:srgbClr val="AEB9CC"/>
                  </a:solidFill>
                  <a:latin typeface="+mn-lt"/>
                  <a:ea typeface="+mn-ea"/>
                  <a:cs typeface="+mn-cs"/>
                </a:rPr>
                <a:t>近三年 · 三条主线</a:t>
              </a:r>
            </a:p>
          </p:txBody>
        </p:sp>
        <p:grpSp>
          <p:nvGrpSpPr>
            <p:cNvPr id="15" name="cover-line-1"/>
            <p:cNvGrpSpPr/>
            <p:nvPr/>
          </p:nvGrpSpPr>
          <p:grpSpPr>
            <a:xfrm>
              <a:off x="8569833" y="2190750"/>
              <a:ext cx="3164967" cy="1155573"/>
              <a:chOff x="8569833" y="2190750"/>
              <a:chExt cx="3164967" cy="1155573"/>
            </a:xfrm>
          </p:grpSpPr>
          <p:sp>
            <p:nvSpPr>
              <p:cNvPr id="12" name="Line 12"/>
              <p:cNvSpPr/>
              <p:nvPr/>
            </p:nvSpPr>
            <p:spPr>
              <a:xfrm>
                <a:off x="8582025" y="2190750"/>
                <a:ext cx="31527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52775" h="9525">
                    <a:moveTo>
                      <a:pt x="0" y="0"/>
                    </a:moveTo>
                    <a:lnTo>
                      <a:pt x="3152775" y="0"/>
                    </a:lnTo>
                  </a:path>
                </a:pathLst>
              </a:custGeom>
              <a:noFill/>
              <a:ln w="9525">
                <a:solidFill>
                  <a:srgbClr val="3D5170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8569833" y="2465070"/>
                <a:ext cx="39755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E8703A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571357" y="2935605"/>
                <a:ext cx="228295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可拉伸传感器阵列</a:t>
                </a:r>
              </a:p>
            </p:txBody>
          </p:sp>
        </p:grpSp>
        <p:grpSp>
          <p:nvGrpSpPr>
            <p:cNvPr id="19" name="cover-line-2"/>
            <p:cNvGrpSpPr/>
            <p:nvPr/>
          </p:nvGrpSpPr>
          <p:grpSpPr>
            <a:xfrm>
              <a:off x="8569833" y="3714750"/>
              <a:ext cx="3164967" cy="1155573"/>
              <a:chOff x="8569833" y="3714750"/>
              <a:chExt cx="3164967" cy="1155573"/>
            </a:xfrm>
          </p:grpSpPr>
          <p:sp>
            <p:nvSpPr>
              <p:cNvPr id="16" name="Line 16"/>
              <p:cNvSpPr/>
              <p:nvPr/>
            </p:nvSpPr>
            <p:spPr>
              <a:xfrm>
                <a:off x="8582025" y="3714750"/>
                <a:ext cx="31527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52775" h="9525">
                    <a:moveTo>
                      <a:pt x="0" y="0"/>
                    </a:moveTo>
                    <a:lnTo>
                      <a:pt x="3152775" y="0"/>
                    </a:lnTo>
                  </a:path>
                </a:pathLst>
              </a:custGeom>
              <a:noFill/>
              <a:ln w="9525">
                <a:solidFill>
                  <a:srgbClr val="3D5170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8569833" y="3989070"/>
                <a:ext cx="39755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E8703A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571357" y="4459605"/>
                <a:ext cx="204825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柔性 OLED 器件</a:t>
                </a:r>
              </a:p>
            </p:txBody>
          </p:sp>
        </p:grpSp>
        <p:grpSp>
          <p:nvGrpSpPr>
            <p:cNvPr id="23" name="cover-line-3"/>
            <p:cNvGrpSpPr/>
            <p:nvPr/>
          </p:nvGrpSpPr>
          <p:grpSpPr>
            <a:xfrm>
              <a:off x="8569833" y="5238750"/>
              <a:ext cx="3164967" cy="1155573"/>
              <a:chOff x="8569833" y="5238750"/>
              <a:chExt cx="3164967" cy="1155573"/>
            </a:xfrm>
          </p:grpSpPr>
          <p:sp>
            <p:nvSpPr>
              <p:cNvPr id="20" name="Line 20"/>
              <p:cNvSpPr/>
              <p:nvPr/>
            </p:nvSpPr>
            <p:spPr>
              <a:xfrm>
                <a:off x="8582025" y="5238750"/>
                <a:ext cx="31527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52775" h="9525">
                    <a:moveTo>
                      <a:pt x="0" y="0"/>
                    </a:moveTo>
                    <a:lnTo>
                      <a:pt x="3152775" y="0"/>
                    </a:lnTo>
                  </a:path>
                </a:pathLst>
              </a:custGeom>
              <a:noFill/>
              <a:ln w="9525">
                <a:solidFill>
                  <a:srgbClr val="3D5170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8569833" y="5513070"/>
                <a:ext cx="39755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E8703A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571357" y="5983605"/>
                <a:ext cx="200025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植入式电子皮肤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ge-bar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4" name="toc-title"/>
          <p:cNvGrpSpPr/>
          <p:nvPr/>
        </p:nvGrpSpPr>
        <p:grpSpPr>
          <a:xfrm>
            <a:off x="743712" y="735330"/>
            <a:ext cx="4141409" cy="704088"/>
            <a:chOff x="743712" y="735330"/>
            <a:chExt cx="4141409" cy="704088"/>
          </a:xfrm>
        </p:grpSpPr>
        <p:sp>
          <p:nvSpPr>
            <p:cNvPr id="3" name="TextBox 3"/>
            <p:cNvSpPr txBox="1"/>
            <p:nvPr/>
          </p:nvSpPr>
          <p:spPr>
            <a:xfrm>
              <a:off x="743712" y="735330"/>
              <a:ext cx="4141409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 分钟，五个部分</a:t>
              </a:r>
            </a:p>
          </p:txBody>
        </p:sp>
      </p:grpSp>
      <p:grpSp>
        <p:nvGrpSpPr>
          <p:cNvPr id="9" name="agenda-row-1"/>
          <p:cNvGrpSpPr/>
          <p:nvPr/>
        </p:nvGrpSpPr>
        <p:grpSpPr>
          <a:xfrm>
            <a:off x="751332" y="1600200"/>
            <a:ext cx="10488168" cy="817245"/>
            <a:chOff x="751332" y="1600200"/>
            <a:chExt cx="10488168" cy="817245"/>
          </a:xfrm>
        </p:grpSpPr>
        <p:sp>
          <p:nvSpPr>
            <p:cNvPr id="5" name="Line 5"/>
            <p:cNvSpPr/>
            <p:nvPr/>
          </p:nvSpPr>
          <p:spPr>
            <a:xfrm>
              <a:off x="762000" y="1600200"/>
              <a:ext cx="10477500" cy="9525"/>
            </a:xfrm>
            <a:custGeom>
              <a:avLst/>
              <a:gdLst/>
              <a:ahLst/>
              <a:cxnLst/>
              <a:rect l="l" t="t" r="r" b="b"/>
              <a:pathLst>
                <a:path w="10477500" h="9525">
                  <a:moveTo>
                    <a:pt x="0" y="0"/>
                  </a:moveTo>
                  <a:lnTo>
                    <a:pt x="10477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1332" y="179260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703832" y="179260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三年进展总览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06880" y="21240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三大突破一页看清</a:t>
              </a:r>
            </a:p>
          </p:txBody>
        </p:sp>
      </p:grpSp>
      <p:grpSp>
        <p:nvGrpSpPr>
          <p:cNvPr id="14" name="agenda-row-2"/>
          <p:cNvGrpSpPr/>
          <p:nvPr/>
        </p:nvGrpSpPr>
        <p:grpSpPr>
          <a:xfrm>
            <a:off x="751332" y="2438400"/>
            <a:ext cx="10488168" cy="817245"/>
            <a:chOff x="751332" y="2438400"/>
            <a:chExt cx="10488168" cy="817245"/>
          </a:xfrm>
        </p:grpSpPr>
        <p:sp>
          <p:nvSpPr>
            <p:cNvPr id="10" name="Line 10"/>
            <p:cNvSpPr/>
            <p:nvPr/>
          </p:nvSpPr>
          <p:spPr>
            <a:xfrm>
              <a:off x="762000" y="2438400"/>
              <a:ext cx="10477500" cy="9525"/>
            </a:xfrm>
            <a:custGeom>
              <a:avLst/>
              <a:gdLst/>
              <a:ahLst/>
              <a:cxnLst/>
              <a:rect l="l" t="t" r="r" b="b"/>
              <a:pathLst>
                <a:path w="10477500" h="9525">
                  <a:moveTo>
                    <a:pt x="0" y="0"/>
                  </a:moveTo>
                  <a:lnTo>
                    <a:pt x="10477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1332" y="263080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03832" y="2630805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可拉伸传感器阵列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06880" y="2962275"/>
              <a:ext cx="1862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量产良率 78% → 92%</a:t>
              </a:r>
            </a:p>
          </p:txBody>
        </p:sp>
      </p:grpSp>
      <p:grpSp>
        <p:nvGrpSpPr>
          <p:cNvPr id="19" name="agenda-row-3"/>
          <p:cNvGrpSpPr/>
          <p:nvPr/>
        </p:nvGrpSpPr>
        <p:grpSpPr>
          <a:xfrm>
            <a:off x="751332" y="3276600"/>
            <a:ext cx="10488168" cy="817245"/>
            <a:chOff x="751332" y="3276600"/>
            <a:chExt cx="10488168" cy="817245"/>
          </a:xfrm>
        </p:grpSpPr>
        <p:sp>
          <p:nvSpPr>
            <p:cNvPr id="15" name="Line 15"/>
            <p:cNvSpPr/>
            <p:nvPr/>
          </p:nvSpPr>
          <p:spPr>
            <a:xfrm>
              <a:off x="762000" y="3276600"/>
              <a:ext cx="10477500" cy="9525"/>
            </a:xfrm>
            <a:custGeom>
              <a:avLst/>
              <a:gdLst/>
              <a:ahLst/>
              <a:cxnLst/>
              <a:rect l="l" t="t" r="r" b="b"/>
              <a:pathLst>
                <a:path w="10477500" h="9525">
                  <a:moveTo>
                    <a:pt x="0" y="0"/>
                  </a:moveTo>
                  <a:lnTo>
                    <a:pt x="10477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51332" y="346900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03832" y="3469005"/>
              <a:ext cx="20930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柔性 OLED 器件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06880" y="3800475"/>
              <a:ext cx="17720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弯曲 10 万次无衰减</a:t>
              </a:r>
            </a:p>
          </p:txBody>
        </p:sp>
      </p:grpSp>
      <p:grpSp>
        <p:nvGrpSpPr>
          <p:cNvPr id="24" name="agenda-row-4"/>
          <p:cNvGrpSpPr/>
          <p:nvPr/>
        </p:nvGrpSpPr>
        <p:grpSpPr>
          <a:xfrm>
            <a:off x="751332" y="4114800"/>
            <a:ext cx="10488168" cy="817245"/>
            <a:chOff x="751332" y="4114800"/>
            <a:chExt cx="10488168" cy="817245"/>
          </a:xfrm>
        </p:grpSpPr>
        <p:sp>
          <p:nvSpPr>
            <p:cNvPr id="20" name="Line 20"/>
            <p:cNvSpPr/>
            <p:nvPr/>
          </p:nvSpPr>
          <p:spPr>
            <a:xfrm>
              <a:off x="762000" y="4114800"/>
              <a:ext cx="10477500" cy="9525"/>
            </a:xfrm>
            <a:custGeom>
              <a:avLst/>
              <a:gdLst/>
              <a:ahLst/>
              <a:cxnLst/>
              <a:rect l="l" t="t" r="r" b="b"/>
              <a:pathLst>
                <a:path w="10477500" h="9525">
                  <a:moveTo>
                    <a:pt x="0" y="0"/>
                  </a:moveTo>
                  <a:lnTo>
                    <a:pt x="10477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51332" y="430720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03832" y="430720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植入式电子皮肤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06880" y="46386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与三甲医院合作，进入临床试验</a:t>
              </a:r>
            </a:p>
          </p:txBody>
        </p:sp>
      </p:grpSp>
      <p:grpSp>
        <p:nvGrpSpPr>
          <p:cNvPr id="29" name="agenda-row-5"/>
          <p:cNvGrpSpPr/>
          <p:nvPr/>
        </p:nvGrpSpPr>
        <p:grpSpPr>
          <a:xfrm>
            <a:off x="751332" y="4953000"/>
            <a:ext cx="10488168" cy="817245"/>
            <a:chOff x="751332" y="4953000"/>
            <a:chExt cx="10488168" cy="817245"/>
          </a:xfrm>
        </p:grpSpPr>
        <p:sp>
          <p:nvSpPr>
            <p:cNvPr id="25" name="Line 25"/>
            <p:cNvSpPr/>
            <p:nvPr/>
          </p:nvSpPr>
          <p:spPr>
            <a:xfrm>
              <a:off x="762000" y="4953000"/>
              <a:ext cx="10477500" cy="9525"/>
            </a:xfrm>
            <a:custGeom>
              <a:avLst/>
              <a:gdLst/>
              <a:ahLst/>
              <a:cxnLst/>
              <a:rect l="l" t="t" r="r" b="b"/>
              <a:pathLst>
                <a:path w="10477500" h="9525">
                  <a:moveTo>
                    <a:pt x="0" y="0"/>
                  </a:moveTo>
                  <a:lnTo>
                    <a:pt x="10477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51332" y="514540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03832" y="5145405"/>
              <a:ext cx="313105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技术路线图与下一步计划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706880" y="54768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未来三年的推进方向与三个动作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755904" y="6309360"/>
            <a:ext cx="10680192" cy="234696"/>
            <a:chOff x="755904" y="6309360"/>
            <a:chExt cx="10680192" cy="234696"/>
          </a:xfrm>
        </p:grpSpPr>
        <p:sp>
          <p:nvSpPr>
            <p:cNvPr id="30" name="TextBox 30"/>
            <p:cNvSpPr txBox="1"/>
            <p:nvPr/>
          </p:nvSpPr>
          <p:spPr>
            <a:xfrm>
              <a:off x="755904" y="6309360"/>
              <a:ext cx="2136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柔性电子团队 · 年会特邀报告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882732" y="63093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ge-bar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4" name="overview-title"/>
          <p:cNvGrpSpPr/>
          <p:nvPr/>
        </p:nvGrpSpPr>
        <p:grpSpPr>
          <a:xfrm>
            <a:off x="743712" y="735330"/>
            <a:ext cx="8759952" cy="704088"/>
            <a:chOff x="743712" y="735330"/>
            <a:chExt cx="8759952" cy="704088"/>
          </a:xfrm>
        </p:grpSpPr>
        <p:sp>
          <p:nvSpPr>
            <p:cNvPr id="3" name="TextBox 3"/>
            <p:cNvSpPr txBox="1"/>
            <p:nvPr/>
          </p:nvSpPr>
          <p:spPr>
            <a:xfrm>
              <a:off x="743712" y="735330"/>
              <a:ext cx="875995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三条主线，三年之内全部跨过工程化门槛</a:t>
              </a:r>
            </a:p>
          </p:txBody>
        </p:sp>
      </p:grpSp>
      <p:grpSp>
        <p:nvGrpSpPr>
          <p:cNvPr id="10" name="kpi-sensor"/>
          <p:cNvGrpSpPr/>
          <p:nvPr/>
        </p:nvGrpSpPr>
        <p:grpSpPr>
          <a:xfrm>
            <a:off x="742950" y="1714500"/>
            <a:ext cx="2480120" cy="2607945"/>
            <a:chOff x="742950" y="1714500"/>
            <a:chExt cx="2480120" cy="2607945"/>
          </a:xfrm>
        </p:grpSpPr>
        <p:sp>
          <p:nvSpPr>
            <p:cNvPr id="5" name="Rectangle 5"/>
            <p:cNvSpPr/>
            <p:nvPr/>
          </p:nvSpPr>
          <p:spPr>
            <a:xfrm>
              <a:off x="762000" y="17145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819150" y="2095500"/>
              <a:ext cx="342900" cy="304800"/>
            </a:xfrm>
            <a:custGeom>
              <a:avLst/>
              <a:gdLst/>
              <a:ahLst/>
              <a:cxnLst/>
              <a:rect l="l" t="t" r="r" b="b"/>
              <a:pathLst>
                <a:path w="342900" h="304800">
                  <a:moveTo>
                    <a:pt x="0" y="152400"/>
                  </a:moveTo>
                  <a:lnTo>
                    <a:pt x="76200" y="152400"/>
                  </a:lnTo>
                  <a:lnTo>
                    <a:pt x="133350" y="304800"/>
                  </a:lnTo>
                  <a:lnTo>
                    <a:pt x="209550" y="0"/>
                  </a:lnTo>
                  <a:lnTo>
                    <a:pt x="266700" y="152400"/>
                  </a:lnTo>
                  <a:lnTo>
                    <a:pt x="342900" y="15240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1332" y="2783205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可拉伸传感器阵列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2950" y="3215640"/>
              <a:ext cx="129329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92%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4380" y="4029075"/>
              <a:ext cx="24686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量产良率 · 量产工艺已稳定</a:t>
              </a:r>
            </a:p>
          </p:txBody>
        </p:sp>
      </p:grpSp>
      <p:grpSp>
        <p:nvGrpSpPr>
          <p:cNvPr id="19" name="kpi-oled"/>
          <p:cNvGrpSpPr/>
          <p:nvPr/>
        </p:nvGrpSpPr>
        <p:grpSpPr>
          <a:xfrm>
            <a:off x="4324350" y="1714500"/>
            <a:ext cx="2650266" cy="2607945"/>
            <a:chOff x="4324350" y="1714500"/>
            <a:chExt cx="2650266" cy="2607945"/>
          </a:xfrm>
        </p:grpSpPr>
        <p:sp>
          <p:nvSpPr>
            <p:cNvPr id="11" name="Rectangle 11"/>
            <p:cNvSpPr/>
            <p:nvPr/>
          </p:nvSpPr>
          <p:spPr>
            <a:xfrm>
              <a:off x="4343400" y="17145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4457700" y="2076450"/>
              <a:ext cx="228600" cy="342900"/>
              <a:chOff x="4457700" y="2076450"/>
              <a:chExt cx="228600" cy="3429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4457700" y="2076450"/>
                <a:ext cx="2286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342900">
                    <a:moveTo>
                      <a:pt x="0" y="38100"/>
                    </a:moveTo>
                    <a:cubicBezTo>
                      <a:pt x="0" y="17058"/>
                      <a:pt x="17058" y="0"/>
                      <a:pt x="38100" y="0"/>
                    </a:cubicBezTo>
                    <a:lnTo>
                      <a:pt x="190500" y="0"/>
                    </a:lnTo>
                    <a:cubicBezTo>
                      <a:pt x="211542" y="0"/>
                      <a:pt x="228600" y="17058"/>
                      <a:pt x="228600" y="38100"/>
                    </a:cubicBezTo>
                    <a:lnTo>
                      <a:pt x="228600" y="304800"/>
                    </a:lnTo>
                    <a:cubicBezTo>
                      <a:pt x="228600" y="325842"/>
                      <a:pt x="211542" y="342900"/>
                      <a:pt x="190500" y="342900"/>
                    </a:cubicBezTo>
                    <a:lnTo>
                      <a:pt x="38100" y="342900"/>
                    </a:lnTo>
                    <a:cubicBezTo>
                      <a:pt x="17058" y="342900"/>
                      <a:pt x="0" y="325842"/>
                      <a:pt x="0" y="304800"/>
                    </a:cubicBezTo>
                    <a:lnTo>
                      <a:pt x="0" y="38100"/>
                    </a:lnTo>
                  </a:path>
                </a:pathLst>
              </a:custGeom>
              <a:noFill/>
              <a:ln w="38100">
                <a:solidFill>
                  <a:schemeClr val="accent2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4552950" y="209550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38100">
                <a:solidFill>
                  <a:schemeClr val="accent2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4572000" y="23431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91"/>
                    </a:lnTo>
                  </a:path>
                </a:pathLst>
              </a:custGeom>
              <a:noFill/>
              <a:ln w="38100">
                <a:solidFill>
                  <a:schemeClr val="accent2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4332732" y="2783205"/>
              <a:ext cx="20930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柔性 OLED 器件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24350" y="3215640"/>
              <a:ext cx="2650266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100,000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35780" y="4029075"/>
              <a:ext cx="1862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次弯曲 · 性能无衰减</a:t>
              </a:r>
            </a:p>
          </p:txBody>
        </p:sp>
      </p:grpSp>
      <p:grpSp>
        <p:nvGrpSpPr>
          <p:cNvPr id="30" name="kpi-skin"/>
          <p:cNvGrpSpPr/>
          <p:nvPr/>
        </p:nvGrpSpPr>
        <p:grpSpPr>
          <a:xfrm>
            <a:off x="7905750" y="1714500"/>
            <a:ext cx="2622804" cy="2607945"/>
            <a:chOff x="7905750" y="1714500"/>
            <a:chExt cx="2622804" cy="2607945"/>
          </a:xfrm>
        </p:grpSpPr>
        <p:sp>
          <p:nvSpPr>
            <p:cNvPr id="20" name="Rectangle 20"/>
            <p:cNvSpPr/>
            <p:nvPr/>
          </p:nvSpPr>
          <p:spPr>
            <a:xfrm>
              <a:off x="7924800" y="17145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981950" y="2095500"/>
              <a:ext cx="342900" cy="314325"/>
              <a:chOff x="7981950" y="2095500"/>
              <a:chExt cx="342900" cy="31432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981950" y="2095500"/>
                <a:ext cx="3429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22860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323850" y="0"/>
                    </a:lnTo>
                    <a:cubicBezTo>
                      <a:pt x="334371" y="0"/>
                      <a:pt x="342900" y="8529"/>
                      <a:pt x="342900" y="19050"/>
                    </a:cubicBezTo>
                    <a:lnTo>
                      <a:pt x="342900" y="209550"/>
                    </a:lnTo>
                    <a:cubicBezTo>
                      <a:pt x="342900" y="220071"/>
                      <a:pt x="334371" y="228600"/>
                      <a:pt x="323850" y="228600"/>
                    </a:cubicBezTo>
                    <a:lnTo>
                      <a:pt x="19050" y="228600"/>
                    </a:lnTo>
                    <a:cubicBezTo>
                      <a:pt x="8529" y="228600"/>
                      <a:pt x="0" y="220071"/>
                      <a:pt x="0" y="20955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38100">
                <a:solidFill>
                  <a:schemeClr val="accent2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058150" y="2400300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38100">
                <a:solidFill>
                  <a:schemeClr val="accent2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096250" y="2324100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0"/>
                    </a:moveTo>
                    <a:lnTo>
                      <a:pt x="0" y="76200"/>
                    </a:lnTo>
                  </a:path>
                </a:pathLst>
              </a:custGeom>
              <a:noFill/>
              <a:ln w="38100">
                <a:solidFill>
                  <a:schemeClr val="accent2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210550" y="2324100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0"/>
                    </a:moveTo>
                    <a:lnTo>
                      <a:pt x="0" y="76200"/>
                    </a:lnTo>
                  </a:path>
                </a:pathLst>
              </a:custGeom>
              <a:noFill/>
              <a:ln w="38100">
                <a:solidFill>
                  <a:schemeClr val="accent2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058150" y="2152650"/>
                <a:ext cx="1905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14300">
                    <a:moveTo>
                      <a:pt x="0" y="57150"/>
                    </a:moveTo>
                    <a:lnTo>
                      <a:pt x="38100" y="57150"/>
                    </a:lnTo>
                    <a:lnTo>
                      <a:pt x="76200" y="114300"/>
                    </a:lnTo>
                    <a:lnTo>
                      <a:pt x="114300" y="0"/>
                    </a:lnTo>
                    <a:lnTo>
                      <a:pt x="133350" y="57150"/>
                    </a:lnTo>
                    <a:lnTo>
                      <a:pt x="190500" y="57150"/>
                    </a:lnTo>
                  </a:path>
                </a:pathLst>
              </a:custGeom>
              <a:noFill/>
              <a:ln w="38100">
                <a:solidFill>
                  <a:schemeClr val="accent2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7914132" y="278320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植入式电子皮肤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05750" y="3215640"/>
              <a:ext cx="262280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临床试验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17180" y="40290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已进入临床试验阶段</a:t>
              </a:r>
            </a:p>
          </p:txBody>
        </p:sp>
      </p:grpSp>
      <p:grpSp>
        <p:nvGrpSpPr>
          <p:cNvPr id="34" name="overview-takeaway"/>
          <p:cNvGrpSpPr/>
          <p:nvPr/>
        </p:nvGrpSpPr>
        <p:grpSpPr>
          <a:xfrm>
            <a:off x="762000" y="4857750"/>
            <a:ext cx="10668000" cy="762000"/>
            <a:chOff x="762000" y="4857750"/>
            <a:chExt cx="10668000" cy="762000"/>
          </a:xfrm>
        </p:grpSpPr>
        <p:sp>
          <p:nvSpPr>
            <p:cNvPr id="31" name="Rectangle 31"/>
            <p:cNvSpPr/>
            <p:nvPr/>
          </p:nvSpPr>
          <p:spPr>
            <a:xfrm>
              <a:off x="762000" y="4857750"/>
              <a:ext cx="10668000" cy="762000"/>
            </a:xfrm>
            <a:prstGeom prst="rect">
              <a:avLst/>
            </a:prstGeom>
            <a:solidFill>
              <a:schemeClr val="accent1">
                <a:alpha val="6000"/>
              </a:schemeClr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62000" y="4857750"/>
              <a:ext cx="57150" cy="7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168908" y="5093970"/>
              <a:ext cx="663153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材料 — 器件 — 系统 — 应用，</a:t>
              </a:r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工程化闭环已成形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755904" y="6309360"/>
            <a:ext cx="10680192" cy="234696"/>
            <a:chOff x="755904" y="6309360"/>
            <a:chExt cx="10680192" cy="234696"/>
          </a:xfrm>
        </p:grpSpPr>
        <p:sp>
          <p:nvSpPr>
            <p:cNvPr id="35" name="TextBox 35"/>
            <p:cNvSpPr txBox="1"/>
            <p:nvPr/>
          </p:nvSpPr>
          <p:spPr>
            <a:xfrm>
              <a:off x="755904" y="6309360"/>
              <a:ext cx="2136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柔性电子团队 · 年会特邀报告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882732" y="63093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ge-bar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4" name="yield-title"/>
          <p:cNvGrpSpPr/>
          <p:nvPr/>
        </p:nvGrpSpPr>
        <p:grpSpPr>
          <a:xfrm>
            <a:off x="743712" y="735330"/>
            <a:ext cx="9646829" cy="704088"/>
            <a:chOff x="743712" y="735330"/>
            <a:chExt cx="9646829" cy="704088"/>
          </a:xfrm>
        </p:grpSpPr>
        <p:sp>
          <p:nvSpPr>
            <p:cNvPr id="3" name="TextBox 3"/>
            <p:cNvSpPr txBox="1"/>
            <p:nvPr/>
          </p:nvSpPr>
          <p:spPr>
            <a:xfrm>
              <a:off x="743712" y="735330"/>
              <a:ext cx="9646829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良率从 78% 到 92%：量产工艺跨过稳定门槛</a:t>
              </a:r>
            </a:p>
          </p:txBody>
        </p:sp>
      </p:grpSp>
      <p:grpSp>
        <p:nvGrpSpPr>
          <p:cNvPr id="25" name="yield-column"/>
          <p:cNvGrpSpPr/>
          <p:nvPr/>
        </p:nvGrpSpPr>
        <p:grpSpPr>
          <a:xfrm>
            <a:off x="1430845" y="1760220"/>
            <a:ext cx="4855655" cy="4138803"/>
            <a:chOff x="1430845" y="1760220"/>
            <a:chExt cx="4855655" cy="4138803"/>
          </a:xfrm>
        </p:grpSpPr>
        <p:grpSp>
          <p:nvGrpSpPr>
            <p:cNvPr id="24" name="yield-column-chartArea"/>
            <p:cNvGrpSpPr/>
            <p:nvPr/>
          </p:nvGrpSpPr>
          <p:grpSpPr>
            <a:xfrm>
              <a:off x="1430845" y="1760220"/>
              <a:ext cx="4855655" cy="4138803"/>
              <a:chOff x="1430845" y="1760220"/>
              <a:chExt cx="4855655" cy="4138803"/>
            </a:xfrm>
          </p:grpSpPr>
          <p:sp>
            <p:nvSpPr>
              <p:cNvPr id="5" name="Line 5"/>
              <p:cNvSpPr/>
              <p:nvPr/>
            </p:nvSpPr>
            <p:spPr>
              <a:xfrm>
                <a:off x="1905000" y="1905000"/>
                <a:ext cx="4381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381500" h="9525">
                    <a:moveTo>
                      <a:pt x="0" y="0"/>
                    </a:moveTo>
                    <a:lnTo>
                      <a:pt x="4381500" y="0"/>
                    </a:lnTo>
                  </a:path>
                </a:pathLst>
              </a:custGeom>
              <a:noFill/>
              <a:ln w="9525">
                <a:solidFill>
                  <a:srgbClr val="E6E4DE"/>
                </a:solidFill>
                <a:prstDash val="dash"/>
              </a:ln>
            </p:spPr>
          </p:sp>
          <p:sp>
            <p:nvSpPr>
              <p:cNvPr id="6" name="Line 6"/>
              <p:cNvSpPr/>
              <p:nvPr/>
            </p:nvSpPr>
            <p:spPr>
              <a:xfrm>
                <a:off x="1905000" y="2762250"/>
                <a:ext cx="4381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381500" h="9525">
                    <a:moveTo>
                      <a:pt x="0" y="0"/>
                    </a:moveTo>
                    <a:lnTo>
                      <a:pt x="4381500" y="0"/>
                    </a:lnTo>
                  </a:path>
                </a:pathLst>
              </a:custGeom>
              <a:noFill/>
              <a:ln w="9525">
                <a:solidFill>
                  <a:srgbClr val="E6E4DE"/>
                </a:solidFill>
                <a:prstDash val="dash"/>
              </a:ln>
            </p:spPr>
          </p:sp>
          <p:sp>
            <p:nvSpPr>
              <p:cNvPr id="7" name="Line 7"/>
              <p:cNvSpPr/>
              <p:nvPr/>
            </p:nvSpPr>
            <p:spPr>
              <a:xfrm>
                <a:off x="1905000" y="3619500"/>
                <a:ext cx="4381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381500" h="9525">
                    <a:moveTo>
                      <a:pt x="0" y="0"/>
                    </a:moveTo>
                    <a:lnTo>
                      <a:pt x="4381500" y="0"/>
                    </a:lnTo>
                  </a:path>
                </a:pathLst>
              </a:custGeom>
              <a:noFill/>
              <a:ln w="9525">
                <a:solidFill>
                  <a:srgbClr val="E6E4DE"/>
                </a:solidFill>
                <a:prstDash val="dash"/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1905000" y="4476750"/>
                <a:ext cx="4381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381500" h="9525">
                    <a:moveTo>
                      <a:pt x="0" y="0"/>
                    </a:moveTo>
                    <a:lnTo>
                      <a:pt x="4381500" y="0"/>
                    </a:lnTo>
                  </a:path>
                </a:pathLst>
              </a:custGeom>
              <a:noFill/>
              <a:ln w="9525">
                <a:solidFill>
                  <a:srgbClr val="E6E4DE"/>
                </a:solidFill>
                <a:prstDash val="dash"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430845" y="1809750"/>
                <a:ext cx="34842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100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541907" y="2667000"/>
                <a:ext cx="2373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75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541907" y="3524250"/>
                <a:ext cx="2373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50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541907" y="4381500"/>
                <a:ext cx="2373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25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652968" y="5238750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14" name="Line 14"/>
              <p:cNvSpPr/>
              <p:nvPr/>
            </p:nvSpPr>
            <p:spPr>
              <a:xfrm>
                <a:off x="1905000" y="1905000"/>
                <a:ext cx="9525" cy="3429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29000">
                    <a:moveTo>
                      <a:pt x="0" y="0"/>
                    </a:moveTo>
                    <a:lnTo>
                      <a:pt x="0" y="3429000"/>
                    </a:lnTo>
                  </a:path>
                </a:pathLst>
              </a:custGeom>
              <a:noFill/>
              <a:ln w="19050">
                <a:solidFill>
                  <a:srgbClr val="6B6F76"/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1905000" y="5334000"/>
                <a:ext cx="4381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381500" h="9525">
                    <a:moveTo>
                      <a:pt x="0" y="0"/>
                    </a:moveTo>
                    <a:lnTo>
                      <a:pt x="4381500" y="0"/>
                    </a:lnTo>
                  </a:path>
                </a:pathLst>
              </a:custGeom>
              <a:noFill/>
              <a:ln w="19050">
                <a:solidFill>
                  <a:srgbClr val="6B6F76"/>
                </a:solidFill>
              </a:ln>
            </p:spPr>
          </p:sp>
          <p:grpSp>
            <p:nvGrpSpPr>
              <p:cNvPr id="19" name="bar-78"/>
              <p:cNvGrpSpPr/>
              <p:nvPr/>
            </p:nvGrpSpPr>
            <p:grpSpPr>
              <a:xfrm>
                <a:off x="2562225" y="2236470"/>
                <a:ext cx="876300" cy="3662553"/>
                <a:chOff x="2562225" y="2236470"/>
                <a:chExt cx="876300" cy="3662553"/>
              </a:xfrm>
            </p:grpSpPr>
            <p:sp>
              <p:nvSpPr>
                <p:cNvPr id="16" name="Rectangle 16"/>
                <p:cNvSpPr/>
                <p:nvPr/>
              </p:nvSpPr>
              <p:spPr>
                <a:xfrm>
                  <a:off x="2562225" y="2659380"/>
                  <a:ext cx="876300" cy="267462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2674384" y="2236470"/>
                  <a:ext cx="651982" cy="4693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24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78%</a:t>
                  </a: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2565654" y="5488305"/>
                  <a:ext cx="869442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21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三年前</a:t>
                  </a:r>
                </a:p>
              </p:txBody>
            </p:sp>
          </p:grpSp>
          <p:grpSp>
            <p:nvGrpSpPr>
              <p:cNvPr id="23" name="bar-92"/>
              <p:cNvGrpSpPr/>
              <p:nvPr/>
            </p:nvGrpSpPr>
            <p:grpSpPr>
              <a:xfrm>
                <a:off x="4752975" y="1760220"/>
                <a:ext cx="876300" cy="4138803"/>
                <a:chOff x="4752975" y="1760220"/>
                <a:chExt cx="876300" cy="4138803"/>
              </a:xfrm>
            </p:grpSpPr>
            <p:sp>
              <p:nvSpPr>
                <p:cNvPr id="20" name="Rectangle 20"/>
                <p:cNvSpPr/>
                <p:nvPr/>
              </p:nvSpPr>
              <p:spPr>
                <a:xfrm>
                  <a:off x="4752975" y="2179320"/>
                  <a:ext cx="876300" cy="315468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4865134" y="1760220"/>
                  <a:ext cx="651982" cy="4693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240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92%</a:t>
                  </a:r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4897755" y="5488305"/>
                  <a:ext cx="586740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21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现在</a:t>
                  </a:r>
                </a:p>
              </p:txBody>
            </p:sp>
          </p:grpSp>
        </p:grpSp>
      </p:grpSp>
      <p:grpSp>
        <p:nvGrpSpPr>
          <p:cNvPr id="31" name="yield-takeaway"/>
          <p:cNvGrpSpPr/>
          <p:nvPr/>
        </p:nvGrpSpPr>
        <p:grpSpPr>
          <a:xfrm>
            <a:off x="7226808" y="1905000"/>
            <a:ext cx="3822192" cy="3555873"/>
            <a:chOff x="7226808" y="1905000"/>
            <a:chExt cx="3822192" cy="3555873"/>
          </a:xfrm>
        </p:grpSpPr>
        <p:sp>
          <p:nvSpPr>
            <p:cNvPr id="26" name="Rectangle 26"/>
            <p:cNvSpPr/>
            <p:nvPr/>
          </p:nvSpPr>
          <p:spPr>
            <a:xfrm>
              <a:off x="7239000" y="1905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226808" y="2236470"/>
              <a:ext cx="31858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良率提升 14 个百分点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228332" y="2916555"/>
              <a:ext cx="2701671" cy="8298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不良率由 22% 降至 8%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相对下降约 64%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7239000" y="430530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228332" y="4631055"/>
              <a:ext cx="1888236" cy="8298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从「能做」走向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「能量产」</a:t>
              </a:r>
            </a:p>
          </p:txBody>
        </p:sp>
      </p:grpSp>
      <p:grpSp>
        <p:nvGrpSpPr>
          <p:cNvPr id="33" name="yield-source"/>
          <p:cNvGrpSpPr/>
          <p:nvPr/>
        </p:nvGrpSpPr>
        <p:grpSpPr>
          <a:xfrm>
            <a:off x="754380" y="5934075"/>
            <a:ext cx="3649980" cy="293370"/>
            <a:chOff x="754380" y="5934075"/>
            <a:chExt cx="3649980" cy="293370"/>
          </a:xfrm>
        </p:grpSpPr>
        <p:sp>
          <p:nvSpPr>
            <p:cNvPr id="32" name="TextBox 32"/>
            <p:cNvSpPr txBox="1"/>
            <p:nvPr/>
          </p:nvSpPr>
          <p:spPr>
            <a:xfrm>
              <a:off x="754380" y="593407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注：近三年量产良率（团队量产线数据）</a:t>
              </a:r>
            </a:p>
          </p:txBody>
        </p:sp>
      </p:grpSp>
      <p:grpSp>
        <p:nvGrpSpPr>
          <p:cNvPr id="36" name="footer"/>
          <p:cNvGrpSpPr/>
          <p:nvPr/>
        </p:nvGrpSpPr>
        <p:grpSpPr>
          <a:xfrm>
            <a:off x="755904" y="6309360"/>
            <a:ext cx="10680192" cy="234696"/>
            <a:chOff x="755904" y="6309360"/>
            <a:chExt cx="10680192" cy="234696"/>
          </a:xfrm>
        </p:grpSpPr>
        <p:sp>
          <p:nvSpPr>
            <p:cNvPr id="34" name="TextBox 34"/>
            <p:cNvSpPr txBox="1"/>
            <p:nvPr/>
          </p:nvSpPr>
          <p:spPr>
            <a:xfrm>
              <a:off x="755904" y="6309360"/>
              <a:ext cx="2136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柔性电子团队 · 年会特邀报告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882732" y="63093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ge-bar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4" name="meaning-title"/>
          <p:cNvGrpSpPr/>
          <p:nvPr/>
        </p:nvGrpSpPr>
        <p:grpSpPr>
          <a:xfrm>
            <a:off x="743712" y="735330"/>
            <a:ext cx="7915481" cy="704088"/>
            <a:chOff x="743712" y="735330"/>
            <a:chExt cx="7915481" cy="704088"/>
          </a:xfrm>
        </p:grpSpPr>
        <p:sp>
          <p:nvSpPr>
            <p:cNvPr id="3" name="TextBox 3"/>
            <p:cNvSpPr txBox="1"/>
            <p:nvPr/>
          </p:nvSpPr>
          <p:spPr>
            <a:xfrm>
              <a:off x="743712" y="735330"/>
              <a:ext cx="791548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92% 不是终点，而是规模化的入场券</a:t>
              </a:r>
            </a:p>
          </p:txBody>
        </p:sp>
      </p:grpSp>
      <p:grpSp>
        <p:nvGrpSpPr>
          <p:cNvPr id="6" name="meaning-claim"/>
          <p:cNvGrpSpPr/>
          <p:nvPr/>
        </p:nvGrpSpPr>
        <p:grpSpPr>
          <a:xfrm>
            <a:off x="749808" y="2122170"/>
            <a:ext cx="8796223" cy="469392"/>
            <a:chOff x="749808" y="2122170"/>
            <a:chExt cx="8796223" cy="469392"/>
          </a:xfrm>
        </p:grpSpPr>
        <p:sp>
          <p:nvSpPr>
            <p:cNvPr id="5" name="TextBox 5"/>
            <p:cNvSpPr txBox="1"/>
            <p:nvPr/>
          </p:nvSpPr>
          <p:spPr>
            <a:xfrm>
              <a:off x="749808" y="2122170"/>
              <a:ext cx="879622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良率越过 90%，阵列才有资格进入</a:t>
              </a:r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批量交付与成本可控</a:t>
              </a: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的轨道</a:t>
              </a:r>
            </a:p>
          </p:txBody>
        </p:sp>
      </p:grpSp>
      <p:grpSp>
        <p:nvGrpSpPr>
          <p:cNvPr id="10" name="meaning-row-1"/>
          <p:cNvGrpSpPr/>
          <p:nvPr/>
        </p:nvGrpSpPr>
        <p:grpSpPr>
          <a:xfrm>
            <a:off x="751332" y="3143250"/>
            <a:ext cx="9916668" cy="641223"/>
            <a:chOff x="751332" y="3143250"/>
            <a:chExt cx="9916668" cy="641223"/>
          </a:xfrm>
        </p:grpSpPr>
        <p:sp>
          <p:nvSpPr>
            <p:cNvPr id="7" name="Line 7"/>
            <p:cNvSpPr/>
            <p:nvPr/>
          </p:nvSpPr>
          <p:spPr>
            <a:xfrm>
              <a:off x="762000" y="314325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1332" y="337375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成本结构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040380" y="3438525"/>
              <a:ext cx="62750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不良率每降一档，单位成本显著改善（工程通识解读，不引具体数字）</a:t>
              </a:r>
            </a:p>
          </p:txBody>
        </p:sp>
      </p:grpSp>
      <p:grpSp>
        <p:nvGrpSpPr>
          <p:cNvPr id="14" name="meaning-row-2"/>
          <p:cNvGrpSpPr/>
          <p:nvPr/>
        </p:nvGrpSpPr>
        <p:grpSpPr>
          <a:xfrm>
            <a:off x="751332" y="4095750"/>
            <a:ext cx="9916668" cy="641223"/>
            <a:chOff x="751332" y="4095750"/>
            <a:chExt cx="9916668" cy="641223"/>
          </a:xfrm>
        </p:grpSpPr>
        <p:sp>
          <p:nvSpPr>
            <p:cNvPr id="11" name="Line 11"/>
            <p:cNvSpPr/>
            <p:nvPr/>
          </p:nvSpPr>
          <p:spPr>
            <a:xfrm>
              <a:off x="762000" y="409575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51332" y="432625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工艺可复制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40380" y="439102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参数窗口收窄到可固化，产线可交接</a:t>
              </a:r>
            </a:p>
          </p:txBody>
        </p:sp>
      </p:grpSp>
      <p:grpSp>
        <p:nvGrpSpPr>
          <p:cNvPr id="18" name="meaning-row-3"/>
          <p:cNvGrpSpPr/>
          <p:nvPr/>
        </p:nvGrpSpPr>
        <p:grpSpPr>
          <a:xfrm>
            <a:off x="751332" y="5048250"/>
            <a:ext cx="9916668" cy="641223"/>
            <a:chOff x="751332" y="5048250"/>
            <a:chExt cx="9916668" cy="641223"/>
          </a:xfrm>
        </p:grpSpPr>
        <p:sp>
          <p:nvSpPr>
            <p:cNvPr id="15" name="Line 15"/>
            <p:cNvSpPr/>
            <p:nvPr/>
          </p:nvSpPr>
          <p:spPr>
            <a:xfrm>
              <a:off x="762000" y="504825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51332" y="527875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下游可用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40380" y="5343525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阵列规模交付成为传感系统与电子皮肤的供给基础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755904" y="6309360"/>
            <a:ext cx="10680192" cy="234696"/>
            <a:chOff x="755904" y="6309360"/>
            <a:chExt cx="10680192" cy="234696"/>
          </a:xfrm>
        </p:grpSpPr>
        <p:sp>
          <p:nvSpPr>
            <p:cNvPr id="19" name="TextBox 19"/>
            <p:cNvSpPr txBox="1"/>
            <p:nvPr/>
          </p:nvSpPr>
          <p:spPr>
            <a:xfrm>
              <a:off x="755904" y="6309360"/>
              <a:ext cx="2136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柔性电子团队 · 年会特邀报告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882732" y="63093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ge-bar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4" name="oled-title"/>
          <p:cNvGrpSpPr/>
          <p:nvPr/>
        </p:nvGrpSpPr>
        <p:grpSpPr>
          <a:xfrm>
            <a:off x="743712" y="735330"/>
            <a:ext cx="6662707" cy="704088"/>
            <a:chOff x="743712" y="735330"/>
            <a:chExt cx="6662707" cy="704088"/>
          </a:xfrm>
        </p:grpSpPr>
        <p:sp>
          <p:nvSpPr>
            <p:cNvPr id="3" name="TextBox 3"/>
            <p:cNvSpPr txBox="1"/>
            <p:nvPr/>
          </p:nvSpPr>
          <p:spPr>
            <a:xfrm>
              <a:off x="743712" y="735330"/>
              <a:ext cx="666270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弯曲 100,000 次，性能零衰减</a:t>
              </a:r>
            </a:p>
          </p:txBody>
        </p:sp>
      </p:grpSp>
      <p:grpSp>
        <p:nvGrpSpPr>
          <p:cNvPr id="10" name="oled-hero"/>
          <p:cNvGrpSpPr/>
          <p:nvPr/>
        </p:nvGrpSpPr>
        <p:grpSpPr>
          <a:xfrm>
            <a:off x="742950" y="2105025"/>
            <a:ext cx="4591050" cy="3228975"/>
            <a:chOff x="742950" y="2105025"/>
            <a:chExt cx="4591050" cy="3228975"/>
          </a:xfrm>
        </p:grpSpPr>
        <p:sp>
          <p:nvSpPr>
            <p:cNvPr id="5" name="TextBox 5"/>
            <p:cNvSpPr txBox="1"/>
            <p:nvPr/>
          </p:nvSpPr>
          <p:spPr>
            <a:xfrm>
              <a:off x="754380" y="2105025"/>
              <a:ext cx="22846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spc="1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可靠性验证 · 反复弯曲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42950" y="2701290"/>
              <a:ext cx="2650266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100,000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1332" y="350710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次弯曲循环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8284" y="4242435"/>
              <a:ext cx="184480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性能零衰减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762000" y="4572000"/>
              <a:ext cx="4572000" cy="762000"/>
            </a:xfrm>
            <a:custGeom>
              <a:avLst/>
              <a:gdLst/>
              <a:ahLst/>
              <a:cxnLst/>
              <a:rect l="l" t="t" r="r" b="b"/>
              <a:pathLst>
                <a:path w="4572000" h="762000">
                  <a:moveTo>
                    <a:pt x="0" y="762000"/>
                  </a:moveTo>
                  <a:lnTo>
                    <a:pt x="45720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</p:grpSp>
      <p:grpSp>
        <p:nvGrpSpPr>
          <p:cNvPr id="16" name="oled-criterion"/>
          <p:cNvGrpSpPr/>
          <p:nvPr/>
        </p:nvGrpSpPr>
        <p:grpSpPr>
          <a:xfrm>
            <a:off x="6847332" y="2033587"/>
            <a:ext cx="1888236" cy="1522286"/>
            <a:chOff x="6847332" y="2033587"/>
            <a:chExt cx="1888236" cy="1522286"/>
          </a:xfrm>
        </p:grpSpPr>
        <p:grpSp>
          <p:nvGrpSpPr>
            <p:cNvPr id="13" name="Group 13"/>
            <p:cNvGrpSpPr/>
            <p:nvPr/>
          </p:nvGrpSpPr>
          <p:grpSpPr>
            <a:xfrm>
              <a:off x="6910387" y="2033587"/>
              <a:ext cx="314324" cy="314324"/>
              <a:chOff x="6910387" y="2033587"/>
              <a:chExt cx="314324" cy="314324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6910387" y="2033587"/>
                <a:ext cx="314324" cy="314324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314324">
                    <a:moveTo>
                      <a:pt x="0" y="157162"/>
                    </a:moveTo>
                    <a:cubicBezTo>
                      <a:pt x="0" y="243961"/>
                      <a:pt x="70364" y="314324"/>
                      <a:pt x="157162" y="314324"/>
                    </a:cubicBezTo>
                    <a:cubicBezTo>
                      <a:pt x="243961" y="314324"/>
                      <a:pt x="314324" y="243961"/>
                      <a:pt x="314324" y="157162"/>
                    </a:cubicBezTo>
                    <a:cubicBezTo>
                      <a:pt x="314324" y="70364"/>
                      <a:pt x="243961" y="0"/>
                      <a:pt x="157162" y="0"/>
                    </a:cubicBezTo>
                    <a:cubicBezTo>
                      <a:pt x="70364" y="0"/>
                      <a:pt x="0" y="70364"/>
                      <a:pt x="0" y="157162"/>
                    </a:cubicBez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015162" y="2155825"/>
                <a:ext cx="10477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69850">
                    <a:moveTo>
                      <a:pt x="0" y="34925"/>
                    </a:moveTo>
                    <a:lnTo>
                      <a:pt x="34925" y="69850"/>
                    </a:lnTo>
                    <a:lnTo>
                      <a:pt x="104775" y="0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7495032" y="20593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验证判据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847332" y="2726055"/>
              <a:ext cx="1888236" cy="8298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关键性能参数在</a:t>
              </a:r>
              <a:br/>
              <a:r>
                <a:rPr lang="zh-CN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循环前后无衰减</a:t>
              </a:r>
            </a:p>
          </p:txBody>
        </p:sp>
      </p:grpSp>
      <p:grpSp>
        <p:nvGrpSpPr>
          <p:cNvPr id="22" name="oled-meaning"/>
          <p:cNvGrpSpPr/>
          <p:nvPr/>
        </p:nvGrpSpPr>
        <p:grpSpPr>
          <a:xfrm>
            <a:off x="6847332" y="4059555"/>
            <a:ext cx="2688336" cy="1496568"/>
            <a:chOff x="6847332" y="4059555"/>
            <a:chExt cx="2688336" cy="1496568"/>
          </a:xfrm>
        </p:grpSpPr>
        <p:grpSp>
          <p:nvGrpSpPr>
            <p:cNvPr id="19" name="Group 19"/>
            <p:cNvGrpSpPr/>
            <p:nvPr/>
          </p:nvGrpSpPr>
          <p:grpSpPr>
            <a:xfrm>
              <a:off x="6910387" y="4103687"/>
              <a:ext cx="314325" cy="174625"/>
              <a:chOff x="6910387" y="4103687"/>
              <a:chExt cx="314325" cy="17462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6910387" y="4103687"/>
                <a:ext cx="314324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174625">
                    <a:moveTo>
                      <a:pt x="0" y="174625"/>
                    </a:moveTo>
                    <a:lnTo>
                      <a:pt x="104775" y="69850"/>
                    </a:lnTo>
                    <a:lnTo>
                      <a:pt x="174625" y="139700"/>
                    </a:lnTo>
                    <a:lnTo>
                      <a:pt x="314324" y="0"/>
                    </a:lnTo>
                  </a:path>
                </a:pathLst>
              </a:custGeom>
              <a:noFill/>
              <a:ln w="34925">
                <a:solidFill>
                  <a:schemeClr val="accent2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7102475" y="4103687"/>
                <a:ext cx="122237" cy="122237"/>
              </a:xfrm>
              <a:custGeom>
                <a:avLst/>
                <a:gdLst/>
                <a:ahLst/>
                <a:cxnLst/>
                <a:rect l="l" t="t" r="r" b="b"/>
                <a:pathLst>
                  <a:path w="122237" h="122237">
                    <a:moveTo>
                      <a:pt x="0" y="0"/>
                    </a:moveTo>
                    <a:lnTo>
                      <a:pt x="122237" y="0"/>
                    </a:lnTo>
                    <a:lnTo>
                      <a:pt x="122237" y="122237"/>
                    </a:lnTo>
                  </a:path>
                </a:pathLst>
              </a:custGeom>
              <a:noFill/>
              <a:ln w="34925">
                <a:solidFill>
                  <a:schemeClr val="accent2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7495032" y="405955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工程意义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47332" y="4726305"/>
              <a:ext cx="2688336" cy="8298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折叠与贴合形态下的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长寿命可用性得到验证</a:t>
              </a:r>
            </a:p>
          </p:txBody>
        </p:sp>
      </p:grpSp>
      <p:grpSp>
        <p:nvGrpSpPr>
          <p:cNvPr id="24" name="oled-note"/>
          <p:cNvGrpSpPr/>
          <p:nvPr/>
        </p:nvGrpSpPr>
        <p:grpSpPr>
          <a:xfrm>
            <a:off x="754380" y="5838825"/>
            <a:ext cx="4088130" cy="293370"/>
            <a:chOff x="754380" y="5838825"/>
            <a:chExt cx="4088130" cy="293370"/>
          </a:xfrm>
        </p:grpSpPr>
        <p:sp>
          <p:nvSpPr>
            <p:cNvPr id="23" name="TextBox 23"/>
            <p:cNvSpPr txBox="1"/>
            <p:nvPr/>
          </p:nvSpPr>
          <p:spPr>
            <a:xfrm>
              <a:off x="754380" y="5838825"/>
              <a:ext cx="40881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注：团队可靠性测试结论（柔性 OLED 器件）</a:t>
              </a:r>
            </a:p>
          </p:txBody>
        </p:sp>
      </p:grpSp>
      <p:grpSp>
        <p:nvGrpSpPr>
          <p:cNvPr id="27" name="footer"/>
          <p:cNvGrpSpPr/>
          <p:nvPr/>
        </p:nvGrpSpPr>
        <p:grpSpPr>
          <a:xfrm>
            <a:off x="755904" y="6309360"/>
            <a:ext cx="10680192" cy="234696"/>
            <a:chOff x="755904" y="6309360"/>
            <a:chExt cx="10680192" cy="234696"/>
          </a:xfrm>
        </p:grpSpPr>
        <p:sp>
          <p:nvSpPr>
            <p:cNvPr id="25" name="TextBox 25"/>
            <p:cNvSpPr txBox="1"/>
            <p:nvPr/>
          </p:nvSpPr>
          <p:spPr>
            <a:xfrm>
              <a:off x="755904" y="6309360"/>
              <a:ext cx="2136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柔性电子团队 · 年会特邀报告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882732" y="63093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ge-bar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4" name="verify-title"/>
          <p:cNvGrpSpPr/>
          <p:nvPr/>
        </p:nvGrpSpPr>
        <p:grpSpPr>
          <a:xfrm>
            <a:off x="743712" y="735330"/>
            <a:ext cx="4398264" cy="704088"/>
            <a:chOff x="743712" y="735330"/>
            <a:chExt cx="4398264" cy="704088"/>
          </a:xfrm>
        </p:grpSpPr>
        <p:sp>
          <p:nvSpPr>
            <p:cNvPr id="3" name="TextBox 3"/>
            <p:cNvSpPr txBox="1"/>
            <p:nvPr/>
          </p:nvSpPr>
          <p:spPr>
            <a:xfrm>
              <a:off x="743712" y="73533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这一结论如何被验证</a:t>
              </a:r>
            </a:p>
          </p:txBody>
        </p:sp>
      </p:grpSp>
      <p:grpSp>
        <p:nvGrpSpPr>
          <p:cNvPr id="17" name="verify-frame-1"/>
          <p:cNvGrpSpPr/>
          <p:nvPr/>
        </p:nvGrpSpPr>
        <p:grpSpPr>
          <a:xfrm>
            <a:off x="762000" y="1905000"/>
            <a:ext cx="3352800" cy="2381250"/>
            <a:chOff x="762000" y="1905000"/>
            <a:chExt cx="3352800" cy="2381250"/>
          </a:xfrm>
        </p:grpSpPr>
        <p:sp>
          <p:nvSpPr>
            <p:cNvPr id="5" name="Rectangle 5"/>
            <p:cNvSpPr/>
            <p:nvPr/>
          </p:nvSpPr>
          <p:spPr>
            <a:xfrm>
              <a:off x="762000" y="1905000"/>
              <a:ext cx="3352800" cy="238125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59180" y="2238375"/>
              <a:ext cx="2686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1154112" y="2681287"/>
              <a:ext cx="261937" cy="323850"/>
              <a:chOff x="1154112" y="2681287"/>
              <a:chExt cx="261937" cy="32385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154112" y="2995612"/>
                <a:ext cx="2444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4475" h="9525">
                    <a:moveTo>
                      <a:pt x="0" y="0"/>
                    </a:moveTo>
                    <a:lnTo>
                      <a:pt x="244475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171575" y="2943224"/>
                <a:ext cx="34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9525">
                    <a:moveTo>
                      <a:pt x="0" y="0"/>
                    </a:moveTo>
                    <a:lnTo>
                      <a:pt x="34925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189037" y="2943224"/>
                <a:ext cx="9525" cy="523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2387">
                    <a:moveTo>
                      <a:pt x="0" y="0"/>
                    </a:moveTo>
                    <a:lnTo>
                      <a:pt x="0" y="52387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223962" y="2716212"/>
                <a:ext cx="157162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57162">
                    <a:moveTo>
                      <a:pt x="0" y="104775"/>
                    </a:moveTo>
                    <a:lnTo>
                      <a:pt x="52387" y="157162"/>
                    </a:lnTo>
                    <a:lnTo>
                      <a:pt x="157162" y="52387"/>
                    </a:lnTo>
                    <a:lnTo>
                      <a:pt x="104775" y="0"/>
                    </a:lnTo>
                    <a:lnTo>
                      <a:pt x="0" y="104775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223962" y="2847181"/>
                <a:ext cx="26194" cy="26194"/>
              </a:xfrm>
              <a:custGeom>
                <a:avLst/>
                <a:gdLst/>
                <a:ahLst/>
                <a:cxnLst/>
                <a:rect l="l" t="t" r="r" b="b"/>
                <a:pathLst>
                  <a:path w="26194" h="26194">
                    <a:moveTo>
                      <a:pt x="26194" y="0"/>
                    </a:moveTo>
                    <a:lnTo>
                      <a:pt x="0" y="26194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363662" y="2681287"/>
                <a:ext cx="52387" cy="52387"/>
              </a:xfrm>
              <a:custGeom>
                <a:avLst/>
                <a:gdLst/>
                <a:ahLst/>
                <a:cxnLst/>
                <a:rect l="l" t="t" r="r" b="b"/>
                <a:pathLst>
                  <a:path w="52387" h="52387">
                    <a:moveTo>
                      <a:pt x="0" y="0"/>
                    </a:moveTo>
                    <a:lnTo>
                      <a:pt x="52387" y="52387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276350" y="2808554"/>
                <a:ext cx="113626" cy="187062"/>
              </a:xfrm>
              <a:custGeom>
                <a:avLst/>
                <a:gdLst/>
                <a:ahLst/>
                <a:cxnLst/>
                <a:rect l="l" t="t" r="r" b="b"/>
                <a:pathLst>
                  <a:path w="113626" h="187062">
                    <a:moveTo>
                      <a:pt x="0" y="187058"/>
                    </a:moveTo>
                    <a:cubicBezTo>
                      <a:pt x="44637" y="187062"/>
                      <a:pt x="84375" y="158786"/>
                      <a:pt x="99001" y="116614"/>
                    </a:cubicBezTo>
                    <a:cubicBezTo>
                      <a:pt x="113626" y="74441"/>
                      <a:pt x="99928" y="27633"/>
                      <a:pt x="64873" y="0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56132" y="325945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弯曲条件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59180" y="3686175"/>
              <a:ext cx="134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弯曲形态与频率</a:t>
              </a:r>
              <a:br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构成测试剖面</a:t>
              </a:r>
            </a:p>
          </p:txBody>
        </p:sp>
      </p:grpSp>
      <p:grpSp>
        <p:nvGrpSpPr>
          <p:cNvPr id="23" name="verify-frame-2"/>
          <p:cNvGrpSpPr/>
          <p:nvPr/>
        </p:nvGrpSpPr>
        <p:grpSpPr>
          <a:xfrm>
            <a:off x="4419600" y="1905000"/>
            <a:ext cx="3352800" cy="2381250"/>
            <a:chOff x="4419600" y="1905000"/>
            <a:chExt cx="3352800" cy="2381250"/>
          </a:xfrm>
        </p:grpSpPr>
        <p:sp>
          <p:nvSpPr>
            <p:cNvPr id="18" name="Rectangle 18"/>
            <p:cNvSpPr/>
            <p:nvPr/>
          </p:nvSpPr>
          <p:spPr>
            <a:xfrm>
              <a:off x="4419600" y="1905000"/>
              <a:ext cx="3352800" cy="238125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716780" y="2238375"/>
              <a:ext cx="2686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4776787" y="2698750"/>
              <a:ext cx="314324" cy="279399"/>
            </a:xfrm>
            <a:custGeom>
              <a:avLst/>
              <a:gdLst/>
              <a:ahLst/>
              <a:cxnLst/>
              <a:rect l="l" t="t" r="r" b="b"/>
              <a:pathLst>
                <a:path w="314324" h="279399">
                  <a:moveTo>
                    <a:pt x="0" y="139700"/>
                  </a:moveTo>
                  <a:lnTo>
                    <a:pt x="69850" y="139700"/>
                  </a:lnTo>
                  <a:lnTo>
                    <a:pt x="122237" y="279399"/>
                  </a:lnTo>
                  <a:lnTo>
                    <a:pt x="192087" y="0"/>
                  </a:lnTo>
                  <a:lnTo>
                    <a:pt x="244475" y="139700"/>
                  </a:lnTo>
                  <a:lnTo>
                    <a:pt x="314324" y="139700"/>
                  </a:lnTo>
                </a:path>
              </a:pathLst>
            </a:custGeom>
            <a:noFill/>
            <a:ln w="34925">
              <a:solidFill>
                <a:schemeClr val="accent1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713732" y="325945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循环规模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16780" y="3686175"/>
              <a:ext cx="1434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累计 100,000 次</a:t>
              </a:r>
              <a:br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弯曲循环</a:t>
              </a:r>
            </a:p>
          </p:txBody>
        </p:sp>
      </p:grpSp>
      <p:grpSp>
        <p:nvGrpSpPr>
          <p:cNvPr id="31" name="verify-frame-3"/>
          <p:cNvGrpSpPr/>
          <p:nvPr/>
        </p:nvGrpSpPr>
        <p:grpSpPr>
          <a:xfrm>
            <a:off x="8077200" y="1905000"/>
            <a:ext cx="3352800" cy="2381250"/>
            <a:chOff x="8077200" y="1905000"/>
            <a:chExt cx="3352800" cy="2381250"/>
          </a:xfrm>
        </p:grpSpPr>
        <p:sp>
          <p:nvSpPr>
            <p:cNvPr id="24" name="Rectangle 24"/>
            <p:cNvSpPr/>
            <p:nvPr/>
          </p:nvSpPr>
          <p:spPr>
            <a:xfrm>
              <a:off x="8077200" y="1905000"/>
              <a:ext cx="3352800" cy="238125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374380" y="2238375"/>
              <a:ext cx="2686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8434387" y="2681287"/>
              <a:ext cx="314324" cy="314324"/>
              <a:chOff x="8434387" y="2681287"/>
              <a:chExt cx="314324" cy="314324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8434387" y="2681287"/>
                <a:ext cx="314324" cy="314324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314324">
                    <a:moveTo>
                      <a:pt x="0" y="157162"/>
                    </a:moveTo>
                    <a:cubicBezTo>
                      <a:pt x="0" y="243961"/>
                      <a:pt x="70364" y="314324"/>
                      <a:pt x="157162" y="314324"/>
                    </a:cubicBezTo>
                    <a:cubicBezTo>
                      <a:pt x="243961" y="314324"/>
                      <a:pt x="314324" y="243961"/>
                      <a:pt x="314324" y="157162"/>
                    </a:cubicBezTo>
                    <a:cubicBezTo>
                      <a:pt x="314324" y="70364"/>
                      <a:pt x="243961" y="0"/>
                      <a:pt x="157162" y="0"/>
                    </a:cubicBezTo>
                    <a:cubicBezTo>
                      <a:pt x="70364" y="0"/>
                      <a:pt x="0" y="70364"/>
                      <a:pt x="0" y="157162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539162" y="2803525"/>
                <a:ext cx="10477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69850">
                    <a:moveTo>
                      <a:pt x="0" y="34925"/>
                    </a:moveTo>
                    <a:lnTo>
                      <a:pt x="34925" y="69850"/>
                    </a:lnTo>
                    <a:lnTo>
                      <a:pt x="104775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8371332" y="325945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衰减判据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74380" y="3686175"/>
              <a:ext cx="153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循环前后关键性能</a:t>
              </a:r>
              <a:br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无衰减</a:t>
              </a:r>
            </a:p>
          </p:txBody>
        </p:sp>
      </p:grpSp>
      <p:grpSp>
        <p:nvGrpSpPr>
          <p:cNvPr id="35" name="verify-conclusion"/>
          <p:cNvGrpSpPr/>
          <p:nvPr/>
        </p:nvGrpSpPr>
        <p:grpSpPr>
          <a:xfrm>
            <a:off x="762000" y="4762500"/>
            <a:ext cx="10668000" cy="762000"/>
            <a:chOff x="762000" y="4762500"/>
            <a:chExt cx="10668000" cy="762000"/>
          </a:xfrm>
        </p:grpSpPr>
        <p:sp>
          <p:nvSpPr>
            <p:cNvPr id="32" name="Rectangle 32"/>
            <p:cNvSpPr/>
            <p:nvPr/>
          </p:nvSpPr>
          <p:spPr>
            <a:xfrm>
              <a:off x="762000" y="4762500"/>
              <a:ext cx="10668000" cy="762000"/>
            </a:xfrm>
            <a:prstGeom prst="rect">
              <a:avLst/>
            </a:prstGeom>
            <a:solidFill>
              <a:schemeClr val="accent1">
                <a:alpha val="6000"/>
              </a:schemeClr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62000" y="4762500"/>
              <a:ext cx="57150" cy="7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168908" y="4998720"/>
              <a:ext cx="45476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验证结果支持器件进入</a:t>
              </a:r>
              <a:r>
                <a:rPr lang="zh-CN" sz="24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应用评估</a:t>
              </a:r>
            </a:p>
          </p:txBody>
        </p:sp>
      </p:grpSp>
      <p:grpSp>
        <p:nvGrpSpPr>
          <p:cNvPr id="37" name="verify-note"/>
          <p:cNvGrpSpPr/>
          <p:nvPr/>
        </p:nvGrpSpPr>
        <p:grpSpPr>
          <a:xfrm>
            <a:off x="754380" y="5781675"/>
            <a:ext cx="6275070" cy="293370"/>
            <a:chOff x="754380" y="5781675"/>
            <a:chExt cx="6275070" cy="293370"/>
          </a:xfrm>
        </p:grpSpPr>
        <p:sp>
          <p:nvSpPr>
            <p:cNvPr id="36" name="TextBox 36"/>
            <p:cNvSpPr txBox="1"/>
            <p:nvPr/>
          </p:nvSpPr>
          <p:spPr>
            <a:xfrm>
              <a:off x="754380" y="5781675"/>
              <a:ext cx="62750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注：验证框架三要素为方法学通识表述，不涉具体弯曲半径与频率数值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755904" y="6309360"/>
            <a:ext cx="10680192" cy="234696"/>
            <a:chOff x="755904" y="6309360"/>
            <a:chExt cx="10680192" cy="234696"/>
          </a:xfrm>
        </p:grpSpPr>
        <p:sp>
          <p:nvSpPr>
            <p:cNvPr id="38" name="TextBox 38"/>
            <p:cNvSpPr txBox="1"/>
            <p:nvPr/>
          </p:nvSpPr>
          <p:spPr>
            <a:xfrm>
              <a:off x="755904" y="6309360"/>
              <a:ext cx="2136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柔性电子团队 · 年会特邀报告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882732" y="63093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ge-bar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4" name="clinical-title"/>
          <p:cNvGrpSpPr/>
          <p:nvPr/>
        </p:nvGrpSpPr>
        <p:grpSpPr>
          <a:xfrm>
            <a:off x="743712" y="735330"/>
            <a:ext cx="10213848" cy="704088"/>
            <a:chOff x="743712" y="735330"/>
            <a:chExt cx="10213848" cy="704088"/>
          </a:xfrm>
        </p:grpSpPr>
        <p:sp>
          <p:nvSpPr>
            <p:cNvPr id="3" name="TextBox 3"/>
            <p:cNvSpPr txBox="1"/>
            <p:nvPr/>
          </p:nvSpPr>
          <p:spPr>
            <a:xfrm>
              <a:off x="743712" y="735330"/>
              <a:ext cx="1021384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与三甲医院合作，植入式电子皮肤进入临床试验</a:t>
              </a:r>
            </a:p>
          </p:txBody>
        </p:sp>
      </p:grpSp>
      <p:grpSp>
        <p:nvGrpSpPr>
          <p:cNvPr id="6" name="clinical-current"/>
          <p:cNvGrpSpPr/>
          <p:nvPr/>
        </p:nvGrpSpPr>
        <p:grpSpPr>
          <a:xfrm>
            <a:off x="6832659" y="1933575"/>
            <a:ext cx="1003183" cy="293370"/>
            <a:chOff x="6832659" y="1933575"/>
            <a:chExt cx="1003183" cy="293370"/>
          </a:xfrm>
        </p:grpSpPr>
        <p:sp>
          <p:nvSpPr>
            <p:cNvPr id="5" name="TextBox 5"/>
            <p:cNvSpPr txBox="1"/>
            <p:nvPr/>
          </p:nvSpPr>
          <p:spPr>
            <a:xfrm>
              <a:off x="6832659" y="1933575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▼ 当前阶段</a:t>
              </a:r>
            </a:p>
          </p:txBody>
        </p:sp>
      </p:grpSp>
      <p:grpSp>
        <p:nvGrpSpPr>
          <p:cNvPr id="8" name="clinical-planned"/>
          <p:cNvGrpSpPr/>
          <p:nvPr/>
        </p:nvGrpSpPr>
        <p:grpSpPr>
          <a:xfrm>
            <a:off x="9982200" y="1933575"/>
            <a:ext cx="419100" cy="293370"/>
            <a:chOff x="9982200" y="1933575"/>
            <a:chExt cx="41910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9982200" y="19335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规划</a:t>
              </a:r>
            </a:p>
          </p:txBody>
        </p:sp>
      </p:grpSp>
      <p:grpSp>
        <p:nvGrpSpPr>
          <p:cNvPr id="11" name="stage-1"/>
          <p:cNvGrpSpPr/>
          <p:nvPr/>
        </p:nvGrpSpPr>
        <p:grpSpPr>
          <a:xfrm>
            <a:off x="762000" y="2286000"/>
            <a:ext cx="2476500" cy="857250"/>
            <a:chOff x="762000" y="2286000"/>
            <a:chExt cx="2476500" cy="857250"/>
          </a:xfrm>
        </p:grpSpPr>
        <p:sp>
          <p:nvSpPr>
            <p:cNvPr id="9" name="Freeform 9"/>
            <p:cNvSpPr/>
            <p:nvPr/>
          </p:nvSpPr>
          <p:spPr>
            <a:xfrm>
              <a:off x="762000" y="2286000"/>
              <a:ext cx="2476500" cy="857250"/>
            </a:xfrm>
            <a:prstGeom prst="chevron">
              <a:avLst/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68527" y="259270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实验室研究</a:t>
              </a:r>
            </a:p>
          </p:txBody>
        </p:sp>
      </p:grpSp>
      <p:grpSp>
        <p:nvGrpSpPr>
          <p:cNvPr id="14" name="stage-2"/>
          <p:cNvGrpSpPr/>
          <p:nvPr/>
        </p:nvGrpSpPr>
        <p:grpSpPr>
          <a:xfrm>
            <a:off x="3333750" y="2286000"/>
            <a:ext cx="2667000" cy="857250"/>
            <a:chOff x="3333750" y="2286000"/>
            <a:chExt cx="2667000" cy="857250"/>
          </a:xfrm>
        </p:grpSpPr>
        <p:sp>
          <p:nvSpPr>
            <p:cNvPr id="12" name="Freeform 12"/>
            <p:cNvSpPr/>
            <p:nvPr/>
          </p:nvSpPr>
          <p:spPr>
            <a:xfrm>
              <a:off x="3333750" y="2286000"/>
              <a:ext cx="2667000" cy="857250"/>
            </a:xfrm>
            <a:prstGeom prst="chevron">
              <a:avLst/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354830" y="259270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验证</a:t>
              </a:r>
            </a:p>
          </p:txBody>
        </p:sp>
      </p:grpSp>
      <p:grpSp>
        <p:nvGrpSpPr>
          <p:cNvPr id="17" name="stage-3"/>
          <p:cNvGrpSpPr/>
          <p:nvPr/>
        </p:nvGrpSpPr>
        <p:grpSpPr>
          <a:xfrm>
            <a:off x="6096000" y="2286000"/>
            <a:ext cx="2476500" cy="857250"/>
            <a:chOff x="6096000" y="2286000"/>
            <a:chExt cx="2476500" cy="857250"/>
          </a:xfrm>
        </p:grpSpPr>
        <p:sp>
          <p:nvSpPr>
            <p:cNvPr id="15" name="Freeform 15"/>
            <p:cNvSpPr/>
            <p:nvPr/>
          </p:nvSpPr>
          <p:spPr>
            <a:xfrm>
              <a:off x="6096000" y="2286000"/>
              <a:ext cx="2476500" cy="857250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643878" y="25927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临床试验</a:t>
              </a:r>
            </a:p>
          </p:txBody>
        </p:sp>
      </p:grpSp>
      <p:grpSp>
        <p:nvGrpSpPr>
          <p:cNvPr id="20" name="stage-4"/>
          <p:cNvGrpSpPr/>
          <p:nvPr/>
        </p:nvGrpSpPr>
        <p:grpSpPr>
          <a:xfrm>
            <a:off x="8953500" y="2286000"/>
            <a:ext cx="2476500" cy="857250"/>
            <a:chOff x="8953500" y="2286000"/>
            <a:chExt cx="2476500" cy="857250"/>
          </a:xfrm>
        </p:grpSpPr>
        <p:sp>
          <p:nvSpPr>
            <p:cNvPr id="18" name="Freeform 18"/>
            <p:cNvSpPr/>
            <p:nvPr/>
          </p:nvSpPr>
          <p:spPr>
            <a:xfrm>
              <a:off x="8953500" y="2286000"/>
              <a:ext cx="2476500" cy="857250"/>
            </a:xfrm>
            <a:prstGeom prst="chevron">
              <a:avLst/>
            </a:prstGeom>
            <a:solidFill>
              <a:schemeClr val="lt1"/>
            </a:solidFill>
            <a:ln w="14288">
              <a:solidFill>
                <a:srgbClr val="6B6F7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501378" y="25927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临床应用</a:t>
              </a:r>
            </a:p>
          </p:txBody>
        </p:sp>
      </p:grpSp>
      <p:grpSp>
        <p:nvGrpSpPr>
          <p:cNvPr id="29" name="clinical-partnership"/>
          <p:cNvGrpSpPr/>
          <p:nvPr/>
        </p:nvGrpSpPr>
        <p:grpSpPr>
          <a:xfrm>
            <a:off x="814387" y="3786187"/>
            <a:ext cx="7127177" cy="817436"/>
            <a:chOff x="814387" y="3786187"/>
            <a:chExt cx="7127177" cy="817436"/>
          </a:xfrm>
        </p:grpSpPr>
        <p:grpSp>
          <p:nvGrpSpPr>
            <p:cNvPr id="26" name="Group 26"/>
            <p:cNvGrpSpPr/>
            <p:nvPr/>
          </p:nvGrpSpPr>
          <p:grpSpPr>
            <a:xfrm>
              <a:off x="814387" y="3786187"/>
              <a:ext cx="314324" cy="323850"/>
              <a:chOff x="814387" y="3786187"/>
              <a:chExt cx="314324" cy="32385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14387" y="4100512"/>
                <a:ext cx="31432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9525">
                    <a:moveTo>
                      <a:pt x="0" y="0"/>
                    </a:moveTo>
                    <a:lnTo>
                      <a:pt x="314324" y="0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49312" y="3786187"/>
                <a:ext cx="244475" cy="314324"/>
              </a:xfrm>
              <a:custGeom>
                <a:avLst/>
                <a:gdLst/>
                <a:ahLst/>
                <a:cxnLst/>
                <a:rect l="l" t="t" r="r" b="b"/>
                <a:pathLst>
                  <a:path w="244475" h="314324">
                    <a:moveTo>
                      <a:pt x="0" y="314324"/>
                    </a:moveTo>
                    <a:lnTo>
                      <a:pt x="0" y="34925"/>
                    </a:lnTo>
                    <a:cubicBezTo>
                      <a:pt x="0" y="15636"/>
                      <a:pt x="15636" y="0"/>
                      <a:pt x="34925" y="0"/>
                    </a:cubicBezTo>
                    <a:lnTo>
                      <a:pt x="209550" y="0"/>
                    </a:lnTo>
                    <a:cubicBezTo>
                      <a:pt x="228838" y="0"/>
                      <a:pt x="244475" y="15636"/>
                      <a:pt x="244475" y="34925"/>
                    </a:cubicBezTo>
                    <a:lnTo>
                      <a:pt x="244475" y="314324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919162" y="3995737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0" y="104775"/>
                    </a:moveTo>
                    <a:lnTo>
                      <a:pt x="0" y="34925"/>
                    </a:lnTo>
                    <a:cubicBezTo>
                      <a:pt x="0" y="15636"/>
                      <a:pt x="15636" y="0"/>
                      <a:pt x="34925" y="0"/>
                    </a:cubicBezTo>
                    <a:lnTo>
                      <a:pt x="69850" y="0"/>
                    </a:lnTo>
                    <a:cubicBezTo>
                      <a:pt x="89138" y="0"/>
                      <a:pt x="104775" y="15636"/>
                      <a:pt x="104775" y="34925"/>
                    </a:cubicBezTo>
                    <a:lnTo>
                      <a:pt x="104775" y="104775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936625" y="3890962"/>
                <a:ext cx="69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9525">
                    <a:moveTo>
                      <a:pt x="0" y="0"/>
                    </a:moveTo>
                    <a:lnTo>
                      <a:pt x="69850" y="0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971550" y="3856037"/>
                <a:ext cx="952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9850">
                    <a:moveTo>
                      <a:pt x="0" y="0"/>
                    </a:moveTo>
                    <a:lnTo>
                      <a:pt x="0" y="69850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418082" y="381190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三甲医院合作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418082" y="4192905"/>
              <a:ext cx="652348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团队与三甲医院联合推进植入式电子皮肤的临床验证</a:t>
              </a:r>
            </a:p>
          </p:txBody>
        </p:sp>
      </p:grpSp>
      <p:grpSp>
        <p:nvGrpSpPr>
          <p:cNvPr id="33" name="clinical-meaning"/>
          <p:cNvGrpSpPr/>
          <p:nvPr/>
        </p:nvGrpSpPr>
        <p:grpSpPr>
          <a:xfrm>
            <a:off x="762000" y="4762500"/>
            <a:ext cx="10668000" cy="762000"/>
            <a:chOff x="762000" y="4762500"/>
            <a:chExt cx="10668000" cy="762000"/>
          </a:xfrm>
        </p:grpSpPr>
        <p:sp>
          <p:nvSpPr>
            <p:cNvPr id="30" name="Rectangle 30"/>
            <p:cNvSpPr/>
            <p:nvPr/>
          </p:nvSpPr>
          <p:spPr>
            <a:xfrm>
              <a:off x="762000" y="4762500"/>
              <a:ext cx="10668000" cy="762000"/>
            </a:xfrm>
            <a:prstGeom prst="rect">
              <a:avLst/>
            </a:prstGeom>
            <a:solidFill>
              <a:schemeClr val="accent1">
                <a:alpha val="6000"/>
              </a:schemeClr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62000" y="4762500"/>
              <a:ext cx="57150" cy="7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168908" y="4998720"/>
              <a:ext cx="55168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植入式电子皮肤的</a:t>
              </a:r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临床转化通道已打开</a:t>
              </a:r>
            </a:p>
          </p:txBody>
        </p:sp>
      </p:grpSp>
      <p:grpSp>
        <p:nvGrpSpPr>
          <p:cNvPr id="35" name="clinical-note"/>
          <p:cNvGrpSpPr/>
          <p:nvPr/>
        </p:nvGrpSpPr>
        <p:grpSpPr>
          <a:xfrm>
            <a:off x="754380" y="5781675"/>
            <a:ext cx="5063490" cy="293370"/>
            <a:chOff x="754380" y="5781675"/>
            <a:chExt cx="5063490" cy="293370"/>
          </a:xfrm>
        </p:grpSpPr>
        <p:sp>
          <p:nvSpPr>
            <p:cNvPr id="34" name="TextBox 34"/>
            <p:cNvSpPr txBox="1"/>
            <p:nvPr/>
          </p:nvSpPr>
          <p:spPr>
            <a:xfrm>
              <a:off x="754380" y="5781675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注：当前临床试验阶段为既定事实，阶段序列为通识框架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755904" y="6309360"/>
            <a:ext cx="10680192" cy="234696"/>
            <a:chOff x="755904" y="6309360"/>
            <a:chExt cx="10680192" cy="234696"/>
          </a:xfrm>
        </p:grpSpPr>
        <p:sp>
          <p:nvSpPr>
            <p:cNvPr id="36" name="TextBox 36"/>
            <p:cNvSpPr txBox="1"/>
            <p:nvPr/>
          </p:nvSpPr>
          <p:spPr>
            <a:xfrm>
              <a:off x="755904" y="6309360"/>
              <a:ext cx="2136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柔性电子团队 · 年会特邀报告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882732" y="63093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ge-bar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4" name="merge-title"/>
          <p:cNvGrpSpPr/>
          <p:nvPr/>
        </p:nvGrpSpPr>
        <p:grpSpPr>
          <a:xfrm>
            <a:off x="743712" y="735330"/>
            <a:ext cx="4398264" cy="704088"/>
            <a:chOff x="743712" y="735330"/>
            <a:chExt cx="4398264" cy="704088"/>
          </a:xfrm>
        </p:grpSpPr>
        <p:sp>
          <p:nvSpPr>
            <p:cNvPr id="3" name="TextBox 3"/>
            <p:cNvSpPr txBox="1"/>
            <p:nvPr/>
          </p:nvSpPr>
          <p:spPr>
            <a:xfrm>
              <a:off x="743712" y="73533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三条主线在临床汇合</a:t>
              </a:r>
            </a:p>
          </p:txBody>
        </p:sp>
      </p:grpSp>
      <p:grpSp>
        <p:nvGrpSpPr>
          <p:cNvPr id="8" name="merge-support-1"/>
          <p:cNvGrpSpPr/>
          <p:nvPr/>
        </p:nvGrpSpPr>
        <p:grpSpPr>
          <a:xfrm>
            <a:off x="762000" y="2238375"/>
            <a:ext cx="3429000" cy="876300"/>
            <a:chOff x="762000" y="2238375"/>
            <a:chExt cx="3429000" cy="876300"/>
          </a:xfrm>
        </p:grpSpPr>
        <p:sp>
          <p:nvSpPr>
            <p:cNvPr id="5" name="Rectangle 5"/>
            <p:cNvSpPr/>
            <p:nvPr/>
          </p:nvSpPr>
          <p:spPr>
            <a:xfrm>
              <a:off x="762000" y="2238375"/>
              <a:ext cx="3429000" cy="87630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56132" y="244030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可拉伸阵列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59180" y="28098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传感单元的规模化供给</a:t>
              </a:r>
            </a:p>
          </p:txBody>
        </p:sp>
      </p:grpSp>
      <p:grpSp>
        <p:nvGrpSpPr>
          <p:cNvPr id="12" name="merge-support-2"/>
          <p:cNvGrpSpPr/>
          <p:nvPr/>
        </p:nvGrpSpPr>
        <p:grpSpPr>
          <a:xfrm>
            <a:off x="762000" y="3810000"/>
            <a:ext cx="3429000" cy="876300"/>
            <a:chOff x="762000" y="3810000"/>
            <a:chExt cx="3429000" cy="876300"/>
          </a:xfrm>
        </p:grpSpPr>
        <p:sp>
          <p:nvSpPr>
            <p:cNvPr id="9" name="Rectangle 9"/>
            <p:cNvSpPr/>
            <p:nvPr/>
          </p:nvSpPr>
          <p:spPr>
            <a:xfrm>
              <a:off x="762000" y="3810000"/>
              <a:ext cx="3429000" cy="87630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56132" y="4011930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可靠性方法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59180" y="438150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临床级器件的验证范式</a:t>
              </a:r>
            </a:p>
          </p:txBody>
        </p:sp>
      </p:grpSp>
      <p:grpSp>
        <p:nvGrpSpPr>
          <p:cNvPr id="15" name="merge-links"/>
          <p:cNvGrpSpPr/>
          <p:nvPr/>
        </p:nvGrpSpPr>
        <p:grpSpPr>
          <a:xfrm>
            <a:off x="4191000" y="2676525"/>
            <a:ext cx="2819400" cy="1571625"/>
            <a:chOff x="4191000" y="2676525"/>
            <a:chExt cx="2819400" cy="1571625"/>
          </a:xfrm>
        </p:grpSpPr>
        <p:sp>
          <p:nvSpPr>
            <p:cNvPr id="13" name="Line 13"/>
            <p:cNvSpPr/>
            <p:nvPr/>
          </p:nvSpPr>
          <p:spPr>
            <a:xfrm>
              <a:off x="4191000" y="2676525"/>
              <a:ext cx="2819400" cy="561975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4" name="Line 14"/>
            <p:cNvSpPr/>
            <p:nvPr/>
          </p:nvSpPr>
          <p:spPr>
            <a:xfrm flipV="1">
              <a:off x="4191000" y="3829050"/>
              <a:ext cx="2819400" cy="41910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19" name="merge-target"/>
          <p:cNvGrpSpPr/>
          <p:nvPr/>
        </p:nvGrpSpPr>
        <p:grpSpPr>
          <a:xfrm>
            <a:off x="7048500" y="2762250"/>
            <a:ext cx="4191000" cy="1428750"/>
            <a:chOff x="7048500" y="2762250"/>
            <a:chExt cx="4191000" cy="1428750"/>
          </a:xfrm>
        </p:grpSpPr>
        <p:sp>
          <p:nvSpPr>
            <p:cNvPr id="16" name="Rectangle 16"/>
            <p:cNvSpPr/>
            <p:nvPr/>
          </p:nvSpPr>
          <p:spPr>
            <a:xfrm>
              <a:off x="7048500" y="2762250"/>
              <a:ext cx="4191000" cy="1428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01000" y="3169920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植入式电子皮肤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85226" y="365950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E8703A"/>
                  </a:solidFill>
                  <a:latin typeface="+mn-lt"/>
                  <a:ea typeface="+mn-ea"/>
                  <a:cs typeface="+mn-cs"/>
                </a:rPr>
                <a:t>临床试验阶段</a:t>
              </a:r>
            </a:p>
          </p:txBody>
        </p:sp>
      </p:grpSp>
      <p:grpSp>
        <p:nvGrpSpPr>
          <p:cNvPr id="21" name="merge-claim"/>
          <p:cNvGrpSpPr/>
          <p:nvPr/>
        </p:nvGrpSpPr>
        <p:grpSpPr>
          <a:xfrm>
            <a:off x="749808" y="5284470"/>
            <a:ext cx="7778496" cy="469392"/>
            <a:chOff x="749808" y="5284470"/>
            <a:chExt cx="7778496" cy="469392"/>
          </a:xfrm>
        </p:grpSpPr>
        <p:sp>
          <p:nvSpPr>
            <p:cNvPr id="20" name="TextBox 20"/>
            <p:cNvSpPr txBox="1"/>
            <p:nvPr/>
          </p:nvSpPr>
          <p:spPr>
            <a:xfrm>
              <a:off x="749808" y="5284470"/>
              <a:ext cx="77784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阵列供给与可靠性验证，共同托举植入式器件进入</a:t>
              </a:r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临床</a:t>
              </a:r>
            </a:p>
          </p:txBody>
        </p:sp>
      </p:grpSp>
      <p:grpSp>
        <p:nvGrpSpPr>
          <p:cNvPr id="24" name="footer"/>
          <p:cNvGrpSpPr/>
          <p:nvPr/>
        </p:nvGrpSpPr>
        <p:grpSpPr>
          <a:xfrm>
            <a:off x="755904" y="6309360"/>
            <a:ext cx="10680192" cy="234696"/>
            <a:chOff x="755904" y="6309360"/>
            <a:chExt cx="10680192" cy="234696"/>
          </a:xfrm>
        </p:grpSpPr>
        <p:sp>
          <p:nvSpPr>
            <p:cNvPr id="22" name="TextBox 22"/>
            <p:cNvSpPr txBox="1"/>
            <p:nvPr/>
          </p:nvSpPr>
          <p:spPr>
            <a:xfrm>
              <a:off x="755904" y="6309360"/>
              <a:ext cx="2136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柔性电子团队 · 年会特邀报告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882732" y="63093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ge-bar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4" name="maturity-title"/>
          <p:cNvGrpSpPr/>
          <p:nvPr/>
        </p:nvGrpSpPr>
        <p:grpSpPr>
          <a:xfrm>
            <a:off x="743712" y="735330"/>
            <a:ext cx="4882896" cy="704088"/>
            <a:chOff x="743712" y="735330"/>
            <a:chExt cx="4882896" cy="704088"/>
          </a:xfrm>
        </p:grpSpPr>
        <p:sp>
          <p:nvSpPr>
            <p:cNvPr id="3" name="TextBox 3"/>
            <p:cNvSpPr txBox="1"/>
            <p:nvPr/>
          </p:nvSpPr>
          <p:spPr>
            <a:xfrm>
              <a:off x="743712" y="73533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三条主线的成熟度对照</a:t>
              </a:r>
            </a:p>
          </p:txBody>
        </p:sp>
      </p:grpSp>
      <p:grpSp>
        <p:nvGrpSpPr>
          <p:cNvPr id="31" name="maturity-table"/>
          <p:cNvGrpSpPr/>
          <p:nvPr/>
        </p:nvGrpSpPr>
        <p:grpSpPr>
          <a:xfrm>
            <a:off x="762000" y="1809750"/>
            <a:ext cx="10668000" cy="3819525"/>
            <a:chOff x="762000" y="1809750"/>
            <a:chExt cx="10668000" cy="3819525"/>
          </a:xfrm>
        </p:grpSpPr>
        <p:sp>
          <p:nvSpPr>
            <p:cNvPr id="5" name="table-header-band"/>
            <p:cNvSpPr/>
            <p:nvPr/>
          </p:nvSpPr>
          <p:spPr>
            <a:xfrm>
              <a:off x="762000" y="1809750"/>
              <a:ext cx="10668000" cy="666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0" name="table-header-text"/>
            <p:cNvGrpSpPr/>
            <p:nvPr/>
          </p:nvGrpSpPr>
          <p:grpSpPr>
            <a:xfrm>
              <a:off x="1037082" y="2011680"/>
              <a:ext cx="9915144" cy="410718"/>
              <a:chOff x="1037082" y="2011680"/>
              <a:chExt cx="9915144" cy="410718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1037082" y="2011680"/>
                <a:ext cx="58674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主线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3989832" y="2011680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关键指标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895082" y="2011680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验证层级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9800082" y="2011680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应用阶段</a:t>
                </a:r>
              </a:p>
            </p:txBody>
          </p:sp>
        </p:grpSp>
        <p:grpSp>
          <p:nvGrpSpPr>
            <p:cNvPr id="15" name="table-row-1"/>
            <p:cNvGrpSpPr/>
            <p:nvPr/>
          </p:nvGrpSpPr>
          <p:grpSpPr>
            <a:xfrm>
              <a:off x="1037082" y="2868930"/>
              <a:ext cx="10197846" cy="410718"/>
              <a:chOff x="1037082" y="2868930"/>
              <a:chExt cx="10197846" cy="410718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1037082" y="2868930"/>
                <a:ext cx="228295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可拉伸传感器阵列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3989832" y="2868930"/>
                <a:ext cx="1759953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量产良率 92%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895082" y="2868930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量产验证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800082" y="2868930"/>
                <a:ext cx="143484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规模化交付</a:t>
                </a:r>
              </a:p>
            </p:txBody>
          </p:sp>
        </p:grpSp>
        <p:grpSp>
          <p:nvGrpSpPr>
            <p:cNvPr id="20" name="table-row-2"/>
            <p:cNvGrpSpPr/>
            <p:nvPr/>
          </p:nvGrpSpPr>
          <p:grpSpPr>
            <a:xfrm>
              <a:off x="1037082" y="3916680"/>
              <a:ext cx="9915144" cy="410718"/>
              <a:chOff x="1037082" y="3916680"/>
              <a:chExt cx="9915144" cy="410718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1037082" y="3916680"/>
                <a:ext cx="209306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柔性 OLED 器件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989832" y="3916680"/>
                <a:ext cx="297557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弯曲 100,000 次无衰减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895082" y="3916680"/>
                <a:ext cx="143484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可靠性验证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800082" y="3916680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应用评估</a:t>
                </a:r>
              </a:p>
            </p:txBody>
          </p:sp>
        </p:grpSp>
        <p:grpSp>
          <p:nvGrpSpPr>
            <p:cNvPr id="25" name="table-row-3"/>
            <p:cNvGrpSpPr/>
            <p:nvPr/>
          </p:nvGrpSpPr>
          <p:grpSpPr>
            <a:xfrm>
              <a:off x="1037082" y="4964430"/>
              <a:ext cx="9915144" cy="410718"/>
              <a:chOff x="1037082" y="4964430"/>
              <a:chExt cx="9915144" cy="410718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1037082" y="4964430"/>
                <a:ext cx="200025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植入式电子皮肤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989832" y="4964430"/>
                <a:ext cx="171754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进入临床试验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895082" y="4964430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临床验证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800082" y="4964430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临床转化</a:t>
                </a:r>
              </a:p>
            </p:txBody>
          </p:sp>
        </p:grpSp>
        <p:grpSp>
          <p:nvGrpSpPr>
            <p:cNvPr id="30" name="table-rules"/>
            <p:cNvGrpSpPr/>
            <p:nvPr/>
          </p:nvGrpSpPr>
          <p:grpSpPr>
            <a:xfrm>
              <a:off x="762000" y="2476500"/>
              <a:ext cx="10668000" cy="3152775"/>
              <a:chOff x="762000" y="2476500"/>
              <a:chExt cx="10668000" cy="3152775"/>
            </a:xfrm>
          </p:grpSpPr>
          <p:sp>
            <p:nvSpPr>
              <p:cNvPr id="26" name="Line 26"/>
              <p:cNvSpPr/>
              <p:nvPr/>
            </p:nvSpPr>
            <p:spPr>
              <a:xfrm>
                <a:off x="762000" y="2476500"/>
                <a:ext cx="1066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668000" h="9525">
                    <a:moveTo>
                      <a:pt x="0" y="0"/>
                    </a:moveTo>
                    <a:lnTo>
                      <a:pt x="106680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7" name="Line 27"/>
              <p:cNvSpPr/>
              <p:nvPr/>
            </p:nvSpPr>
            <p:spPr>
              <a:xfrm>
                <a:off x="762000" y="3524250"/>
                <a:ext cx="1066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668000" h="9525">
                    <a:moveTo>
                      <a:pt x="0" y="0"/>
                    </a:moveTo>
                    <a:lnTo>
                      <a:pt x="10668000" y="0"/>
                    </a:lnTo>
                  </a:path>
                </a:pathLst>
              </a:custGeom>
              <a:noFill/>
              <a:ln w="19050">
                <a:solidFill>
                  <a:schemeClr val="accent6"/>
                </a:solidFill>
              </a:ln>
            </p:spPr>
          </p:sp>
          <p:sp>
            <p:nvSpPr>
              <p:cNvPr id="28" name="Line 28"/>
              <p:cNvSpPr/>
              <p:nvPr/>
            </p:nvSpPr>
            <p:spPr>
              <a:xfrm>
                <a:off x="762000" y="4572000"/>
                <a:ext cx="1066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668000" h="9525">
                    <a:moveTo>
                      <a:pt x="0" y="0"/>
                    </a:moveTo>
                    <a:lnTo>
                      <a:pt x="10668000" y="0"/>
                    </a:lnTo>
                  </a:path>
                </a:pathLst>
              </a:custGeom>
              <a:noFill/>
              <a:ln w="19050">
                <a:solidFill>
                  <a:schemeClr val="accent6"/>
                </a:solidFill>
              </a:ln>
            </p:spPr>
          </p:sp>
          <p:sp>
            <p:nvSpPr>
              <p:cNvPr id="29" name="Line 29"/>
              <p:cNvSpPr/>
              <p:nvPr/>
            </p:nvSpPr>
            <p:spPr>
              <a:xfrm>
                <a:off x="762000" y="5619750"/>
                <a:ext cx="1066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668000" h="9525">
                    <a:moveTo>
                      <a:pt x="0" y="0"/>
                    </a:moveTo>
                    <a:lnTo>
                      <a:pt x="10668000" y="0"/>
                    </a:lnTo>
                  </a:path>
                </a:pathLst>
              </a:custGeom>
              <a:noFill/>
              <a:ln w="19050">
                <a:solidFill>
                  <a:schemeClr val="accent6"/>
                </a:solidFill>
              </a:ln>
            </p:spPr>
          </p:sp>
        </p:grpSp>
      </p:grpSp>
      <p:grpSp>
        <p:nvGrpSpPr>
          <p:cNvPr id="33" name="maturity-takeaway"/>
          <p:cNvGrpSpPr/>
          <p:nvPr/>
        </p:nvGrpSpPr>
        <p:grpSpPr>
          <a:xfrm>
            <a:off x="751332" y="5793105"/>
            <a:ext cx="6806184" cy="410718"/>
            <a:chOff x="751332" y="5793105"/>
            <a:chExt cx="6806184" cy="410718"/>
          </a:xfrm>
        </p:grpSpPr>
        <p:sp>
          <p:nvSpPr>
            <p:cNvPr id="32" name="TextBox 32"/>
            <p:cNvSpPr txBox="1"/>
            <p:nvPr/>
          </p:nvSpPr>
          <p:spPr>
            <a:xfrm>
              <a:off x="751332" y="5793105"/>
              <a:ext cx="68061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三条主线处于不同的成熟度阶梯，</a:t>
              </a:r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共同构成工程化闭环</a:t>
              </a:r>
            </a:p>
          </p:txBody>
        </p:sp>
      </p:grpSp>
      <p:grpSp>
        <p:nvGrpSpPr>
          <p:cNvPr id="36" name="footer"/>
          <p:cNvGrpSpPr/>
          <p:nvPr/>
        </p:nvGrpSpPr>
        <p:grpSpPr>
          <a:xfrm>
            <a:off x="755904" y="6309360"/>
            <a:ext cx="10680192" cy="234696"/>
            <a:chOff x="755904" y="6309360"/>
            <a:chExt cx="10680192" cy="234696"/>
          </a:xfrm>
        </p:grpSpPr>
        <p:sp>
          <p:nvSpPr>
            <p:cNvPr id="34" name="TextBox 34"/>
            <p:cNvSpPr txBox="1"/>
            <p:nvPr/>
          </p:nvSpPr>
          <p:spPr>
            <a:xfrm>
              <a:off x="755904" y="6309360"/>
              <a:ext cx="2136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柔性电子团队 · 年会特邀报告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882732" y="63093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ge-bar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4" name="roadmap-title"/>
          <p:cNvGrpSpPr/>
          <p:nvPr/>
        </p:nvGrpSpPr>
        <p:grpSpPr>
          <a:xfrm>
            <a:off x="743712" y="735330"/>
            <a:ext cx="8855667" cy="704088"/>
            <a:chOff x="743712" y="735330"/>
            <a:chExt cx="8855667" cy="704088"/>
          </a:xfrm>
        </p:grpSpPr>
        <p:sp>
          <p:nvSpPr>
            <p:cNvPr id="3" name="TextBox 3"/>
            <p:cNvSpPr txBox="1"/>
            <p:nvPr/>
          </p:nvSpPr>
          <p:spPr>
            <a:xfrm>
              <a:off x="743712" y="735330"/>
              <a:ext cx="885566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2026–2028：从工程化走向规模临床应用</a:t>
              </a:r>
            </a:p>
          </p:txBody>
        </p:sp>
      </p:grpSp>
      <p:grpSp>
        <p:nvGrpSpPr>
          <p:cNvPr id="26" name="roadmap-timeline"/>
          <p:cNvGrpSpPr/>
          <p:nvPr/>
        </p:nvGrpSpPr>
        <p:grpSpPr>
          <a:xfrm>
            <a:off x="754380" y="1950720"/>
            <a:ext cx="10485120" cy="2066925"/>
            <a:chOff x="754380" y="1950720"/>
            <a:chExt cx="10485120" cy="2066925"/>
          </a:xfrm>
        </p:grpSpPr>
        <p:sp>
          <p:nvSpPr>
            <p:cNvPr id="5" name="Line 5"/>
            <p:cNvSpPr/>
            <p:nvPr/>
          </p:nvSpPr>
          <p:spPr>
            <a:xfrm>
              <a:off x="952500" y="276225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6" name="now-dot"/>
            <p:cNvSpPr/>
            <p:nvPr/>
          </p:nvSpPr>
          <p:spPr>
            <a:xfrm>
              <a:off x="866775" y="2676525"/>
              <a:ext cx="171450" cy="171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4380" y="22383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现在</a:t>
              </a:r>
            </a:p>
          </p:txBody>
        </p:sp>
        <p:grpSp>
          <p:nvGrpSpPr>
            <p:cNvPr id="13" name="milestone-2026"/>
            <p:cNvGrpSpPr/>
            <p:nvPr/>
          </p:nvGrpSpPr>
          <p:grpSpPr>
            <a:xfrm>
              <a:off x="2524125" y="1950720"/>
              <a:ext cx="2000250" cy="2066925"/>
              <a:chOff x="2524125" y="1950720"/>
              <a:chExt cx="2000250" cy="206692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3043238" y="2014538"/>
                <a:ext cx="2000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28600">
                    <a:moveTo>
                      <a:pt x="0" y="128588"/>
                    </a:moveTo>
                    <a:lnTo>
                      <a:pt x="200025" y="128588"/>
                    </a:lnTo>
                    <a:lnTo>
                      <a:pt x="200025" y="0"/>
                    </a:lnTo>
                    <a:lnTo>
                      <a:pt x="0" y="0"/>
                    </a:lnTo>
                    <a:lnTo>
                      <a:pt x="0" y="22860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3416808" y="1950720"/>
                <a:ext cx="77071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2026</a:t>
                </a:r>
              </a:p>
            </p:txBody>
          </p:sp>
          <p:sp>
            <p:nvSpPr>
              <p:cNvPr id="10" name="Ellipse 10"/>
              <p:cNvSpPr/>
              <p:nvPr/>
            </p:nvSpPr>
            <p:spPr>
              <a:xfrm>
                <a:off x="3429000" y="2667000"/>
                <a:ext cx="190500" cy="19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524125" y="3011805"/>
                <a:ext cx="200025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工艺与验证固化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754630" y="3438525"/>
                <a:ext cx="1539240" cy="579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2250"/>
                  </a:lnSpc>
                </a:pPr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良率工艺窗口固化</a:t>
                </a:r>
                <a:br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可靠性协议标准化</a:t>
                </a:r>
              </a:p>
            </p:txBody>
          </p:sp>
        </p:grpSp>
        <p:grpSp>
          <p:nvGrpSpPr>
            <p:cNvPr id="19" name="milestone-2027"/>
            <p:cNvGrpSpPr/>
            <p:nvPr/>
          </p:nvGrpSpPr>
          <p:grpSpPr>
            <a:xfrm>
              <a:off x="5993130" y="1950720"/>
              <a:ext cx="1539240" cy="2066925"/>
              <a:chOff x="5993130" y="1950720"/>
              <a:chExt cx="1539240" cy="206692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6281738" y="2014538"/>
                <a:ext cx="2000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28600">
                    <a:moveTo>
                      <a:pt x="0" y="128588"/>
                    </a:moveTo>
                    <a:lnTo>
                      <a:pt x="200025" y="128588"/>
                    </a:lnTo>
                    <a:lnTo>
                      <a:pt x="200025" y="0"/>
                    </a:lnTo>
                    <a:lnTo>
                      <a:pt x="0" y="0"/>
                    </a:lnTo>
                    <a:lnTo>
                      <a:pt x="0" y="22860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6655308" y="1950720"/>
                <a:ext cx="77071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2027</a:t>
                </a:r>
              </a:p>
            </p:txBody>
          </p:sp>
          <p:sp>
            <p:nvSpPr>
              <p:cNvPr id="16" name="Ellipse 16"/>
              <p:cNvSpPr/>
              <p:nvPr/>
            </p:nvSpPr>
            <p:spPr>
              <a:xfrm>
                <a:off x="6667500" y="2667000"/>
                <a:ext cx="190500" cy="19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6045327" y="3011805"/>
                <a:ext cx="143484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系统与集成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993130" y="3438525"/>
                <a:ext cx="1539240" cy="579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2250"/>
                  </a:lnSpc>
                </a:pPr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阵列—器件—皮肤</a:t>
                </a:r>
                <a:br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系统级集成与验证</a:t>
                </a:r>
              </a:p>
            </p:txBody>
          </p:sp>
        </p:grpSp>
        <p:grpSp>
          <p:nvGrpSpPr>
            <p:cNvPr id="25" name="milestone-2028"/>
            <p:cNvGrpSpPr/>
            <p:nvPr/>
          </p:nvGrpSpPr>
          <p:grpSpPr>
            <a:xfrm>
              <a:off x="9041130" y="1950720"/>
              <a:ext cx="1920240" cy="2066925"/>
              <a:chOff x="9041130" y="1950720"/>
              <a:chExt cx="1920240" cy="206692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9520238" y="2014538"/>
                <a:ext cx="2000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28600">
                    <a:moveTo>
                      <a:pt x="0" y="128588"/>
                    </a:moveTo>
                    <a:lnTo>
                      <a:pt x="200025" y="128588"/>
                    </a:lnTo>
                    <a:lnTo>
                      <a:pt x="200025" y="0"/>
                    </a:lnTo>
                    <a:lnTo>
                      <a:pt x="0" y="0"/>
                    </a:lnTo>
                    <a:lnTo>
                      <a:pt x="0" y="22860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9893808" y="1950720"/>
                <a:ext cx="77071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2028</a:t>
                </a:r>
              </a:p>
            </p:txBody>
          </p:sp>
          <p:sp>
            <p:nvSpPr>
              <p:cNvPr id="22" name="Ellipse 22"/>
              <p:cNvSpPr/>
              <p:nvPr/>
            </p:nvSpPr>
            <p:spPr>
              <a:xfrm>
                <a:off x="9906000" y="2667000"/>
                <a:ext cx="190500" cy="19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9283827" y="3011805"/>
                <a:ext cx="143484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临床与规模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041130" y="3438525"/>
                <a:ext cx="1920240" cy="579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2250"/>
                  </a:lnSpc>
                </a:pPr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临床推进与规模化交付</a:t>
                </a:r>
                <a:br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衔接当前临床试验阶段</a:t>
                </a:r>
              </a:p>
            </p:txBody>
          </p:sp>
        </p:grpSp>
      </p:grpSp>
      <p:grpSp>
        <p:nvGrpSpPr>
          <p:cNvPr id="28" name="roadmap-note"/>
          <p:cNvGrpSpPr/>
          <p:nvPr/>
        </p:nvGrpSpPr>
        <p:grpSpPr>
          <a:xfrm>
            <a:off x="754380" y="4638675"/>
            <a:ext cx="8667940" cy="293370"/>
            <a:chOff x="754380" y="4638675"/>
            <a:chExt cx="8667940" cy="293370"/>
          </a:xfrm>
        </p:grpSpPr>
        <p:sp>
          <p:nvSpPr>
            <p:cNvPr id="27" name="TextBox 27"/>
            <p:cNvSpPr txBox="1"/>
            <p:nvPr/>
          </p:nvSpPr>
          <p:spPr>
            <a:xfrm>
              <a:off x="754380" y="4638675"/>
              <a:ext cx="86679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情景数据：阶段划分与各阶段目标为团队规划，衔接 92% 良率、10 万次弯曲与当前临床试验阶段</a:t>
              </a:r>
            </a:p>
          </p:txBody>
        </p:sp>
      </p:grpSp>
      <p:grpSp>
        <p:nvGrpSpPr>
          <p:cNvPr id="32" name="roadmap-claim"/>
          <p:cNvGrpSpPr/>
          <p:nvPr/>
        </p:nvGrpSpPr>
        <p:grpSpPr>
          <a:xfrm>
            <a:off x="762000" y="5048250"/>
            <a:ext cx="10668000" cy="762000"/>
            <a:chOff x="762000" y="5048250"/>
            <a:chExt cx="10668000" cy="762000"/>
          </a:xfrm>
        </p:grpSpPr>
        <p:sp>
          <p:nvSpPr>
            <p:cNvPr id="29" name="Rectangle 29"/>
            <p:cNvSpPr/>
            <p:nvPr/>
          </p:nvSpPr>
          <p:spPr>
            <a:xfrm>
              <a:off x="762000" y="5048250"/>
              <a:ext cx="10668000" cy="762000"/>
            </a:xfrm>
            <a:prstGeom prst="rect">
              <a:avLst/>
            </a:prstGeom>
            <a:solidFill>
              <a:schemeClr val="accent1">
                <a:alpha val="6000"/>
              </a:schemeClr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62000" y="5048250"/>
              <a:ext cx="57150" cy="7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168908" y="5284470"/>
              <a:ext cx="77784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三阶段推进：先</a:t>
              </a:r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固化工艺</a:t>
              </a:r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，再</a:t>
              </a:r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集成系统</a:t>
              </a:r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，最后</a:t>
              </a:r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拓展临床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755904" y="6309360"/>
            <a:ext cx="10680192" cy="234696"/>
            <a:chOff x="755904" y="6309360"/>
            <a:chExt cx="10680192" cy="234696"/>
          </a:xfrm>
        </p:grpSpPr>
        <p:sp>
          <p:nvSpPr>
            <p:cNvPr id="33" name="TextBox 33"/>
            <p:cNvSpPr txBox="1"/>
            <p:nvPr/>
          </p:nvSpPr>
          <p:spPr>
            <a:xfrm>
              <a:off x="755904" y="6309360"/>
              <a:ext cx="2136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柔性电子团队 · 年会特邀报告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882732" y="63093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ge-bar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4" name="next-title"/>
          <p:cNvGrpSpPr/>
          <p:nvPr/>
        </p:nvGrpSpPr>
        <p:grpSpPr>
          <a:xfrm>
            <a:off x="743712" y="735330"/>
            <a:ext cx="5852160" cy="704088"/>
            <a:chOff x="743712" y="735330"/>
            <a:chExt cx="5852160" cy="704088"/>
          </a:xfrm>
        </p:grpSpPr>
        <p:sp>
          <p:nvSpPr>
            <p:cNvPr id="3" name="TextBox 3"/>
            <p:cNvSpPr txBox="1"/>
            <p:nvPr/>
          </p:nvSpPr>
          <p:spPr>
            <a:xfrm>
              <a:off x="743712" y="735330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下一步：三条线的三个动作</a:t>
              </a:r>
            </a:p>
          </p:txBody>
        </p:sp>
      </p:grpSp>
      <p:grpSp>
        <p:nvGrpSpPr>
          <p:cNvPr id="13" name="plan-sensor"/>
          <p:cNvGrpSpPr/>
          <p:nvPr/>
        </p:nvGrpSpPr>
        <p:grpSpPr>
          <a:xfrm>
            <a:off x="751332" y="1955800"/>
            <a:ext cx="2113788" cy="2138045"/>
            <a:chOff x="751332" y="1955800"/>
            <a:chExt cx="2113788" cy="2138045"/>
          </a:xfrm>
        </p:grpSpPr>
        <p:grpSp>
          <p:nvGrpSpPr>
            <p:cNvPr id="9" name="Group 9"/>
            <p:cNvGrpSpPr/>
            <p:nvPr/>
          </p:nvGrpSpPr>
          <p:grpSpPr>
            <a:xfrm>
              <a:off x="831850" y="1955800"/>
              <a:ext cx="279400" cy="279400"/>
              <a:chOff x="831850" y="1955800"/>
              <a:chExt cx="279400" cy="2794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831850" y="1955800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0" y="17462"/>
                    </a:moveTo>
                    <a:cubicBezTo>
                      <a:pt x="0" y="7818"/>
                      <a:pt x="7818" y="0"/>
                      <a:pt x="17462" y="0"/>
                    </a:cubicBezTo>
                    <a:lnTo>
                      <a:pt x="87312" y="0"/>
                    </a:lnTo>
                    <a:cubicBezTo>
                      <a:pt x="96957" y="0"/>
                      <a:pt x="104775" y="7818"/>
                      <a:pt x="104775" y="17462"/>
                    </a:cubicBezTo>
                    <a:lnTo>
                      <a:pt x="104775" y="87312"/>
                    </a:lnTo>
                    <a:cubicBezTo>
                      <a:pt x="104775" y="96957"/>
                      <a:pt x="96957" y="104775"/>
                      <a:pt x="87312" y="104775"/>
                    </a:cubicBezTo>
                    <a:lnTo>
                      <a:pt x="17462" y="104775"/>
                    </a:lnTo>
                    <a:cubicBezTo>
                      <a:pt x="7818" y="104775"/>
                      <a:pt x="0" y="96957"/>
                      <a:pt x="0" y="87312"/>
                    </a:cubicBezTo>
                    <a:lnTo>
                      <a:pt x="0" y="17462"/>
                    </a:lnTo>
                  </a:path>
                </a:pathLst>
              </a:custGeom>
              <a:noFill/>
              <a:ln w="34925">
                <a:solidFill>
                  <a:schemeClr val="accent2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006475" y="1955800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0" y="17462"/>
                    </a:moveTo>
                    <a:cubicBezTo>
                      <a:pt x="0" y="7818"/>
                      <a:pt x="7818" y="0"/>
                      <a:pt x="17462" y="0"/>
                    </a:cubicBezTo>
                    <a:lnTo>
                      <a:pt x="87312" y="0"/>
                    </a:lnTo>
                    <a:cubicBezTo>
                      <a:pt x="96957" y="0"/>
                      <a:pt x="104775" y="7818"/>
                      <a:pt x="104775" y="17462"/>
                    </a:cubicBezTo>
                    <a:lnTo>
                      <a:pt x="104775" y="87312"/>
                    </a:lnTo>
                    <a:cubicBezTo>
                      <a:pt x="104775" y="96957"/>
                      <a:pt x="96957" y="104775"/>
                      <a:pt x="87312" y="104775"/>
                    </a:cubicBezTo>
                    <a:lnTo>
                      <a:pt x="17462" y="104775"/>
                    </a:lnTo>
                    <a:cubicBezTo>
                      <a:pt x="7818" y="104775"/>
                      <a:pt x="0" y="96957"/>
                      <a:pt x="0" y="87312"/>
                    </a:cubicBezTo>
                    <a:lnTo>
                      <a:pt x="0" y="17462"/>
                    </a:lnTo>
                  </a:path>
                </a:pathLst>
              </a:custGeom>
              <a:noFill/>
              <a:ln w="34925">
                <a:solidFill>
                  <a:schemeClr val="accent2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831850" y="2130425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0" y="17462"/>
                    </a:moveTo>
                    <a:cubicBezTo>
                      <a:pt x="0" y="7818"/>
                      <a:pt x="7818" y="0"/>
                      <a:pt x="17462" y="0"/>
                    </a:cubicBezTo>
                    <a:lnTo>
                      <a:pt x="87312" y="0"/>
                    </a:lnTo>
                    <a:cubicBezTo>
                      <a:pt x="96957" y="0"/>
                      <a:pt x="104775" y="7818"/>
                      <a:pt x="104775" y="17462"/>
                    </a:cubicBezTo>
                    <a:lnTo>
                      <a:pt x="104775" y="87312"/>
                    </a:lnTo>
                    <a:cubicBezTo>
                      <a:pt x="104775" y="96957"/>
                      <a:pt x="96957" y="104775"/>
                      <a:pt x="87312" y="104775"/>
                    </a:cubicBezTo>
                    <a:lnTo>
                      <a:pt x="17462" y="104775"/>
                    </a:lnTo>
                    <a:cubicBezTo>
                      <a:pt x="7818" y="104775"/>
                      <a:pt x="0" y="96957"/>
                      <a:pt x="0" y="87312"/>
                    </a:cubicBezTo>
                    <a:lnTo>
                      <a:pt x="0" y="17462"/>
                    </a:lnTo>
                  </a:path>
                </a:pathLst>
              </a:custGeom>
              <a:noFill/>
              <a:ln w="34925">
                <a:solidFill>
                  <a:schemeClr val="accent2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06475" y="2130425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0" y="17462"/>
                    </a:moveTo>
                    <a:cubicBezTo>
                      <a:pt x="0" y="7818"/>
                      <a:pt x="7818" y="0"/>
                      <a:pt x="17462" y="0"/>
                    </a:cubicBezTo>
                    <a:lnTo>
                      <a:pt x="87312" y="0"/>
                    </a:lnTo>
                    <a:cubicBezTo>
                      <a:pt x="96957" y="0"/>
                      <a:pt x="104775" y="7818"/>
                      <a:pt x="104775" y="17462"/>
                    </a:cubicBezTo>
                    <a:lnTo>
                      <a:pt x="104775" y="87312"/>
                    </a:lnTo>
                    <a:cubicBezTo>
                      <a:pt x="104775" y="96957"/>
                      <a:pt x="96957" y="104775"/>
                      <a:pt x="87312" y="104775"/>
                    </a:cubicBezTo>
                    <a:lnTo>
                      <a:pt x="17462" y="104775"/>
                    </a:lnTo>
                    <a:cubicBezTo>
                      <a:pt x="7818" y="104775"/>
                      <a:pt x="0" y="96957"/>
                      <a:pt x="0" y="87312"/>
                    </a:cubicBezTo>
                    <a:lnTo>
                      <a:pt x="0" y="17462"/>
                    </a:lnTo>
                  </a:path>
                </a:pathLst>
              </a:custGeom>
              <a:noFill/>
              <a:ln w="34925">
                <a:solidFill>
                  <a:schemeClr val="accent2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754380" y="2581275"/>
              <a:ext cx="18520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计划一 · 传感主线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99275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良率工艺固化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4380" y="3514725"/>
              <a:ext cx="2110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工艺窗口固化与产线交接</a:t>
              </a:r>
              <a:br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产能扩展支撑规模交付</a:t>
              </a:r>
            </a:p>
          </p:txBody>
        </p:sp>
      </p:grpSp>
      <p:grpSp>
        <p:nvGrpSpPr>
          <p:cNvPr id="20" name="plan-oled"/>
          <p:cNvGrpSpPr/>
          <p:nvPr/>
        </p:nvGrpSpPr>
        <p:grpSpPr>
          <a:xfrm>
            <a:off x="4408932" y="1938337"/>
            <a:ext cx="2000250" cy="2155508"/>
            <a:chOff x="4408932" y="1938337"/>
            <a:chExt cx="2000250" cy="2155508"/>
          </a:xfrm>
        </p:grpSpPr>
        <p:grpSp>
          <p:nvGrpSpPr>
            <p:cNvPr id="16" name="Group 16"/>
            <p:cNvGrpSpPr/>
            <p:nvPr/>
          </p:nvGrpSpPr>
          <p:grpSpPr>
            <a:xfrm>
              <a:off x="4471987" y="1938337"/>
              <a:ext cx="314324" cy="314324"/>
              <a:chOff x="4471987" y="1938337"/>
              <a:chExt cx="314324" cy="314324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4471987" y="1938337"/>
                <a:ext cx="314324" cy="314324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314324">
                    <a:moveTo>
                      <a:pt x="0" y="157162"/>
                    </a:moveTo>
                    <a:cubicBezTo>
                      <a:pt x="0" y="243961"/>
                      <a:pt x="70364" y="314324"/>
                      <a:pt x="157162" y="314324"/>
                    </a:cubicBezTo>
                    <a:cubicBezTo>
                      <a:pt x="243961" y="314324"/>
                      <a:pt x="314324" y="243961"/>
                      <a:pt x="314324" y="157162"/>
                    </a:cubicBezTo>
                    <a:cubicBezTo>
                      <a:pt x="314324" y="70364"/>
                      <a:pt x="243961" y="0"/>
                      <a:pt x="157162" y="0"/>
                    </a:cubicBezTo>
                    <a:cubicBezTo>
                      <a:pt x="70364" y="0"/>
                      <a:pt x="0" y="70364"/>
                      <a:pt x="0" y="157162"/>
                    </a:cubicBezTo>
                  </a:path>
                </a:pathLst>
              </a:custGeom>
              <a:noFill/>
              <a:ln w="34925">
                <a:solidFill>
                  <a:schemeClr val="accent2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576762" y="2060575"/>
                <a:ext cx="10477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69850">
                    <a:moveTo>
                      <a:pt x="0" y="34925"/>
                    </a:moveTo>
                    <a:lnTo>
                      <a:pt x="34925" y="69850"/>
                    </a:lnTo>
                    <a:lnTo>
                      <a:pt x="104775" y="0"/>
                    </a:lnTo>
                  </a:path>
                </a:pathLst>
              </a:custGeom>
              <a:noFill/>
              <a:ln w="34925">
                <a:solidFill>
                  <a:schemeClr val="accent2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4411980" y="2581275"/>
              <a:ext cx="18520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计划二 · 显示主线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08932" y="299275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验证体系标准化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11980" y="3514725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弯曲疲劳协议标准化</a:t>
              </a:r>
              <a:br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向应用评估推进</a:t>
              </a:r>
            </a:p>
          </p:txBody>
        </p:sp>
      </p:grpSp>
      <p:grpSp>
        <p:nvGrpSpPr>
          <p:cNvPr id="30" name="plan-skin"/>
          <p:cNvGrpSpPr/>
          <p:nvPr/>
        </p:nvGrpSpPr>
        <p:grpSpPr>
          <a:xfrm>
            <a:off x="8066532" y="1938337"/>
            <a:ext cx="2000250" cy="2155508"/>
            <a:chOff x="8066532" y="1938337"/>
            <a:chExt cx="2000250" cy="2155508"/>
          </a:xfrm>
        </p:grpSpPr>
        <p:grpSp>
          <p:nvGrpSpPr>
            <p:cNvPr id="26" name="Group 26"/>
            <p:cNvGrpSpPr/>
            <p:nvPr/>
          </p:nvGrpSpPr>
          <p:grpSpPr>
            <a:xfrm>
              <a:off x="8129587" y="1938337"/>
              <a:ext cx="331787" cy="314325"/>
              <a:chOff x="8129587" y="1938337"/>
              <a:chExt cx="331787" cy="31432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129587" y="1955800"/>
                <a:ext cx="192087" cy="192087"/>
              </a:xfrm>
              <a:custGeom>
                <a:avLst/>
                <a:gdLst/>
                <a:ahLst/>
                <a:cxnLst/>
                <a:rect l="l" t="t" r="r" b="b"/>
                <a:pathLst>
                  <a:path w="192087" h="192087">
                    <a:moveTo>
                      <a:pt x="52387" y="0"/>
                    </a:moveTo>
                    <a:lnTo>
                      <a:pt x="34925" y="0"/>
                    </a:lnTo>
                    <a:cubicBezTo>
                      <a:pt x="15636" y="0"/>
                      <a:pt x="0" y="15636"/>
                      <a:pt x="0" y="34925"/>
                    </a:cubicBezTo>
                    <a:lnTo>
                      <a:pt x="0" y="96044"/>
                    </a:lnTo>
                    <a:cubicBezTo>
                      <a:pt x="0" y="149087"/>
                      <a:pt x="43000" y="192087"/>
                      <a:pt x="96044" y="192087"/>
                    </a:cubicBezTo>
                    <a:cubicBezTo>
                      <a:pt x="149087" y="192087"/>
                      <a:pt x="192087" y="149087"/>
                      <a:pt x="192087" y="96044"/>
                    </a:cubicBezTo>
                    <a:lnTo>
                      <a:pt x="192087" y="34925"/>
                    </a:lnTo>
                    <a:cubicBezTo>
                      <a:pt x="192087" y="15636"/>
                      <a:pt x="176451" y="0"/>
                      <a:pt x="157162" y="0"/>
                    </a:cubicBezTo>
                    <a:lnTo>
                      <a:pt x="139700" y="0"/>
                    </a:lnTo>
                  </a:path>
                </a:pathLst>
              </a:custGeom>
              <a:noFill/>
              <a:ln w="34925">
                <a:solidFill>
                  <a:schemeClr val="accent2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216900" y="2095500"/>
                <a:ext cx="209550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57162">
                    <a:moveTo>
                      <a:pt x="0" y="52387"/>
                    </a:moveTo>
                    <a:cubicBezTo>
                      <a:pt x="0" y="110253"/>
                      <a:pt x="46909" y="157162"/>
                      <a:pt x="104775" y="157162"/>
                    </a:cubicBezTo>
                    <a:cubicBezTo>
                      <a:pt x="162640" y="157162"/>
                      <a:pt x="209550" y="110253"/>
                      <a:pt x="209550" y="52387"/>
                    </a:cubicBezTo>
                    <a:lnTo>
                      <a:pt x="209550" y="0"/>
                    </a:lnTo>
                  </a:path>
                </a:pathLst>
              </a:custGeom>
              <a:noFill/>
              <a:ln w="34925">
                <a:solidFill>
                  <a:schemeClr val="accent2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269287" y="1938337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34925">
                <a:solidFill>
                  <a:schemeClr val="accent2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181975" y="1938337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34925">
                <a:solidFill>
                  <a:schemeClr val="accent2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391524" y="2025650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34925"/>
                    </a:moveTo>
                    <a:cubicBezTo>
                      <a:pt x="0" y="54213"/>
                      <a:pt x="15636" y="69850"/>
                      <a:pt x="34925" y="69850"/>
                    </a:cubicBezTo>
                    <a:cubicBezTo>
                      <a:pt x="54213" y="69850"/>
                      <a:pt x="69850" y="54213"/>
                      <a:pt x="69850" y="34925"/>
                    </a:cubicBezTo>
                    <a:cubicBezTo>
                      <a:pt x="69850" y="15636"/>
                      <a:pt x="54213" y="0"/>
                      <a:pt x="34925" y="0"/>
                    </a:cubicBezTo>
                    <a:cubicBezTo>
                      <a:pt x="15636" y="0"/>
                      <a:pt x="0" y="15636"/>
                      <a:pt x="0" y="34925"/>
                    </a:cubicBezTo>
                  </a:path>
                </a:pathLst>
              </a:custGeom>
              <a:noFill/>
              <a:ln w="34925">
                <a:solidFill>
                  <a:schemeClr val="accent2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8069580" y="2581275"/>
              <a:ext cx="18520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计划三 · 医疗主线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066532" y="299275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临床推进与迭代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069580" y="3514725"/>
              <a:ext cx="1920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临床试验持续推进</a:t>
              </a:r>
              <a:br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临床反馈驱动器件迭代</a:t>
              </a:r>
            </a:p>
          </p:txBody>
        </p:sp>
      </p:grpSp>
      <p:grpSp>
        <p:nvGrpSpPr>
          <p:cNvPr id="42" name="next-collab"/>
          <p:cNvGrpSpPr/>
          <p:nvPr/>
        </p:nvGrpSpPr>
        <p:grpSpPr>
          <a:xfrm>
            <a:off x="762000" y="4667250"/>
            <a:ext cx="10668000" cy="969645"/>
            <a:chOff x="762000" y="4667250"/>
            <a:chExt cx="10668000" cy="969645"/>
          </a:xfrm>
        </p:grpSpPr>
        <p:sp>
          <p:nvSpPr>
            <p:cNvPr id="31" name="Rectangle 31"/>
            <p:cNvSpPr/>
            <p:nvPr/>
          </p:nvSpPr>
          <p:spPr>
            <a:xfrm>
              <a:off x="762000" y="4667250"/>
              <a:ext cx="10668000" cy="952500"/>
            </a:xfrm>
            <a:prstGeom prst="rect">
              <a:avLst/>
            </a:prstGeom>
            <a:solidFill>
              <a:schemeClr val="accent1">
                <a:alpha val="6000"/>
              </a:schemeClr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62000" y="4667250"/>
              <a:ext cx="57150" cy="952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1233487" y="4910137"/>
              <a:ext cx="314325" cy="314324"/>
              <a:chOff x="1233487" y="4910137"/>
              <a:chExt cx="314325" cy="314324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1355725" y="5049837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34925"/>
                    </a:moveTo>
                    <a:cubicBezTo>
                      <a:pt x="0" y="54213"/>
                      <a:pt x="15636" y="69850"/>
                      <a:pt x="34925" y="69850"/>
                    </a:cubicBezTo>
                    <a:cubicBezTo>
                      <a:pt x="54213" y="69850"/>
                      <a:pt x="69850" y="54213"/>
                      <a:pt x="69850" y="34925"/>
                    </a:cubicBezTo>
                    <a:cubicBezTo>
                      <a:pt x="69850" y="15636"/>
                      <a:pt x="54213" y="0"/>
                      <a:pt x="34925" y="0"/>
                    </a:cubicBezTo>
                    <a:cubicBezTo>
                      <a:pt x="15636" y="0"/>
                      <a:pt x="0" y="15636"/>
                      <a:pt x="0" y="34925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320800" y="5172074"/>
                <a:ext cx="139700" cy="52387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52387">
                    <a:moveTo>
                      <a:pt x="0" y="52387"/>
                    </a:moveTo>
                    <a:lnTo>
                      <a:pt x="0" y="34925"/>
                    </a:lnTo>
                    <a:cubicBezTo>
                      <a:pt x="0" y="15636"/>
                      <a:pt x="15636" y="0"/>
                      <a:pt x="34925" y="0"/>
                    </a:cubicBezTo>
                    <a:lnTo>
                      <a:pt x="104775" y="0"/>
                    </a:lnTo>
                    <a:cubicBezTo>
                      <a:pt x="124063" y="0"/>
                      <a:pt x="139700" y="15636"/>
                      <a:pt x="139700" y="34925"/>
                    </a:cubicBezTo>
                    <a:lnTo>
                      <a:pt x="139700" y="52387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443037" y="4910137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34925"/>
                    </a:moveTo>
                    <a:cubicBezTo>
                      <a:pt x="0" y="54213"/>
                      <a:pt x="15636" y="69850"/>
                      <a:pt x="34925" y="69850"/>
                    </a:cubicBezTo>
                    <a:cubicBezTo>
                      <a:pt x="54213" y="69850"/>
                      <a:pt x="69850" y="54213"/>
                      <a:pt x="69850" y="34925"/>
                    </a:cubicBezTo>
                    <a:cubicBezTo>
                      <a:pt x="69850" y="15636"/>
                      <a:pt x="54213" y="0"/>
                      <a:pt x="34925" y="0"/>
                    </a:cubicBezTo>
                    <a:cubicBezTo>
                      <a:pt x="15636" y="0"/>
                      <a:pt x="0" y="15636"/>
                      <a:pt x="0" y="34925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477962" y="5032375"/>
                <a:ext cx="69850" cy="52387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52387">
                    <a:moveTo>
                      <a:pt x="0" y="0"/>
                    </a:moveTo>
                    <a:lnTo>
                      <a:pt x="34925" y="0"/>
                    </a:lnTo>
                    <a:cubicBezTo>
                      <a:pt x="54213" y="0"/>
                      <a:pt x="69850" y="15636"/>
                      <a:pt x="69850" y="34925"/>
                    </a:cubicBezTo>
                    <a:lnTo>
                      <a:pt x="69850" y="52387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268412" y="4910137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34925"/>
                    </a:moveTo>
                    <a:cubicBezTo>
                      <a:pt x="0" y="54213"/>
                      <a:pt x="15636" y="69850"/>
                      <a:pt x="34925" y="69850"/>
                    </a:cubicBezTo>
                    <a:cubicBezTo>
                      <a:pt x="54213" y="69850"/>
                      <a:pt x="69850" y="54213"/>
                      <a:pt x="69850" y="34925"/>
                    </a:cubicBezTo>
                    <a:cubicBezTo>
                      <a:pt x="69850" y="15636"/>
                      <a:pt x="54213" y="0"/>
                      <a:pt x="34925" y="0"/>
                    </a:cubicBezTo>
                    <a:cubicBezTo>
                      <a:pt x="15636" y="0"/>
                      <a:pt x="0" y="15636"/>
                      <a:pt x="0" y="34925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233487" y="5032375"/>
                <a:ext cx="69850" cy="52387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52387">
                    <a:moveTo>
                      <a:pt x="0" y="52387"/>
                    </a:moveTo>
                    <a:lnTo>
                      <a:pt x="0" y="34925"/>
                    </a:lnTo>
                    <a:cubicBezTo>
                      <a:pt x="0" y="15636"/>
                      <a:pt x="15636" y="0"/>
                      <a:pt x="34925" y="0"/>
                    </a:cubicBezTo>
                    <a:lnTo>
                      <a:pt x="69850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854708" y="4922520"/>
              <a:ext cx="62971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三个合作切口：</a:t>
              </a:r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工艺 · 验证方法 · 临床转化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859280" y="534352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欢迎会后就合作方向展开交流</a:t>
              </a:r>
            </a:p>
          </p:txBody>
        </p:sp>
      </p:grpSp>
      <p:grpSp>
        <p:nvGrpSpPr>
          <p:cNvPr id="44" name="next-note"/>
          <p:cNvGrpSpPr/>
          <p:nvPr/>
        </p:nvGrpSpPr>
        <p:grpSpPr>
          <a:xfrm>
            <a:off x="754380" y="5857875"/>
            <a:ext cx="4861560" cy="293370"/>
            <a:chOff x="754380" y="5857875"/>
            <a:chExt cx="4861560" cy="293370"/>
          </a:xfrm>
        </p:grpSpPr>
        <p:sp>
          <p:nvSpPr>
            <p:cNvPr id="43" name="TextBox 43"/>
            <p:cNvSpPr txBox="1"/>
            <p:nvPr/>
          </p:nvSpPr>
          <p:spPr>
            <a:xfrm>
              <a:off x="754380" y="5857875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情景内容：三项计划为团队规划性表述，衔接既有成果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755904" y="6309360"/>
            <a:ext cx="10680192" cy="234696"/>
            <a:chOff x="755904" y="6309360"/>
            <a:chExt cx="10680192" cy="234696"/>
          </a:xfrm>
        </p:grpSpPr>
        <p:sp>
          <p:nvSpPr>
            <p:cNvPr id="45" name="TextBox 45"/>
            <p:cNvSpPr txBox="1"/>
            <p:nvPr/>
          </p:nvSpPr>
          <p:spPr>
            <a:xfrm>
              <a:off x="755904" y="6309360"/>
              <a:ext cx="2136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柔性电子团队 · 年会特邀报告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882732" y="63093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end-kicker"/>
          <p:cNvGrpSpPr/>
          <p:nvPr/>
        </p:nvGrpSpPr>
        <p:grpSpPr>
          <a:xfrm>
            <a:off x="754380" y="1362075"/>
            <a:ext cx="459486" cy="293370"/>
            <a:chOff x="754380" y="1362075"/>
            <a:chExt cx="459486" cy="293370"/>
          </a:xfrm>
        </p:grpSpPr>
        <p:sp>
          <p:nvSpPr>
            <p:cNvPr id="2" name="TextBox 2"/>
            <p:cNvSpPr txBox="1"/>
            <p:nvPr/>
          </p:nvSpPr>
          <p:spPr>
            <a:xfrm>
              <a:off x="754380" y="136207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spc="3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结语</a:t>
              </a:r>
            </a:p>
          </p:txBody>
        </p:sp>
      </p:grpSp>
      <p:grpSp>
        <p:nvGrpSpPr>
          <p:cNvPr id="5" name="end-conclusion"/>
          <p:cNvGrpSpPr/>
          <p:nvPr/>
        </p:nvGrpSpPr>
        <p:grpSpPr>
          <a:xfrm>
            <a:off x="742950" y="2205990"/>
            <a:ext cx="6499860" cy="933450"/>
            <a:chOff x="742950" y="2205990"/>
            <a:chExt cx="6499860" cy="933450"/>
          </a:xfrm>
        </p:grpSpPr>
        <p:sp>
          <p:nvSpPr>
            <p:cNvPr id="4" name="TextBox 4"/>
            <p:cNvSpPr txBox="1"/>
            <p:nvPr/>
          </p:nvSpPr>
          <p:spPr>
            <a:xfrm>
              <a:off x="742950" y="2205990"/>
              <a:ext cx="649986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三年，从实验室到临床</a:t>
              </a:r>
            </a:p>
          </p:txBody>
        </p:sp>
      </p:grpSp>
      <p:grpSp>
        <p:nvGrpSpPr>
          <p:cNvPr id="7" name="end-review"/>
          <p:cNvGrpSpPr/>
          <p:nvPr/>
        </p:nvGrpSpPr>
        <p:grpSpPr>
          <a:xfrm>
            <a:off x="749808" y="3341370"/>
            <a:ext cx="6394704" cy="888492"/>
            <a:chOff x="749808" y="3341370"/>
            <a:chExt cx="6394704" cy="888492"/>
          </a:xfrm>
        </p:grpSpPr>
        <p:sp>
          <p:nvSpPr>
            <p:cNvPr id="6" name="TextBox 6"/>
            <p:cNvSpPr txBox="1"/>
            <p:nvPr/>
          </p:nvSpPr>
          <p:spPr>
            <a:xfrm>
              <a:off x="749808" y="3341370"/>
              <a:ext cx="6394704" cy="888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78% → 92%</a:t>
              </a: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量产良率 · </a:t>
              </a:r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100,000 次</a:t>
              </a: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弯曲无衰减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临床试验阶段 · 工程化闭环成形</a:t>
              </a:r>
            </a:p>
          </p:txBody>
        </p:sp>
      </p:grpSp>
      <p:grpSp>
        <p:nvGrpSpPr>
          <p:cNvPr id="10" name="end-invite"/>
          <p:cNvGrpSpPr/>
          <p:nvPr/>
        </p:nvGrpSpPr>
        <p:grpSpPr>
          <a:xfrm>
            <a:off x="751332" y="4459605"/>
            <a:ext cx="5392674" cy="681990"/>
            <a:chOff x="751332" y="4459605"/>
            <a:chExt cx="5392674" cy="681990"/>
          </a:xfrm>
        </p:grpSpPr>
        <p:sp>
          <p:nvSpPr>
            <p:cNvPr id="8" name="TextBox 8"/>
            <p:cNvSpPr txBox="1"/>
            <p:nvPr/>
          </p:nvSpPr>
          <p:spPr>
            <a:xfrm>
              <a:off x="751332" y="4459605"/>
              <a:ext cx="539267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欢迎就工艺、验证与临床转化开展合作交流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4380" y="4848225"/>
              <a:ext cx="31754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柔性电子团队 · 2026 年会特邀报告</a:t>
              </a:r>
            </a:p>
          </p:txBody>
        </p:sp>
      </p:grpSp>
      <p:grpSp>
        <p:nvGrpSpPr>
          <p:cNvPr id="25" name="end-column"/>
          <p:cNvGrpSpPr/>
          <p:nvPr/>
        </p:nvGrpSpPr>
        <p:grpSpPr>
          <a:xfrm>
            <a:off x="8124825" y="0"/>
            <a:ext cx="4067175" cy="6858000"/>
            <a:chOff x="8124825" y="0"/>
            <a:chExt cx="4067175" cy="6858000"/>
          </a:xfrm>
        </p:grpSpPr>
        <p:sp>
          <p:nvSpPr>
            <p:cNvPr id="11" name="Rectangle 11"/>
            <p:cNvSpPr/>
            <p:nvPr/>
          </p:nvSpPr>
          <p:spPr>
            <a:xfrm>
              <a:off x="8124825" y="0"/>
              <a:ext cx="406717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74405" y="1266825"/>
              <a:ext cx="13277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spc="150" dirty="0">
                  <a:solidFill>
                    <a:srgbClr val="AEB9CC"/>
                  </a:solidFill>
                  <a:latin typeface="+mn-lt"/>
                  <a:ea typeface="+mn-ea"/>
                  <a:cs typeface="+mn-cs"/>
                </a:rPr>
                <a:t>三大成果回顾</a:t>
              </a:r>
            </a:p>
          </p:txBody>
        </p:sp>
        <p:grpSp>
          <p:nvGrpSpPr>
            <p:cNvPr id="16" name="end-recall-1"/>
            <p:cNvGrpSpPr/>
            <p:nvPr/>
          </p:nvGrpSpPr>
          <p:grpSpPr>
            <a:xfrm>
              <a:off x="8571357" y="2286000"/>
              <a:ext cx="3163443" cy="1022223"/>
              <a:chOff x="8571357" y="2286000"/>
              <a:chExt cx="3163443" cy="1022223"/>
            </a:xfrm>
          </p:grpSpPr>
          <p:sp>
            <p:nvSpPr>
              <p:cNvPr id="13" name="Line 13"/>
              <p:cNvSpPr/>
              <p:nvPr/>
            </p:nvSpPr>
            <p:spPr>
              <a:xfrm>
                <a:off x="8582025" y="2286000"/>
                <a:ext cx="31527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52775" h="9525">
                    <a:moveTo>
                      <a:pt x="0" y="0"/>
                    </a:moveTo>
                    <a:lnTo>
                      <a:pt x="3152775" y="0"/>
                    </a:lnTo>
                  </a:path>
                </a:pathLst>
              </a:custGeom>
              <a:noFill/>
              <a:ln w="9525">
                <a:solidFill>
                  <a:srgbClr val="3D5170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8571357" y="2554605"/>
                <a:ext cx="570485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E8703A"/>
                    </a:solidFill>
                    <a:latin typeface="+mn-lt"/>
                    <a:ea typeface="+mn-ea"/>
                    <a:cs typeface="+mn-cs"/>
                  </a:rPr>
                  <a:t>92%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571357" y="2897505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量产良率</a:t>
                </a:r>
              </a:p>
            </p:txBody>
          </p:sp>
        </p:grpSp>
        <p:grpSp>
          <p:nvGrpSpPr>
            <p:cNvPr id="20" name="end-recall-2"/>
            <p:cNvGrpSpPr/>
            <p:nvPr/>
          </p:nvGrpSpPr>
          <p:grpSpPr>
            <a:xfrm>
              <a:off x="8571357" y="3619500"/>
              <a:ext cx="3163443" cy="1022223"/>
              <a:chOff x="8571357" y="3619500"/>
              <a:chExt cx="3163443" cy="1022223"/>
            </a:xfrm>
          </p:grpSpPr>
          <p:sp>
            <p:nvSpPr>
              <p:cNvPr id="17" name="Line 17"/>
              <p:cNvSpPr/>
              <p:nvPr/>
            </p:nvSpPr>
            <p:spPr>
              <a:xfrm>
                <a:off x="8582025" y="3619500"/>
                <a:ext cx="31527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52775" h="9525">
                    <a:moveTo>
                      <a:pt x="0" y="0"/>
                    </a:moveTo>
                    <a:lnTo>
                      <a:pt x="3152775" y="0"/>
                    </a:lnTo>
                  </a:path>
                </a:pathLst>
              </a:custGeom>
              <a:noFill/>
              <a:ln w="9525">
                <a:solidFill>
                  <a:srgbClr val="3D5170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8571357" y="3888105"/>
                <a:ext cx="153591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E8703A"/>
                    </a:solidFill>
                    <a:latin typeface="+mn-lt"/>
                    <a:ea typeface="+mn-ea"/>
                    <a:cs typeface="+mn-cs"/>
                  </a:rPr>
                  <a:t>100,000 次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571357" y="4231005"/>
                <a:ext cx="143484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弯曲无衰减</a:t>
                </a:r>
              </a:p>
            </p:txBody>
          </p:sp>
        </p:grpSp>
        <p:grpSp>
          <p:nvGrpSpPr>
            <p:cNvPr id="24" name="end-recall-3"/>
            <p:cNvGrpSpPr/>
            <p:nvPr/>
          </p:nvGrpSpPr>
          <p:grpSpPr>
            <a:xfrm>
              <a:off x="8571357" y="4953000"/>
              <a:ext cx="3163443" cy="1022223"/>
              <a:chOff x="8571357" y="4953000"/>
              <a:chExt cx="3163443" cy="1022223"/>
            </a:xfrm>
          </p:grpSpPr>
          <p:sp>
            <p:nvSpPr>
              <p:cNvPr id="21" name="Line 21"/>
              <p:cNvSpPr/>
              <p:nvPr/>
            </p:nvSpPr>
            <p:spPr>
              <a:xfrm>
                <a:off x="8582025" y="4953000"/>
                <a:ext cx="31527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52775" h="9525">
                    <a:moveTo>
                      <a:pt x="0" y="0"/>
                    </a:moveTo>
                    <a:lnTo>
                      <a:pt x="3152775" y="0"/>
                    </a:lnTo>
                  </a:path>
                </a:pathLst>
              </a:custGeom>
              <a:noFill/>
              <a:ln w="9525">
                <a:solidFill>
                  <a:srgbClr val="3D5170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8571357" y="5221605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E8703A"/>
                    </a:solidFill>
                    <a:latin typeface="+mn-lt"/>
                    <a:ea typeface="+mn-ea"/>
                    <a:cs typeface="+mn-cs"/>
                  </a:rPr>
                  <a:t>临床试验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571357" y="5564505"/>
                <a:ext cx="228295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三甲医院合作推进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flexible_electronics_report">
  <a:themeElements>
    <a:clrScheme name="flexible_electronics_report">
      <a:dk1>
        <a:srgbClr val="22252A"/>
      </a:dk1>
      <a:lt1>
        <a:srgbClr val="FAFAF8"/>
      </a:lt1>
      <a:dk2>
        <a:srgbClr val="1F497D"/>
      </a:dk2>
      <a:lt2>
        <a:srgbClr val="EEEEE9"/>
      </a:lt2>
      <a:accent1>
        <a:srgbClr val="1A2E4A"/>
      </a:accent1>
      <a:accent2>
        <a:srgbClr val="C2410C"/>
      </a:accent2>
      <a:accent3>
        <a:srgbClr val="0F766E"/>
      </a:accent3>
      <a:accent4>
        <a:srgbClr val="1A2E4A"/>
      </a:accent4>
      <a:accent5>
        <a:srgbClr val="6B6F76"/>
      </a:accent5>
      <a:accent6>
        <a:srgbClr val="D9D7D0"/>
      </a:accent6>
      <a:hlink>
        <a:srgbClr val="C2410C"/>
      </a:hlink>
      <a:folHlink>
        <a:srgbClr val="0F766E"/>
      </a:folHlink>
    </a:clrScheme>
    <a:fontScheme name="flexible_electronics_report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lexible_electronics_repor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flexible_electronics_report">
  <a:themeElements>
    <a:clrScheme name="flexible_electronics_report">
      <a:dk1>
        <a:srgbClr val="22252A"/>
      </a:dk1>
      <a:lt1>
        <a:srgbClr val="FAFAF8"/>
      </a:lt1>
      <a:dk2>
        <a:srgbClr val="1F497D"/>
      </a:dk2>
      <a:lt2>
        <a:srgbClr val="EEEEE9"/>
      </a:lt2>
      <a:accent1>
        <a:srgbClr val="1A2E4A"/>
      </a:accent1>
      <a:accent2>
        <a:srgbClr val="C2410C"/>
      </a:accent2>
      <a:accent3>
        <a:srgbClr val="0F766E"/>
      </a:accent3>
      <a:accent4>
        <a:srgbClr val="1A2E4A"/>
      </a:accent4>
      <a:accent5>
        <a:srgbClr val="6B6F76"/>
      </a:accent5>
      <a:accent6>
        <a:srgbClr val="D9D7D0"/>
      </a:accent6>
      <a:hlink>
        <a:srgbClr val="C2410C"/>
      </a:hlink>
      <a:folHlink>
        <a:srgbClr val="0F766E"/>
      </a:folHlink>
    </a:clrScheme>
    <a:fontScheme name="flexible_electronics_report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lexible_electronics_repor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2026-09-23T06:51:01Z</dcterms:created>
  <dcterms:modified xsi:type="dcterms:W3CDTF">2026-09-23T06:51:01Z</dcterms:modified>
  <cp:category/>
  <cp:contentStatus/>
</cp:coreProperties>
</file>