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WenJin Mincho Plane 0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image" Target="../media/image-5-33.png"/><Relationship Id="rId34" Type="http://schemas.openxmlformats.org/officeDocument/2006/relationships/image" Target="../media/image-5-34.svg"/><Relationship Id="rId35" Type="http://schemas.openxmlformats.org/officeDocument/2006/relationships/image" Target="../media/image-5-35.png"/><Relationship Id="rId36" Type="http://schemas.openxmlformats.org/officeDocument/2006/relationships/image" Target="../media/image-5-36.sv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image" Target="../media/image-7-25.png"/><Relationship Id="rId26" Type="http://schemas.openxmlformats.org/officeDocument/2006/relationships/image" Target="../media/image-7-26.svg"/><Relationship Id="rId27" Type="http://schemas.openxmlformats.org/officeDocument/2006/relationships/image" Target="../media/image-7-27.png"/><Relationship Id="rId28" Type="http://schemas.openxmlformats.org/officeDocument/2006/relationships/image" Target="../media/image-7-28.svg"/><Relationship Id="rId29" Type="http://schemas.openxmlformats.org/officeDocument/2006/relationships/image" Target="../media/image-7-29.png"/><Relationship Id="rId30" Type="http://schemas.openxmlformats.org/officeDocument/2006/relationships/image" Target="../media/image-7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image" Target="../media/image-8-25.png"/><Relationship Id="rId26" Type="http://schemas.openxmlformats.org/officeDocument/2006/relationships/image" Target="../media/image-8-26.svg"/><Relationship Id="rId27" Type="http://schemas.openxmlformats.org/officeDocument/2006/relationships/image" Target="../media/image-8-27.png"/><Relationship Id="rId28" Type="http://schemas.openxmlformats.org/officeDocument/2006/relationships/image" Target="../media/image-8-28.svg"/><Relationship Id="rId29" Type="http://schemas.openxmlformats.org/officeDocument/2006/relationships/image" Target="../media/image-8-29.png"/><Relationship Id="rId30" Type="http://schemas.openxmlformats.org/officeDocument/2006/relationships/image" Target="../media/image-8-30.svg"/><Relationship Id="rId31" Type="http://schemas.openxmlformats.org/officeDocument/2006/relationships/image" Target="../media/image-8-31.png"/><Relationship Id="rId32" Type="http://schemas.openxmlformats.org/officeDocument/2006/relationships/image" Target="../media/image-8-32.svg"/><Relationship Id="rId33" Type="http://schemas.openxmlformats.org/officeDocument/2006/relationships/image" Target="../media/image-8-33.png"/><Relationship Id="rId34" Type="http://schemas.openxmlformats.org/officeDocument/2006/relationships/image" Target="../media/image-8-34.svg"/><Relationship Id="rId35" Type="http://schemas.openxmlformats.org/officeDocument/2006/relationships/image" Target="../media/image-8-35.png"/><Relationship Id="rId36" Type="http://schemas.openxmlformats.org/officeDocument/2006/relationships/image" Target="../media/image-8-36.svg"/><Relationship Id="rId37" Type="http://schemas.openxmlformats.org/officeDocument/2006/relationships/image" Target="../media/image-8-37.png"/><Relationship Id="rId38" Type="http://schemas.openxmlformats.org/officeDocument/2006/relationships/image" Target="../media/image-8-38.svg"/><Relationship Id="rId39" Type="http://schemas.openxmlformats.org/officeDocument/2006/relationships/image" Target="../media/image-8-39.png"/><Relationship Id="rId40" Type="http://schemas.openxmlformats.org/officeDocument/2006/relationships/image" Target="../media/image-8-40.svg"/><Relationship Id="rId41" Type="http://schemas.openxmlformats.org/officeDocument/2006/relationships/image" Target="../media/image-8-41.png"/><Relationship Id="rId42" Type="http://schemas.openxmlformats.org/officeDocument/2006/relationships/image" Target="../media/image-8-42.svg"/><Relationship Id="rId43" Type="http://schemas.openxmlformats.org/officeDocument/2006/relationships/image" Target="../media/image-8-43.png"/><Relationship Id="rId44" Type="http://schemas.openxmlformats.org/officeDocument/2006/relationships/image" Target="../media/image-8-44.svg"/><Relationship Id="rId45" Type="http://schemas.openxmlformats.org/officeDocument/2006/relationships/image" Target="../media/image-8-45.png"/><Relationship Id="rId46" Type="http://schemas.openxmlformats.org/officeDocument/2006/relationships/image" Target="../media/image-8-46.svg"/><Relationship Id="rId47" Type="http://schemas.openxmlformats.org/officeDocument/2006/relationships/image" Target="../media/image-8-47.png"/><Relationship Id="rId48" Type="http://schemas.openxmlformats.org/officeDocument/2006/relationships/image" Target="../media/image-8-48.svg"/><Relationship Id="rId49" Type="http://schemas.openxmlformats.org/officeDocument/2006/relationships/image" Target="../media/image-8-49.png"/><Relationship Id="rId50" Type="http://schemas.openxmlformats.org/officeDocument/2006/relationships/image" Target="../media/image-8-50.svg"/><Relationship Id="rId51" Type="http://schemas.openxmlformats.org/officeDocument/2006/relationships/image" Target="../media/image-8-51.png"/><Relationship Id="rId52" Type="http://schemas.openxmlformats.org/officeDocument/2006/relationships/image" Target="../media/image-8-52.svg"/><Relationship Id="rId53" Type="http://schemas.openxmlformats.org/officeDocument/2006/relationships/image" Target="../media/image-8-53.png"/><Relationship Id="rId54" Type="http://schemas.openxmlformats.org/officeDocument/2006/relationships/image" Target="../media/image-8-54.svg"/><Relationship Id="rId55" Type="http://schemas.openxmlformats.org/officeDocument/2006/relationships/image" Target="../media/image-8-55.png"/><Relationship Id="rId56" Type="http://schemas.openxmlformats.org/officeDocument/2006/relationships/image" Target="../media/image-8-56.svg"/><Relationship Id="rId57" Type="http://schemas.openxmlformats.org/officeDocument/2006/relationships/image" Target="../media/image-8-57.png"/><Relationship Id="rId58" Type="http://schemas.openxmlformats.org/officeDocument/2006/relationships/image" Target="../media/image-8-58.svg"/><Relationship Id="rId59" Type="http://schemas.openxmlformats.org/officeDocument/2006/relationships/image" Target="../media/image-8-59.png"/><Relationship Id="rId60" Type="http://schemas.openxmlformats.org/officeDocument/2006/relationships/image" Target="../media/image-8-60.svg"/><Relationship Id="rId61" Type="http://schemas.openxmlformats.org/officeDocument/2006/relationships/image" Target="../media/image-8-61.png"/><Relationship Id="rId62" Type="http://schemas.openxmlformats.org/officeDocument/2006/relationships/image" Target="../media/image-8-62.svg"/><Relationship Id="rId63" Type="http://schemas.openxmlformats.org/officeDocument/2006/relationships/image" Target="../media/image-8-63.png"/><Relationship Id="rId64" Type="http://schemas.openxmlformats.org/officeDocument/2006/relationships/image" Target="../media/image-8-64.svg"/><Relationship Id="rId65" Type="http://schemas.openxmlformats.org/officeDocument/2006/relationships/image" Target="../media/image-8-65.png"/><Relationship Id="rId66" Type="http://schemas.openxmlformats.org/officeDocument/2006/relationships/image" Target="../media/image-8-66.svg"/><Relationship Id="rId67" Type="http://schemas.openxmlformats.org/officeDocument/2006/relationships/image" Target="../media/image-8-67.png"/><Relationship Id="rId68" Type="http://schemas.openxmlformats.org/officeDocument/2006/relationships/image" Target="../media/image-8-68.svg"/><Relationship Id="rId69" Type="http://schemas.openxmlformats.org/officeDocument/2006/relationships/image" Target="../media/image-8-69.png"/><Relationship Id="rId70" Type="http://schemas.openxmlformats.org/officeDocument/2006/relationships/image" Target="../media/image-8-70.svg"/><Relationship Id="rId71" Type="http://schemas.openxmlformats.org/officeDocument/2006/relationships/image" Target="../media/image-8-71.png"/><Relationship Id="rId72" Type="http://schemas.openxmlformats.org/officeDocument/2006/relationships/image" Target="../media/image-8-72.svg"/><Relationship Id="rId73" Type="http://schemas.openxmlformats.org/officeDocument/2006/relationships/image" Target="../media/image-8-73.png"/><Relationship Id="rId74" Type="http://schemas.openxmlformats.org/officeDocument/2006/relationships/image" Target="../media/image-8-74.svg"/><Relationship Id="rId75" Type="http://schemas.openxmlformats.org/officeDocument/2006/relationships/image" Target="../media/image-8-75.png"/><Relationship Id="rId76" Type="http://schemas.openxmlformats.org/officeDocument/2006/relationships/image" Target="../media/image-8-76.svg"/><Relationship Id="rId77" Type="http://schemas.openxmlformats.org/officeDocument/2006/relationships/image" Target="../media/image-8-77.png"/><Relationship Id="rId78" Type="http://schemas.openxmlformats.org/officeDocument/2006/relationships/image" Target="../media/image-8-78.svg"/><Relationship Id="rId79" Type="http://schemas.openxmlformats.org/officeDocument/2006/relationships/image" Target="../media/image-8-79.png"/><Relationship Id="rId80" Type="http://schemas.openxmlformats.org/officeDocument/2006/relationships/image" Target="../media/image-8-80.svg"/><Relationship Id="rId81" Type="http://schemas.openxmlformats.org/officeDocument/2006/relationships/image" Target="../media/image-8-81.png"/><Relationship Id="rId82" Type="http://schemas.openxmlformats.org/officeDocument/2006/relationships/image" Target="../media/image-8-82.svg"/><Relationship Id="rId83" Type="http://schemas.openxmlformats.org/officeDocument/2006/relationships/image" Target="../media/image-8-83.png"/><Relationship Id="rId84" Type="http://schemas.openxmlformats.org/officeDocument/2006/relationships/image" Target="../media/image-8-84.svg"/><Relationship Id="rId85" Type="http://schemas.openxmlformats.org/officeDocument/2006/relationships/image" Target="../media/image-8-85.png"/><Relationship Id="rId86" Type="http://schemas.openxmlformats.org/officeDocument/2006/relationships/image" Target="../media/image-8-86.svg"/><Relationship Id="rId87" Type="http://schemas.openxmlformats.org/officeDocument/2006/relationships/image" Target="../media/image-8-87.png"/><Relationship Id="rId88" Type="http://schemas.openxmlformats.org/officeDocument/2006/relationships/image" Target="../media/image-8-88.svg"/><Relationship Id="rId89" Type="http://schemas.openxmlformats.org/officeDocument/2006/relationships/image" Target="../media/image-8-89.png"/><Relationship Id="rId90" Type="http://schemas.openxmlformats.org/officeDocument/2006/relationships/image" Target="../media/image-8-90.svg"/><Relationship Id="rId91" Type="http://schemas.openxmlformats.org/officeDocument/2006/relationships/slideLayout" Target="../slideLayouts/slideLayout1.xml"/><Relationship Id="rId9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57250" y="225586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857250" y="4145161"/>
            <a:ext cx="300038" cy="3000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685800"/>
            <a:ext cx="742950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文化沙龙 · 中期田野分享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57250" y="1035062"/>
            <a:ext cx="7429500" cy="10072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驻村四日：一个明清古村落的田野观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察笔记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57250" y="2455887"/>
            <a:ext cx="7429500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空心化、文化记忆断层与保护开发错位——中期田野分享（初步观察，存疑待考）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70136" y="4132659"/>
            <a:ext cx="2328863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田野记录者 · 驻村第 1–4 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70136" y="4316611"/>
            <a:ext cx="232886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本页起所有村落事实均来自 4 日驻村笔记，未经交叉验证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5097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8141196" y="1208410"/>
            <a:ext cx="78581" cy="78581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" name="Text 3"/>
          <p:cNvSpPr/>
          <p:nvPr/>
        </p:nvSpPr>
        <p:spPr>
          <a:xfrm>
            <a:off x="8255496" y="1172691"/>
            <a:ext cx="1059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427839" y="1208410"/>
            <a:ext cx="78581" cy="78581"/>
          </a:xfrm>
          <a:prstGeom prst="ellipse">
            <a:avLst/>
          </a:prstGeom>
          <a:ln w="6191">
            <a:solidFill>
              <a:srgbClr val="C964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33197" y="1215554"/>
            <a:ext cx="35719" cy="64294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8" name="Text 6"/>
          <p:cNvSpPr/>
          <p:nvPr/>
        </p:nvSpPr>
        <p:spPr>
          <a:xfrm>
            <a:off x="8542139" y="1172691"/>
            <a:ext cx="1059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714482" y="1208410"/>
            <a:ext cx="78581" cy="78581"/>
          </a:xfrm>
          <a:prstGeom prst="ellipse">
            <a:avLst/>
          </a:prstGeom>
          <a:ln w="6191">
            <a:solidFill>
              <a:srgbClr val="C96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28782" y="1172691"/>
            <a:ext cx="1059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低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260872" y="1497732"/>
            <a:ext cx="6622256" cy="14288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4438" y="1458441"/>
            <a:ext cx="92869" cy="92869"/>
          </a:xfrm>
          <a:prstGeom prst="ellipse">
            <a:avLst/>
          </a:prstGeom>
          <a:solidFill>
            <a:srgbClr val="FFFFFF"/>
          </a:solidFill>
          <a:ln w="18574">
            <a:solidFill>
              <a:srgbClr val="C964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313" y="1563142"/>
            <a:ext cx="2093119" cy="1400175"/>
          </a:xfrm>
          <a:prstGeom prst="roundRect">
            <a:avLst>
              <a:gd name="adj" fmla="val 3998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4684" y="1733476"/>
            <a:ext cx="78581" cy="78581"/>
          </a:xfrm>
          <a:prstGeom prst="ellipse">
            <a:avLst/>
          </a:prstGeom>
          <a:ln w="6191">
            <a:solidFill>
              <a:srgbClr val="C964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60041" y="1740619"/>
            <a:ext cx="35719" cy="64294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6" name="Text 14"/>
          <p:cNvSpPr/>
          <p:nvPr/>
        </p:nvSpPr>
        <p:spPr>
          <a:xfrm>
            <a:off x="1868984" y="1697757"/>
            <a:ext cx="3178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中偏低</a:t>
            </a:r>
            <a:endParaRPr lang="en-US" sz="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044" y="2621477"/>
            <a:ext cx="1821656" cy="22145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421856" y="1458441"/>
            <a:ext cx="92869" cy="92869"/>
          </a:xfrm>
          <a:prstGeom prst="ellipse">
            <a:avLst/>
          </a:prstGeom>
          <a:solidFill>
            <a:srgbClr val="FFFFFF"/>
          </a:solidFill>
          <a:ln w="18574">
            <a:solidFill>
              <a:srgbClr val="C964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21731" y="1563142"/>
            <a:ext cx="2093119" cy="1400175"/>
          </a:xfrm>
          <a:prstGeom prst="roundRect">
            <a:avLst>
              <a:gd name="adj" fmla="val 3998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3913" y="1733476"/>
            <a:ext cx="78581" cy="78581"/>
          </a:xfrm>
          <a:prstGeom prst="ellipse">
            <a:avLst/>
          </a:prstGeom>
          <a:ln w="6191">
            <a:solidFill>
              <a:srgbClr val="C964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78213" y="1697757"/>
            <a:ext cx="1059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低</a:t>
            </a:r>
            <a:endParaRPr lang="en-US" sz="7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7462" y="2621477"/>
            <a:ext cx="1821656" cy="2214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629275" y="1458441"/>
            <a:ext cx="92869" cy="92869"/>
          </a:xfrm>
          <a:prstGeom prst="ellipse">
            <a:avLst/>
          </a:prstGeom>
          <a:solidFill>
            <a:srgbClr val="FFFFFF"/>
          </a:solidFill>
          <a:ln w="18574">
            <a:solidFill>
              <a:srgbClr val="C9644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29150" y="1563142"/>
            <a:ext cx="2093119" cy="1400175"/>
          </a:xfrm>
          <a:prstGeom prst="roundRect">
            <a:avLst>
              <a:gd name="adj" fmla="val 3998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71332" y="1733476"/>
            <a:ext cx="78581" cy="78581"/>
          </a:xfrm>
          <a:prstGeom prst="ellipse">
            <a:avLst/>
          </a:prstGeom>
          <a:ln w="6191">
            <a:solidFill>
              <a:srgbClr val="C9644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376690" y="1740619"/>
            <a:ext cx="35719" cy="64294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27" name="Text 23"/>
          <p:cNvSpPr/>
          <p:nvPr/>
        </p:nvSpPr>
        <p:spPr>
          <a:xfrm>
            <a:off x="6485632" y="1697757"/>
            <a:ext cx="1059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</a:t>
            </a:r>
            <a:endParaRPr lang="en-US" sz="7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4881" y="2621477"/>
            <a:ext cx="1821656" cy="221456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836694" y="1458441"/>
            <a:ext cx="92869" cy="92869"/>
          </a:xfrm>
          <a:prstGeom prst="ellipse">
            <a:avLst/>
          </a:prstGeom>
          <a:solidFill>
            <a:srgbClr val="FFFFFF"/>
          </a:solidFill>
          <a:ln w="18574">
            <a:solidFill>
              <a:srgbClr val="C9644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836569" y="1563142"/>
            <a:ext cx="2093119" cy="1400175"/>
          </a:xfrm>
          <a:prstGeom prst="roundRect">
            <a:avLst>
              <a:gd name="adj" fmla="val 3998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578751" y="1733476"/>
            <a:ext cx="78581" cy="78581"/>
          </a:xfrm>
          <a:prstGeom prst="ellipse">
            <a:avLst/>
          </a:prstGeom>
          <a:ln w="6191">
            <a:solidFill>
              <a:srgbClr val="C9644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584109" y="1740619"/>
            <a:ext cx="35719" cy="64294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33" name="Text 28"/>
          <p:cNvSpPr/>
          <p:nvPr/>
        </p:nvSpPr>
        <p:spPr>
          <a:xfrm>
            <a:off x="8693051" y="1697757"/>
            <a:ext cx="10595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</a:t>
            </a:r>
            <a:endParaRPr lang="en-US" sz="7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2300" y="2621477"/>
            <a:ext cx="1821656" cy="221456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214536" y="3078231"/>
            <a:ext cx="3314700" cy="1214438"/>
          </a:xfrm>
          <a:prstGeom prst="roundRect">
            <a:avLst>
              <a:gd name="adj" fmla="val 5315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50044" y="3877605"/>
            <a:ext cx="28575" cy="28575"/>
          </a:xfrm>
          <a:prstGeom prst="ellipse">
            <a:avLst/>
          </a:prstGeom>
          <a:solidFill>
            <a:srgbClr val="87867F"/>
          </a:solidFill>
          <a:ln/>
        </p:spPr>
      </p:sp>
      <p:sp>
        <p:nvSpPr>
          <p:cNvPr id="37" name="Shape 31"/>
          <p:cNvSpPr/>
          <p:nvPr/>
        </p:nvSpPr>
        <p:spPr>
          <a:xfrm>
            <a:off x="1907604" y="3877605"/>
            <a:ext cx="28575" cy="28575"/>
          </a:xfrm>
          <a:prstGeom prst="ellipse">
            <a:avLst/>
          </a:prstGeom>
          <a:solidFill>
            <a:srgbClr val="87867F"/>
          </a:solidFill>
          <a:ln/>
        </p:spPr>
      </p:sp>
      <p:sp>
        <p:nvSpPr>
          <p:cNvPr id="38" name="Shape 32"/>
          <p:cNvSpPr/>
          <p:nvPr/>
        </p:nvSpPr>
        <p:spPr>
          <a:xfrm>
            <a:off x="350044" y="4077742"/>
            <a:ext cx="28575" cy="28575"/>
          </a:xfrm>
          <a:prstGeom prst="ellipse">
            <a:avLst/>
          </a:prstGeom>
          <a:solidFill>
            <a:srgbClr val="87867F"/>
          </a:solidFill>
          <a:ln/>
        </p:spPr>
      </p:sp>
      <p:sp>
        <p:nvSpPr>
          <p:cNvPr id="39" name="Shape 33"/>
          <p:cNvSpPr/>
          <p:nvPr/>
        </p:nvSpPr>
        <p:spPr>
          <a:xfrm>
            <a:off x="1907604" y="4077742"/>
            <a:ext cx="28575" cy="28575"/>
          </a:xfrm>
          <a:prstGeom prst="ellipse">
            <a:avLst/>
          </a:prstGeom>
          <a:solidFill>
            <a:srgbClr val="87867F"/>
          </a:solidFill>
          <a:ln/>
        </p:spPr>
      </p:sp>
      <p:sp>
        <p:nvSpPr>
          <p:cNvPr id="40" name="Shape 34"/>
          <p:cNvSpPr/>
          <p:nvPr/>
        </p:nvSpPr>
        <p:spPr>
          <a:xfrm>
            <a:off x="3644652" y="3078231"/>
            <a:ext cx="2650331" cy="1214438"/>
          </a:xfrm>
          <a:prstGeom prst="roundRect">
            <a:avLst>
              <a:gd name="adj" fmla="val 5315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3779490" y="3484476"/>
            <a:ext cx="28575" cy="28575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42" name="Shape 36"/>
          <p:cNvSpPr/>
          <p:nvPr/>
        </p:nvSpPr>
        <p:spPr>
          <a:xfrm>
            <a:off x="3779490" y="3670325"/>
            <a:ext cx="28575" cy="28575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43" name="Shape 37"/>
          <p:cNvSpPr/>
          <p:nvPr/>
        </p:nvSpPr>
        <p:spPr>
          <a:xfrm>
            <a:off x="3779490" y="3856174"/>
            <a:ext cx="28575" cy="28575"/>
          </a:xfrm>
          <a:prstGeom prst="ellipse">
            <a:avLst/>
          </a:prstGeom>
          <a:solidFill>
            <a:srgbClr val="C96442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80383" y="3949210"/>
            <a:ext cx="2378869" cy="221456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6409060" y="3078231"/>
            <a:ext cx="2521744" cy="1214438"/>
          </a:xfrm>
          <a:prstGeom prst="roundRect">
            <a:avLst>
              <a:gd name="adj" fmla="val 5315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4791" y="3949210"/>
            <a:ext cx="2250281" cy="221456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214313" y="412552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四日行迹：一份只有四天的田野笔记，能说什么、不能说什么</a:t>
            </a:r>
            <a:endParaRPr lang="en-US" sz="1900" dirty="0"/>
          </a:p>
        </p:txBody>
      </p:sp>
      <p:sp>
        <p:nvSpPr>
          <p:cNvPr id="48" name="Text 40"/>
          <p:cNvSpPr/>
          <p:nvPr/>
        </p:nvSpPr>
        <p:spPr>
          <a:xfrm>
            <a:off x="214368" y="1161976"/>
            <a:ext cx="537210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四天驻村笔记拼出一张证据地图：本页只交代证据从哪来、能核到什么程度、边界在哪里，不下任何结论。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7563948" y="1172691"/>
            <a:ext cx="507206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可核验程度</a:t>
            </a:r>
            <a:endParaRPr lang="en-US" sz="700" dirty="0"/>
          </a:p>
        </p:txBody>
      </p:sp>
      <p:sp>
        <p:nvSpPr>
          <p:cNvPr id="50" name="Text 42"/>
          <p:cNvSpPr/>
          <p:nvPr/>
        </p:nvSpPr>
        <p:spPr>
          <a:xfrm>
            <a:off x="351774" y="1683469"/>
            <a:ext cx="400050" cy="178594"/>
          </a:xfrm>
          <a:prstGeom prst="roundRect">
            <a:avLst>
              <a:gd name="adj" fmla="val 40960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 1</a:t>
            </a:r>
            <a:endParaRPr lang="en-US" sz="700" dirty="0"/>
          </a:p>
        </p:txBody>
      </p:sp>
      <p:sp>
        <p:nvSpPr>
          <p:cNvPr id="51" name="Text 43"/>
          <p:cNvSpPr/>
          <p:nvPr/>
        </p:nvSpPr>
        <p:spPr>
          <a:xfrm>
            <a:off x="350044" y="1918488"/>
            <a:ext cx="1821656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进村清点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350044" y="2139218"/>
            <a:ext cx="1821656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“现存明清老宅约40栋，住人不到一半”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（估算/口述，待核）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350044" y="2621477"/>
            <a:ext cx="1821656" cy="221456"/>
          </a:xfrm>
          <a:prstGeom prst="rect">
            <a:avLst/>
          </a:prstGeom>
          <a:ln/>
        </p:spPr>
        <p:txBody>
          <a:bodyPr wrap="none" lIns="0" tIns="60722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现场目测＋走访印象 · 无逐栋台账</a:t>
            </a:r>
            <a:endParaRPr lang="en-US" sz="700" dirty="0"/>
          </a:p>
        </p:txBody>
      </p:sp>
      <p:sp>
        <p:nvSpPr>
          <p:cNvPr id="54" name="Text 46"/>
          <p:cNvSpPr/>
          <p:nvPr/>
        </p:nvSpPr>
        <p:spPr>
          <a:xfrm>
            <a:off x="2555956" y="1683469"/>
            <a:ext cx="414338" cy="178594"/>
          </a:xfrm>
          <a:prstGeom prst="roundRect">
            <a:avLst>
              <a:gd name="adj" fmla="val 40960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 2</a:t>
            </a:r>
            <a:endParaRPr lang="en-US" sz="700" dirty="0"/>
          </a:p>
        </p:txBody>
      </p:sp>
      <p:sp>
        <p:nvSpPr>
          <p:cNvPr id="55" name="Text 47"/>
          <p:cNvSpPr/>
          <p:nvPr/>
        </p:nvSpPr>
        <p:spPr>
          <a:xfrm>
            <a:off x="2557462" y="1918488"/>
            <a:ext cx="1821656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老人访谈</a:t>
            </a:r>
            <a:endParaRPr lang="en-US" sz="1000" dirty="0"/>
          </a:p>
        </p:txBody>
      </p:sp>
      <p:sp>
        <p:nvSpPr>
          <p:cNvPr id="56" name="Text 48"/>
          <p:cNvSpPr/>
          <p:nvPr/>
        </p:nvSpPr>
        <p:spPr>
          <a:xfrm>
            <a:off x="2557462" y="2139218"/>
            <a:ext cx="1821656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“祠堂以前每年清明祭祖，现在三年一次”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（口述，起始年份不详，待核）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2557462" y="2621477"/>
            <a:ext cx="1821656" cy="221456"/>
          </a:xfrm>
          <a:prstGeom prst="rect">
            <a:avLst/>
          </a:prstGeom>
          <a:ln/>
        </p:spPr>
        <p:txBody>
          <a:bodyPr wrap="none" lIns="0" tIns="60722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多位老人访谈口述 · 未交叉验证</a:t>
            </a:r>
            <a:endParaRPr lang="en-US" sz="700" dirty="0"/>
          </a:p>
        </p:txBody>
      </p:sp>
      <p:sp>
        <p:nvSpPr>
          <p:cNvPr id="58" name="Text 50"/>
          <p:cNvSpPr/>
          <p:nvPr/>
        </p:nvSpPr>
        <p:spPr>
          <a:xfrm>
            <a:off x="4763263" y="1683469"/>
            <a:ext cx="414338" cy="178594"/>
          </a:xfrm>
          <a:prstGeom prst="roundRect">
            <a:avLst>
              <a:gd name="adj" fmla="val 40960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 3</a:t>
            </a:r>
            <a:endParaRPr lang="en-US" sz="700" dirty="0"/>
          </a:p>
        </p:txBody>
      </p:sp>
      <p:sp>
        <p:nvSpPr>
          <p:cNvPr id="59" name="Text 51"/>
          <p:cNvSpPr/>
          <p:nvPr/>
        </p:nvSpPr>
        <p:spPr>
          <a:xfrm>
            <a:off x="4764881" y="1918488"/>
            <a:ext cx="1821656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民居形制 · 天井院落式</a:t>
            </a:r>
            <a:endParaRPr lang="en-US" sz="1000" dirty="0"/>
          </a:p>
        </p:txBody>
      </p:sp>
      <p:sp>
        <p:nvSpPr>
          <p:cNvPr id="60" name="Text 52"/>
          <p:cNvSpPr/>
          <p:nvPr/>
        </p:nvSpPr>
        <p:spPr>
          <a:xfrm>
            <a:off x="4764881" y="2137432"/>
            <a:ext cx="1821656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“几栋木雕风格明显不同，村民说是‘外姓人’建的，来历说不清”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（笔记原词，未逐栋建档）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4764881" y="2621477"/>
            <a:ext cx="1821656" cy="221456"/>
          </a:xfrm>
          <a:prstGeom prst="rect">
            <a:avLst/>
          </a:prstGeom>
          <a:ln/>
        </p:spPr>
        <p:txBody>
          <a:bodyPr wrap="none" lIns="0" tIns="60722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现场观察＋村民转述 · 单源未交叉验证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6970514" y="1683469"/>
            <a:ext cx="414338" cy="178594"/>
          </a:xfrm>
          <a:prstGeom prst="roundRect">
            <a:avLst>
              <a:gd name="adj" fmla="val 40960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 4</a:t>
            </a:r>
            <a:endParaRPr lang="en-US" sz="700" dirty="0"/>
          </a:p>
        </p:txBody>
      </p:sp>
      <p:sp>
        <p:nvSpPr>
          <p:cNvPr id="63" name="Text 55"/>
          <p:cNvSpPr/>
          <p:nvPr/>
        </p:nvSpPr>
        <p:spPr>
          <a:xfrm>
            <a:off x="6972300" y="1918488"/>
            <a:ext cx="1821656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开发观察</a:t>
            </a:r>
            <a:endParaRPr lang="en-US" sz="1000" dirty="0"/>
          </a:p>
        </p:txBody>
      </p:sp>
      <p:sp>
        <p:nvSpPr>
          <p:cNvPr id="64" name="Text 56"/>
          <p:cNvSpPr/>
          <p:nvPr/>
        </p:nvSpPr>
        <p:spPr>
          <a:xfrm>
            <a:off x="6972300" y="2139218"/>
            <a:ext cx="1821656" cy="3214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“村里搞旅游开发，新修了仿古街，老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宅本体保护反而没钱投”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6972300" y="2621477"/>
            <a:ext cx="1821656" cy="221456"/>
          </a:xfrm>
          <a:prstGeom prst="rect">
            <a:avLst/>
          </a:prstGeom>
          <a:ln/>
        </p:spPr>
        <p:txBody>
          <a:bodyPr wrap="none" lIns="0" tIns="60722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现场观察 · 资金与保护投入未查公示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350267" y="3199451"/>
            <a:ext cx="304323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本次分享的边界</a:t>
            </a:r>
            <a:endParaRPr lang="en-US" sz="1000" dirty="0"/>
          </a:p>
        </p:txBody>
      </p:sp>
      <p:sp>
        <p:nvSpPr>
          <p:cNvPr id="67" name="Text 59"/>
          <p:cNvSpPr/>
          <p:nvPr/>
        </p:nvSpPr>
        <p:spPr>
          <a:xfrm>
            <a:off x="350267" y="3420238"/>
            <a:ext cx="322583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驻村仅 4 天、未多方交叉，全篇为</a:t>
            </a:r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初步观察，而非研究结论</a:t>
            </a:r>
            <a:endParaRPr lang="en-US" sz="700" dirty="0"/>
          </a:p>
        </p:txBody>
      </p:sp>
      <p:sp>
        <p:nvSpPr>
          <p:cNvPr id="68" name="Text 60"/>
          <p:cNvSpPr/>
          <p:nvPr/>
        </p:nvSpPr>
        <p:spPr>
          <a:xfrm>
            <a:off x="421481" y="3827655"/>
            <a:ext cx="11001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未做系统测绘与逐栋建档</a:t>
            </a:r>
            <a:endParaRPr lang="en-US" sz="700" dirty="0"/>
          </a:p>
        </p:txBody>
      </p:sp>
      <p:sp>
        <p:nvSpPr>
          <p:cNvPr id="69" name="Text 61"/>
          <p:cNvSpPr/>
          <p:nvPr/>
        </p:nvSpPr>
        <p:spPr>
          <a:xfrm>
            <a:off x="1979042" y="3827655"/>
            <a:ext cx="130016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未查族谱原件、地方志与碑刻</a:t>
            </a:r>
            <a:endParaRPr lang="en-US" sz="700" dirty="0"/>
          </a:p>
        </p:txBody>
      </p:sp>
      <p:sp>
        <p:nvSpPr>
          <p:cNvPr id="70" name="Text 62"/>
          <p:cNvSpPr/>
          <p:nvPr/>
        </p:nvSpPr>
        <p:spPr>
          <a:xfrm>
            <a:off x="421481" y="4027791"/>
            <a:ext cx="100012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未与村委及开发方核实</a:t>
            </a:r>
            <a:endParaRPr lang="en-US" sz="700" dirty="0"/>
          </a:p>
        </p:txBody>
      </p:sp>
      <p:sp>
        <p:nvSpPr>
          <p:cNvPr id="71" name="Text 63"/>
          <p:cNvSpPr/>
          <p:nvPr/>
        </p:nvSpPr>
        <p:spPr>
          <a:xfrm>
            <a:off x="1979042" y="4027791"/>
            <a:ext cx="130016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未做扩样多源访谈与交叉验证</a:t>
            </a:r>
            <a:endParaRPr lang="en-US" sz="700" dirty="0"/>
          </a:p>
        </p:txBody>
      </p:sp>
      <p:sp>
        <p:nvSpPr>
          <p:cNvPr id="72" name="Text 64"/>
          <p:cNvSpPr/>
          <p:nvPr/>
        </p:nvSpPr>
        <p:spPr>
          <a:xfrm>
            <a:off x="3780383" y="3199451"/>
            <a:ext cx="2521601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三条待验主线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（不排序、不取舍）</a:t>
            </a:r>
            <a:endParaRPr lang="en-US" sz="1000" dirty="0"/>
          </a:p>
        </p:txBody>
      </p:sp>
      <p:sp>
        <p:nvSpPr>
          <p:cNvPr id="73" name="Text 65"/>
          <p:cNvSpPr/>
          <p:nvPr/>
        </p:nvSpPr>
        <p:spPr>
          <a:xfrm>
            <a:off x="3850928" y="3434525"/>
            <a:ext cx="3000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空心化</a:t>
            </a:r>
            <a:endParaRPr lang="en-US" sz="700" dirty="0"/>
          </a:p>
        </p:txBody>
      </p:sp>
      <p:sp>
        <p:nvSpPr>
          <p:cNvPr id="74" name="Text 66"/>
          <p:cNvSpPr/>
          <p:nvPr/>
        </p:nvSpPr>
        <p:spPr>
          <a:xfrm>
            <a:off x="3850928" y="3620374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文化记忆断层</a:t>
            </a:r>
            <a:endParaRPr lang="en-US" sz="700" dirty="0"/>
          </a:p>
        </p:txBody>
      </p:sp>
      <p:sp>
        <p:nvSpPr>
          <p:cNvPr id="75" name="Text 67"/>
          <p:cNvSpPr/>
          <p:nvPr/>
        </p:nvSpPr>
        <p:spPr>
          <a:xfrm>
            <a:off x="3850928" y="3806223"/>
            <a:ext cx="70008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保护与开发错位</a:t>
            </a:r>
            <a:endParaRPr lang="en-US" sz="700" dirty="0"/>
          </a:p>
        </p:txBody>
      </p:sp>
      <p:sp>
        <p:nvSpPr>
          <p:cNvPr id="76" name="Text 68"/>
          <p:cNvSpPr/>
          <p:nvPr/>
        </p:nvSpPr>
        <p:spPr>
          <a:xfrm>
            <a:off x="3780383" y="3949210"/>
            <a:ext cx="2378869" cy="221456"/>
          </a:xfrm>
          <a:prstGeom prst="rect">
            <a:avLst/>
          </a:prstGeom>
          <a:ln/>
        </p:spPr>
        <p:txBody>
          <a:bodyPr wrap="none" lIns="0" tIns="60722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并列待验 → 存疑清单 · 线索征集</a:t>
            </a:r>
            <a:endParaRPr lang="en-US" sz="700" dirty="0"/>
          </a:p>
        </p:txBody>
      </p:sp>
      <p:sp>
        <p:nvSpPr>
          <p:cNvPr id="77" name="Text 69"/>
          <p:cNvSpPr/>
          <p:nvPr/>
        </p:nvSpPr>
        <p:spPr>
          <a:xfrm>
            <a:off x="6545963" y="3200121"/>
            <a:ext cx="678656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方法论参照</a:t>
            </a:r>
            <a:endParaRPr lang="en-US" sz="1000" dirty="0"/>
          </a:p>
        </p:txBody>
      </p:sp>
      <p:sp>
        <p:nvSpPr>
          <p:cNvPr id="78" name="Text 70"/>
          <p:cNvSpPr/>
          <p:nvPr/>
        </p:nvSpPr>
        <p:spPr>
          <a:xfrm>
            <a:off x="7283555" y="3200177"/>
            <a:ext cx="514350" cy="164306"/>
          </a:xfrm>
          <a:prstGeom prst="roundRect">
            <a:avLst>
              <a:gd name="adj" fmla="val 48393"/>
            </a:avLst>
          </a:prstGeom>
          <a:solidFill>
            <a:srgbClr val="E8E6DC"/>
          </a:solidFill>
          <a:ln/>
        </p:spPr>
        <p:txBody>
          <a:bodyPr wrap="none" lIns="48578" tIns="6072" rIns="48578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外部参照</a:t>
            </a:r>
            <a:endParaRPr lang="en-US" sz="700" dirty="0"/>
          </a:p>
        </p:txBody>
      </p:sp>
      <p:sp>
        <p:nvSpPr>
          <p:cNvPr id="79" name="Text 71"/>
          <p:cNvSpPr/>
          <p:nvPr/>
        </p:nvSpPr>
        <p:spPr>
          <a:xfrm>
            <a:off x="6544791" y="3436534"/>
            <a:ext cx="2250281" cy="4786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笔记分层《如何做田野笔记》· 参与观察时长门槛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Fetterman · 三角互证 Denzin · 立档调查口径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《中国传统村落立档调查田野手册》</a:t>
            </a:r>
            <a:endParaRPr lang="en-US" sz="700" dirty="0"/>
          </a:p>
        </p:txBody>
      </p:sp>
      <p:sp>
        <p:nvSpPr>
          <p:cNvPr id="80" name="Text 72"/>
          <p:cNvSpPr/>
          <p:nvPr/>
        </p:nvSpPr>
        <p:spPr>
          <a:xfrm>
            <a:off x="6544791" y="3949210"/>
            <a:ext cx="2250281" cy="221456"/>
          </a:xfrm>
          <a:prstGeom prst="rect">
            <a:avLst/>
          </a:prstGeom>
          <a:ln/>
        </p:spPr>
        <p:txBody>
          <a:bodyPr wrap="none" lIns="0" tIns="60722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仅作方法论对照，非本村事实</a:t>
            </a:r>
            <a:endParaRPr lang="en-US" sz="700" dirty="0"/>
          </a:p>
        </p:txBody>
      </p:sp>
      <p:sp>
        <p:nvSpPr>
          <p:cNvPr id="81" name="Text 73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来源：用户田野笔记 Day1—Day4｜可核验程度评级依据笔记自述，非结论｜数值均为估算/口述，待核 · 初步观察，存疑待考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50131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400287"/>
            <a:ext cx="3629025" cy="2428875"/>
          </a:xfrm>
          <a:prstGeom prst="roundRect">
            <a:avLst>
              <a:gd name="adj" fmla="val 1329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5756" y="3429000"/>
            <a:ext cx="71438" cy="714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450056" y="3393281"/>
            <a:ext cx="15708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住人（填充17格为示意，非实测）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060414" y="3429000"/>
            <a:ext cx="71438" cy="71438"/>
          </a:xfrm>
          <a:prstGeom prst="ellipse">
            <a:avLst/>
          </a:prstGeom>
          <a:solidFill>
            <a:srgbClr val="E8E6DC"/>
          </a:solidFill>
          <a:ln/>
        </p:spPr>
      </p:sp>
      <p:sp>
        <p:nvSpPr>
          <p:cNvPr id="8" name="Text 6"/>
          <p:cNvSpPr/>
          <p:nvPr/>
        </p:nvSpPr>
        <p:spPr>
          <a:xfrm>
            <a:off x="2174714" y="3393281"/>
            <a:ext cx="6300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未住或不确定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957638" y="1400287"/>
            <a:ext cx="3000375" cy="2428875"/>
          </a:xfrm>
          <a:prstGeom prst="roundRect">
            <a:avLst>
              <a:gd name="adj" fmla="val 1329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2728" y="2000250"/>
            <a:ext cx="0" cy="692944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97078" y="2000250"/>
            <a:ext cx="0" cy="692944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8572" y="2000250"/>
            <a:ext cx="0" cy="692944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2922" y="2000250"/>
            <a:ext cx="0" cy="692944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54416" y="2000250"/>
            <a:ext cx="0" cy="692944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682728" y="2000250"/>
            <a:ext cx="0" cy="692944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373" y="2854642"/>
            <a:ext cx="31832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占约40栋的比例（%，示意区间，非实测）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3539014" y="2459950"/>
            <a:ext cx="108299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未住或不确定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139089" y="2113478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住人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4512707" y="2726055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955619" y="27260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25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5473541" y="27260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50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5991463" y="2726055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75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6434376" y="272605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100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4679156" y="2434233"/>
            <a:ext cx="1035844" cy="171450"/>
          </a:xfrm>
          <a:custGeom>
            <a:avLst/>
            <a:gdLst/>
            <a:ahLst/>
            <a:cxnLst/>
            <a:rect l="l" t="t" r="r" b="b"/>
            <a:pathLst>
              <a:path w="1035844" h="171450">
                <a:moveTo>
                  <a:pt x="0" y="0"/>
                </a:moveTo>
                <a:lnTo>
                  <a:pt x="1035844" y="0"/>
                </a:lnTo>
                <a:lnTo>
                  <a:pt x="1035844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25" name="Shape 23"/>
          <p:cNvSpPr/>
          <p:nvPr/>
        </p:nvSpPr>
        <p:spPr>
          <a:xfrm>
            <a:off x="4679156" y="2087761"/>
            <a:ext cx="0" cy="171450"/>
          </a:xfrm>
          <a:custGeom>
            <a:avLst/>
            <a:gdLst/>
            <a:ahLst/>
            <a:cxnLst/>
            <a:rect l="l" t="t" r="r" b="b"/>
            <a:pathLst>
              <a:path w="0" h="171450">
                <a:moveTo>
                  <a:pt x="0" y="0"/>
                </a:moveTo>
                <a:lnTo>
                  <a:pt x="0" y="0"/>
                </a:lnTo>
                <a:lnTo>
                  <a:pt x="0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26" name="Shape 24"/>
          <p:cNvSpPr/>
          <p:nvPr/>
        </p:nvSpPr>
        <p:spPr>
          <a:xfrm>
            <a:off x="5715000" y="2434233"/>
            <a:ext cx="0" cy="171450"/>
          </a:xfrm>
          <a:custGeom>
            <a:avLst/>
            <a:gdLst/>
            <a:ahLst/>
            <a:cxnLst/>
            <a:rect l="l" t="t" r="r" b="b"/>
            <a:pathLst>
              <a:path w="0" h="171450">
                <a:moveTo>
                  <a:pt x="0" y="0"/>
                </a:moveTo>
                <a:lnTo>
                  <a:pt x="0" y="0"/>
                </a:lnTo>
                <a:lnTo>
                  <a:pt x="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79156" y="2087761"/>
            <a:ext cx="1035844" cy="171450"/>
          </a:xfrm>
          <a:custGeom>
            <a:avLst/>
            <a:gdLst/>
            <a:ahLst/>
            <a:cxnLst/>
            <a:rect l="l" t="t" r="r" b="b"/>
            <a:pathLst>
              <a:path w="1035844" h="171450">
                <a:moveTo>
                  <a:pt x="0" y="0"/>
                </a:moveTo>
                <a:lnTo>
                  <a:pt x="1035844" y="0"/>
                </a:lnTo>
                <a:lnTo>
                  <a:pt x="1035844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28" name="Shape 26"/>
          <p:cNvSpPr/>
          <p:nvPr/>
        </p:nvSpPr>
        <p:spPr>
          <a:xfrm>
            <a:off x="5715000" y="2434233"/>
            <a:ext cx="1035844" cy="171450"/>
          </a:xfrm>
          <a:custGeom>
            <a:avLst/>
            <a:gdLst/>
            <a:ahLst/>
            <a:cxnLst/>
            <a:rect l="l" t="t" r="r" b="b"/>
            <a:pathLst>
              <a:path w="1035844" h="171450">
                <a:moveTo>
                  <a:pt x="0" y="0"/>
                </a:moveTo>
                <a:lnTo>
                  <a:pt x="1035844" y="0"/>
                </a:lnTo>
                <a:lnTo>
                  <a:pt x="1035844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E8E6DC"/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0" y="2087761"/>
            <a:ext cx="0" cy="171450"/>
          </a:xfrm>
          <a:custGeom>
            <a:avLst/>
            <a:gdLst/>
            <a:ahLst/>
            <a:cxnLst/>
            <a:rect l="l" t="t" r="r" b="b"/>
            <a:pathLst>
              <a:path w="0" h="171450">
                <a:moveTo>
                  <a:pt x="0" y="0"/>
                </a:moveTo>
                <a:lnTo>
                  <a:pt x="0" y="0"/>
                </a:lnTo>
                <a:lnTo>
                  <a:pt x="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E8E6DC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306" y="2113478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 – ＜50%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5772150" y="2459950"/>
            <a:ext cx="183308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＞50% – 100%</a:t>
            </a:r>
            <a:endParaRPr lang="en-US" sz="788" dirty="0"/>
          </a:p>
        </p:txBody>
      </p:sp>
      <p:sp>
        <p:nvSpPr>
          <p:cNvPr id="32" name="Shape 30"/>
          <p:cNvSpPr/>
          <p:nvPr/>
        </p:nvSpPr>
        <p:spPr>
          <a:xfrm>
            <a:off x="4079081" y="1714500"/>
            <a:ext cx="1686133" cy="142875"/>
          </a:xfrm>
          <a:custGeom>
            <a:avLst/>
            <a:gdLst/>
            <a:ahLst/>
            <a:cxnLst/>
            <a:rect l="l" t="t" r="r" b="b"/>
            <a:pathLst>
              <a:path w="1686133" h="142875">
                <a:moveTo>
                  <a:pt x="0" y="0"/>
                </a:moveTo>
                <a:lnTo>
                  <a:pt x="1686133" y="0"/>
                </a:lnTo>
                <a:lnTo>
                  <a:pt x="1686133" y="142875"/>
                </a:lnTo>
                <a:lnTo>
                  <a:pt x="0" y="142875"/>
                </a:lnTo>
                <a:close/>
              </a:path>
            </a:pathLst>
          </a:custGeom>
          <a:noFill/>
          <a:ln/>
        </p:spPr>
      </p:sp>
      <p:sp>
        <p:nvSpPr>
          <p:cNvPr id="33" name="Shape 31"/>
          <p:cNvSpPr/>
          <p:nvPr/>
        </p:nvSpPr>
        <p:spPr>
          <a:xfrm>
            <a:off x="4114800" y="1757363"/>
            <a:ext cx="85725" cy="57150"/>
          </a:xfrm>
          <a:custGeom>
            <a:avLst/>
            <a:gdLst/>
            <a:ahLst/>
            <a:cxnLst/>
            <a:rect l="l" t="t" r="r" b="b"/>
            <a:pathLst>
              <a:path w="85725" h="57150">
                <a:moveTo>
                  <a:pt x="14288" y="0"/>
                </a:moveTo>
                <a:lnTo>
                  <a:pt x="71438" y="0"/>
                </a:lnTo>
                <a:lnTo>
                  <a:pt x="72139" y="17"/>
                </a:lnTo>
                <a:lnTo>
                  <a:pt x="72838" y="69"/>
                </a:lnTo>
                <a:lnTo>
                  <a:pt x="73534" y="155"/>
                </a:lnTo>
                <a:lnTo>
                  <a:pt x="74225" y="275"/>
                </a:lnTo>
                <a:lnTo>
                  <a:pt x="74909" y="428"/>
                </a:lnTo>
                <a:lnTo>
                  <a:pt x="75585" y="615"/>
                </a:lnTo>
                <a:lnTo>
                  <a:pt x="76251" y="835"/>
                </a:lnTo>
                <a:lnTo>
                  <a:pt x="76905" y="1088"/>
                </a:lnTo>
                <a:lnTo>
                  <a:pt x="77546" y="1372"/>
                </a:lnTo>
                <a:lnTo>
                  <a:pt x="78173" y="1687"/>
                </a:lnTo>
                <a:lnTo>
                  <a:pt x="78783" y="2033"/>
                </a:lnTo>
                <a:lnTo>
                  <a:pt x="79375" y="2408"/>
                </a:lnTo>
                <a:lnTo>
                  <a:pt x="79949" y="2812"/>
                </a:lnTo>
                <a:lnTo>
                  <a:pt x="80501" y="3243"/>
                </a:lnTo>
                <a:lnTo>
                  <a:pt x="81032" y="3701"/>
                </a:lnTo>
                <a:lnTo>
                  <a:pt x="81540" y="4185"/>
                </a:lnTo>
                <a:lnTo>
                  <a:pt x="82024" y="4693"/>
                </a:lnTo>
                <a:lnTo>
                  <a:pt x="82482" y="5224"/>
                </a:lnTo>
                <a:lnTo>
                  <a:pt x="82913" y="5776"/>
                </a:lnTo>
                <a:lnTo>
                  <a:pt x="83317" y="6350"/>
                </a:lnTo>
                <a:lnTo>
                  <a:pt x="83692" y="6942"/>
                </a:lnTo>
                <a:lnTo>
                  <a:pt x="84038" y="7552"/>
                </a:lnTo>
                <a:lnTo>
                  <a:pt x="84353" y="8179"/>
                </a:lnTo>
                <a:lnTo>
                  <a:pt x="84637" y="8820"/>
                </a:lnTo>
                <a:lnTo>
                  <a:pt x="84890" y="9474"/>
                </a:lnTo>
                <a:lnTo>
                  <a:pt x="85110" y="10140"/>
                </a:lnTo>
                <a:lnTo>
                  <a:pt x="85297" y="10816"/>
                </a:lnTo>
                <a:lnTo>
                  <a:pt x="85450" y="11500"/>
                </a:lnTo>
                <a:lnTo>
                  <a:pt x="85570" y="12191"/>
                </a:lnTo>
                <a:lnTo>
                  <a:pt x="85656" y="12887"/>
                </a:lnTo>
                <a:lnTo>
                  <a:pt x="85708" y="13586"/>
                </a:lnTo>
                <a:lnTo>
                  <a:pt x="85725" y="14288"/>
                </a:lnTo>
                <a:lnTo>
                  <a:pt x="85725" y="42863"/>
                </a:lnTo>
                <a:lnTo>
                  <a:pt x="85708" y="43564"/>
                </a:lnTo>
                <a:lnTo>
                  <a:pt x="85656" y="44263"/>
                </a:lnTo>
                <a:lnTo>
                  <a:pt x="85570" y="44959"/>
                </a:lnTo>
                <a:lnTo>
                  <a:pt x="85450" y="45650"/>
                </a:lnTo>
                <a:lnTo>
                  <a:pt x="85297" y="46334"/>
                </a:lnTo>
                <a:lnTo>
                  <a:pt x="85110" y="47010"/>
                </a:lnTo>
                <a:lnTo>
                  <a:pt x="84890" y="47676"/>
                </a:lnTo>
                <a:lnTo>
                  <a:pt x="84637" y="48330"/>
                </a:lnTo>
                <a:lnTo>
                  <a:pt x="84353" y="48971"/>
                </a:lnTo>
                <a:lnTo>
                  <a:pt x="84038" y="49598"/>
                </a:lnTo>
                <a:lnTo>
                  <a:pt x="83692" y="50208"/>
                </a:lnTo>
                <a:lnTo>
                  <a:pt x="83317" y="50800"/>
                </a:lnTo>
                <a:lnTo>
                  <a:pt x="82913" y="51374"/>
                </a:lnTo>
                <a:lnTo>
                  <a:pt x="82482" y="51926"/>
                </a:lnTo>
                <a:lnTo>
                  <a:pt x="82024" y="52457"/>
                </a:lnTo>
                <a:lnTo>
                  <a:pt x="81540" y="52965"/>
                </a:lnTo>
                <a:lnTo>
                  <a:pt x="81032" y="53449"/>
                </a:lnTo>
                <a:lnTo>
                  <a:pt x="80501" y="53907"/>
                </a:lnTo>
                <a:lnTo>
                  <a:pt x="79949" y="54338"/>
                </a:lnTo>
                <a:lnTo>
                  <a:pt x="79375" y="54742"/>
                </a:lnTo>
                <a:lnTo>
                  <a:pt x="78783" y="55117"/>
                </a:lnTo>
                <a:lnTo>
                  <a:pt x="78173" y="55463"/>
                </a:lnTo>
                <a:lnTo>
                  <a:pt x="77546" y="55778"/>
                </a:lnTo>
                <a:lnTo>
                  <a:pt x="76905" y="56062"/>
                </a:lnTo>
                <a:lnTo>
                  <a:pt x="76251" y="56315"/>
                </a:lnTo>
                <a:lnTo>
                  <a:pt x="75585" y="56535"/>
                </a:lnTo>
                <a:lnTo>
                  <a:pt x="74909" y="56722"/>
                </a:lnTo>
                <a:lnTo>
                  <a:pt x="74225" y="56875"/>
                </a:lnTo>
                <a:lnTo>
                  <a:pt x="73534" y="56995"/>
                </a:lnTo>
                <a:lnTo>
                  <a:pt x="72838" y="57081"/>
                </a:lnTo>
                <a:lnTo>
                  <a:pt x="72139" y="57133"/>
                </a:lnTo>
                <a:lnTo>
                  <a:pt x="71438" y="57150"/>
                </a:lnTo>
                <a:lnTo>
                  <a:pt x="14288" y="57150"/>
                </a:lnTo>
                <a:lnTo>
                  <a:pt x="13586" y="57133"/>
                </a:lnTo>
                <a:lnTo>
                  <a:pt x="12887" y="57081"/>
                </a:lnTo>
                <a:lnTo>
                  <a:pt x="12191" y="56995"/>
                </a:lnTo>
                <a:lnTo>
                  <a:pt x="11500" y="56875"/>
                </a:lnTo>
                <a:lnTo>
                  <a:pt x="10816" y="56722"/>
                </a:lnTo>
                <a:lnTo>
                  <a:pt x="10140" y="56535"/>
                </a:lnTo>
                <a:lnTo>
                  <a:pt x="9474" y="56315"/>
                </a:lnTo>
                <a:lnTo>
                  <a:pt x="8820" y="56062"/>
                </a:lnTo>
                <a:lnTo>
                  <a:pt x="8179" y="55778"/>
                </a:lnTo>
                <a:lnTo>
                  <a:pt x="7552" y="55463"/>
                </a:lnTo>
                <a:lnTo>
                  <a:pt x="6942" y="55117"/>
                </a:lnTo>
                <a:lnTo>
                  <a:pt x="6350" y="54742"/>
                </a:lnTo>
                <a:lnTo>
                  <a:pt x="5776" y="54338"/>
                </a:lnTo>
                <a:lnTo>
                  <a:pt x="5224" y="53907"/>
                </a:lnTo>
                <a:lnTo>
                  <a:pt x="4693" y="53449"/>
                </a:lnTo>
                <a:lnTo>
                  <a:pt x="4185" y="52965"/>
                </a:lnTo>
                <a:lnTo>
                  <a:pt x="3701" y="52457"/>
                </a:lnTo>
                <a:lnTo>
                  <a:pt x="3243" y="51926"/>
                </a:lnTo>
                <a:lnTo>
                  <a:pt x="2812" y="51374"/>
                </a:lnTo>
                <a:lnTo>
                  <a:pt x="2408" y="50800"/>
                </a:lnTo>
                <a:lnTo>
                  <a:pt x="2033" y="50208"/>
                </a:lnTo>
                <a:lnTo>
                  <a:pt x="1687" y="49598"/>
                </a:lnTo>
                <a:lnTo>
                  <a:pt x="1372" y="48971"/>
                </a:lnTo>
                <a:lnTo>
                  <a:pt x="1088" y="48330"/>
                </a:lnTo>
                <a:lnTo>
                  <a:pt x="835" y="47676"/>
                </a:lnTo>
                <a:lnTo>
                  <a:pt x="615" y="47010"/>
                </a:lnTo>
                <a:lnTo>
                  <a:pt x="428" y="46334"/>
                </a:lnTo>
                <a:lnTo>
                  <a:pt x="275" y="45650"/>
                </a:lnTo>
                <a:lnTo>
                  <a:pt x="155" y="44959"/>
                </a:lnTo>
                <a:lnTo>
                  <a:pt x="69" y="44263"/>
                </a:lnTo>
                <a:lnTo>
                  <a:pt x="17" y="43564"/>
                </a:lnTo>
                <a:lnTo>
                  <a:pt x="0" y="42863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34" name="Text 32"/>
          <p:cNvSpPr/>
          <p:nvPr/>
        </p:nvSpPr>
        <p:spPr>
          <a:xfrm>
            <a:off x="4236244" y="1725930"/>
            <a:ext cx="138303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住人（＜50%）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4114800" y="1750219"/>
            <a:ext cx="621611" cy="71438"/>
          </a:xfrm>
          <a:custGeom>
            <a:avLst/>
            <a:gdLst/>
            <a:ahLst/>
            <a:cxnLst/>
            <a:rect l="l" t="t" r="r" b="b"/>
            <a:pathLst>
              <a:path w="621611" h="71438">
                <a:moveTo>
                  <a:pt x="0" y="0"/>
                </a:moveTo>
                <a:lnTo>
                  <a:pt x="621611" y="0"/>
                </a:lnTo>
                <a:lnTo>
                  <a:pt x="621611" y="71438"/>
                </a:lnTo>
                <a:lnTo>
                  <a:pt x="0" y="71438"/>
                </a:lnTo>
                <a:close/>
              </a:path>
            </a:pathLst>
          </a:custGeom>
          <a:noFill/>
          <a:ln/>
        </p:spPr>
      </p:sp>
      <p:sp>
        <p:nvSpPr>
          <p:cNvPr id="36" name="Shape 34"/>
          <p:cNvSpPr/>
          <p:nvPr/>
        </p:nvSpPr>
        <p:spPr>
          <a:xfrm>
            <a:off x="4822136" y="1757363"/>
            <a:ext cx="85725" cy="57150"/>
          </a:xfrm>
          <a:custGeom>
            <a:avLst/>
            <a:gdLst/>
            <a:ahLst/>
            <a:cxnLst/>
            <a:rect l="l" t="t" r="r" b="b"/>
            <a:pathLst>
              <a:path w="85725" h="57150">
                <a:moveTo>
                  <a:pt x="14288" y="0"/>
                </a:moveTo>
                <a:lnTo>
                  <a:pt x="71438" y="0"/>
                </a:lnTo>
                <a:lnTo>
                  <a:pt x="72139" y="17"/>
                </a:lnTo>
                <a:lnTo>
                  <a:pt x="72838" y="69"/>
                </a:lnTo>
                <a:lnTo>
                  <a:pt x="73534" y="155"/>
                </a:lnTo>
                <a:lnTo>
                  <a:pt x="74225" y="275"/>
                </a:lnTo>
                <a:lnTo>
                  <a:pt x="74909" y="428"/>
                </a:lnTo>
                <a:lnTo>
                  <a:pt x="75585" y="615"/>
                </a:lnTo>
                <a:lnTo>
                  <a:pt x="76251" y="835"/>
                </a:lnTo>
                <a:lnTo>
                  <a:pt x="76905" y="1088"/>
                </a:lnTo>
                <a:lnTo>
                  <a:pt x="77546" y="1372"/>
                </a:lnTo>
                <a:lnTo>
                  <a:pt x="78173" y="1687"/>
                </a:lnTo>
                <a:lnTo>
                  <a:pt x="78783" y="2033"/>
                </a:lnTo>
                <a:lnTo>
                  <a:pt x="79375" y="2408"/>
                </a:lnTo>
                <a:lnTo>
                  <a:pt x="79949" y="2812"/>
                </a:lnTo>
                <a:lnTo>
                  <a:pt x="80501" y="3243"/>
                </a:lnTo>
                <a:lnTo>
                  <a:pt x="81032" y="3701"/>
                </a:lnTo>
                <a:lnTo>
                  <a:pt x="81540" y="4185"/>
                </a:lnTo>
                <a:lnTo>
                  <a:pt x="82024" y="4693"/>
                </a:lnTo>
                <a:lnTo>
                  <a:pt x="82482" y="5224"/>
                </a:lnTo>
                <a:lnTo>
                  <a:pt x="82913" y="5776"/>
                </a:lnTo>
                <a:lnTo>
                  <a:pt x="83317" y="6350"/>
                </a:lnTo>
                <a:lnTo>
                  <a:pt x="83692" y="6942"/>
                </a:lnTo>
                <a:lnTo>
                  <a:pt x="84038" y="7552"/>
                </a:lnTo>
                <a:lnTo>
                  <a:pt x="84353" y="8179"/>
                </a:lnTo>
                <a:lnTo>
                  <a:pt x="84637" y="8820"/>
                </a:lnTo>
                <a:lnTo>
                  <a:pt x="84890" y="9474"/>
                </a:lnTo>
                <a:lnTo>
                  <a:pt x="85110" y="10140"/>
                </a:lnTo>
                <a:lnTo>
                  <a:pt x="85297" y="10816"/>
                </a:lnTo>
                <a:lnTo>
                  <a:pt x="85450" y="11500"/>
                </a:lnTo>
                <a:lnTo>
                  <a:pt x="85570" y="12191"/>
                </a:lnTo>
                <a:lnTo>
                  <a:pt x="85656" y="12887"/>
                </a:lnTo>
                <a:lnTo>
                  <a:pt x="85708" y="13586"/>
                </a:lnTo>
                <a:lnTo>
                  <a:pt x="85725" y="14288"/>
                </a:lnTo>
                <a:lnTo>
                  <a:pt x="85725" y="42863"/>
                </a:lnTo>
                <a:lnTo>
                  <a:pt x="85708" y="43564"/>
                </a:lnTo>
                <a:lnTo>
                  <a:pt x="85656" y="44263"/>
                </a:lnTo>
                <a:lnTo>
                  <a:pt x="85570" y="44959"/>
                </a:lnTo>
                <a:lnTo>
                  <a:pt x="85450" y="45650"/>
                </a:lnTo>
                <a:lnTo>
                  <a:pt x="85297" y="46334"/>
                </a:lnTo>
                <a:lnTo>
                  <a:pt x="85110" y="47010"/>
                </a:lnTo>
                <a:lnTo>
                  <a:pt x="84890" y="47676"/>
                </a:lnTo>
                <a:lnTo>
                  <a:pt x="84637" y="48330"/>
                </a:lnTo>
                <a:lnTo>
                  <a:pt x="84353" y="48971"/>
                </a:lnTo>
                <a:lnTo>
                  <a:pt x="84038" y="49598"/>
                </a:lnTo>
                <a:lnTo>
                  <a:pt x="83692" y="50208"/>
                </a:lnTo>
                <a:lnTo>
                  <a:pt x="83317" y="50800"/>
                </a:lnTo>
                <a:lnTo>
                  <a:pt x="82913" y="51374"/>
                </a:lnTo>
                <a:lnTo>
                  <a:pt x="82482" y="51926"/>
                </a:lnTo>
                <a:lnTo>
                  <a:pt x="82024" y="52457"/>
                </a:lnTo>
                <a:lnTo>
                  <a:pt x="81540" y="52965"/>
                </a:lnTo>
                <a:lnTo>
                  <a:pt x="81032" y="53449"/>
                </a:lnTo>
                <a:lnTo>
                  <a:pt x="80501" y="53907"/>
                </a:lnTo>
                <a:lnTo>
                  <a:pt x="79949" y="54338"/>
                </a:lnTo>
                <a:lnTo>
                  <a:pt x="79375" y="54742"/>
                </a:lnTo>
                <a:lnTo>
                  <a:pt x="78783" y="55117"/>
                </a:lnTo>
                <a:lnTo>
                  <a:pt x="78173" y="55463"/>
                </a:lnTo>
                <a:lnTo>
                  <a:pt x="77546" y="55778"/>
                </a:lnTo>
                <a:lnTo>
                  <a:pt x="76905" y="56062"/>
                </a:lnTo>
                <a:lnTo>
                  <a:pt x="76251" y="56315"/>
                </a:lnTo>
                <a:lnTo>
                  <a:pt x="75585" y="56535"/>
                </a:lnTo>
                <a:lnTo>
                  <a:pt x="74909" y="56722"/>
                </a:lnTo>
                <a:lnTo>
                  <a:pt x="74225" y="56875"/>
                </a:lnTo>
                <a:lnTo>
                  <a:pt x="73534" y="56995"/>
                </a:lnTo>
                <a:lnTo>
                  <a:pt x="72838" y="57081"/>
                </a:lnTo>
                <a:lnTo>
                  <a:pt x="72139" y="57133"/>
                </a:lnTo>
                <a:lnTo>
                  <a:pt x="71438" y="57150"/>
                </a:lnTo>
                <a:lnTo>
                  <a:pt x="14288" y="57150"/>
                </a:lnTo>
                <a:lnTo>
                  <a:pt x="13586" y="57133"/>
                </a:lnTo>
                <a:lnTo>
                  <a:pt x="12887" y="57081"/>
                </a:lnTo>
                <a:lnTo>
                  <a:pt x="12191" y="56995"/>
                </a:lnTo>
                <a:lnTo>
                  <a:pt x="11500" y="56875"/>
                </a:lnTo>
                <a:lnTo>
                  <a:pt x="10816" y="56722"/>
                </a:lnTo>
                <a:lnTo>
                  <a:pt x="10140" y="56535"/>
                </a:lnTo>
                <a:lnTo>
                  <a:pt x="9474" y="56315"/>
                </a:lnTo>
                <a:lnTo>
                  <a:pt x="8820" y="56062"/>
                </a:lnTo>
                <a:lnTo>
                  <a:pt x="8179" y="55778"/>
                </a:lnTo>
                <a:lnTo>
                  <a:pt x="7552" y="55463"/>
                </a:lnTo>
                <a:lnTo>
                  <a:pt x="6942" y="55117"/>
                </a:lnTo>
                <a:lnTo>
                  <a:pt x="6350" y="54742"/>
                </a:lnTo>
                <a:lnTo>
                  <a:pt x="5776" y="54338"/>
                </a:lnTo>
                <a:lnTo>
                  <a:pt x="5224" y="53907"/>
                </a:lnTo>
                <a:lnTo>
                  <a:pt x="4693" y="53449"/>
                </a:lnTo>
                <a:lnTo>
                  <a:pt x="4185" y="52965"/>
                </a:lnTo>
                <a:lnTo>
                  <a:pt x="3701" y="52457"/>
                </a:lnTo>
                <a:lnTo>
                  <a:pt x="3243" y="51926"/>
                </a:lnTo>
                <a:lnTo>
                  <a:pt x="2812" y="51374"/>
                </a:lnTo>
                <a:lnTo>
                  <a:pt x="2408" y="50800"/>
                </a:lnTo>
                <a:lnTo>
                  <a:pt x="2033" y="50208"/>
                </a:lnTo>
                <a:lnTo>
                  <a:pt x="1687" y="49598"/>
                </a:lnTo>
                <a:lnTo>
                  <a:pt x="1372" y="48971"/>
                </a:lnTo>
                <a:lnTo>
                  <a:pt x="1088" y="48330"/>
                </a:lnTo>
                <a:lnTo>
                  <a:pt x="835" y="47676"/>
                </a:lnTo>
                <a:lnTo>
                  <a:pt x="615" y="47010"/>
                </a:lnTo>
                <a:lnTo>
                  <a:pt x="428" y="46334"/>
                </a:lnTo>
                <a:lnTo>
                  <a:pt x="275" y="45650"/>
                </a:lnTo>
                <a:lnTo>
                  <a:pt x="155" y="44959"/>
                </a:lnTo>
                <a:lnTo>
                  <a:pt x="69" y="44263"/>
                </a:lnTo>
                <a:lnTo>
                  <a:pt x="17" y="43564"/>
                </a:lnTo>
                <a:lnTo>
                  <a:pt x="0" y="42863"/>
                </a:lnTo>
                <a:lnTo>
                  <a:pt x="0" y="14288"/>
                </a:lnTo>
                <a:lnTo>
                  <a:pt x="17" y="13586"/>
                </a:lnTo>
                <a:lnTo>
                  <a:pt x="69" y="12887"/>
                </a:lnTo>
                <a:lnTo>
                  <a:pt x="155" y="12191"/>
                </a:lnTo>
                <a:lnTo>
                  <a:pt x="275" y="11500"/>
                </a:lnTo>
                <a:lnTo>
                  <a:pt x="428" y="10816"/>
                </a:lnTo>
                <a:lnTo>
                  <a:pt x="615" y="10140"/>
                </a:lnTo>
                <a:lnTo>
                  <a:pt x="835" y="9474"/>
                </a:lnTo>
                <a:lnTo>
                  <a:pt x="1088" y="8820"/>
                </a:lnTo>
                <a:lnTo>
                  <a:pt x="1372" y="8179"/>
                </a:lnTo>
                <a:lnTo>
                  <a:pt x="1687" y="7552"/>
                </a:lnTo>
                <a:lnTo>
                  <a:pt x="2033" y="6942"/>
                </a:lnTo>
                <a:lnTo>
                  <a:pt x="2408" y="6350"/>
                </a:lnTo>
                <a:lnTo>
                  <a:pt x="2812" y="5776"/>
                </a:lnTo>
                <a:lnTo>
                  <a:pt x="3243" y="5224"/>
                </a:lnTo>
                <a:lnTo>
                  <a:pt x="3701" y="4693"/>
                </a:lnTo>
                <a:lnTo>
                  <a:pt x="4185" y="4185"/>
                </a:lnTo>
                <a:lnTo>
                  <a:pt x="4693" y="3701"/>
                </a:lnTo>
                <a:lnTo>
                  <a:pt x="5224" y="3243"/>
                </a:lnTo>
                <a:lnTo>
                  <a:pt x="5776" y="2812"/>
                </a:lnTo>
                <a:lnTo>
                  <a:pt x="6350" y="2408"/>
                </a:lnTo>
                <a:lnTo>
                  <a:pt x="6942" y="2033"/>
                </a:lnTo>
                <a:lnTo>
                  <a:pt x="7552" y="1687"/>
                </a:lnTo>
                <a:lnTo>
                  <a:pt x="8179" y="1372"/>
                </a:lnTo>
                <a:lnTo>
                  <a:pt x="8820" y="1088"/>
                </a:lnTo>
                <a:lnTo>
                  <a:pt x="9474" y="835"/>
                </a:lnTo>
                <a:lnTo>
                  <a:pt x="10140" y="615"/>
                </a:lnTo>
                <a:lnTo>
                  <a:pt x="10816" y="428"/>
                </a:lnTo>
                <a:lnTo>
                  <a:pt x="11500" y="275"/>
                </a:lnTo>
                <a:lnTo>
                  <a:pt x="12191" y="155"/>
                </a:lnTo>
                <a:lnTo>
                  <a:pt x="12887" y="69"/>
                </a:lnTo>
                <a:lnTo>
                  <a:pt x="13586" y="17"/>
                </a:lnTo>
                <a:lnTo>
                  <a:pt x="14288" y="0"/>
                </a:lnTo>
              </a:path>
            </a:pathLst>
          </a:custGeom>
          <a:solidFill>
            <a:srgbClr val="E8E6DC"/>
          </a:solidFill>
          <a:ln/>
        </p:spPr>
      </p:sp>
      <p:sp>
        <p:nvSpPr>
          <p:cNvPr id="37" name="Text 35"/>
          <p:cNvSpPr/>
          <p:nvPr/>
        </p:nvSpPr>
        <p:spPr>
          <a:xfrm>
            <a:off x="4943579" y="1725930"/>
            <a:ext cx="198310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未住或不确定（＞50%）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4822136" y="1750219"/>
            <a:ext cx="907360" cy="71438"/>
          </a:xfrm>
          <a:custGeom>
            <a:avLst/>
            <a:gdLst/>
            <a:ahLst/>
            <a:cxnLst/>
            <a:rect l="l" t="t" r="r" b="b"/>
            <a:pathLst>
              <a:path w="907360" h="71438">
                <a:moveTo>
                  <a:pt x="0" y="0"/>
                </a:moveTo>
                <a:lnTo>
                  <a:pt x="907360" y="0"/>
                </a:lnTo>
                <a:lnTo>
                  <a:pt x="907360" y="71438"/>
                </a:lnTo>
                <a:lnTo>
                  <a:pt x="0" y="71438"/>
                </a:lnTo>
                <a:close/>
              </a:path>
            </a:pathLst>
          </a:custGeom>
          <a:noFill/>
          <a:ln/>
        </p:spPr>
      </p:sp>
      <p:sp>
        <p:nvSpPr>
          <p:cNvPr id="39" name="Shape 37"/>
          <p:cNvSpPr/>
          <p:nvPr/>
        </p:nvSpPr>
        <p:spPr>
          <a:xfrm>
            <a:off x="7072313" y="1400231"/>
            <a:ext cx="1857375" cy="1178719"/>
          </a:xfrm>
          <a:prstGeom prst="roundRect">
            <a:avLst>
              <a:gd name="adj" fmla="val 5642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72313" y="2650499"/>
            <a:ext cx="1857375" cy="1178719"/>
          </a:xfrm>
          <a:prstGeom prst="roundRect">
            <a:avLst>
              <a:gd name="adj" fmla="val 5642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14313" y="3571875"/>
            <a:ext cx="4936331" cy="757237"/>
          </a:xfrm>
          <a:prstGeom prst="roundRect">
            <a:avLst>
              <a:gd name="adj" fmla="val 13670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64944" y="3571875"/>
            <a:ext cx="3664744" cy="757237"/>
          </a:xfrm>
          <a:prstGeom prst="roundRect">
            <a:avLst>
              <a:gd name="adj" fmla="val 13670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14313" y="414338"/>
            <a:ext cx="8715375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Day1 清点显示：现存明清老宅约40栋、住人不到一半、年轻人外出打工、留守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多为老人——空心化的第一手印象（估算/口述，待核）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334640" y="1571625"/>
            <a:ext cx="12715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Day1 清点墙 · 现存明清老宅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357158" y="1520168"/>
            <a:ext cx="1364456" cy="2000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约40栋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估算，未逐栋建档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5756" y="3564899"/>
            <a:ext cx="33861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约40栋为估算/口述，待核，未逐栋核实；清点口径未界定。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077853" y="1521619"/>
            <a:ext cx="111442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居住状态二分 · 示意区间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236494" y="1521619"/>
            <a:ext cx="6000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住人不到一半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079081" y="3421968"/>
            <a:ext cx="2757488" cy="2857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＜50% 为区间上界示意，非实测值；目测+口述，待核，未逐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户核实。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65181" y="1493044"/>
            <a:ext cx="167163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人口结构 · 印象性描述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165181" y="1801676"/>
            <a:ext cx="842962" cy="171450"/>
          </a:xfrm>
          <a:prstGeom prst="roundRect">
            <a:avLst>
              <a:gd name="adj" fmla="val 44444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年轻人外出打工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165181" y="2013086"/>
            <a:ext cx="742950" cy="171450"/>
          </a:xfrm>
          <a:prstGeom prst="roundRect">
            <a:avLst>
              <a:gd name="adj" fmla="val 44444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留守多为老人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65181" y="2343206"/>
            <a:ext cx="16716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无户籍与常住人口数据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165181" y="2743312"/>
            <a:ext cx="167163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学术语境位 · 外部参照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165181" y="3157091"/>
            <a:ext cx="1671638" cy="5786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判定档位与成因假说清单均属外部参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照（资源科学·空心化综述、地理研究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·人口外流）；外部研究中的全国性比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例不得用于描述本村。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35756" y="3650456"/>
            <a:ext cx="46934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存疑/待考 · 口径未定三条（与存疑清单 S1/S2/S3 对齐）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36928" y="3829162"/>
            <a:ext cx="14859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S1 清点口径未定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36928" y="3971255"/>
            <a:ext cx="1485900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是否含残垣、附属房、新建仿古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街建筑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939472" y="3829162"/>
            <a:ext cx="14859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S2「住人」判定未定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939472" y="3971255"/>
            <a:ext cx="1485900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常住、季节性、日间使用是否都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算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42016" y="3829162"/>
            <a:ext cx="14859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S3 外出规模与去向未知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42016" y="3971255"/>
            <a:ext cx="1485900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外流人数、务工地与返乡频次未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采集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386387" y="3650456"/>
            <a:ext cx="34218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五条并列成因假说 · 不作因果断言（类型清单为外部参照）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386388" y="3869122"/>
            <a:ext cx="542925" cy="171450"/>
          </a:xfrm>
          <a:prstGeom prst="roundRect">
            <a:avLst>
              <a:gd name="adj" fmla="val 44444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务工外流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972175" y="3869122"/>
            <a:ext cx="842962" cy="171450"/>
          </a:xfrm>
          <a:prstGeom prst="roundRect">
            <a:avLst>
              <a:gd name="adj" fmla="val 44444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就学与就医搬迁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858000" y="3869122"/>
            <a:ext cx="642938" cy="171450"/>
          </a:xfrm>
          <a:prstGeom prst="roundRect">
            <a:avLst>
              <a:gd name="adj" fmla="val 44444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老宅不适居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543800" y="3869122"/>
            <a:ext cx="842962" cy="171450"/>
          </a:xfrm>
          <a:prstGeom prst="roundRect">
            <a:avLst>
              <a:gd name="adj" fmla="val 44444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产权与继承分散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386388" y="4080532"/>
            <a:ext cx="1543050" cy="171450"/>
          </a:xfrm>
          <a:prstGeom prst="roundRect">
            <a:avLst>
              <a:gd name="adj" fmla="val 44444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可能存在未被观察到的回流动向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数据来源：用户田野笔记 Day1（驻村第1日现场目测与村民口述，单一信息源，未经交叉验证）；本页四项数值均为估算/口述，待核，未逐栋核实，不作比例与因果结论。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50131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443038"/>
            <a:ext cx="8715375" cy="628650"/>
          </a:xfrm>
          <a:prstGeom prst="roundRect">
            <a:avLst>
              <a:gd name="adj" fmla="val 6612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07444" y="1510959"/>
            <a:ext cx="1500188" cy="492919"/>
          </a:xfrm>
          <a:prstGeom prst="roundRect">
            <a:avLst>
              <a:gd name="adj" fmla="val 5377"/>
            </a:avLst>
          </a:prstGeom>
          <a:solidFill>
            <a:srgbClr val="E8E6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7444" y="1510959"/>
            <a:ext cx="1500188" cy="4929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93356" y="1753344"/>
            <a:ext cx="3171825" cy="14288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3356" y="1753344"/>
            <a:ext cx="3171825" cy="142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50906" y="1510959"/>
            <a:ext cx="1500188" cy="492919"/>
          </a:xfrm>
          <a:prstGeom prst="roundRect">
            <a:avLst>
              <a:gd name="adj" fmla="val 5377"/>
            </a:avLst>
          </a:prstGeom>
          <a:solidFill>
            <a:srgbClr val="E8E6D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0906" y="1510959"/>
            <a:ext cx="1500188" cy="492919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4313" y="2185988"/>
            <a:ext cx="4714875" cy="1285875"/>
          </a:xfrm>
          <a:prstGeom prst="roundRect">
            <a:avLst>
              <a:gd name="adj" fmla="val 6321"/>
            </a:avLst>
          </a:prstGeom>
          <a:solidFill>
            <a:srgbClr val="30302E"/>
          </a:solidFill>
          <a:ln w="6191">
            <a:solidFill>
              <a:srgbClr val="30302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64331" y="2459571"/>
            <a:ext cx="21431" cy="214313"/>
          </a:xfrm>
          <a:prstGeom prst="roundRect">
            <a:avLst>
              <a:gd name="adj" fmla="val 533340"/>
            </a:avLst>
          </a:prstGeom>
          <a:solidFill>
            <a:srgbClr val="D9775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7606" y="2459124"/>
            <a:ext cx="1071563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64331" y="2751572"/>
            <a:ext cx="21431" cy="428625"/>
          </a:xfrm>
          <a:prstGeom prst="roundRect">
            <a:avLst>
              <a:gd name="adj" fmla="val 533340"/>
            </a:avLst>
          </a:prstGeom>
          <a:solidFill>
            <a:srgbClr val="D97757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07606" y="2751125"/>
            <a:ext cx="1071563" cy="2286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157787" y="2344769"/>
            <a:ext cx="3771900" cy="535781"/>
          </a:xfrm>
          <a:prstGeom prst="roundRect">
            <a:avLst>
              <a:gd name="adj" fmla="val 6827"/>
            </a:avLst>
          </a:prstGeom>
          <a:solidFill>
            <a:srgbClr val="FAF9F5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57787" y="2344769"/>
            <a:ext cx="3771900" cy="535781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157787" y="2936695"/>
            <a:ext cx="3771900" cy="535781"/>
          </a:xfrm>
          <a:prstGeom prst="roundRect">
            <a:avLst>
              <a:gd name="adj" fmla="val 6827"/>
            </a:avLst>
          </a:prstGeom>
          <a:solidFill>
            <a:srgbClr val="FAF9F5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57787" y="2936695"/>
            <a:ext cx="3771900" cy="535781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215708" y="3773184"/>
            <a:ext cx="1671638" cy="514350"/>
          </a:xfrm>
          <a:prstGeom prst="roundRect">
            <a:avLst>
              <a:gd name="adj" fmla="val 740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1975917" y="3773184"/>
            <a:ext cx="1671638" cy="514350"/>
          </a:xfrm>
          <a:prstGeom prst="roundRect">
            <a:avLst>
              <a:gd name="adj" fmla="val 740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3736125" y="3773184"/>
            <a:ext cx="1671638" cy="514350"/>
          </a:xfrm>
          <a:prstGeom prst="roundRect">
            <a:avLst>
              <a:gd name="adj" fmla="val 740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5496334" y="3773184"/>
            <a:ext cx="1671638" cy="514350"/>
          </a:xfrm>
          <a:prstGeom prst="roundRect">
            <a:avLst>
              <a:gd name="adj" fmla="val 740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7256543" y="3773184"/>
            <a:ext cx="1671638" cy="514350"/>
          </a:xfrm>
          <a:prstGeom prst="roundRect">
            <a:avLst>
              <a:gd name="adj" fmla="val 740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214313" y="414338"/>
            <a:ext cx="8715375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Day2 访谈记录：祠堂祭祖由“每年清明”改为“三年一次”，族谱“文革烧了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一部分、现版本凭记忆补写”——单一信息源口述，待考</a:t>
            </a:r>
            <a:endParaRPr lang="en-US" sz="1900" dirty="0"/>
          </a:p>
        </p:txBody>
      </p:sp>
      <p:sp>
        <p:nvSpPr>
          <p:cNvPr id="26" name="Text 17"/>
          <p:cNvSpPr/>
          <p:nvPr/>
        </p:nvSpPr>
        <p:spPr>
          <a:xfrm>
            <a:off x="392906" y="1539478"/>
            <a:ext cx="1785938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祠堂集中祭祖频率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392906" y="1738052"/>
            <a:ext cx="1785938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我们听到的是一段记忆，不是一份档案：两枚刻度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之间的那些年，暂时留白</a:t>
            </a:r>
            <a:endParaRPr lang="en-US" sz="700" dirty="0"/>
          </a:p>
        </p:txBody>
      </p:sp>
      <p:sp>
        <p:nvSpPr>
          <p:cNvPr id="28" name="Text 19"/>
          <p:cNvSpPr/>
          <p:nvPr/>
        </p:nvSpPr>
        <p:spPr>
          <a:xfrm>
            <a:off x="2528887" y="1569560"/>
            <a:ext cx="1278731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刻度 A · 以前（清明）</a:t>
            </a:r>
            <a:endParaRPr lang="en-US" sz="700" dirty="0"/>
          </a:p>
        </p:txBody>
      </p:sp>
      <p:sp>
        <p:nvSpPr>
          <p:cNvPr id="29" name="Text 20"/>
          <p:cNvSpPr/>
          <p:nvPr/>
        </p:nvSpPr>
        <p:spPr>
          <a:xfrm>
            <a:off x="2528887" y="1683469"/>
            <a:ext cx="1278731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每年清明一次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2528887" y="1853468"/>
            <a:ext cx="1278731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口述，待核 · 非时序曲线</a:t>
            </a:r>
            <a:endParaRPr lang="en-US" sz="700" dirty="0"/>
          </a:p>
        </p:txBody>
      </p:sp>
      <p:sp>
        <p:nvSpPr>
          <p:cNvPr id="31" name="Text 22"/>
          <p:cNvSpPr/>
          <p:nvPr/>
        </p:nvSpPr>
        <p:spPr>
          <a:xfrm>
            <a:off x="5329238" y="1589763"/>
            <a:ext cx="500063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未知，待考</a:t>
            </a:r>
            <a:endParaRPr lang="en-US" sz="700" dirty="0"/>
          </a:p>
        </p:txBody>
      </p:sp>
      <p:sp>
        <p:nvSpPr>
          <p:cNvPr id="32" name="Text 23"/>
          <p:cNvSpPr/>
          <p:nvPr/>
        </p:nvSpPr>
        <p:spPr>
          <a:xfrm>
            <a:off x="4286194" y="1810271"/>
            <a:ext cx="2586038" cy="1143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起始年份 · 中间过程 · 是否另有冬至／中元等祭祖时点 —— 笔记均未记录</a:t>
            </a:r>
            <a:endParaRPr lang="en-US" sz="700" dirty="0"/>
          </a:p>
        </p:txBody>
      </p:sp>
      <p:sp>
        <p:nvSpPr>
          <p:cNvPr id="33" name="Text 24"/>
          <p:cNvSpPr/>
          <p:nvPr/>
        </p:nvSpPr>
        <p:spPr>
          <a:xfrm>
            <a:off x="7372350" y="1569560"/>
            <a:ext cx="1278731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刻度 B · 现在（访谈当时）</a:t>
            </a:r>
            <a:endParaRPr lang="en-US" sz="700" dirty="0"/>
          </a:p>
        </p:txBody>
      </p:sp>
      <p:sp>
        <p:nvSpPr>
          <p:cNvPr id="34" name="Text 25"/>
          <p:cNvSpPr/>
          <p:nvPr/>
        </p:nvSpPr>
        <p:spPr>
          <a:xfrm>
            <a:off x="7372350" y="1683469"/>
            <a:ext cx="1278731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三年一次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7372350" y="1853468"/>
            <a:ext cx="1278731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口述，待核 · 非时序曲线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364331" y="2294204"/>
            <a:ext cx="4414838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访谈原声 · 逐字取自田野笔记 Day2，未加修饰</a:t>
            </a:r>
            <a:endParaRPr lang="en-US" sz="700" dirty="0"/>
          </a:p>
        </p:txBody>
      </p:sp>
      <p:sp>
        <p:nvSpPr>
          <p:cNvPr id="37" name="Text 28"/>
          <p:cNvSpPr/>
          <p:nvPr/>
        </p:nvSpPr>
        <p:spPr>
          <a:xfrm>
            <a:off x="457200" y="2459571"/>
            <a:ext cx="2786063" cy="2143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“祠堂以前每年清明祭祖，现在三年一次。”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3707606" y="2459124"/>
            <a:ext cx="1071563" cy="228600"/>
          </a:xfrm>
          <a:prstGeom prst="rect">
            <a:avLst/>
          </a:prstGeom>
          <a:ln/>
        </p:spPr>
        <p:txBody>
          <a:bodyPr wrap="none" lIns="60722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信息源：访谈几位老人中的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口述，未逐条交叉验证</a:t>
            </a:r>
            <a:endParaRPr lang="en-US" sz="700" dirty="0"/>
          </a:p>
        </p:txBody>
      </p:sp>
      <p:sp>
        <p:nvSpPr>
          <p:cNvPr id="39" name="Text 30"/>
          <p:cNvSpPr/>
          <p:nvPr/>
        </p:nvSpPr>
        <p:spPr>
          <a:xfrm>
            <a:off x="457200" y="2751572"/>
            <a:ext cx="3164681" cy="42862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“族谱文革烧了一部分，现在版本是后来凭记忆补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的。”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3707606" y="2751125"/>
            <a:ext cx="1071563" cy="228600"/>
          </a:xfrm>
          <a:prstGeom prst="rect">
            <a:avLst/>
          </a:prstGeom>
          <a:ln/>
        </p:spPr>
        <p:txBody>
          <a:bodyPr wrap="none" lIns="60722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信息源：访谈几位老人中的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口述，未逐条交叉验证</a:t>
            </a:r>
            <a:endParaRPr lang="en-US" sz="700" dirty="0"/>
          </a:p>
        </p:txBody>
      </p:sp>
      <p:sp>
        <p:nvSpPr>
          <p:cNvPr id="41" name="Text 32"/>
          <p:cNvSpPr/>
          <p:nvPr/>
        </p:nvSpPr>
        <p:spPr>
          <a:xfrm>
            <a:off x="364443" y="3243765"/>
            <a:ext cx="154476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笔记原批注：</a:t>
            </a:r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——待考，得多问几个人</a:t>
            </a:r>
            <a:endParaRPr lang="en-US" sz="700" dirty="0"/>
          </a:p>
        </p:txBody>
      </p:sp>
      <p:sp>
        <p:nvSpPr>
          <p:cNvPr id="42" name="Text 33"/>
          <p:cNvSpPr/>
          <p:nvPr/>
        </p:nvSpPr>
        <p:spPr>
          <a:xfrm>
            <a:off x="3030234" y="3253029"/>
            <a:ext cx="175021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以上为待验证的说法，不是本村已确证的历史事件</a:t>
            </a:r>
            <a:endParaRPr lang="en-US" sz="700" dirty="0"/>
          </a:p>
        </p:txBody>
      </p:sp>
      <p:sp>
        <p:nvSpPr>
          <p:cNvPr id="43" name="Text 34"/>
          <p:cNvSpPr/>
          <p:nvPr/>
        </p:nvSpPr>
        <p:spPr>
          <a:xfrm>
            <a:off x="5157787" y="2187048"/>
            <a:ext cx="3771900" cy="1000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两种材料的性质差异 · 证据性质不同，核验路径也不同</a:t>
            </a:r>
            <a:endParaRPr lang="en-US" sz="700" dirty="0"/>
          </a:p>
        </p:txBody>
      </p:sp>
      <p:sp>
        <p:nvSpPr>
          <p:cNvPr id="44" name="Text 35"/>
          <p:cNvSpPr/>
          <p:nvPr/>
        </p:nvSpPr>
        <p:spPr>
          <a:xfrm>
            <a:off x="5293519" y="2422066"/>
            <a:ext cx="35147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A · 仪式频率变化 —— 可外部化的行为事实</a:t>
            </a:r>
            <a:endParaRPr lang="en-US" sz="700" dirty="0"/>
          </a:p>
        </p:txBody>
      </p:sp>
      <p:sp>
        <p:nvSpPr>
          <p:cNvPr id="45" name="Text 36"/>
          <p:cNvSpPr/>
          <p:nvPr/>
        </p:nvSpPr>
        <p:spPr>
          <a:xfrm>
            <a:off x="5293519" y="2569852"/>
            <a:ext cx="351472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核验路径：现场观察 · 祠堂碑记与修缮纪年 · 祭祀账簿与收支 · 族规祭规 · 地方志风俗条目 · 多位老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人分别回忆（三角互证）</a:t>
            </a:r>
            <a:endParaRPr lang="en-US" sz="700" dirty="0"/>
          </a:p>
        </p:txBody>
      </p:sp>
      <p:sp>
        <p:nvSpPr>
          <p:cNvPr id="46" name="Text 37"/>
          <p:cNvSpPr/>
          <p:nvPr/>
        </p:nvSpPr>
        <p:spPr>
          <a:xfrm>
            <a:off x="5293519" y="3013993"/>
            <a:ext cx="351472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B · 族谱焚毁与补写 —— 记忆性叙述，仍属待验证的说法</a:t>
            </a:r>
            <a:endParaRPr lang="en-US" sz="700" dirty="0"/>
          </a:p>
        </p:txBody>
      </p:sp>
      <p:sp>
        <p:nvSpPr>
          <p:cNvPr id="47" name="Text 38"/>
          <p:cNvSpPr/>
          <p:nvPr/>
        </p:nvSpPr>
        <p:spPr>
          <a:xfrm>
            <a:off x="5293519" y="3161779"/>
            <a:ext cx="351472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核验路径：「外部参照」族谱版本学考辨（序跋、版式、字体、纸张、印数、补页）＋多方访谈；世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系段落须逐段标注可信度，不整体采信也不整体否定</a:t>
            </a:r>
            <a:endParaRPr lang="en-US" sz="700" dirty="0"/>
          </a:p>
        </p:txBody>
      </p:sp>
      <p:sp>
        <p:nvSpPr>
          <p:cNvPr id="48" name="Text 39"/>
          <p:cNvSpPr/>
          <p:nvPr/>
        </p:nvSpPr>
        <p:spPr>
          <a:xfrm>
            <a:off x="212806" y="3601510"/>
            <a:ext cx="2557463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频率下降的并列可能解释 · 开放问题，不下定论，五条并列无主次排序</a:t>
            </a:r>
            <a:endParaRPr lang="en-US" sz="700" dirty="0"/>
          </a:p>
        </p:txBody>
      </p:sp>
      <p:sp>
        <p:nvSpPr>
          <p:cNvPr id="49" name="Text 40"/>
          <p:cNvSpPr/>
          <p:nvPr/>
        </p:nvSpPr>
        <p:spPr>
          <a:xfrm>
            <a:off x="4583385" y="3601510"/>
            <a:ext cx="167163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以上任一条目前都无本村证据支持，也未被排除</a:t>
            </a:r>
            <a:endParaRPr lang="en-US" sz="700" dirty="0"/>
          </a:p>
        </p:txBody>
      </p:sp>
      <p:sp>
        <p:nvSpPr>
          <p:cNvPr id="50" name="Text 41"/>
          <p:cNvSpPr/>
          <p:nvPr/>
        </p:nvSpPr>
        <p:spPr>
          <a:xfrm>
            <a:off x="8071042" y="3587223"/>
            <a:ext cx="857250" cy="128588"/>
          </a:xfrm>
          <a:prstGeom prst="roundRect">
            <a:avLst>
              <a:gd name="adj" fmla="val 79012"/>
            </a:avLst>
          </a:prstGeom>
          <a:solidFill>
            <a:srgbClr val="E8E6DC"/>
          </a:solidFill>
          <a:ln/>
        </p:spPr>
        <p:txBody>
          <a:bodyPr wrap="none" lIns="60722" tIns="12144" rIns="60722" bIns="12144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初步观察 · 存疑待考</a:t>
            </a:r>
            <a:endParaRPr lang="en-US" sz="700" dirty="0"/>
          </a:p>
        </p:txBody>
      </p:sp>
      <p:sp>
        <p:nvSpPr>
          <p:cNvPr id="51" name="Text 42"/>
          <p:cNvSpPr/>
          <p:nvPr/>
        </p:nvSpPr>
        <p:spPr>
          <a:xfrm>
            <a:off x="294289" y="3845068"/>
            <a:ext cx="1514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外出人口使聚会成本上升</a:t>
            </a:r>
            <a:endParaRPr lang="en-US" sz="700" dirty="0"/>
          </a:p>
        </p:txBody>
      </p:sp>
      <p:sp>
        <p:nvSpPr>
          <p:cNvPr id="52" name="Text 43"/>
          <p:cNvSpPr/>
          <p:nvPr/>
        </p:nvSpPr>
        <p:spPr>
          <a:xfrm>
            <a:off x="294289" y="3987329"/>
            <a:ext cx="151447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人不在场，凑齐时间与费用变难</a:t>
            </a:r>
            <a:endParaRPr lang="en-US" sz="700" dirty="0"/>
          </a:p>
        </p:txBody>
      </p:sp>
      <p:sp>
        <p:nvSpPr>
          <p:cNvPr id="53" name="Text 44"/>
          <p:cNvSpPr/>
          <p:nvPr/>
        </p:nvSpPr>
        <p:spPr>
          <a:xfrm>
            <a:off x="2054498" y="3845068"/>
            <a:ext cx="1514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主持仪式的长辈凋零</a:t>
            </a:r>
            <a:endParaRPr lang="en-US" sz="700" dirty="0"/>
          </a:p>
        </p:txBody>
      </p:sp>
      <p:sp>
        <p:nvSpPr>
          <p:cNvPr id="54" name="Text 45"/>
          <p:cNvSpPr/>
          <p:nvPr/>
        </p:nvSpPr>
        <p:spPr>
          <a:xfrm>
            <a:off x="2054498" y="3987329"/>
            <a:ext cx="151447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知礼者减少，仪式知识与主持权无人接续</a:t>
            </a:r>
            <a:endParaRPr lang="en-US" sz="700" dirty="0"/>
          </a:p>
        </p:txBody>
      </p:sp>
      <p:sp>
        <p:nvSpPr>
          <p:cNvPr id="55" name="Text 46"/>
          <p:cNvSpPr/>
          <p:nvPr/>
        </p:nvSpPr>
        <p:spPr>
          <a:xfrm>
            <a:off x="3814707" y="3845068"/>
            <a:ext cx="1514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宗族组织与经费机制弱化</a:t>
            </a:r>
            <a:endParaRPr lang="en-US" sz="700" dirty="0"/>
          </a:p>
        </p:txBody>
      </p:sp>
      <p:sp>
        <p:nvSpPr>
          <p:cNvPr id="56" name="Text 47"/>
          <p:cNvSpPr/>
          <p:nvPr/>
        </p:nvSpPr>
        <p:spPr>
          <a:xfrm>
            <a:off x="3814707" y="3987105"/>
            <a:ext cx="151447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祭产、族田、值年轮祭若已松弛，集中祭祀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难以为继（可检验变量 ·「外部参照」）</a:t>
            </a:r>
            <a:endParaRPr lang="en-US" sz="700" dirty="0"/>
          </a:p>
        </p:txBody>
      </p:sp>
      <p:sp>
        <p:nvSpPr>
          <p:cNvPr id="57" name="Text 48"/>
          <p:cNvSpPr/>
          <p:nvPr/>
        </p:nvSpPr>
        <p:spPr>
          <a:xfrm>
            <a:off x="5574916" y="3845068"/>
            <a:ext cx="1514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政策与观念环境变化</a:t>
            </a:r>
            <a:endParaRPr lang="en-US" sz="700" dirty="0"/>
          </a:p>
        </p:txBody>
      </p:sp>
      <p:sp>
        <p:nvSpPr>
          <p:cNvPr id="58" name="Text 49"/>
          <p:cNvSpPr/>
          <p:nvPr/>
        </p:nvSpPr>
        <p:spPr>
          <a:xfrm>
            <a:off x="5574916" y="3987105"/>
            <a:ext cx="151447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不同时期公共环境的影响，需查地方志、碑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记与账簿后再判断</a:t>
            </a:r>
            <a:endParaRPr lang="en-US" sz="700" dirty="0"/>
          </a:p>
        </p:txBody>
      </p:sp>
      <p:sp>
        <p:nvSpPr>
          <p:cNvPr id="59" name="Text 50"/>
          <p:cNvSpPr/>
          <p:nvPr/>
        </p:nvSpPr>
        <p:spPr>
          <a:xfrm>
            <a:off x="7335124" y="3845068"/>
            <a:ext cx="151447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只听到部分年份的实际情况</a:t>
            </a:r>
            <a:endParaRPr lang="en-US" sz="700" dirty="0"/>
          </a:p>
        </p:txBody>
      </p:sp>
      <p:sp>
        <p:nvSpPr>
          <p:cNvPr id="60" name="Text 51"/>
          <p:cNvSpPr/>
          <p:nvPr/>
        </p:nvSpPr>
        <p:spPr>
          <a:xfrm>
            <a:off x="7335124" y="3987105"/>
            <a:ext cx="1514475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受访者或仅描述个别年份，另有墓祭、家祭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等未被记录</a:t>
            </a:r>
            <a:endParaRPr lang="en-US" sz="700" dirty="0"/>
          </a:p>
        </p:txBody>
      </p:sp>
      <p:sp>
        <p:nvSpPr>
          <p:cNvPr id="61" name="Text 52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本页为中期田野分享，所有陈述为初步观察与待验证假设；引用块逐字取自田野笔记 Day2，未加修饰。「外部参照」口述史的交叉验证、记忆重构与沉默记忆，族谱版本学考辨方法。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50131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121792"/>
            <a:ext cx="8715375" cy="1035844"/>
          </a:xfrm>
          <a:prstGeom prst="roundRect">
            <a:avLst>
              <a:gd name="adj" fmla="val 730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313" y="2158138"/>
            <a:ext cx="8715375" cy="1035844"/>
          </a:xfrm>
          <a:prstGeom prst="roundRect">
            <a:avLst>
              <a:gd name="adj" fmla="val 7306"/>
            </a:avLst>
          </a:prstGeom>
          <a:solidFill>
            <a:srgbClr val="FAF9F5"/>
          </a:solidFill>
          <a:ln w="6191">
            <a:solidFill>
              <a:srgbClr val="E8E6DC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331" y="2567174"/>
            <a:ext cx="8415338" cy="1714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331" y="2738624"/>
            <a:ext cx="8415338" cy="1714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331" y="2910074"/>
            <a:ext cx="8415338" cy="1714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331" y="3081524"/>
            <a:ext cx="8415338" cy="18573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331" y="3267261"/>
            <a:ext cx="8415338" cy="18573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4331" y="3452999"/>
            <a:ext cx="8415338" cy="185738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4331" y="3638736"/>
            <a:ext cx="8415338" cy="185738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4331" y="3824474"/>
            <a:ext cx="8415338" cy="185738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4331" y="4010211"/>
            <a:ext cx="8415338" cy="185738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4331" y="4195949"/>
            <a:ext cx="8415338" cy="185738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4331" y="4381686"/>
            <a:ext cx="8415338" cy="185738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64331" y="4567424"/>
            <a:ext cx="8415338" cy="185738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4331" y="4753161"/>
            <a:ext cx="8415338" cy="185738"/>
          </a:xfrm>
          <a:prstGeom prst="rect">
            <a:avLst/>
          </a:prstGeom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64331" y="4938899"/>
            <a:ext cx="8415338" cy="185738"/>
          </a:xfrm>
          <a:prstGeom prst="rect">
            <a:avLst/>
          </a:prstGeom>
        </p:spPr>
      </p:pic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64331" y="5124636"/>
            <a:ext cx="8415338" cy="185738"/>
          </a:xfrm>
          <a:prstGeom prst="rect">
            <a:avLst/>
          </a:prstGeom>
        </p:spPr>
      </p:pic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64331" y="5310374"/>
            <a:ext cx="8415338" cy="185738"/>
          </a:xfrm>
          <a:prstGeom prst="rect">
            <a:avLst/>
          </a:prstGeom>
        </p:spPr>
      </p:pic>
      <p:pic>
        <p:nvPicPr>
          <p:cNvPr id="22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64331" y="5496111"/>
            <a:ext cx="8415338" cy="185738"/>
          </a:xfrm>
          <a:prstGeom prst="rect">
            <a:avLst/>
          </a:prstGeom>
        </p:spPr>
      </p:pic>
      <p:pic>
        <p:nvPicPr>
          <p:cNvPr id="23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64331" y="5681849"/>
            <a:ext cx="8415338" cy="185738"/>
          </a:xfrm>
          <a:prstGeom prst="rect">
            <a:avLst/>
          </a:prstGeom>
        </p:spPr>
      </p:pic>
      <p:sp>
        <p:nvSpPr>
          <p:cNvPr id="24" name="Shape 4"/>
          <p:cNvSpPr/>
          <p:nvPr/>
        </p:nvSpPr>
        <p:spPr>
          <a:xfrm>
            <a:off x="214313" y="3308059"/>
            <a:ext cx="8715375" cy="1300163"/>
          </a:xfrm>
          <a:prstGeom prst="roundRect">
            <a:avLst>
              <a:gd name="adj" fmla="val 6183"/>
            </a:avLst>
          </a:prstGeom>
          <a:solidFill>
            <a:srgbClr val="141413"/>
          </a:solidFill>
          <a:ln w="6191">
            <a:solidFill>
              <a:srgbClr val="30302E"/>
            </a:solidFill>
            <a:prstDash val="solid"/>
          </a:ln>
        </p:spPr>
      </p:sp>
      <p:sp>
        <p:nvSpPr>
          <p:cNvPr id="25" name="Text 5"/>
          <p:cNvSpPr/>
          <p:nvPr/>
        </p:nvSpPr>
        <p:spPr>
          <a:xfrm>
            <a:off x="214313" y="414338"/>
            <a:ext cx="8715375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Day3 形制观察：民居多为天井院落式，几栋木雕风格明显不同，村民称是“外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姓人”所建、来历说不清——风格差异只是线索而非答案</a:t>
            </a:r>
            <a:endParaRPr lang="en-US" sz="1900" dirty="0"/>
          </a:p>
        </p:txBody>
      </p:sp>
      <p:sp>
        <p:nvSpPr>
          <p:cNvPr id="26" name="Text 6"/>
          <p:cNvSpPr/>
          <p:nvPr/>
        </p:nvSpPr>
        <p:spPr>
          <a:xfrm>
            <a:off x="364331" y="1169789"/>
            <a:ext cx="84153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现场目测 · 未做测绘 · 不作流派与年代判断</a:t>
            </a:r>
            <a:endParaRPr lang="en-US" sz="700" dirty="0"/>
          </a:p>
        </p:txBody>
      </p:sp>
      <p:sp>
        <p:nvSpPr>
          <p:cNvPr id="27" name="Text 7"/>
          <p:cNvSpPr/>
          <p:nvPr/>
        </p:nvSpPr>
        <p:spPr>
          <a:xfrm>
            <a:off x="364331" y="1310153"/>
            <a:ext cx="841533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天井院落式：形制要点与目测字段</a:t>
            </a:r>
            <a:endParaRPr lang="en-US" sz="1000" dirty="0"/>
          </a:p>
        </p:txBody>
      </p:sp>
      <p:sp>
        <p:nvSpPr>
          <p:cNvPr id="28" name="Text 8"/>
          <p:cNvSpPr/>
          <p:nvPr/>
        </p:nvSpPr>
        <p:spPr>
          <a:xfrm>
            <a:off x="364331" y="1516652"/>
            <a:ext cx="84153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天井是宅院内房屋与墙围合而成的露天空地，因光线如井得名；本页形制表述均属观察，而非判定。</a:t>
            </a:r>
            <a:endParaRPr lang="en-US" sz="700" dirty="0"/>
          </a:p>
        </p:txBody>
      </p:sp>
      <p:sp>
        <p:nvSpPr>
          <p:cNvPr id="29" name="Text 9"/>
          <p:cNvSpPr/>
          <p:nvPr/>
        </p:nvSpPr>
        <p:spPr>
          <a:xfrm>
            <a:off x="364331" y="1700659"/>
            <a:ext cx="84153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六个目测记录字段（取自「外部参照」）</a:t>
            </a:r>
            <a:endParaRPr lang="en-US" sz="700" dirty="0"/>
          </a:p>
        </p:txBody>
      </p:sp>
      <p:sp>
        <p:nvSpPr>
          <p:cNvPr id="30" name="Text 10"/>
          <p:cNvSpPr/>
          <p:nvPr/>
        </p:nvSpPr>
        <p:spPr>
          <a:xfrm>
            <a:off x="363103" y="1870323"/>
            <a:ext cx="2778919" cy="214313"/>
          </a:xfrm>
          <a:prstGeom prst="roundRect">
            <a:avLst>
              <a:gd name="adj" fmla="val 2844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天井位置与尺度</a:t>
            </a:r>
            <a:endParaRPr lang="en-US" sz="700" dirty="0"/>
          </a:p>
        </p:txBody>
      </p:sp>
      <p:sp>
        <p:nvSpPr>
          <p:cNvPr id="31" name="Text 11"/>
          <p:cNvSpPr/>
          <p:nvPr/>
        </p:nvSpPr>
        <p:spPr>
          <a:xfrm>
            <a:off x="3182485" y="1870323"/>
            <a:ext cx="2778919" cy="214313"/>
          </a:xfrm>
          <a:prstGeom prst="roundRect">
            <a:avLst>
              <a:gd name="adj" fmla="val 2844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采光面</a:t>
            </a:r>
            <a:endParaRPr lang="en-US" sz="700" dirty="0"/>
          </a:p>
        </p:txBody>
      </p:sp>
      <p:sp>
        <p:nvSpPr>
          <p:cNvPr id="32" name="Text 12"/>
          <p:cNvSpPr/>
          <p:nvPr/>
        </p:nvSpPr>
        <p:spPr>
          <a:xfrm>
            <a:off x="6001866" y="1870323"/>
            <a:ext cx="2778919" cy="214313"/>
          </a:xfrm>
          <a:prstGeom prst="roundRect">
            <a:avLst>
              <a:gd name="adj" fmla="val 2844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排水走向</a:t>
            </a:r>
            <a:endParaRPr lang="en-US" sz="700" dirty="0"/>
          </a:p>
        </p:txBody>
      </p:sp>
      <p:sp>
        <p:nvSpPr>
          <p:cNvPr id="33" name="Text 13"/>
          <p:cNvSpPr/>
          <p:nvPr/>
        </p:nvSpPr>
        <p:spPr>
          <a:xfrm>
            <a:off x="363103" y="2127498"/>
            <a:ext cx="2778919" cy="214313"/>
          </a:xfrm>
          <a:prstGeom prst="roundRect">
            <a:avLst>
              <a:gd name="adj" fmla="val 2844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院落轴线</a:t>
            </a:r>
            <a:endParaRPr lang="en-US" sz="700" dirty="0"/>
          </a:p>
        </p:txBody>
      </p:sp>
      <p:sp>
        <p:nvSpPr>
          <p:cNvPr id="34" name="Text 14"/>
          <p:cNvSpPr/>
          <p:nvPr/>
        </p:nvSpPr>
        <p:spPr>
          <a:xfrm>
            <a:off x="3182485" y="2127498"/>
            <a:ext cx="2778919" cy="214313"/>
          </a:xfrm>
          <a:prstGeom prst="roundRect">
            <a:avLst>
              <a:gd name="adj" fmla="val 2844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厅堂与天井的关系</a:t>
            </a:r>
            <a:endParaRPr lang="en-US" sz="700" dirty="0"/>
          </a:p>
        </p:txBody>
      </p:sp>
      <p:sp>
        <p:nvSpPr>
          <p:cNvPr id="35" name="Text 15"/>
          <p:cNvSpPr/>
          <p:nvPr/>
        </p:nvSpPr>
        <p:spPr>
          <a:xfrm>
            <a:off x="6001866" y="2127498"/>
            <a:ext cx="2778919" cy="214313"/>
          </a:xfrm>
          <a:prstGeom prst="roundRect">
            <a:avLst>
              <a:gd name="adj" fmla="val 28444"/>
            </a:avLst>
          </a:prstGeom>
          <a:solidFill>
            <a:srgbClr val="FFFFFF"/>
          </a:solidFill>
          <a:ln w="6191">
            <a:solidFill>
              <a:srgbClr val="F0EEE6"/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前后进的连通方式</a:t>
            </a:r>
            <a:endParaRPr lang="en-US" sz="700" dirty="0"/>
          </a:p>
        </p:txBody>
      </p:sp>
      <p:sp>
        <p:nvSpPr>
          <p:cNvPr id="36" name="Text 16"/>
          <p:cNvSpPr/>
          <p:nvPr/>
        </p:nvSpPr>
        <p:spPr>
          <a:xfrm>
            <a:off x="364331" y="2384729"/>
            <a:ext cx="84153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「外部参照」民居类型学研究表明，“天井”在不同地域对应多种平面做法；同名不等于同流派，本村形制归属在未测绘、未比对前不可下判。</a:t>
            </a:r>
            <a:endParaRPr lang="en-US" sz="700" dirty="0"/>
          </a:p>
        </p:txBody>
      </p:sp>
      <p:sp>
        <p:nvSpPr>
          <p:cNvPr id="37" name="Text 17"/>
          <p:cNvSpPr/>
          <p:nvPr/>
        </p:nvSpPr>
        <p:spPr>
          <a:xfrm>
            <a:off x="364331" y="2206079"/>
            <a:ext cx="84153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笔记事实：几栋木雕风格明显不同（“几栋”为模糊计数，无精确栋数）</a:t>
            </a:r>
            <a:endParaRPr lang="en-US" sz="700" dirty="0"/>
          </a:p>
        </p:txBody>
      </p:sp>
      <p:sp>
        <p:nvSpPr>
          <p:cNvPr id="38" name="Text 18"/>
          <p:cNvSpPr/>
          <p:nvPr/>
        </p:nvSpPr>
        <p:spPr>
          <a:xfrm>
            <a:off x="364331" y="2346443"/>
            <a:ext cx="841533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A/B 木雕对照：维度已定，取值待采</a:t>
            </a:r>
            <a:endParaRPr lang="en-US" sz="1000" dirty="0"/>
          </a:p>
        </p:txBody>
      </p:sp>
      <p:sp>
        <p:nvSpPr>
          <p:cNvPr id="39" name="Text 19"/>
          <p:cNvSpPr/>
          <p:nvPr/>
        </p:nvSpPr>
        <p:spPr>
          <a:xfrm>
            <a:off x="364331" y="2567174"/>
            <a:ext cx="8415338" cy="171450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对比维度</a:t>
            </a:r>
            <a:endParaRPr lang="en-US" sz="700" dirty="0"/>
          </a:p>
        </p:txBody>
      </p:sp>
      <p:sp>
        <p:nvSpPr>
          <p:cNvPr id="40" name="Text 20"/>
          <p:cNvSpPr/>
          <p:nvPr/>
        </p:nvSpPr>
        <p:spPr>
          <a:xfrm>
            <a:off x="364331" y="2738624"/>
            <a:ext cx="8415338" cy="171450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A 栋（风格甲）</a:t>
            </a:r>
            <a:endParaRPr lang="en-US" sz="700" dirty="0"/>
          </a:p>
        </p:txBody>
      </p:sp>
      <p:sp>
        <p:nvSpPr>
          <p:cNvPr id="41" name="Text 21"/>
          <p:cNvSpPr/>
          <p:nvPr/>
        </p:nvSpPr>
        <p:spPr>
          <a:xfrm>
            <a:off x="364331" y="2910074"/>
            <a:ext cx="8415338" cy="171450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B 栋（风格乙）</a:t>
            </a:r>
            <a:endParaRPr lang="en-US" sz="700" dirty="0"/>
          </a:p>
        </p:txBody>
      </p:sp>
      <p:sp>
        <p:nvSpPr>
          <p:cNvPr id="42" name="Text 22"/>
          <p:cNvSpPr/>
          <p:nvPr/>
        </p:nvSpPr>
        <p:spPr>
          <a:xfrm>
            <a:off x="364331" y="3081524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构图母题与题材系统（人物·山水·花鸟）</a:t>
            </a:r>
            <a:endParaRPr lang="en-US" sz="700" dirty="0"/>
          </a:p>
        </p:txBody>
      </p:sp>
      <p:sp>
        <p:nvSpPr>
          <p:cNvPr id="43" name="Text 23"/>
          <p:cNvSpPr/>
          <p:nvPr/>
        </p:nvSpPr>
        <p:spPr>
          <a:xfrm>
            <a:off x="364331" y="3267261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待专业辨识</a:t>
            </a:r>
            <a:endParaRPr lang="en-US" sz="700" dirty="0"/>
          </a:p>
        </p:txBody>
      </p:sp>
      <p:sp>
        <p:nvSpPr>
          <p:cNvPr id="44" name="Text 24"/>
          <p:cNvSpPr/>
          <p:nvPr/>
        </p:nvSpPr>
        <p:spPr>
          <a:xfrm>
            <a:off x="364331" y="3452999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待专业辨识</a:t>
            </a:r>
            <a:endParaRPr lang="en-US" sz="700" dirty="0"/>
          </a:p>
        </p:txBody>
      </p:sp>
      <p:sp>
        <p:nvSpPr>
          <p:cNvPr id="45" name="Text 25"/>
          <p:cNvSpPr/>
          <p:nvPr/>
        </p:nvSpPr>
        <p:spPr>
          <a:xfrm>
            <a:off x="364331" y="3638736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雕刻深浅与刀法（浮雕·透雕·圆雕）</a:t>
            </a:r>
            <a:endParaRPr lang="en-US" sz="700" dirty="0"/>
          </a:p>
        </p:txBody>
      </p:sp>
      <p:sp>
        <p:nvSpPr>
          <p:cNvPr id="46" name="Text 26"/>
          <p:cNvSpPr/>
          <p:nvPr/>
        </p:nvSpPr>
        <p:spPr>
          <a:xfrm>
            <a:off x="364331" y="3824474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待专业辨识</a:t>
            </a:r>
            <a:endParaRPr lang="en-US" sz="700" dirty="0"/>
          </a:p>
        </p:txBody>
      </p:sp>
      <p:sp>
        <p:nvSpPr>
          <p:cNvPr id="47" name="Text 27"/>
          <p:cNvSpPr/>
          <p:nvPr/>
        </p:nvSpPr>
        <p:spPr>
          <a:xfrm>
            <a:off x="364331" y="4010211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待专业辨识</a:t>
            </a:r>
            <a:endParaRPr lang="en-US" sz="700" dirty="0"/>
          </a:p>
        </p:txBody>
      </p:sp>
      <p:sp>
        <p:nvSpPr>
          <p:cNvPr id="48" name="Text 28"/>
          <p:cNvSpPr/>
          <p:nvPr/>
        </p:nvSpPr>
        <p:spPr>
          <a:xfrm>
            <a:off x="364331" y="4195949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木料树种与后期修补痕迹</a:t>
            </a:r>
            <a:endParaRPr lang="en-US" sz="700" dirty="0"/>
          </a:p>
        </p:txBody>
      </p:sp>
      <p:sp>
        <p:nvSpPr>
          <p:cNvPr id="49" name="Text 29"/>
          <p:cNvSpPr/>
          <p:nvPr/>
        </p:nvSpPr>
        <p:spPr>
          <a:xfrm>
            <a:off x="364331" y="4381686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待拍摄建档</a:t>
            </a:r>
            <a:endParaRPr lang="en-US" sz="700" dirty="0"/>
          </a:p>
        </p:txBody>
      </p:sp>
      <p:sp>
        <p:nvSpPr>
          <p:cNvPr id="50" name="Text 30"/>
          <p:cNvSpPr/>
          <p:nvPr/>
        </p:nvSpPr>
        <p:spPr>
          <a:xfrm>
            <a:off x="364331" y="4567424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待拍摄建档</a:t>
            </a:r>
            <a:endParaRPr lang="en-US" sz="700" dirty="0"/>
          </a:p>
        </p:txBody>
      </p:sp>
      <p:sp>
        <p:nvSpPr>
          <p:cNvPr id="51" name="Text 31"/>
          <p:cNvSpPr/>
          <p:nvPr/>
        </p:nvSpPr>
        <p:spPr>
          <a:xfrm>
            <a:off x="364331" y="4753161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构件与整体风格是否一致（是否“换过料”）</a:t>
            </a:r>
            <a:endParaRPr lang="en-US" sz="700" dirty="0"/>
          </a:p>
        </p:txBody>
      </p:sp>
      <p:sp>
        <p:nvSpPr>
          <p:cNvPr id="52" name="Text 32"/>
          <p:cNvSpPr/>
          <p:nvPr/>
        </p:nvSpPr>
        <p:spPr>
          <a:xfrm>
            <a:off x="364331" y="4938899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待拍摄建档</a:t>
            </a:r>
            <a:endParaRPr lang="en-US" sz="700" dirty="0"/>
          </a:p>
        </p:txBody>
      </p:sp>
      <p:sp>
        <p:nvSpPr>
          <p:cNvPr id="53" name="Text 33"/>
          <p:cNvSpPr/>
          <p:nvPr/>
        </p:nvSpPr>
        <p:spPr>
          <a:xfrm>
            <a:off x="364331" y="5124636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待拍摄建档</a:t>
            </a:r>
            <a:endParaRPr lang="en-US" sz="700" dirty="0"/>
          </a:p>
        </p:txBody>
      </p:sp>
      <p:sp>
        <p:nvSpPr>
          <p:cNvPr id="54" name="Text 34"/>
          <p:cNvSpPr/>
          <p:nvPr/>
        </p:nvSpPr>
        <p:spPr>
          <a:xfrm>
            <a:off x="364331" y="5310374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承载部位（梁枋·雀替插角·门窗隔扇·牛腿）</a:t>
            </a:r>
            <a:endParaRPr lang="en-US" sz="700" dirty="0"/>
          </a:p>
        </p:txBody>
      </p:sp>
      <p:sp>
        <p:nvSpPr>
          <p:cNvPr id="55" name="Text 35"/>
          <p:cNvSpPr/>
          <p:nvPr/>
        </p:nvSpPr>
        <p:spPr>
          <a:xfrm>
            <a:off x="364331" y="5496111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待现场标注</a:t>
            </a:r>
            <a:endParaRPr lang="en-US" sz="700" dirty="0"/>
          </a:p>
        </p:txBody>
      </p:sp>
      <p:sp>
        <p:nvSpPr>
          <p:cNvPr id="56" name="Text 36"/>
          <p:cNvSpPr/>
          <p:nvPr/>
        </p:nvSpPr>
        <p:spPr>
          <a:xfrm>
            <a:off x="364331" y="5681849"/>
            <a:ext cx="8415338" cy="185738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待现场标注</a:t>
            </a:r>
            <a:endParaRPr lang="en-US" sz="700" dirty="0"/>
          </a:p>
        </p:txBody>
      </p:sp>
      <p:sp>
        <p:nvSpPr>
          <p:cNvPr id="57" name="Text 37"/>
          <p:cNvSpPr/>
          <p:nvPr/>
        </p:nvSpPr>
        <p:spPr>
          <a:xfrm>
            <a:off x="364331" y="5910504"/>
            <a:ext cx="841533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记录者初步印象“风格明显不同”；证据状态：无照片、无测绘、无文献旁证，取值需拍摄建档并请建筑与工艺专业者辨识。</a:t>
            </a:r>
            <a:endParaRPr lang="en-US" sz="700" dirty="0"/>
          </a:p>
        </p:txBody>
      </p:sp>
      <p:sp>
        <p:nvSpPr>
          <p:cNvPr id="58" name="Text 38"/>
          <p:cNvSpPr/>
          <p:nvPr/>
        </p:nvSpPr>
        <p:spPr>
          <a:xfrm>
            <a:off x="392906" y="3356781"/>
            <a:ext cx="835818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初步观察 · 存疑待考 · 村民转述，未经交叉验证</a:t>
            </a:r>
            <a:endParaRPr lang="en-US" sz="700" dirty="0"/>
          </a:p>
        </p:txBody>
      </p:sp>
      <p:sp>
        <p:nvSpPr>
          <p:cNvPr id="59" name="Text 39"/>
          <p:cNvSpPr/>
          <p:nvPr/>
        </p:nvSpPr>
        <p:spPr>
          <a:xfrm>
            <a:off x="392906" y="3497145"/>
            <a:ext cx="835818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存疑核心：“外姓人”是谁，来历说不清</a:t>
            </a:r>
            <a:endParaRPr lang="en-US" sz="1000" dirty="0"/>
          </a:p>
        </p:txBody>
      </p:sp>
      <p:sp>
        <p:nvSpPr>
          <p:cNvPr id="60" name="Text 40"/>
          <p:cNvSpPr/>
          <p:nvPr/>
        </p:nvSpPr>
        <p:spPr>
          <a:xfrm>
            <a:off x="392906" y="3703644"/>
            <a:ext cx="8859679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村民称这几栋房子是</a:t>
            </a:r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“外姓人”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建的、</a:t>
            </a:r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“来历说不清”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；身份完全未证实，不得指认任何姓氏、族群或历史人群。差异也可能来自观察者主观判断，需拍摄建档后由专业者复核。</a:t>
            </a:r>
            <a:endParaRPr lang="en-US" sz="700" dirty="0"/>
          </a:p>
        </p:txBody>
      </p:sp>
      <p:sp>
        <p:nvSpPr>
          <p:cNvPr id="61" name="Text 41"/>
          <p:cNvSpPr/>
          <p:nvPr/>
        </p:nvSpPr>
        <p:spPr>
          <a:xfrm>
            <a:off x="392906" y="3844789"/>
            <a:ext cx="8358188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五条并列可能解释（互不排斥，均可并存）</a:t>
            </a:r>
            <a:endParaRPr lang="en-US" sz="700" dirty="0"/>
          </a:p>
        </p:txBody>
      </p:sp>
      <p:sp>
        <p:nvSpPr>
          <p:cNvPr id="62" name="Text 42"/>
          <p:cNvSpPr/>
          <p:nvPr/>
        </p:nvSpPr>
        <p:spPr>
          <a:xfrm>
            <a:off x="393576" y="4000221"/>
            <a:ext cx="1635919" cy="228600"/>
          </a:xfrm>
          <a:prstGeom prst="roundRect">
            <a:avLst>
              <a:gd name="adj" fmla="val 25000"/>
            </a:avLst>
          </a:prstGeom>
          <a:solidFill>
            <a:srgbClr val="30302E"/>
          </a:solidFill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①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不同时期营建或后代改建换料</a:t>
            </a:r>
            <a:endParaRPr lang="en-US" sz="700" dirty="0"/>
          </a:p>
        </p:txBody>
      </p:sp>
      <p:sp>
        <p:nvSpPr>
          <p:cNvPr id="63" name="Text 43"/>
          <p:cNvSpPr/>
          <p:nvPr/>
        </p:nvSpPr>
        <p:spPr>
          <a:xfrm>
            <a:off x="2073752" y="4000221"/>
            <a:ext cx="1635919" cy="228600"/>
          </a:xfrm>
          <a:prstGeom prst="roundRect">
            <a:avLst>
              <a:gd name="adj" fmla="val 25000"/>
            </a:avLst>
          </a:prstGeom>
          <a:solidFill>
            <a:srgbClr val="30302E"/>
          </a:solidFill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②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外来工匠或不同流派施工</a:t>
            </a:r>
            <a:endParaRPr lang="en-US" sz="700" dirty="0"/>
          </a:p>
        </p:txBody>
      </p:sp>
      <p:sp>
        <p:nvSpPr>
          <p:cNvPr id="64" name="Text 44"/>
          <p:cNvSpPr/>
          <p:nvPr/>
        </p:nvSpPr>
        <p:spPr>
          <a:xfrm>
            <a:off x="3753985" y="4000277"/>
            <a:ext cx="1635919" cy="371475"/>
          </a:xfrm>
          <a:prstGeom prst="roundRect">
            <a:avLst>
              <a:gd name="adj" fmla="val 9467"/>
            </a:avLst>
          </a:prstGeom>
          <a:solidFill>
            <a:srgbClr val="30302E"/>
          </a:solidFill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③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外来户、赘婿或经商寄居者置产</a:t>
            </a:r>
            <a:endParaRPr lang="en-US" sz="700" dirty="0"/>
          </a:p>
        </p:txBody>
      </p:sp>
      <p:sp>
        <p:nvSpPr>
          <p:cNvPr id="65" name="Text 45"/>
          <p:cNvSpPr/>
          <p:nvPr/>
        </p:nvSpPr>
        <p:spPr>
          <a:xfrm>
            <a:off x="5434217" y="4000221"/>
            <a:ext cx="1635919" cy="228600"/>
          </a:xfrm>
          <a:prstGeom prst="roundRect">
            <a:avLst>
              <a:gd name="adj" fmla="val 25000"/>
            </a:avLst>
          </a:prstGeom>
          <a:solidFill>
            <a:srgbClr val="30302E"/>
          </a:solidFill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④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战乱或灾后重建</a:t>
            </a:r>
            <a:endParaRPr lang="en-US" sz="700" dirty="0"/>
          </a:p>
        </p:txBody>
      </p:sp>
      <p:sp>
        <p:nvSpPr>
          <p:cNvPr id="66" name="Text 46"/>
          <p:cNvSpPr/>
          <p:nvPr/>
        </p:nvSpPr>
        <p:spPr>
          <a:xfrm>
            <a:off x="7114394" y="4000277"/>
            <a:ext cx="1635919" cy="371475"/>
          </a:xfrm>
          <a:prstGeom prst="roundRect">
            <a:avLst>
              <a:gd name="adj" fmla="val 9467"/>
            </a:avLst>
          </a:prstGeom>
          <a:solidFill>
            <a:srgbClr val="30302E"/>
          </a:solidFill>
          <a:ln/>
        </p:spPr>
        <p:txBody>
          <a:bodyPr wrap="square" lIns="48578" tIns="36433" rIns="48578" bIns="36433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⑤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村民叙事本身即是一种记忆建构</a:t>
            </a:r>
            <a:endParaRPr lang="en-US" sz="700" dirty="0"/>
          </a:p>
        </p:txBody>
      </p:sp>
      <p:sp>
        <p:nvSpPr>
          <p:cNvPr id="67" name="Text 47"/>
          <p:cNvSpPr/>
          <p:nvPr/>
        </p:nvSpPr>
        <p:spPr>
          <a:xfrm>
            <a:off x="392906" y="4414782"/>
            <a:ext cx="8358188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核验路径：流派比对 → 构件断代 → 方志碑刻契约检索 → 族谱姓氏核对 → 多支系访谈</a:t>
            </a:r>
            <a:endParaRPr lang="en-US" sz="700" dirty="0"/>
          </a:p>
        </p:txBody>
      </p:sp>
      <p:sp>
        <p:nvSpPr>
          <p:cNvPr id="68" name="Text 48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来源：用户田野笔记 Day3（现场目测，未做测绘；村民转述，未经交叉验证）·「外部参照」仅用于形制类型学与木雕辨识维度，不判定本村建筑年代、流派与建造者身份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5097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069274"/>
            <a:ext cx="4086225" cy="1228725"/>
          </a:xfrm>
          <a:prstGeom prst="roundRect">
            <a:avLst>
              <a:gd name="adj" fmla="val 519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1456" y="1074409"/>
            <a:ext cx="4071938" cy="278606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6" name="Shape 4"/>
          <p:cNvSpPr/>
          <p:nvPr/>
        </p:nvSpPr>
        <p:spPr>
          <a:xfrm>
            <a:off x="350044" y="1381367"/>
            <a:ext cx="3814763" cy="221456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044" y="1381367"/>
            <a:ext cx="3814763" cy="221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0044" y="1603828"/>
            <a:ext cx="3814763" cy="221456"/>
          </a:xfrm>
          <a:prstGeom prst="rect">
            <a:avLst/>
          </a:prstGeom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044" y="1603828"/>
            <a:ext cx="3814763" cy="221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0044" y="1826289"/>
            <a:ext cx="3814763" cy="221456"/>
          </a:xfrm>
          <a:prstGeom prst="rect">
            <a:avLst/>
          </a:prstGeom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044" y="1826289"/>
            <a:ext cx="3814763" cy="2214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568428" y="1066540"/>
            <a:ext cx="7144" cy="421481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3" name="Shape 8"/>
          <p:cNvSpPr/>
          <p:nvPr/>
        </p:nvSpPr>
        <p:spPr>
          <a:xfrm>
            <a:off x="4471988" y="1530102"/>
            <a:ext cx="200025" cy="307181"/>
          </a:xfrm>
          <a:prstGeom prst="roundRect">
            <a:avLst>
              <a:gd name="adj" fmla="val 32653"/>
            </a:avLst>
          </a:prstGeom>
          <a:solidFill>
            <a:srgbClr val="E8E6DC"/>
          </a:solidFill>
          <a:ln/>
        </p:spPr>
      </p:sp>
      <p:sp>
        <p:nvSpPr>
          <p:cNvPr id="14" name="Shape 9"/>
          <p:cNvSpPr/>
          <p:nvPr/>
        </p:nvSpPr>
        <p:spPr>
          <a:xfrm>
            <a:off x="4568428" y="1879364"/>
            <a:ext cx="7144" cy="421481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5" name="Shape 10"/>
          <p:cNvSpPr/>
          <p:nvPr/>
        </p:nvSpPr>
        <p:spPr>
          <a:xfrm>
            <a:off x="4843463" y="1069274"/>
            <a:ext cx="4086225" cy="1228725"/>
          </a:xfrm>
          <a:prstGeom prst="roundRect">
            <a:avLst>
              <a:gd name="adj" fmla="val 519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50606" y="1074409"/>
            <a:ext cx="4071938" cy="278606"/>
          </a:xfrm>
          <a:prstGeom prst="rect">
            <a:avLst/>
          </a:prstGeom>
          <a:solidFill>
            <a:srgbClr val="30302E"/>
          </a:solidFill>
          <a:ln/>
        </p:spPr>
      </p:sp>
      <p:sp>
        <p:nvSpPr>
          <p:cNvPr id="17" name="Shape 12"/>
          <p:cNvSpPr/>
          <p:nvPr/>
        </p:nvSpPr>
        <p:spPr>
          <a:xfrm>
            <a:off x="4979194" y="1381367"/>
            <a:ext cx="3814763" cy="221456"/>
          </a:xfrm>
          <a:prstGeom prst="rect">
            <a:avLst/>
          </a:prstGeom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9194" y="1381367"/>
            <a:ext cx="3814763" cy="221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979194" y="1603828"/>
            <a:ext cx="3814763" cy="221456"/>
          </a:xfrm>
          <a:prstGeom prst="rect">
            <a:avLst/>
          </a:prstGeom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79194" y="1603828"/>
            <a:ext cx="3814763" cy="22145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979194" y="1826289"/>
            <a:ext cx="3814763" cy="221456"/>
          </a:xfrm>
          <a:prstGeom prst="rect">
            <a:avLst/>
          </a:prstGeom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9194" y="1826289"/>
            <a:ext cx="3814763" cy="221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214313" y="2385008"/>
            <a:ext cx="8715375" cy="664369"/>
          </a:xfrm>
          <a:prstGeom prst="roundRect">
            <a:avLst>
              <a:gd name="adj" fmla="val 4440"/>
            </a:avLst>
          </a:prstGeom>
          <a:solidFill>
            <a:srgbClr val="30302E"/>
          </a:solidFill>
          <a:ln/>
        </p:spPr>
      </p:sp>
      <p:sp>
        <p:nvSpPr>
          <p:cNvPr id="24" name="Shape 16"/>
          <p:cNvSpPr/>
          <p:nvPr/>
        </p:nvSpPr>
        <p:spPr>
          <a:xfrm>
            <a:off x="3500437" y="2470733"/>
            <a:ext cx="5286375" cy="492919"/>
          </a:xfrm>
          <a:prstGeom prst="rect">
            <a:avLst/>
          </a:prstGeom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00437" y="2470733"/>
            <a:ext cx="5286375" cy="492919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215485" y="3134432"/>
            <a:ext cx="1378744" cy="750094"/>
          </a:xfrm>
          <a:prstGeom prst="roundRect">
            <a:avLst>
              <a:gd name="adj" fmla="val 928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1682297" y="3134432"/>
            <a:ext cx="1378744" cy="750094"/>
          </a:xfrm>
          <a:prstGeom prst="roundRect">
            <a:avLst>
              <a:gd name="adj" fmla="val 928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3149110" y="3134432"/>
            <a:ext cx="1378744" cy="750094"/>
          </a:xfrm>
          <a:prstGeom prst="roundRect">
            <a:avLst>
              <a:gd name="adj" fmla="val 928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4615979" y="3134432"/>
            <a:ext cx="1378744" cy="750094"/>
          </a:xfrm>
          <a:prstGeom prst="roundRect">
            <a:avLst>
              <a:gd name="adj" fmla="val 928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6082847" y="3134432"/>
            <a:ext cx="1378744" cy="750094"/>
          </a:xfrm>
          <a:prstGeom prst="roundRect">
            <a:avLst>
              <a:gd name="adj" fmla="val 928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549660" y="3134432"/>
            <a:ext cx="1378744" cy="750094"/>
          </a:xfrm>
          <a:prstGeom prst="roundRect">
            <a:avLst>
              <a:gd name="adj" fmla="val 928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214313" y="412552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新修的仿古街，与没钱修的老宅——一处“矛盾挺典型”的现场</a:t>
            </a:r>
            <a:endParaRPr lang="en-US" sz="1900" dirty="0"/>
          </a:p>
        </p:txBody>
      </p:sp>
      <p:sp>
        <p:nvSpPr>
          <p:cNvPr id="33" name="Text 24"/>
          <p:cNvSpPr/>
          <p:nvPr/>
        </p:nvSpPr>
        <p:spPr>
          <a:xfrm>
            <a:off x="214313" y="846534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笔记只确认三条事实：村里在搞旅游开发、新修了仿古街、老宅本体保护反而没钱投；资金投向错位是初步印象，机制尚未查证，两侧属性差异只是观感对照，不作因果断言。</a:t>
            </a:r>
            <a:endParaRPr lang="en-US" sz="700" dirty="0"/>
          </a:p>
        </p:txBody>
      </p:sp>
      <p:sp>
        <p:nvSpPr>
          <p:cNvPr id="34" name="Text 25"/>
          <p:cNvSpPr/>
          <p:nvPr/>
        </p:nvSpPr>
        <p:spPr>
          <a:xfrm>
            <a:off x="350100" y="1131559"/>
            <a:ext cx="678656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新修仿古街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3287409" y="1183686"/>
            <a:ext cx="878681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5F4ED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现场直接观察 · 新建可见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350044" y="1416751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空间形态</a:t>
            </a:r>
            <a:endParaRPr lang="en-US" sz="700" dirty="0"/>
          </a:p>
        </p:txBody>
      </p:sp>
      <p:sp>
        <p:nvSpPr>
          <p:cNvPr id="37" name="Text 28"/>
          <p:cNvSpPr/>
          <p:nvPr/>
        </p:nvSpPr>
        <p:spPr>
          <a:xfrm>
            <a:off x="964406" y="1417086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集中连片、沿街可见，一处即可看全</a:t>
            </a:r>
            <a:endParaRPr lang="en-US" sz="700" dirty="0"/>
          </a:p>
        </p:txBody>
      </p:sp>
      <p:sp>
        <p:nvSpPr>
          <p:cNvPr id="38" name="Text 29"/>
          <p:cNvSpPr/>
          <p:nvPr/>
        </p:nvSpPr>
        <p:spPr>
          <a:xfrm>
            <a:off x="350044" y="1639212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可见性</a:t>
            </a:r>
            <a:endParaRPr lang="en-US" sz="700" dirty="0"/>
          </a:p>
        </p:txBody>
      </p:sp>
      <p:sp>
        <p:nvSpPr>
          <p:cNvPr id="39" name="Text 30"/>
          <p:cNvSpPr/>
          <p:nvPr/>
        </p:nvSpPr>
        <p:spPr>
          <a:xfrm>
            <a:off x="964406" y="1639546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易展示、易验收、可一次成像</a:t>
            </a:r>
            <a:endParaRPr lang="en-US" sz="700" dirty="0"/>
          </a:p>
        </p:txBody>
      </p:sp>
      <p:sp>
        <p:nvSpPr>
          <p:cNvPr id="40" name="Text 31"/>
          <p:cNvSpPr/>
          <p:nvPr/>
        </p:nvSpPr>
        <p:spPr>
          <a:xfrm>
            <a:off x="350044" y="1861672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建成时间</a:t>
            </a:r>
            <a:endParaRPr lang="en-US" sz="700" dirty="0"/>
          </a:p>
        </p:txBody>
      </p:sp>
      <p:sp>
        <p:nvSpPr>
          <p:cNvPr id="41" name="Text 32"/>
          <p:cNvSpPr/>
          <p:nvPr/>
        </p:nvSpPr>
        <p:spPr>
          <a:xfrm>
            <a:off x="964406" y="1862007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短，属新建工程（建成时间未知，待查）</a:t>
            </a:r>
            <a:endParaRPr lang="en-US" sz="700" dirty="0"/>
          </a:p>
        </p:txBody>
      </p:sp>
      <p:sp>
        <p:nvSpPr>
          <p:cNvPr id="42" name="Text 33"/>
          <p:cNvSpPr/>
          <p:nvPr/>
        </p:nvSpPr>
        <p:spPr>
          <a:xfrm>
            <a:off x="350044" y="2084133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资金来源</a:t>
            </a:r>
            <a:endParaRPr lang="en-US" sz="700" dirty="0"/>
          </a:p>
        </p:txBody>
      </p:sp>
      <p:sp>
        <p:nvSpPr>
          <p:cNvPr id="43" name="Text 34"/>
          <p:cNvSpPr/>
          <p:nvPr/>
        </p:nvSpPr>
        <p:spPr>
          <a:xfrm>
            <a:off x="964406" y="2084468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工程项目资金路径清晰；本村出资方未知，待查</a:t>
            </a:r>
            <a:endParaRPr lang="en-US" sz="700" dirty="0"/>
          </a:p>
        </p:txBody>
      </p:sp>
      <p:sp>
        <p:nvSpPr>
          <p:cNvPr id="44" name="Text 35"/>
          <p:cNvSpPr/>
          <p:nvPr/>
        </p:nvSpPr>
        <p:spPr>
          <a:xfrm>
            <a:off x="4529082" y="1570844"/>
            <a:ext cx="8572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</a:t>
            </a:r>
            <a:endParaRPr lang="en-US" sz="700" dirty="0"/>
          </a:p>
        </p:txBody>
      </p:sp>
      <p:sp>
        <p:nvSpPr>
          <p:cNvPr id="45" name="Text 36"/>
          <p:cNvSpPr/>
          <p:nvPr/>
        </p:nvSpPr>
        <p:spPr>
          <a:xfrm>
            <a:off x="4529082" y="1682242"/>
            <a:ext cx="85725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照</a:t>
            </a:r>
            <a:endParaRPr lang="en-US" sz="700" dirty="0"/>
          </a:p>
        </p:txBody>
      </p:sp>
      <p:sp>
        <p:nvSpPr>
          <p:cNvPr id="46" name="Text 37"/>
          <p:cNvSpPr/>
          <p:nvPr/>
        </p:nvSpPr>
        <p:spPr>
          <a:xfrm>
            <a:off x="4979250" y="1131559"/>
            <a:ext cx="81438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老宅本体保护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7751080" y="1183686"/>
            <a:ext cx="1042988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现场印象 + 未见投入 · 待验证</a:t>
            </a:r>
            <a:endParaRPr lang="en-US" sz="700" dirty="0"/>
          </a:p>
        </p:txBody>
      </p:sp>
      <p:sp>
        <p:nvSpPr>
          <p:cNvPr id="48" name="Text 39"/>
          <p:cNvSpPr/>
          <p:nvPr/>
        </p:nvSpPr>
        <p:spPr>
          <a:xfrm>
            <a:off x="4979194" y="1416751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空间形态</a:t>
            </a:r>
            <a:endParaRPr lang="en-US" sz="700" dirty="0"/>
          </a:p>
        </p:txBody>
      </p:sp>
      <p:sp>
        <p:nvSpPr>
          <p:cNvPr id="49" name="Text 40"/>
          <p:cNvSpPr/>
          <p:nvPr/>
        </p:nvSpPr>
        <p:spPr>
          <a:xfrm>
            <a:off x="5593556" y="1417086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分散于约40栋天井院落（估算，待核）</a:t>
            </a:r>
            <a:endParaRPr lang="en-US" sz="700" dirty="0"/>
          </a:p>
        </p:txBody>
      </p:sp>
      <p:sp>
        <p:nvSpPr>
          <p:cNvPr id="50" name="Text 41"/>
          <p:cNvSpPr/>
          <p:nvPr/>
        </p:nvSpPr>
        <p:spPr>
          <a:xfrm>
            <a:off x="4979194" y="1639212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产权协调</a:t>
            </a:r>
            <a:endParaRPr lang="en-US" sz="700" dirty="0"/>
          </a:p>
        </p:txBody>
      </p:sp>
      <p:sp>
        <p:nvSpPr>
          <p:cNvPr id="51" name="Text 42"/>
          <p:cNvSpPr/>
          <p:nvPr/>
        </p:nvSpPr>
        <p:spPr>
          <a:xfrm>
            <a:off x="5593556" y="1639546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产权与住户分散，需逐户协调，协调成本高</a:t>
            </a:r>
            <a:endParaRPr lang="en-US" sz="700" dirty="0"/>
          </a:p>
        </p:txBody>
      </p:sp>
      <p:sp>
        <p:nvSpPr>
          <p:cNvPr id="52" name="Text 43"/>
          <p:cNvSpPr/>
          <p:nvPr/>
        </p:nvSpPr>
        <p:spPr>
          <a:xfrm>
            <a:off x="4979194" y="1861672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见效速度</a:t>
            </a:r>
            <a:endParaRPr lang="en-US" sz="700" dirty="0"/>
          </a:p>
        </p:txBody>
      </p:sp>
      <p:sp>
        <p:nvSpPr>
          <p:cNvPr id="53" name="Text 44"/>
          <p:cNvSpPr/>
          <p:nvPr/>
        </p:nvSpPr>
        <p:spPr>
          <a:xfrm>
            <a:off x="5593556" y="1862007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过程性、见效慢，需逐栋台账</a:t>
            </a:r>
            <a:endParaRPr lang="en-US" sz="700" dirty="0"/>
          </a:p>
        </p:txBody>
      </p:sp>
      <p:sp>
        <p:nvSpPr>
          <p:cNvPr id="54" name="Text 45"/>
          <p:cNvSpPr/>
          <p:nvPr/>
        </p:nvSpPr>
        <p:spPr>
          <a:xfrm>
            <a:off x="4979194" y="2084133"/>
            <a:ext cx="542925" cy="1214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修缮成本</a:t>
            </a:r>
            <a:endParaRPr lang="en-US" sz="700" dirty="0"/>
          </a:p>
        </p:txBody>
      </p:sp>
      <p:sp>
        <p:nvSpPr>
          <p:cNvPr id="55" name="Text 46"/>
          <p:cNvSpPr/>
          <p:nvPr/>
        </p:nvSpPr>
        <p:spPr>
          <a:xfrm>
            <a:off x="5593556" y="2084468"/>
            <a:ext cx="32004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造价高；被要求保持传统风貌与传统技术材料（外部参照）</a:t>
            </a:r>
            <a:endParaRPr lang="en-US" sz="700" dirty="0"/>
          </a:p>
        </p:txBody>
      </p:sp>
      <p:sp>
        <p:nvSpPr>
          <p:cNvPr id="56" name="Text 47"/>
          <p:cNvSpPr/>
          <p:nvPr/>
        </p:nvSpPr>
        <p:spPr>
          <a:xfrm>
            <a:off x="356853" y="2504666"/>
            <a:ext cx="514350" cy="135731"/>
          </a:xfrm>
          <a:prstGeom prst="roundRect">
            <a:avLst>
              <a:gd name="adj" fmla="val 53186"/>
            </a:avLst>
          </a:prstGeom>
          <a:solidFill>
            <a:srgbClr val="C96442"/>
          </a:solidFill>
          <a:ln/>
        </p:spPr>
        <p:txBody>
          <a:bodyPr wrap="none" lIns="48578" tIns="6072" rIns="48578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 · 待考</a:t>
            </a:r>
            <a:endParaRPr lang="en-US" sz="700" dirty="0"/>
          </a:p>
        </p:txBody>
      </p:sp>
      <p:sp>
        <p:nvSpPr>
          <p:cNvPr id="57" name="Text 48"/>
          <p:cNvSpPr/>
          <p:nvPr/>
        </p:nvSpPr>
        <p:spPr>
          <a:xfrm>
            <a:off x="357188" y="2685045"/>
            <a:ext cx="3000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“矛盾挺典型”是笔记作者本人的评述，属研究者初步判断而非村民陈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述；本页把这句判断拆成六个并列开放问题，不作因果结论。</a:t>
            </a:r>
            <a:endParaRPr lang="en-US" sz="700" dirty="0"/>
          </a:p>
        </p:txBody>
      </p:sp>
      <p:sp>
        <p:nvSpPr>
          <p:cNvPr id="58" name="Text 49"/>
          <p:cNvSpPr/>
          <p:nvPr/>
        </p:nvSpPr>
        <p:spPr>
          <a:xfrm>
            <a:off x="3650512" y="2471179"/>
            <a:ext cx="17859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待查</a:t>
            </a:r>
            <a:endParaRPr lang="en-US" sz="700" dirty="0"/>
          </a:p>
        </p:txBody>
      </p:sp>
      <p:sp>
        <p:nvSpPr>
          <p:cNvPr id="59" name="Text 50"/>
          <p:cNvSpPr/>
          <p:nvPr/>
        </p:nvSpPr>
        <p:spPr>
          <a:xfrm>
            <a:off x="3886367" y="2471179"/>
            <a:ext cx="250031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仿古街资金来源与出资方：未知，待查项目立项与竣工验收材料</a:t>
            </a:r>
            <a:endParaRPr lang="en-US" sz="700" dirty="0"/>
          </a:p>
        </p:txBody>
      </p:sp>
      <p:sp>
        <p:nvSpPr>
          <p:cNvPr id="60" name="Text 51"/>
          <p:cNvSpPr/>
          <p:nvPr/>
        </p:nvSpPr>
        <p:spPr>
          <a:xfrm>
            <a:off x="3650512" y="2636379"/>
            <a:ext cx="17859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待查</a:t>
            </a:r>
            <a:endParaRPr lang="en-US" sz="700" dirty="0"/>
          </a:p>
        </p:txBody>
      </p:sp>
      <p:sp>
        <p:nvSpPr>
          <p:cNvPr id="61" name="Text 52"/>
          <p:cNvSpPr/>
          <p:nvPr/>
        </p:nvSpPr>
        <p:spPr>
          <a:xfrm>
            <a:off x="3886367" y="2636379"/>
            <a:ext cx="267890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老宅修缮预算是否存在及缺口规模：未知，待查村委账目与逐栋台账</a:t>
            </a:r>
            <a:endParaRPr lang="en-US" sz="700" dirty="0"/>
          </a:p>
        </p:txBody>
      </p:sp>
      <p:sp>
        <p:nvSpPr>
          <p:cNvPr id="62" name="Text 53"/>
          <p:cNvSpPr/>
          <p:nvPr/>
        </p:nvSpPr>
        <p:spPr>
          <a:xfrm>
            <a:off x="3650512" y="2801578"/>
            <a:ext cx="178594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7757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待查</a:t>
            </a:r>
            <a:endParaRPr lang="en-US" sz="700" dirty="0"/>
          </a:p>
        </p:txBody>
      </p:sp>
      <p:sp>
        <p:nvSpPr>
          <p:cNvPr id="63" name="Text 54"/>
          <p:cNvSpPr/>
          <p:nvPr/>
        </p:nvSpPr>
        <p:spPr>
          <a:xfrm>
            <a:off x="3884581" y="2801578"/>
            <a:ext cx="29503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名录资格、保护发展规划与补助申报记录：未知，待查名录公告与资金公示</a:t>
            </a:r>
            <a:endParaRPr lang="en-US" sz="700" dirty="0"/>
          </a:p>
        </p:txBody>
      </p:sp>
      <p:sp>
        <p:nvSpPr>
          <p:cNvPr id="64" name="Text 55"/>
          <p:cNvSpPr/>
          <p:nvPr/>
        </p:nvSpPr>
        <p:spPr>
          <a:xfrm>
            <a:off x="308353" y="3199395"/>
            <a:ext cx="1193006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Q1</a:t>
            </a:r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资金是否按“可展示、可验收”口径投放？</a:t>
            </a:r>
            <a:endParaRPr lang="en-US" sz="700" dirty="0"/>
          </a:p>
        </p:txBody>
      </p:sp>
      <p:sp>
        <p:nvSpPr>
          <p:cNvPr id="65" name="Text 56"/>
          <p:cNvSpPr/>
          <p:nvPr/>
        </p:nvSpPr>
        <p:spPr>
          <a:xfrm>
            <a:off x="308353" y="3477555"/>
            <a:ext cx="1193006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若成立：项目清单与验收材料集中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在街巷、立面、节点景观。</a:t>
            </a:r>
            <a:endParaRPr lang="en-US" sz="700" dirty="0"/>
          </a:p>
        </p:txBody>
      </p:sp>
      <p:sp>
        <p:nvSpPr>
          <p:cNvPr id="66" name="Text 57"/>
          <p:cNvSpPr/>
          <p:nvPr/>
        </p:nvSpPr>
        <p:spPr>
          <a:xfrm>
            <a:off x="1775166" y="3199395"/>
            <a:ext cx="1193006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Q2</a:t>
            </a:r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产权与住户分散是否抬高了修缮协调成本？</a:t>
            </a:r>
            <a:endParaRPr lang="en-US" sz="700" dirty="0"/>
          </a:p>
        </p:txBody>
      </p:sp>
      <p:sp>
        <p:nvSpPr>
          <p:cNvPr id="67" name="Text 58"/>
          <p:cNvSpPr/>
          <p:nvPr/>
        </p:nvSpPr>
        <p:spPr>
          <a:xfrm>
            <a:off x="1775166" y="3477555"/>
            <a:ext cx="1193006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若成立：可见逐栋权属、住户意愿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记录与协调未果暂缓的表述。</a:t>
            </a:r>
            <a:endParaRPr lang="en-US" sz="700" dirty="0"/>
          </a:p>
        </p:txBody>
      </p:sp>
      <p:sp>
        <p:nvSpPr>
          <p:cNvPr id="68" name="Text 59"/>
          <p:cNvSpPr/>
          <p:nvPr/>
        </p:nvSpPr>
        <p:spPr>
          <a:xfrm>
            <a:off x="3241979" y="3199395"/>
            <a:ext cx="1193006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Q3</a:t>
            </a:r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开发主体与保护责任主体是否分离？</a:t>
            </a:r>
            <a:endParaRPr lang="en-US" sz="700" dirty="0"/>
          </a:p>
        </p:txBody>
      </p:sp>
      <p:sp>
        <p:nvSpPr>
          <p:cNvPr id="69" name="Text 60"/>
          <p:cNvSpPr/>
          <p:nvPr/>
        </p:nvSpPr>
        <p:spPr>
          <a:xfrm>
            <a:off x="3241979" y="3477555"/>
            <a:ext cx="1193006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若成立：仿古街由运营方建设，保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护责任在村委或主管部门。</a:t>
            </a:r>
            <a:endParaRPr lang="en-US" sz="700" dirty="0"/>
          </a:p>
        </p:txBody>
      </p:sp>
      <p:sp>
        <p:nvSpPr>
          <p:cNvPr id="70" name="Text 61"/>
          <p:cNvSpPr/>
          <p:nvPr/>
        </p:nvSpPr>
        <p:spPr>
          <a:xfrm>
            <a:off x="4708847" y="3199395"/>
            <a:ext cx="1193006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Q4</a:t>
            </a:r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保护资金渠道是否未被申请或未被激活？</a:t>
            </a:r>
            <a:endParaRPr lang="en-US" sz="700" dirty="0"/>
          </a:p>
        </p:txBody>
      </p:sp>
      <p:sp>
        <p:nvSpPr>
          <p:cNvPr id="71" name="Text 62"/>
          <p:cNvSpPr/>
          <p:nvPr/>
        </p:nvSpPr>
        <p:spPr>
          <a:xfrm>
            <a:off x="4708847" y="3477332"/>
            <a:ext cx="1193006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若成立：查不到专项补助、示范项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目或名录资格的申报批复。外部参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照：渠道存在不等于已申请。</a:t>
            </a:r>
            <a:endParaRPr lang="en-US" sz="700" dirty="0"/>
          </a:p>
        </p:txBody>
      </p:sp>
      <p:sp>
        <p:nvSpPr>
          <p:cNvPr id="72" name="Text 63"/>
          <p:cNvSpPr/>
          <p:nvPr/>
        </p:nvSpPr>
        <p:spPr>
          <a:xfrm>
            <a:off x="6175716" y="3199395"/>
            <a:ext cx="1193006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Q5</a:t>
            </a:r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旅游收益是否未反哺本体保护？</a:t>
            </a:r>
            <a:endParaRPr lang="en-US" sz="700" dirty="0"/>
          </a:p>
        </p:txBody>
      </p:sp>
      <p:sp>
        <p:nvSpPr>
          <p:cNvPr id="73" name="Text 64"/>
          <p:cNvSpPr/>
          <p:nvPr/>
        </p:nvSpPr>
        <p:spPr>
          <a:xfrm>
            <a:off x="6175716" y="3477555"/>
            <a:ext cx="1193006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若成立：收益分配方案中无保护专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项科目或提取比例。</a:t>
            </a:r>
            <a:endParaRPr lang="en-US" sz="700" dirty="0"/>
          </a:p>
        </p:txBody>
      </p:sp>
      <p:sp>
        <p:nvSpPr>
          <p:cNvPr id="74" name="Text 65"/>
          <p:cNvSpPr/>
          <p:nvPr/>
        </p:nvSpPr>
        <p:spPr>
          <a:xfrm>
            <a:off x="7642529" y="3199395"/>
            <a:ext cx="1193006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Q6</a:t>
            </a:r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是否存在尚未了解到的修缮投入？</a:t>
            </a:r>
            <a:endParaRPr lang="en-US" sz="700" dirty="0"/>
          </a:p>
        </p:txBody>
      </p:sp>
      <p:sp>
        <p:nvSpPr>
          <p:cNvPr id="75" name="Text 66"/>
          <p:cNvSpPr/>
          <p:nvPr/>
        </p:nvSpPr>
        <p:spPr>
          <a:xfrm>
            <a:off x="7642529" y="3477332"/>
            <a:ext cx="1193006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完全可能：抢险加固、屋面抢修或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住户自费维修，须向村委、主管部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门与运营方核实。</a:t>
            </a:r>
            <a:endParaRPr lang="en-US" sz="700" dirty="0"/>
          </a:p>
        </p:txBody>
      </p:sp>
      <p:sp>
        <p:nvSpPr>
          <p:cNvPr id="76" name="Text 67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来源：用户田野笔记 Day1 / Day4（现场可确证事实三条：村里在搞旅游开发、新修了仿古街、老宅本体保护反而没钱投） · 外部参照：传统村落集中连片保护利用示范补助的资金使用范围含传统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建筑保护修缮与环境整治，仅作政策与案例语境；同类村落案例属外部案例、非本村 · 本页不含任何本村资金金额、投资比例、游客量与年代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5097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5485" y="1047899"/>
            <a:ext cx="2807494" cy="2400300"/>
          </a:xfrm>
          <a:prstGeom prst="roundRect">
            <a:avLst>
              <a:gd name="adj" fmla="val 1361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785" y="1127150"/>
            <a:ext cx="2578894" cy="350044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785" y="1127150"/>
            <a:ext cx="2578894" cy="350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9785" y="1982167"/>
            <a:ext cx="2578894" cy="550069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785" y="1982167"/>
            <a:ext cx="2578894" cy="55006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9785" y="2550151"/>
            <a:ext cx="2578894" cy="485775"/>
          </a:xfrm>
          <a:prstGeom prst="rect">
            <a:avLst/>
          </a:prstGeom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785" y="2550151"/>
            <a:ext cx="2578894" cy="4857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29785" y="3054958"/>
            <a:ext cx="2578894" cy="314325"/>
          </a:xfrm>
          <a:prstGeom prst="rect">
            <a:avLst/>
          </a:prstGeom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9785" y="3054958"/>
            <a:ext cx="2578894" cy="3143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1247" y="3126060"/>
            <a:ext cx="2307431" cy="235744"/>
          </a:xfrm>
          <a:prstGeom prst="rect">
            <a:avLst/>
          </a:prstGeom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247" y="3126060"/>
            <a:ext cx="2307431" cy="23574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3168197" y="1047899"/>
            <a:ext cx="2807494" cy="2400300"/>
          </a:xfrm>
          <a:prstGeom prst="roundRect">
            <a:avLst>
              <a:gd name="adj" fmla="val 1361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3282497" y="1127150"/>
            <a:ext cx="2578894" cy="350044"/>
          </a:xfrm>
          <a:prstGeom prst="rect">
            <a:avLst/>
          </a:prstGeom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82497" y="1127150"/>
            <a:ext cx="2578894" cy="350044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3282497" y="1982167"/>
            <a:ext cx="2578894" cy="550069"/>
          </a:xfrm>
          <a:prstGeom prst="rect">
            <a:avLst/>
          </a:prstGeom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82497" y="1982167"/>
            <a:ext cx="2578894" cy="550069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3282497" y="2550151"/>
            <a:ext cx="2578894" cy="485775"/>
          </a:xfrm>
          <a:prstGeom prst="rect">
            <a:avLst/>
          </a:prstGeom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82497" y="2550151"/>
            <a:ext cx="2578894" cy="485775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3282497" y="3054958"/>
            <a:ext cx="2578894" cy="314325"/>
          </a:xfrm>
          <a:prstGeom prst="rect">
            <a:avLst/>
          </a:prstGeom>
          <a:ln/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282497" y="3054958"/>
            <a:ext cx="2578894" cy="314325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553960" y="3126060"/>
            <a:ext cx="2307431" cy="235744"/>
          </a:xfrm>
          <a:prstGeom prst="rect">
            <a:avLst/>
          </a:prstGeom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3960" y="3126060"/>
            <a:ext cx="2307431" cy="235744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6120966" y="1047899"/>
            <a:ext cx="2807494" cy="2400300"/>
          </a:xfrm>
          <a:prstGeom prst="roundRect">
            <a:avLst>
              <a:gd name="adj" fmla="val 1361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27" name="Shape 15"/>
          <p:cNvSpPr/>
          <p:nvPr/>
        </p:nvSpPr>
        <p:spPr>
          <a:xfrm>
            <a:off x="6235266" y="1127150"/>
            <a:ext cx="2578894" cy="350044"/>
          </a:xfrm>
          <a:prstGeom prst="rect">
            <a:avLst/>
          </a:prstGeom>
          <a:ln/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35266" y="1127150"/>
            <a:ext cx="2578894" cy="350044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6235266" y="1982167"/>
            <a:ext cx="2578894" cy="550069"/>
          </a:xfrm>
          <a:prstGeom prst="rect">
            <a:avLst/>
          </a:prstGeom>
          <a:ln/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35266" y="1982167"/>
            <a:ext cx="2578894" cy="550069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6235266" y="2550151"/>
            <a:ext cx="2578894" cy="485775"/>
          </a:xfrm>
          <a:prstGeom prst="rect">
            <a:avLst/>
          </a:prstGeom>
          <a:ln/>
        </p:spPr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35266" y="2550151"/>
            <a:ext cx="2578894" cy="485775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6235266" y="3054958"/>
            <a:ext cx="2578894" cy="314325"/>
          </a:xfrm>
          <a:prstGeom prst="rect">
            <a:avLst/>
          </a:prstGeom>
          <a:ln/>
        </p:spPr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235266" y="3054958"/>
            <a:ext cx="2578894" cy="314325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6506728" y="3126060"/>
            <a:ext cx="2307431" cy="235744"/>
          </a:xfrm>
          <a:prstGeom prst="rect">
            <a:avLst/>
          </a:prstGeom>
          <a:ln/>
        </p:spPr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06728" y="3126060"/>
            <a:ext cx="2307431" cy="235744"/>
          </a:xfrm>
          <a:prstGeom prst="rect">
            <a:avLst/>
          </a:prstGeom>
        </p:spPr>
      </p:pic>
      <p:sp>
        <p:nvSpPr>
          <p:cNvPr id="37" name="Shape 20"/>
          <p:cNvSpPr/>
          <p:nvPr/>
        </p:nvSpPr>
        <p:spPr>
          <a:xfrm>
            <a:off x="214313" y="3519971"/>
            <a:ext cx="4286250" cy="371475"/>
          </a:xfrm>
          <a:prstGeom prst="roundRect">
            <a:avLst>
              <a:gd name="adj" fmla="val 946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38" name="Shape 21"/>
          <p:cNvSpPr/>
          <p:nvPr/>
        </p:nvSpPr>
        <p:spPr>
          <a:xfrm>
            <a:off x="4643437" y="3519971"/>
            <a:ext cx="4286250" cy="371475"/>
          </a:xfrm>
          <a:prstGeom prst="roundRect">
            <a:avLst>
              <a:gd name="adj" fmla="val 9467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39" name="Text 22"/>
          <p:cNvSpPr/>
          <p:nvPr/>
        </p:nvSpPr>
        <p:spPr>
          <a:xfrm>
            <a:off x="214313" y="412552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初步感受提炼为三条主线——各自仍是一组待验证命题，而非结论</a:t>
            </a:r>
            <a:endParaRPr lang="en-US" sz="1900" dirty="0"/>
          </a:p>
        </p:txBody>
      </p:sp>
      <p:sp>
        <p:nvSpPr>
          <p:cNvPr id="40" name="Text 23"/>
          <p:cNvSpPr/>
          <p:nvPr/>
        </p:nvSpPr>
        <p:spPr>
          <a:xfrm>
            <a:off x="214313" y="847204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本页只提出问题、不下结论：三条主线取自笔记“初步感受”原文，均为后续方向；栏内命题一律写成疑问句，本村数值均为估算或口述，待核。</a:t>
            </a:r>
            <a:endParaRPr lang="en-US" sz="700" dirty="0"/>
          </a:p>
        </p:txBody>
      </p:sp>
      <p:sp>
        <p:nvSpPr>
          <p:cNvPr id="41" name="Text 24"/>
          <p:cNvSpPr/>
          <p:nvPr/>
        </p:nvSpPr>
        <p:spPr>
          <a:xfrm>
            <a:off x="328612" y="1126480"/>
            <a:ext cx="14287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①</a:t>
            </a:r>
            <a:endParaRPr lang="en-US" sz="1100" dirty="0"/>
          </a:p>
        </p:txBody>
      </p:sp>
      <p:sp>
        <p:nvSpPr>
          <p:cNvPr id="42" name="Text 25"/>
          <p:cNvSpPr/>
          <p:nvPr/>
        </p:nvSpPr>
        <p:spPr>
          <a:xfrm>
            <a:off x="521550" y="1132898"/>
            <a:ext cx="407194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空心化</a:t>
            </a:r>
            <a:endParaRPr lang="en-US" sz="1000" dirty="0"/>
          </a:p>
        </p:txBody>
      </p:sp>
      <p:sp>
        <p:nvSpPr>
          <p:cNvPr id="43" name="Text 26"/>
          <p:cNvSpPr/>
          <p:nvPr/>
        </p:nvSpPr>
        <p:spPr>
          <a:xfrm>
            <a:off x="2433005" y="1147130"/>
            <a:ext cx="478631" cy="128588"/>
          </a:xfrm>
          <a:prstGeom prst="roundRect">
            <a:avLst>
              <a:gd name="adj" fmla="val 59259"/>
            </a:avLst>
          </a:prstGeom>
          <a:solidFill>
            <a:srgbClr val="E8E6DC"/>
          </a:solidFill>
          <a:ln/>
        </p:spPr>
        <p:txBody>
          <a:bodyPr wrap="none" lIns="42505" tIns="12144" rIns="42505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存疑／待考</a:t>
            </a:r>
            <a:endParaRPr lang="en-US" sz="700" dirty="0"/>
          </a:p>
        </p:txBody>
      </p:sp>
      <p:sp>
        <p:nvSpPr>
          <p:cNvPr id="44" name="Text 27"/>
          <p:cNvSpPr/>
          <p:nvPr/>
        </p:nvSpPr>
        <p:spPr>
          <a:xfrm>
            <a:off x="329785" y="1319306"/>
            <a:ext cx="257889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Day1 · 一位观察者直接观察 · 估算／口述，待核</a:t>
            </a:r>
            <a:endParaRPr lang="en-US" sz="700" dirty="0"/>
          </a:p>
        </p:txBody>
      </p:sp>
      <p:sp>
        <p:nvSpPr>
          <p:cNvPr id="45" name="Text 28"/>
          <p:cNvSpPr/>
          <p:nvPr/>
        </p:nvSpPr>
        <p:spPr>
          <a:xfrm>
            <a:off x="328613" y="1549636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观察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证据</a:t>
            </a:r>
            <a:endParaRPr lang="en-US" sz="700" dirty="0"/>
          </a:p>
        </p:txBody>
      </p:sp>
      <p:sp>
        <p:nvSpPr>
          <p:cNvPr id="46" name="Text 29"/>
          <p:cNvSpPr/>
          <p:nvPr/>
        </p:nvSpPr>
        <p:spPr>
          <a:xfrm>
            <a:off x="601247" y="1549915"/>
            <a:ext cx="230743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老宅约40栋——估算，未建逐栋台账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住人不到一半——口述印象，口径未明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年轻人外出打工，留守多为老人</a:t>
            </a:r>
            <a:endParaRPr lang="en-US" sz="700" dirty="0"/>
          </a:p>
        </p:txBody>
      </p:sp>
      <p:sp>
        <p:nvSpPr>
          <p:cNvPr id="47" name="Text 30"/>
          <p:cNvSpPr/>
          <p:nvPr/>
        </p:nvSpPr>
        <p:spPr>
          <a:xfrm>
            <a:off x="328613" y="2054721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初步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命题</a:t>
            </a:r>
            <a:endParaRPr lang="en-US" sz="700" dirty="0"/>
          </a:p>
        </p:txBody>
      </p:sp>
      <p:sp>
        <p:nvSpPr>
          <p:cNvPr id="48" name="Text 31"/>
          <p:cNvSpPr/>
          <p:nvPr/>
        </p:nvSpPr>
        <p:spPr>
          <a:xfrm>
            <a:off x="601247" y="2053605"/>
            <a:ext cx="2307431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空心化是否已经形成，还是仍在形成中？</a:t>
            </a:r>
            <a:endParaRPr lang="en-US" sz="700" dirty="0"/>
          </a:p>
          <a:p>
            <a:pPr algn="l" indent="0" marL="0">
              <a:spcBef>
                <a:spcPts val="225"/>
              </a:spcBef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若已形成，机制是务工外流还是居住偏好转移？</a:t>
            </a:r>
            <a:endParaRPr lang="en-US" sz="700" dirty="0"/>
          </a:p>
          <a:p>
            <a:pPr algn="l" indent="0" marL="0">
              <a:spcBef>
                <a:spcPts val="225"/>
              </a:spcBef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是否可逆？该看哪些指标、多长观察窗？</a:t>
            </a:r>
            <a:endParaRPr lang="en-US" sz="700" dirty="0"/>
          </a:p>
        </p:txBody>
      </p:sp>
      <p:sp>
        <p:nvSpPr>
          <p:cNvPr id="49" name="Text 32"/>
          <p:cNvSpPr/>
          <p:nvPr/>
        </p:nvSpPr>
        <p:spPr>
          <a:xfrm>
            <a:off x="328613" y="2621310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反例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</a:t>
            </a:r>
            <a:endParaRPr lang="en-US" sz="700" dirty="0"/>
          </a:p>
        </p:txBody>
      </p:sp>
      <p:sp>
        <p:nvSpPr>
          <p:cNvPr id="50" name="Text 33"/>
          <p:cNvSpPr/>
          <p:nvPr/>
        </p:nvSpPr>
        <p:spPr>
          <a:xfrm>
            <a:off x="601247" y="2621589"/>
            <a:ext cx="230743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季节性居住：只在农忙、节庆、婚丧时住人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口径偏差：一户多宅、白天在老宅夜宿子女家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反向可能：旅游开发或正抑制空心化，待检验</a:t>
            </a:r>
            <a:endParaRPr lang="en-US" sz="700" dirty="0"/>
          </a:p>
        </p:txBody>
      </p:sp>
      <p:sp>
        <p:nvSpPr>
          <p:cNvPr id="51" name="Text 34"/>
          <p:cNvSpPr/>
          <p:nvPr/>
        </p:nvSpPr>
        <p:spPr>
          <a:xfrm>
            <a:off x="328613" y="3126395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强度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自评</a:t>
            </a:r>
            <a:endParaRPr lang="en-US" sz="700" dirty="0"/>
          </a:p>
        </p:txBody>
      </p:sp>
      <p:sp>
        <p:nvSpPr>
          <p:cNvPr id="52" name="Text 35"/>
          <p:cNvSpPr/>
          <p:nvPr/>
        </p:nvSpPr>
        <p:spPr>
          <a:xfrm>
            <a:off x="678656" y="3124274"/>
            <a:ext cx="257175" cy="135731"/>
          </a:xfrm>
          <a:prstGeom prst="roundRect">
            <a:avLst>
              <a:gd name="adj" fmla="val 53186"/>
            </a:avLst>
          </a:prstGeom>
          <a:solidFill>
            <a:srgbClr val="30302E"/>
          </a:solidFill>
          <a:ln/>
        </p:spPr>
        <p:txBody>
          <a:bodyPr wrap="none" lIns="42505" tIns="6072" rIns="42505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中弱</a:t>
            </a:r>
            <a:endParaRPr lang="en-US" sz="700" dirty="0"/>
          </a:p>
        </p:txBody>
      </p:sp>
      <p:sp>
        <p:nvSpPr>
          <p:cNvPr id="53" name="Text 36"/>
          <p:cNvSpPr/>
          <p:nvPr/>
        </p:nvSpPr>
        <p:spPr>
          <a:xfrm>
            <a:off x="992981" y="3126060"/>
            <a:ext cx="1335881" cy="2357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可见性高；户籍与普查台账可查，未查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四天窗口统一折减，整体偏弱</a:t>
            </a:r>
            <a:endParaRPr lang="en-US" sz="700" dirty="0"/>
          </a:p>
        </p:txBody>
      </p:sp>
      <p:sp>
        <p:nvSpPr>
          <p:cNvPr id="54" name="Text 37"/>
          <p:cNvSpPr/>
          <p:nvPr/>
        </p:nvSpPr>
        <p:spPr>
          <a:xfrm>
            <a:off x="3281325" y="1126480"/>
            <a:ext cx="14287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②</a:t>
            </a:r>
            <a:endParaRPr lang="en-US" sz="1100" dirty="0"/>
          </a:p>
        </p:txBody>
      </p:sp>
      <p:sp>
        <p:nvSpPr>
          <p:cNvPr id="55" name="Text 38"/>
          <p:cNvSpPr/>
          <p:nvPr/>
        </p:nvSpPr>
        <p:spPr>
          <a:xfrm>
            <a:off x="3474262" y="1132898"/>
            <a:ext cx="81438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文化记忆断层</a:t>
            </a:r>
            <a:endParaRPr lang="en-US" sz="1000" dirty="0"/>
          </a:p>
        </p:txBody>
      </p:sp>
      <p:sp>
        <p:nvSpPr>
          <p:cNvPr id="56" name="Text 39"/>
          <p:cNvSpPr/>
          <p:nvPr/>
        </p:nvSpPr>
        <p:spPr>
          <a:xfrm>
            <a:off x="5385718" y="1147130"/>
            <a:ext cx="478631" cy="128588"/>
          </a:xfrm>
          <a:prstGeom prst="roundRect">
            <a:avLst>
              <a:gd name="adj" fmla="val 59259"/>
            </a:avLst>
          </a:prstGeom>
          <a:solidFill>
            <a:srgbClr val="E8E6DC"/>
          </a:solidFill>
          <a:ln/>
        </p:spPr>
        <p:txBody>
          <a:bodyPr wrap="none" lIns="42505" tIns="12144" rIns="42505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存疑／待考</a:t>
            </a:r>
            <a:endParaRPr lang="en-US" sz="700" dirty="0"/>
          </a:p>
        </p:txBody>
      </p:sp>
      <p:sp>
        <p:nvSpPr>
          <p:cNvPr id="57" name="Text 40"/>
          <p:cNvSpPr/>
          <p:nvPr/>
        </p:nvSpPr>
        <p:spPr>
          <a:xfrm>
            <a:off x="3282497" y="1319306"/>
            <a:ext cx="257889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Day2–Day3 · 老人口述＋村民转述 · 未交叉验证</a:t>
            </a:r>
            <a:endParaRPr lang="en-US" sz="700" dirty="0"/>
          </a:p>
        </p:txBody>
      </p:sp>
      <p:sp>
        <p:nvSpPr>
          <p:cNvPr id="58" name="Text 41"/>
          <p:cNvSpPr/>
          <p:nvPr/>
        </p:nvSpPr>
        <p:spPr>
          <a:xfrm>
            <a:off x="3281325" y="1549636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观察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证据</a:t>
            </a:r>
            <a:endParaRPr lang="en-US" sz="700" dirty="0"/>
          </a:p>
        </p:txBody>
      </p:sp>
      <p:sp>
        <p:nvSpPr>
          <p:cNvPr id="59" name="Text 42"/>
          <p:cNvSpPr/>
          <p:nvPr/>
        </p:nvSpPr>
        <p:spPr>
          <a:xfrm>
            <a:off x="3553960" y="1549915"/>
            <a:ext cx="230743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仪式：祭祖由每年清明改为现在三年一次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文本：族谱焚毁后凭记忆补写（原标待考）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叙事：几栋木雕风格迥异，称“外姓人”建</a:t>
            </a:r>
            <a:endParaRPr lang="en-US" sz="700" dirty="0"/>
          </a:p>
        </p:txBody>
      </p:sp>
      <p:sp>
        <p:nvSpPr>
          <p:cNvPr id="60" name="Text 43"/>
          <p:cNvSpPr/>
          <p:nvPr/>
        </p:nvSpPr>
        <p:spPr>
          <a:xfrm>
            <a:off x="3281325" y="2054721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初步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命题</a:t>
            </a:r>
            <a:endParaRPr lang="en-US" sz="700" dirty="0"/>
          </a:p>
        </p:txBody>
      </p:sp>
      <p:sp>
        <p:nvSpPr>
          <p:cNvPr id="61" name="Text 44"/>
          <p:cNvSpPr/>
          <p:nvPr/>
        </p:nvSpPr>
        <p:spPr>
          <a:xfrm>
            <a:off x="3553960" y="2053605"/>
            <a:ext cx="2307431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断层在仪式、文本还是叙事层面？三者同源？</a:t>
            </a:r>
            <a:endParaRPr lang="en-US" sz="700" dirty="0"/>
          </a:p>
          <a:p>
            <a:pPr algn="l" indent="0" marL="0">
              <a:spcBef>
                <a:spcPts val="225"/>
              </a:spcBef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三年一次起于哪一年、由谁决定、原因为何？</a:t>
            </a:r>
            <a:endParaRPr lang="en-US" sz="700" dirty="0"/>
          </a:p>
          <a:p>
            <a:pPr algn="l" indent="0" marL="0">
              <a:spcBef>
                <a:spcPts val="225"/>
              </a:spcBef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“外姓人”是史实线索，还是记忆建构本身？</a:t>
            </a:r>
            <a:endParaRPr lang="en-US" sz="700" dirty="0"/>
          </a:p>
        </p:txBody>
      </p:sp>
      <p:sp>
        <p:nvSpPr>
          <p:cNvPr id="62" name="Text 45"/>
          <p:cNvSpPr/>
          <p:nvPr/>
        </p:nvSpPr>
        <p:spPr>
          <a:xfrm>
            <a:off x="3281325" y="2621310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反例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</a:t>
            </a:r>
            <a:endParaRPr lang="en-US" sz="700" dirty="0"/>
          </a:p>
        </p:txBody>
      </p:sp>
      <p:sp>
        <p:nvSpPr>
          <p:cNvPr id="63" name="Text 46"/>
          <p:cNvSpPr/>
          <p:nvPr/>
        </p:nvSpPr>
        <p:spPr>
          <a:xfrm>
            <a:off x="3553960" y="2621589"/>
            <a:ext cx="230743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仪式重组：节期合并、轮值或异地线上参与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叙事模板：“被烧后凭记忆补写”多地常见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风格差异另有成因：工匠流派、改建、移建</a:t>
            </a:r>
            <a:endParaRPr lang="en-US" sz="700" dirty="0"/>
          </a:p>
        </p:txBody>
      </p:sp>
      <p:sp>
        <p:nvSpPr>
          <p:cNvPr id="64" name="Text 47"/>
          <p:cNvSpPr/>
          <p:nvPr/>
        </p:nvSpPr>
        <p:spPr>
          <a:xfrm>
            <a:off x="3281325" y="3126395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强度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自评</a:t>
            </a:r>
            <a:endParaRPr lang="en-US" sz="700" dirty="0"/>
          </a:p>
        </p:txBody>
      </p:sp>
      <p:sp>
        <p:nvSpPr>
          <p:cNvPr id="65" name="Text 48"/>
          <p:cNvSpPr/>
          <p:nvPr/>
        </p:nvSpPr>
        <p:spPr>
          <a:xfrm>
            <a:off x="3631369" y="3124274"/>
            <a:ext cx="178594" cy="135731"/>
          </a:xfrm>
          <a:prstGeom prst="roundRect">
            <a:avLst>
              <a:gd name="adj" fmla="val 53186"/>
            </a:avLst>
          </a:prstGeom>
          <a:solidFill>
            <a:srgbClr val="B53333"/>
          </a:solidFill>
          <a:ln/>
        </p:spPr>
        <p:txBody>
          <a:bodyPr wrap="none" lIns="42505" tIns="6072" rIns="42505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弱</a:t>
            </a:r>
            <a:endParaRPr lang="en-US" sz="700" dirty="0"/>
          </a:p>
        </p:txBody>
      </p:sp>
      <p:sp>
        <p:nvSpPr>
          <p:cNvPr id="66" name="Text 49"/>
          <p:cNvSpPr/>
          <p:nvPr/>
        </p:nvSpPr>
        <p:spPr>
          <a:xfrm>
            <a:off x="3867113" y="3126060"/>
            <a:ext cx="1178719" cy="2357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单一口述＋单一转述，未多源比对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族谱、碑刻、方志可核，尚未查阅</a:t>
            </a:r>
            <a:endParaRPr lang="en-US" sz="700" dirty="0"/>
          </a:p>
        </p:txBody>
      </p:sp>
      <p:sp>
        <p:nvSpPr>
          <p:cNvPr id="67" name="Text 50"/>
          <p:cNvSpPr/>
          <p:nvPr/>
        </p:nvSpPr>
        <p:spPr>
          <a:xfrm>
            <a:off x="6234038" y="1126480"/>
            <a:ext cx="142875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③</a:t>
            </a:r>
            <a:endParaRPr lang="en-US" sz="1100" dirty="0"/>
          </a:p>
        </p:txBody>
      </p:sp>
      <p:sp>
        <p:nvSpPr>
          <p:cNvPr id="68" name="Text 51"/>
          <p:cNvSpPr/>
          <p:nvPr/>
        </p:nvSpPr>
        <p:spPr>
          <a:xfrm>
            <a:off x="6426975" y="1132898"/>
            <a:ext cx="950119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保护与开发错位</a:t>
            </a:r>
            <a:endParaRPr lang="en-US" sz="1000" dirty="0"/>
          </a:p>
        </p:txBody>
      </p:sp>
      <p:sp>
        <p:nvSpPr>
          <p:cNvPr id="69" name="Text 52"/>
          <p:cNvSpPr/>
          <p:nvPr/>
        </p:nvSpPr>
        <p:spPr>
          <a:xfrm>
            <a:off x="8338542" y="1147130"/>
            <a:ext cx="478631" cy="128588"/>
          </a:xfrm>
          <a:prstGeom prst="roundRect">
            <a:avLst>
              <a:gd name="adj" fmla="val 59259"/>
            </a:avLst>
          </a:prstGeom>
          <a:solidFill>
            <a:srgbClr val="E8E6DC"/>
          </a:solidFill>
          <a:ln/>
        </p:spPr>
        <p:txBody>
          <a:bodyPr wrap="none" lIns="42505" tIns="12144" rIns="42505" bIns="12144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存疑／待考</a:t>
            </a:r>
            <a:endParaRPr lang="en-US" sz="700" dirty="0"/>
          </a:p>
        </p:txBody>
      </p:sp>
      <p:sp>
        <p:nvSpPr>
          <p:cNvPr id="70" name="Text 53"/>
          <p:cNvSpPr/>
          <p:nvPr/>
        </p:nvSpPr>
        <p:spPr>
          <a:xfrm>
            <a:off x="6235266" y="1319306"/>
            <a:ext cx="2578894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Day4 · 现场可见＋观察者判断 · 无文书佐证</a:t>
            </a:r>
            <a:endParaRPr lang="en-US" sz="700" dirty="0"/>
          </a:p>
        </p:txBody>
      </p:sp>
      <p:sp>
        <p:nvSpPr>
          <p:cNvPr id="71" name="Text 54"/>
          <p:cNvSpPr/>
          <p:nvPr/>
        </p:nvSpPr>
        <p:spPr>
          <a:xfrm>
            <a:off x="6234038" y="1549636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观察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证据</a:t>
            </a:r>
            <a:endParaRPr lang="en-US" sz="700" dirty="0"/>
          </a:p>
        </p:txBody>
      </p:sp>
      <p:sp>
        <p:nvSpPr>
          <p:cNvPr id="72" name="Text 55"/>
          <p:cNvSpPr/>
          <p:nvPr/>
        </p:nvSpPr>
        <p:spPr>
          <a:xfrm>
            <a:off x="6506728" y="1549915"/>
            <a:ext cx="230743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村里在搞旅游开发，新修了仿古街（可见）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老宅本体未见修缮投入（现场可见）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“没钱投”属观察者判断，尚缺佐证</a:t>
            </a:r>
            <a:endParaRPr lang="en-US" sz="700" dirty="0"/>
          </a:p>
        </p:txBody>
      </p:sp>
      <p:sp>
        <p:nvSpPr>
          <p:cNvPr id="73" name="Text 56"/>
          <p:cNvSpPr/>
          <p:nvPr/>
        </p:nvSpPr>
        <p:spPr>
          <a:xfrm>
            <a:off x="6234038" y="2054721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初步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命题</a:t>
            </a:r>
            <a:endParaRPr lang="en-US" sz="700" dirty="0"/>
          </a:p>
        </p:txBody>
      </p:sp>
      <p:sp>
        <p:nvSpPr>
          <p:cNvPr id="74" name="Text 57"/>
          <p:cNvSpPr/>
          <p:nvPr/>
        </p:nvSpPr>
        <p:spPr>
          <a:xfrm>
            <a:off x="6506728" y="2053605"/>
            <a:ext cx="2307431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错位来自资金机制、产权结构还是价值排序？</a:t>
            </a:r>
            <a:endParaRPr lang="en-US" sz="700" dirty="0"/>
          </a:p>
          <a:p>
            <a:pPr algn="l" indent="0" marL="0">
              <a:spcBef>
                <a:spcPts val="225"/>
              </a:spcBef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仿古街与本体保护资金是否同一池子？</a:t>
            </a:r>
            <a:endParaRPr lang="en-US" sz="700" dirty="0"/>
          </a:p>
          <a:p>
            <a:pPr algn="l" indent="0" marL="0">
              <a:spcBef>
                <a:spcPts val="225"/>
              </a:spcBef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决策主体是谁？收益与成本如何分配？</a:t>
            </a:r>
            <a:endParaRPr lang="en-US" sz="700" dirty="0"/>
          </a:p>
        </p:txBody>
      </p:sp>
      <p:sp>
        <p:nvSpPr>
          <p:cNvPr id="75" name="Text 58"/>
          <p:cNvSpPr/>
          <p:nvPr/>
        </p:nvSpPr>
        <p:spPr>
          <a:xfrm>
            <a:off x="6234038" y="2621310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反例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</a:t>
            </a:r>
            <a:endParaRPr lang="en-US" sz="700" dirty="0"/>
          </a:p>
        </p:txBody>
      </p:sp>
      <p:sp>
        <p:nvSpPr>
          <p:cNvPr id="76" name="Text 59"/>
          <p:cNvSpPr/>
          <p:nvPr/>
        </p:nvSpPr>
        <p:spPr>
          <a:xfrm>
            <a:off x="6506728" y="2621589"/>
            <a:ext cx="2307431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收益或按约定反哺本体，只是未见公示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专项资金或有指定用途，不覆盖私有老宅</a:t>
            </a:r>
            <a:endParaRPr lang="en-US" sz="700" dirty="0"/>
          </a:p>
          <a:p>
            <a:pPr algn="l" indent="0" marL="0">
              <a:spcBef>
                <a:spcPts val="169"/>
              </a:spcBef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私有老宅修缮义务或在产权人而非村集体</a:t>
            </a:r>
            <a:endParaRPr lang="en-US" sz="700" dirty="0"/>
          </a:p>
        </p:txBody>
      </p:sp>
      <p:sp>
        <p:nvSpPr>
          <p:cNvPr id="77" name="Text 60"/>
          <p:cNvSpPr/>
          <p:nvPr/>
        </p:nvSpPr>
        <p:spPr>
          <a:xfrm>
            <a:off x="6234038" y="3126395"/>
            <a:ext cx="200025" cy="2428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强度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自评</a:t>
            </a:r>
            <a:endParaRPr lang="en-US" sz="700" dirty="0"/>
          </a:p>
        </p:txBody>
      </p:sp>
      <p:sp>
        <p:nvSpPr>
          <p:cNvPr id="78" name="Text 61"/>
          <p:cNvSpPr/>
          <p:nvPr/>
        </p:nvSpPr>
        <p:spPr>
          <a:xfrm>
            <a:off x="6584082" y="3124274"/>
            <a:ext cx="257175" cy="135731"/>
          </a:xfrm>
          <a:prstGeom prst="roundRect">
            <a:avLst>
              <a:gd name="adj" fmla="val 53186"/>
            </a:avLst>
          </a:prstGeom>
          <a:solidFill>
            <a:srgbClr val="30302E"/>
          </a:solidFill>
          <a:ln/>
        </p:spPr>
        <p:txBody>
          <a:bodyPr wrap="none" lIns="42505" tIns="6072" rIns="42505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中弱</a:t>
            </a:r>
            <a:endParaRPr lang="en-US" sz="700" dirty="0"/>
          </a:p>
        </p:txBody>
      </p:sp>
      <p:sp>
        <p:nvSpPr>
          <p:cNvPr id="79" name="Text 62"/>
          <p:cNvSpPr/>
          <p:nvPr/>
        </p:nvSpPr>
        <p:spPr>
          <a:xfrm>
            <a:off x="6898407" y="3126060"/>
            <a:ext cx="1493044" cy="2357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资金与产权不可见；规划、公示、合同可查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未查；四天窗口统一折减，整体偏弱</a:t>
            </a:r>
            <a:endParaRPr lang="en-US" sz="700" dirty="0"/>
          </a:p>
        </p:txBody>
      </p:sp>
      <p:sp>
        <p:nvSpPr>
          <p:cNvPr id="80" name="Text 63"/>
          <p:cNvSpPr/>
          <p:nvPr/>
        </p:nvSpPr>
        <p:spPr>
          <a:xfrm>
            <a:off x="321469" y="3584265"/>
            <a:ext cx="4071938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评级口径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　信息源数量 · 可观察性 · 可文献核验性三维自评；“四天、单日单点、未跨季节复访、未查档案”为统一折减项，任一维度最高只给到中，当前整体偏弱。</a:t>
            </a:r>
            <a:endParaRPr lang="en-US" sz="700" dirty="0"/>
          </a:p>
        </p:txBody>
      </p:sp>
      <p:sp>
        <p:nvSpPr>
          <p:cNvPr id="81" name="Text 64"/>
          <p:cNvSpPr/>
          <p:nvPr/>
        </p:nvSpPr>
        <p:spPr>
          <a:xfrm>
            <a:off x="4750594" y="3584265"/>
            <a:ext cx="4071938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外部参照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　仅作讨论坐标，不含本村数值：传统村落名录与保护政策（建村〔2014〕61号、第六批名录、财办建〔2023〕8号）· 空心化测度框架 · 族谱与宗族仪式研究 · 旅游开发与原真性争鸣。</a:t>
            </a:r>
            <a:endParaRPr lang="en-US" sz="700" dirty="0"/>
          </a:p>
        </p:txBody>
      </p:sp>
      <p:sp>
        <p:nvSpPr>
          <p:cNvPr id="82" name="Text 65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三条主线是后续方向，不是结论；本页所有命题均为疑问句，所有本村数值均为估算或口述，待核。三条主线之间是否互为因果同属开放问题，本页不预设任何因果链，相关表述仅为待检验的关系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假设。当前证据整体偏弱：多为单点观察、单一信息源、四天窗口、尚未查阅档案与规划文本 · 来源：用户田野笔记 Day1–Day4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50131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328738"/>
            <a:ext cx="5829300" cy="2600325"/>
          </a:xfrm>
          <a:prstGeom prst="roundRect">
            <a:avLst>
              <a:gd name="adj" fmla="val 1159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456" y="1335881"/>
            <a:ext cx="285750" cy="15716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206" y="1335881"/>
            <a:ext cx="2357438" cy="15716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4644" y="1335881"/>
            <a:ext cx="1357313" cy="157163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21956" y="1335881"/>
            <a:ext cx="1285875" cy="157163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07831" y="1335881"/>
            <a:ext cx="542925" cy="157163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1456" y="1493044"/>
            <a:ext cx="285750" cy="271463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507206" y="1493044"/>
            <a:ext cx="2357438" cy="271463"/>
          </a:xfrm>
          <a:prstGeom prst="rect">
            <a:avLst/>
          </a:prstGeom>
          <a:ln/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7206" y="1493044"/>
            <a:ext cx="2357438" cy="271463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864644" y="1493044"/>
            <a:ext cx="1357313" cy="271463"/>
          </a:xfrm>
          <a:prstGeom prst="rect">
            <a:avLst/>
          </a:prstGeom>
          <a:ln/>
        </p:spPr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64644" y="1493044"/>
            <a:ext cx="1357313" cy="271463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221956" y="1493044"/>
            <a:ext cx="1285875" cy="271463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507831" y="1493044"/>
            <a:ext cx="542925" cy="271463"/>
          </a:xfrm>
          <a:prstGeom prst="rect">
            <a:avLst/>
          </a:prstGeom>
          <a:ln/>
        </p:spPr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07831" y="1493044"/>
            <a:ext cx="542925" cy="271463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1456" y="1764506"/>
            <a:ext cx="285750" cy="271463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507206" y="1764506"/>
            <a:ext cx="2357438" cy="271463"/>
          </a:xfrm>
          <a:prstGeom prst="rect">
            <a:avLst/>
          </a:prstGeom>
          <a:ln/>
        </p:spPr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07206" y="1764506"/>
            <a:ext cx="2357438" cy="271463"/>
          </a:xfrm>
          <a:prstGeom prst="rect">
            <a:avLst/>
          </a:prstGeom>
        </p:spPr>
      </p:pic>
      <p:sp>
        <p:nvSpPr>
          <p:cNvPr id="21" name="Shape 7"/>
          <p:cNvSpPr/>
          <p:nvPr/>
        </p:nvSpPr>
        <p:spPr>
          <a:xfrm>
            <a:off x="2864644" y="1764506"/>
            <a:ext cx="1357313" cy="271463"/>
          </a:xfrm>
          <a:prstGeom prst="rect">
            <a:avLst/>
          </a:prstGeom>
          <a:ln/>
        </p:spPr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64644" y="1764506"/>
            <a:ext cx="1357313" cy="271463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221956" y="1764506"/>
            <a:ext cx="1285875" cy="271463"/>
          </a:xfrm>
          <a:prstGeom prst="rect">
            <a:avLst/>
          </a:prstGeom>
        </p:spPr>
      </p:pic>
      <p:sp>
        <p:nvSpPr>
          <p:cNvPr id="24" name="Shape 8"/>
          <p:cNvSpPr/>
          <p:nvPr/>
        </p:nvSpPr>
        <p:spPr>
          <a:xfrm>
            <a:off x="5507831" y="1764506"/>
            <a:ext cx="542925" cy="271463"/>
          </a:xfrm>
          <a:prstGeom prst="rect">
            <a:avLst/>
          </a:prstGeom>
          <a:ln/>
        </p:spPr>
      </p:sp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507831" y="1764506"/>
            <a:ext cx="542925" cy="271463"/>
          </a:xfrm>
          <a:prstGeom prst="rect">
            <a:avLst/>
          </a:prstGeom>
        </p:spPr>
      </p:pic>
      <p:pic>
        <p:nvPicPr>
          <p:cNvPr id="2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21456" y="2035969"/>
            <a:ext cx="285750" cy="271463"/>
          </a:xfrm>
          <a:prstGeom prst="rect">
            <a:avLst/>
          </a:prstGeom>
        </p:spPr>
      </p:pic>
      <p:sp>
        <p:nvSpPr>
          <p:cNvPr id="27" name="Shape 9"/>
          <p:cNvSpPr/>
          <p:nvPr/>
        </p:nvSpPr>
        <p:spPr>
          <a:xfrm>
            <a:off x="507206" y="2035969"/>
            <a:ext cx="2357438" cy="271463"/>
          </a:xfrm>
          <a:prstGeom prst="rect">
            <a:avLst/>
          </a:prstGeom>
          <a:ln/>
        </p:spPr>
      </p:sp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07206" y="2035969"/>
            <a:ext cx="2357438" cy="271463"/>
          </a:xfrm>
          <a:prstGeom prst="rect">
            <a:avLst/>
          </a:prstGeom>
        </p:spPr>
      </p:pic>
      <p:sp>
        <p:nvSpPr>
          <p:cNvPr id="29" name="Shape 10"/>
          <p:cNvSpPr/>
          <p:nvPr/>
        </p:nvSpPr>
        <p:spPr>
          <a:xfrm>
            <a:off x="2864644" y="2035969"/>
            <a:ext cx="1357313" cy="271463"/>
          </a:xfrm>
          <a:prstGeom prst="rect">
            <a:avLst/>
          </a:prstGeom>
          <a:ln/>
        </p:spPr>
      </p:sp>
      <p:pic>
        <p:nvPicPr>
          <p:cNvPr id="3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864644" y="2035969"/>
            <a:ext cx="1357313" cy="271463"/>
          </a:xfrm>
          <a:prstGeom prst="rect">
            <a:avLst/>
          </a:prstGeom>
        </p:spPr>
      </p:pic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221956" y="2035969"/>
            <a:ext cx="1285875" cy="271463"/>
          </a:xfrm>
          <a:prstGeom prst="rect">
            <a:avLst/>
          </a:prstGeom>
        </p:spPr>
      </p:pic>
      <p:sp>
        <p:nvSpPr>
          <p:cNvPr id="32" name="Shape 11"/>
          <p:cNvSpPr/>
          <p:nvPr/>
        </p:nvSpPr>
        <p:spPr>
          <a:xfrm>
            <a:off x="5507831" y="2035969"/>
            <a:ext cx="542925" cy="271463"/>
          </a:xfrm>
          <a:prstGeom prst="rect">
            <a:avLst/>
          </a:prstGeom>
          <a:ln/>
        </p:spPr>
      </p:sp>
      <p:pic>
        <p:nvPicPr>
          <p:cNvPr id="33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507831" y="2035969"/>
            <a:ext cx="542925" cy="271463"/>
          </a:xfrm>
          <a:prstGeom prst="rect">
            <a:avLst/>
          </a:prstGeom>
        </p:spPr>
      </p:pic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21456" y="2307431"/>
            <a:ext cx="285750" cy="271463"/>
          </a:xfrm>
          <a:prstGeom prst="rect">
            <a:avLst/>
          </a:prstGeom>
        </p:spPr>
      </p:pic>
      <p:sp>
        <p:nvSpPr>
          <p:cNvPr id="35" name="Shape 12"/>
          <p:cNvSpPr/>
          <p:nvPr/>
        </p:nvSpPr>
        <p:spPr>
          <a:xfrm>
            <a:off x="507206" y="2307431"/>
            <a:ext cx="2357438" cy="271463"/>
          </a:xfrm>
          <a:prstGeom prst="rect">
            <a:avLst/>
          </a:prstGeom>
          <a:ln/>
        </p:spPr>
      </p:sp>
      <p:pic>
        <p:nvPicPr>
          <p:cNvPr id="36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507206" y="2307431"/>
            <a:ext cx="2357438" cy="271463"/>
          </a:xfrm>
          <a:prstGeom prst="rect">
            <a:avLst/>
          </a:prstGeom>
        </p:spPr>
      </p:pic>
      <p:sp>
        <p:nvSpPr>
          <p:cNvPr id="37" name="Shape 13"/>
          <p:cNvSpPr/>
          <p:nvPr/>
        </p:nvSpPr>
        <p:spPr>
          <a:xfrm>
            <a:off x="2864644" y="2307431"/>
            <a:ext cx="1357313" cy="271463"/>
          </a:xfrm>
          <a:prstGeom prst="rect">
            <a:avLst/>
          </a:prstGeom>
          <a:ln/>
        </p:spPr>
      </p:sp>
      <p:pic>
        <p:nvPicPr>
          <p:cNvPr id="38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2864644" y="2307431"/>
            <a:ext cx="1357313" cy="271463"/>
          </a:xfrm>
          <a:prstGeom prst="rect">
            <a:avLst/>
          </a:prstGeom>
        </p:spPr>
      </p:pic>
      <p:pic>
        <p:nvPicPr>
          <p:cNvPr id="3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221956" y="2307431"/>
            <a:ext cx="1285875" cy="271463"/>
          </a:xfrm>
          <a:prstGeom prst="rect">
            <a:avLst/>
          </a:prstGeom>
        </p:spPr>
      </p:pic>
      <p:sp>
        <p:nvSpPr>
          <p:cNvPr id="40" name="Shape 14"/>
          <p:cNvSpPr/>
          <p:nvPr/>
        </p:nvSpPr>
        <p:spPr>
          <a:xfrm>
            <a:off x="5507831" y="2307431"/>
            <a:ext cx="542925" cy="271463"/>
          </a:xfrm>
          <a:prstGeom prst="rect">
            <a:avLst/>
          </a:prstGeom>
          <a:ln/>
        </p:spPr>
      </p:sp>
      <p:pic>
        <p:nvPicPr>
          <p:cNvPr id="41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5507831" y="2307431"/>
            <a:ext cx="542925" cy="271463"/>
          </a:xfrm>
          <a:prstGeom prst="rect">
            <a:avLst/>
          </a:prstGeom>
        </p:spPr>
      </p:pic>
      <p:pic>
        <p:nvPicPr>
          <p:cNvPr id="42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221456" y="2578894"/>
            <a:ext cx="285750" cy="271463"/>
          </a:xfrm>
          <a:prstGeom prst="rect">
            <a:avLst/>
          </a:prstGeom>
        </p:spPr>
      </p:pic>
      <p:sp>
        <p:nvSpPr>
          <p:cNvPr id="43" name="Shape 15"/>
          <p:cNvSpPr/>
          <p:nvPr/>
        </p:nvSpPr>
        <p:spPr>
          <a:xfrm>
            <a:off x="507206" y="2578894"/>
            <a:ext cx="2357438" cy="271463"/>
          </a:xfrm>
          <a:prstGeom prst="rect">
            <a:avLst/>
          </a:prstGeom>
          <a:ln/>
        </p:spPr>
      </p:sp>
      <p:pic>
        <p:nvPicPr>
          <p:cNvPr id="44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07206" y="2578894"/>
            <a:ext cx="2357438" cy="271463"/>
          </a:xfrm>
          <a:prstGeom prst="rect">
            <a:avLst/>
          </a:prstGeom>
        </p:spPr>
      </p:pic>
      <p:sp>
        <p:nvSpPr>
          <p:cNvPr id="45" name="Shape 16"/>
          <p:cNvSpPr/>
          <p:nvPr/>
        </p:nvSpPr>
        <p:spPr>
          <a:xfrm>
            <a:off x="2864644" y="2578894"/>
            <a:ext cx="1357313" cy="271463"/>
          </a:xfrm>
          <a:prstGeom prst="rect">
            <a:avLst/>
          </a:prstGeom>
          <a:ln/>
        </p:spPr>
      </p:sp>
      <p:pic>
        <p:nvPicPr>
          <p:cNvPr id="46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2864644" y="2578894"/>
            <a:ext cx="1357313" cy="271463"/>
          </a:xfrm>
          <a:prstGeom prst="rect">
            <a:avLst/>
          </a:prstGeom>
        </p:spPr>
      </p:pic>
      <p:pic>
        <p:nvPicPr>
          <p:cNvPr id="47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4221956" y="2578894"/>
            <a:ext cx="1285875" cy="271463"/>
          </a:xfrm>
          <a:prstGeom prst="rect">
            <a:avLst/>
          </a:prstGeom>
        </p:spPr>
      </p:pic>
      <p:sp>
        <p:nvSpPr>
          <p:cNvPr id="48" name="Shape 17"/>
          <p:cNvSpPr/>
          <p:nvPr/>
        </p:nvSpPr>
        <p:spPr>
          <a:xfrm>
            <a:off x="5507831" y="2578894"/>
            <a:ext cx="542925" cy="271463"/>
          </a:xfrm>
          <a:prstGeom prst="rect">
            <a:avLst/>
          </a:prstGeom>
          <a:ln/>
        </p:spPr>
      </p:sp>
      <p:pic>
        <p:nvPicPr>
          <p:cNvPr id="49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5507831" y="2578894"/>
            <a:ext cx="542925" cy="271463"/>
          </a:xfrm>
          <a:prstGeom prst="rect">
            <a:avLst/>
          </a:prstGeom>
        </p:spPr>
      </p:pic>
      <p:pic>
        <p:nvPicPr>
          <p:cNvPr id="50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221456" y="2850356"/>
            <a:ext cx="285750" cy="271463"/>
          </a:xfrm>
          <a:prstGeom prst="rect">
            <a:avLst/>
          </a:prstGeom>
        </p:spPr>
      </p:pic>
      <p:sp>
        <p:nvSpPr>
          <p:cNvPr id="51" name="Shape 18"/>
          <p:cNvSpPr/>
          <p:nvPr/>
        </p:nvSpPr>
        <p:spPr>
          <a:xfrm>
            <a:off x="507206" y="2850356"/>
            <a:ext cx="2357438" cy="271463"/>
          </a:xfrm>
          <a:prstGeom prst="rect">
            <a:avLst/>
          </a:prstGeom>
          <a:ln/>
        </p:spPr>
      </p:sp>
      <p:pic>
        <p:nvPicPr>
          <p:cNvPr id="52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507206" y="2850356"/>
            <a:ext cx="2357438" cy="271463"/>
          </a:xfrm>
          <a:prstGeom prst="rect">
            <a:avLst/>
          </a:prstGeom>
        </p:spPr>
      </p:pic>
      <p:sp>
        <p:nvSpPr>
          <p:cNvPr id="53" name="Shape 19"/>
          <p:cNvSpPr/>
          <p:nvPr/>
        </p:nvSpPr>
        <p:spPr>
          <a:xfrm>
            <a:off x="2864644" y="2850356"/>
            <a:ext cx="1357313" cy="271463"/>
          </a:xfrm>
          <a:prstGeom prst="rect">
            <a:avLst/>
          </a:prstGeom>
          <a:ln/>
        </p:spPr>
      </p:sp>
      <p:pic>
        <p:nvPicPr>
          <p:cNvPr id="54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2864644" y="2850356"/>
            <a:ext cx="1357313" cy="271463"/>
          </a:xfrm>
          <a:prstGeom prst="rect">
            <a:avLst/>
          </a:prstGeom>
        </p:spPr>
      </p:pic>
      <p:pic>
        <p:nvPicPr>
          <p:cNvPr id="55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4221956" y="2850356"/>
            <a:ext cx="1285875" cy="271463"/>
          </a:xfrm>
          <a:prstGeom prst="rect">
            <a:avLst/>
          </a:prstGeom>
        </p:spPr>
      </p:pic>
      <p:sp>
        <p:nvSpPr>
          <p:cNvPr id="56" name="Shape 20"/>
          <p:cNvSpPr/>
          <p:nvPr/>
        </p:nvSpPr>
        <p:spPr>
          <a:xfrm>
            <a:off x="5507831" y="2850356"/>
            <a:ext cx="542925" cy="271463"/>
          </a:xfrm>
          <a:prstGeom prst="rect">
            <a:avLst/>
          </a:prstGeom>
          <a:ln/>
        </p:spPr>
      </p:sp>
      <p:pic>
        <p:nvPicPr>
          <p:cNvPr id="57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5507831" y="2850356"/>
            <a:ext cx="542925" cy="271463"/>
          </a:xfrm>
          <a:prstGeom prst="rect">
            <a:avLst/>
          </a:prstGeom>
        </p:spPr>
      </p:pic>
      <p:pic>
        <p:nvPicPr>
          <p:cNvPr id="58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221456" y="3121819"/>
            <a:ext cx="285750" cy="271463"/>
          </a:xfrm>
          <a:prstGeom prst="rect">
            <a:avLst/>
          </a:prstGeom>
        </p:spPr>
      </p:pic>
      <p:sp>
        <p:nvSpPr>
          <p:cNvPr id="59" name="Shape 21"/>
          <p:cNvSpPr/>
          <p:nvPr/>
        </p:nvSpPr>
        <p:spPr>
          <a:xfrm>
            <a:off x="507206" y="3121819"/>
            <a:ext cx="2357438" cy="271463"/>
          </a:xfrm>
          <a:prstGeom prst="rect">
            <a:avLst/>
          </a:prstGeom>
          <a:ln/>
        </p:spPr>
      </p:sp>
      <p:pic>
        <p:nvPicPr>
          <p:cNvPr id="60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07206" y="3121819"/>
            <a:ext cx="2357438" cy="271463"/>
          </a:xfrm>
          <a:prstGeom prst="rect">
            <a:avLst/>
          </a:prstGeom>
        </p:spPr>
      </p:pic>
      <p:sp>
        <p:nvSpPr>
          <p:cNvPr id="61" name="Shape 22"/>
          <p:cNvSpPr/>
          <p:nvPr/>
        </p:nvSpPr>
        <p:spPr>
          <a:xfrm>
            <a:off x="2864644" y="3121819"/>
            <a:ext cx="1357313" cy="271463"/>
          </a:xfrm>
          <a:prstGeom prst="rect">
            <a:avLst/>
          </a:prstGeom>
          <a:ln/>
        </p:spPr>
      </p:sp>
      <p:pic>
        <p:nvPicPr>
          <p:cNvPr id="62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2864644" y="3121819"/>
            <a:ext cx="1357313" cy="271463"/>
          </a:xfrm>
          <a:prstGeom prst="rect">
            <a:avLst/>
          </a:prstGeom>
        </p:spPr>
      </p:pic>
      <p:pic>
        <p:nvPicPr>
          <p:cNvPr id="63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221956" y="3121819"/>
            <a:ext cx="1285875" cy="271463"/>
          </a:xfrm>
          <a:prstGeom prst="rect">
            <a:avLst/>
          </a:prstGeom>
        </p:spPr>
      </p:pic>
      <p:sp>
        <p:nvSpPr>
          <p:cNvPr id="64" name="Shape 23"/>
          <p:cNvSpPr/>
          <p:nvPr/>
        </p:nvSpPr>
        <p:spPr>
          <a:xfrm>
            <a:off x="5507831" y="3121819"/>
            <a:ext cx="542925" cy="271463"/>
          </a:xfrm>
          <a:prstGeom prst="rect">
            <a:avLst/>
          </a:prstGeom>
          <a:ln/>
        </p:spPr>
      </p:sp>
      <p:pic>
        <p:nvPicPr>
          <p:cNvPr id="65" name="Image 39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507831" y="3121819"/>
            <a:ext cx="542925" cy="271463"/>
          </a:xfrm>
          <a:prstGeom prst="rect">
            <a:avLst/>
          </a:prstGeom>
        </p:spPr>
      </p:pic>
      <p:pic>
        <p:nvPicPr>
          <p:cNvPr id="66" name="Image 40" descr="preencoded.png">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221456" y="3393281"/>
            <a:ext cx="285750" cy="271463"/>
          </a:xfrm>
          <a:prstGeom prst="rect">
            <a:avLst/>
          </a:prstGeom>
        </p:spPr>
      </p:pic>
      <p:sp>
        <p:nvSpPr>
          <p:cNvPr id="67" name="Shape 24"/>
          <p:cNvSpPr/>
          <p:nvPr/>
        </p:nvSpPr>
        <p:spPr>
          <a:xfrm>
            <a:off x="507206" y="3393281"/>
            <a:ext cx="2357438" cy="271463"/>
          </a:xfrm>
          <a:prstGeom prst="rect">
            <a:avLst/>
          </a:prstGeom>
          <a:ln/>
        </p:spPr>
      </p:sp>
      <p:pic>
        <p:nvPicPr>
          <p:cNvPr id="68" name="Image 41" descr="preencoded.png">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507206" y="3393281"/>
            <a:ext cx="2357438" cy="271463"/>
          </a:xfrm>
          <a:prstGeom prst="rect">
            <a:avLst/>
          </a:prstGeom>
        </p:spPr>
      </p:pic>
      <p:sp>
        <p:nvSpPr>
          <p:cNvPr id="69" name="Shape 25"/>
          <p:cNvSpPr/>
          <p:nvPr/>
        </p:nvSpPr>
        <p:spPr>
          <a:xfrm>
            <a:off x="2864644" y="3393281"/>
            <a:ext cx="1357313" cy="271463"/>
          </a:xfrm>
          <a:prstGeom prst="rect">
            <a:avLst/>
          </a:prstGeom>
          <a:ln/>
        </p:spPr>
      </p:sp>
      <p:pic>
        <p:nvPicPr>
          <p:cNvPr id="70" name="Image 42" descr="preencoded.png">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2864644" y="3393281"/>
            <a:ext cx="1357313" cy="271463"/>
          </a:xfrm>
          <a:prstGeom prst="rect">
            <a:avLst/>
          </a:prstGeom>
        </p:spPr>
      </p:pic>
      <p:pic>
        <p:nvPicPr>
          <p:cNvPr id="71" name="Image 43" descr="preencoded.png">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221956" y="3393281"/>
            <a:ext cx="1285875" cy="271463"/>
          </a:xfrm>
          <a:prstGeom prst="rect">
            <a:avLst/>
          </a:prstGeom>
        </p:spPr>
      </p:pic>
      <p:sp>
        <p:nvSpPr>
          <p:cNvPr id="72" name="Shape 26"/>
          <p:cNvSpPr/>
          <p:nvPr/>
        </p:nvSpPr>
        <p:spPr>
          <a:xfrm>
            <a:off x="5507831" y="3393281"/>
            <a:ext cx="542925" cy="271463"/>
          </a:xfrm>
          <a:prstGeom prst="rect">
            <a:avLst/>
          </a:prstGeom>
          <a:ln/>
        </p:spPr>
      </p:sp>
      <p:pic>
        <p:nvPicPr>
          <p:cNvPr id="73" name="Image 44" descr="preencoded.png">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5507831" y="3393281"/>
            <a:ext cx="542925" cy="271463"/>
          </a:xfrm>
          <a:prstGeom prst="rect">
            <a:avLst/>
          </a:prstGeom>
        </p:spPr>
      </p:pic>
      <p:sp>
        <p:nvSpPr>
          <p:cNvPr id="74" name="Shape 27"/>
          <p:cNvSpPr/>
          <p:nvPr/>
        </p:nvSpPr>
        <p:spPr>
          <a:xfrm>
            <a:off x="6215063" y="1326952"/>
            <a:ext cx="2714625" cy="600075"/>
          </a:xfrm>
          <a:prstGeom prst="roundRect">
            <a:avLst>
              <a:gd name="adj" fmla="val 54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5" name="Shape 28"/>
          <p:cNvSpPr/>
          <p:nvPr/>
        </p:nvSpPr>
        <p:spPr>
          <a:xfrm>
            <a:off x="6215063" y="1994892"/>
            <a:ext cx="2714625" cy="600075"/>
          </a:xfrm>
          <a:prstGeom prst="roundRect">
            <a:avLst>
              <a:gd name="adj" fmla="val 54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6" name="Shape 29"/>
          <p:cNvSpPr/>
          <p:nvPr/>
        </p:nvSpPr>
        <p:spPr>
          <a:xfrm>
            <a:off x="6215063" y="2662833"/>
            <a:ext cx="2714625" cy="600075"/>
          </a:xfrm>
          <a:prstGeom prst="roundRect">
            <a:avLst>
              <a:gd name="adj" fmla="val 54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7" name="Shape 30"/>
          <p:cNvSpPr/>
          <p:nvPr/>
        </p:nvSpPr>
        <p:spPr>
          <a:xfrm>
            <a:off x="6215063" y="3330773"/>
            <a:ext cx="2714625" cy="600075"/>
          </a:xfrm>
          <a:prstGeom prst="roundRect">
            <a:avLst>
              <a:gd name="adj" fmla="val 54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8" name="Text 31"/>
          <p:cNvSpPr/>
          <p:nvPr/>
        </p:nvSpPr>
        <p:spPr>
          <a:xfrm>
            <a:off x="214313" y="414338"/>
            <a:ext cx="8715375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把每一个“待考”摊在桌面上：9 条存疑项，各自的信息源、待验证问题与核验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方法一览</a:t>
            </a:r>
            <a:endParaRPr lang="en-US" sz="1900" dirty="0"/>
          </a:p>
        </p:txBody>
      </p:sp>
      <p:sp>
        <p:nvSpPr>
          <p:cNvPr id="79" name="Text 32"/>
          <p:cNvSpPr/>
          <p:nvPr/>
        </p:nvSpPr>
        <p:spPr>
          <a:xfrm>
            <a:off x="214145" y="1120843"/>
            <a:ext cx="1100138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存疑清单 · S1—S9</a:t>
            </a:r>
            <a:endParaRPr lang="en-US" sz="1000" dirty="0"/>
          </a:p>
        </p:txBody>
      </p:sp>
      <p:sp>
        <p:nvSpPr>
          <p:cNvPr id="80" name="Text 33"/>
          <p:cNvSpPr/>
          <p:nvPr/>
        </p:nvSpPr>
        <p:spPr>
          <a:xfrm>
            <a:off x="4307793" y="1172970"/>
            <a:ext cx="1735931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本页无结论 · 9 条均为单一信息源，未经交叉验证</a:t>
            </a:r>
            <a:endParaRPr lang="en-US" sz="700" dirty="0"/>
          </a:p>
        </p:txBody>
      </p:sp>
      <p:sp>
        <p:nvSpPr>
          <p:cNvPr id="81" name="Text 34"/>
          <p:cNvSpPr/>
          <p:nvPr/>
        </p:nvSpPr>
        <p:spPr>
          <a:xfrm>
            <a:off x="221456" y="1335881"/>
            <a:ext cx="285750" cy="157163"/>
          </a:xfrm>
          <a:prstGeom prst="rect">
            <a:avLst/>
          </a:prstGeom>
          <a:solidFill>
            <a:srgbClr val="F5F4ED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编号</a:t>
            </a:r>
            <a:endParaRPr lang="en-US" sz="700" dirty="0"/>
          </a:p>
        </p:txBody>
      </p:sp>
      <p:sp>
        <p:nvSpPr>
          <p:cNvPr id="82" name="Text 35"/>
          <p:cNvSpPr/>
          <p:nvPr/>
        </p:nvSpPr>
        <p:spPr>
          <a:xfrm>
            <a:off x="507206" y="1335881"/>
            <a:ext cx="2357438" cy="157163"/>
          </a:xfrm>
          <a:prstGeom prst="rect">
            <a:avLst/>
          </a:prstGeom>
          <a:solidFill>
            <a:srgbClr val="F5F4ED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存疑点（引笔记原话）</a:t>
            </a:r>
            <a:endParaRPr lang="en-US" sz="700" dirty="0"/>
          </a:p>
        </p:txBody>
      </p:sp>
      <p:sp>
        <p:nvSpPr>
          <p:cNvPr id="83" name="Text 36"/>
          <p:cNvSpPr/>
          <p:nvPr/>
        </p:nvSpPr>
        <p:spPr>
          <a:xfrm>
            <a:off x="2864644" y="1335881"/>
            <a:ext cx="1357313" cy="157163"/>
          </a:xfrm>
          <a:prstGeom prst="rect">
            <a:avLst/>
          </a:prstGeom>
          <a:solidFill>
            <a:srgbClr val="F5F4ED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信息源（类型 · 数量）</a:t>
            </a:r>
            <a:endParaRPr lang="en-US" sz="700" dirty="0"/>
          </a:p>
        </p:txBody>
      </p:sp>
      <p:sp>
        <p:nvSpPr>
          <p:cNvPr id="84" name="Text 37"/>
          <p:cNvSpPr/>
          <p:nvPr/>
        </p:nvSpPr>
        <p:spPr>
          <a:xfrm>
            <a:off x="4221956" y="1335881"/>
            <a:ext cx="1285875" cy="157163"/>
          </a:xfrm>
          <a:prstGeom prst="rect">
            <a:avLst/>
          </a:prstGeom>
          <a:solidFill>
            <a:srgbClr val="F5F4ED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核验动作</a:t>
            </a:r>
            <a:endParaRPr lang="en-US" sz="700" dirty="0"/>
          </a:p>
        </p:txBody>
      </p:sp>
      <p:sp>
        <p:nvSpPr>
          <p:cNvPr id="85" name="Text 38"/>
          <p:cNvSpPr/>
          <p:nvPr/>
        </p:nvSpPr>
        <p:spPr>
          <a:xfrm>
            <a:off x="5507831" y="1335881"/>
            <a:ext cx="542925" cy="157163"/>
          </a:xfrm>
          <a:prstGeom prst="rect">
            <a:avLst/>
          </a:prstGeom>
          <a:solidFill>
            <a:srgbClr val="F5F4ED"/>
          </a:solidFill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优先级 / 主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线</a:t>
            </a:r>
            <a:endParaRPr lang="en-US" sz="700" dirty="0"/>
          </a:p>
        </p:txBody>
      </p:sp>
      <p:sp>
        <p:nvSpPr>
          <p:cNvPr id="86" name="Text 39"/>
          <p:cNvSpPr/>
          <p:nvPr/>
        </p:nvSpPr>
        <p:spPr>
          <a:xfrm>
            <a:off x="221456" y="1493044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S1</a:t>
            </a:r>
            <a:endParaRPr lang="en-US" sz="700" dirty="0"/>
          </a:p>
        </p:txBody>
      </p:sp>
      <p:sp>
        <p:nvSpPr>
          <p:cNvPr id="87" name="Text 40"/>
          <p:cNvSpPr/>
          <p:nvPr/>
        </p:nvSpPr>
        <p:spPr>
          <a:xfrm>
            <a:off x="564691" y="1564425"/>
            <a:ext cx="950119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“现存明清老宅约40栋”</a:t>
            </a:r>
            <a:endParaRPr lang="en-US" sz="700" dirty="0"/>
          </a:p>
        </p:txBody>
      </p:sp>
      <p:sp>
        <p:nvSpPr>
          <p:cNvPr id="88" name="Text 41"/>
          <p:cNvSpPr/>
          <p:nvPr/>
        </p:nvSpPr>
        <p:spPr>
          <a:xfrm>
            <a:off x="1558007" y="1571625"/>
            <a:ext cx="392906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估算·待核</a:t>
            </a:r>
            <a:endParaRPr lang="en-US" sz="700" dirty="0"/>
          </a:p>
        </p:txBody>
      </p:sp>
      <p:sp>
        <p:nvSpPr>
          <p:cNvPr id="89" name="Text 42"/>
          <p:cNvSpPr/>
          <p:nvPr/>
        </p:nvSpPr>
        <p:spPr>
          <a:xfrm>
            <a:off x="2921794" y="1571625"/>
            <a:ext cx="214313" cy="107156"/>
          </a:xfrm>
          <a:prstGeom prst="roundRect">
            <a:avLst>
              <a:gd name="adj" fmla="val 56889"/>
            </a:avLst>
          </a:prstGeom>
          <a:solidFill>
            <a:srgbClr val="E8E6DC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目测</a:t>
            </a:r>
            <a:endParaRPr lang="en-US" sz="700" dirty="0"/>
          </a:p>
        </p:txBody>
      </p:sp>
      <p:sp>
        <p:nvSpPr>
          <p:cNvPr id="90" name="Text 43"/>
          <p:cNvSpPr/>
          <p:nvPr/>
        </p:nvSpPr>
        <p:spPr>
          <a:xfrm>
            <a:off x="3178969" y="1571569"/>
            <a:ext cx="76438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 次走访 · 无台账测绘</a:t>
            </a:r>
            <a:endParaRPr lang="en-US" sz="700" dirty="0"/>
          </a:p>
        </p:txBody>
      </p:sp>
      <p:sp>
        <p:nvSpPr>
          <p:cNvPr id="91" name="Text 44"/>
          <p:cNvSpPr/>
          <p:nvPr/>
        </p:nvSpPr>
        <p:spPr>
          <a:xfrm>
            <a:off x="4221956" y="1493044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逐栋编号建台账，下一轮驻村复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测比对</a:t>
            </a:r>
            <a:endParaRPr lang="en-US" sz="700" dirty="0"/>
          </a:p>
        </p:txBody>
      </p:sp>
      <p:sp>
        <p:nvSpPr>
          <p:cNvPr id="92" name="Text 45"/>
          <p:cNvSpPr/>
          <p:nvPr/>
        </p:nvSpPr>
        <p:spPr>
          <a:xfrm>
            <a:off x="5563195" y="1518047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C96442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93" name="Text 46"/>
          <p:cNvSpPr/>
          <p:nvPr/>
        </p:nvSpPr>
        <p:spPr>
          <a:xfrm>
            <a:off x="5564981" y="1638040"/>
            <a:ext cx="321469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主线一·三</a:t>
            </a:r>
            <a:endParaRPr lang="en-US" sz="700" dirty="0"/>
          </a:p>
        </p:txBody>
      </p:sp>
      <p:sp>
        <p:nvSpPr>
          <p:cNvPr id="94" name="Text 47"/>
          <p:cNvSpPr/>
          <p:nvPr/>
        </p:nvSpPr>
        <p:spPr>
          <a:xfrm>
            <a:off x="221456" y="1764506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S2</a:t>
            </a:r>
            <a:endParaRPr lang="en-US" sz="700" dirty="0"/>
          </a:p>
        </p:txBody>
      </p:sp>
      <p:sp>
        <p:nvSpPr>
          <p:cNvPr id="95" name="Text 48"/>
          <p:cNvSpPr/>
          <p:nvPr/>
        </p:nvSpPr>
        <p:spPr>
          <a:xfrm>
            <a:off x="564412" y="1835888"/>
            <a:ext cx="68580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“住人不到一半”</a:t>
            </a:r>
            <a:endParaRPr lang="en-US" sz="700" dirty="0"/>
          </a:p>
        </p:txBody>
      </p:sp>
      <p:sp>
        <p:nvSpPr>
          <p:cNvPr id="96" name="Text 49"/>
          <p:cNvSpPr/>
          <p:nvPr/>
        </p:nvSpPr>
        <p:spPr>
          <a:xfrm>
            <a:off x="1293130" y="1843088"/>
            <a:ext cx="392906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目测·待核</a:t>
            </a:r>
            <a:endParaRPr lang="en-US" sz="700" dirty="0"/>
          </a:p>
        </p:txBody>
      </p:sp>
      <p:sp>
        <p:nvSpPr>
          <p:cNvPr id="97" name="Text 50"/>
          <p:cNvSpPr/>
          <p:nvPr/>
        </p:nvSpPr>
        <p:spPr>
          <a:xfrm>
            <a:off x="2921794" y="1843088"/>
            <a:ext cx="214313" cy="107156"/>
          </a:xfrm>
          <a:prstGeom prst="roundRect">
            <a:avLst>
              <a:gd name="adj" fmla="val 56889"/>
            </a:avLst>
          </a:prstGeom>
          <a:solidFill>
            <a:srgbClr val="E8E6DC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目测</a:t>
            </a:r>
            <a:endParaRPr lang="en-US" sz="700" dirty="0"/>
          </a:p>
        </p:txBody>
      </p:sp>
      <p:sp>
        <p:nvSpPr>
          <p:cNvPr id="98" name="Text 51"/>
          <p:cNvSpPr/>
          <p:nvPr/>
        </p:nvSpPr>
        <p:spPr>
          <a:xfrm>
            <a:off x="3177294" y="1843032"/>
            <a:ext cx="85010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白天 1 次 · 0 条户级记录</a:t>
            </a:r>
            <a:endParaRPr lang="en-US" sz="700" dirty="0"/>
          </a:p>
        </p:txBody>
      </p:sp>
      <p:sp>
        <p:nvSpPr>
          <p:cNvPr id="99" name="Text 52"/>
          <p:cNvSpPr/>
          <p:nvPr/>
        </p:nvSpPr>
        <p:spPr>
          <a:xfrm>
            <a:off x="4221956" y="1764506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台账增设使用状态字段，多时段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复观 ≥2 轮</a:t>
            </a:r>
            <a:endParaRPr lang="en-US" sz="700" dirty="0"/>
          </a:p>
        </p:txBody>
      </p:sp>
      <p:sp>
        <p:nvSpPr>
          <p:cNvPr id="100" name="Text 53"/>
          <p:cNvSpPr/>
          <p:nvPr/>
        </p:nvSpPr>
        <p:spPr>
          <a:xfrm>
            <a:off x="5563195" y="1789509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C96442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101" name="Text 54"/>
          <p:cNvSpPr/>
          <p:nvPr/>
        </p:nvSpPr>
        <p:spPr>
          <a:xfrm>
            <a:off x="5564981" y="1909502"/>
            <a:ext cx="214313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主线一</a:t>
            </a:r>
            <a:endParaRPr lang="en-US" sz="700" dirty="0"/>
          </a:p>
        </p:txBody>
      </p:sp>
      <p:sp>
        <p:nvSpPr>
          <p:cNvPr id="102" name="Text 55"/>
          <p:cNvSpPr/>
          <p:nvPr/>
        </p:nvSpPr>
        <p:spPr>
          <a:xfrm>
            <a:off x="221456" y="2035969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S3</a:t>
            </a:r>
            <a:endParaRPr lang="en-US" sz="700" dirty="0"/>
          </a:p>
        </p:txBody>
      </p:sp>
      <p:sp>
        <p:nvSpPr>
          <p:cNvPr id="103" name="Text 56"/>
          <p:cNvSpPr/>
          <p:nvPr/>
        </p:nvSpPr>
        <p:spPr>
          <a:xfrm>
            <a:off x="564412" y="2107350"/>
            <a:ext cx="137160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“年轻人外出打工，留守多为老人”</a:t>
            </a:r>
            <a:endParaRPr lang="en-US" sz="700" dirty="0"/>
          </a:p>
        </p:txBody>
      </p:sp>
      <p:sp>
        <p:nvSpPr>
          <p:cNvPr id="104" name="Text 57"/>
          <p:cNvSpPr/>
          <p:nvPr/>
        </p:nvSpPr>
        <p:spPr>
          <a:xfrm>
            <a:off x="1978930" y="2114550"/>
            <a:ext cx="464344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印象·无数据</a:t>
            </a:r>
            <a:endParaRPr lang="en-US" sz="700" dirty="0"/>
          </a:p>
        </p:txBody>
      </p:sp>
      <p:sp>
        <p:nvSpPr>
          <p:cNvPr id="105" name="Text 58"/>
          <p:cNvSpPr/>
          <p:nvPr/>
        </p:nvSpPr>
        <p:spPr>
          <a:xfrm>
            <a:off x="2921794" y="2114550"/>
            <a:ext cx="285750" cy="107156"/>
          </a:xfrm>
          <a:prstGeom prst="roundRect">
            <a:avLst>
              <a:gd name="adj" fmla="val 56889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B53333">
                <a:alpha val="100000"/>
              </a:srgbClr>
            </a:outerShdw>
          </a:effectLst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无数据</a:t>
            </a:r>
            <a:endParaRPr lang="en-US" sz="700" dirty="0"/>
          </a:p>
        </p:txBody>
      </p:sp>
      <p:sp>
        <p:nvSpPr>
          <p:cNvPr id="106" name="Text 59"/>
          <p:cNvSpPr/>
          <p:nvPr/>
        </p:nvSpPr>
        <p:spPr>
          <a:xfrm>
            <a:off x="3248899" y="2114494"/>
            <a:ext cx="67865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 数据 · 0 访谈记录</a:t>
            </a:r>
            <a:endParaRPr lang="en-US" sz="700" dirty="0"/>
          </a:p>
        </p:txBody>
      </p:sp>
      <p:sp>
        <p:nvSpPr>
          <p:cNvPr id="107" name="Text 60"/>
          <p:cNvSpPr/>
          <p:nvPr/>
        </p:nvSpPr>
        <p:spPr>
          <a:xfrm>
            <a:off x="4221956" y="2035969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入户问卷扩样，与村委、学校、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村医口径比对</a:t>
            </a:r>
            <a:endParaRPr lang="en-US" sz="700" dirty="0"/>
          </a:p>
        </p:txBody>
      </p:sp>
      <p:sp>
        <p:nvSpPr>
          <p:cNvPr id="108" name="Text 61"/>
          <p:cNvSpPr/>
          <p:nvPr/>
        </p:nvSpPr>
        <p:spPr>
          <a:xfrm>
            <a:off x="5563195" y="2060972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C96442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109" name="Text 62"/>
          <p:cNvSpPr/>
          <p:nvPr/>
        </p:nvSpPr>
        <p:spPr>
          <a:xfrm>
            <a:off x="5564981" y="2180965"/>
            <a:ext cx="214313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主线一</a:t>
            </a:r>
            <a:endParaRPr lang="en-US" sz="700" dirty="0"/>
          </a:p>
        </p:txBody>
      </p:sp>
      <p:sp>
        <p:nvSpPr>
          <p:cNvPr id="110" name="Text 63"/>
          <p:cNvSpPr/>
          <p:nvPr/>
        </p:nvSpPr>
        <p:spPr>
          <a:xfrm>
            <a:off x="221456" y="2307431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S4</a:t>
            </a:r>
            <a:endParaRPr lang="en-US" sz="700" dirty="0"/>
          </a:p>
        </p:txBody>
      </p:sp>
      <p:sp>
        <p:nvSpPr>
          <p:cNvPr id="111" name="Text 64"/>
          <p:cNvSpPr/>
          <p:nvPr/>
        </p:nvSpPr>
        <p:spPr>
          <a:xfrm>
            <a:off x="564412" y="2378813"/>
            <a:ext cx="162877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“祠堂以前每年清明祭祖，现在三年一次”</a:t>
            </a:r>
            <a:endParaRPr lang="en-US" sz="700" dirty="0"/>
          </a:p>
        </p:txBody>
      </p:sp>
      <p:sp>
        <p:nvSpPr>
          <p:cNvPr id="112" name="Text 65"/>
          <p:cNvSpPr/>
          <p:nvPr/>
        </p:nvSpPr>
        <p:spPr>
          <a:xfrm>
            <a:off x="2236105" y="2386013"/>
            <a:ext cx="392906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口述·待核</a:t>
            </a:r>
            <a:endParaRPr lang="en-US" sz="700" dirty="0"/>
          </a:p>
        </p:txBody>
      </p:sp>
      <p:sp>
        <p:nvSpPr>
          <p:cNvPr id="113" name="Text 66"/>
          <p:cNvSpPr/>
          <p:nvPr/>
        </p:nvSpPr>
        <p:spPr>
          <a:xfrm>
            <a:off x="2921794" y="2386013"/>
            <a:ext cx="214313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  <a:effectLst>
            <a:outerShdw sx="100000" sy="100000" kx="0" ky="0" algn="bl" rotWithShape="0" blurRad="101600" dist="50800" dir="16200000">
              <a:srgbClr val="E8E6DC">
                <a:alpha val="100000"/>
              </a:srgbClr>
            </a:outerShdw>
          </a:effectLst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</a:t>
            </a:r>
            <a:endParaRPr lang="en-US" sz="700" dirty="0"/>
          </a:p>
        </p:txBody>
      </p:sp>
      <p:sp>
        <p:nvSpPr>
          <p:cNvPr id="114" name="Text 67"/>
          <p:cNvSpPr/>
          <p:nvPr/>
        </p:nvSpPr>
        <p:spPr>
          <a:xfrm>
            <a:off x="3179248" y="2385957"/>
            <a:ext cx="864394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“几位老人” · 人数未记</a:t>
            </a:r>
            <a:endParaRPr lang="en-US" sz="700" dirty="0"/>
          </a:p>
        </p:txBody>
      </p:sp>
      <p:sp>
        <p:nvSpPr>
          <p:cNvPr id="115" name="Text 68"/>
          <p:cNvSpPr/>
          <p:nvPr/>
        </p:nvSpPr>
        <p:spPr>
          <a:xfrm>
            <a:off x="4221956" y="2307431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≥3 位不同家族独立录音访谈，查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祭簿与碑刻</a:t>
            </a:r>
            <a:endParaRPr lang="en-US" sz="700" dirty="0"/>
          </a:p>
        </p:txBody>
      </p:sp>
      <p:sp>
        <p:nvSpPr>
          <p:cNvPr id="116" name="Text 69"/>
          <p:cNvSpPr/>
          <p:nvPr/>
        </p:nvSpPr>
        <p:spPr>
          <a:xfrm>
            <a:off x="5563195" y="2332434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C96442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117" name="Text 70"/>
          <p:cNvSpPr/>
          <p:nvPr/>
        </p:nvSpPr>
        <p:spPr>
          <a:xfrm>
            <a:off x="5564981" y="2452427"/>
            <a:ext cx="214313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主线二</a:t>
            </a:r>
            <a:endParaRPr lang="en-US" sz="700" dirty="0"/>
          </a:p>
        </p:txBody>
      </p:sp>
      <p:sp>
        <p:nvSpPr>
          <p:cNvPr id="118" name="Text 71"/>
          <p:cNvSpPr/>
          <p:nvPr/>
        </p:nvSpPr>
        <p:spPr>
          <a:xfrm>
            <a:off x="221456" y="2578894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S5</a:t>
            </a:r>
            <a:endParaRPr lang="en-US" sz="700" dirty="0"/>
          </a:p>
        </p:txBody>
      </p:sp>
      <p:sp>
        <p:nvSpPr>
          <p:cNvPr id="119" name="Text 72"/>
          <p:cNvSpPr/>
          <p:nvPr/>
        </p:nvSpPr>
        <p:spPr>
          <a:xfrm>
            <a:off x="564412" y="2650275"/>
            <a:ext cx="94297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“族谱文革烧了一部分”</a:t>
            </a:r>
            <a:endParaRPr lang="en-US" sz="700" dirty="0"/>
          </a:p>
        </p:txBody>
      </p:sp>
      <p:sp>
        <p:nvSpPr>
          <p:cNvPr id="120" name="Text 73"/>
          <p:cNvSpPr/>
          <p:nvPr/>
        </p:nvSpPr>
        <p:spPr>
          <a:xfrm>
            <a:off x="1550305" y="2657475"/>
            <a:ext cx="392906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口述·待核</a:t>
            </a:r>
            <a:endParaRPr lang="en-US" sz="700" dirty="0"/>
          </a:p>
        </p:txBody>
      </p:sp>
      <p:sp>
        <p:nvSpPr>
          <p:cNvPr id="121" name="Text 74"/>
          <p:cNvSpPr/>
          <p:nvPr/>
        </p:nvSpPr>
        <p:spPr>
          <a:xfrm>
            <a:off x="2921794" y="2657475"/>
            <a:ext cx="214313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  <a:effectLst>
            <a:outerShdw sx="100000" sy="100000" kx="0" ky="0" algn="bl" rotWithShape="0" blurRad="101600" dist="50800" dir="16200000">
              <a:srgbClr val="E8E6DC">
                <a:alpha val="100000"/>
              </a:srgbClr>
            </a:outerShdw>
          </a:effectLst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</a:t>
            </a:r>
            <a:endParaRPr lang="en-US" sz="700" dirty="0"/>
          </a:p>
        </p:txBody>
      </p:sp>
      <p:sp>
        <p:nvSpPr>
          <p:cNvPr id="122" name="Text 75"/>
          <p:cNvSpPr/>
          <p:nvPr/>
        </p:nvSpPr>
        <p:spPr>
          <a:xfrm>
            <a:off x="3179248" y="2657419"/>
            <a:ext cx="864394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“有老人说” · 单一转述</a:t>
            </a:r>
            <a:endParaRPr lang="en-US" sz="700" dirty="0"/>
          </a:p>
        </p:txBody>
      </p:sp>
      <p:sp>
        <p:nvSpPr>
          <p:cNvPr id="123" name="Text 76"/>
          <p:cNvSpPr/>
          <p:nvPr/>
        </p:nvSpPr>
        <p:spPr>
          <a:xfrm>
            <a:off x="4221956" y="2578894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检视现存谱本残缺与序跋，检索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同族异本对校</a:t>
            </a:r>
            <a:endParaRPr lang="en-US" sz="700" dirty="0"/>
          </a:p>
        </p:txBody>
      </p:sp>
      <p:sp>
        <p:nvSpPr>
          <p:cNvPr id="124" name="Text 77"/>
          <p:cNvSpPr/>
          <p:nvPr/>
        </p:nvSpPr>
        <p:spPr>
          <a:xfrm>
            <a:off x="5563195" y="2603897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C96442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125" name="Text 78"/>
          <p:cNvSpPr/>
          <p:nvPr/>
        </p:nvSpPr>
        <p:spPr>
          <a:xfrm>
            <a:off x="5564981" y="2723890"/>
            <a:ext cx="214313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主线二</a:t>
            </a:r>
            <a:endParaRPr lang="en-US" sz="700" dirty="0"/>
          </a:p>
        </p:txBody>
      </p:sp>
      <p:sp>
        <p:nvSpPr>
          <p:cNvPr id="126" name="Text 79"/>
          <p:cNvSpPr/>
          <p:nvPr/>
        </p:nvSpPr>
        <p:spPr>
          <a:xfrm>
            <a:off x="221456" y="2850356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S6</a:t>
            </a:r>
            <a:endParaRPr lang="en-US" sz="700" dirty="0"/>
          </a:p>
        </p:txBody>
      </p:sp>
      <p:sp>
        <p:nvSpPr>
          <p:cNvPr id="127" name="Text 80"/>
          <p:cNvSpPr/>
          <p:nvPr/>
        </p:nvSpPr>
        <p:spPr>
          <a:xfrm>
            <a:off x="564412" y="2921738"/>
            <a:ext cx="120015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“现在版本是后来凭记忆补的”</a:t>
            </a:r>
            <a:endParaRPr lang="en-US" sz="700" dirty="0"/>
          </a:p>
        </p:txBody>
      </p:sp>
      <p:sp>
        <p:nvSpPr>
          <p:cNvPr id="128" name="Text 81"/>
          <p:cNvSpPr/>
          <p:nvPr/>
        </p:nvSpPr>
        <p:spPr>
          <a:xfrm>
            <a:off x="1807480" y="2928938"/>
            <a:ext cx="500063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笔记自标待考</a:t>
            </a:r>
            <a:endParaRPr lang="en-US" sz="700" dirty="0"/>
          </a:p>
        </p:txBody>
      </p:sp>
      <p:sp>
        <p:nvSpPr>
          <p:cNvPr id="129" name="Text 82"/>
          <p:cNvSpPr/>
          <p:nvPr/>
        </p:nvSpPr>
        <p:spPr>
          <a:xfrm>
            <a:off x="2921794" y="2928938"/>
            <a:ext cx="214313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  <a:effectLst>
            <a:outerShdw sx="100000" sy="100000" kx="0" ky="0" algn="bl" rotWithShape="0" blurRad="101600" dist="50800" dir="16200000">
              <a:srgbClr val="E8E6DC">
                <a:alpha val="100000"/>
              </a:srgbClr>
            </a:outerShdw>
          </a:effectLst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</a:t>
            </a:r>
            <a:endParaRPr lang="en-US" sz="700" dirty="0"/>
          </a:p>
        </p:txBody>
      </p:sp>
      <p:sp>
        <p:nvSpPr>
          <p:cNvPr id="130" name="Text 83"/>
          <p:cNvSpPr/>
          <p:nvPr/>
        </p:nvSpPr>
        <p:spPr>
          <a:xfrm>
            <a:off x="3178355" y="2928882"/>
            <a:ext cx="85010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单一说法 · 0 份文献在手</a:t>
            </a:r>
            <a:endParaRPr lang="en-US" sz="700" dirty="0"/>
          </a:p>
        </p:txBody>
      </p:sp>
      <p:sp>
        <p:nvSpPr>
          <p:cNvPr id="131" name="Text 84"/>
          <p:cNvSpPr/>
          <p:nvPr/>
        </p:nvSpPr>
        <p:spPr>
          <a:xfrm>
            <a:off x="4221956" y="2850356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查阅族谱原件，做版本学检视与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外部对勘</a:t>
            </a:r>
            <a:endParaRPr lang="en-US" sz="700" dirty="0"/>
          </a:p>
        </p:txBody>
      </p:sp>
      <p:sp>
        <p:nvSpPr>
          <p:cNvPr id="132" name="Text 85"/>
          <p:cNvSpPr/>
          <p:nvPr/>
        </p:nvSpPr>
        <p:spPr>
          <a:xfrm>
            <a:off x="5563195" y="2875359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C96442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133" name="Text 86"/>
          <p:cNvSpPr/>
          <p:nvPr/>
        </p:nvSpPr>
        <p:spPr>
          <a:xfrm>
            <a:off x="5564981" y="2995352"/>
            <a:ext cx="214313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主线二</a:t>
            </a:r>
            <a:endParaRPr lang="en-US" sz="700" dirty="0"/>
          </a:p>
        </p:txBody>
      </p:sp>
      <p:sp>
        <p:nvSpPr>
          <p:cNvPr id="134" name="Text 87"/>
          <p:cNvSpPr/>
          <p:nvPr/>
        </p:nvSpPr>
        <p:spPr>
          <a:xfrm>
            <a:off x="221456" y="3121819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S7</a:t>
            </a:r>
            <a:endParaRPr lang="en-US" sz="700" dirty="0"/>
          </a:p>
        </p:txBody>
      </p:sp>
      <p:sp>
        <p:nvSpPr>
          <p:cNvPr id="135" name="Text 88"/>
          <p:cNvSpPr/>
          <p:nvPr/>
        </p:nvSpPr>
        <p:spPr>
          <a:xfrm>
            <a:off x="564412" y="3193200"/>
            <a:ext cx="102870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“几栋木雕风格明显不同”</a:t>
            </a:r>
            <a:endParaRPr lang="en-US" sz="700" dirty="0"/>
          </a:p>
        </p:txBody>
      </p:sp>
      <p:sp>
        <p:nvSpPr>
          <p:cNvPr id="136" name="Text 89"/>
          <p:cNvSpPr/>
          <p:nvPr/>
        </p:nvSpPr>
        <p:spPr>
          <a:xfrm>
            <a:off x="1636030" y="3200400"/>
            <a:ext cx="392906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观感·待核</a:t>
            </a:r>
            <a:endParaRPr lang="en-US" sz="700" dirty="0"/>
          </a:p>
        </p:txBody>
      </p:sp>
      <p:sp>
        <p:nvSpPr>
          <p:cNvPr id="137" name="Text 90"/>
          <p:cNvSpPr/>
          <p:nvPr/>
        </p:nvSpPr>
        <p:spPr>
          <a:xfrm>
            <a:off x="2921794" y="3200400"/>
            <a:ext cx="214313" cy="107156"/>
          </a:xfrm>
          <a:prstGeom prst="roundRect">
            <a:avLst>
              <a:gd name="adj" fmla="val 56889"/>
            </a:avLst>
          </a:prstGeom>
          <a:solidFill>
            <a:srgbClr val="E8E6DC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目测</a:t>
            </a:r>
            <a:endParaRPr lang="en-US" sz="700" dirty="0"/>
          </a:p>
        </p:txBody>
      </p:sp>
      <p:sp>
        <p:nvSpPr>
          <p:cNvPr id="138" name="Text 91"/>
          <p:cNvSpPr/>
          <p:nvPr/>
        </p:nvSpPr>
        <p:spPr>
          <a:xfrm>
            <a:off x="3178969" y="3200344"/>
            <a:ext cx="842962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 次观感 · 未记栋号部位</a:t>
            </a:r>
            <a:endParaRPr lang="en-US" sz="700" dirty="0"/>
          </a:p>
        </p:txBody>
      </p:sp>
      <p:sp>
        <p:nvSpPr>
          <p:cNvPr id="139" name="Text 92"/>
          <p:cNvSpPr/>
          <p:nvPr/>
        </p:nvSpPr>
        <p:spPr>
          <a:xfrm>
            <a:off x="4221956" y="3121819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差异栋影像建档，请建筑史与木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雕专业者辨识</a:t>
            </a:r>
            <a:endParaRPr lang="en-US" sz="700" dirty="0"/>
          </a:p>
        </p:txBody>
      </p:sp>
      <p:sp>
        <p:nvSpPr>
          <p:cNvPr id="140" name="Text 93"/>
          <p:cNvSpPr/>
          <p:nvPr/>
        </p:nvSpPr>
        <p:spPr>
          <a:xfrm>
            <a:off x="5563195" y="3146822"/>
            <a:ext cx="314325" cy="107156"/>
          </a:xfrm>
          <a:prstGeom prst="roundRect">
            <a:avLst>
              <a:gd name="adj" fmla="val 56889"/>
            </a:avLst>
          </a:prstGeom>
          <a:solidFill>
            <a:srgbClr val="E8E6DC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中偏高</a:t>
            </a:r>
            <a:endParaRPr lang="en-US" sz="700" dirty="0"/>
          </a:p>
        </p:txBody>
      </p:sp>
      <p:sp>
        <p:nvSpPr>
          <p:cNvPr id="141" name="Text 94"/>
          <p:cNvSpPr/>
          <p:nvPr/>
        </p:nvSpPr>
        <p:spPr>
          <a:xfrm>
            <a:off x="5564981" y="3266815"/>
            <a:ext cx="321469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主线二·三</a:t>
            </a:r>
            <a:endParaRPr lang="en-US" sz="700" dirty="0"/>
          </a:p>
        </p:txBody>
      </p:sp>
      <p:sp>
        <p:nvSpPr>
          <p:cNvPr id="142" name="Text 95"/>
          <p:cNvSpPr/>
          <p:nvPr/>
        </p:nvSpPr>
        <p:spPr>
          <a:xfrm>
            <a:off x="221456" y="3393281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S8</a:t>
            </a:r>
            <a:endParaRPr lang="en-US" sz="700" dirty="0"/>
          </a:p>
        </p:txBody>
      </p:sp>
      <p:sp>
        <p:nvSpPr>
          <p:cNvPr id="143" name="Text 96"/>
          <p:cNvSpPr/>
          <p:nvPr/>
        </p:nvSpPr>
        <p:spPr>
          <a:xfrm>
            <a:off x="564412" y="3464663"/>
            <a:ext cx="1628775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“村民说是‘外姓人’建的，来历说不清”</a:t>
            </a:r>
            <a:endParaRPr lang="en-US" sz="700" dirty="0"/>
          </a:p>
        </p:txBody>
      </p:sp>
      <p:sp>
        <p:nvSpPr>
          <p:cNvPr id="144" name="Text 97"/>
          <p:cNvSpPr/>
          <p:nvPr/>
        </p:nvSpPr>
        <p:spPr>
          <a:xfrm>
            <a:off x="2236105" y="3471863"/>
            <a:ext cx="464344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叙事·未证实</a:t>
            </a:r>
            <a:endParaRPr lang="en-US" sz="700" dirty="0"/>
          </a:p>
        </p:txBody>
      </p:sp>
      <p:sp>
        <p:nvSpPr>
          <p:cNvPr id="145" name="Text 98"/>
          <p:cNvSpPr/>
          <p:nvPr/>
        </p:nvSpPr>
        <p:spPr>
          <a:xfrm>
            <a:off x="2921794" y="3471863"/>
            <a:ext cx="214313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  <a:effectLst>
            <a:outerShdw sx="100000" sy="100000" kx="0" ky="0" algn="bl" rotWithShape="0" blurRad="101600" dist="50800" dir="16200000">
              <a:srgbClr val="E8E6DC">
                <a:alpha val="100000"/>
              </a:srgbClr>
            </a:outerShdw>
          </a:effectLst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口述</a:t>
            </a:r>
            <a:endParaRPr lang="en-US" sz="700" dirty="0"/>
          </a:p>
        </p:txBody>
      </p:sp>
      <p:sp>
        <p:nvSpPr>
          <p:cNvPr id="146" name="Text 99"/>
          <p:cNvSpPr/>
          <p:nvPr/>
        </p:nvSpPr>
        <p:spPr>
          <a:xfrm>
            <a:off x="3179248" y="3471807"/>
            <a:ext cx="70723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村民转述 · 人数未记</a:t>
            </a:r>
            <a:endParaRPr lang="en-US" sz="700" dirty="0"/>
          </a:p>
        </p:txBody>
      </p:sp>
      <p:sp>
        <p:nvSpPr>
          <p:cNvPr id="147" name="Text 100"/>
          <p:cNvSpPr/>
          <p:nvPr/>
        </p:nvSpPr>
        <p:spPr>
          <a:xfrm>
            <a:off x="4221956" y="3393281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姓氏分布多源核对：墓碑、族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谱、户籍口径</a:t>
            </a:r>
            <a:endParaRPr lang="en-US" sz="700" dirty="0"/>
          </a:p>
        </p:txBody>
      </p:sp>
      <p:sp>
        <p:nvSpPr>
          <p:cNvPr id="148" name="Text 101"/>
          <p:cNvSpPr/>
          <p:nvPr/>
        </p:nvSpPr>
        <p:spPr>
          <a:xfrm>
            <a:off x="5563195" y="3418284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E8E6DC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</a:t>
            </a:r>
            <a:endParaRPr lang="en-US" sz="700" dirty="0"/>
          </a:p>
        </p:txBody>
      </p:sp>
      <p:sp>
        <p:nvSpPr>
          <p:cNvPr id="149" name="Text 102"/>
          <p:cNvSpPr/>
          <p:nvPr/>
        </p:nvSpPr>
        <p:spPr>
          <a:xfrm>
            <a:off x="5564981" y="3538277"/>
            <a:ext cx="214313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主线二</a:t>
            </a:r>
            <a:endParaRPr lang="en-US" sz="700" dirty="0"/>
          </a:p>
        </p:txBody>
      </p:sp>
      <p:sp>
        <p:nvSpPr>
          <p:cNvPr id="150" name="Text 103"/>
          <p:cNvSpPr/>
          <p:nvPr/>
        </p:nvSpPr>
        <p:spPr>
          <a:xfrm>
            <a:off x="221456" y="3664744"/>
            <a:ext cx="285750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S9</a:t>
            </a:r>
            <a:endParaRPr lang="en-US" sz="700" dirty="0"/>
          </a:p>
        </p:txBody>
      </p:sp>
      <p:sp>
        <p:nvSpPr>
          <p:cNvPr id="151" name="Text 104"/>
          <p:cNvSpPr/>
          <p:nvPr/>
        </p:nvSpPr>
        <p:spPr>
          <a:xfrm>
            <a:off x="564412" y="3739697"/>
            <a:ext cx="1714500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“新修了仿古街，老宅本体保护反而没钱投”</a:t>
            </a:r>
            <a:endParaRPr lang="en-US" sz="700" dirty="0"/>
          </a:p>
        </p:txBody>
      </p:sp>
      <p:sp>
        <p:nvSpPr>
          <p:cNvPr id="152" name="Text 105"/>
          <p:cNvSpPr/>
          <p:nvPr/>
        </p:nvSpPr>
        <p:spPr>
          <a:xfrm>
            <a:off x="2321830" y="3746897"/>
            <a:ext cx="464344" cy="107156"/>
          </a:xfrm>
          <a:prstGeom prst="roundRect">
            <a:avLst>
              <a:gd name="adj" fmla="val 56889"/>
            </a:avLst>
          </a:prstGeom>
          <a:solidFill>
            <a:srgbClr val="F0EEE6"/>
          </a:solidFill>
          <a:ln/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印象·未查证</a:t>
            </a:r>
            <a:endParaRPr lang="en-US" sz="700" dirty="0"/>
          </a:p>
        </p:txBody>
      </p:sp>
      <p:sp>
        <p:nvSpPr>
          <p:cNvPr id="153" name="Text 106"/>
          <p:cNvSpPr/>
          <p:nvPr/>
        </p:nvSpPr>
        <p:spPr>
          <a:xfrm>
            <a:off x="2921794" y="3746897"/>
            <a:ext cx="285750" cy="107156"/>
          </a:xfrm>
          <a:prstGeom prst="roundRect">
            <a:avLst>
              <a:gd name="adj" fmla="val 56889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B53333">
                <a:alpha val="100000"/>
              </a:srgbClr>
            </a:outerShdw>
          </a:effectLst>
        </p:spPr>
        <p:txBody>
          <a:bodyPr wrap="none" lIns="30361" tIns="6072" rIns="30361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333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无数据</a:t>
            </a:r>
            <a:endParaRPr lang="en-US" sz="700" dirty="0"/>
          </a:p>
        </p:txBody>
      </p:sp>
      <p:sp>
        <p:nvSpPr>
          <p:cNvPr id="154" name="Text 107"/>
          <p:cNvSpPr/>
          <p:nvPr/>
        </p:nvSpPr>
        <p:spPr>
          <a:xfrm>
            <a:off x="3249904" y="3746841"/>
            <a:ext cx="792956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现场观察 + 研究者判断</a:t>
            </a:r>
            <a:endParaRPr lang="en-US" sz="700" dirty="0"/>
          </a:p>
        </p:txBody>
      </p:sp>
      <p:sp>
        <p:nvSpPr>
          <p:cNvPr id="155" name="Text 108"/>
          <p:cNvSpPr/>
          <p:nvPr/>
        </p:nvSpPr>
        <p:spPr>
          <a:xfrm>
            <a:off x="4221956" y="3664744"/>
            <a:ext cx="1285875" cy="271463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分别访谈村委与运营方，检索立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项批复与资金公示</a:t>
            </a:r>
            <a:endParaRPr lang="en-US" sz="700" dirty="0"/>
          </a:p>
        </p:txBody>
      </p:sp>
      <p:sp>
        <p:nvSpPr>
          <p:cNvPr id="156" name="Text 109"/>
          <p:cNvSpPr/>
          <p:nvPr/>
        </p:nvSpPr>
        <p:spPr>
          <a:xfrm>
            <a:off x="5563195" y="3693319"/>
            <a:ext cx="164306" cy="107156"/>
          </a:xfrm>
          <a:prstGeom prst="roundRect">
            <a:avLst>
              <a:gd name="adj" fmla="val 56889"/>
            </a:avLst>
          </a:prstGeom>
          <a:solidFill>
            <a:srgbClr val="C96442"/>
          </a:solidFill>
          <a:ln/>
        </p:spPr>
        <p:txBody>
          <a:bodyPr wrap="none" lIns="36433" tIns="6072" rIns="36433" bIns="6072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高</a:t>
            </a:r>
            <a:endParaRPr lang="en-US" sz="700" dirty="0"/>
          </a:p>
        </p:txBody>
      </p:sp>
      <p:sp>
        <p:nvSpPr>
          <p:cNvPr id="157" name="Text 110"/>
          <p:cNvSpPr/>
          <p:nvPr/>
        </p:nvSpPr>
        <p:spPr>
          <a:xfrm>
            <a:off x="5564981" y="3813311"/>
            <a:ext cx="214313" cy="928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主线三</a:t>
            </a:r>
            <a:endParaRPr lang="en-US" sz="700" dirty="0"/>
          </a:p>
        </p:txBody>
      </p:sp>
      <p:sp>
        <p:nvSpPr>
          <p:cNvPr id="158" name="Text 111"/>
          <p:cNvSpPr/>
          <p:nvPr/>
        </p:nvSpPr>
        <p:spPr>
          <a:xfrm>
            <a:off x="6215118" y="1120843"/>
            <a:ext cx="950119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下一步核验计划</a:t>
            </a:r>
            <a:endParaRPr lang="en-US" sz="1000" dirty="0"/>
          </a:p>
        </p:txBody>
      </p:sp>
      <p:sp>
        <p:nvSpPr>
          <p:cNvPr id="159" name="Text 112"/>
          <p:cNvSpPr/>
          <p:nvPr/>
        </p:nvSpPr>
        <p:spPr>
          <a:xfrm>
            <a:off x="7973318" y="1172970"/>
            <a:ext cx="957263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计划安排 · 只写相对时间窗</a:t>
            </a:r>
            <a:endParaRPr lang="en-US" sz="700" dirty="0"/>
          </a:p>
        </p:txBody>
      </p:sp>
      <p:sp>
        <p:nvSpPr>
          <p:cNvPr id="160" name="Text 113"/>
          <p:cNvSpPr/>
          <p:nvPr/>
        </p:nvSpPr>
        <p:spPr>
          <a:xfrm>
            <a:off x="6307931" y="1391469"/>
            <a:ext cx="285750" cy="107156"/>
          </a:xfrm>
          <a:prstGeom prst="roundRect">
            <a:avLst>
              <a:gd name="adj" fmla="val 56889"/>
            </a:avLst>
          </a:prstGeom>
          <a:solidFill>
            <a:srgbClr val="141413"/>
          </a:solidFill>
          <a:ln/>
        </p:spPr>
        <p:txBody>
          <a:bodyPr wrap="none" lIns="30361" tIns="6072" rIns="30361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阶段一</a:t>
            </a:r>
            <a:endParaRPr lang="en-US" sz="700" dirty="0"/>
          </a:p>
        </p:txBody>
      </p:sp>
      <p:sp>
        <p:nvSpPr>
          <p:cNvPr id="161" name="Text 114"/>
          <p:cNvSpPr/>
          <p:nvPr/>
        </p:nvSpPr>
        <p:spPr>
          <a:xfrm>
            <a:off x="6644022" y="1375395"/>
            <a:ext cx="140731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第二轮驻村（复测 + 扩样访谈）</a:t>
            </a:r>
            <a:endParaRPr lang="en-US" sz="700" dirty="0"/>
          </a:p>
        </p:txBody>
      </p:sp>
      <p:sp>
        <p:nvSpPr>
          <p:cNvPr id="162" name="Text 115"/>
          <p:cNvSpPr/>
          <p:nvPr/>
        </p:nvSpPr>
        <p:spPr>
          <a:xfrm>
            <a:off x="6307931" y="1522344"/>
            <a:ext cx="252888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时间窗 · 下一轮驻村，含节庆或农忙时段</a:t>
            </a:r>
            <a:endParaRPr lang="en-US" sz="700" dirty="0"/>
          </a:p>
        </p:txBody>
      </p:sp>
      <p:sp>
        <p:nvSpPr>
          <p:cNvPr id="163" name="Text 116"/>
          <p:cNvSpPr/>
          <p:nvPr/>
        </p:nvSpPr>
        <p:spPr>
          <a:xfrm>
            <a:off x="6307931" y="1643900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目标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目测转台账，单一口述转多源记录</a:t>
            </a:r>
            <a:endParaRPr lang="en-US" sz="700" dirty="0"/>
          </a:p>
        </p:txBody>
      </p:sp>
      <p:sp>
        <p:nvSpPr>
          <p:cNvPr id="164" name="Text 117"/>
          <p:cNvSpPr/>
          <p:nvPr/>
        </p:nvSpPr>
        <p:spPr>
          <a:xfrm>
            <a:off x="6307931" y="1768134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产出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逐栋台账 / 入户问卷 / 访谈逐字稿</a:t>
            </a:r>
            <a:endParaRPr lang="en-US" sz="700" dirty="0"/>
          </a:p>
        </p:txBody>
      </p:sp>
      <p:sp>
        <p:nvSpPr>
          <p:cNvPr id="165" name="Text 118"/>
          <p:cNvSpPr/>
          <p:nvPr/>
        </p:nvSpPr>
        <p:spPr>
          <a:xfrm>
            <a:off x="6215063" y="1925241"/>
            <a:ext cx="2714625" cy="714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↓</a:t>
            </a:r>
            <a:endParaRPr lang="en-US" sz="700" dirty="0"/>
          </a:p>
        </p:txBody>
      </p:sp>
      <p:sp>
        <p:nvSpPr>
          <p:cNvPr id="166" name="Text 119"/>
          <p:cNvSpPr/>
          <p:nvPr/>
        </p:nvSpPr>
        <p:spPr>
          <a:xfrm>
            <a:off x="6307931" y="2059409"/>
            <a:ext cx="285750" cy="107156"/>
          </a:xfrm>
          <a:prstGeom prst="roundRect">
            <a:avLst>
              <a:gd name="adj" fmla="val 56889"/>
            </a:avLst>
          </a:prstGeom>
          <a:solidFill>
            <a:srgbClr val="141413"/>
          </a:solidFill>
          <a:ln/>
        </p:spPr>
        <p:txBody>
          <a:bodyPr wrap="none" lIns="30361" tIns="6072" rIns="30361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阶段二</a:t>
            </a:r>
            <a:endParaRPr lang="en-US" sz="700" dirty="0"/>
          </a:p>
        </p:txBody>
      </p:sp>
      <p:sp>
        <p:nvSpPr>
          <p:cNvPr id="167" name="Text 120"/>
          <p:cNvSpPr/>
          <p:nvPr/>
        </p:nvSpPr>
        <p:spPr>
          <a:xfrm>
            <a:off x="6642013" y="2043336"/>
            <a:ext cx="1807369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档案与文献检索（族谱/碑刻/方志/规划）</a:t>
            </a:r>
            <a:endParaRPr lang="en-US" sz="700" dirty="0"/>
          </a:p>
        </p:txBody>
      </p:sp>
      <p:sp>
        <p:nvSpPr>
          <p:cNvPr id="168" name="Text 121"/>
          <p:cNvSpPr/>
          <p:nvPr/>
        </p:nvSpPr>
        <p:spPr>
          <a:xfrm>
            <a:off x="6307931" y="2190285"/>
            <a:ext cx="252888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时间窗 · 驻村后 1—2 个月内</a:t>
            </a:r>
            <a:endParaRPr lang="en-US" sz="700" dirty="0"/>
          </a:p>
        </p:txBody>
      </p:sp>
      <p:sp>
        <p:nvSpPr>
          <p:cNvPr id="169" name="Text 122"/>
          <p:cNvSpPr/>
          <p:nvPr/>
        </p:nvSpPr>
        <p:spPr>
          <a:xfrm>
            <a:off x="6307931" y="2311840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目标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为 S4—S6、S8、S9 寻找文献旁证</a:t>
            </a:r>
            <a:endParaRPr lang="en-US" sz="700" dirty="0"/>
          </a:p>
        </p:txBody>
      </p:sp>
      <p:sp>
        <p:nvSpPr>
          <p:cNvPr id="170" name="Text 123"/>
          <p:cNvSpPr/>
          <p:nvPr/>
        </p:nvSpPr>
        <p:spPr>
          <a:xfrm>
            <a:off x="6307931" y="2436075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产出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族谱版本登记表 / 碑刻释文 / 政策检索清单</a:t>
            </a:r>
            <a:endParaRPr lang="en-US" sz="700" dirty="0"/>
          </a:p>
        </p:txBody>
      </p:sp>
      <p:sp>
        <p:nvSpPr>
          <p:cNvPr id="171" name="Text 124"/>
          <p:cNvSpPr/>
          <p:nvPr/>
        </p:nvSpPr>
        <p:spPr>
          <a:xfrm>
            <a:off x="6215063" y="2593181"/>
            <a:ext cx="2714625" cy="714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↓</a:t>
            </a:r>
            <a:endParaRPr lang="en-US" sz="700" dirty="0"/>
          </a:p>
        </p:txBody>
      </p:sp>
      <p:sp>
        <p:nvSpPr>
          <p:cNvPr id="172" name="Text 125"/>
          <p:cNvSpPr/>
          <p:nvPr/>
        </p:nvSpPr>
        <p:spPr>
          <a:xfrm>
            <a:off x="6307931" y="2727350"/>
            <a:ext cx="285750" cy="107156"/>
          </a:xfrm>
          <a:prstGeom prst="roundRect">
            <a:avLst>
              <a:gd name="adj" fmla="val 56889"/>
            </a:avLst>
          </a:prstGeom>
          <a:solidFill>
            <a:srgbClr val="141413"/>
          </a:solidFill>
          <a:ln/>
        </p:spPr>
        <p:txBody>
          <a:bodyPr wrap="none" lIns="30361" tIns="6072" rIns="30361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阶段三</a:t>
            </a:r>
            <a:endParaRPr lang="en-US" sz="700" dirty="0"/>
          </a:p>
        </p:txBody>
      </p:sp>
      <p:sp>
        <p:nvSpPr>
          <p:cNvPr id="173" name="Text 126"/>
          <p:cNvSpPr/>
          <p:nvPr/>
        </p:nvSpPr>
        <p:spPr>
          <a:xfrm>
            <a:off x="6643688" y="2711276"/>
            <a:ext cx="900113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专家辨识与部门访谈</a:t>
            </a:r>
            <a:endParaRPr lang="en-US" sz="700" dirty="0"/>
          </a:p>
        </p:txBody>
      </p:sp>
      <p:sp>
        <p:nvSpPr>
          <p:cNvPr id="174" name="Text 127"/>
          <p:cNvSpPr/>
          <p:nvPr/>
        </p:nvSpPr>
        <p:spPr>
          <a:xfrm>
            <a:off x="6307931" y="2858226"/>
            <a:ext cx="252888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时间窗 · 2—3 个月内，可与阶段二并行</a:t>
            </a:r>
            <a:endParaRPr lang="en-US" sz="700" dirty="0"/>
          </a:p>
        </p:txBody>
      </p:sp>
      <p:sp>
        <p:nvSpPr>
          <p:cNvPr id="175" name="Text 128"/>
          <p:cNvSpPr/>
          <p:nvPr/>
        </p:nvSpPr>
        <p:spPr>
          <a:xfrm>
            <a:off x="6307931" y="2979781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目标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解决 S7 风格年代辨识与 S9 资金机制</a:t>
            </a:r>
            <a:endParaRPr lang="en-US" sz="700" dirty="0"/>
          </a:p>
        </p:txBody>
      </p:sp>
      <p:sp>
        <p:nvSpPr>
          <p:cNvPr id="176" name="Text 129"/>
          <p:cNvSpPr/>
          <p:nvPr/>
        </p:nvSpPr>
        <p:spPr>
          <a:xfrm>
            <a:off x="6307931" y="3104015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产出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辨识意见书 / 部门与运营方纪要 / 资金流向草图</a:t>
            </a:r>
            <a:endParaRPr lang="en-US" sz="700" dirty="0"/>
          </a:p>
        </p:txBody>
      </p:sp>
      <p:sp>
        <p:nvSpPr>
          <p:cNvPr id="177" name="Text 130"/>
          <p:cNvSpPr/>
          <p:nvPr/>
        </p:nvSpPr>
        <p:spPr>
          <a:xfrm>
            <a:off x="6215063" y="3261122"/>
            <a:ext cx="2714625" cy="714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↓</a:t>
            </a:r>
            <a:endParaRPr lang="en-US" sz="700" dirty="0"/>
          </a:p>
        </p:txBody>
      </p:sp>
      <p:sp>
        <p:nvSpPr>
          <p:cNvPr id="178" name="Text 131"/>
          <p:cNvSpPr/>
          <p:nvPr/>
        </p:nvSpPr>
        <p:spPr>
          <a:xfrm>
            <a:off x="6307931" y="3395290"/>
            <a:ext cx="285750" cy="107156"/>
          </a:xfrm>
          <a:prstGeom prst="roundRect">
            <a:avLst>
              <a:gd name="adj" fmla="val 56889"/>
            </a:avLst>
          </a:prstGeom>
          <a:solidFill>
            <a:srgbClr val="141413"/>
          </a:solidFill>
          <a:ln/>
        </p:spPr>
        <p:txBody>
          <a:bodyPr wrap="none" lIns="30361" tIns="6072" rIns="30361" bIns="6072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阶段四</a:t>
            </a:r>
            <a:endParaRPr lang="en-US" sz="700" dirty="0"/>
          </a:p>
        </p:txBody>
      </p:sp>
      <p:sp>
        <p:nvSpPr>
          <p:cNvPr id="179" name="Text 132"/>
          <p:cNvSpPr/>
          <p:nvPr/>
        </p:nvSpPr>
        <p:spPr>
          <a:xfrm>
            <a:off x="6643687" y="3379217"/>
            <a:ext cx="11001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多源交叉验证与命题收敛</a:t>
            </a:r>
            <a:endParaRPr lang="en-US" sz="700" dirty="0"/>
          </a:p>
        </p:txBody>
      </p:sp>
      <p:sp>
        <p:nvSpPr>
          <p:cNvPr id="180" name="Text 133"/>
          <p:cNvSpPr/>
          <p:nvPr/>
        </p:nvSpPr>
        <p:spPr>
          <a:xfrm>
            <a:off x="6307931" y="3526166"/>
            <a:ext cx="2528888" cy="100012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时间窗 · 3—4 个月内</a:t>
            </a:r>
            <a:endParaRPr lang="en-US" sz="700" dirty="0"/>
          </a:p>
        </p:txBody>
      </p:sp>
      <p:sp>
        <p:nvSpPr>
          <p:cNvPr id="181" name="Text 134"/>
          <p:cNvSpPr/>
          <p:nvPr/>
        </p:nvSpPr>
        <p:spPr>
          <a:xfrm>
            <a:off x="6307931" y="3647722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目标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逐条判定证实 / 证伪 / 仍存疑，主线收敛为命题</a:t>
            </a:r>
            <a:endParaRPr lang="en-US" sz="700" dirty="0"/>
          </a:p>
        </p:txBody>
      </p:sp>
      <p:sp>
        <p:nvSpPr>
          <p:cNvPr id="182" name="Text 135"/>
          <p:cNvSpPr/>
          <p:nvPr/>
        </p:nvSpPr>
        <p:spPr>
          <a:xfrm>
            <a:off x="6307931" y="3771956"/>
            <a:ext cx="2680621" cy="1071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产出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存疑清单 V2 / 命题清单 / 下一轮田野问题单</a:t>
            </a:r>
            <a:endParaRPr lang="en-US" sz="700" dirty="0"/>
          </a:p>
        </p:txBody>
      </p:sp>
      <p:sp>
        <p:nvSpPr>
          <p:cNvPr id="183" name="Text 136"/>
          <p:cNvSpPr/>
          <p:nvPr/>
        </p:nvSpPr>
        <p:spPr>
          <a:xfrm>
            <a:off x="214313" y="4514850"/>
            <a:ext cx="8715375" cy="3000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核验完成前不发布任何结论性表述 · 本页无结论：“约40栋”“不到一半”为单次目测估算，“三年一次”“凭记忆补的”为单一口述，均未经交叉验证；引用只使用笔记原文措辞 · 优先级按是否影响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三条主线成立排序，不按是否容易查证排序 · 来源：用户田野笔记 Day1—Day4；核验计划阶段与时间窗为本研究计划安排，非笔记事实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1050131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608293"/>
            <a:ext cx="2314575" cy="1085850"/>
          </a:xfrm>
          <a:prstGeom prst="roundRect">
            <a:avLst>
              <a:gd name="adj" fmla="val 664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14613" y="1608293"/>
            <a:ext cx="2314575" cy="1085850"/>
          </a:xfrm>
          <a:prstGeom prst="roundRect">
            <a:avLst>
              <a:gd name="adj" fmla="val 664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4313" y="2782212"/>
            <a:ext cx="2314575" cy="1085850"/>
          </a:xfrm>
          <a:prstGeom prst="roundRect">
            <a:avLst>
              <a:gd name="adj" fmla="val 664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14613" y="2782212"/>
            <a:ext cx="2314575" cy="1085850"/>
          </a:xfrm>
          <a:prstGeom prst="roundRect">
            <a:avLst>
              <a:gd name="adj" fmla="val 6648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00638" y="1607902"/>
            <a:ext cx="3829050" cy="714375"/>
          </a:xfrm>
          <a:prstGeom prst="roundRect">
            <a:avLst>
              <a:gd name="adj" fmla="val 153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07794" y="1978596"/>
            <a:ext cx="1771650" cy="285750"/>
          </a:xfrm>
          <a:prstGeom prst="roundRect">
            <a:avLst>
              <a:gd name="adj" fmla="val 16000"/>
            </a:avLst>
          </a:prstGeom>
          <a:solidFill>
            <a:srgbClr val="F5F4ED"/>
          </a:solidFill>
          <a:ln/>
        </p:spPr>
      </p:sp>
      <p:sp>
        <p:nvSpPr>
          <p:cNvPr id="10" name="Shape 8"/>
          <p:cNvSpPr/>
          <p:nvPr/>
        </p:nvSpPr>
        <p:spPr>
          <a:xfrm>
            <a:off x="7050881" y="1978596"/>
            <a:ext cx="1771650" cy="285750"/>
          </a:xfrm>
          <a:prstGeom prst="roundRect">
            <a:avLst>
              <a:gd name="adj" fmla="val 16000"/>
            </a:avLst>
          </a:prstGeom>
          <a:solidFill>
            <a:srgbClr val="F5F4ED"/>
          </a:solidFill>
          <a:ln/>
        </p:spPr>
      </p:sp>
      <p:sp>
        <p:nvSpPr>
          <p:cNvPr id="11" name="Shape 9"/>
          <p:cNvSpPr/>
          <p:nvPr/>
        </p:nvSpPr>
        <p:spPr>
          <a:xfrm>
            <a:off x="5100638" y="2380990"/>
            <a:ext cx="3829050" cy="714375"/>
          </a:xfrm>
          <a:prstGeom prst="roundRect">
            <a:avLst>
              <a:gd name="adj" fmla="val 153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07794" y="2751683"/>
            <a:ext cx="1771650" cy="285750"/>
          </a:xfrm>
          <a:prstGeom prst="roundRect">
            <a:avLst>
              <a:gd name="adj" fmla="val 16000"/>
            </a:avLst>
          </a:prstGeom>
          <a:solidFill>
            <a:srgbClr val="F5F4ED"/>
          </a:solidFill>
          <a:ln/>
        </p:spPr>
      </p:sp>
      <p:sp>
        <p:nvSpPr>
          <p:cNvPr id="13" name="Shape 11"/>
          <p:cNvSpPr/>
          <p:nvPr/>
        </p:nvSpPr>
        <p:spPr>
          <a:xfrm>
            <a:off x="7050881" y="2751683"/>
            <a:ext cx="1771650" cy="285750"/>
          </a:xfrm>
          <a:prstGeom prst="roundRect">
            <a:avLst>
              <a:gd name="adj" fmla="val 16000"/>
            </a:avLst>
          </a:prstGeom>
          <a:solidFill>
            <a:srgbClr val="F5F4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0638" y="3154077"/>
            <a:ext cx="3829050" cy="714375"/>
          </a:xfrm>
          <a:prstGeom prst="roundRect">
            <a:avLst>
              <a:gd name="adj" fmla="val 153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  <a:effectLst>
            <a:outerShdw sx="100000" sy="100000" kx="0" ky="0" algn="bl" rotWithShape="0" blurRad="171450" dist="28575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07794" y="3524771"/>
            <a:ext cx="1771650" cy="285750"/>
          </a:xfrm>
          <a:prstGeom prst="roundRect">
            <a:avLst>
              <a:gd name="adj" fmla="val 16000"/>
            </a:avLst>
          </a:prstGeom>
          <a:solidFill>
            <a:srgbClr val="F5F4ED"/>
          </a:solidFill>
          <a:ln/>
        </p:spPr>
      </p:sp>
      <p:sp>
        <p:nvSpPr>
          <p:cNvPr id="16" name="Shape 14"/>
          <p:cNvSpPr/>
          <p:nvPr/>
        </p:nvSpPr>
        <p:spPr>
          <a:xfrm>
            <a:off x="7050881" y="3524771"/>
            <a:ext cx="1771650" cy="285750"/>
          </a:xfrm>
          <a:prstGeom prst="roundRect">
            <a:avLst>
              <a:gd name="adj" fmla="val 16000"/>
            </a:avLst>
          </a:prstGeom>
          <a:solidFill>
            <a:srgbClr val="F5F4ED"/>
          </a:solidFill>
          <a:ln/>
        </p:spPr>
      </p:sp>
      <p:sp>
        <p:nvSpPr>
          <p:cNvPr id="17" name="Shape 15"/>
          <p:cNvSpPr/>
          <p:nvPr/>
        </p:nvSpPr>
        <p:spPr>
          <a:xfrm>
            <a:off x="214313" y="3984203"/>
            <a:ext cx="8715375" cy="357187"/>
          </a:xfrm>
          <a:prstGeom prst="roundRect">
            <a:avLst>
              <a:gd name="adj" fmla="val 15360"/>
            </a:avLst>
          </a:prstGeom>
          <a:solidFill>
            <a:srgbClr val="30302E"/>
          </a:solidFill>
          <a:ln/>
        </p:spPr>
      </p:sp>
      <p:sp>
        <p:nvSpPr>
          <p:cNvPr id="18" name="Text 16"/>
          <p:cNvSpPr/>
          <p:nvPr/>
        </p:nvSpPr>
        <p:spPr>
          <a:xfrm>
            <a:off x="214313" y="414338"/>
            <a:ext cx="8715375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中期分享不求结论：现场征集四类线索、抛出三个开放议题，欢迎学者与从业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者当场“拆台”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14759" y="1386390"/>
            <a:ext cx="950119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征集线索 · 四类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4588" y="1430313"/>
            <a:ext cx="992981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我们缺什么／您能提供什么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1580" y="1670521"/>
            <a:ext cx="71937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①</a:t>
            </a:r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建筑与工艺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86526" y="1698873"/>
            <a:ext cx="83581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会后两周至第二轮驻村前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21469" y="1856036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我们缺什么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明清木雕地域流派辨识、天井院落形制与构件断代经验，以及普查台账与拍摄建档方法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1469" y="2250281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您能提供什么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看图辨识意见、同类形制对照样本与已发表图版、按栋记录字段建议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21880" y="1670521"/>
            <a:ext cx="71937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②</a:t>
            </a:r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文献与档案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58729" y="1698873"/>
            <a:ext cx="106441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会后两周内先给线索，代查另议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21769" y="1856036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我们缺什么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族谱版本比对与考辨经验，地方志／碑刻／契约文书线索，宗族姓氏与迁徙研究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21769" y="2250281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您能提供什么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版本线索与馆藏检索入口、史料批判方法、可代查的文献线索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1580" y="2844440"/>
            <a:ext cx="719376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③</a:t>
            </a:r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政策与资金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85466" y="2872792"/>
            <a:ext cx="83581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外部参照 · 仅作路径提示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21469" y="3029955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我们缺什么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保护专项资金与保护发展规划申报实务，私有产权老宅本体修缮的渠道与责任主体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1469" y="3424200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您能提供什么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申报流程与材料清单经验、入库与遴选口径提示，不含任何金额承诺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721880" y="2844440"/>
            <a:ext cx="605790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④</a:t>
            </a:r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同类村落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58729" y="2872792"/>
            <a:ext cx="1064419" cy="10715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会后一个月内，可约现场或线上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721769" y="3029955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我们缺什么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空心化背景下维持活态的对照案例，仿古街与本体保护张力的真实处置与踩过的坑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21769" y="3424200"/>
            <a:ext cx="21002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您能提供什么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亲历案例的处置过程与失败代价，村民、政府与运营方的实际博弈方式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01084" y="1386390"/>
            <a:ext cx="950119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开放议题 · 三条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30281" y="1430313"/>
            <a:ext cx="1500188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全部问句 · 正反立场等距 · 欢迎当场质疑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207794" y="1664271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443538" y="1663880"/>
            <a:ext cx="337899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祭祖由每年清明改为三年一次，是“文化断层”，还是仪式形式的重组？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72088" y="2014314"/>
            <a:ext cx="164306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正方 · 断层说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频率下降意味着组织能力、人口结构与集体认同同步衰减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115175" y="2014314"/>
            <a:ext cx="164306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反方 · 重组说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频次压缩未必等于强度下降，或转向规模化、家祭化与远程参与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207794" y="2437358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B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43538" y="2436577"/>
            <a:ext cx="3378994" cy="2714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“外姓人”这类说不清的村落叙事，应作为史实线索追查，还是作为记忆建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构本身来研究？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272088" y="2787402"/>
            <a:ext cx="164306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正方 · 史实线索说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木雕风格差异属可检验物证，配合族谱、碑刻与方志可望还原建宅者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115175" y="2787402"/>
            <a:ext cx="164306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反方 · 记忆建构说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叙事反映村落如何解释自身差异，“来历说不清”本身即研究对象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207794" y="3210446"/>
            <a:ext cx="171450" cy="171450"/>
          </a:xfrm>
          <a:prstGeom prst="roundRect">
            <a:avLst>
              <a:gd name="adj" fmla="val 44444"/>
            </a:avLst>
          </a:prstGeom>
          <a:solidFill>
            <a:srgbClr val="C96442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C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3538" y="3210055"/>
            <a:ext cx="3378994" cy="1357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仿古街与老宅本体之争，是资金问题、产权问题，还是价值排序问题？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272088" y="3560490"/>
            <a:ext cx="164306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正方 · 资金渠道说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本体修缮缺可申报的合规渠道与专项口径，仿古街更易立项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15175" y="3560490"/>
            <a:ext cx="1643062" cy="2143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反方 · 产权价值说</a:t>
            </a:r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私有老宅修缮责任主体不清，或价值排序在前，资金只是结果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57187" y="4080588"/>
            <a:ext cx="2700338" cy="1643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四天的笔记只够提出问题，接下来靠多方核验。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28954" y="4041018"/>
            <a:ext cx="215741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线索投递方式见会后发放的联系卡，亦可由沙龙主办方转交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628954" y="4170276"/>
            <a:ext cx="2157413" cy="1143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可接受的协作形式：联合调查／文献代查／专家辨识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本页所有陈述为初步观察，存疑项见存疑清单页；核验完成前不发布任何结论性表述。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357688" y="2338685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3620988" y="4145161"/>
            <a:ext cx="300038" cy="3000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" name="Text 3"/>
          <p:cNvSpPr/>
          <p:nvPr/>
        </p:nvSpPr>
        <p:spPr>
          <a:xfrm>
            <a:off x="4354060" y="685800"/>
            <a:ext cx="435769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FINIS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57250" y="1008608"/>
            <a:ext cx="7429500" cy="112871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谢谢聆听——欢迎指正、补充线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索与“拆台”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57250" y="2524423"/>
            <a:ext cx="7429500" cy="4714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谢谢各位听完这份只有四天的驻村笔记——这是一份中期田野笔记的分享，不是研究结论。欢迎指正、补充线索与当场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“拆台”，线索可在沙龙现场投递。四天的笔记只够提出问题，接下来靠多方核验。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36163" y="4132659"/>
            <a:ext cx="14859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驻村田野记录者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36163" y="4316611"/>
            <a:ext cx="14859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驻村第 1–4 日 · 初步观察，存疑待考</a:t>
            </a:r>
            <a:endParaRPr lang="en-US" sz="700" dirty="0"/>
          </a:p>
        </p:txBody>
      </p:sp>
      <p:sp>
        <p:nvSpPr>
          <p:cNvPr id="65535" name="wm:hwcld:2026-09-22T19:23:43:ae4dc1e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2026-09-22T19:23:57Z</dcterms:created>
  <dcterms:modified xsi:type="dcterms:W3CDTF">2026-09-22T19:23:57Z</dcterms:modified>
</cp:coreProperties>
</file>