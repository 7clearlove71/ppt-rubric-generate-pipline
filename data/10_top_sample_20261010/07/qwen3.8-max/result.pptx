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14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  <Relationship Id="rId14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欢迎入职。手上这本员工手册有六十多页，第一天不用全部读完，这份速查卡只挑了头一周真正用得上的部分。你要记住的就三件事：考勤怎么打卡、电脑账号谁给开、报销去哪提。我们把它们压成七页，其余章节只用一句话指路，需要的时候你自己去翻。详细规则仍以手册原文为准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先按时间顺序把第一天该办的事过一遍，这样你不会漏。入职当天有三件：IT 会开通你的邮箱和办公系统账号，办公电脑要装上公司统一的安全软件，Wi-Fi 密码和打印机用法在内网指引里自己查一下。第四件有时间要求：入职两周内完成线上入职培训，这是手册第六章的硬性规定。前三件当天就能办完，最后一件得自己记着日期，别拖到第二周结束。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考勤这块最容易踩坑，先说清楚。公司实行弹性工作制，不卡你几点上班，但有两条硬线：每天工作满八小时，以及核心时间上午十点到下午四点必须在岗，其余时间自己安排。迟到和早退按规定处理。请假分两步：先在 OA 里提前提交申请，别等休完再补；如果是病假，除了申请还要补交证明。记住这句就够了，请假先申请，病假再补证明。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账号的事不用你自己申请，入职当天由 IT 开通。页面上是三件跟电脑相关的：邮箱和办公系统账号当天就有；公司统一的安全软件，办公电脑必须安装；Wi-Fi 密码和打印机使用方法都放在内网指引里，自己查就行。如果当天没拿到账号，直接找 IT，不要自己折腾电脑。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再说钱的事，报销只有一个入口，就是在财务系统提交。各类申请表单和办事流程的索引都放在手册附录，以后不知道去哪办，先翻附录。工资方面：月薪分两次发放，五险一金公司按规定缴纳，你不用自己跑。另外还有带薪年假、补充医疗保险、节日福利和年度体检，具体标准在手册第三章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剩下的章节现在不用读，这张索引告诉你什么时候去翻。第一章公司简介与文化，入职培训前扫一眼，公司成立于二零一零年，使命愿景价值观和文化口号都在这章。第三章薪酬福利，想确认具体标准时翻。第五章行为规范，第一天就该知道：着装得体、保守商业秘密、不利用职务之便谋私利、反对任何形式的骚扰与歧视。第六章培训与发展，排培训或想晋升时翻，每年有培训学时要求，晋升分管理与专业双线。第七章离职管理，以后用得上，提前三十天书面提出，办交接、还资产、做离职面谈。最后是附录，各类申请表单与办事流程索引，不知道去哪办时先查这里。考勤、IT 与办公、报销与工资这三块前面几页已经讲完，不用重复翻。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第一周记住这三件事就够了。考勤：弹性工作，每天满八小时，核心时间十点到十六点在岗，请假在 OA 提前申请。账号：入职当天由 IT 开通邮箱和办公系统，办公电脑必装公司统一的安全软件。报销：在财务系统提交，申请表单和流程索引都在手册附录。其他章节不用现在读，需要时按上一页的索引去翻，不知道去哪办就先查附录。有问题随时找 HR，祝你入职顺利。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day1_must_know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day1_must_know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field"/>
          <p:cNvSpPr/>
          <p:nvPr/>
        </p:nvSpPr>
        <p:spPr>
          <a:xfrm>
            <a:off x="6781800" y="0"/>
            <a:ext cx="5410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11" name="cover-title"/>
          <p:cNvGrpSpPr/>
          <p:nvPr/>
        </p:nvGrpSpPr>
        <p:grpSpPr>
          <a:xfrm>
            <a:off x="742950" y="921068"/>
            <a:ext cx="4293223" cy="3503866"/>
            <a:chOff x="742950" y="921068"/>
            <a:chExt cx="4293223" cy="3503866"/>
          </a:xfrm>
        </p:grpSpPr>
        <p:sp>
          <p:nvSpPr>
            <p:cNvPr id="3" name="TextBox 3"/>
            <p:cNvSpPr txBox="1"/>
            <p:nvPr/>
          </p:nvSpPr>
          <p:spPr>
            <a:xfrm>
              <a:off x="755142" y="921068"/>
              <a:ext cx="42810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150" dirty="0">
                  <a:solidFill>
                    <a:srgbClr val="FFFFFF">
                      <a:alphaMod val="55000"/>
                    </a:srgbClr>
                  </a:solidFill>
                  <a:latin typeface="+mn-lt"/>
                  <a:ea typeface="+mn-ea"/>
                  <a:cs typeface="+mn-cs"/>
                </a:rPr>
                <a:t>EMPLOYEE HANDBOOK · QUICK CARD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55142" y="1244918"/>
              <a:ext cx="24873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>
                      <a:alphaMod val="55000"/>
                    </a:srgbClr>
                  </a:solidFill>
                  <a:latin typeface="+mn-lt"/>
                  <a:ea typeface="+mn-ea"/>
                  <a:cs typeface="+mn-cs"/>
                </a:rPr>
                <a:t>员工手册（节选）· 新人速查版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762000" y="1695450"/>
              <a:ext cx="914400" cy="76200"/>
            </a:xfrm>
            <a:prstGeom prst="rect">
              <a:avLst/>
            </a:prstGeom>
            <a:solidFill>
              <a:srgbClr val="E2483A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2950" y="2177415"/>
              <a:ext cx="4278630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3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第一天必知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1332" y="3240405"/>
              <a:ext cx="355567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>
                      <a:alphaMod val="90000"/>
                    </a:srgbClr>
                  </a:solidFill>
                  <a:latin typeface="+mn-lt"/>
                  <a:ea typeface="+mn-ea"/>
                  <a:cs typeface="+mn-cs"/>
                </a:rPr>
                <a:t>60 多页手册，先看这 3 件事</a:t>
              </a:r>
            </a:p>
          </p:txBody>
        </p:sp>
        <p:grpSp>
          <p:nvGrpSpPr>
            <p:cNvPr id="10" name="cover-title-support"/>
            <p:cNvGrpSpPr/>
            <p:nvPr/>
          </p:nvGrpSpPr>
          <p:grpSpPr>
            <a:xfrm>
              <a:off x="752856" y="3729990"/>
              <a:ext cx="2468539" cy="694944"/>
              <a:chOff x="752856" y="3729990"/>
              <a:chExt cx="2468539" cy="694944"/>
            </a:xfrm>
          </p:grpSpPr>
          <p:sp>
            <p:nvSpPr>
              <p:cNvPr id="8" name="TextBox 8"/>
              <p:cNvSpPr txBox="1"/>
              <p:nvPr/>
            </p:nvSpPr>
            <p:spPr>
              <a:xfrm>
                <a:off x="752856" y="3729990"/>
                <a:ext cx="246853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FFFFFF">
                        <a:alphaMod val="70000"/>
                      </a:srgbClr>
                    </a:solidFill>
                    <a:latin typeface="+mn-lt"/>
                    <a:ea typeface="+mn-ea"/>
                    <a:cs typeface="+mn-cs"/>
                  </a:rPr>
                  <a:t>压成 7 页，头一周够用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52856" y="4072890"/>
                <a:ext cx="244144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FFFFFF">
                        <a:alphaMod val="70000"/>
                      </a:srgbClr>
                    </a:solidFill>
                    <a:latin typeface="+mn-lt"/>
                    <a:ea typeface="+mn-ea"/>
                    <a:cs typeface="+mn-cs"/>
                  </a:rPr>
                  <a:t>其余章节，一句话指路</a:t>
                </a:r>
              </a:p>
            </p:txBody>
          </p:sp>
        </p:grpSp>
      </p:grpSp>
      <p:grpSp>
        <p:nvGrpSpPr>
          <p:cNvPr id="29" name="cover-index"/>
          <p:cNvGrpSpPr/>
          <p:nvPr/>
        </p:nvGrpSpPr>
        <p:grpSpPr>
          <a:xfrm>
            <a:off x="7524750" y="1035368"/>
            <a:ext cx="4057650" cy="4744402"/>
            <a:chOff x="7524750" y="1035368"/>
            <a:chExt cx="4057650" cy="4744402"/>
          </a:xfrm>
        </p:grpSpPr>
        <p:sp>
          <p:nvSpPr>
            <p:cNvPr id="12" name="TextBox 12"/>
            <p:cNvSpPr txBox="1"/>
            <p:nvPr/>
          </p:nvSpPr>
          <p:spPr>
            <a:xfrm>
              <a:off x="7536942" y="1035368"/>
              <a:ext cx="1487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5181C"/>
                  </a:solidFill>
                  <a:latin typeface="+mn-lt"/>
                  <a:ea typeface="+mn-ea"/>
                  <a:cs typeface="+mn-cs"/>
                </a:rPr>
                <a:t>第一周必办 3 件事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7543800" y="1390650"/>
              <a:ext cx="4038600" cy="9525"/>
            </a:xfrm>
            <a:custGeom>
              <a:avLst/>
              <a:gdLst/>
              <a:ahLst/>
              <a:cxnLst/>
              <a:rect l="l" t="t" r="r" b="b"/>
              <a:pathLst>
                <a:path w="4038600" h="9525">
                  <a:moveTo>
                    <a:pt x="0" y="0"/>
                  </a:moveTo>
                  <a:lnTo>
                    <a:pt x="4038600" y="0"/>
                  </a:lnTo>
                </a:path>
              </a:pathLst>
            </a:custGeom>
            <a:noFill/>
            <a:ln w="19050">
              <a:solidFill>
                <a:srgbClr val="15181C"/>
              </a:solidFill>
            </a:ln>
          </p:spPr>
        </p:sp>
        <p:grpSp>
          <p:nvGrpSpPr>
            <p:cNvPr id="18" name="cover-index-row1"/>
            <p:cNvGrpSpPr/>
            <p:nvPr/>
          </p:nvGrpSpPr>
          <p:grpSpPr>
            <a:xfrm>
              <a:off x="7524750" y="1912620"/>
              <a:ext cx="4057650" cy="1047750"/>
              <a:chOff x="7524750" y="1912620"/>
              <a:chExt cx="4057650" cy="1047750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7524750" y="1912620"/>
                <a:ext cx="846757" cy="1047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5400" b="1" dirty="0">
                    <a:solidFill>
                      <a:srgbClr val="15181C"/>
                    </a:solidFill>
                    <a:latin typeface="+mn-lt"/>
                    <a:ea typeface="+mn-ea"/>
                    <a:cs typeface="+mn-cs"/>
                  </a:rPr>
                  <a:t>01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8561832" y="1964055"/>
                <a:ext cx="1717548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15181C"/>
                    </a:solidFill>
                    <a:latin typeface="+mn-lt"/>
                    <a:ea typeface="+mn-ea"/>
                    <a:cs typeface="+mn-cs"/>
                  </a:rPr>
                  <a:t>考勤怎么打卡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565642" y="2349818"/>
                <a:ext cx="221582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6B7076"/>
                    </a:solidFill>
                    <a:latin typeface="+mn-lt"/>
                    <a:ea typeface="+mn-ea"/>
                    <a:cs typeface="+mn-cs"/>
                  </a:rPr>
                  <a:t>核心时间 10:00–16:00 在岗</a:t>
                </a:r>
              </a:p>
            </p:txBody>
          </p:sp>
          <p:sp>
            <p:nvSpPr>
              <p:cNvPr id="17" name="Line 17"/>
              <p:cNvSpPr/>
              <p:nvPr/>
            </p:nvSpPr>
            <p:spPr>
              <a:xfrm>
                <a:off x="7543800" y="2781300"/>
                <a:ext cx="4038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038600" h="9525">
                    <a:moveTo>
                      <a:pt x="0" y="0"/>
                    </a:moveTo>
                    <a:lnTo>
                      <a:pt x="4038600" y="0"/>
                    </a:lnTo>
                  </a:path>
                </a:pathLst>
              </a:custGeom>
              <a:noFill/>
              <a:ln w="9525">
                <a:solidFill>
                  <a:srgbClr val="D9DAD6"/>
                </a:solidFill>
              </a:ln>
            </p:spPr>
          </p:sp>
        </p:grpSp>
        <p:grpSp>
          <p:nvGrpSpPr>
            <p:cNvPr id="23" name="cover-index-row2"/>
            <p:cNvGrpSpPr/>
            <p:nvPr/>
          </p:nvGrpSpPr>
          <p:grpSpPr>
            <a:xfrm>
              <a:off x="7524750" y="3322320"/>
              <a:ext cx="4057650" cy="1047750"/>
              <a:chOff x="7524750" y="3322320"/>
              <a:chExt cx="4057650" cy="1047750"/>
            </a:xfrm>
          </p:grpSpPr>
          <p:sp>
            <p:nvSpPr>
              <p:cNvPr id="19" name="TextBox 19"/>
              <p:cNvSpPr txBox="1"/>
              <p:nvPr/>
            </p:nvSpPr>
            <p:spPr>
              <a:xfrm>
                <a:off x="7524750" y="3322320"/>
                <a:ext cx="846757" cy="1047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5400" b="1" dirty="0">
                    <a:solidFill>
                      <a:srgbClr val="15181C"/>
                    </a:solidFill>
                    <a:latin typeface="+mn-lt"/>
                    <a:ea typeface="+mn-ea"/>
                    <a:cs typeface="+mn-cs"/>
                  </a:rPr>
                  <a:t>02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561832" y="3373755"/>
                <a:ext cx="2000250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15181C"/>
                    </a:solidFill>
                    <a:latin typeface="+mn-lt"/>
                    <a:ea typeface="+mn-ea"/>
                    <a:cs typeface="+mn-cs"/>
                  </a:rPr>
                  <a:t>电脑账号谁给开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565642" y="3759518"/>
                <a:ext cx="265361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6B7076"/>
                    </a:solidFill>
                    <a:latin typeface="+mn-lt"/>
                    <a:ea typeface="+mn-ea"/>
                    <a:cs typeface="+mn-cs"/>
                  </a:rPr>
                  <a:t>入职当天 IT 开通，不用自己申请</a:t>
                </a:r>
              </a:p>
            </p:txBody>
          </p:sp>
          <p:sp>
            <p:nvSpPr>
              <p:cNvPr id="22" name="Line 22"/>
              <p:cNvSpPr/>
              <p:nvPr/>
            </p:nvSpPr>
            <p:spPr>
              <a:xfrm>
                <a:off x="7543800" y="4191000"/>
                <a:ext cx="4038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038600" h="9525">
                    <a:moveTo>
                      <a:pt x="0" y="0"/>
                    </a:moveTo>
                    <a:lnTo>
                      <a:pt x="4038600" y="0"/>
                    </a:lnTo>
                  </a:path>
                </a:pathLst>
              </a:custGeom>
              <a:noFill/>
              <a:ln w="9525">
                <a:solidFill>
                  <a:srgbClr val="D9DAD6"/>
                </a:solidFill>
              </a:ln>
            </p:spPr>
          </p:sp>
        </p:grpSp>
        <p:grpSp>
          <p:nvGrpSpPr>
            <p:cNvPr id="28" name="cover-index-row3"/>
            <p:cNvGrpSpPr/>
            <p:nvPr/>
          </p:nvGrpSpPr>
          <p:grpSpPr>
            <a:xfrm>
              <a:off x="7524750" y="4732020"/>
              <a:ext cx="4057650" cy="1047750"/>
              <a:chOff x="7524750" y="4732020"/>
              <a:chExt cx="4057650" cy="1047750"/>
            </a:xfrm>
          </p:grpSpPr>
          <p:sp>
            <p:nvSpPr>
              <p:cNvPr id="24" name="TextBox 24"/>
              <p:cNvSpPr txBox="1"/>
              <p:nvPr/>
            </p:nvSpPr>
            <p:spPr>
              <a:xfrm>
                <a:off x="7524750" y="4732020"/>
                <a:ext cx="846757" cy="1047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5400" b="1" dirty="0">
                    <a:solidFill>
                      <a:srgbClr val="15181C"/>
                    </a:solidFill>
                    <a:latin typeface="+mn-lt"/>
                    <a:ea typeface="+mn-ea"/>
                    <a:cs typeface="+mn-cs"/>
                  </a:rPr>
                  <a:t>03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561832" y="4783455"/>
                <a:ext cx="143484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15181C"/>
                    </a:solidFill>
                    <a:latin typeface="+mn-lt"/>
                    <a:ea typeface="+mn-ea"/>
                    <a:cs typeface="+mn-cs"/>
                  </a:rPr>
                  <a:t>报销去哪提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8565642" y="5169218"/>
                <a:ext cx="255803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6B7076"/>
                    </a:solidFill>
                    <a:latin typeface="+mn-lt"/>
                    <a:ea typeface="+mn-ea"/>
                    <a:cs typeface="+mn-cs"/>
                  </a:rPr>
                  <a:t>财务系统提交，表单索引见附录</a:t>
                </a:r>
              </a:p>
            </p:txBody>
          </p:sp>
          <p:sp>
            <p:nvSpPr>
              <p:cNvPr id="27" name="Line 27"/>
              <p:cNvSpPr/>
              <p:nvPr/>
            </p:nvSpPr>
            <p:spPr>
              <a:xfrm>
                <a:off x="7543800" y="5600700"/>
                <a:ext cx="4038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038600" h="9525">
                    <a:moveTo>
                      <a:pt x="0" y="0"/>
                    </a:moveTo>
                    <a:lnTo>
                      <a:pt x="4038600" y="0"/>
                    </a:lnTo>
                  </a:path>
                </a:pathLst>
              </a:custGeom>
              <a:noFill/>
              <a:ln w="9525">
                <a:solidFill>
                  <a:srgbClr val="D9DAD6"/>
                </a:solidFill>
              </a:ln>
            </p:spPr>
          </p:sp>
        </p:grpSp>
      </p:grpSp>
      <p:grpSp>
        <p:nvGrpSpPr>
          <p:cNvPr id="31" name="cover-note"/>
          <p:cNvGrpSpPr/>
          <p:nvPr/>
        </p:nvGrpSpPr>
        <p:grpSpPr>
          <a:xfrm>
            <a:off x="7536942" y="6026468"/>
            <a:ext cx="2012823" cy="264033"/>
            <a:chOff x="7536942" y="6026468"/>
            <a:chExt cx="2012823" cy="264033"/>
          </a:xfrm>
        </p:grpSpPr>
        <p:sp>
          <p:nvSpPr>
            <p:cNvPr id="30" name="TextBox 30"/>
            <p:cNvSpPr txBox="1"/>
            <p:nvPr/>
          </p:nvSpPr>
          <p:spPr>
            <a:xfrm>
              <a:off x="7536942" y="60264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B7076"/>
                  </a:solidFill>
                  <a:latin typeface="+mn-lt"/>
                  <a:ea typeface="+mn-ea"/>
                  <a:cs typeface="+mn-cs"/>
                </a:rPr>
                <a:t>详细规则以手册原文为准</a:t>
              </a:r>
            </a:p>
          </p:txBody>
        </p:sp>
      </p:grpSp>
      <p:grpSp>
        <p:nvGrpSpPr>
          <p:cNvPr id="33" name="cover-source"/>
          <p:cNvGrpSpPr/>
          <p:nvPr/>
        </p:nvGrpSpPr>
        <p:grpSpPr>
          <a:xfrm>
            <a:off x="756285" y="6126956"/>
            <a:ext cx="3269785" cy="220028"/>
            <a:chOff x="756285" y="6126956"/>
            <a:chExt cx="3269785" cy="220028"/>
          </a:xfrm>
        </p:grpSpPr>
        <p:sp>
          <p:nvSpPr>
            <p:cNvPr id="32" name="TextBox 32"/>
            <p:cNvSpPr txBox="1"/>
            <p:nvPr/>
          </p:nvSpPr>
          <p:spPr>
            <a:xfrm>
              <a:off x="756285" y="6126956"/>
              <a:ext cx="32697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FFFF">
                      <a:alphaMod val="50000"/>
                    </a:srgbClr>
                  </a:solidFill>
                  <a:latin typeface="+mn-lt"/>
                  <a:ea typeface="+mn-ea"/>
                  <a:cs typeface="+mn-cs"/>
                </a:rPr>
                <a:t>来源：《员工手册（节选）》· 适用：入职第一周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p02-header"/>
          <p:cNvGrpSpPr/>
          <p:nvPr/>
        </p:nvGrpSpPr>
        <p:grpSpPr>
          <a:xfrm>
            <a:off x="556260" y="654368"/>
            <a:ext cx="11071098" cy="1206055"/>
            <a:chOff x="556260" y="654368"/>
            <a:chExt cx="11071098" cy="1206055"/>
          </a:xfrm>
        </p:grpSpPr>
        <p:sp>
          <p:nvSpPr>
            <p:cNvPr id="2" name="TextBox 2"/>
            <p:cNvSpPr txBox="1"/>
            <p:nvPr/>
          </p:nvSpPr>
          <p:spPr>
            <a:xfrm>
              <a:off x="564642" y="654368"/>
              <a:ext cx="18916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150" dirty="0">
                  <a:solidFill>
                    <a:srgbClr val="E2483A"/>
                  </a:solidFill>
                  <a:latin typeface="+mn-lt"/>
                  <a:ea typeface="+mn-ea"/>
                  <a:cs typeface="+mn-cs"/>
                </a:rPr>
                <a:t>DAY 1 → WEEK 2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0704957" y="65436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6B7076"/>
                  </a:solidFill>
                  <a:latin typeface="+mn-lt"/>
                  <a:ea typeface="+mn-ea"/>
                  <a:cs typeface="+mn-cs"/>
                </a:rPr>
                <a:t>入职第一周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6260" y="952500"/>
              <a:ext cx="406908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5181C"/>
                  </a:solidFill>
                  <a:latin typeface="+mj-lt"/>
                  <a:ea typeface="+mj-ea"/>
                  <a:cs typeface="+mj-cs"/>
                </a:rPr>
                <a:t>第一天，按这个顺序办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0832" y="1449705"/>
              <a:ext cx="793699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6B7076"/>
                  </a:solidFill>
                  <a:latin typeface="+mn-lt"/>
                  <a:ea typeface="+mn-ea"/>
                  <a:cs typeface="+mn-cs"/>
                </a:rPr>
                <a:t>当天要开的账号、要装的软件、要查的指引，再加两周内的培训</a:t>
              </a:r>
            </a:p>
          </p:txBody>
        </p:sp>
      </p:grpSp>
      <p:grpSp>
        <p:nvGrpSpPr>
          <p:cNvPr id="38" name="p02-band-day1"/>
          <p:cNvGrpSpPr/>
          <p:nvPr/>
        </p:nvGrpSpPr>
        <p:grpSpPr>
          <a:xfrm>
            <a:off x="571500" y="2247900"/>
            <a:ext cx="7353300" cy="3467100"/>
            <a:chOff x="571500" y="2247900"/>
            <a:chExt cx="7353300" cy="3467100"/>
          </a:xfrm>
        </p:grpSpPr>
        <p:sp>
          <p:nvSpPr>
            <p:cNvPr id="7" name="Rectangle 7"/>
            <p:cNvSpPr/>
            <p:nvPr/>
          </p:nvSpPr>
          <p:spPr>
            <a:xfrm>
              <a:off x="571500" y="2247900"/>
              <a:ext cx="7353300" cy="3467100"/>
            </a:xfrm>
            <a:prstGeom prst="rect">
              <a:avLst/>
            </a:prstGeom>
            <a:solidFill>
              <a:srgbClr val="F2F2F0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2247900"/>
              <a:ext cx="7353300" cy="38100"/>
            </a:xfrm>
            <a:prstGeom prst="rect">
              <a:avLst/>
            </a:prstGeom>
            <a:solidFill>
              <a:srgbClr val="15181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800100" y="2495550"/>
              <a:ext cx="114300" cy="114300"/>
            </a:xfrm>
            <a:prstGeom prst="rect">
              <a:avLst/>
            </a:prstGeom>
            <a:solidFill>
              <a:srgbClr val="15181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21842" y="2464118"/>
              <a:ext cx="14768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5181C"/>
                  </a:solidFill>
                  <a:latin typeface="+mn-lt"/>
                  <a:ea typeface="+mn-ea"/>
                  <a:cs typeface="+mn-cs"/>
                </a:rPr>
                <a:t>入职当天 · DAY 1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914400" y="4095750"/>
              <a:ext cx="6667500" cy="9525"/>
            </a:xfrm>
            <a:custGeom>
              <a:avLst/>
              <a:gdLst/>
              <a:ahLst/>
              <a:cxnLst/>
              <a:rect l="l" t="t" r="r" b="b"/>
              <a:pathLst>
                <a:path w="6667500" h="9525">
                  <a:moveTo>
                    <a:pt x="0" y="0"/>
                  </a:moveTo>
                  <a:lnTo>
                    <a:pt x="6667500" y="0"/>
                  </a:lnTo>
                </a:path>
              </a:pathLst>
            </a:custGeom>
            <a:noFill/>
            <a:ln w="19050">
              <a:solidFill>
                <a:srgbClr val="15181C"/>
              </a:solidFill>
            </a:ln>
          </p:spPr>
        </p:sp>
        <p:grpSp>
          <p:nvGrpSpPr>
            <p:cNvPr id="20" name="p02-node-account"/>
            <p:cNvGrpSpPr/>
            <p:nvPr/>
          </p:nvGrpSpPr>
          <p:grpSpPr>
            <a:xfrm>
              <a:off x="985076" y="2959418"/>
              <a:ext cx="1649349" cy="2283333"/>
              <a:chOff x="985076" y="2959418"/>
              <a:chExt cx="1649349" cy="2283333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1701810" y="2959418"/>
                <a:ext cx="21588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15181C"/>
                    </a:solidFill>
                    <a:latin typeface="+mn-lt"/>
                    <a:ea typeface="+mn-ea"/>
                    <a:cs typeface="+mn-cs"/>
                  </a:rPr>
                  <a:t>01</a:t>
                </a:r>
              </a:p>
            </p:txBody>
          </p:sp>
          <p:grpSp>
            <p:nvGrpSpPr>
              <p:cNvPr id="15" name="Group 15"/>
              <p:cNvGrpSpPr/>
              <p:nvPr/>
            </p:nvGrpSpPr>
            <p:grpSpPr>
              <a:xfrm>
                <a:off x="1600200" y="3328988"/>
                <a:ext cx="419100" cy="314325"/>
                <a:chOff x="1600200" y="3328988"/>
                <a:chExt cx="419100" cy="314325"/>
              </a:xfrm>
            </p:grpSpPr>
            <p:sp>
              <p:nvSpPr>
                <p:cNvPr id="13" name="Freeform 13"/>
                <p:cNvSpPr/>
                <p:nvPr/>
              </p:nvSpPr>
              <p:spPr>
                <a:xfrm>
                  <a:off x="1600200" y="3416959"/>
                  <a:ext cx="419100" cy="2263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100" h="226354">
                      <a:moveTo>
                        <a:pt x="0" y="0"/>
                      </a:moveTo>
                      <a:lnTo>
                        <a:pt x="0" y="226354"/>
                      </a:lnTo>
                      <a:lnTo>
                        <a:pt x="419100" y="226354"/>
                      </a:lnTo>
                      <a:lnTo>
                        <a:pt x="419100" y="0"/>
                      </a:lnTo>
                      <a:lnTo>
                        <a:pt x="209550" y="13096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5181C"/>
                </a:solidFill>
                <a:ln>
                  <a:noFill/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1600200" y="3328988"/>
                  <a:ext cx="419100" cy="1571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100" h="157162">
                      <a:moveTo>
                        <a:pt x="419100" y="26194"/>
                      </a:moveTo>
                      <a:lnTo>
                        <a:pt x="419100" y="0"/>
                      </a:lnTo>
                      <a:lnTo>
                        <a:pt x="0" y="0"/>
                      </a:lnTo>
                      <a:lnTo>
                        <a:pt x="0" y="26194"/>
                      </a:lnTo>
                      <a:lnTo>
                        <a:pt x="209550" y="157162"/>
                      </a:lnTo>
                      <a:lnTo>
                        <a:pt x="419100" y="26194"/>
                      </a:lnTo>
                      <a:close/>
                    </a:path>
                  </a:pathLst>
                </a:custGeom>
                <a:solidFill>
                  <a:srgbClr val="15181C"/>
                </a:solidFill>
                <a:ln>
                  <a:noFill/>
                </a:ln>
              </p:spPr>
            </p:sp>
          </p:grpSp>
          <p:sp>
            <p:nvSpPr>
              <p:cNvPr id="16" name="Rectangle 16"/>
              <p:cNvSpPr/>
              <p:nvPr/>
            </p:nvSpPr>
            <p:spPr>
              <a:xfrm>
                <a:off x="1724025" y="4010025"/>
                <a:ext cx="171450" cy="171450"/>
              </a:xfrm>
              <a:prstGeom prst="rect">
                <a:avLst/>
              </a:prstGeom>
              <a:solidFill>
                <a:srgbClr val="15181C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194816" y="4358640"/>
                <a:ext cx="122986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15181C"/>
                    </a:solidFill>
                    <a:latin typeface="+mn-lt"/>
                    <a:ea typeface="+mn-ea"/>
                    <a:cs typeface="+mn-cs"/>
                  </a:rPr>
                  <a:t>邮箱与账号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028152" y="4731068"/>
                <a:ext cx="156319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6B7076"/>
                    </a:solidFill>
                    <a:latin typeface="+mn-lt"/>
                    <a:ea typeface="+mn-ea"/>
                    <a:cs typeface="+mn-cs"/>
                  </a:rPr>
                  <a:t>入职当天由 IT 开通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985076" y="4978718"/>
                <a:ext cx="164934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6B7076"/>
                    </a:solidFill>
                    <a:latin typeface="+mn-lt"/>
                    <a:ea typeface="+mn-ea"/>
                    <a:cs typeface="+mn-cs"/>
                  </a:rPr>
                  <a:t>邮箱和办公系统账号</a:t>
                </a:r>
              </a:p>
            </p:txBody>
          </p:sp>
        </p:grpSp>
        <p:grpSp>
          <p:nvGrpSpPr>
            <p:cNvPr id="27" name="p02-node-security"/>
            <p:cNvGrpSpPr/>
            <p:nvPr/>
          </p:nvGrpSpPr>
          <p:grpSpPr>
            <a:xfrm>
              <a:off x="3423475" y="2959418"/>
              <a:ext cx="1649349" cy="2283333"/>
              <a:chOff x="3423475" y="2959418"/>
              <a:chExt cx="1649349" cy="2283333"/>
            </a:xfrm>
          </p:grpSpPr>
          <p:sp>
            <p:nvSpPr>
              <p:cNvPr id="21" name="TextBox 21"/>
              <p:cNvSpPr txBox="1"/>
              <p:nvPr/>
            </p:nvSpPr>
            <p:spPr>
              <a:xfrm>
                <a:off x="4140210" y="2959418"/>
                <a:ext cx="21588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15181C"/>
                    </a:solidFill>
                    <a:latin typeface="+mn-lt"/>
                    <a:ea typeface="+mn-ea"/>
                    <a:cs typeface="+mn-cs"/>
                  </a:rPr>
                  <a:t>02</a:t>
                </a:r>
              </a:p>
            </p:txBody>
          </p:sp>
          <p:sp>
            <p:nvSpPr>
              <p:cNvPr id="22" name="Freeform 22"/>
              <p:cNvSpPr/>
              <p:nvPr/>
            </p:nvSpPr>
            <p:spPr>
              <a:xfrm>
                <a:off x="4064794" y="3276600"/>
                <a:ext cx="366712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366712" h="419100">
                    <a:moveTo>
                      <a:pt x="183356" y="419100"/>
                    </a:moveTo>
                    <a:lnTo>
                      <a:pt x="87751" y="350810"/>
                    </a:lnTo>
                    <a:cubicBezTo>
                      <a:pt x="32683" y="311475"/>
                      <a:pt x="0" y="247968"/>
                      <a:pt x="0" y="180293"/>
                    </a:cubicBezTo>
                    <a:lnTo>
                      <a:pt x="0" y="78581"/>
                    </a:lnTo>
                    <a:lnTo>
                      <a:pt x="183356" y="0"/>
                    </a:lnTo>
                    <a:lnTo>
                      <a:pt x="366712" y="78581"/>
                    </a:lnTo>
                    <a:lnTo>
                      <a:pt x="366712" y="180293"/>
                    </a:lnTo>
                    <a:cubicBezTo>
                      <a:pt x="366712" y="247968"/>
                      <a:pt x="334031" y="311475"/>
                      <a:pt x="278961" y="350810"/>
                    </a:cubicBezTo>
                    <a:lnTo>
                      <a:pt x="183356" y="419100"/>
                    </a:lnTo>
                    <a:close/>
                    <a:moveTo>
                      <a:pt x="293556" y="149491"/>
                    </a:moveTo>
                    <a:lnTo>
                      <a:pt x="256513" y="112447"/>
                    </a:lnTo>
                    <a:lnTo>
                      <a:pt x="157162" y="211797"/>
                    </a:lnTo>
                    <a:lnTo>
                      <a:pt x="110200" y="164834"/>
                    </a:lnTo>
                    <a:lnTo>
                      <a:pt x="73156" y="201878"/>
                    </a:lnTo>
                    <a:lnTo>
                      <a:pt x="157162" y="285884"/>
                    </a:lnTo>
                    <a:lnTo>
                      <a:pt x="293556" y="149491"/>
                    </a:lnTo>
                    <a:close/>
                  </a:path>
                </a:pathLst>
              </a:custGeom>
              <a:solidFill>
                <a:srgbClr val="15181C"/>
              </a:solidFill>
              <a:ln>
                <a:noFill/>
              </a:ln>
            </p:spPr>
          </p:sp>
          <p:sp>
            <p:nvSpPr>
              <p:cNvPr id="23" name="Rectangle 23"/>
              <p:cNvSpPr/>
              <p:nvPr/>
            </p:nvSpPr>
            <p:spPr>
              <a:xfrm>
                <a:off x="4162425" y="4010025"/>
                <a:ext cx="171450" cy="171450"/>
              </a:xfrm>
              <a:prstGeom prst="rect">
                <a:avLst/>
              </a:prstGeom>
              <a:solidFill>
                <a:srgbClr val="15181C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3633216" y="4358640"/>
                <a:ext cx="122986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15181C"/>
                    </a:solidFill>
                    <a:latin typeface="+mn-lt"/>
                    <a:ea typeface="+mn-ea"/>
                    <a:cs typeface="+mn-cs"/>
                  </a:rPr>
                  <a:t>装安全软件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3423475" y="4731068"/>
                <a:ext cx="164934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6B7076"/>
                    </a:solidFill>
                    <a:latin typeface="+mn-lt"/>
                    <a:ea typeface="+mn-ea"/>
                    <a:cs typeface="+mn-cs"/>
                  </a:rPr>
                  <a:t>公司统一的安全软件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3514344" y="4978718"/>
                <a:ext cx="146761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E2483A"/>
                    </a:solidFill>
                    <a:latin typeface="+mn-lt"/>
                    <a:ea typeface="+mn-ea"/>
                    <a:cs typeface="+mn-cs"/>
                  </a:rPr>
                  <a:t>办公电脑必须安装</a:t>
                </a:r>
              </a:p>
            </p:txBody>
          </p:sp>
        </p:grpSp>
        <p:grpSp>
          <p:nvGrpSpPr>
            <p:cNvPr id="37" name="p02-node-network"/>
            <p:cNvGrpSpPr/>
            <p:nvPr/>
          </p:nvGrpSpPr>
          <p:grpSpPr>
            <a:xfrm>
              <a:off x="5952744" y="2959418"/>
              <a:ext cx="1467612" cy="2283333"/>
              <a:chOff x="5952744" y="2959418"/>
              <a:chExt cx="1467612" cy="2283333"/>
            </a:xfrm>
          </p:grpSpPr>
          <p:sp>
            <p:nvSpPr>
              <p:cNvPr id="28" name="TextBox 28"/>
              <p:cNvSpPr txBox="1"/>
              <p:nvPr/>
            </p:nvSpPr>
            <p:spPr>
              <a:xfrm>
                <a:off x="6578610" y="2959418"/>
                <a:ext cx="21588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15181C"/>
                    </a:solidFill>
                    <a:latin typeface="+mn-lt"/>
                    <a:ea typeface="+mn-ea"/>
                    <a:cs typeface="+mn-cs"/>
                  </a:rPr>
                  <a:t>03</a:t>
                </a:r>
              </a:p>
            </p:txBody>
          </p:sp>
          <p:grpSp>
            <p:nvGrpSpPr>
              <p:cNvPr id="32" name="Group 32"/>
              <p:cNvGrpSpPr/>
              <p:nvPr/>
            </p:nvGrpSpPr>
            <p:grpSpPr>
              <a:xfrm>
                <a:off x="6477000" y="3355181"/>
                <a:ext cx="419100" cy="314325"/>
                <a:chOff x="6477000" y="3355181"/>
                <a:chExt cx="419100" cy="314325"/>
              </a:xfrm>
            </p:grpSpPr>
            <p:sp>
              <p:nvSpPr>
                <p:cNvPr id="29" name="Freeform 29"/>
                <p:cNvSpPr/>
                <p:nvPr/>
              </p:nvSpPr>
              <p:spPr>
                <a:xfrm>
                  <a:off x="6477000" y="3355181"/>
                  <a:ext cx="419100" cy="1418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100" h="141818">
                      <a:moveTo>
                        <a:pt x="0" y="104775"/>
                      </a:moveTo>
                      <a:lnTo>
                        <a:pt x="30688" y="74087"/>
                      </a:lnTo>
                      <a:cubicBezTo>
                        <a:pt x="78125" y="26650"/>
                        <a:pt x="142464" y="0"/>
                        <a:pt x="209550" y="0"/>
                      </a:cubicBezTo>
                      <a:cubicBezTo>
                        <a:pt x="276637" y="0"/>
                        <a:pt x="340975" y="26650"/>
                        <a:pt x="388411" y="74087"/>
                      </a:cubicBezTo>
                      <a:lnTo>
                        <a:pt x="419100" y="104775"/>
                      </a:lnTo>
                      <a:lnTo>
                        <a:pt x="382057" y="141818"/>
                      </a:lnTo>
                      <a:lnTo>
                        <a:pt x="351368" y="111131"/>
                      </a:lnTo>
                      <a:cubicBezTo>
                        <a:pt x="313757" y="73518"/>
                        <a:pt x="262742" y="52388"/>
                        <a:pt x="209550" y="52388"/>
                      </a:cubicBezTo>
                      <a:cubicBezTo>
                        <a:pt x="156358" y="52388"/>
                        <a:pt x="105344" y="73518"/>
                        <a:pt x="67732" y="111131"/>
                      </a:cubicBezTo>
                      <a:lnTo>
                        <a:pt x="37043" y="141818"/>
                      </a:lnTo>
                      <a:lnTo>
                        <a:pt x="0" y="104775"/>
                      </a:lnTo>
                      <a:close/>
                    </a:path>
                  </a:pathLst>
                </a:custGeom>
                <a:solidFill>
                  <a:srgbClr val="15181C"/>
                </a:solidFill>
                <a:ln>
                  <a:noFill/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6551087" y="3459956"/>
                  <a:ext cx="270926" cy="1111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926" h="111130">
                      <a:moveTo>
                        <a:pt x="37043" y="111130"/>
                      </a:moveTo>
                      <a:lnTo>
                        <a:pt x="0" y="74087"/>
                      </a:lnTo>
                      <a:lnTo>
                        <a:pt x="30688" y="43399"/>
                      </a:lnTo>
                      <a:cubicBezTo>
                        <a:pt x="58476" y="15611"/>
                        <a:pt x="96165" y="0"/>
                        <a:pt x="135463" y="0"/>
                      </a:cubicBezTo>
                      <a:cubicBezTo>
                        <a:pt x="174761" y="0"/>
                        <a:pt x="212449" y="15611"/>
                        <a:pt x="240238" y="43399"/>
                      </a:cubicBezTo>
                      <a:lnTo>
                        <a:pt x="270926" y="74087"/>
                      </a:lnTo>
                      <a:lnTo>
                        <a:pt x="233883" y="111130"/>
                      </a:lnTo>
                      <a:lnTo>
                        <a:pt x="203195" y="80444"/>
                      </a:lnTo>
                      <a:cubicBezTo>
                        <a:pt x="185231" y="62479"/>
                        <a:pt x="160867" y="52388"/>
                        <a:pt x="135463" y="52388"/>
                      </a:cubicBezTo>
                      <a:cubicBezTo>
                        <a:pt x="110059" y="52388"/>
                        <a:pt x="85695" y="62479"/>
                        <a:pt x="67731" y="80444"/>
                      </a:cubicBezTo>
                      <a:lnTo>
                        <a:pt x="37043" y="111130"/>
                      </a:lnTo>
                      <a:close/>
                    </a:path>
                  </a:pathLst>
                </a:custGeom>
                <a:solidFill>
                  <a:srgbClr val="15181C"/>
                </a:solidFill>
                <a:ln>
                  <a:noFill/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6625174" y="3564731"/>
                  <a:ext cx="122750" cy="10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750" h="104775">
                      <a:moveTo>
                        <a:pt x="61376" y="104775"/>
                      </a:moveTo>
                      <a:lnTo>
                        <a:pt x="0" y="43400"/>
                      </a:lnTo>
                      <a:lnTo>
                        <a:pt x="30688" y="12712"/>
                      </a:lnTo>
                      <a:cubicBezTo>
                        <a:pt x="38827" y="4573"/>
                        <a:pt x="49866" y="0"/>
                        <a:pt x="61376" y="0"/>
                      </a:cubicBezTo>
                      <a:cubicBezTo>
                        <a:pt x="72886" y="0"/>
                        <a:pt x="83925" y="4573"/>
                        <a:pt x="92064" y="12712"/>
                      </a:cubicBezTo>
                      <a:lnTo>
                        <a:pt x="122750" y="43400"/>
                      </a:lnTo>
                      <a:lnTo>
                        <a:pt x="61376" y="104775"/>
                      </a:lnTo>
                      <a:close/>
                    </a:path>
                  </a:pathLst>
                </a:custGeom>
                <a:solidFill>
                  <a:srgbClr val="15181C"/>
                </a:solidFill>
                <a:ln>
                  <a:noFill/>
                </a:ln>
              </p:spPr>
            </p:sp>
          </p:grpSp>
          <p:sp>
            <p:nvSpPr>
              <p:cNvPr id="33" name="Rectangle 33"/>
              <p:cNvSpPr/>
              <p:nvPr/>
            </p:nvSpPr>
            <p:spPr>
              <a:xfrm>
                <a:off x="6600825" y="4010025"/>
                <a:ext cx="171450" cy="171450"/>
              </a:xfrm>
              <a:prstGeom prst="rect">
                <a:avLst/>
              </a:prstGeom>
              <a:solidFill>
                <a:srgbClr val="15181C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5974931" y="4358640"/>
                <a:ext cx="142323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15181C"/>
                    </a:solidFill>
                    <a:latin typeface="+mn-lt"/>
                    <a:ea typeface="+mn-ea"/>
                    <a:cs typeface="+mn-cs"/>
                  </a:rPr>
                  <a:t>Wi-Fi 与打印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5952744" y="4731068"/>
                <a:ext cx="146761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6B7076"/>
                    </a:solidFill>
                    <a:latin typeface="+mn-lt"/>
                    <a:ea typeface="+mn-ea"/>
                    <a:cs typeface="+mn-cs"/>
                  </a:rPr>
                  <a:t>密码和打印机用法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6043612" y="4978718"/>
                <a:ext cx="128587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6B7076"/>
                    </a:solidFill>
                    <a:latin typeface="+mn-lt"/>
                    <a:ea typeface="+mn-ea"/>
                    <a:cs typeface="+mn-cs"/>
                  </a:rPr>
                  <a:t>都在内网指引里</a:t>
                </a:r>
              </a:p>
            </p:txBody>
          </p:sp>
        </p:grpSp>
      </p:grpSp>
      <p:sp>
        <p:nvSpPr>
          <p:cNvPr id="39" name="Freeform 39"/>
          <p:cNvSpPr/>
          <p:nvPr/>
        </p:nvSpPr>
        <p:spPr>
          <a:xfrm>
            <a:off x="8058150" y="3962400"/>
            <a:ext cx="381000" cy="266700"/>
          </a:xfrm>
          <a:prstGeom prst="rightArrow">
            <a:avLst/>
          </a:prstGeom>
          <a:solidFill>
            <a:srgbClr val="15181C"/>
          </a:solidFill>
          <a:ln>
            <a:noFill/>
          </a:ln>
        </p:spPr>
      </p:sp>
      <p:grpSp>
        <p:nvGrpSpPr>
          <p:cNvPr id="52" name="p02-band-week2"/>
          <p:cNvGrpSpPr/>
          <p:nvPr/>
        </p:nvGrpSpPr>
        <p:grpSpPr>
          <a:xfrm>
            <a:off x="8572500" y="2247900"/>
            <a:ext cx="3048000" cy="3467100"/>
            <a:chOff x="8572500" y="2247900"/>
            <a:chExt cx="3048000" cy="3467100"/>
          </a:xfrm>
        </p:grpSpPr>
        <p:sp>
          <p:nvSpPr>
            <p:cNvPr id="40" name="Rectangle 40"/>
            <p:cNvSpPr/>
            <p:nvPr/>
          </p:nvSpPr>
          <p:spPr>
            <a:xfrm>
              <a:off x="8572500" y="2247900"/>
              <a:ext cx="3048000" cy="3467100"/>
            </a:xfrm>
            <a:prstGeom prst="rect">
              <a:avLst/>
            </a:prstGeom>
            <a:solidFill>
              <a:srgbClr val="F2F2F0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8572500" y="2247900"/>
              <a:ext cx="3048000" cy="38100"/>
            </a:xfrm>
            <a:prstGeom prst="rect">
              <a:avLst/>
            </a:prstGeom>
            <a:solidFill>
              <a:srgbClr val="15181C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8801100" y="2495550"/>
              <a:ext cx="114300" cy="114300"/>
            </a:xfrm>
            <a:prstGeom prst="rect">
              <a:avLst/>
            </a:prstGeom>
            <a:solidFill>
              <a:srgbClr val="15181C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022842" y="2464118"/>
              <a:ext cx="16793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5181C"/>
                  </a:solidFill>
                  <a:latin typeface="+mn-lt"/>
                  <a:ea typeface="+mn-ea"/>
                  <a:cs typeface="+mn-cs"/>
                </a:rPr>
                <a:t>两周内 · WEEK 1–2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915400" y="4095750"/>
              <a:ext cx="2362200" cy="9525"/>
            </a:xfrm>
            <a:custGeom>
              <a:avLst/>
              <a:gdLst/>
              <a:ahLst/>
              <a:cxnLst/>
              <a:rect l="l" t="t" r="r" b="b"/>
              <a:pathLst>
                <a:path w="2362200" h="9525">
                  <a:moveTo>
                    <a:pt x="0" y="0"/>
                  </a:moveTo>
                  <a:lnTo>
                    <a:pt x="2362200" y="0"/>
                  </a:lnTo>
                </a:path>
              </a:pathLst>
            </a:custGeom>
            <a:noFill/>
            <a:ln w="19050">
              <a:solidFill>
                <a:srgbClr val="15181C"/>
              </a:solidFill>
            </a:ln>
          </p:spPr>
        </p:sp>
        <p:grpSp>
          <p:nvGrpSpPr>
            <p:cNvPr id="51" name="p02-node-training"/>
            <p:cNvGrpSpPr/>
            <p:nvPr/>
          </p:nvGrpSpPr>
          <p:grpSpPr>
            <a:xfrm>
              <a:off x="9271826" y="2959418"/>
              <a:ext cx="1649349" cy="2283333"/>
              <a:chOff x="9271826" y="2959418"/>
              <a:chExt cx="1649349" cy="2283333"/>
            </a:xfrm>
          </p:grpSpPr>
          <p:sp>
            <p:nvSpPr>
              <p:cNvPr id="45" name="TextBox 45"/>
              <p:cNvSpPr txBox="1"/>
              <p:nvPr/>
            </p:nvSpPr>
            <p:spPr>
              <a:xfrm>
                <a:off x="9988560" y="2959418"/>
                <a:ext cx="21588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15181C"/>
                    </a:solidFill>
                    <a:latin typeface="+mn-lt"/>
                    <a:ea typeface="+mn-ea"/>
                    <a:cs typeface="+mn-cs"/>
                  </a:rPr>
                  <a:t>04</a:t>
                </a:r>
              </a:p>
            </p:txBody>
          </p:sp>
          <p:sp>
            <p:nvSpPr>
              <p:cNvPr id="46" name="Freeform 46"/>
              <p:cNvSpPr/>
              <p:nvPr/>
            </p:nvSpPr>
            <p:spPr>
              <a:xfrm>
                <a:off x="9886950" y="3328988"/>
                <a:ext cx="419100" cy="340519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340519">
                    <a:moveTo>
                      <a:pt x="0" y="0"/>
                    </a:moveTo>
                    <a:lnTo>
                      <a:pt x="93925" y="0"/>
                    </a:lnTo>
                    <a:cubicBezTo>
                      <a:pt x="117644" y="0"/>
                      <a:pt x="140391" y="9422"/>
                      <a:pt x="157162" y="26194"/>
                    </a:cubicBezTo>
                    <a:cubicBezTo>
                      <a:pt x="173934" y="42965"/>
                      <a:pt x="183356" y="65713"/>
                      <a:pt x="183356" y="89431"/>
                    </a:cubicBezTo>
                    <a:lnTo>
                      <a:pt x="183356" y="235744"/>
                    </a:lnTo>
                    <a:lnTo>
                      <a:pt x="235744" y="235744"/>
                    </a:lnTo>
                    <a:lnTo>
                      <a:pt x="235744" y="89431"/>
                    </a:lnTo>
                    <a:cubicBezTo>
                      <a:pt x="235744" y="65713"/>
                      <a:pt x="245166" y="42965"/>
                      <a:pt x="261938" y="26194"/>
                    </a:cubicBezTo>
                    <a:cubicBezTo>
                      <a:pt x="278709" y="9422"/>
                      <a:pt x="301456" y="0"/>
                      <a:pt x="325174" y="0"/>
                    </a:cubicBezTo>
                    <a:lnTo>
                      <a:pt x="419100" y="0"/>
                    </a:lnTo>
                    <a:lnTo>
                      <a:pt x="419100" y="288131"/>
                    </a:lnTo>
                    <a:lnTo>
                      <a:pt x="288131" y="288131"/>
                    </a:lnTo>
                    <a:lnTo>
                      <a:pt x="235744" y="340519"/>
                    </a:lnTo>
                    <a:lnTo>
                      <a:pt x="183356" y="340519"/>
                    </a:lnTo>
                    <a:lnTo>
                      <a:pt x="130969" y="288131"/>
                    </a:lnTo>
                    <a:lnTo>
                      <a:pt x="0" y="28813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5181C"/>
              </a:solidFill>
              <a:ln>
                <a:noFill/>
              </a:ln>
            </p:spPr>
          </p:sp>
          <p:sp>
            <p:nvSpPr>
              <p:cNvPr id="47" name="Rectangle 47"/>
              <p:cNvSpPr/>
              <p:nvPr/>
            </p:nvSpPr>
            <p:spPr>
              <a:xfrm>
                <a:off x="10010775" y="4010025"/>
                <a:ext cx="171450" cy="171450"/>
              </a:xfrm>
              <a:prstGeom prst="rect">
                <a:avLst/>
              </a:prstGeom>
              <a:solidFill>
                <a:srgbClr val="15181C"/>
              </a:solidFill>
              <a:ln>
                <a:noFill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9360408" y="4358640"/>
                <a:ext cx="147218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15181C"/>
                    </a:solidFill>
                    <a:latin typeface="+mn-lt"/>
                    <a:ea typeface="+mn-ea"/>
                    <a:cs typeface="+mn-cs"/>
                  </a:rPr>
                  <a:t>线上入职培训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9372817" y="4731068"/>
                <a:ext cx="144736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6B7076"/>
                    </a:solidFill>
                    <a:latin typeface="+mn-lt"/>
                    <a:ea typeface="+mn-ea"/>
                    <a:cs typeface="+mn-cs"/>
                  </a:rPr>
                  <a:t>入职两周内 · 线上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9271826" y="4978718"/>
                <a:ext cx="164934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E2483A"/>
                    </a:solidFill>
                    <a:latin typeface="+mn-lt"/>
                    <a:ea typeface="+mn-ea"/>
                    <a:cs typeface="+mn-cs"/>
                  </a:rPr>
                  <a:t>必须完成，见第六章</a:t>
                </a:r>
              </a:p>
            </p:txBody>
          </p:sp>
        </p:grpSp>
      </p:grpSp>
      <p:grpSp>
        <p:nvGrpSpPr>
          <p:cNvPr id="57" name="p02-footer"/>
          <p:cNvGrpSpPr/>
          <p:nvPr/>
        </p:nvGrpSpPr>
        <p:grpSpPr>
          <a:xfrm>
            <a:off x="565785" y="6134100"/>
            <a:ext cx="11060430" cy="327184"/>
            <a:chOff x="565785" y="6134100"/>
            <a:chExt cx="11060430" cy="327184"/>
          </a:xfrm>
        </p:grpSpPr>
        <p:sp>
          <p:nvSpPr>
            <p:cNvPr id="53" name="Line 53"/>
            <p:cNvSpPr/>
            <p:nvPr/>
          </p:nvSpPr>
          <p:spPr>
            <a:xfrm>
              <a:off x="571500" y="61341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9DAD6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65785" y="6241256"/>
              <a:ext cx="18039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B7076"/>
                  </a:solidFill>
                  <a:latin typeface="+mn-lt"/>
                  <a:ea typeface="+mn-ea"/>
                  <a:cs typeface="+mn-cs"/>
                </a:rPr>
                <a:t>员工手册速查 · 第一天必知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194037" y="6241256"/>
              <a:ext cx="18039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6B7076"/>
                  </a:solidFill>
                  <a:latin typeface="+mn-lt"/>
                  <a:ea typeface="+mn-ea"/>
                  <a:cs typeface="+mn-cs"/>
                </a:rPr>
                <a:t>来源：手册第四章 · 第六章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153687" y="6241256"/>
              <a:ext cx="472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6B7076"/>
                  </a:solidFill>
                  <a:latin typeface="+mn-lt"/>
                  <a:ea typeface="+mn-ea"/>
                  <a:cs typeface="+mn-cs"/>
                </a:rPr>
                <a:t>02 / 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p03-header"/>
          <p:cNvGrpSpPr/>
          <p:nvPr/>
        </p:nvGrpSpPr>
        <p:grpSpPr>
          <a:xfrm>
            <a:off x="556260" y="654368"/>
            <a:ext cx="11071098" cy="1206055"/>
            <a:chOff x="556260" y="654368"/>
            <a:chExt cx="11071098" cy="1206055"/>
          </a:xfrm>
        </p:grpSpPr>
        <p:sp>
          <p:nvSpPr>
            <p:cNvPr id="2" name="TextBox 2"/>
            <p:cNvSpPr txBox="1"/>
            <p:nvPr/>
          </p:nvSpPr>
          <p:spPr>
            <a:xfrm>
              <a:off x="564642" y="654368"/>
              <a:ext cx="15285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150" dirty="0">
                  <a:solidFill>
                    <a:srgbClr val="E2483A"/>
                  </a:solidFill>
                  <a:latin typeface="+mn-lt"/>
                  <a:ea typeface="+mn-ea"/>
                  <a:cs typeface="+mn-cs"/>
                </a:rPr>
                <a:t>ATTENDANCE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0290996" y="654368"/>
              <a:ext cx="13363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6B7076"/>
                  </a:solidFill>
                  <a:latin typeface="+mn-lt"/>
                  <a:ea typeface="+mn-ea"/>
                  <a:cs typeface="+mn-cs"/>
                </a:rPr>
                <a:t>第二章 考勤制度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6260" y="952500"/>
              <a:ext cx="24536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5181C"/>
                  </a:solidFill>
                  <a:latin typeface="+mj-lt"/>
                  <a:ea typeface="+mj-ea"/>
                  <a:cs typeface="+mj-cs"/>
                </a:rPr>
                <a:t>考勤怎么打卡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0832" y="1449705"/>
              <a:ext cx="737158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6B7076"/>
                  </a:solidFill>
                  <a:latin typeface="+mn-lt"/>
                  <a:ea typeface="+mn-ea"/>
                  <a:cs typeface="+mn-cs"/>
                </a:rPr>
                <a:t>弹性上班，不用卡点，但要守住核心时间，请假要提前申请</a:t>
              </a:r>
            </a:p>
          </p:txBody>
        </p:sp>
      </p:grpSp>
      <p:grpSp>
        <p:nvGrpSpPr>
          <p:cNvPr id="26" name="p03-core-rule"/>
          <p:cNvGrpSpPr/>
          <p:nvPr/>
        </p:nvGrpSpPr>
        <p:grpSpPr>
          <a:xfrm>
            <a:off x="552450" y="2197418"/>
            <a:ext cx="5934075" cy="3751516"/>
            <a:chOff x="552450" y="2197418"/>
            <a:chExt cx="5934075" cy="3751516"/>
          </a:xfrm>
        </p:grpSpPr>
        <p:sp>
          <p:nvSpPr>
            <p:cNvPr id="7" name="TextBox 7"/>
            <p:cNvSpPr txBox="1"/>
            <p:nvPr/>
          </p:nvSpPr>
          <p:spPr>
            <a:xfrm>
              <a:off x="564642" y="21974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5181C"/>
                  </a:solidFill>
                  <a:latin typeface="+mn-lt"/>
                  <a:ea typeface="+mn-ea"/>
                  <a:cs typeface="+mn-cs"/>
                </a:rPr>
                <a:t>每天怎么算</a:t>
              </a:r>
            </a:p>
          </p:txBody>
        </p:sp>
        <p:grpSp>
          <p:nvGrpSpPr>
            <p:cNvPr id="10" name="p03-hours-hero"/>
            <p:cNvGrpSpPr/>
            <p:nvPr/>
          </p:nvGrpSpPr>
          <p:grpSpPr>
            <a:xfrm>
              <a:off x="552450" y="2655570"/>
              <a:ext cx="1665878" cy="1047750"/>
              <a:chOff x="552450" y="2655570"/>
              <a:chExt cx="1665878" cy="1047750"/>
            </a:xfrm>
          </p:grpSpPr>
          <p:sp>
            <p:nvSpPr>
              <p:cNvPr id="8" name="TextBox 8"/>
              <p:cNvSpPr txBox="1"/>
              <p:nvPr/>
            </p:nvSpPr>
            <p:spPr>
              <a:xfrm>
                <a:off x="552450" y="2655570"/>
                <a:ext cx="442428" cy="1047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5400" b="1" dirty="0">
                    <a:solidFill>
                      <a:srgbClr val="15181C"/>
                    </a:solidFill>
                    <a:latin typeface="+mn-lt"/>
                    <a:ea typeface="+mn-ea"/>
                    <a:cs typeface="+mn-cs"/>
                  </a:rPr>
                  <a:t>8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113282" y="3011805"/>
                <a:ext cx="110504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15181C"/>
                    </a:solidFill>
                    <a:latin typeface="+mn-lt"/>
                    <a:ea typeface="+mn-ea"/>
                    <a:cs typeface="+mn-cs"/>
                  </a:rPr>
                  <a:t>小时 / 天</a:t>
                </a:r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564642" y="3511868"/>
              <a:ext cx="29418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B7076"/>
                  </a:solidFill>
                  <a:latin typeface="+mn-lt"/>
                  <a:ea typeface="+mn-ea"/>
                  <a:cs typeface="+mn-cs"/>
                </a:rPr>
                <a:t>弹性工作制，每日工作满 8 小时即可</a:t>
              </a:r>
            </a:p>
          </p:txBody>
        </p:sp>
        <p:grpSp>
          <p:nvGrpSpPr>
            <p:cNvPr id="17" name="p03-core-window"/>
            <p:cNvGrpSpPr/>
            <p:nvPr/>
          </p:nvGrpSpPr>
          <p:grpSpPr>
            <a:xfrm>
              <a:off x="571500" y="3943350"/>
              <a:ext cx="5905500" cy="822579"/>
              <a:chOff x="571500" y="3943350"/>
              <a:chExt cx="5905500" cy="822579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571500" y="3943350"/>
                <a:ext cx="5905500" cy="800100"/>
              </a:xfrm>
              <a:prstGeom prst="rect">
                <a:avLst/>
              </a:prstGeom>
              <a:solidFill>
                <a:srgbClr val="F2F2F0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821436" y="4120515"/>
                <a:ext cx="1169820" cy="6454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300" b="1" dirty="0">
                    <a:solidFill>
                      <a:srgbClr val="15181C"/>
                    </a:solidFill>
                    <a:latin typeface="+mn-lt"/>
                    <a:ea typeface="+mn-ea"/>
                    <a:cs typeface="+mn-cs"/>
                  </a:rPr>
                  <a:t>10:00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5057244" y="4120515"/>
                <a:ext cx="1169820" cy="6454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3300" b="1" dirty="0">
                    <a:solidFill>
                      <a:srgbClr val="15181C"/>
                    </a:solidFill>
                    <a:latin typeface="+mn-lt"/>
                    <a:ea typeface="+mn-ea"/>
                    <a:cs typeface="+mn-cs"/>
                  </a:rPr>
                  <a:t>16:00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3153918" y="415956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E2483A"/>
                    </a:solidFill>
                    <a:latin typeface="+mn-lt"/>
                    <a:ea typeface="+mn-ea"/>
                    <a:cs typeface="+mn-cs"/>
                  </a:rPr>
                  <a:t>核心时间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3153918" y="440721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6B7076"/>
                    </a:solidFill>
                    <a:latin typeface="+mn-lt"/>
                    <a:ea typeface="+mn-ea"/>
                    <a:cs typeface="+mn-cs"/>
                  </a:rPr>
                  <a:t>必须在岗</a:t>
                </a:r>
              </a:p>
            </p:txBody>
          </p:sp>
        </p:grpSp>
        <p:grpSp>
          <p:nvGrpSpPr>
            <p:cNvPr id="21" name="p03-core-span"/>
            <p:cNvGrpSpPr/>
            <p:nvPr/>
          </p:nvGrpSpPr>
          <p:grpSpPr>
            <a:xfrm>
              <a:off x="571500" y="4819650"/>
              <a:ext cx="5915025" cy="247650"/>
              <a:chOff x="571500" y="4819650"/>
              <a:chExt cx="5915025" cy="247650"/>
            </a:xfrm>
          </p:grpSpPr>
          <p:sp>
            <p:nvSpPr>
              <p:cNvPr id="18" name="Line 18"/>
              <p:cNvSpPr/>
              <p:nvPr/>
            </p:nvSpPr>
            <p:spPr>
              <a:xfrm>
                <a:off x="571500" y="4943475"/>
                <a:ext cx="5905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905500" h="9525">
                    <a:moveTo>
                      <a:pt x="0" y="0"/>
                    </a:moveTo>
                    <a:lnTo>
                      <a:pt x="5905500" y="0"/>
                    </a:lnTo>
                  </a:path>
                </a:pathLst>
              </a:custGeom>
              <a:noFill/>
              <a:ln w="19050">
                <a:solidFill>
                  <a:srgbClr val="15181C"/>
                </a:solidFill>
              </a:ln>
            </p:spPr>
          </p:sp>
          <p:sp>
            <p:nvSpPr>
              <p:cNvPr id="19" name="Line 19"/>
              <p:cNvSpPr/>
              <p:nvPr/>
            </p:nvSpPr>
            <p:spPr>
              <a:xfrm>
                <a:off x="571500" y="4819650"/>
                <a:ext cx="952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47650">
                    <a:moveTo>
                      <a:pt x="0" y="0"/>
                    </a:moveTo>
                    <a:lnTo>
                      <a:pt x="0" y="247650"/>
                    </a:lnTo>
                  </a:path>
                </a:pathLst>
              </a:custGeom>
              <a:noFill/>
              <a:ln w="19050">
                <a:solidFill>
                  <a:srgbClr val="15181C"/>
                </a:solidFill>
              </a:ln>
            </p:spPr>
          </p:sp>
          <p:sp>
            <p:nvSpPr>
              <p:cNvPr id="20" name="Line 20"/>
              <p:cNvSpPr/>
              <p:nvPr/>
            </p:nvSpPr>
            <p:spPr>
              <a:xfrm>
                <a:off x="6477000" y="4819650"/>
                <a:ext cx="952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47650">
                    <a:moveTo>
                      <a:pt x="0" y="0"/>
                    </a:moveTo>
                    <a:lnTo>
                      <a:pt x="0" y="247650"/>
                    </a:lnTo>
                  </a:path>
                </a:pathLst>
              </a:custGeom>
              <a:noFill/>
              <a:ln w="19050">
                <a:solidFill>
                  <a:srgbClr val="15181C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972628" y="5188268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B7076"/>
                  </a:solidFill>
                  <a:latin typeface="+mn-lt"/>
                  <a:ea typeface="+mn-ea"/>
                  <a:cs typeface="+mn-cs"/>
                </a:rPr>
                <a:t>这段时间必须在岗，其余时间自己安排</a:t>
              </a:r>
            </a:p>
          </p:txBody>
        </p:sp>
        <p:grpSp>
          <p:nvGrpSpPr>
            <p:cNvPr id="25" name="p03-late-note"/>
            <p:cNvGrpSpPr/>
            <p:nvPr/>
          </p:nvGrpSpPr>
          <p:grpSpPr>
            <a:xfrm>
              <a:off x="571500" y="5562600"/>
              <a:ext cx="2851404" cy="386334"/>
              <a:chOff x="571500" y="5562600"/>
              <a:chExt cx="2851404" cy="386334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571500" y="5562600"/>
                <a:ext cx="30480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285750">
                    <a:moveTo>
                      <a:pt x="304800" y="285750"/>
                    </a:moveTo>
                    <a:lnTo>
                      <a:pt x="0" y="285750"/>
                    </a:lnTo>
                    <a:lnTo>
                      <a:pt x="0" y="228600"/>
                    </a:lnTo>
                    <a:lnTo>
                      <a:pt x="133350" y="0"/>
                    </a:lnTo>
                    <a:lnTo>
                      <a:pt x="171450" y="0"/>
                    </a:lnTo>
                    <a:lnTo>
                      <a:pt x="304800" y="228600"/>
                    </a:lnTo>
                    <a:lnTo>
                      <a:pt x="304800" y="285750"/>
                    </a:lnTo>
                    <a:close/>
                    <a:moveTo>
                      <a:pt x="133350" y="76200"/>
                    </a:moveTo>
                    <a:lnTo>
                      <a:pt x="171450" y="76200"/>
                    </a:lnTo>
                    <a:lnTo>
                      <a:pt x="171450" y="171450"/>
                    </a:lnTo>
                    <a:lnTo>
                      <a:pt x="133350" y="171450"/>
                    </a:lnTo>
                    <a:lnTo>
                      <a:pt x="133350" y="76200"/>
                    </a:lnTo>
                    <a:close/>
                    <a:moveTo>
                      <a:pt x="133350" y="209550"/>
                    </a:moveTo>
                    <a:lnTo>
                      <a:pt x="171450" y="209550"/>
                    </a:lnTo>
                    <a:lnTo>
                      <a:pt x="171450" y="247650"/>
                    </a:lnTo>
                    <a:lnTo>
                      <a:pt x="133350" y="247650"/>
                    </a:lnTo>
                    <a:lnTo>
                      <a:pt x="133350" y="209550"/>
                    </a:lnTo>
                    <a:close/>
                  </a:path>
                </a:pathLst>
              </a:custGeom>
              <a:solidFill>
                <a:srgbClr val="E2483A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981456" y="5596890"/>
                <a:ext cx="244144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15181C"/>
                    </a:solidFill>
                    <a:latin typeface="+mn-lt"/>
                    <a:ea typeface="+mn-ea"/>
                    <a:cs typeface="+mn-cs"/>
                  </a:rPr>
                  <a:t>迟到、早退按规定处理</a:t>
                </a:r>
              </a:p>
            </p:txBody>
          </p:sp>
        </p:grpSp>
      </p:grpSp>
      <p:grpSp>
        <p:nvGrpSpPr>
          <p:cNvPr id="28" name="p03-divider"/>
          <p:cNvGrpSpPr/>
          <p:nvPr/>
        </p:nvGrpSpPr>
        <p:grpSpPr>
          <a:xfrm>
            <a:off x="6762750" y="2057400"/>
            <a:ext cx="9525" cy="3695700"/>
            <a:chOff x="6762750" y="2057400"/>
            <a:chExt cx="9525" cy="3695700"/>
          </a:xfrm>
        </p:grpSpPr>
        <p:sp>
          <p:nvSpPr>
            <p:cNvPr id="27" name="Line 27"/>
            <p:cNvSpPr/>
            <p:nvPr/>
          </p:nvSpPr>
          <p:spPr>
            <a:xfrm>
              <a:off x="6762750" y="2057400"/>
              <a:ext cx="9525" cy="3695700"/>
            </a:xfrm>
            <a:custGeom>
              <a:avLst/>
              <a:gdLst/>
              <a:ahLst/>
              <a:cxnLst/>
              <a:rect l="l" t="t" r="r" b="b"/>
              <a:pathLst>
                <a:path w="9525" h="3695700">
                  <a:moveTo>
                    <a:pt x="0" y="0"/>
                  </a:moveTo>
                  <a:lnTo>
                    <a:pt x="0" y="3695700"/>
                  </a:lnTo>
                </a:path>
              </a:pathLst>
            </a:custGeom>
            <a:noFill/>
            <a:ln w="9525">
              <a:solidFill>
                <a:srgbClr val="D9DAD6"/>
              </a:solidFill>
            </a:ln>
          </p:spPr>
        </p:sp>
      </p:grpSp>
      <p:grpSp>
        <p:nvGrpSpPr>
          <p:cNvPr id="47" name="p03-leave"/>
          <p:cNvGrpSpPr/>
          <p:nvPr/>
        </p:nvGrpSpPr>
        <p:grpSpPr>
          <a:xfrm>
            <a:off x="7041642" y="2197418"/>
            <a:ext cx="4578858" cy="3460432"/>
            <a:chOff x="7041642" y="2197418"/>
            <a:chExt cx="4578858" cy="3460432"/>
          </a:xfrm>
        </p:grpSpPr>
        <p:sp>
          <p:nvSpPr>
            <p:cNvPr id="29" name="TextBox 29"/>
            <p:cNvSpPr txBox="1"/>
            <p:nvPr/>
          </p:nvSpPr>
          <p:spPr>
            <a:xfrm>
              <a:off x="7041642" y="21974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5181C"/>
                  </a:solidFill>
                  <a:latin typeface="+mn-lt"/>
                  <a:ea typeface="+mn-ea"/>
                  <a:cs typeface="+mn-cs"/>
                </a:rPr>
                <a:t>请假怎么办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7048500" y="2514600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19050">
              <a:solidFill>
                <a:srgbClr val="15181C"/>
              </a:solidFill>
            </a:ln>
          </p:spPr>
        </p:sp>
        <p:grpSp>
          <p:nvGrpSpPr>
            <p:cNvPr id="35" name="p03-leave-step1"/>
            <p:cNvGrpSpPr/>
            <p:nvPr/>
          </p:nvGrpSpPr>
          <p:grpSpPr>
            <a:xfrm>
              <a:off x="7048500" y="2781300"/>
              <a:ext cx="2636216" cy="613601"/>
              <a:chOff x="7048500" y="2781300"/>
              <a:chExt cx="2636216" cy="613601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7048500" y="2781300"/>
                <a:ext cx="419100" cy="419100"/>
              </a:xfrm>
              <a:prstGeom prst="rect">
                <a:avLst/>
              </a:prstGeom>
              <a:solidFill>
                <a:srgbClr val="15181C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7200651" y="2902268"/>
                <a:ext cx="11479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648956" y="2796540"/>
                <a:ext cx="175616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5181C"/>
                    </a:solidFill>
                    <a:latin typeface="+mn-lt"/>
                    <a:ea typeface="+mn-ea"/>
                    <a:cs typeface="+mn-cs"/>
                  </a:rPr>
                  <a:t>在 OA 提前申请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7651242" y="3130868"/>
                <a:ext cx="203347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6B7076"/>
                    </a:solidFill>
                    <a:latin typeface="+mn-lt"/>
                    <a:ea typeface="+mn-ea"/>
                    <a:cs typeface="+mn-cs"/>
                  </a:rPr>
                  <a:t>请假要在 OA 里提前提交</a:t>
                </a:r>
              </a:p>
            </p:txBody>
          </p:sp>
        </p:grpSp>
        <p:sp>
          <p:nvSpPr>
            <p:cNvPr id="36" name="Freeform 36"/>
            <p:cNvSpPr/>
            <p:nvPr/>
          </p:nvSpPr>
          <p:spPr>
            <a:xfrm>
              <a:off x="7162800" y="3448050"/>
              <a:ext cx="190500" cy="304800"/>
            </a:xfrm>
            <a:prstGeom prst="downArrow">
              <a:avLst/>
            </a:prstGeom>
            <a:solidFill>
              <a:srgbClr val="15181C"/>
            </a:solidFill>
            <a:ln>
              <a:noFill/>
            </a:ln>
          </p:spPr>
        </p:sp>
        <p:grpSp>
          <p:nvGrpSpPr>
            <p:cNvPr id="41" name="p03-leave-step2"/>
            <p:cNvGrpSpPr/>
            <p:nvPr/>
          </p:nvGrpSpPr>
          <p:grpSpPr>
            <a:xfrm>
              <a:off x="7048500" y="3905250"/>
              <a:ext cx="2979039" cy="613601"/>
              <a:chOff x="7048500" y="3905250"/>
              <a:chExt cx="2979039" cy="613601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7048500" y="3905250"/>
                <a:ext cx="419100" cy="419100"/>
              </a:xfrm>
              <a:prstGeom prst="rect">
                <a:avLst/>
              </a:prstGeom>
              <a:solidFill>
                <a:srgbClr val="15181C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7200651" y="4026218"/>
                <a:ext cx="11479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7648956" y="3920490"/>
                <a:ext cx="171450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5181C"/>
                    </a:solidFill>
                    <a:latin typeface="+mn-lt"/>
                    <a:ea typeface="+mn-ea"/>
                    <a:cs typeface="+mn-cs"/>
                  </a:rPr>
                  <a:t>病假要补交证明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7651242" y="4254818"/>
                <a:ext cx="237629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6B7076"/>
                    </a:solidFill>
                    <a:latin typeface="+mn-lt"/>
                    <a:ea typeface="+mn-ea"/>
                    <a:cs typeface="+mn-cs"/>
                  </a:rPr>
                  <a:t>病假除了申请，还要补交证明</a:t>
                </a:r>
              </a:p>
            </p:txBody>
          </p:sp>
        </p:grpSp>
        <p:grpSp>
          <p:nvGrpSpPr>
            <p:cNvPr id="46" name="p03-leave-takeaway"/>
            <p:cNvGrpSpPr/>
            <p:nvPr/>
          </p:nvGrpSpPr>
          <p:grpSpPr>
            <a:xfrm>
              <a:off x="7048500" y="4819650"/>
              <a:ext cx="4572000" cy="838200"/>
              <a:chOff x="7048500" y="4819650"/>
              <a:chExt cx="4572000" cy="838200"/>
            </a:xfrm>
          </p:grpSpPr>
          <p:sp>
            <p:nvSpPr>
              <p:cNvPr id="42" name="Rectangle 42"/>
              <p:cNvSpPr/>
              <p:nvPr/>
            </p:nvSpPr>
            <p:spPr>
              <a:xfrm>
                <a:off x="7048500" y="4819650"/>
                <a:ext cx="4572000" cy="838200"/>
              </a:xfrm>
              <a:prstGeom prst="rect">
                <a:avLst/>
              </a:prstGeom>
              <a:solidFill>
                <a:srgbClr val="F2F2F0"/>
              </a:solidFill>
              <a:ln>
                <a:noFill/>
              </a:ln>
            </p:spPr>
          </p:sp>
          <p:sp>
            <p:nvSpPr>
              <p:cNvPr id="43" name="Rectangle 43"/>
              <p:cNvSpPr/>
              <p:nvPr/>
            </p:nvSpPr>
            <p:spPr>
              <a:xfrm>
                <a:off x="7048500" y="4819650"/>
                <a:ext cx="57150" cy="838200"/>
              </a:xfrm>
              <a:prstGeom prst="rect">
                <a:avLst/>
              </a:prstGeom>
              <a:solidFill>
                <a:srgbClr val="E2483A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7325106" y="4968240"/>
                <a:ext cx="122986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5181C"/>
                    </a:solidFill>
                    <a:latin typeface="+mn-lt"/>
                    <a:ea typeface="+mn-ea"/>
                    <a:cs typeface="+mn-cs"/>
                  </a:rPr>
                  <a:t>一句话记住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7325106" y="5273040"/>
                <a:ext cx="368056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15181C"/>
                    </a:solidFill>
                    <a:latin typeface="+mn-lt"/>
                    <a:ea typeface="+mn-ea"/>
                    <a:cs typeface="+mn-cs"/>
                  </a:rPr>
                  <a:t>请假先在 OA 申请，病假再补证明</a:t>
                </a:r>
              </a:p>
            </p:txBody>
          </p:sp>
        </p:grpSp>
      </p:grpSp>
      <p:grpSp>
        <p:nvGrpSpPr>
          <p:cNvPr id="52" name="p03-footer"/>
          <p:cNvGrpSpPr/>
          <p:nvPr/>
        </p:nvGrpSpPr>
        <p:grpSpPr>
          <a:xfrm>
            <a:off x="565785" y="6134100"/>
            <a:ext cx="11060430" cy="327184"/>
            <a:chOff x="565785" y="6134100"/>
            <a:chExt cx="11060430" cy="327184"/>
          </a:xfrm>
        </p:grpSpPr>
        <p:sp>
          <p:nvSpPr>
            <p:cNvPr id="48" name="Line 48"/>
            <p:cNvSpPr/>
            <p:nvPr/>
          </p:nvSpPr>
          <p:spPr>
            <a:xfrm>
              <a:off x="571500" y="61341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9DAD6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65785" y="6241256"/>
              <a:ext cx="18039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B7076"/>
                  </a:solidFill>
                  <a:latin typeface="+mn-lt"/>
                  <a:ea typeface="+mn-ea"/>
                  <a:cs typeface="+mn-cs"/>
                </a:rPr>
                <a:t>员工手册速查 · 第一天必知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487187" y="624125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6B7076"/>
                  </a:solidFill>
                  <a:latin typeface="+mn-lt"/>
                  <a:ea typeface="+mn-ea"/>
                  <a:cs typeface="+mn-cs"/>
                </a:rPr>
                <a:t>来源：手册第二章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153687" y="6241256"/>
              <a:ext cx="472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6B7076"/>
                  </a:solidFill>
                  <a:latin typeface="+mn-lt"/>
                  <a:ea typeface="+mn-ea"/>
                  <a:cs typeface="+mn-cs"/>
                </a:rPr>
                <a:t>03 / 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p04-header"/>
          <p:cNvGrpSpPr/>
          <p:nvPr/>
        </p:nvGrpSpPr>
        <p:grpSpPr>
          <a:xfrm>
            <a:off x="556260" y="654368"/>
            <a:ext cx="11071098" cy="1206055"/>
            <a:chOff x="556260" y="654368"/>
            <a:chExt cx="11071098" cy="1206055"/>
          </a:xfrm>
        </p:grpSpPr>
        <p:sp>
          <p:nvSpPr>
            <p:cNvPr id="2" name="TextBox 2"/>
            <p:cNvSpPr txBox="1"/>
            <p:nvPr/>
          </p:nvSpPr>
          <p:spPr>
            <a:xfrm>
              <a:off x="564642" y="654368"/>
              <a:ext cx="13471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150" dirty="0">
                  <a:solidFill>
                    <a:srgbClr val="E2483A"/>
                  </a:solidFill>
                  <a:latin typeface="+mn-lt"/>
                  <a:ea typeface="+mn-ea"/>
                  <a:cs typeface="+mn-cs"/>
                </a:rPr>
                <a:t>IT &amp; OFFICE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0245899" y="654368"/>
              <a:ext cx="13814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6B7076"/>
                  </a:solidFill>
                  <a:latin typeface="+mn-lt"/>
                  <a:ea typeface="+mn-ea"/>
                  <a:cs typeface="+mn-cs"/>
                </a:rPr>
                <a:t>第四章 IT 与办公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6260" y="952500"/>
              <a:ext cx="28575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5181C"/>
                  </a:solidFill>
                  <a:latin typeface="+mj-lt"/>
                  <a:ea typeface="+mj-ea"/>
                  <a:cs typeface="+mj-cs"/>
                </a:rPr>
                <a:t>电脑账号谁给开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0832" y="1449705"/>
              <a:ext cx="432757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6B7076"/>
                  </a:solidFill>
                  <a:latin typeface="+mn-lt"/>
                  <a:ea typeface="+mn-ea"/>
                  <a:cs typeface="+mn-cs"/>
                </a:rPr>
                <a:t>不用自己申请，IT 在入职当天开通</a:t>
              </a:r>
            </a:p>
          </p:txBody>
        </p:sp>
      </p:grpSp>
      <p:grpSp>
        <p:nvGrpSpPr>
          <p:cNvPr id="11" name="p04-claim"/>
          <p:cNvGrpSpPr/>
          <p:nvPr/>
        </p:nvGrpSpPr>
        <p:grpSpPr>
          <a:xfrm>
            <a:off x="552450" y="2711768"/>
            <a:ext cx="4418934" cy="2379916"/>
            <a:chOff x="552450" y="2711768"/>
            <a:chExt cx="4418934" cy="2379916"/>
          </a:xfrm>
        </p:grpSpPr>
        <p:sp>
          <p:nvSpPr>
            <p:cNvPr id="7" name="TextBox 7"/>
            <p:cNvSpPr txBox="1"/>
            <p:nvPr/>
          </p:nvSpPr>
          <p:spPr>
            <a:xfrm>
              <a:off x="564642" y="2711768"/>
              <a:ext cx="16804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2483A"/>
                  </a:solidFill>
                  <a:latin typeface="+mn-lt"/>
                  <a:ea typeface="+mn-ea"/>
                  <a:cs typeface="+mn-cs"/>
                </a:rPr>
                <a:t>入职当天 · IT 与办公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52450" y="3225165"/>
              <a:ext cx="3430524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300" b="1" dirty="0">
                  <a:solidFill>
                    <a:srgbClr val="15181C"/>
                  </a:solidFill>
                  <a:latin typeface="+mj-lt"/>
                  <a:ea typeface="+mj-ea"/>
                  <a:cs typeface="+mj-cs"/>
                </a:rPr>
                <a:t>当天就有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60832" y="4250055"/>
              <a:ext cx="441055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15181C"/>
                  </a:solidFill>
                  <a:latin typeface="+mn-lt"/>
                  <a:ea typeface="+mn-ea"/>
                  <a:cs typeface="+mn-cs"/>
                </a:rPr>
                <a:t>入职当天由 IT 开通，不用自己申请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2356" y="4739640"/>
              <a:ext cx="38953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B7076"/>
                  </a:solidFill>
                  <a:latin typeface="+mn-lt"/>
                  <a:ea typeface="+mn-ea"/>
                  <a:cs typeface="+mn-cs"/>
                </a:rPr>
                <a:t>开通时间：入职当天（手册第四章）</a:t>
              </a:r>
            </a:p>
          </p:txBody>
        </p:sp>
      </p:grpSp>
      <p:grpSp>
        <p:nvGrpSpPr>
          <p:cNvPr id="32" name="p04-checklist"/>
          <p:cNvGrpSpPr/>
          <p:nvPr/>
        </p:nvGrpSpPr>
        <p:grpSpPr>
          <a:xfrm>
            <a:off x="7048500" y="2362200"/>
            <a:ext cx="4572000" cy="3324225"/>
            <a:chOff x="7048500" y="2362200"/>
            <a:chExt cx="4572000" cy="3324225"/>
          </a:xfrm>
        </p:grpSpPr>
        <p:sp>
          <p:nvSpPr>
            <p:cNvPr id="12" name="Line 12"/>
            <p:cNvSpPr/>
            <p:nvPr/>
          </p:nvSpPr>
          <p:spPr>
            <a:xfrm>
              <a:off x="7048500" y="2362200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19050">
              <a:solidFill>
                <a:srgbClr val="15181C"/>
              </a:solidFill>
            </a:ln>
          </p:spPr>
        </p:sp>
        <p:grpSp>
          <p:nvGrpSpPr>
            <p:cNvPr id="18" name="p04-item-account"/>
            <p:cNvGrpSpPr/>
            <p:nvPr/>
          </p:nvGrpSpPr>
          <p:grpSpPr>
            <a:xfrm>
              <a:off x="7048500" y="2663190"/>
              <a:ext cx="2833415" cy="598361"/>
              <a:chOff x="7048500" y="2663190"/>
              <a:chExt cx="2833415" cy="598361"/>
            </a:xfrm>
          </p:grpSpPr>
          <p:grpSp>
            <p:nvGrpSpPr>
              <p:cNvPr id="15" name="Group 15"/>
              <p:cNvGrpSpPr/>
              <p:nvPr/>
            </p:nvGrpSpPr>
            <p:grpSpPr>
              <a:xfrm>
                <a:off x="7048500" y="2709862"/>
                <a:ext cx="381000" cy="333376"/>
                <a:chOff x="7048500" y="2709862"/>
                <a:chExt cx="381000" cy="333376"/>
              </a:xfrm>
            </p:grpSpPr>
            <p:sp>
              <p:nvSpPr>
                <p:cNvPr id="13" name="Freeform 13"/>
                <p:cNvSpPr/>
                <p:nvPr/>
              </p:nvSpPr>
              <p:spPr>
                <a:xfrm>
                  <a:off x="7096125" y="2709862"/>
                  <a:ext cx="285750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0" h="190500">
                      <a:moveTo>
                        <a:pt x="0" y="0"/>
                      </a:moveTo>
                      <a:lnTo>
                        <a:pt x="285750" y="0"/>
                      </a:lnTo>
                      <a:lnTo>
                        <a:pt x="285750" y="190500"/>
                      </a:lnTo>
                      <a:lnTo>
                        <a:pt x="0" y="190500"/>
                      </a:lnTo>
                      <a:lnTo>
                        <a:pt x="0" y="0"/>
                      </a:lnTo>
                      <a:close/>
                      <a:moveTo>
                        <a:pt x="47625" y="47625"/>
                      </a:moveTo>
                      <a:lnTo>
                        <a:pt x="238125" y="47625"/>
                      </a:lnTo>
                      <a:lnTo>
                        <a:pt x="238125" y="142875"/>
                      </a:lnTo>
                      <a:lnTo>
                        <a:pt x="47625" y="142875"/>
                      </a:lnTo>
                      <a:lnTo>
                        <a:pt x="47625" y="47625"/>
                      </a:lnTo>
                      <a:close/>
                    </a:path>
                  </a:pathLst>
                </a:custGeom>
                <a:solidFill>
                  <a:srgbClr val="15181C"/>
                </a:solidFill>
                <a:ln>
                  <a:noFill/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7048500" y="2947988"/>
                  <a:ext cx="38100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0" h="95250">
                      <a:moveTo>
                        <a:pt x="47625" y="0"/>
                      </a:moveTo>
                      <a:lnTo>
                        <a:pt x="0" y="47625"/>
                      </a:lnTo>
                      <a:lnTo>
                        <a:pt x="0" y="95250"/>
                      </a:lnTo>
                      <a:lnTo>
                        <a:pt x="381000" y="95250"/>
                      </a:lnTo>
                      <a:lnTo>
                        <a:pt x="381000" y="47625"/>
                      </a:lnTo>
                      <a:lnTo>
                        <a:pt x="333375" y="0"/>
                      </a:lnTo>
                      <a:lnTo>
                        <a:pt x="47625" y="0"/>
                      </a:lnTo>
                      <a:close/>
                    </a:path>
                  </a:pathLst>
                </a:custGeom>
                <a:solidFill>
                  <a:srgbClr val="15181C"/>
                </a:solidFill>
                <a:ln>
                  <a:noFill/>
                </a:ln>
              </p:spPr>
            </p:sp>
          </p:grpSp>
          <p:sp>
            <p:nvSpPr>
              <p:cNvPr id="16" name="TextBox 16"/>
              <p:cNvSpPr txBox="1"/>
              <p:nvPr/>
            </p:nvSpPr>
            <p:spPr>
              <a:xfrm>
                <a:off x="7648956" y="2663190"/>
                <a:ext cx="223295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5181C"/>
                    </a:solidFill>
                    <a:latin typeface="+mn-lt"/>
                    <a:ea typeface="+mn-ea"/>
                    <a:cs typeface="+mn-cs"/>
                  </a:rPr>
                  <a:t>邮箱 + 办公系统账号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651242" y="2997518"/>
                <a:ext cx="156319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6B7076"/>
                    </a:solidFill>
                    <a:latin typeface="+mn-lt"/>
                    <a:ea typeface="+mn-ea"/>
                    <a:cs typeface="+mn-cs"/>
                  </a:rPr>
                  <a:t>入职当天由 IT 开通</a:t>
                </a:r>
              </a:p>
            </p:txBody>
          </p:sp>
        </p:grpSp>
        <p:sp>
          <p:nvSpPr>
            <p:cNvPr id="19" name="Line 19"/>
            <p:cNvSpPr/>
            <p:nvPr/>
          </p:nvSpPr>
          <p:spPr>
            <a:xfrm>
              <a:off x="7048500" y="3467100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9525">
              <a:solidFill>
                <a:srgbClr val="D9DAD6"/>
              </a:solidFill>
            </a:ln>
          </p:spPr>
        </p:sp>
        <p:grpSp>
          <p:nvGrpSpPr>
            <p:cNvPr id="23" name="p04-item-security"/>
            <p:cNvGrpSpPr/>
            <p:nvPr/>
          </p:nvGrpSpPr>
          <p:grpSpPr>
            <a:xfrm>
              <a:off x="7072312" y="3768090"/>
              <a:ext cx="2775776" cy="598361"/>
              <a:chOff x="7072312" y="3768090"/>
              <a:chExt cx="2775776" cy="598361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7072312" y="3790950"/>
                <a:ext cx="333375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333375" h="381000">
                    <a:moveTo>
                      <a:pt x="166688" y="381000"/>
                    </a:moveTo>
                    <a:lnTo>
                      <a:pt x="79774" y="318918"/>
                    </a:lnTo>
                    <a:cubicBezTo>
                      <a:pt x="29712" y="283159"/>
                      <a:pt x="0" y="225425"/>
                      <a:pt x="0" y="163903"/>
                    </a:cubicBezTo>
                    <a:lnTo>
                      <a:pt x="0" y="71438"/>
                    </a:lnTo>
                    <a:lnTo>
                      <a:pt x="166688" y="0"/>
                    </a:lnTo>
                    <a:lnTo>
                      <a:pt x="333375" y="71438"/>
                    </a:lnTo>
                    <a:lnTo>
                      <a:pt x="333375" y="163903"/>
                    </a:lnTo>
                    <a:cubicBezTo>
                      <a:pt x="333375" y="225425"/>
                      <a:pt x="303664" y="283159"/>
                      <a:pt x="253601" y="318918"/>
                    </a:cubicBezTo>
                    <a:lnTo>
                      <a:pt x="166688" y="381000"/>
                    </a:lnTo>
                    <a:close/>
                    <a:moveTo>
                      <a:pt x="266869" y="135901"/>
                    </a:moveTo>
                    <a:lnTo>
                      <a:pt x="233193" y="102224"/>
                    </a:lnTo>
                    <a:lnTo>
                      <a:pt x="142875" y="192543"/>
                    </a:lnTo>
                    <a:lnTo>
                      <a:pt x="100182" y="149849"/>
                    </a:lnTo>
                    <a:lnTo>
                      <a:pt x="66506" y="183526"/>
                    </a:lnTo>
                    <a:lnTo>
                      <a:pt x="142875" y="259894"/>
                    </a:lnTo>
                    <a:lnTo>
                      <a:pt x="266869" y="135901"/>
                    </a:lnTo>
                    <a:close/>
                  </a:path>
                </a:pathLst>
              </a:custGeom>
              <a:solidFill>
                <a:srgbClr val="15181C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7648956" y="3768090"/>
                <a:ext cx="219913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5181C"/>
                    </a:solidFill>
                    <a:latin typeface="+mn-lt"/>
                    <a:ea typeface="+mn-ea"/>
                    <a:cs typeface="+mn-cs"/>
                  </a:rPr>
                  <a:t>公司统一的安全软件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651242" y="4102418"/>
                <a:ext cx="146761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6B7076"/>
                    </a:solidFill>
                    <a:latin typeface="+mn-lt"/>
                    <a:ea typeface="+mn-ea"/>
                    <a:cs typeface="+mn-cs"/>
                  </a:rPr>
                  <a:t>办公电脑</a:t>
                </a:r>
                <a:r>
                  <a:rPr lang="zh-CN" sz="1350" b="1" dirty="0">
                    <a:solidFill>
                      <a:srgbClr val="E2483A"/>
                    </a:solidFill>
                    <a:latin typeface="+mn-lt"/>
                    <a:ea typeface="+mn-ea"/>
                    <a:cs typeface="+mn-cs"/>
                  </a:rPr>
                  <a:t>必须安装</a:t>
                </a:r>
              </a:p>
            </p:txBody>
          </p:sp>
        </p:grpSp>
        <p:sp>
          <p:nvSpPr>
            <p:cNvPr id="24" name="Line 24"/>
            <p:cNvSpPr/>
            <p:nvPr/>
          </p:nvSpPr>
          <p:spPr>
            <a:xfrm>
              <a:off x="7048500" y="4572000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9525">
              <a:solidFill>
                <a:srgbClr val="D9DAD6"/>
              </a:solidFill>
            </a:ln>
          </p:spPr>
        </p:sp>
        <p:grpSp>
          <p:nvGrpSpPr>
            <p:cNvPr id="30" name="p04-item-network"/>
            <p:cNvGrpSpPr/>
            <p:nvPr/>
          </p:nvGrpSpPr>
          <p:grpSpPr>
            <a:xfrm>
              <a:off x="7048500" y="4872990"/>
              <a:ext cx="2710273" cy="598361"/>
              <a:chOff x="7048500" y="4872990"/>
              <a:chExt cx="2710273" cy="598361"/>
            </a:xfrm>
          </p:grpSpPr>
          <p:grpSp>
            <p:nvGrpSpPr>
              <p:cNvPr id="27" name="Group 27"/>
              <p:cNvGrpSpPr/>
              <p:nvPr/>
            </p:nvGrpSpPr>
            <p:grpSpPr>
              <a:xfrm>
                <a:off x="7048500" y="4895850"/>
                <a:ext cx="381000" cy="381000"/>
                <a:chOff x="7048500" y="4895850"/>
                <a:chExt cx="381000" cy="381000"/>
              </a:xfrm>
            </p:grpSpPr>
            <p:sp>
              <p:nvSpPr>
                <p:cNvPr id="25" name="Freeform 25"/>
                <p:cNvSpPr/>
                <p:nvPr/>
              </p:nvSpPr>
              <p:spPr>
                <a:xfrm>
                  <a:off x="7048500" y="4895850"/>
                  <a:ext cx="381000" cy="285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0" h="285750">
                      <a:moveTo>
                        <a:pt x="261938" y="0"/>
                      </a:moveTo>
                      <a:lnTo>
                        <a:pt x="119062" y="0"/>
                      </a:lnTo>
                      <a:lnTo>
                        <a:pt x="119062" y="95250"/>
                      </a:lnTo>
                      <a:lnTo>
                        <a:pt x="71438" y="95250"/>
                      </a:lnTo>
                      <a:cubicBezTo>
                        <a:pt x="31984" y="95250"/>
                        <a:pt x="0" y="127234"/>
                        <a:pt x="0" y="166688"/>
                      </a:cubicBezTo>
                      <a:lnTo>
                        <a:pt x="0" y="285750"/>
                      </a:lnTo>
                      <a:lnTo>
                        <a:pt x="71438" y="285750"/>
                      </a:lnTo>
                      <a:lnTo>
                        <a:pt x="71438" y="214312"/>
                      </a:lnTo>
                      <a:lnTo>
                        <a:pt x="309562" y="214312"/>
                      </a:lnTo>
                      <a:lnTo>
                        <a:pt x="309562" y="285750"/>
                      </a:lnTo>
                      <a:lnTo>
                        <a:pt x="381000" y="285750"/>
                      </a:lnTo>
                      <a:lnTo>
                        <a:pt x="381000" y="166688"/>
                      </a:lnTo>
                      <a:cubicBezTo>
                        <a:pt x="381000" y="127234"/>
                        <a:pt x="349017" y="95250"/>
                        <a:pt x="309562" y="95250"/>
                      </a:cubicBezTo>
                      <a:lnTo>
                        <a:pt x="261938" y="95250"/>
                      </a:lnTo>
                      <a:lnTo>
                        <a:pt x="261938" y="0"/>
                      </a:lnTo>
                      <a:close/>
                    </a:path>
                  </a:pathLst>
                </a:custGeom>
                <a:solidFill>
                  <a:srgbClr val="15181C"/>
                </a:solidFill>
                <a:ln>
                  <a:noFill/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7167562" y="5157788"/>
                  <a:ext cx="142875" cy="119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19062">
                      <a:moveTo>
                        <a:pt x="0" y="0"/>
                      </a:moveTo>
                      <a:lnTo>
                        <a:pt x="142875" y="0"/>
                      </a:lnTo>
                      <a:lnTo>
                        <a:pt x="142875" y="119062"/>
                      </a:lnTo>
                      <a:lnTo>
                        <a:pt x="0" y="11906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5181C"/>
                </a:solidFill>
                <a:ln>
                  <a:noFill/>
                </a:ln>
              </p:spPr>
            </p:sp>
          </p:grpSp>
          <p:sp>
            <p:nvSpPr>
              <p:cNvPr id="28" name="TextBox 28"/>
              <p:cNvSpPr txBox="1"/>
              <p:nvPr/>
            </p:nvSpPr>
            <p:spPr>
              <a:xfrm>
                <a:off x="7648956" y="4872990"/>
                <a:ext cx="210981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5181C"/>
                    </a:solidFill>
                    <a:latin typeface="+mn-lt"/>
                    <a:ea typeface="+mn-ea"/>
                    <a:cs typeface="+mn-cs"/>
                  </a:rPr>
                  <a:t>Wi-Fi 密码 / 打印机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7651242" y="5207318"/>
                <a:ext cx="201282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6B7076"/>
                    </a:solidFill>
                    <a:latin typeface="+mn-lt"/>
                    <a:ea typeface="+mn-ea"/>
                    <a:cs typeface="+mn-cs"/>
                  </a:rPr>
                  <a:t>都在内网指引里，自己查</a:t>
                </a:r>
              </a:p>
            </p:txBody>
          </p:sp>
        </p:grpSp>
        <p:sp>
          <p:nvSpPr>
            <p:cNvPr id="31" name="Line 31"/>
            <p:cNvSpPr/>
            <p:nvPr/>
          </p:nvSpPr>
          <p:spPr>
            <a:xfrm>
              <a:off x="7048500" y="5676900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19050">
              <a:solidFill>
                <a:srgbClr val="15181C"/>
              </a:solidFill>
            </a:ln>
          </p:spPr>
        </p:sp>
      </p:grpSp>
      <p:grpSp>
        <p:nvGrpSpPr>
          <p:cNvPr id="37" name="p04-footer"/>
          <p:cNvGrpSpPr/>
          <p:nvPr/>
        </p:nvGrpSpPr>
        <p:grpSpPr>
          <a:xfrm>
            <a:off x="565785" y="6134100"/>
            <a:ext cx="11060430" cy="327184"/>
            <a:chOff x="565785" y="6134100"/>
            <a:chExt cx="11060430" cy="327184"/>
          </a:xfrm>
        </p:grpSpPr>
        <p:sp>
          <p:nvSpPr>
            <p:cNvPr id="33" name="Line 33"/>
            <p:cNvSpPr/>
            <p:nvPr/>
          </p:nvSpPr>
          <p:spPr>
            <a:xfrm>
              <a:off x="571500" y="61341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9DAD6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65785" y="6241256"/>
              <a:ext cx="18039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B7076"/>
                  </a:solidFill>
                  <a:latin typeface="+mn-lt"/>
                  <a:ea typeface="+mn-ea"/>
                  <a:cs typeface="+mn-cs"/>
                </a:rPr>
                <a:t>员工手册速查 · 第一天必知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487187" y="624125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6B7076"/>
                  </a:solidFill>
                  <a:latin typeface="+mn-lt"/>
                  <a:ea typeface="+mn-ea"/>
                  <a:cs typeface="+mn-cs"/>
                </a:rPr>
                <a:t>来源：手册第四章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153687" y="6241256"/>
              <a:ext cx="472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6B7076"/>
                  </a:solidFill>
                  <a:latin typeface="+mn-lt"/>
                  <a:ea typeface="+mn-ea"/>
                  <a:cs typeface="+mn-cs"/>
                </a:rPr>
                <a:t>04 / 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p05-header"/>
          <p:cNvGrpSpPr/>
          <p:nvPr/>
        </p:nvGrpSpPr>
        <p:grpSpPr>
          <a:xfrm>
            <a:off x="556260" y="654368"/>
            <a:ext cx="11071098" cy="1206055"/>
            <a:chOff x="556260" y="654368"/>
            <a:chExt cx="11071098" cy="1206055"/>
          </a:xfrm>
        </p:grpSpPr>
        <p:sp>
          <p:nvSpPr>
            <p:cNvPr id="2" name="TextBox 2"/>
            <p:cNvSpPr txBox="1"/>
            <p:nvPr/>
          </p:nvSpPr>
          <p:spPr>
            <a:xfrm>
              <a:off x="564642" y="654368"/>
              <a:ext cx="18171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150" dirty="0">
                  <a:solidFill>
                    <a:srgbClr val="E2483A"/>
                  </a:solidFill>
                  <a:latin typeface="+mn-lt"/>
                  <a:ea typeface="+mn-ea"/>
                  <a:cs typeface="+mn-cs"/>
                </a:rPr>
                <a:t>EXPENSE &amp; PAY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0361729" y="654368"/>
              <a:ext cx="12656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6B7076"/>
                  </a:solidFill>
                  <a:latin typeface="+mn-lt"/>
                  <a:ea typeface="+mn-ea"/>
                  <a:cs typeface="+mn-cs"/>
                </a:rPr>
                <a:t>第三章 · 第四章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6260" y="952500"/>
              <a:ext cx="204978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5181C"/>
                  </a:solidFill>
                  <a:latin typeface="+mj-lt"/>
                  <a:ea typeface="+mj-ea"/>
                  <a:cs typeface="+mj-cs"/>
                </a:rPr>
                <a:t>报销去哪提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0832" y="1449705"/>
              <a:ext cx="454456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6B7076"/>
                  </a:solidFill>
                  <a:latin typeface="+mn-lt"/>
                  <a:ea typeface="+mn-ea"/>
                  <a:cs typeface="+mn-cs"/>
                </a:rPr>
                <a:t>顺手把工资和福利说清楚，一次记住</a:t>
              </a:r>
            </a:p>
          </p:txBody>
        </p:sp>
      </p:grpSp>
      <p:grpSp>
        <p:nvGrpSpPr>
          <p:cNvPr id="15" name="p05-expense"/>
          <p:cNvGrpSpPr/>
          <p:nvPr/>
        </p:nvGrpSpPr>
        <p:grpSpPr>
          <a:xfrm>
            <a:off x="562356" y="2197418"/>
            <a:ext cx="6105144" cy="3180016"/>
            <a:chOff x="562356" y="2197418"/>
            <a:chExt cx="6105144" cy="3180016"/>
          </a:xfrm>
        </p:grpSpPr>
        <p:sp>
          <p:nvSpPr>
            <p:cNvPr id="7" name="TextBox 7"/>
            <p:cNvSpPr txBox="1"/>
            <p:nvPr/>
          </p:nvSpPr>
          <p:spPr>
            <a:xfrm>
              <a:off x="564642" y="2197418"/>
              <a:ext cx="10838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2483A"/>
                  </a:solidFill>
                  <a:latin typeface="+mn-lt"/>
                  <a:ea typeface="+mn-ea"/>
                  <a:cs typeface="+mn-cs"/>
                </a:rPr>
                <a:t>报销 · 第四章</a:t>
              </a:r>
            </a:p>
          </p:txBody>
        </p:sp>
        <p:grpSp>
          <p:nvGrpSpPr>
            <p:cNvPr id="12" name="p05-expense-hero"/>
            <p:cNvGrpSpPr/>
            <p:nvPr/>
          </p:nvGrpSpPr>
          <p:grpSpPr>
            <a:xfrm>
              <a:off x="571500" y="2514600"/>
              <a:ext cx="6096000" cy="1333500"/>
              <a:chOff x="571500" y="2514600"/>
              <a:chExt cx="6096000" cy="133350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571500" y="2514600"/>
                <a:ext cx="6096000" cy="1333500"/>
              </a:xfrm>
              <a:prstGeom prst="rect">
                <a:avLst/>
              </a:prstGeom>
              <a:solidFill>
                <a:srgbClr val="15181C"/>
              </a:solidFill>
              <a:ln>
                <a:noFill/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33450" y="2952750"/>
                <a:ext cx="3429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457200">
                    <a:moveTo>
                      <a:pt x="0" y="0"/>
                    </a:moveTo>
                    <a:lnTo>
                      <a:pt x="342900" y="0"/>
                    </a:lnTo>
                    <a:lnTo>
                      <a:pt x="342900" y="457200"/>
                    </a:lnTo>
                    <a:lnTo>
                      <a:pt x="285750" y="457200"/>
                    </a:lnTo>
                    <a:lnTo>
                      <a:pt x="228600" y="400050"/>
                    </a:lnTo>
                    <a:lnTo>
                      <a:pt x="171450" y="457200"/>
                    </a:lnTo>
                    <a:lnTo>
                      <a:pt x="114300" y="400050"/>
                    </a:lnTo>
                    <a:lnTo>
                      <a:pt x="57150" y="457200"/>
                    </a:lnTo>
                    <a:lnTo>
                      <a:pt x="0" y="457200"/>
                    </a:lnTo>
                    <a:lnTo>
                      <a:pt x="0" y="0"/>
                    </a:lnTo>
                    <a:close/>
                    <a:moveTo>
                      <a:pt x="85725" y="114300"/>
                    </a:moveTo>
                    <a:lnTo>
                      <a:pt x="257175" y="114300"/>
                    </a:lnTo>
                    <a:lnTo>
                      <a:pt x="257175" y="171450"/>
                    </a:lnTo>
                    <a:lnTo>
                      <a:pt x="85725" y="171450"/>
                    </a:lnTo>
                    <a:lnTo>
                      <a:pt x="85725" y="114300"/>
                    </a:lnTo>
                    <a:close/>
                    <a:moveTo>
                      <a:pt x="257175" y="228600"/>
                    </a:moveTo>
                    <a:lnTo>
                      <a:pt x="85725" y="228600"/>
                    </a:lnTo>
                    <a:lnTo>
                      <a:pt x="85725" y="285750"/>
                    </a:lnTo>
                    <a:lnTo>
                      <a:pt x="257175" y="285750"/>
                    </a:lnTo>
                    <a:lnTo>
                      <a:pt x="257175" y="22860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584960" y="2819400"/>
                <a:ext cx="2857500" cy="5867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000" b="1" dirty="0">
                    <a:solidFill>
                      <a:srgbClr val="FFFFFF"/>
                    </a:solidFill>
                    <a:latin typeface="+mj-lt"/>
                    <a:ea typeface="+mj-ea"/>
                    <a:cs typeface="+mj-cs"/>
                  </a:rPr>
                  <a:t>在财务系统提交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593342" y="3340418"/>
                <a:ext cx="183108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FFFFFF">
                        <a:alphaMod val="60000"/>
                      </a:srgbClr>
                    </a:solidFill>
                    <a:latin typeface="+mn-lt"/>
                    <a:ea typeface="+mn-ea"/>
                    <a:cs typeface="+mn-cs"/>
                  </a:rPr>
                  <a:t>费用报销都在这里提交</a:t>
                </a:r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564642" y="4616768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B7076"/>
                  </a:solidFill>
                  <a:latin typeface="+mn-lt"/>
                  <a:ea typeface="+mn-ea"/>
                  <a:cs typeface="+mn-cs"/>
                </a:rPr>
                <a:t>各类申请表单与办事流程索引，见手册附录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2356" y="502539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5181C"/>
                  </a:solidFill>
                  <a:latin typeface="+mn-lt"/>
                  <a:ea typeface="+mn-ea"/>
                  <a:cs typeface="+mn-cs"/>
                </a:rPr>
                <a:t>不知道去哪办，先翻附录</a:t>
              </a:r>
            </a:p>
          </p:txBody>
        </p:sp>
      </p:grpSp>
      <p:grpSp>
        <p:nvGrpSpPr>
          <p:cNvPr id="17" name="p05-divider"/>
          <p:cNvGrpSpPr/>
          <p:nvPr/>
        </p:nvGrpSpPr>
        <p:grpSpPr>
          <a:xfrm>
            <a:off x="6953250" y="2057400"/>
            <a:ext cx="9525" cy="3695700"/>
            <a:chOff x="6953250" y="2057400"/>
            <a:chExt cx="9525" cy="3695700"/>
          </a:xfrm>
        </p:grpSpPr>
        <p:sp>
          <p:nvSpPr>
            <p:cNvPr id="16" name="Line 16"/>
            <p:cNvSpPr/>
            <p:nvPr/>
          </p:nvSpPr>
          <p:spPr>
            <a:xfrm>
              <a:off x="6953250" y="2057400"/>
              <a:ext cx="9525" cy="3695700"/>
            </a:xfrm>
            <a:custGeom>
              <a:avLst/>
              <a:gdLst/>
              <a:ahLst/>
              <a:cxnLst/>
              <a:rect l="l" t="t" r="r" b="b"/>
              <a:pathLst>
                <a:path w="9525" h="3695700">
                  <a:moveTo>
                    <a:pt x="0" y="0"/>
                  </a:moveTo>
                  <a:lnTo>
                    <a:pt x="0" y="3695700"/>
                  </a:lnTo>
                </a:path>
              </a:pathLst>
            </a:custGeom>
            <a:noFill/>
            <a:ln w="9525">
              <a:solidFill>
                <a:srgbClr val="D9DAD6"/>
              </a:solidFill>
            </a:ln>
          </p:spPr>
        </p:sp>
      </p:grpSp>
      <p:grpSp>
        <p:nvGrpSpPr>
          <p:cNvPr id="44" name="p05-pay"/>
          <p:cNvGrpSpPr/>
          <p:nvPr/>
        </p:nvGrpSpPr>
        <p:grpSpPr>
          <a:xfrm>
            <a:off x="7232142" y="2197418"/>
            <a:ext cx="4388358" cy="3489007"/>
            <a:chOff x="7232142" y="2197418"/>
            <a:chExt cx="4388358" cy="3489007"/>
          </a:xfrm>
        </p:grpSpPr>
        <p:sp>
          <p:nvSpPr>
            <p:cNvPr id="18" name="TextBox 18"/>
            <p:cNvSpPr txBox="1"/>
            <p:nvPr/>
          </p:nvSpPr>
          <p:spPr>
            <a:xfrm>
              <a:off x="7232142" y="2197418"/>
              <a:ext cx="16291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5181C"/>
                  </a:solidFill>
                  <a:latin typeface="+mn-lt"/>
                  <a:ea typeface="+mn-ea"/>
                  <a:cs typeface="+mn-cs"/>
                </a:rPr>
                <a:t>工资与福利 · 第三章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7239000" y="2514600"/>
              <a:ext cx="4381500" cy="9525"/>
            </a:xfrm>
            <a:custGeom>
              <a:avLst/>
              <a:gdLst/>
              <a:ahLst/>
              <a:cxnLst/>
              <a:rect l="l" t="t" r="r" b="b"/>
              <a:pathLst>
                <a:path w="4381500" h="9525">
                  <a:moveTo>
                    <a:pt x="0" y="0"/>
                  </a:moveTo>
                  <a:lnTo>
                    <a:pt x="4381500" y="0"/>
                  </a:lnTo>
                </a:path>
              </a:pathLst>
            </a:custGeom>
            <a:noFill/>
            <a:ln w="19050">
              <a:solidFill>
                <a:srgbClr val="15181C"/>
              </a:solidFill>
            </a:ln>
          </p:spPr>
        </p:sp>
        <p:grpSp>
          <p:nvGrpSpPr>
            <p:cNvPr id="28" name="p05-pay-salary"/>
            <p:cNvGrpSpPr/>
            <p:nvPr/>
          </p:nvGrpSpPr>
          <p:grpSpPr>
            <a:xfrm>
              <a:off x="7239000" y="2720340"/>
              <a:ext cx="2319528" cy="579311"/>
              <a:chOff x="7239000" y="2720340"/>
              <a:chExt cx="2319528" cy="579311"/>
            </a:xfrm>
          </p:grpSpPr>
          <p:grpSp>
            <p:nvGrpSpPr>
              <p:cNvPr id="25" name="Group 25"/>
              <p:cNvGrpSpPr/>
              <p:nvPr/>
            </p:nvGrpSpPr>
            <p:grpSpPr>
              <a:xfrm>
                <a:off x="7239000" y="2786062"/>
                <a:ext cx="342900" cy="257176"/>
                <a:chOff x="7239000" y="2786062"/>
                <a:chExt cx="342900" cy="257176"/>
              </a:xfrm>
            </p:grpSpPr>
            <p:sp>
              <p:nvSpPr>
                <p:cNvPr id="20" name="Freeform 20"/>
                <p:cNvSpPr/>
                <p:nvPr/>
              </p:nvSpPr>
              <p:spPr>
                <a:xfrm>
                  <a:off x="7239000" y="2786062"/>
                  <a:ext cx="64294" cy="642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294" h="64294">
                      <a:moveTo>
                        <a:pt x="64294" y="0"/>
                      </a:moveTo>
                      <a:lnTo>
                        <a:pt x="0" y="0"/>
                      </a:lnTo>
                      <a:lnTo>
                        <a:pt x="0" y="64294"/>
                      </a:lnTo>
                      <a:cubicBezTo>
                        <a:pt x="35508" y="64294"/>
                        <a:pt x="64294" y="35508"/>
                        <a:pt x="64294" y="0"/>
                      </a:cubicBezTo>
                      <a:close/>
                    </a:path>
                  </a:pathLst>
                </a:custGeom>
                <a:solidFill>
                  <a:srgbClr val="15181C"/>
                </a:solidFill>
                <a:ln>
                  <a:noFill/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7239000" y="2786062"/>
                  <a:ext cx="342900" cy="257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900" h="257175">
                      <a:moveTo>
                        <a:pt x="107156" y="0"/>
                      </a:moveTo>
                      <a:cubicBezTo>
                        <a:pt x="107156" y="59181"/>
                        <a:pt x="59181" y="107156"/>
                        <a:pt x="0" y="107156"/>
                      </a:cubicBezTo>
                      <a:lnTo>
                        <a:pt x="0" y="150019"/>
                      </a:lnTo>
                      <a:cubicBezTo>
                        <a:pt x="59181" y="150019"/>
                        <a:pt x="107156" y="197995"/>
                        <a:pt x="107156" y="257175"/>
                      </a:cubicBezTo>
                      <a:lnTo>
                        <a:pt x="235744" y="257175"/>
                      </a:lnTo>
                      <a:cubicBezTo>
                        <a:pt x="235744" y="197995"/>
                        <a:pt x="283720" y="150019"/>
                        <a:pt x="342900" y="150019"/>
                      </a:cubicBezTo>
                      <a:lnTo>
                        <a:pt x="342900" y="107156"/>
                      </a:lnTo>
                      <a:cubicBezTo>
                        <a:pt x="283720" y="107156"/>
                        <a:pt x="235744" y="59181"/>
                        <a:pt x="235744" y="0"/>
                      </a:cubicBezTo>
                      <a:lnTo>
                        <a:pt x="107156" y="0"/>
                      </a:lnTo>
                      <a:close/>
                      <a:moveTo>
                        <a:pt x="171450" y="171450"/>
                      </a:moveTo>
                      <a:cubicBezTo>
                        <a:pt x="195122" y="171450"/>
                        <a:pt x="214312" y="152260"/>
                        <a:pt x="214312" y="128588"/>
                      </a:cubicBezTo>
                      <a:cubicBezTo>
                        <a:pt x="214312" y="104915"/>
                        <a:pt x="195122" y="85725"/>
                        <a:pt x="171450" y="85725"/>
                      </a:cubicBezTo>
                      <a:cubicBezTo>
                        <a:pt x="147778" y="85725"/>
                        <a:pt x="128588" y="104915"/>
                        <a:pt x="128588" y="128588"/>
                      </a:cubicBezTo>
                      <a:cubicBezTo>
                        <a:pt x="128588" y="152260"/>
                        <a:pt x="147778" y="171450"/>
                        <a:pt x="171450" y="171450"/>
                      </a:cubicBezTo>
                      <a:close/>
                    </a:path>
                  </a:pathLst>
                </a:custGeom>
                <a:solidFill>
                  <a:srgbClr val="15181C"/>
                </a:solidFill>
                <a:ln>
                  <a:noFill/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7517606" y="2786062"/>
                  <a:ext cx="64294" cy="642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294" h="64294">
                      <a:moveTo>
                        <a:pt x="64294" y="0"/>
                      </a:moveTo>
                      <a:lnTo>
                        <a:pt x="64294" y="64294"/>
                      </a:lnTo>
                      <a:cubicBezTo>
                        <a:pt x="28784" y="64294"/>
                        <a:pt x="0" y="35508"/>
                        <a:pt x="0" y="0"/>
                      </a:cubicBezTo>
                      <a:lnTo>
                        <a:pt x="64294" y="0"/>
                      </a:lnTo>
                      <a:close/>
                    </a:path>
                  </a:pathLst>
                </a:custGeom>
                <a:solidFill>
                  <a:srgbClr val="15181C"/>
                </a:solidFill>
                <a:ln>
                  <a:noFill/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7517606" y="2978944"/>
                  <a:ext cx="64294" cy="642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294" h="64294">
                      <a:moveTo>
                        <a:pt x="64294" y="64294"/>
                      </a:moveTo>
                      <a:lnTo>
                        <a:pt x="0" y="64294"/>
                      </a:lnTo>
                      <a:cubicBezTo>
                        <a:pt x="0" y="28784"/>
                        <a:pt x="28784" y="0"/>
                        <a:pt x="64294" y="0"/>
                      </a:cubicBezTo>
                      <a:lnTo>
                        <a:pt x="64294" y="64294"/>
                      </a:lnTo>
                      <a:close/>
                    </a:path>
                  </a:pathLst>
                </a:custGeom>
                <a:solidFill>
                  <a:srgbClr val="15181C"/>
                </a:solidFill>
                <a:ln>
                  <a:noFill/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7239000" y="2978944"/>
                  <a:ext cx="64294" cy="642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294" h="64294">
                      <a:moveTo>
                        <a:pt x="64294" y="64294"/>
                      </a:moveTo>
                      <a:cubicBezTo>
                        <a:pt x="64294" y="28784"/>
                        <a:pt x="35508" y="0"/>
                        <a:pt x="0" y="0"/>
                      </a:cubicBezTo>
                      <a:lnTo>
                        <a:pt x="0" y="64294"/>
                      </a:lnTo>
                      <a:lnTo>
                        <a:pt x="64294" y="64294"/>
                      </a:lnTo>
                      <a:close/>
                    </a:path>
                  </a:pathLst>
                </a:custGeom>
                <a:solidFill>
                  <a:srgbClr val="15181C"/>
                </a:solidFill>
                <a:ln>
                  <a:noFill/>
                </a:ln>
              </p:spPr>
            </p:sp>
          </p:grpSp>
          <p:sp>
            <p:nvSpPr>
              <p:cNvPr id="26" name="TextBox 26"/>
              <p:cNvSpPr txBox="1"/>
              <p:nvPr/>
            </p:nvSpPr>
            <p:spPr>
              <a:xfrm>
                <a:off x="7725156" y="2720340"/>
                <a:ext cx="171450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5181C"/>
                    </a:solidFill>
                    <a:latin typeface="+mn-lt"/>
                    <a:ea typeface="+mn-ea"/>
                    <a:cs typeface="+mn-cs"/>
                  </a:rPr>
                  <a:t>月薪分两次发放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727442" y="3035618"/>
                <a:ext cx="183108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6B7076"/>
                    </a:solidFill>
                    <a:latin typeface="+mn-lt"/>
                    <a:ea typeface="+mn-ea"/>
                    <a:cs typeface="+mn-cs"/>
                  </a:rPr>
                  <a:t>具体标准见手册第三章</a:t>
                </a:r>
              </a:p>
            </p:txBody>
          </p:sp>
        </p:grpSp>
        <p:sp>
          <p:nvSpPr>
            <p:cNvPr id="29" name="Line 29"/>
            <p:cNvSpPr/>
            <p:nvPr/>
          </p:nvSpPr>
          <p:spPr>
            <a:xfrm>
              <a:off x="7239000" y="3467100"/>
              <a:ext cx="4381500" cy="9525"/>
            </a:xfrm>
            <a:custGeom>
              <a:avLst/>
              <a:gdLst/>
              <a:ahLst/>
              <a:cxnLst/>
              <a:rect l="l" t="t" r="r" b="b"/>
              <a:pathLst>
                <a:path w="4381500" h="9525">
                  <a:moveTo>
                    <a:pt x="0" y="0"/>
                  </a:moveTo>
                  <a:lnTo>
                    <a:pt x="4381500" y="0"/>
                  </a:lnTo>
                </a:path>
              </a:pathLst>
            </a:custGeom>
            <a:noFill/>
            <a:ln w="9525">
              <a:solidFill>
                <a:srgbClr val="D9DAD6"/>
              </a:solidFill>
            </a:ln>
          </p:spPr>
        </p:sp>
        <p:grpSp>
          <p:nvGrpSpPr>
            <p:cNvPr id="33" name="p05-pay-insurance"/>
            <p:cNvGrpSpPr/>
            <p:nvPr/>
          </p:nvGrpSpPr>
          <p:grpSpPr>
            <a:xfrm>
              <a:off x="7239000" y="3672840"/>
              <a:ext cx="2864739" cy="579311"/>
              <a:chOff x="7239000" y="3672840"/>
              <a:chExt cx="2864739" cy="579311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7239000" y="3695700"/>
                <a:ext cx="342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342900">
                    <a:moveTo>
                      <a:pt x="171450" y="342900"/>
                    </a:moveTo>
                    <a:cubicBezTo>
                      <a:pt x="266140" y="342900"/>
                      <a:pt x="342900" y="266140"/>
                      <a:pt x="342900" y="171450"/>
                    </a:cubicBezTo>
                    <a:cubicBezTo>
                      <a:pt x="342900" y="76761"/>
                      <a:pt x="266140" y="0"/>
                      <a:pt x="171450" y="0"/>
                    </a:cubicBezTo>
                    <a:cubicBezTo>
                      <a:pt x="76761" y="0"/>
                      <a:pt x="0" y="76761"/>
                      <a:pt x="0" y="171450"/>
                    </a:cubicBezTo>
                    <a:cubicBezTo>
                      <a:pt x="0" y="266140"/>
                      <a:pt x="76761" y="342900"/>
                      <a:pt x="171450" y="342900"/>
                    </a:cubicBezTo>
                    <a:close/>
                    <a:moveTo>
                      <a:pt x="272329" y="122311"/>
                    </a:moveTo>
                    <a:lnTo>
                      <a:pt x="242021" y="92002"/>
                    </a:lnTo>
                    <a:lnTo>
                      <a:pt x="139303" y="194720"/>
                    </a:lnTo>
                    <a:lnTo>
                      <a:pt x="100879" y="156296"/>
                    </a:lnTo>
                    <a:lnTo>
                      <a:pt x="70571" y="186604"/>
                    </a:lnTo>
                    <a:lnTo>
                      <a:pt x="139303" y="255336"/>
                    </a:lnTo>
                    <a:lnTo>
                      <a:pt x="272329" y="122311"/>
                    </a:lnTo>
                    <a:close/>
                  </a:path>
                </a:pathLst>
              </a:custGeom>
              <a:solidFill>
                <a:srgbClr val="15181C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7725156" y="3672840"/>
                <a:ext cx="219913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5181C"/>
                    </a:solidFill>
                    <a:latin typeface="+mn-lt"/>
                    <a:ea typeface="+mn-ea"/>
                    <a:cs typeface="+mn-cs"/>
                  </a:rPr>
                  <a:t>五险一金按规定缴纳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7727442" y="3988118"/>
                <a:ext cx="237629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6B7076"/>
                    </a:solidFill>
                    <a:latin typeface="+mn-lt"/>
                    <a:ea typeface="+mn-ea"/>
                    <a:cs typeface="+mn-cs"/>
                  </a:rPr>
                  <a:t>公司按规定办理，不用自己跑</a:t>
                </a:r>
              </a:p>
            </p:txBody>
          </p:sp>
        </p:grpSp>
        <p:sp>
          <p:nvSpPr>
            <p:cNvPr id="34" name="Line 34"/>
            <p:cNvSpPr/>
            <p:nvPr/>
          </p:nvSpPr>
          <p:spPr>
            <a:xfrm>
              <a:off x="7239000" y="4419600"/>
              <a:ext cx="4381500" cy="9525"/>
            </a:xfrm>
            <a:custGeom>
              <a:avLst/>
              <a:gdLst/>
              <a:ahLst/>
              <a:cxnLst/>
              <a:rect l="l" t="t" r="r" b="b"/>
              <a:pathLst>
                <a:path w="4381500" h="9525">
                  <a:moveTo>
                    <a:pt x="0" y="0"/>
                  </a:moveTo>
                  <a:lnTo>
                    <a:pt x="4381500" y="0"/>
                  </a:lnTo>
                </a:path>
              </a:pathLst>
            </a:custGeom>
            <a:noFill/>
            <a:ln w="9525">
              <a:solidFill>
                <a:srgbClr val="D9DAD6"/>
              </a:solidFill>
            </a:ln>
          </p:spPr>
        </p:sp>
        <p:grpSp>
          <p:nvGrpSpPr>
            <p:cNvPr id="42" name="p05-pay-benefits"/>
            <p:cNvGrpSpPr/>
            <p:nvPr/>
          </p:nvGrpSpPr>
          <p:grpSpPr>
            <a:xfrm>
              <a:off x="7239000" y="4625340"/>
              <a:ext cx="2481019" cy="826961"/>
              <a:chOff x="7239000" y="4625340"/>
              <a:chExt cx="2481019" cy="826961"/>
            </a:xfrm>
          </p:grpSpPr>
          <p:grpSp>
            <p:nvGrpSpPr>
              <p:cNvPr id="38" name="Group 38"/>
              <p:cNvGrpSpPr/>
              <p:nvPr/>
            </p:nvGrpSpPr>
            <p:grpSpPr>
              <a:xfrm>
                <a:off x="7239000" y="4648200"/>
                <a:ext cx="342900" cy="321469"/>
                <a:chOff x="7239000" y="4648200"/>
                <a:chExt cx="342900" cy="321469"/>
              </a:xfrm>
            </p:grpSpPr>
            <p:sp>
              <p:nvSpPr>
                <p:cNvPr id="35" name="Freeform 35"/>
                <p:cNvSpPr/>
                <p:nvPr/>
              </p:nvSpPr>
              <p:spPr>
                <a:xfrm>
                  <a:off x="7239000" y="4648200"/>
                  <a:ext cx="342900" cy="128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900" h="128588">
                      <a:moveTo>
                        <a:pt x="64294" y="64294"/>
                      </a:moveTo>
                      <a:lnTo>
                        <a:pt x="64294" y="0"/>
                      </a:lnTo>
                      <a:lnTo>
                        <a:pt x="107156" y="0"/>
                      </a:lnTo>
                      <a:cubicBezTo>
                        <a:pt x="142665" y="0"/>
                        <a:pt x="171450" y="28785"/>
                        <a:pt x="171450" y="64294"/>
                      </a:cubicBezTo>
                      <a:cubicBezTo>
                        <a:pt x="171450" y="28785"/>
                        <a:pt x="200235" y="0"/>
                        <a:pt x="235744" y="0"/>
                      </a:cubicBezTo>
                      <a:lnTo>
                        <a:pt x="278606" y="0"/>
                      </a:lnTo>
                      <a:lnTo>
                        <a:pt x="278606" y="64294"/>
                      </a:lnTo>
                      <a:lnTo>
                        <a:pt x="342900" y="64294"/>
                      </a:lnTo>
                      <a:lnTo>
                        <a:pt x="342900" y="128588"/>
                      </a:lnTo>
                      <a:lnTo>
                        <a:pt x="0" y="128588"/>
                      </a:lnTo>
                      <a:lnTo>
                        <a:pt x="0" y="64294"/>
                      </a:lnTo>
                      <a:lnTo>
                        <a:pt x="64294" y="64294"/>
                      </a:lnTo>
                      <a:close/>
                    </a:path>
                  </a:pathLst>
                </a:custGeom>
                <a:solidFill>
                  <a:srgbClr val="15181C"/>
                </a:solidFill>
                <a:ln>
                  <a:noFill/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7260431" y="4819650"/>
                  <a:ext cx="128588" cy="1500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588" h="150019">
                      <a:moveTo>
                        <a:pt x="0" y="0"/>
                      </a:moveTo>
                      <a:lnTo>
                        <a:pt x="128588" y="0"/>
                      </a:lnTo>
                      <a:lnTo>
                        <a:pt x="128588" y="150019"/>
                      </a:lnTo>
                      <a:lnTo>
                        <a:pt x="0" y="15001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5181C"/>
                </a:solidFill>
                <a:ln>
                  <a:noFill/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7431881" y="4819650"/>
                  <a:ext cx="128588" cy="1500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588" h="150019">
                      <a:moveTo>
                        <a:pt x="128588" y="0"/>
                      </a:moveTo>
                      <a:lnTo>
                        <a:pt x="0" y="0"/>
                      </a:lnTo>
                      <a:lnTo>
                        <a:pt x="0" y="150019"/>
                      </a:lnTo>
                      <a:lnTo>
                        <a:pt x="128588" y="150019"/>
                      </a:lnTo>
                      <a:lnTo>
                        <a:pt x="128588" y="0"/>
                      </a:lnTo>
                      <a:close/>
                    </a:path>
                  </a:pathLst>
                </a:custGeom>
                <a:solidFill>
                  <a:srgbClr val="15181C"/>
                </a:solidFill>
                <a:ln>
                  <a:noFill/>
                </a:ln>
              </p:spPr>
            </p:sp>
          </p:grpSp>
          <p:sp>
            <p:nvSpPr>
              <p:cNvPr id="39" name="TextBox 39"/>
              <p:cNvSpPr txBox="1"/>
              <p:nvPr/>
            </p:nvSpPr>
            <p:spPr>
              <a:xfrm>
                <a:off x="7725156" y="4625340"/>
                <a:ext cx="147218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5181C"/>
                    </a:solidFill>
                    <a:latin typeface="+mn-lt"/>
                    <a:ea typeface="+mn-ea"/>
                    <a:cs typeface="+mn-cs"/>
                  </a:rPr>
                  <a:t>还有这些福利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7727442" y="4940618"/>
                <a:ext cx="199257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6B7076"/>
                    </a:solidFill>
                    <a:latin typeface="+mn-lt"/>
                    <a:ea typeface="+mn-ea"/>
                    <a:cs typeface="+mn-cs"/>
                  </a:rPr>
                  <a:t>带薪年假 · 补充医疗保险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7727442" y="5188268"/>
                <a:ext cx="162910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6B7076"/>
                    </a:solidFill>
                    <a:latin typeface="+mn-lt"/>
                    <a:ea typeface="+mn-ea"/>
                    <a:cs typeface="+mn-cs"/>
                  </a:rPr>
                  <a:t>节日福利 · 年度体检</a:t>
                </a:r>
              </a:p>
            </p:txBody>
          </p:sp>
        </p:grpSp>
        <p:sp>
          <p:nvSpPr>
            <p:cNvPr id="43" name="Line 43"/>
            <p:cNvSpPr/>
            <p:nvPr/>
          </p:nvSpPr>
          <p:spPr>
            <a:xfrm>
              <a:off x="7239000" y="5676900"/>
              <a:ext cx="4381500" cy="9525"/>
            </a:xfrm>
            <a:custGeom>
              <a:avLst/>
              <a:gdLst/>
              <a:ahLst/>
              <a:cxnLst/>
              <a:rect l="l" t="t" r="r" b="b"/>
              <a:pathLst>
                <a:path w="4381500" h="9525">
                  <a:moveTo>
                    <a:pt x="0" y="0"/>
                  </a:moveTo>
                  <a:lnTo>
                    <a:pt x="4381500" y="0"/>
                  </a:lnTo>
                </a:path>
              </a:pathLst>
            </a:custGeom>
            <a:noFill/>
            <a:ln w="19050">
              <a:solidFill>
                <a:srgbClr val="15181C"/>
              </a:solidFill>
            </a:ln>
          </p:spPr>
        </p:sp>
      </p:grpSp>
      <p:grpSp>
        <p:nvGrpSpPr>
          <p:cNvPr id="49" name="p05-footer"/>
          <p:cNvGrpSpPr/>
          <p:nvPr/>
        </p:nvGrpSpPr>
        <p:grpSpPr>
          <a:xfrm>
            <a:off x="565785" y="6134100"/>
            <a:ext cx="11060430" cy="327184"/>
            <a:chOff x="565785" y="6134100"/>
            <a:chExt cx="11060430" cy="327184"/>
          </a:xfrm>
        </p:grpSpPr>
        <p:sp>
          <p:nvSpPr>
            <p:cNvPr id="45" name="Line 45"/>
            <p:cNvSpPr/>
            <p:nvPr/>
          </p:nvSpPr>
          <p:spPr>
            <a:xfrm>
              <a:off x="571500" y="61341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9DAD6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65785" y="6241256"/>
              <a:ext cx="18039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B7076"/>
                  </a:solidFill>
                  <a:latin typeface="+mn-lt"/>
                  <a:ea typeface="+mn-ea"/>
                  <a:cs typeface="+mn-cs"/>
                </a:rPr>
                <a:t>员工手册速查 · 第一天必知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976273" y="6241256"/>
              <a:ext cx="22394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6B7076"/>
                  </a:solidFill>
                  <a:latin typeface="+mn-lt"/>
                  <a:ea typeface="+mn-ea"/>
                  <a:cs typeface="+mn-cs"/>
                </a:rPr>
                <a:t>来源：手册第三章 · 第四章 · 附录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153687" y="6241256"/>
              <a:ext cx="472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6B7076"/>
                  </a:solidFill>
                  <a:latin typeface="+mn-lt"/>
                  <a:ea typeface="+mn-ea"/>
                  <a:cs typeface="+mn-cs"/>
                </a:rPr>
                <a:t>05 / 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p06-header"/>
          <p:cNvGrpSpPr/>
          <p:nvPr/>
        </p:nvGrpSpPr>
        <p:grpSpPr>
          <a:xfrm>
            <a:off x="556260" y="654368"/>
            <a:ext cx="11071098" cy="1206055"/>
            <a:chOff x="556260" y="654368"/>
            <a:chExt cx="11071098" cy="1206055"/>
          </a:xfrm>
        </p:grpSpPr>
        <p:sp>
          <p:nvSpPr>
            <p:cNvPr id="2" name="TextBox 2"/>
            <p:cNvSpPr txBox="1"/>
            <p:nvPr/>
          </p:nvSpPr>
          <p:spPr>
            <a:xfrm>
              <a:off x="564642" y="654368"/>
              <a:ext cx="20620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150" dirty="0">
                  <a:solidFill>
                    <a:srgbClr val="E2483A"/>
                  </a:solidFill>
                  <a:latin typeface="+mn-lt"/>
                  <a:ea typeface="+mn-ea"/>
                  <a:cs typeface="+mn-cs"/>
                </a:rPr>
                <a:t>HANDBOOK INDEX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0886694" y="6543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6B7076"/>
                  </a:solidFill>
                  <a:latin typeface="+mn-lt"/>
                  <a:ea typeface="+mn-ea"/>
                  <a:cs typeface="+mn-cs"/>
                </a:rPr>
                <a:t>其余章节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6260" y="952500"/>
              <a:ext cx="406908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5181C"/>
                  </a:solidFill>
                  <a:latin typeface="+mj-lt"/>
                  <a:ea typeface="+mj-ea"/>
                  <a:cs typeface="+mj-cs"/>
                </a:rPr>
                <a:t>其他章节，一句话指路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0832" y="1449705"/>
              <a:ext cx="510997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6B7076"/>
                  </a:solidFill>
                  <a:latin typeface="+mn-lt"/>
                  <a:ea typeface="+mn-ea"/>
                  <a:cs typeface="+mn-cs"/>
                </a:rPr>
                <a:t>现在不用读，需要时按这个索引去翻手册</a:t>
              </a:r>
            </a:p>
          </p:txBody>
        </p:sp>
      </p:grpSp>
      <p:graphicFrame>
        <p:nvGraphicFramePr>
          <p:cNvPr id="7" name="chapter-index"/>
          <p:cNvGraphicFramePr>
            <a:graphicFrameLocks noGrp="1"/>
          </p:cNvGraphicFramePr>
          <p:nvPr/>
        </p:nvGraphicFramePr>
        <p:xfrm>
          <a:off x="571500" y="2057400"/>
          <a:ext cx="11049000" cy="356235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476500"/>
                <a:gridCol w="5334000"/>
                <a:gridCol w="3238500"/>
              </a:tblGrid>
              <a:tr h="476250">
                <a:tc>
                  <a:txBody>
                    <a:bodyPr/>
                    <a:lstStyle/>
                    <a:p>
                      <a:pPr/>
                      <a:r>
                        <a:rPr lang="zh-CN"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章节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81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一句话指路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81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什么时候翻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81C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/>
                      <a:r>
                        <a:rPr lang="zh-CN" sz="1350" b="1">
                          <a:solidFill>
                            <a:srgbClr val="15181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第一章 公司简介与文化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DA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rgbClr val="15181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2010 年成立，使命、愿景、价值观与文化口号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DA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rgbClr val="6B70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入职培训前扫一眼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DA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/>
                      <a:r>
                        <a:rPr lang="zh-CN" sz="1350" b="1">
                          <a:solidFill>
                            <a:srgbClr val="15181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第三章 薪酬福利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DA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rgbClr val="15181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五险一金、带薪年假、补充医疗、节日福利、年度体检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DA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rgbClr val="6B70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想确认具体标准时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DA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/>
                      <a:r>
                        <a:rPr lang="zh-CN" sz="1350" b="1">
                          <a:solidFill>
                            <a:srgbClr val="15181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第五章 行为规范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DA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rgbClr val="15181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着装得体、保守商业秘密、不谋私利、拒绝骚扰与歧视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DA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rgbClr val="6B70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第一天就该知道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DA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/>
                      <a:r>
                        <a:rPr lang="zh-CN" sz="1350" b="1">
                          <a:solidFill>
                            <a:srgbClr val="15181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第六章 培训与发展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DA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rgbClr val="15181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两周内完成线上培训，每年有学时，晋升分管理与专业双线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DA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rgbClr val="6B70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排培训、想晋升时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DA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/>
                      <a:r>
                        <a:rPr lang="zh-CN" sz="1350" b="1">
                          <a:solidFill>
                            <a:srgbClr val="15181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第七章 离职管理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DA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rgbClr val="15181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提前 30 天书面提出，办交接、还资产、做离职面谈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DA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rgbClr val="6B70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以后用得上，先知道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DA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/>
                      <a:r>
                        <a:rPr lang="zh-CN" sz="1350" b="1">
                          <a:solidFill>
                            <a:srgbClr val="15181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附录 表单与流程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5181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rgbClr val="15181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各类申请表单与办事流程索引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5181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rgbClr val="6B70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不知道去哪办时先查这里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5181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9" name="p06-note"/>
          <p:cNvGrpSpPr/>
          <p:nvPr/>
        </p:nvGrpSpPr>
        <p:grpSpPr>
          <a:xfrm>
            <a:off x="564642" y="5759768"/>
            <a:ext cx="5945093" cy="264033"/>
            <a:chOff x="564642" y="5759768"/>
            <a:chExt cx="5945093" cy="264033"/>
          </a:xfrm>
        </p:grpSpPr>
        <p:sp>
          <p:nvSpPr>
            <p:cNvPr id="8" name="TextBox 8"/>
            <p:cNvSpPr txBox="1"/>
            <p:nvPr/>
          </p:nvSpPr>
          <p:spPr>
            <a:xfrm>
              <a:off x="564642" y="5759768"/>
              <a:ext cx="59450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B7076"/>
                  </a:solidFill>
                  <a:latin typeface="+mn-lt"/>
                  <a:ea typeface="+mn-ea"/>
                  <a:cs typeface="+mn-cs"/>
                </a:rPr>
                <a:t>第二章 考勤、第四章 IT 与办公、第三章 报销与工资 → 已在前面几页讲完</a:t>
              </a:r>
            </a:p>
          </p:txBody>
        </p:sp>
      </p:grpSp>
      <p:grpSp>
        <p:nvGrpSpPr>
          <p:cNvPr id="14" name="p06-footer"/>
          <p:cNvGrpSpPr/>
          <p:nvPr/>
        </p:nvGrpSpPr>
        <p:grpSpPr>
          <a:xfrm>
            <a:off x="565785" y="6134100"/>
            <a:ext cx="11060430" cy="327184"/>
            <a:chOff x="565785" y="6134100"/>
            <a:chExt cx="11060430" cy="327184"/>
          </a:xfrm>
        </p:grpSpPr>
        <p:sp>
          <p:nvSpPr>
            <p:cNvPr id="10" name="Line 10"/>
            <p:cNvSpPr/>
            <p:nvPr/>
          </p:nvSpPr>
          <p:spPr>
            <a:xfrm>
              <a:off x="571500" y="61341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9DAD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65785" y="6241256"/>
              <a:ext cx="18039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B7076"/>
                  </a:solidFill>
                  <a:latin typeface="+mn-lt"/>
                  <a:ea typeface="+mn-ea"/>
                  <a:cs typeface="+mn-cs"/>
                </a:rPr>
                <a:t>员工手册速查 · 第一天必知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666326" y="6241256"/>
              <a:ext cx="28593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6B7076"/>
                  </a:solidFill>
                  <a:latin typeface="+mn-lt"/>
                  <a:ea typeface="+mn-ea"/>
                  <a:cs typeface="+mn-cs"/>
                </a:rPr>
                <a:t>来源：手册第一、三、五、六、七章 · 附录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153687" y="6241256"/>
              <a:ext cx="472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6B7076"/>
                  </a:solidFill>
                  <a:latin typeface="+mn-lt"/>
                  <a:ea typeface="+mn-ea"/>
                  <a:cs typeface="+mn-cs"/>
                </a:rPr>
                <a:t>06 / 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7-band"/>
          <p:cNvSpPr/>
          <p:nvPr/>
        </p:nvSpPr>
        <p:spPr>
          <a:xfrm>
            <a:off x="0" y="4533900"/>
            <a:ext cx="12192000" cy="2324100"/>
          </a:xfrm>
          <a:prstGeom prst="rect">
            <a:avLst/>
          </a:prstGeom>
          <a:solidFill>
            <a:srgbClr val="15181C"/>
          </a:solidFill>
          <a:ln>
            <a:noFill/>
          </a:ln>
        </p:spPr>
      </p:sp>
      <p:grpSp>
        <p:nvGrpSpPr>
          <p:cNvPr id="7" name="p07-header"/>
          <p:cNvGrpSpPr/>
          <p:nvPr/>
        </p:nvGrpSpPr>
        <p:grpSpPr>
          <a:xfrm>
            <a:off x="556260" y="654368"/>
            <a:ext cx="11071098" cy="1206055"/>
            <a:chOff x="556260" y="654368"/>
            <a:chExt cx="11071098" cy="1206055"/>
          </a:xfrm>
        </p:grpSpPr>
        <p:sp>
          <p:nvSpPr>
            <p:cNvPr id="3" name="TextBox 3"/>
            <p:cNvSpPr txBox="1"/>
            <p:nvPr/>
          </p:nvSpPr>
          <p:spPr>
            <a:xfrm>
              <a:off x="564642" y="654368"/>
              <a:ext cx="1870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150" dirty="0">
                  <a:solidFill>
                    <a:srgbClr val="E2483A"/>
                  </a:solidFill>
                  <a:latin typeface="+mn-lt"/>
                  <a:ea typeface="+mn-ea"/>
                  <a:cs typeface="+mn-cs"/>
                </a:rPr>
                <a:t>RECAP · WEEK 1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068431" y="6543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6B7076"/>
                  </a:solidFill>
                  <a:latin typeface="+mn-lt"/>
                  <a:ea typeface="+mn-ea"/>
                  <a:cs typeface="+mn-cs"/>
                </a:rPr>
                <a:t>第一周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56260" y="952500"/>
              <a:ext cx="52806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5181C"/>
                  </a:solidFill>
                  <a:latin typeface="+mj-lt"/>
                  <a:ea typeface="+mj-ea"/>
                  <a:cs typeface="+mj-cs"/>
                </a:rPr>
                <a:t>第一周，记住这三件事就够了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60832" y="1449705"/>
              <a:ext cx="426186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6B7076"/>
                  </a:solidFill>
                  <a:latin typeface="+mn-lt"/>
                  <a:ea typeface="+mn-ea"/>
                  <a:cs typeface="+mn-cs"/>
                </a:rPr>
                <a:t>其余章节按索引去翻，不用现在读</a:t>
              </a:r>
            </a:p>
          </p:txBody>
        </p:sp>
      </p:grpSp>
      <p:grpSp>
        <p:nvGrpSpPr>
          <p:cNvPr id="26" name="p07-recap"/>
          <p:cNvGrpSpPr/>
          <p:nvPr/>
        </p:nvGrpSpPr>
        <p:grpSpPr>
          <a:xfrm>
            <a:off x="552450" y="2274570"/>
            <a:ext cx="11068050" cy="1901381"/>
            <a:chOff x="552450" y="2274570"/>
            <a:chExt cx="11068050" cy="1901381"/>
          </a:xfrm>
        </p:grpSpPr>
        <p:grpSp>
          <p:nvGrpSpPr>
            <p:cNvPr id="13" name="p07-recap-attendance"/>
            <p:cNvGrpSpPr/>
            <p:nvPr/>
          </p:nvGrpSpPr>
          <p:grpSpPr>
            <a:xfrm>
              <a:off x="552450" y="2274570"/>
              <a:ext cx="3448050" cy="1901381"/>
              <a:chOff x="552450" y="2274570"/>
              <a:chExt cx="3448050" cy="1901381"/>
            </a:xfrm>
          </p:grpSpPr>
          <p:sp>
            <p:nvSpPr>
              <p:cNvPr id="8" name="TextBox 8"/>
              <p:cNvSpPr txBox="1"/>
              <p:nvPr/>
            </p:nvSpPr>
            <p:spPr>
              <a:xfrm>
                <a:off x="552450" y="2274570"/>
                <a:ext cx="846757" cy="1047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5400" b="1" dirty="0">
                    <a:solidFill>
                      <a:srgbClr val="15181C"/>
                    </a:solidFill>
                    <a:latin typeface="+mn-lt"/>
                    <a:ea typeface="+mn-ea"/>
                    <a:cs typeface="+mn-cs"/>
                  </a:rPr>
                  <a:t>01</a:t>
                </a:r>
              </a:p>
            </p:txBody>
          </p:sp>
          <p:sp>
            <p:nvSpPr>
              <p:cNvPr id="9" name="Line 9"/>
              <p:cNvSpPr/>
              <p:nvPr/>
            </p:nvSpPr>
            <p:spPr>
              <a:xfrm>
                <a:off x="571500" y="3048000"/>
                <a:ext cx="3429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429000" h="9525">
                    <a:moveTo>
                      <a:pt x="0" y="0"/>
                    </a:moveTo>
                    <a:lnTo>
                      <a:pt x="3429000" y="0"/>
                    </a:lnTo>
                  </a:path>
                </a:pathLst>
              </a:custGeom>
              <a:noFill/>
              <a:ln w="19050">
                <a:solidFill>
                  <a:srgbClr val="15181C"/>
                </a:solidFill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560832" y="3259455"/>
                <a:ext cx="2314558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15181C"/>
                    </a:solidFill>
                    <a:latin typeface="+mn-lt"/>
                    <a:ea typeface="+mn-ea"/>
                    <a:cs typeface="+mn-cs"/>
                  </a:rPr>
                  <a:t>考勤：弹性 8 小时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564642" y="3664268"/>
                <a:ext cx="221582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6B7076"/>
                    </a:solidFill>
                    <a:latin typeface="+mn-lt"/>
                    <a:ea typeface="+mn-ea"/>
                    <a:cs typeface="+mn-cs"/>
                  </a:rPr>
                  <a:t>核心时间 10:00–16:00 在岗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564642" y="3911918"/>
                <a:ext cx="167000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6B7076"/>
                    </a:solidFill>
                    <a:latin typeface="+mn-lt"/>
                    <a:ea typeface="+mn-ea"/>
                    <a:cs typeface="+mn-cs"/>
                  </a:rPr>
                  <a:t>请假在 OA 提前申请</a:t>
                </a:r>
              </a:p>
            </p:txBody>
          </p:sp>
        </p:grpSp>
        <p:grpSp>
          <p:nvGrpSpPr>
            <p:cNvPr id="19" name="p07-recap-account"/>
            <p:cNvGrpSpPr/>
            <p:nvPr/>
          </p:nvGrpSpPr>
          <p:grpSpPr>
            <a:xfrm>
              <a:off x="4362450" y="2274570"/>
              <a:ext cx="3448050" cy="1901381"/>
              <a:chOff x="4362450" y="2274570"/>
              <a:chExt cx="3448050" cy="1901381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4362450" y="2274570"/>
                <a:ext cx="846757" cy="1047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5400" b="1" dirty="0">
                    <a:solidFill>
                      <a:srgbClr val="15181C"/>
                    </a:solidFill>
                    <a:latin typeface="+mn-lt"/>
                    <a:ea typeface="+mn-ea"/>
                    <a:cs typeface="+mn-cs"/>
                  </a:rPr>
                  <a:t>02</a:t>
                </a:r>
              </a:p>
            </p:txBody>
          </p:sp>
          <p:sp>
            <p:nvSpPr>
              <p:cNvPr id="15" name="Line 15"/>
              <p:cNvSpPr/>
              <p:nvPr/>
            </p:nvSpPr>
            <p:spPr>
              <a:xfrm>
                <a:off x="4381500" y="3048000"/>
                <a:ext cx="3429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429000" h="9525">
                    <a:moveTo>
                      <a:pt x="0" y="0"/>
                    </a:moveTo>
                    <a:lnTo>
                      <a:pt x="3429000" y="0"/>
                    </a:lnTo>
                  </a:path>
                </a:pathLst>
              </a:custGeom>
              <a:noFill/>
              <a:ln w="19050">
                <a:solidFill>
                  <a:srgbClr val="15181C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4370832" y="3259455"/>
                <a:ext cx="2431638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15181C"/>
                    </a:solidFill>
                    <a:latin typeface="+mn-lt"/>
                    <a:ea typeface="+mn-ea"/>
                    <a:cs typeface="+mn-cs"/>
                  </a:rPr>
                  <a:t>账号：当天 IT 开通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374642" y="3664268"/>
                <a:ext cx="164934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6B7076"/>
                    </a:solidFill>
                    <a:latin typeface="+mn-lt"/>
                    <a:ea typeface="+mn-ea"/>
                    <a:cs typeface="+mn-cs"/>
                  </a:rPr>
                  <a:t>邮箱和办公系统账号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374642" y="3911918"/>
                <a:ext cx="183108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6B7076"/>
                    </a:solidFill>
                    <a:latin typeface="+mn-lt"/>
                    <a:ea typeface="+mn-ea"/>
                    <a:cs typeface="+mn-cs"/>
                  </a:rPr>
                  <a:t>必装公司统一安全软件</a:t>
                </a:r>
              </a:p>
            </p:txBody>
          </p:sp>
        </p:grpSp>
        <p:grpSp>
          <p:nvGrpSpPr>
            <p:cNvPr id="25" name="p07-recap-expense"/>
            <p:cNvGrpSpPr/>
            <p:nvPr/>
          </p:nvGrpSpPr>
          <p:grpSpPr>
            <a:xfrm>
              <a:off x="8172450" y="2274570"/>
              <a:ext cx="3448050" cy="1901381"/>
              <a:chOff x="8172450" y="2274570"/>
              <a:chExt cx="3448050" cy="1901381"/>
            </a:xfrm>
          </p:grpSpPr>
          <p:sp>
            <p:nvSpPr>
              <p:cNvPr id="20" name="TextBox 20"/>
              <p:cNvSpPr txBox="1"/>
              <p:nvPr/>
            </p:nvSpPr>
            <p:spPr>
              <a:xfrm>
                <a:off x="8172450" y="2274570"/>
                <a:ext cx="846757" cy="1047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5400" b="1" dirty="0">
                    <a:solidFill>
                      <a:srgbClr val="15181C"/>
                    </a:solidFill>
                    <a:latin typeface="+mn-lt"/>
                    <a:ea typeface="+mn-ea"/>
                    <a:cs typeface="+mn-cs"/>
                  </a:rPr>
                  <a:t>03</a:t>
                </a:r>
              </a:p>
            </p:txBody>
          </p:sp>
          <p:sp>
            <p:nvSpPr>
              <p:cNvPr id="21" name="Line 21"/>
              <p:cNvSpPr/>
              <p:nvPr/>
            </p:nvSpPr>
            <p:spPr>
              <a:xfrm>
                <a:off x="8191500" y="3048000"/>
                <a:ext cx="3429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429000" h="9525">
                    <a:moveTo>
                      <a:pt x="0" y="0"/>
                    </a:moveTo>
                    <a:lnTo>
                      <a:pt x="3429000" y="0"/>
                    </a:lnTo>
                  </a:path>
                </a:pathLst>
              </a:custGeom>
              <a:noFill/>
              <a:ln w="19050">
                <a:solidFill>
                  <a:srgbClr val="15181C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8180832" y="3259455"/>
                <a:ext cx="256565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15181C"/>
                    </a:solidFill>
                    <a:latin typeface="+mn-lt"/>
                    <a:ea typeface="+mn-ea"/>
                    <a:cs typeface="+mn-cs"/>
                  </a:rPr>
                  <a:t>报销：财务系统提交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8184642" y="3664268"/>
                <a:ext cx="164934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6B7076"/>
                    </a:solidFill>
                    <a:latin typeface="+mn-lt"/>
                    <a:ea typeface="+mn-ea"/>
                    <a:cs typeface="+mn-cs"/>
                  </a:rPr>
                  <a:t>申请表单和流程索引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8184642" y="3911918"/>
                <a:ext cx="128587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6B7076"/>
                    </a:solidFill>
                    <a:latin typeface="+mn-lt"/>
                    <a:ea typeface="+mn-ea"/>
                    <a:cs typeface="+mn-cs"/>
                  </a:rPr>
                  <a:t>都在手册附录里</a:t>
                </a:r>
              </a:p>
            </p:txBody>
          </p:sp>
        </p:grpSp>
      </p:grpSp>
      <p:grpSp>
        <p:nvGrpSpPr>
          <p:cNvPr id="30" name="p07-closing"/>
          <p:cNvGrpSpPr/>
          <p:nvPr/>
        </p:nvGrpSpPr>
        <p:grpSpPr>
          <a:xfrm>
            <a:off x="556260" y="4876800"/>
            <a:ext cx="6594007" cy="1319784"/>
            <a:chOff x="556260" y="4876800"/>
            <a:chExt cx="6594007" cy="1319784"/>
          </a:xfrm>
        </p:grpSpPr>
        <p:sp>
          <p:nvSpPr>
            <p:cNvPr id="27" name="Rectangle 27"/>
            <p:cNvSpPr/>
            <p:nvPr/>
          </p:nvSpPr>
          <p:spPr>
            <a:xfrm>
              <a:off x="571500" y="4876800"/>
              <a:ext cx="914400" cy="76200"/>
            </a:xfrm>
            <a:prstGeom prst="rect">
              <a:avLst/>
            </a:prstGeom>
            <a:solidFill>
              <a:srgbClr val="E2483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56260" y="5276850"/>
              <a:ext cx="406908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其他章节，不用现在读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62356" y="5844540"/>
              <a:ext cx="65879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>
                      <a:alphaMod val="70000"/>
                    </a:srgbClr>
                  </a:solidFill>
                  <a:latin typeface="+mn-lt"/>
                  <a:ea typeface="+mn-ea"/>
                  <a:cs typeface="+mn-cs"/>
                </a:rPr>
                <a:t>需要时按第 6 页的索引去翻；不知道去哪办，先查手册附录。</a:t>
              </a:r>
            </a:p>
          </p:txBody>
        </p:sp>
      </p:grpSp>
      <p:grpSp>
        <p:nvGrpSpPr>
          <p:cNvPr id="33" name="p07-footer"/>
          <p:cNvGrpSpPr/>
          <p:nvPr/>
        </p:nvGrpSpPr>
        <p:grpSpPr>
          <a:xfrm>
            <a:off x="565785" y="6355556"/>
            <a:ext cx="11060430" cy="220028"/>
            <a:chOff x="565785" y="6355556"/>
            <a:chExt cx="11060430" cy="220028"/>
          </a:xfrm>
        </p:grpSpPr>
        <p:sp>
          <p:nvSpPr>
            <p:cNvPr id="31" name="TextBox 31"/>
            <p:cNvSpPr txBox="1"/>
            <p:nvPr/>
          </p:nvSpPr>
          <p:spPr>
            <a:xfrm>
              <a:off x="565785" y="6355556"/>
              <a:ext cx="18039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FFFF">
                      <a:alphaMod val="50000"/>
                    </a:srgbClr>
                  </a:solidFill>
                  <a:latin typeface="+mn-lt"/>
                  <a:ea typeface="+mn-ea"/>
                  <a:cs typeface="+mn-cs"/>
                </a:rPr>
                <a:t>员工手册速查 · 第一天必知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153687" y="6355556"/>
              <a:ext cx="472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FFFFFF">
                      <a:alphaMod val="50000"/>
                    </a:srgbClr>
                  </a:solidFill>
                  <a:latin typeface="+mn-lt"/>
                  <a:ea typeface="+mn-ea"/>
                  <a:cs typeface="+mn-cs"/>
                </a:rPr>
                <a:t>07 / 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day1_must_know">
  <a:themeElements>
    <a:clrScheme name="day1_must_know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ay1_must_know">
      <a:majorFont>
        <a:latin typeface="Arial"/>
        <a:ea typeface="SimHei"/>
        <a:cs typeface="Arial"/>
        <a:font script="Jpan" typeface="SimHei"/>
        <a:font script="Hang" typeface="SimHei"/>
        <a:font script="Hans" typeface="SimHei"/>
        <a:font script="Hant" typeface="Sim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y1_must_know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day1_must_know">
  <a:themeElements>
    <a:clrScheme name="day1_must_know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ay1_must_know">
      <a:majorFont>
        <a:latin typeface="Arial"/>
        <a:ea typeface="SimHei"/>
        <a:cs typeface="Arial"/>
        <a:font script="Jpan" typeface="SimHei"/>
        <a:font script="Hang" typeface="SimHei"/>
        <a:font script="Hans" typeface="SimHei"/>
        <a:font script="Hant" typeface="Sim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y1_must_know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2026-09-22T18:27:18Z</dcterms:created>
  <dcterms:modified xsi:type="dcterms:W3CDTF">2026-09-22T18:27:18Z</dcterms:modified>
  <cp:category/>
  <cp:contentStatus/>
</cp:coreProperties>
</file>