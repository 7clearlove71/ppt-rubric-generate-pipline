
<file path=[Content_Types].xml><?xml version="1.0" encoding="utf-8"?>
<Types xmlns="http://schemas.openxmlformats.org/package/2006/content-types">
  <Default Extension="ttf" ContentType="application/x-font-ttf"/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WenJin Mincho Plane 0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857250" y="1753009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857250" y="4145161"/>
            <a:ext cx="300038" cy="3000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" name="Text 3"/>
          <p:cNvSpPr/>
          <p:nvPr/>
        </p:nvSpPr>
        <p:spPr>
          <a:xfrm>
            <a:off x="857250" y="685800"/>
            <a:ext cx="7429500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非遗保护与乡村振兴产业扶持项目申报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857250" y="1037239"/>
            <a:ext cx="7429500" cy="500063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非遗竹编工坊产业 扶持项目评审汇报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57250" y="1953034"/>
            <a:ext cx="7429500" cy="235744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六代匠心传薪火，竹编产业富乡邻 —— 项目背景 · 文化价值 · 带动模式 · 三年规划 · 资金计划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72536" y="4132659"/>
            <a:ext cx="2064544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项目申报单位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72536" y="4316611"/>
            <a:ext cx="2064544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汇报对象：县文旅局 · 县乡村振兴办 ｜ 2026年9月</a:t>
            </a:r>
            <a:endParaRPr lang="en-US" sz="700" dirty="0"/>
          </a:p>
        </p:txBody>
      </p:sp>
      <p:sp>
        <p:nvSpPr>
          <p:cNvPr id="65535" name="wm:hwcld:2026-09-23T06:43:07:6d421be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8608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4313" y="990079"/>
            <a:ext cx="2093119" cy="728663"/>
          </a:xfrm>
          <a:prstGeom prst="roundRect">
            <a:avLst>
              <a:gd name="adj" fmla="val 9842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21731" y="990079"/>
            <a:ext cx="2093119" cy="728663"/>
          </a:xfrm>
          <a:prstGeom prst="roundRect">
            <a:avLst>
              <a:gd name="adj" fmla="val 9842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29150" y="990079"/>
            <a:ext cx="2093119" cy="728663"/>
          </a:xfrm>
          <a:prstGeom prst="roundRect">
            <a:avLst>
              <a:gd name="adj" fmla="val 9842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36569" y="990079"/>
            <a:ext cx="2093119" cy="728663"/>
          </a:xfrm>
          <a:prstGeom prst="roundRect">
            <a:avLst>
              <a:gd name="adj" fmla="val 9842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313" y="1834828"/>
            <a:ext cx="2828925" cy="2235994"/>
          </a:xfrm>
          <a:prstGeom prst="roundRect">
            <a:avLst>
              <a:gd name="adj" fmla="val 1045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7538" y="1834828"/>
            <a:ext cx="2828925" cy="2235994"/>
          </a:xfrm>
          <a:prstGeom prst="roundRect">
            <a:avLst>
              <a:gd name="adj" fmla="val 1045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00763" y="1834828"/>
            <a:ext cx="2828925" cy="2235994"/>
          </a:xfrm>
          <a:prstGeom prst="roundRect">
            <a:avLst>
              <a:gd name="adj" fmla="val 1045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313" y="4186238"/>
            <a:ext cx="8715375" cy="421481"/>
          </a:xfrm>
          <a:prstGeom prst="roundRect">
            <a:avLst>
              <a:gd name="adj" fmla="val 7354"/>
            </a:avLst>
          </a:prstGeom>
          <a:solidFill>
            <a:srgbClr val="30302E"/>
          </a:solidFill>
          <a:ln/>
        </p:spPr>
      </p:sp>
      <p:sp>
        <p:nvSpPr>
          <p:cNvPr id="12" name="Text 10"/>
          <p:cNvSpPr/>
          <p:nvPr/>
        </p:nvSpPr>
        <p:spPr>
          <a:xfrm>
            <a:off x="214313" y="4982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六代传承逾百年的竹编技艺仅存12位师傅，面临失传危机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64331" y="1125810"/>
            <a:ext cx="1900666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</a:t>
            </a:r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代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4331" y="1433661"/>
            <a:ext cx="17930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代际传承谱系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71750" y="1125810"/>
            <a:ext cx="1900666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150</a:t>
            </a:r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年</a:t>
            </a:r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逾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71750" y="1433661"/>
            <a:ext cx="17930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传承历史跨度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779169" y="1125810"/>
            <a:ext cx="1900666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</a:t>
            </a:r>
            <a:pPr algn="l" indent="0" marL="0">
              <a:buNone/>
            </a:pPr>
            <a:r>
              <a:rPr lang="en-US" sz="10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79169" y="1433661"/>
            <a:ext cx="17930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在世从业师傅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986588" y="1125810"/>
            <a:ext cx="1900666" cy="2500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62</a:t>
            </a:r>
            <a:pPr algn="l" indent="0" marL="0">
              <a:buNone/>
            </a:pPr>
            <a:r>
              <a:rPr lang="en-US" sz="10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岁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86588" y="1433661"/>
            <a:ext cx="1793081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师傅平均年龄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92906" y="1984400"/>
            <a:ext cx="2471738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历史厚度：六代心手相传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92906" y="3372631"/>
            <a:ext cx="2471738" cy="5500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选竹、破篾、编织成型全凭手上功夫，逾150年谱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系完整、技法体系完整，是几代人的营生与乡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愁。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36131" y="1984400"/>
            <a:ext cx="2471738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断档现实：后继乏人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6131" y="3556918"/>
            <a:ext cx="2471738" cy="3643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年轻人外流、学艺周期长、单打独斗收入不稳，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新学徒补充不足，技艺传承出现代际断层。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79356" y="1984400"/>
            <a:ext cx="2471738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抢救窗口：等不得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79356" y="3372631"/>
            <a:ext cx="2471738" cy="5500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技艺全在12位平均62岁的师傅手上，人不在则艺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随人去；以师傅年岁计，抢救性传承必须立即启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动。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5763" y="4300538"/>
            <a:ext cx="2893219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建设竹编工坊：把“手艺”变“生计”，救人亦救艺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8075" y="4321969"/>
            <a:ext cx="1300163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以产业带传承，以传承促增收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数据来源：项目申报材料（传承6代逾150年，在世师傅12人、平均年龄62岁）</a:t>
            </a:r>
            <a:endParaRPr lang="en-US" sz="700" dirty="0"/>
          </a:p>
        </p:txBody>
      </p:sp>
      <p:sp>
        <p:nvSpPr>
          <p:cNvPr id="65535" name="wm:hwcld:2026-09-23T06:43:07:6d421be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8608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5485" y="987623"/>
            <a:ext cx="3557588" cy="3071812"/>
          </a:xfrm>
          <a:prstGeom prst="roundRect">
            <a:avLst>
              <a:gd name="adj" fmla="val 1108"/>
            </a:avLst>
          </a:prstGeom>
          <a:solidFill>
            <a:srgbClr val="30302E"/>
          </a:solidFill>
          <a:ln w="6191">
            <a:solidFill>
              <a:srgbClr val="3030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0056" y="2611264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6" name="Shape 4"/>
          <p:cNvSpPr/>
          <p:nvPr/>
        </p:nvSpPr>
        <p:spPr>
          <a:xfrm>
            <a:off x="3944466" y="987623"/>
            <a:ext cx="4986338" cy="950119"/>
          </a:xfrm>
          <a:prstGeom prst="roundRect">
            <a:avLst>
              <a:gd name="adj" fmla="val 5789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44466" y="2048470"/>
            <a:ext cx="4986338" cy="950119"/>
          </a:xfrm>
          <a:prstGeom prst="roundRect">
            <a:avLst>
              <a:gd name="adj" fmla="val 5789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44466" y="3109317"/>
            <a:ext cx="4986338" cy="950119"/>
          </a:xfrm>
          <a:prstGeom prst="roundRect">
            <a:avLst>
              <a:gd name="adj" fmla="val 5789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4313" y="4171950"/>
            <a:ext cx="8715375" cy="435769"/>
          </a:xfrm>
          <a:prstGeom prst="roundRect">
            <a:avLst>
              <a:gd name="adj" fmla="val 6880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4313" y="4982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2018年获批省级非遗，文化价值有权威认定支撑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1228" y="1196578"/>
            <a:ext cx="308610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省级认定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1228" y="1757474"/>
            <a:ext cx="3271266" cy="4000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2018</a:t>
            </a:r>
            <a:pPr algn="l" indent="0" marL="0">
              <a:buNone/>
            </a:pPr>
            <a:r>
              <a:rPr lang="en-US" sz="13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年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451228" y="3079291"/>
            <a:ext cx="3086100" cy="21431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获批省级非物质文化遗产代表性项目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1228" y="3691589"/>
            <a:ext cx="3086100" cy="157163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历史渊源、技艺完整度、地域代表性、传承谱系经省级权威评审确认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123060" y="1111523"/>
            <a:ext cx="4629150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权威认定 · 文化资产成色足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23060" y="1630226"/>
            <a:ext cx="4629150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认定文件即硬依据，项目文化价值无需自证，直接具备申报省级非遗保护资金的资格。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23060" y="2172370"/>
            <a:ext cx="4629150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文旅名片 · 县域传播有载体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23060" y="2691073"/>
            <a:ext cx="4629150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可与乡村旅游、研学体验等业态联动放大，是县域对外传播的文化名片。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23060" y="3233217"/>
            <a:ext cx="4629150" cy="17859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产业反哺 · 越有市场越有传承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23060" y="3571205"/>
            <a:ext cx="4629150" cy="3643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非遗工坊把文化资产转化为产业资产，形成“以用促保”的良性循环，避免静态博物馆式封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存。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2906" y="4293394"/>
            <a:ext cx="1285875" cy="192881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价值越高，抢救越紧迫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99497" y="4314825"/>
            <a:ext cx="2950369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认定在手 · 传人只剩12位 —— 活态遗产断代损失是全省层面的损失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数据来源：项目申报材料（2018年获批省级非物质文化遗产代表性项目）</a:t>
            </a:r>
            <a:endParaRPr lang="en-US" sz="700" dirty="0"/>
          </a:p>
        </p:txBody>
      </p:sp>
      <p:sp>
        <p:nvSpPr>
          <p:cNvPr id="65535" name="wm:hwcld:2026-09-23T06:43:07:6d421be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8608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5429" y="987623"/>
            <a:ext cx="2664619" cy="2971800"/>
          </a:xfrm>
          <a:prstGeom prst="roundRect">
            <a:avLst>
              <a:gd name="adj" fmla="val 736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39635" y="987623"/>
            <a:ext cx="2664619" cy="2971800"/>
          </a:xfrm>
          <a:prstGeom prst="roundRect">
            <a:avLst>
              <a:gd name="adj" fmla="val 736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953" y="987623"/>
            <a:ext cx="2664619" cy="2971800"/>
          </a:xfrm>
          <a:prstGeom prst="roundRect">
            <a:avLst>
              <a:gd name="adj" fmla="val 736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313" y="4071938"/>
            <a:ext cx="4300538" cy="535781"/>
          </a:xfrm>
          <a:prstGeom prst="roundRect">
            <a:avLst>
              <a:gd name="adj" fmla="val 4551"/>
            </a:avLst>
          </a:prstGeom>
          <a:solidFill>
            <a:srgbClr val="30302E"/>
          </a:solidFill>
          <a:ln/>
        </p:spPr>
      </p:sp>
      <p:sp>
        <p:nvSpPr>
          <p:cNvPr id="8" name="Shape 6"/>
          <p:cNvSpPr/>
          <p:nvPr/>
        </p:nvSpPr>
        <p:spPr>
          <a:xfrm>
            <a:off x="4629150" y="4071938"/>
            <a:ext cx="4300538" cy="535781"/>
          </a:xfrm>
          <a:prstGeom prst="roundRect">
            <a:avLst>
              <a:gd name="adj" fmla="val 4551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29313" y="4211241"/>
            <a:ext cx="7144" cy="257175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0" name="Shape 8"/>
          <p:cNvSpPr/>
          <p:nvPr/>
        </p:nvSpPr>
        <p:spPr>
          <a:xfrm>
            <a:off x="7622270" y="4211241"/>
            <a:ext cx="7144" cy="257175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1" name="Text 9"/>
          <p:cNvSpPr/>
          <p:nvPr/>
        </p:nvSpPr>
        <p:spPr>
          <a:xfrm>
            <a:off x="214313" y="4982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“公司+合作社+农户”三方联动，农户在家编织稳定增收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79735" y="1139428"/>
            <a:ext cx="233600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市场端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79735" y="2156352"/>
            <a:ext cx="233600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公司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735" y="3258220"/>
            <a:ext cx="2336006" cy="5500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负责产品设计与市场销售，解决“编什么、卖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给谁”，让产品对接市场需求，避免盲目生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产。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66944" y="2334220"/>
            <a:ext cx="185738" cy="2786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03941" y="1139428"/>
            <a:ext cx="233600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组织端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3403941" y="2247770"/>
            <a:ext cx="233600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合作社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03941" y="3442506"/>
            <a:ext cx="2336006" cy="3643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统一采购竹材等原料、统一组织技能培训，压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降农户单独采购成本，零基础也能上手。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91206" y="2334220"/>
            <a:ext cx="185738" cy="2786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28259" y="1139428"/>
            <a:ext cx="233600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生产端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428259" y="2247770"/>
            <a:ext cx="233600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农户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28259" y="3442506"/>
            <a:ext cx="2336006" cy="364331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在家编织、按件计酬，不出远门、不误农活与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家务，适合留守劳动力和半劳动力。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535" y="4211241"/>
            <a:ext cx="1067705" cy="257175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1800</a:t>
            </a:r>
            <a:pPr algn="l" indent="0" marL="0">
              <a:buNone/>
            </a:pPr>
            <a:r>
              <a:rPr lang="en-US" sz="9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元/人·月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33506" y="4179094"/>
            <a:ext cx="1071563" cy="32146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按件计酬 · 多劳多得</a:t>
            </a:r>
            <a:pPr algn="l" indent="0" marL="0">
              <a:buNone/>
            </a:pP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农户人均月增收（约）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07800" y="4163020"/>
            <a:ext cx="557213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职责清晰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07800" y="4373761"/>
            <a:ext cx="557213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三方各司其职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500757" y="4163020"/>
            <a:ext cx="557213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风险共担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00757" y="4373761"/>
            <a:ext cx="557213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链条环环扣紧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193714" y="4163020"/>
            <a:ext cx="557213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收益共享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93714" y="4373761"/>
            <a:ext cx="557213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增收写进机制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数据来源：项目申报材料（公司负责设计与销售、合作社统一采购原料与培训、农户按件计酬人均月增收约1800元）</a:t>
            </a:r>
            <a:endParaRPr lang="en-US" sz="700" dirty="0"/>
          </a:p>
        </p:txBody>
      </p:sp>
      <p:sp>
        <p:nvSpPr>
          <p:cNvPr id="65535" name="wm:hwcld:2026-09-23T06:43:07:6d421be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8608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614363" y="4354116"/>
            <a:ext cx="4557713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4363" y="3868341"/>
            <a:ext cx="4557713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4363" y="3389709"/>
            <a:ext cx="4557713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4363" y="2903934"/>
            <a:ext cx="4557713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4363" y="2425303"/>
            <a:ext cx="4557713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4363" y="1939528"/>
            <a:ext cx="4557713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4363" y="1460897"/>
            <a:ext cx="4557713" cy="0"/>
          </a:xfrm>
          <a:prstGeom prst="line">
            <a:avLst/>
          </a:prstGeom>
          <a:noFill/>
          <a:ln w="6350">
            <a:solidFill>
              <a:srgbClr val="F0E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-2143" y="1254443"/>
            <a:ext cx="1233011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带动农户（户）</a:t>
            </a:r>
            <a:endParaRPr lang="en-US" sz="788" dirty="0"/>
          </a:p>
        </p:txBody>
      </p:sp>
      <p:sp>
        <p:nvSpPr>
          <p:cNvPr id="12" name="Shape 10"/>
          <p:cNvSpPr/>
          <p:nvPr/>
        </p:nvSpPr>
        <p:spPr>
          <a:xfrm>
            <a:off x="614363" y="4354116"/>
            <a:ext cx="4557713" cy="0"/>
          </a:xfrm>
          <a:prstGeom prst="line">
            <a:avLst/>
          </a:prstGeom>
          <a:noFill/>
          <a:ln w="6350">
            <a:solidFill>
              <a:srgbClr val="D1CF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314" y="4290536"/>
            <a:ext cx="332899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0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74295" y="3808333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20</a:t>
            </a:r>
            <a:endParaRPr lang="en-US" sz="788" dirty="0"/>
          </a:p>
        </p:txBody>
      </p:sp>
      <p:sp>
        <p:nvSpPr>
          <p:cNvPr id="15" name="Text 13"/>
          <p:cNvSpPr/>
          <p:nvPr/>
        </p:nvSpPr>
        <p:spPr>
          <a:xfrm>
            <a:off x="74295" y="3326130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40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74295" y="2843927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60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74295" y="2361724"/>
            <a:ext cx="48291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80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-75724" y="1879521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100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-75724" y="1397318"/>
            <a:ext cx="632936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8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1099780" y="4379119"/>
            <a:ext cx="130802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首期（第一年）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3298269" y="4379119"/>
            <a:ext cx="14687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4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第二年（满规模）</a:t>
            </a:r>
            <a:endParaRPr lang="en-US" sz="844" dirty="0"/>
          </a:p>
        </p:txBody>
      </p:sp>
      <p:sp>
        <p:nvSpPr>
          <p:cNvPr id="22" name="Shape 20"/>
          <p:cNvSpPr/>
          <p:nvPr/>
        </p:nvSpPr>
        <p:spPr>
          <a:xfrm>
            <a:off x="1343597" y="2903934"/>
            <a:ext cx="820388" cy="1446609"/>
          </a:xfrm>
          <a:custGeom>
            <a:avLst/>
            <a:gdLst/>
            <a:ahLst/>
            <a:cxnLst/>
            <a:rect l="l" t="t" r="r" b="b"/>
            <a:pathLst>
              <a:path w="820388" h="1446609">
                <a:moveTo>
                  <a:pt x="28575" y="0"/>
                </a:moveTo>
                <a:lnTo>
                  <a:pt x="791813" y="0"/>
                </a:lnTo>
                <a:lnTo>
                  <a:pt x="793215" y="34"/>
                </a:lnTo>
                <a:lnTo>
                  <a:pt x="794614" y="138"/>
                </a:lnTo>
                <a:lnTo>
                  <a:pt x="796006" y="309"/>
                </a:lnTo>
                <a:lnTo>
                  <a:pt x="797388" y="549"/>
                </a:lnTo>
                <a:lnTo>
                  <a:pt x="798756" y="856"/>
                </a:lnTo>
                <a:lnTo>
                  <a:pt x="800108" y="1230"/>
                </a:lnTo>
                <a:lnTo>
                  <a:pt x="801440" y="1670"/>
                </a:lnTo>
                <a:lnTo>
                  <a:pt x="802748" y="2175"/>
                </a:lnTo>
                <a:lnTo>
                  <a:pt x="804031" y="2744"/>
                </a:lnTo>
                <a:lnTo>
                  <a:pt x="805283" y="3374"/>
                </a:lnTo>
                <a:lnTo>
                  <a:pt x="806504" y="4065"/>
                </a:lnTo>
                <a:lnTo>
                  <a:pt x="807689" y="4816"/>
                </a:lnTo>
                <a:lnTo>
                  <a:pt x="808835" y="5623"/>
                </a:lnTo>
                <a:lnTo>
                  <a:pt x="809941" y="6486"/>
                </a:lnTo>
                <a:lnTo>
                  <a:pt x="811003" y="7402"/>
                </a:lnTo>
                <a:lnTo>
                  <a:pt x="812019" y="8369"/>
                </a:lnTo>
                <a:lnTo>
                  <a:pt x="812986" y="9385"/>
                </a:lnTo>
                <a:lnTo>
                  <a:pt x="813902" y="10447"/>
                </a:lnTo>
                <a:lnTo>
                  <a:pt x="814765" y="11553"/>
                </a:lnTo>
                <a:lnTo>
                  <a:pt x="815572" y="12700"/>
                </a:lnTo>
                <a:lnTo>
                  <a:pt x="816323" y="13885"/>
                </a:lnTo>
                <a:lnTo>
                  <a:pt x="817014" y="15105"/>
                </a:lnTo>
                <a:lnTo>
                  <a:pt x="817645" y="16358"/>
                </a:lnTo>
                <a:lnTo>
                  <a:pt x="818213" y="17640"/>
                </a:lnTo>
                <a:lnTo>
                  <a:pt x="818718" y="18948"/>
                </a:lnTo>
                <a:lnTo>
                  <a:pt x="819158" y="20280"/>
                </a:lnTo>
                <a:lnTo>
                  <a:pt x="819532" y="21632"/>
                </a:lnTo>
                <a:lnTo>
                  <a:pt x="819839" y="23000"/>
                </a:lnTo>
                <a:lnTo>
                  <a:pt x="820079" y="24382"/>
                </a:lnTo>
                <a:lnTo>
                  <a:pt x="820251" y="25774"/>
                </a:lnTo>
                <a:lnTo>
                  <a:pt x="820354" y="27173"/>
                </a:lnTo>
                <a:lnTo>
                  <a:pt x="820388" y="28575"/>
                </a:lnTo>
                <a:lnTo>
                  <a:pt x="820388" y="1418034"/>
                </a:lnTo>
                <a:lnTo>
                  <a:pt x="820354" y="1419436"/>
                </a:lnTo>
                <a:lnTo>
                  <a:pt x="820251" y="1420835"/>
                </a:lnTo>
                <a:lnTo>
                  <a:pt x="820079" y="1422227"/>
                </a:lnTo>
                <a:lnTo>
                  <a:pt x="819839" y="1423609"/>
                </a:lnTo>
                <a:lnTo>
                  <a:pt x="819532" y="1424978"/>
                </a:lnTo>
                <a:lnTo>
                  <a:pt x="819158" y="1426329"/>
                </a:lnTo>
                <a:lnTo>
                  <a:pt x="818718" y="1427661"/>
                </a:lnTo>
                <a:lnTo>
                  <a:pt x="818213" y="1428970"/>
                </a:lnTo>
                <a:lnTo>
                  <a:pt x="817645" y="1430252"/>
                </a:lnTo>
                <a:lnTo>
                  <a:pt x="817014" y="1431505"/>
                </a:lnTo>
                <a:lnTo>
                  <a:pt x="816323" y="1432725"/>
                </a:lnTo>
                <a:lnTo>
                  <a:pt x="815572" y="1433910"/>
                </a:lnTo>
                <a:lnTo>
                  <a:pt x="814765" y="1435056"/>
                </a:lnTo>
                <a:lnTo>
                  <a:pt x="813902" y="1436162"/>
                </a:lnTo>
                <a:lnTo>
                  <a:pt x="812986" y="1437224"/>
                </a:lnTo>
                <a:lnTo>
                  <a:pt x="812019" y="1438240"/>
                </a:lnTo>
                <a:lnTo>
                  <a:pt x="811003" y="1439207"/>
                </a:lnTo>
                <a:lnTo>
                  <a:pt x="809941" y="1440123"/>
                </a:lnTo>
                <a:lnTo>
                  <a:pt x="808835" y="1440986"/>
                </a:lnTo>
                <a:lnTo>
                  <a:pt x="807689" y="1441794"/>
                </a:lnTo>
                <a:lnTo>
                  <a:pt x="806504" y="1442544"/>
                </a:lnTo>
                <a:lnTo>
                  <a:pt x="805283" y="1443235"/>
                </a:lnTo>
                <a:lnTo>
                  <a:pt x="804031" y="1443866"/>
                </a:lnTo>
                <a:lnTo>
                  <a:pt x="802748" y="1444434"/>
                </a:lnTo>
                <a:lnTo>
                  <a:pt x="801440" y="1444939"/>
                </a:lnTo>
                <a:lnTo>
                  <a:pt x="800108" y="1445379"/>
                </a:lnTo>
                <a:lnTo>
                  <a:pt x="798756" y="1445753"/>
                </a:lnTo>
                <a:lnTo>
                  <a:pt x="797388" y="1446060"/>
                </a:lnTo>
                <a:lnTo>
                  <a:pt x="796006" y="1446300"/>
                </a:lnTo>
                <a:lnTo>
                  <a:pt x="794614" y="1446472"/>
                </a:lnTo>
                <a:lnTo>
                  <a:pt x="793215" y="1446575"/>
                </a:lnTo>
                <a:lnTo>
                  <a:pt x="791813" y="1446609"/>
                </a:lnTo>
                <a:lnTo>
                  <a:pt x="28575" y="1446609"/>
                </a:lnTo>
                <a:lnTo>
                  <a:pt x="27173" y="1446575"/>
                </a:lnTo>
                <a:lnTo>
                  <a:pt x="25774" y="1446472"/>
                </a:lnTo>
                <a:lnTo>
                  <a:pt x="24382" y="1446300"/>
                </a:lnTo>
                <a:lnTo>
                  <a:pt x="23000" y="1446060"/>
                </a:lnTo>
                <a:lnTo>
                  <a:pt x="21632" y="1445753"/>
                </a:lnTo>
                <a:lnTo>
                  <a:pt x="20280" y="1445379"/>
                </a:lnTo>
                <a:lnTo>
                  <a:pt x="18948" y="1444939"/>
                </a:lnTo>
                <a:lnTo>
                  <a:pt x="17640" y="1444434"/>
                </a:lnTo>
                <a:lnTo>
                  <a:pt x="16358" y="1443866"/>
                </a:lnTo>
                <a:lnTo>
                  <a:pt x="15105" y="1443235"/>
                </a:lnTo>
                <a:lnTo>
                  <a:pt x="13885" y="1442544"/>
                </a:lnTo>
                <a:lnTo>
                  <a:pt x="12700" y="1441794"/>
                </a:lnTo>
                <a:lnTo>
                  <a:pt x="11553" y="1440986"/>
                </a:lnTo>
                <a:lnTo>
                  <a:pt x="10447" y="1440123"/>
                </a:lnTo>
                <a:lnTo>
                  <a:pt x="9385" y="1439207"/>
                </a:lnTo>
                <a:lnTo>
                  <a:pt x="8369" y="1438240"/>
                </a:lnTo>
                <a:lnTo>
                  <a:pt x="7402" y="1437224"/>
                </a:lnTo>
                <a:lnTo>
                  <a:pt x="6486" y="1436162"/>
                </a:lnTo>
                <a:lnTo>
                  <a:pt x="5623" y="1435056"/>
                </a:lnTo>
                <a:lnTo>
                  <a:pt x="4816" y="1433910"/>
                </a:lnTo>
                <a:lnTo>
                  <a:pt x="4065" y="1432725"/>
                </a:lnTo>
                <a:lnTo>
                  <a:pt x="3374" y="1431505"/>
                </a:lnTo>
                <a:lnTo>
                  <a:pt x="2744" y="1430252"/>
                </a:lnTo>
                <a:lnTo>
                  <a:pt x="2175" y="1428970"/>
                </a:lnTo>
                <a:lnTo>
                  <a:pt x="1670" y="1427661"/>
                </a:lnTo>
                <a:lnTo>
                  <a:pt x="1230" y="1426329"/>
                </a:lnTo>
                <a:lnTo>
                  <a:pt x="856" y="1424978"/>
                </a:lnTo>
                <a:lnTo>
                  <a:pt x="549" y="1423609"/>
                </a:lnTo>
                <a:lnTo>
                  <a:pt x="309" y="1422227"/>
                </a:lnTo>
                <a:lnTo>
                  <a:pt x="138" y="1420835"/>
                </a:lnTo>
                <a:lnTo>
                  <a:pt x="34" y="1419436"/>
                </a:lnTo>
                <a:lnTo>
                  <a:pt x="0" y="1418034"/>
                </a:lnTo>
                <a:lnTo>
                  <a:pt x="0" y="28575"/>
                </a:lnTo>
                <a:lnTo>
                  <a:pt x="34" y="27173"/>
                </a:lnTo>
                <a:lnTo>
                  <a:pt x="138" y="25774"/>
                </a:lnTo>
                <a:lnTo>
                  <a:pt x="309" y="24382"/>
                </a:lnTo>
                <a:lnTo>
                  <a:pt x="549" y="23000"/>
                </a:lnTo>
                <a:lnTo>
                  <a:pt x="856" y="21632"/>
                </a:lnTo>
                <a:lnTo>
                  <a:pt x="1230" y="20280"/>
                </a:lnTo>
                <a:lnTo>
                  <a:pt x="1670" y="18948"/>
                </a:lnTo>
                <a:lnTo>
                  <a:pt x="2175" y="17640"/>
                </a:lnTo>
                <a:lnTo>
                  <a:pt x="2744" y="16358"/>
                </a:lnTo>
                <a:lnTo>
                  <a:pt x="3374" y="15105"/>
                </a:lnTo>
                <a:lnTo>
                  <a:pt x="4065" y="13885"/>
                </a:lnTo>
                <a:lnTo>
                  <a:pt x="4816" y="12700"/>
                </a:lnTo>
                <a:lnTo>
                  <a:pt x="5623" y="11553"/>
                </a:lnTo>
                <a:lnTo>
                  <a:pt x="6486" y="10447"/>
                </a:lnTo>
                <a:lnTo>
                  <a:pt x="7402" y="9385"/>
                </a:lnTo>
                <a:lnTo>
                  <a:pt x="8369" y="8369"/>
                </a:lnTo>
                <a:lnTo>
                  <a:pt x="9385" y="7402"/>
                </a:lnTo>
                <a:lnTo>
                  <a:pt x="10447" y="6486"/>
                </a:lnTo>
                <a:lnTo>
                  <a:pt x="11553" y="5623"/>
                </a:lnTo>
                <a:lnTo>
                  <a:pt x="12700" y="4816"/>
                </a:lnTo>
                <a:lnTo>
                  <a:pt x="13885" y="4065"/>
                </a:lnTo>
                <a:lnTo>
                  <a:pt x="15105" y="3374"/>
                </a:lnTo>
                <a:lnTo>
                  <a:pt x="16358" y="2744"/>
                </a:lnTo>
                <a:lnTo>
                  <a:pt x="17640" y="2175"/>
                </a:lnTo>
                <a:lnTo>
                  <a:pt x="18948" y="1670"/>
                </a:lnTo>
                <a:lnTo>
                  <a:pt x="20280" y="1230"/>
                </a:lnTo>
                <a:lnTo>
                  <a:pt x="21632" y="856"/>
                </a:lnTo>
                <a:lnTo>
                  <a:pt x="23000" y="549"/>
                </a:lnTo>
                <a:lnTo>
                  <a:pt x="24382" y="309"/>
                </a:lnTo>
                <a:lnTo>
                  <a:pt x="25774" y="138"/>
                </a:lnTo>
                <a:lnTo>
                  <a:pt x="27173" y="34"/>
                </a:lnTo>
                <a:lnTo>
                  <a:pt x="28575" y="0"/>
                </a:lnTo>
              </a:path>
            </a:pathLst>
          </a:custGeom>
          <a:solidFill>
            <a:srgbClr val="C96442"/>
          </a:solidFill>
          <a:ln/>
        </p:spPr>
      </p:sp>
      <p:sp>
        <p:nvSpPr>
          <p:cNvPr id="23" name="Shape 21"/>
          <p:cNvSpPr/>
          <p:nvPr/>
        </p:nvSpPr>
        <p:spPr>
          <a:xfrm>
            <a:off x="3622453" y="1457325"/>
            <a:ext cx="820388" cy="2893219"/>
          </a:xfrm>
          <a:custGeom>
            <a:avLst/>
            <a:gdLst/>
            <a:ahLst/>
            <a:cxnLst/>
            <a:rect l="l" t="t" r="r" b="b"/>
            <a:pathLst>
              <a:path w="820388" h="2893219">
                <a:moveTo>
                  <a:pt x="28575" y="0"/>
                </a:moveTo>
                <a:lnTo>
                  <a:pt x="791813" y="0"/>
                </a:lnTo>
                <a:lnTo>
                  <a:pt x="793215" y="34"/>
                </a:lnTo>
                <a:lnTo>
                  <a:pt x="794614" y="138"/>
                </a:lnTo>
                <a:lnTo>
                  <a:pt x="796006" y="309"/>
                </a:lnTo>
                <a:lnTo>
                  <a:pt x="797388" y="549"/>
                </a:lnTo>
                <a:lnTo>
                  <a:pt x="798756" y="856"/>
                </a:lnTo>
                <a:lnTo>
                  <a:pt x="800108" y="1230"/>
                </a:lnTo>
                <a:lnTo>
                  <a:pt x="801440" y="1670"/>
                </a:lnTo>
                <a:lnTo>
                  <a:pt x="802748" y="2175"/>
                </a:lnTo>
                <a:lnTo>
                  <a:pt x="804031" y="2744"/>
                </a:lnTo>
                <a:lnTo>
                  <a:pt x="805283" y="3374"/>
                </a:lnTo>
                <a:lnTo>
                  <a:pt x="806504" y="4065"/>
                </a:lnTo>
                <a:lnTo>
                  <a:pt x="807689" y="4816"/>
                </a:lnTo>
                <a:lnTo>
                  <a:pt x="808835" y="5623"/>
                </a:lnTo>
                <a:lnTo>
                  <a:pt x="809941" y="6486"/>
                </a:lnTo>
                <a:lnTo>
                  <a:pt x="811003" y="7402"/>
                </a:lnTo>
                <a:lnTo>
                  <a:pt x="812019" y="8369"/>
                </a:lnTo>
                <a:lnTo>
                  <a:pt x="812986" y="9385"/>
                </a:lnTo>
                <a:lnTo>
                  <a:pt x="813902" y="10447"/>
                </a:lnTo>
                <a:lnTo>
                  <a:pt x="814765" y="11553"/>
                </a:lnTo>
                <a:lnTo>
                  <a:pt x="815572" y="12700"/>
                </a:lnTo>
                <a:lnTo>
                  <a:pt x="816323" y="13885"/>
                </a:lnTo>
                <a:lnTo>
                  <a:pt x="817014" y="15105"/>
                </a:lnTo>
                <a:lnTo>
                  <a:pt x="817645" y="16358"/>
                </a:lnTo>
                <a:lnTo>
                  <a:pt x="818213" y="17640"/>
                </a:lnTo>
                <a:lnTo>
                  <a:pt x="818718" y="18948"/>
                </a:lnTo>
                <a:lnTo>
                  <a:pt x="819158" y="20280"/>
                </a:lnTo>
                <a:lnTo>
                  <a:pt x="819532" y="21632"/>
                </a:lnTo>
                <a:lnTo>
                  <a:pt x="819839" y="23000"/>
                </a:lnTo>
                <a:lnTo>
                  <a:pt x="820079" y="24382"/>
                </a:lnTo>
                <a:lnTo>
                  <a:pt x="820251" y="25774"/>
                </a:lnTo>
                <a:lnTo>
                  <a:pt x="820354" y="27173"/>
                </a:lnTo>
                <a:lnTo>
                  <a:pt x="820388" y="28575"/>
                </a:lnTo>
                <a:lnTo>
                  <a:pt x="820388" y="2864644"/>
                </a:lnTo>
                <a:lnTo>
                  <a:pt x="820354" y="2866046"/>
                </a:lnTo>
                <a:lnTo>
                  <a:pt x="820251" y="2867445"/>
                </a:lnTo>
                <a:lnTo>
                  <a:pt x="820079" y="2868837"/>
                </a:lnTo>
                <a:lnTo>
                  <a:pt x="819839" y="2870218"/>
                </a:lnTo>
                <a:lnTo>
                  <a:pt x="819532" y="2871587"/>
                </a:lnTo>
                <a:lnTo>
                  <a:pt x="819158" y="2872939"/>
                </a:lnTo>
                <a:lnTo>
                  <a:pt x="818718" y="2874270"/>
                </a:lnTo>
                <a:lnTo>
                  <a:pt x="818213" y="2875579"/>
                </a:lnTo>
                <a:lnTo>
                  <a:pt x="817645" y="2876861"/>
                </a:lnTo>
                <a:lnTo>
                  <a:pt x="817014" y="2878114"/>
                </a:lnTo>
                <a:lnTo>
                  <a:pt x="816323" y="2879334"/>
                </a:lnTo>
                <a:lnTo>
                  <a:pt x="815572" y="2880519"/>
                </a:lnTo>
                <a:lnTo>
                  <a:pt x="814765" y="2881666"/>
                </a:lnTo>
                <a:lnTo>
                  <a:pt x="813902" y="2882772"/>
                </a:lnTo>
                <a:lnTo>
                  <a:pt x="812986" y="2883834"/>
                </a:lnTo>
                <a:lnTo>
                  <a:pt x="812019" y="2884849"/>
                </a:lnTo>
                <a:lnTo>
                  <a:pt x="811003" y="2885816"/>
                </a:lnTo>
                <a:lnTo>
                  <a:pt x="809941" y="2886733"/>
                </a:lnTo>
                <a:lnTo>
                  <a:pt x="808835" y="2887595"/>
                </a:lnTo>
                <a:lnTo>
                  <a:pt x="807689" y="2888403"/>
                </a:lnTo>
                <a:lnTo>
                  <a:pt x="806504" y="2889153"/>
                </a:lnTo>
                <a:lnTo>
                  <a:pt x="805283" y="2889845"/>
                </a:lnTo>
                <a:lnTo>
                  <a:pt x="804031" y="2890475"/>
                </a:lnTo>
                <a:lnTo>
                  <a:pt x="802748" y="2891044"/>
                </a:lnTo>
                <a:lnTo>
                  <a:pt x="801440" y="2891548"/>
                </a:lnTo>
                <a:lnTo>
                  <a:pt x="800108" y="2891988"/>
                </a:lnTo>
                <a:lnTo>
                  <a:pt x="798756" y="2892362"/>
                </a:lnTo>
                <a:lnTo>
                  <a:pt x="797388" y="2892670"/>
                </a:lnTo>
                <a:lnTo>
                  <a:pt x="796006" y="2892909"/>
                </a:lnTo>
                <a:lnTo>
                  <a:pt x="794614" y="2893081"/>
                </a:lnTo>
                <a:lnTo>
                  <a:pt x="793215" y="2893184"/>
                </a:lnTo>
                <a:lnTo>
                  <a:pt x="791813" y="2893219"/>
                </a:lnTo>
                <a:lnTo>
                  <a:pt x="28575" y="2893219"/>
                </a:lnTo>
                <a:lnTo>
                  <a:pt x="27173" y="2893184"/>
                </a:lnTo>
                <a:lnTo>
                  <a:pt x="25774" y="2893081"/>
                </a:lnTo>
                <a:lnTo>
                  <a:pt x="24382" y="2892909"/>
                </a:lnTo>
                <a:lnTo>
                  <a:pt x="23000" y="2892670"/>
                </a:lnTo>
                <a:lnTo>
                  <a:pt x="21632" y="2892362"/>
                </a:lnTo>
                <a:lnTo>
                  <a:pt x="20280" y="2891988"/>
                </a:lnTo>
                <a:lnTo>
                  <a:pt x="18948" y="2891548"/>
                </a:lnTo>
                <a:lnTo>
                  <a:pt x="17640" y="2891044"/>
                </a:lnTo>
                <a:lnTo>
                  <a:pt x="16358" y="2890475"/>
                </a:lnTo>
                <a:lnTo>
                  <a:pt x="15105" y="2889845"/>
                </a:lnTo>
                <a:lnTo>
                  <a:pt x="13885" y="2889153"/>
                </a:lnTo>
                <a:lnTo>
                  <a:pt x="12700" y="2888403"/>
                </a:lnTo>
                <a:lnTo>
                  <a:pt x="11553" y="2887595"/>
                </a:lnTo>
                <a:lnTo>
                  <a:pt x="10447" y="2886733"/>
                </a:lnTo>
                <a:lnTo>
                  <a:pt x="9385" y="2885816"/>
                </a:lnTo>
                <a:lnTo>
                  <a:pt x="8369" y="2884849"/>
                </a:lnTo>
                <a:lnTo>
                  <a:pt x="7402" y="2883834"/>
                </a:lnTo>
                <a:lnTo>
                  <a:pt x="6486" y="2882772"/>
                </a:lnTo>
                <a:lnTo>
                  <a:pt x="5623" y="2881666"/>
                </a:lnTo>
                <a:lnTo>
                  <a:pt x="4816" y="2880519"/>
                </a:lnTo>
                <a:lnTo>
                  <a:pt x="4065" y="2879334"/>
                </a:lnTo>
                <a:lnTo>
                  <a:pt x="3374" y="2878114"/>
                </a:lnTo>
                <a:lnTo>
                  <a:pt x="2744" y="2876861"/>
                </a:lnTo>
                <a:lnTo>
                  <a:pt x="2175" y="2875579"/>
                </a:lnTo>
                <a:lnTo>
                  <a:pt x="1670" y="2874270"/>
                </a:lnTo>
                <a:lnTo>
                  <a:pt x="1230" y="2872939"/>
                </a:lnTo>
                <a:lnTo>
                  <a:pt x="856" y="2871587"/>
                </a:lnTo>
                <a:lnTo>
                  <a:pt x="549" y="2870218"/>
                </a:lnTo>
                <a:lnTo>
                  <a:pt x="309" y="2868837"/>
                </a:lnTo>
                <a:lnTo>
                  <a:pt x="138" y="2867445"/>
                </a:lnTo>
                <a:lnTo>
                  <a:pt x="34" y="2866046"/>
                </a:lnTo>
                <a:lnTo>
                  <a:pt x="0" y="2864644"/>
                </a:lnTo>
                <a:lnTo>
                  <a:pt x="0" y="28575"/>
                </a:lnTo>
                <a:lnTo>
                  <a:pt x="34" y="27173"/>
                </a:lnTo>
                <a:lnTo>
                  <a:pt x="138" y="25774"/>
                </a:lnTo>
                <a:lnTo>
                  <a:pt x="309" y="24382"/>
                </a:lnTo>
                <a:lnTo>
                  <a:pt x="549" y="23000"/>
                </a:lnTo>
                <a:lnTo>
                  <a:pt x="856" y="21632"/>
                </a:lnTo>
                <a:lnTo>
                  <a:pt x="1230" y="20280"/>
                </a:lnTo>
                <a:lnTo>
                  <a:pt x="1670" y="18948"/>
                </a:lnTo>
                <a:lnTo>
                  <a:pt x="2175" y="17640"/>
                </a:lnTo>
                <a:lnTo>
                  <a:pt x="2744" y="16358"/>
                </a:lnTo>
                <a:lnTo>
                  <a:pt x="3374" y="15105"/>
                </a:lnTo>
                <a:lnTo>
                  <a:pt x="4065" y="13885"/>
                </a:lnTo>
                <a:lnTo>
                  <a:pt x="4816" y="12700"/>
                </a:lnTo>
                <a:lnTo>
                  <a:pt x="5623" y="11553"/>
                </a:lnTo>
                <a:lnTo>
                  <a:pt x="6486" y="10447"/>
                </a:lnTo>
                <a:lnTo>
                  <a:pt x="7402" y="9385"/>
                </a:lnTo>
                <a:lnTo>
                  <a:pt x="8369" y="8369"/>
                </a:lnTo>
                <a:lnTo>
                  <a:pt x="9385" y="7402"/>
                </a:lnTo>
                <a:lnTo>
                  <a:pt x="10447" y="6486"/>
                </a:lnTo>
                <a:lnTo>
                  <a:pt x="11553" y="5623"/>
                </a:lnTo>
                <a:lnTo>
                  <a:pt x="12700" y="4816"/>
                </a:lnTo>
                <a:lnTo>
                  <a:pt x="13885" y="4065"/>
                </a:lnTo>
                <a:lnTo>
                  <a:pt x="15105" y="3374"/>
                </a:lnTo>
                <a:lnTo>
                  <a:pt x="16358" y="2744"/>
                </a:lnTo>
                <a:lnTo>
                  <a:pt x="17640" y="2175"/>
                </a:lnTo>
                <a:lnTo>
                  <a:pt x="18948" y="1670"/>
                </a:lnTo>
                <a:lnTo>
                  <a:pt x="20280" y="1230"/>
                </a:lnTo>
                <a:lnTo>
                  <a:pt x="21632" y="856"/>
                </a:lnTo>
                <a:lnTo>
                  <a:pt x="23000" y="549"/>
                </a:lnTo>
                <a:lnTo>
                  <a:pt x="24382" y="309"/>
                </a:lnTo>
                <a:lnTo>
                  <a:pt x="25774" y="138"/>
                </a:lnTo>
                <a:lnTo>
                  <a:pt x="27173" y="34"/>
                </a:lnTo>
                <a:lnTo>
                  <a:pt x="28575" y="0"/>
                </a:lnTo>
              </a:path>
            </a:pathLst>
          </a:custGeom>
          <a:solidFill>
            <a:srgbClr val="C96442"/>
          </a:solidFill>
          <a:ln/>
        </p:spPr>
      </p:sp>
      <p:sp>
        <p:nvSpPr>
          <p:cNvPr id="24" name="Text 22"/>
          <p:cNvSpPr/>
          <p:nvPr/>
        </p:nvSpPr>
        <p:spPr>
          <a:xfrm>
            <a:off x="1276588" y="2755344"/>
            <a:ext cx="954405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60 户</a:t>
            </a:r>
            <a:endParaRPr lang="en-US" sz="1013" dirty="0"/>
          </a:p>
        </p:txBody>
      </p:sp>
      <p:sp>
        <p:nvSpPr>
          <p:cNvPr id="25" name="Text 23"/>
          <p:cNvSpPr/>
          <p:nvPr/>
        </p:nvSpPr>
        <p:spPr>
          <a:xfrm>
            <a:off x="3459004" y="1308735"/>
            <a:ext cx="1147286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3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 户</a:t>
            </a:r>
            <a:endParaRPr lang="en-US" sz="1013" dirty="0"/>
          </a:p>
        </p:txBody>
      </p:sp>
      <p:sp>
        <p:nvSpPr>
          <p:cNvPr id="26" name="Shape 24"/>
          <p:cNvSpPr/>
          <p:nvPr/>
        </p:nvSpPr>
        <p:spPr>
          <a:xfrm>
            <a:off x="5514975" y="988795"/>
            <a:ext cx="3414712" cy="1135856"/>
          </a:xfrm>
          <a:prstGeom prst="roundRect">
            <a:avLst>
              <a:gd name="adj" fmla="val 4050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14975" y="2237724"/>
            <a:ext cx="3414712" cy="1135856"/>
          </a:xfrm>
          <a:prstGeom prst="roundRect">
            <a:avLst>
              <a:gd name="adj" fmla="val 4050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14975" y="3486652"/>
            <a:ext cx="3414712" cy="1121569"/>
          </a:xfrm>
          <a:prstGeom prst="roundRect">
            <a:avLst>
              <a:gd name="adj" fmla="val 4154"/>
            </a:avLst>
          </a:prstGeom>
          <a:solidFill>
            <a:srgbClr val="30302E"/>
          </a:solidFill>
          <a:ln/>
        </p:spPr>
      </p:sp>
      <p:sp>
        <p:nvSpPr>
          <p:cNvPr id="29" name="Text 27"/>
          <p:cNvSpPr/>
          <p:nvPr/>
        </p:nvSpPr>
        <p:spPr>
          <a:xfrm>
            <a:off x="214313" y="4982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首期带动60户农户、次年扩至120户，人均月增收约1800元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271463" y="987623"/>
            <a:ext cx="1092994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带动农户规模（户）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09132" y="1023342"/>
            <a:ext cx="978694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首期示范 → 满规模翻番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679281" y="1096566"/>
            <a:ext cx="308610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人均月增收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679281" y="1451297"/>
            <a:ext cx="3271266" cy="2357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约1800</a:t>
            </a:r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元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679281" y="1875681"/>
            <a:ext cx="30861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按件计酬 · 多劳多得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679281" y="2345494"/>
            <a:ext cx="3086100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人均年增收（测算）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679281" y="2700226"/>
            <a:ext cx="3271266" cy="2357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约2.16</a:t>
            </a:r>
            <a:pPr algn="l" indent="0" marL="0">
              <a:buNone/>
            </a:pPr>
            <a:r>
              <a:rPr lang="en-US" sz="8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万元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679281" y="3124609"/>
            <a:ext cx="3086100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按月增收1800元×12个月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672138" y="3587279"/>
            <a:ext cx="3100388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满规模年增收合计（测算）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672138" y="3942011"/>
            <a:ext cx="3286411" cy="235744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约259</a:t>
            </a:r>
            <a:pPr algn="l" indent="0" marL="0">
              <a:buNone/>
            </a:pPr>
            <a:r>
              <a:rPr lang="en-US" sz="8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万元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672138" y="4366394"/>
            <a:ext cx="3100388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B0AEA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120户×2.16万元/户·年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数据来源：项目申报材料；年增收为按月增收1800元×12个月的申报测算口径</a:t>
            </a:r>
            <a:endParaRPr lang="en-US" sz="700" dirty="0"/>
          </a:p>
        </p:txBody>
      </p:sp>
      <p:sp>
        <p:nvSpPr>
          <p:cNvPr id="65535" name="wm:hwcld:2026-09-23T06:43:07:6d421be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8608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215429" y="987623"/>
            <a:ext cx="2664619" cy="3121819"/>
          </a:xfrm>
          <a:prstGeom prst="roundRect">
            <a:avLst>
              <a:gd name="adj" fmla="val 736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39635" y="987623"/>
            <a:ext cx="2664619" cy="3121819"/>
          </a:xfrm>
          <a:prstGeom prst="roundRect">
            <a:avLst>
              <a:gd name="adj" fmla="val 736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953" y="987623"/>
            <a:ext cx="2664619" cy="3121819"/>
          </a:xfrm>
          <a:prstGeom prst="roundRect">
            <a:avLst>
              <a:gd name="adj" fmla="val 736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5485" y="4221956"/>
            <a:ext cx="5014913" cy="385763"/>
          </a:xfrm>
          <a:prstGeom prst="roundRect">
            <a:avLst>
              <a:gd name="adj" fmla="val 8779"/>
            </a:avLst>
          </a:prstGeom>
          <a:solidFill>
            <a:srgbClr val="30302E"/>
          </a:solidFill>
          <a:ln/>
        </p:spPr>
      </p:sp>
      <p:sp>
        <p:nvSpPr>
          <p:cNvPr id="8" name="Shape 6"/>
          <p:cNvSpPr/>
          <p:nvPr/>
        </p:nvSpPr>
        <p:spPr>
          <a:xfrm>
            <a:off x="5344697" y="4221956"/>
            <a:ext cx="3586162" cy="385763"/>
          </a:xfrm>
          <a:prstGeom prst="roundRect">
            <a:avLst>
              <a:gd name="adj" fmla="val 8779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313" y="4982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三年三步走：建工坊、扩产能、树品牌，逐级递进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79735" y="1125141"/>
            <a:ext cx="233600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第一年 · 夯基础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79735" y="2231361"/>
            <a:ext cx="233600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建工坊 · 育匠人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9735" y="3422526"/>
            <a:ext cx="2336006" cy="5500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建成 </a:t>
            </a:r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800平米</a:t>
            </a:r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竹编工坊，培训 </a:t>
            </a:r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50名</a:t>
            </a:r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编织人员，形成“有场地、有人手”的生产与传承基础。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66944" y="2409230"/>
            <a:ext cx="185738" cy="2786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03941" y="1125141"/>
            <a:ext cx="233600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第二年 · 上规模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403941" y="2322779"/>
            <a:ext cx="233600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扩产能 · 增效益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03941" y="3606812"/>
            <a:ext cx="2336006" cy="3643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产能提升至 </a:t>
            </a:r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年产10万件</a:t>
            </a:r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，规模化摊薄成本，带动农户扩至 </a:t>
            </a:r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120户</a:t>
            </a:r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，工坊进入稳定产出期。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91206" y="2409230"/>
            <a:ext cx="185738" cy="27860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28259" y="1125141"/>
            <a:ext cx="2336006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第三年 · 树品牌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428259" y="2322779"/>
            <a:ext cx="2336006" cy="20716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建品牌 · 上电商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28259" y="3606812"/>
            <a:ext cx="2336006" cy="3643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打造自有竹编品牌并 </a:t>
            </a:r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入驻电商平台</a:t>
            </a:r>
            <a:pPr algn="l" indent="0" marL="0">
              <a:buNone/>
            </a:pPr>
            <a:r>
              <a:rPr lang="en-US" sz="9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，从代工走向品牌溢价，打通线上销售渠道。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6153" y="4329113"/>
            <a:ext cx="4057650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AF9F5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递进逻辑：培训人才支撑扩产，扩产规模支撑品牌 —— 每一步都是下一步的地基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24463" y="4339828"/>
            <a:ext cx="700088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年度节点可验收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950813" y="4329113"/>
            <a:ext cx="1800225" cy="171450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800平米 · 50人 · 10万件 · 品牌电商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数据来源：项目申报材料（三年规划：第一年建工坊800平米+培训50人，第二年扩产至年产10万件，第三年品牌+电商平台）</a:t>
            </a:r>
            <a:endParaRPr lang="en-US" sz="700" dirty="0"/>
          </a:p>
        </p:txBody>
      </p:sp>
      <p:sp>
        <p:nvSpPr>
          <p:cNvPr id="65535" name="wm:hwcld:2026-09-23T06:43:07:6d421be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214313" y="860822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3663229" y="2711081"/>
            <a:ext cx="155013" cy="19076"/>
          </a:xfrm>
          <a:custGeom>
            <a:avLst/>
            <a:gdLst/>
            <a:ahLst/>
            <a:cxnLst/>
            <a:rect l="l" t="t" r="r" b="b"/>
            <a:pathLst>
              <a:path w="155013" h="19076">
                <a:moveTo>
                  <a:pt x="0" y="19076"/>
                </a:moveTo>
                <a:lnTo>
                  <a:pt x="83575" y="0"/>
                </a:lnTo>
                <a:lnTo>
                  <a:pt x="155013" y="0"/>
                </a:lnTo>
              </a:path>
            </a:pathLst>
          </a:custGeom>
          <a:noFill/>
          <a:ln w="6350">
            <a:solidFill>
              <a:srgbClr val="B0AE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97017" y="4105855"/>
            <a:ext cx="90513" cy="83575"/>
          </a:xfrm>
          <a:custGeom>
            <a:avLst/>
            <a:gdLst/>
            <a:ahLst/>
            <a:cxnLst/>
            <a:rect l="l" t="t" r="r" b="b"/>
            <a:pathLst>
              <a:path w="90513" h="83575">
                <a:moveTo>
                  <a:pt x="90513" y="0"/>
                </a:moveTo>
                <a:lnTo>
                  <a:pt x="71438" y="83575"/>
                </a:lnTo>
                <a:lnTo>
                  <a:pt x="0" y="83575"/>
                </a:lnTo>
              </a:path>
            </a:pathLst>
          </a:custGeom>
          <a:noFill/>
          <a:ln w="6350">
            <a:solidFill>
              <a:srgbClr val="B0AEA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8108" y="3241447"/>
            <a:ext cx="155013" cy="19076"/>
          </a:xfrm>
          <a:custGeom>
            <a:avLst/>
            <a:gdLst/>
            <a:ahLst/>
            <a:cxnLst/>
            <a:rect l="l" t="t" r="r" b="b"/>
            <a:pathLst>
              <a:path w="155013" h="19076">
                <a:moveTo>
                  <a:pt x="155013" y="0"/>
                </a:moveTo>
                <a:lnTo>
                  <a:pt x="71438" y="19076"/>
                </a:lnTo>
                <a:lnTo>
                  <a:pt x="0" y="19076"/>
                </a:lnTo>
              </a:path>
            </a:pathLst>
          </a:custGeom>
          <a:noFill/>
          <a:ln w="6350">
            <a:solidFill>
              <a:srgbClr val="B0AE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26386" y="2328964"/>
            <a:ext cx="144023" cy="45609"/>
          </a:xfrm>
          <a:custGeom>
            <a:avLst/>
            <a:gdLst/>
            <a:ahLst/>
            <a:cxnLst/>
            <a:rect l="l" t="t" r="r" b="b"/>
            <a:pathLst>
              <a:path w="144023" h="45609">
                <a:moveTo>
                  <a:pt x="144023" y="45609"/>
                </a:moveTo>
                <a:lnTo>
                  <a:pt x="71438" y="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rgbClr val="B0AE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63981" y="1820500"/>
            <a:ext cx="99750" cy="80914"/>
          </a:xfrm>
          <a:custGeom>
            <a:avLst/>
            <a:gdLst/>
            <a:ahLst/>
            <a:cxnLst/>
            <a:rect l="l" t="t" r="r" b="b"/>
            <a:pathLst>
              <a:path w="99750" h="80914">
                <a:moveTo>
                  <a:pt x="99750" y="80914"/>
                </a:moveTo>
                <a:lnTo>
                  <a:pt x="71438" y="0"/>
                </a:lnTo>
                <a:lnTo>
                  <a:pt x="0" y="0"/>
                </a:lnTo>
              </a:path>
            </a:pathLst>
          </a:custGeom>
          <a:noFill/>
          <a:ln w="6350">
            <a:solidFill>
              <a:srgbClr val="B0AE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43175" y="1836944"/>
            <a:ext cx="1148687" cy="2183943"/>
          </a:xfrm>
          <a:custGeom>
            <a:avLst/>
            <a:gdLst/>
            <a:ahLst/>
            <a:cxnLst/>
            <a:rect l="l" t="t" r="r" b="b"/>
            <a:pathLst>
              <a:path w="1148687" h="2183943">
                <a:moveTo>
                  <a:pt x="0" y="0"/>
                </a:moveTo>
                <a:lnTo>
                  <a:pt x="79261" y="2737"/>
                </a:lnTo>
                <a:lnTo>
                  <a:pt x="158144" y="10937"/>
                </a:lnTo>
                <a:lnTo>
                  <a:pt x="236274" y="24559"/>
                </a:lnTo>
                <a:lnTo>
                  <a:pt x="313278" y="43538"/>
                </a:lnTo>
                <a:lnTo>
                  <a:pt x="388788" y="67785"/>
                </a:lnTo>
                <a:lnTo>
                  <a:pt x="462447" y="97184"/>
                </a:lnTo>
                <a:lnTo>
                  <a:pt x="533901" y="131595"/>
                </a:lnTo>
                <a:lnTo>
                  <a:pt x="602811" y="170853"/>
                </a:lnTo>
                <a:lnTo>
                  <a:pt x="668848" y="214772"/>
                </a:lnTo>
                <a:lnTo>
                  <a:pt x="731698" y="263142"/>
                </a:lnTo>
                <a:lnTo>
                  <a:pt x="791061" y="315733"/>
                </a:lnTo>
                <a:lnTo>
                  <a:pt x="846655" y="372295"/>
                </a:lnTo>
                <a:lnTo>
                  <a:pt x="898213" y="432557"/>
                </a:lnTo>
                <a:lnTo>
                  <a:pt x="945491" y="496232"/>
                </a:lnTo>
                <a:lnTo>
                  <a:pt x="988264" y="563018"/>
                </a:lnTo>
                <a:lnTo>
                  <a:pt x="1026327" y="632595"/>
                </a:lnTo>
                <a:lnTo>
                  <a:pt x="1059499" y="704633"/>
                </a:lnTo>
                <a:lnTo>
                  <a:pt x="1087622" y="778787"/>
                </a:lnTo>
                <a:lnTo>
                  <a:pt x="1110562" y="854705"/>
                </a:lnTo>
                <a:lnTo>
                  <a:pt x="1128210" y="932025"/>
                </a:lnTo>
                <a:lnTo>
                  <a:pt x="1140481" y="1010378"/>
                </a:lnTo>
                <a:lnTo>
                  <a:pt x="1147318" y="1089391"/>
                </a:lnTo>
                <a:lnTo>
                  <a:pt x="1148687" y="1168688"/>
                </a:lnTo>
                <a:lnTo>
                  <a:pt x="1144582" y="1247890"/>
                </a:lnTo>
                <a:lnTo>
                  <a:pt x="1135022" y="1326620"/>
                </a:lnTo>
                <a:lnTo>
                  <a:pt x="1120054" y="1404503"/>
                </a:lnTo>
                <a:lnTo>
                  <a:pt x="1099748" y="1481167"/>
                </a:lnTo>
                <a:lnTo>
                  <a:pt x="1074201" y="1556248"/>
                </a:lnTo>
                <a:lnTo>
                  <a:pt x="1043535" y="1629388"/>
                </a:lnTo>
                <a:lnTo>
                  <a:pt x="1007896" y="1700238"/>
                </a:lnTo>
                <a:lnTo>
                  <a:pt x="967454" y="1768460"/>
                </a:lnTo>
                <a:lnTo>
                  <a:pt x="922402" y="1833729"/>
                </a:lnTo>
                <a:lnTo>
                  <a:pt x="872954" y="1895735"/>
                </a:lnTo>
                <a:lnTo>
                  <a:pt x="819346" y="1954181"/>
                </a:lnTo>
                <a:lnTo>
                  <a:pt x="761834" y="2008790"/>
                </a:lnTo>
                <a:lnTo>
                  <a:pt x="700691" y="2059301"/>
                </a:lnTo>
                <a:lnTo>
                  <a:pt x="636209" y="2105473"/>
                </a:lnTo>
                <a:lnTo>
                  <a:pt x="568695" y="2147087"/>
                </a:lnTo>
                <a:lnTo>
                  <a:pt x="498471" y="2183943"/>
                </a:lnTo>
                <a:lnTo>
                  <a:pt x="322540" y="1818619"/>
                </a:lnTo>
                <a:lnTo>
                  <a:pt x="367979" y="1794770"/>
                </a:lnTo>
                <a:lnTo>
                  <a:pt x="411664" y="1767844"/>
                </a:lnTo>
                <a:lnTo>
                  <a:pt x="453388" y="1737968"/>
                </a:lnTo>
                <a:lnTo>
                  <a:pt x="492951" y="1705285"/>
                </a:lnTo>
                <a:lnTo>
                  <a:pt x="530165" y="1669950"/>
                </a:lnTo>
                <a:lnTo>
                  <a:pt x="564852" y="1632131"/>
                </a:lnTo>
                <a:lnTo>
                  <a:pt x="596848" y="1592010"/>
                </a:lnTo>
                <a:lnTo>
                  <a:pt x="625999" y="1549777"/>
                </a:lnTo>
                <a:lnTo>
                  <a:pt x="652168" y="1505633"/>
                </a:lnTo>
                <a:lnTo>
                  <a:pt x="675228" y="1459789"/>
                </a:lnTo>
                <a:lnTo>
                  <a:pt x="695071" y="1412464"/>
                </a:lnTo>
                <a:lnTo>
                  <a:pt x="711601" y="1363882"/>
                </a:lnTo>
                <a:lnTo>
                  <a:pt x="724740" y="1314275"/>
                </a:lnTo>
                <a:lnTo>
                  <a:pt x="734425" y="1263880"/>
                </a:lnTo>
                <a:lnTo>
                  <a:pt x="740611" y="1212937"/>
                </a:lnTo>
                <a:lnTo>
                  <a:pt x="743267" y="1161689"/>
                </a:lnTo>
                <a:lnTo>
                  <a:pt x="742382" y="1110380"/>
                </a:lnTo>
                <a:lnTo>
                  <a:pt x="737958" y="1059254"/>
                </a:lnTo>
                <a:lnTo>
                  <a:pt x="730018" y="1008554"/>
                </a:lnTo>
                <a:lnTo>
                  <a:pt x="718599" y="958524"/>
                </a:lnTo>
                <a:lnTo>
                  <a:pt x="703755" y="909401"/>
                </a:lnTo>
                <a:lnTo>
                  <a:pt x="685558" y="861418"/>
                </a:lnTo>
                <a:lnTo>
                  <a:pt x="664093" y="814806"/>
                </a:lnTo>
                <a:lnTo>
                  <a:pt x="639464" y="769785"/>
                </a:lnTo>
                <a:lnTo>
                  <a:pt x="611788" y="726571"/>
                </a:lnTo>
                <a:lnTo>
                  <a:pt x="581196" y="685369"/>
                </a:lnTo>
                <a:lnTo>
                  <a:pt x="547835" y="646376"/>
                </a:lnTo>
                <a:lnTo>
                  <a:pt x="511863" y="609778"/>
                </a:lnTo>
                <a:lnTo>
                  <a:pt x="473451" y="575748"/>
                </a:lnTo>
                <a:lnTo>
                  <a:pt x="432784" y="544450"/>
                </a:lnTo>
                <a:lnTo>
                  <a:pt x="390054" y="516031"/>
                </a:lnTo>
                <a:lnTo>
                  <a:pt x="345465" y="490629"/>
                </a:lnTo>
                <a:lnTo>
                  <a:pt x="299230" y="468363"/>
                </a:lnTo>
                <a:lnTo>
                  <a:pt x="251569" y="449340"/>
                </a:lnTo>
                <a:lnTo>
                  <a:pt x="202709" y="433651"/>
                </a:lnTo>
                <a:lnTo>
                  <a:pt x="152883" y="421370"/>
                </a:lnTo>
                <a:lnTo>
                  <a:pt x="102329" y="412556"/>
                </a:lnTo>
                <a:lnTo>
                  <a:pt x="51287" y="407251"/>
                </a:lnTo>
                <a:lnTo>
                  <a:pt x="0" y="405479"/>
                </a:lnTo>
                <a:close/>
              </a:path>
            </a:pathLst>
          </a:custGeom>
          <a:solidFill>
            <a:srgbClr val="C96442"/>
          </a:solidFill>
          <a:ln w="12700">
            <a:solidFill>
              <a:srgbClr val="FAF9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44962" y="3449290"/>
            <a:ext cx="1396684" cy="685256"/>
          </a:xfrm>
          <a:custGeom>
            <a:avLst/>
            <a:gdLst/>
            <a:ahLst/>
            <a:cxnLst/>
            <a:rect l="l" t="t" r="r" b="b"/>
            <a:pathLst>
              <a:path w="1396684" h="685256">
                <a:moveTo>
                  <a:pt x="1396684" y="571596"/>
                </a:moveTo>
                <a:lnTo>
                  <a:pt x="1352704" y="591647"/>
                </a:lnTo>
                <a:lnTo>
                  <a:pt x="1307921" y="609830"/>
                </a:lnTo>
                <a:lnTo>
                  <a:pt x="1262411" y="626114"/>
                </a:lnTo>
                <a:lnTo>
                  <a:pt x="1216258" y="640469"/>
                </a:lnTo>
                <a:lnTo>
                  <a:pt x="1169541" y="652869"/>
                </a:lnTo>
                <a:lnTo>
                  <a:pt x="1122344" y="663294"/>
                </a:lnTo>
                <a:lnTo>
                  <a:pt x="1074751" y="671724"/>
                </a:lnTo>
                <a:lnTo>
                  <a:pt x="1026844" y="678145"/>
                </a:lnTo>
                <a:lnTo>
                  <a:pt x="978711" y="682545"/>
                </a:lnTo>
                <a:lnTo>
                  <a:pt x="930434" y="684917"/>
                </a:lnTo>
                <a:lnTo>
                  <a:pt x="882101" y="685256"/>
                </a:lnTo>
                <a:lnTo>
                  <a:pt x="833796" y="683562"/>
                </a:lnTo>
                <a:lnTo>
                  <a:pt x="785605" y="679837"/>
                </a:lnTo>
                <a:lnTo>
                  <a:pt x="737614" y="674089"/>
                </a:lnTo>
                <a:lnTo>
                  <a:pt x="689907" y="666327"/>
                </a:lnTo>
                <a:lnTo>
                  <a:pt x="642568" y="656565"/>
                </a:lnTo>
                <a:lnTo>
                  <a:pt x="595682" y="644820"/>
                </a:lnTo>
                <a:lnTo>
                  <a:pt x="549332" y="631114"/>
                </a:lnTo>
                <a:lnTo>
                  <a:pt x="503599" y="615471"/>
                </a:lnTo>
                <a:lnTo>
                  <a:pt x="458564" y="597917"/>
                </a:lnTo>
                <a:lnTo>
                  <a:pt x="414308" y="578485"/>
                </a:lnTo>
                <a:lnTo>
                  <a:pt x="370908" y="557209"/>
                </a:lnTo>
                <a:lnTo>
                  <a:pt x="328442" y="534126"/>
                </a:lnTo>
                <a:lnTo>
                  <a:pt x="286984" y="509277"/>
                </a:lnTo>
                <a:lnTo>
                  <a:pt x="246608" y="482706"/>
                </a:lnTo>
                <a:lnTo>
                  <a:pt x="207385" y="454461"/>
                </a:lnTo>
                <a:lnTo>
                  <a:pt x="169386" y="424590"/>
                </a:lnTo>
                <a:lnTo>
                  <a:pt x="132676" y="393148"/>
                </a:lnTo>
                <a:lnTo>
                  <a:pt x="97321" y="360189"/>
                </a:lnTo>
                <a:lnTo>
                  <a:pt x="63384" y="325773"/>
                </a:lnTo>
                <a:lnTo>
                  <a:pt x="30924" y="289959"/>
                </a:lnTo>
                <a:lnTo>
                  <a:pt x="0" y="252812"/>
                </a:lnTo>
                <a:lnTo>
                  <a:pt x="317016" y="0"/>
                </a:lnTo>
                <a:lnTo>
                  <a:pt x="337026" y="24036"/>
                </a:lnTo>
                <a:lnTo>
                  <a:pt x="358029" y="47210"/>
                </a:lnTo>
                <a:lnTo>
                  <a:pt x="379988" y="69479"/>
                </a:lnTo>
                <a:lnTo>
                  <a:pt x="402865" y="90805"/>
                </a:lnTo>
                <a:lnTo>
                  <a:pt x="426618" y="111150"/>
                </a:lnTo>
                <a:lnTo>
                  <a:pt x="451207" y="130478"/>
                </a:lnTo>
                <a:lnTo>
                  <a:pt x="476586" y="148755"/>
                </a:lnTo>
                <a:lnTo>
                  <a:pt x="502712" y="165948"/>
                </a:lnTo>
                <a:lnTo>
                  <a:pt x="529537" y="182026"/>
                </a:lnTo>
                <a:lnTo>
                  <a:pt x="557015" y="196963"/>
                </a:lnTo>
                <a:lnTo>
                  <a:pt x="585098" y="210730"/>
                </a:lnTo>
                <a:lnTo>
                  <a:pt x="613734" y="223303"/>
                </a:lnTo>
                <a:lnTo>
                  <a:pt x="642874" y="234661"/>
                </a:lnTo>
                <a:lnTo>
                  <a:pt x="672466" y="244784"/>
                </a:lnTo>
                <a:lnTo>
                  <a:pt x="702457" y="253652"/>
                </a:lnTo>
                <a:lnTo>
                  <a:pt x="732795" y="261252"/>
                </a:lnTo>
                <a:lnTo>
                  <a:pt x="763426" y="267568"/>
                </a:lnTo>
                <a:lnTo>
                  <a:pt x="794296" y="272591"/>
                </a:lnTo>
                <a:lnTo>
                  <a:pt x="825349" y="276310"/>
                </a:lnTo>
                <a:lnTo>
                  <a:pt x="856531" y="278720"/>
                </a:lnTo>
                <a:lnTo>
                  <a:pt x="887787" y="279817"/>
                </a:lnTo>
                <a:lnTo>
                  <a:pt x="919062" y="279597"/>
                </a:lnTo>
                <a:lnTo>
                  <a:pt x="950299" y="278063"/>
                </a:lnTo>
                <a:lnTo>
                  <a:pt x="981445" y="275216"/>
                </a:lnTo>
                <a:lnTo>
                  <a:pt x="1012443" y="271061"/>
                </a:lnTo>
                <a:lnTo>
                  <a:pt x="1043239" y="265606"/>
                </a:lnTo>
                <a:lnTo>
                  <a:pt x="1073778" y="258861"/>
                </a:lnTo>
                <a:lnTo>
                  <a:pt x="1104006" y="250837"/>
                </a:lnTo>
                <a:lnTo>
                  <a:pt x="1133870" y="241548"/>
                </a:lnTo>
                <a:lnTo>
                  <a:pt x="1163318" y="231012"/>
                </a:lnTo>
                <a:lnTo>
                  <a:pt x="1192295" y="219246"/>
                </a:lnTo>
                <a:lnTo>
                  <a:pt x="1220753" y="206272"/>
                </a:lnTo>
                <a:close/>
              </a:path>
            </a:pathLst>
          </a:custGeom>
          <a:solidFill>
            <a:srgbClr val="141413"/>
          </a:solidFill>
          <a:ln w="12700">
            <a:solidFill>
              <a:srgbClr val="FAF9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94317" y="2730157"/>
            <a:ext cx="567661" cy="971946"/>
          </a:xfrm>
          <a:custGeom>
            <a:avLst/>
            <a:gdLst/>
            <a:ahLst/>
            <a:cxnLst/>
            <a:rect l="l" t="t" r="r" b="b"/>
            <a:pathLst>
              <a:path w="567661" h="971946">
                <a:moveTo>
                  <a:pt x="250645" y="971946"/>
                </a:moveTo>
                <a:lnTo>
                  <a:pt x="230909" y="946472"/>
                </a:lnTo>
                <a:lnTo>
                  <a:pt x="211894" y="920456"/>
                </a:lnTo>
                <a:lnTo>
                  <a:pt x="193618" y="893916"/>
                </a:lnTo>
                <a:lnTo>
                  <a:pt x="176092" y="866874"/>
                </a:lnTo>
                <a:lnTo>
                  <a:pt x="159332" y="839351"/>
                </a:lnTo>
                <a:lnTo>
                  <a:pt x="143351" y="811369"/>
                </a:lnTo>
                <a:lnTo>
                  <a:pt x="128160" y="782950"/>
                </a:lnTo>
                <a:lnTo>
                  <a:pt x="113773" y="754115"/>
                </a:lnTo>
                <a:lnTo>
                  <a:pt x="100200" y="724889"/>
                </a:lnTo>
                <a:lnTo>
                  <a:pt x="87452" y="695294"/>
                </a:lnTo>
                <a:lnTo>
                  <a:pt x="75539" y="665352"/>
                </a:lnTo>
                <a:lnTo>
                  <a:pt x="64470" y="635088"/>
                </a:lnTo>
                <a:lnTo>
                  <a:pt x="54255" y="604526"/>
                </a:lnTo>
                <a:lnTo>
                  <a:pt x="44901" y="573689"/>
                </a:lnTo>
                <a:lnTo>
                  <a:pt x="36415" y="542602"/>
                </a:lnTo>
                <a:lnTo>
                  <a:pt x="28804" y="511290"/>
                </a:lnTo>
                <a:lnTo>
                  <a:pt x="22075" y="479776"/>
                </a:lnTo>
                <a:lnTo>
                  <a:pt x="16232" y="448086"/>
                </a:lnTo>
                <a:lnTo>
                  <a:pt x="11281" y="416244"/>
                </a:lnTo>
                <a:lnTo>
                  <a:pt x="7224" y="384276"/>
                </a:lnTo>
                <a:lnTo>
                  <a:pt x="4065" y="352207"/>
                </a:lnTo>
                <a:lnTo>
                  <a:pt x="1807" y="320062"/>
                </a:lnTo>
                <a:lnTo>
                  <a:pt x="452" y="287866"/>
                </a:lnTo>
                <a:lnTo>
                  <a:pt x="0" y="255645"/>
                </a:lnTo>
                <a:lnTo>
                  <a:pt x="452" y="223424"/>
                </a:lnTo>
                <a:lnTo>
                  <a:pt x="1807" y="191228"/>
                </a:lnTo>
                <a:lnTo>
                  <a:pt x="4065" y="159083"/>
                </a:lnTo>
                <a:lnTo>
                  <a:pt x="7224" y="127014"/>
                </a:lnTo>
                <a:lnTo>
                  <a:pt x="11280" y="95046"/>
                </a:lnTo>
                <a:lnTo>
                  <a:pt x="16232" y="63204"/>
                </a:lnTo>
                <a:lnTo>
                  <a:pt x="22075" y="31514"/>
                </a:lnTo>
                <a:lnTo>
                  <a:pt x="28804" y="0"/>
                </a:lnTo>
                <a:lnTo>
                  <a:pt x="424117" y="90228"/>
                </a:lnTo>
                <a:lnTo>
                  <a:pt x="419763" y="110619"/>
                </a:lnTo>
                <a:lnTo>
                  <a:pt x="415982" y="131124"/>
                </a:lnTo>
                <a:lnTo>
                  <a:pt x="412778" y="151728"/>
                </a:lnTo>
                <a:lnTo>
                  <a:pt x="410153" y="172413"/>
                </a:lnTo>
                <a:lnTo>
                  <a:pt x="408110" y="193164"/>
                </a:lnTo>
                <a:lnTo>
                  <a:pt x="406649" y="213963"/>
                </a:lnTo>
                <a:lnTo>
                  <a:pt x="405772" y="234796"/>
                </a:lnTo>
                <a:lnTo>
                  <a:pt x="405479" y="255645"/>
                </a:lnTo>
                <a:lnTo>
                  <a:pt x="405772" y="276494"/>
                </a:lnTo>
                <a:lnTo>
                  <a:pt x="406649" y="297326"/>
                </a:lnTo>
                <a:lnTo>
                  <a:pt x="408110" y="318126"/>
                </a:lnTo>
                <a:lnTo>
                  <a:pt x="410153" y="338877"/>
                </a:lnTo>
                <a:lnTo>
                  <a:pt x="412778" y="359562"/>
                </a:lnTo>
                <a:lnTo>
                  <a:pt x="415982" y="380165"/>
                </a:lnTo>
                <a:lnTo>
                  <a:pt x="419763" y="400671"/>
                </a:lnTo>
                <a:lnTo>
                  <a:pt x="424117" y="421062"/>
                </a:lnTo>
                <a:lnTo>
                  <a:pt x="429042" y="441323"/>
                </a:lnTo>
                <a:lnTo>
                  <a:pt x="434532" y="461438"/>
                </a:lnTo>
                <a:lnTo>
                  <a:pt x="440585" y="481391"/>
                </a:lnTo>
                <a:lnTo>
                  <a:pt x="447195" y="501167"/>
                </a:lnTo>
                <a:lnTo>
                  <a:pt x="454357" y="520749"/>
                </a:lnTo>
                <a:lnTo>
                  <a:pt x="462065" y="540123"/>
                </a:lnTo>
                <a:lnTo>
                  <a:pt x="470314" y="559273"/>
                </a:lnTo>
                <a:lnTo>
                  <a:pt x="479097" y="578184"/>
                </a:lnTo>
                <a:lnTo>
                  <a:pt x="488406" y="596842"/>
                </a:lnTo>
                <a:lnTo>
                  <a:pt x="498235" y="615231"/>
                </a:lnTo>
                <a:lnTo>
                  <a:pt x="508576" y="633337"/>
                </a:lnTo>
                <a:lnTo>
                  <a:pt x="519421" y="651146"/>
                </a:lnTo>
                <a:lnTo>
                  <a:pt x="530761" y="668644"/>
                </a:lnTo>
                <a:lnTo>
                  <a:pt x="542587" y="685816"/>
                </a:lnTo>
                <a:lnTo>
                  <a:pt x="554890" y="702651"/>
                </a:lnTo>
                <a:lnTo>
                  <a:pt x="567661" y="719133"/>
                </a:lnTo>
                <a:close/>
              </a:path>
            </a:pathLst>
          </a:custGeom>
          <a:solidFill>
            <a:srgbClr val="D97757"/>
          </a:solidFill>
          <a:ln w="12700">
            <a:solidFill>
              <a:srgbClr val="FAF9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23121" y="2087589"/>
            <a:ext cx="656565" cy="732796"/>
          </a:xfrm>
          <a:custGeom>
            <a:avLst/>
            <a:gdLst/>
            <a:ahLst/>
            <a:cxnLst/>
            <a:rect l="l" t="t" r="r" b="b"/>
            <a:pathLst>
              <a:path w="656565" h="732796">
                <a:moveTo>
                  <a:pt x="0" y="642568"/>
                </a:moveTo>
                <a:lnTo>
                  <a:pt x="5626" y="619063"/>
                </a:lnTo>
                <a:lnTo>
                  <a:pt x="11744" y="595682"/>
                </a:lnTo>
                <a:lnTo>
                  <a:pt x="18354" y="572435"/>
                </a:lnTo>
                <a:lnTo>
                  <a:pt x="25450" y="549332"/>
                </a:lnTo>
                <a:lnTo>
                  <a:pt x="33032" y="526383"/>
                </a:lnTo>
                <a:lnTo>
                  <a:pt x="41094" y="503599"/>
                </a:lnTo>
                <a:lnTo>
                  <a:pt x="49634" y="480989"/>
                </a:lnTo>
                <a:lnTo>
                  <a:pt x="58647" y="458564"/>
                </a:lnTo>
                <a:lnTo>
                  <a:pt x="68131" y="436334"/>
                </a:lnTo>
                <a:lnTo>
                  <a:pt x="78079" y="414308"/>
                </a:lnTo>
                <a:lnTo>
                  <a:pt x="88489" y="392496"/>
                </a:lnTo>
                <a:lnTo>
                  <a:pt x="99356" y="370908"/>
                </a:lnTo>
                <a:lnTo>
                  <a:pt x="110674" y="349554"/>
                </a:lnTo>
                <a:lnTo>
                  <a:pt x="122439" y="328442"/>
                </a:lnTo>
                <a:lnTo>
                  <a:pt x="134645" y="307582"/>
                </a:lnTo>
                <a:lnTo>
                  <a:pt x="147288" y="286984"/>
                </a:lnTo>
                <a:lnTo>
                  <a:pt x="160361" y="266656"/>
                </a:lnTo>
                <a:lnTo>
                  <a:pt x="173859" y="246608"/>
                </a:lnTo>
                <a:lnTo>
                  <a:pt x="187775" y="226848"/>
                </a:lnTo>
                <a:lnTo>
                  <a:pt x="202104" y="207385"/>
                </a:lnTo>
                <a:lnTo>
                  <a:pt x="216840" y="188228"/>
                </a:lnTo>
                <a:lnTo>
                  <a:pt x="231975" y="169385"/>
                </a:lnTo>
                <a:lnTo>
                  <a:pt x="247503" y="150865"/>
                </a:lnTo>
                <a:lnTo>
                  <a:pt x="263417" y="132676"/>
                </a:lnTo>
                <a:lnTo>
                  <a:pt x="279710" y="114825"/>
                </a:lnTo>
                <a:lnTo>
                  <a:pt x="296375" y="97321"/>
                </a:lnTo>
                <a:lnTo>
                  <a:pt x="313405" y="80171"/>
                </a:lnTo>
                <a:lnTo>
                  <a:pt x="330792" y="63384"/>
                </a:lnTo>
                <a:lnTo>
                  <a:pt x="348528" y="46966"/>
                </a:lnTo>
                <a:lnTo>
                  <a:pt x="366605" y="30924"/>
                </a:lnTo>
                <a:lnTo>
                  <a:pt x="385016" y="15267"/>
                </a:lnTo>
                <a:lnTo>
                  <a:pt x="403753" y="0"/>
                </a:lnTo>
                <a:lnTo>
                  <a:pt x="656565" y="317016"/>
                </a:lnTo>
                <a:lnTo>
                  <a:pt x="644441" y="326895"/>
                </a:lnTo>
                <a:lnTo>
                  <a:pt x="632528" y="337026"/>
                </a:lnTo>
                <a:lnTo>
                  <a:pt x="620831" y="347406"/>
                </a:lnTo>
                <a:lnTo>
                  <a:pt x="609355" y="358029"/>
                </a:lnTo>
                <a:lnTo>
                  <a:pt x="598105" y="368892"/>
                </a:lnTo>
                <a:lnTo>
                  <a:pt x="587085" y="379988"/>
                </a:lnTo>
                <a:lnTo>
                  <a:pt x="576302" y="391315"/>
                </a:lnTo>
                <a:lnTo>
                  <a:pt x="565759" y="402865"/>
                </a:lnTo>
                <a:lnTo>
                  <a:pt x="555462" y="414635"/>
                </a:lnTo>
                <a:lnTo>
                  <a:pt x="545414" y="426619"/>
                </a:lnTo>
                <a:lnTo>
                  <a:pt x="535621" y="438811"/>
                </a:lnTo>
                <a:lnTo>
                  <a:pt x="526086" y="451207"/>
                </a:lnTo>
                <a:lnTo>
                  <a:pt x="516815" y="463800"/>
                </a:lnTo>
                <a:lnTo>
                  <a:pt x="507810" y="476586"/>
                </a:lnTo>
                <a:lnTo>
                  <a:pt x="499076" y="489558"/>
                </a:lnTo>
                <a:lnTo>
                  <a:pt x="490617" y="502712"/>
                </a:lnTo>
                <a:lnTo>
                  <a:pt x="482437" y="516040"/>
                </a:lnTo>
                <a:lnTo>
                  <a:pt x="474538" y="529537"/>
                </a:lnTo>
                <a:lnTo>
                  <a:pt x="466926" y="543198"/>
                </a:lnTo>
                <a:lnTo>
                  <a:pt x="459602" y="557016"/>
                </a:lnTo>
                <a:lnTo>
                  <a:pt x="452571" y="570984"/>
                </a:lnTo>
                <a:lnTo>
                  <a:pt x="445835" y="585098"/>
                </a:lnTo>
                <a:lnTo>
                  <a:pt x="439398" y="599350"/>
                </a:lnTo>
                <a:lnTo>
                  <a:pt x="433261" y="613734"/>
                </a:lnTo>
                <a:lnTo>
                  <a:pt x="427429" y="628245"/>
                </a:lnTo>
                <a:lnTo>
                  <a:pt x="421903" y="642874"/>
                </a:lnTo>
                <a:lnTo>
                  <a:pt x="416686" y="657617"/>
                </a:lnTo>
                <a:lnTo>
                  <a:pt x="411781" y="672466"/>
                </a:lnTo>
                <a:lnTo>
                  <a:pt x="407189" y="687415"/>
                </a:lnTo>
                <a:lnTo>
                  <a:pt x="402912" y="702458"/>
                </a:lnTo>
                <a:lnTo>
                  <a:pt x="398953" y="717587"/>
                </a:lnTo>
                <a:lnTo>
                  <a:pt x="395313" y="732796"/>
                </a:lnTo>
                <a:close/>
              </a:path>
            </a:pathLst>
          </a:custGeom>
          <a:solidFill>
            <a:srgbClr val="7A8B4E"/>
          </a:solidFill>
          <a:ln w="12700">
            <a:solidFill>
              <a:srgbClr val="FAF9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6874" y="1836944"/>
            <a:ext cx="716301" cy="567661"/>
          </a:xfrm>
          <a:custGeom>
            <a:avLst/>
            <a:gdLst/>
            <a:ahLst/>
            <a:cxnLst/>
            <a:rect l="l" t="t" r="r" b="b"/>
            <a:pathLst>
              <a:path w="716301" h="567661">
                <a:moveTo>
                  <a:pt x="0" y="250645"/>
                </a:moveTo>
                <a:lnTo>
                  <a:pt x="19053" y="235776"/>
                </a:lnTo>
                <a:lnTo>
                  <a:pt x="38415" y="221310"/>
                </a:lnTo>
                <a:lnTo>
                  <a:pt x="58077" y="207256"/>
                </a:lnTo>
                <a:lnTo>
                  <a:pt x="78030" y="193618"/>
                </a:lnTo>
                <a:lnTo>
                  <a:pt x="98265" y="180402"/>
                </a:lnTo>
                <a:lnTo>
                  <a:pt x="118775" y="167616"/>
                </a:lnTo>
                <a:lnTo>
                  <a:pt x="139548" y="155263"/>
                </a:lnTo>
                <a:lnTo>
                  <a:pt x="160577" y="143351"/>
                </a:lnTo>
                <a:lnTo>
                  <a:pt x="181852" y="131883"/>
                </a:lnTo>
                <a:lnTo>
                  <a:pt x="203363" y="120866"/>
                </a:lnTo>
                <a:lnTo>
                  <a:pt x="225101" y="110303"/>
                </a:lnTo>
                <a:lnTo>
                  <a:pt x="247057" y="100200"/>
                </a:lnTo>
                <a:lnTo>
                  <a:pt x="269220" y="90561"/>
                </a:lnTo>
                <a:lnTo>
                  <a:pt x="291581" y="81390"/>
                </a:lnTo>
                <a:lnTo>
                  <a:pt x="314130" y="72692"/>
                </a:lnTo>
                <a:lnTo>
                  <a:pt x="336857" y="64470"/>
                </a:lnTo>
                <a:lnTo>
                  <a:pt x="359752" y="56728"/>
                </a:lnTo>
                <a:lnTo>
                  <a:pt x="382805" y="49470"/>
                </a:lnTo>
                <a:lnTo>
                  <a:pt x="406006" y="42697"/>
                </a:lnTo>
                <a:lnTo>
                  <a:pt x="429343" y="36415"/>
                </a:lnTo>
                <a:lnTo>
                  <a:pt x="452808" y="30625"/>
                </a:lnTo>
                <a:lnTo>
                  <a:pt x="476389" y="25329"/>
                </a:lnTo>
                <a:lnTo>
                  <a:pt x="500077" y="20531"/>
                </a:lnTo>
                <a:lnTo>
                  <a:pt x="523860" y="16232"/>
                </a:lnTo>
                <a:lnTo>
                  <a:pt x="547729" y="12435"/>
                </a:lnTo>
                <a:lnTo>
                  <a:pt x="571672" y="9140"/>
                </a:lnTo>
                <a:lnTo>
                  <a:pt x="595678" y="6350"/>
                </a:lnTo>
                <a:lnTo>
                  <a:pt x="619739" y="4065"/>
                </a:lnTo>
                <a:lnTo>
                  <a:pt x="643842" y="2287"/>
                </a:lnTo>
                <a:lnTo>
                  <a:pt x="667977" y="1017"/>
                </a:lnTo>
                <a:lnTo>
                  <a:pt x="692134" y="254"/>
                </a:lnTo>
                <a:lnTo>
                  <a:pt x="716301" y="0"/>
                </a:lnTo>
                <a:lnTo>
                  <a:pt x="716301" y="405479"/>
                </a:lnTo>
                <a:lnTo>
                  <a:pt x="700663" y="405644"/>
                </a:lnTo>
                <a:lnTo>
                  <a:pt x="685033" y="406137"/>
                </a:lnTo>
                <a:lnTo>
                  <a:pt x="669416" y="406959"/>
                </a:lnTo>
                <a:lnTo>
                  <a:pt x="653820" y="408110"/>
                </a:lnTo>
                <a:lnTo>
                  <a:pt x="638251" y="409588"/>
                </a:lnTo>
                <a:lnTo>
                  <a:pt x="622717" y="411393"/>
                </a:lnTo>
                <a:lnTo>
                  <a:pt x="607225" y="413525"/>
                </a:lnTo>
                <a:lnTo>
                  <a:pt x="591781" y="415982"/>
                </a:lnTo>
                <a:lnTo>
                  <a:pt x="576391" y="418764"/>
                </a:lnTo>
                <a:lnTo>
                  <a:pt x="561064" y="421869"/>
                </a:lnTo>
                <a:lnTo>
                  <a:pt x="545806" y="425295"/>
                </a:lnTo>
                <a:lnTo>
                  <a:pt x="530623" y="429042"/>
                </a:lnTo>
                <a:lnTo>
                  <a:pt x="515522" y="433107"/>
                </a:lnTo>
                <a:lnTo>
                  <a:pt x="500510" y="437489"/>
                </a:lnTo>
                <a:lnTo>
                  <a:pt x="485593" y="442186"/>
                </a:lnTo>
                <a:lnTo>
                  <a:pt x="470779" y="447195"/>
                </a:lnTo>
                <a:lnTo>
                  <a:pt x="456073" y="452515"/>
                </a:lnTo>
                <a:lnTo>
                  <a:pt x="441482" y="458143"/>
                </a:lnTo>
                <a:lnTo>
                  <a:pt x="427013" y="464077"/>
                </a:lnTo>
                <a:lnTo>
                  <a:pt x="412672" y="470314"/>
                </a:lnTo>
                <a:lnTo>
                  <a:pt x="398466" y="476852"/>
                </a:lnTo>
                <a:lnTo>
                  <a:pt x="384400" y="483686"/>
                </a:lnTo>
                <a:lnTo>
                  <a:pt x="370481" y="490815"/>
                </a:lnTo>
                <a:lnTo>
                  <a:pt x="356715" y="498235"/>
                </a:lnTo>
                <a:lnTo>
                  <a:pt x="343108" y="505944"/>
                </a:lnTo>
                <a:lnTo>
                  <a:pt x="329666" y="513936"/>
                </a:lnTo>
                <a:lnTo>
                  <a:pt x="316396" y="522210"/>
                </a:lnTo>
                <a:lnTo>
                  <a:pt x="303302" y="530761"/>
                </a:lnTo>
                <a:lnTo>
                  <a:pt x="290391" y="539586"/>
                </a:lnTo>
                <a:lnTo>
                  <a:pt x="277669" y="548680"/>
                </a:lnTo>
                <a:lnTo>
                  <a:pt x="265141" y="558040"/>
                </a:lnTo>
                <a:lnTo>
                  <a:pt x="252812" y="567661"/>
                </a:lnTo>
                <a:close/>
              </a:path>
            </a:pathLst>
          </a:custGeom>
          <a:solidFill>
            <a:srgbClr val="E8E6DC"/>
          </a:solidFill>
          <a:ln w="12700">
            <a:solidFill>
              <a:srgbClr val="FAF9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53960" y="2646787"/>
            <a:ext cx="162948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4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厂房建设 120万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692543" y="4125137"/>
            <a:ext cx="14687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4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设备采购 60万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-236365" y="3196229"/>
            <a:ext cx="14687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4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品牌推广 40万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-78088" y="2264670"/>
            <a:ext cx="14687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4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培训经费 30万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559507" y="1756206"/>
            <a:ext cx="1468755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4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流动资金 30万</a:t>
            </a:r>
            <a:endParaRPr lang="en-US" sz="844" dirty="0"/>
          </a:p>
        </p:txBody>
      </p:sp>
      <p:sp>
        <p:nvSpPr>
          <p:cNvPr id="19" name="Shape 17"/>
          <p:cNvSpPr/>
          <p:nvPr/>
        </p:nvSpPr>
        <p:spPr>
          <a:xfrm>
            <a:off x="5044771" y="990470"/>
            <a:ext cx="3886200" cy="664369"/>
          </a:xfrm>
          <a:prstGeom prst="roundRect">
            <a:avLst>
              <a:gd name="adj" fmla="val 2960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44771" y="1728397"/>
            <a:ext cx="3886200" cy="664369"/>
          </a:xfrm>
          <a:prstGeom prst="roundRect">
            <a:avLst>
              <a:gd name="adj" fmla="val 2960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44771" y="2466324"/>
            <a:ext cx="3886200" cy="664369"/>
          </a:xfrm>
          <a:prstGeom prst="roundRect">
            <a:avLst>
              <a:gd name="adj" fmla="val 2960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44771" y="3204251"/>
            <a:ext cx="3886200" cy="664369"/>
          </a:xfrm>
          <a:prstGeom prst="roundRect">
            <a:avLst>
              <a:gd name="adj" fmla="val 2960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4771" y="3942178"/>
            <a:ext cx="3886200" cy="664369"/>
          </a:xfrm>
          <a:prstGeom prst="roundRect">
            <a:avLst>
              <a:gd name="adj" fmla="val 2960"/>
            </a:avLst>
          </a:prstGeom>
          <a:solidFill>
            <a:srgbClr val="FAF9F5"/>
          </a:solidFill>
          <a:ln w="6191">
            <a:solidFill>
              <a:srgbClr val="F0E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313" y="498277"/>
            <a:ext cx="8715375" cy="278606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总投资280万元五大用途，与三年规划逐项对应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272188" y="987623"/>
            <a:ext cx="1443038" cy="185738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总投资 280万元 · 资金构成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67318" y="1023342"/>
            <a:ext cx="650081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金额单位：万元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194790" y="1052978"/>
            <a:ext cx="3801332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厂房建设 </a:t>
            </a:r>
            <a:pPr algn="l" indent="0" marL="0">
              <a:buNone/>
            </a:pPr>
            <a:r>
              <a:rPr lang="en-US" sz="9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120万</a:t>
            </a:r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占比约42.9%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94790" y="1450516"/>
            <a:ext cx="3586162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对应第一年建成800平米竹编工坊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194790" y="1790905"/>
            <a:ext cx="3801332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设备采购 </a:t>
            </a:r>
            <a:pPr algn="l" indent="0" marL="0">
              <a:buNone/>
            </a:pPr>
            <a:r>
              <a:rPr lang="en-US" sz="9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60万</a:t>
            </a:r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占比约21.4%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94790" y="2188443"/>
            <a:ext cx="3586162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对应第二年扩产至年产10万件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194790" y="2528832"/>
            <a:ext cx="3801332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培训经费 </a:t>
            </a:r>
            <a:pPr algn="l" indent="0" marL="0">
              <a:buNone/>
            </a:pPr>
            <a:r>
              <a:rPr lang="en-US" sz="9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30万</a:t>
            </a:r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占比约10.7%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194790" y="2926370"/>
            <a:ext cx="3586162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对应第一年培训50名编织人员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194790" y="3266759"/>
            <a:ext cx="3801332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品牌推广 </a:t>
            </a:r>
            <a:pPr algn="l" indent="0" marL="0">
              <a:buNone/>
            </a:pPr>
            <a:r>
              <a:rPr lang="en-US" sz="9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40万</a:t>
            </a:r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占比约14.3%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94790" y="3664297"/>
            <a:ext cx="3586162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对应第三年品牌建设与入驻电商平台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194790" y="4004686"/>
            <a:ext cx="3801332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流动资金 </a:t>
            </a:r>
            <a:pPr algn="l" indent="0" marL="0">
              <a:buNone/>
            </a:pPr>
            <a:r>
              <a:rPr lang="en-US" sz="9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30万</a:t>
            </a:r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 · 占比约10.7%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94790" y="4402224"/>
            <a:ext cx="3586162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保障原料统一采购与订单周转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14313" y="4664869"/>
            <a:ext cx="8715375" cy="150019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数据来源：项目申报材料；占比按各项金额÷总投资280万元计算，测算口径仅供评审参考</a:t>
            </a:r>
            <a:endParaRPr lang="en-US" sz="700" dirty="0"/>
          </a:p>
        </p:txBody>
      </p:sp>
      <p:sp>
        <p:nvSpPr>
          <p:cNvPr id="65535" name="wm:hwcld:2026-09-23T06:43:07:6d421be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4357688" y="1772989"/>
            <a:ext cx="428625" cy="14288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4" name="Shape 2"/>
          <p:cNvSpPr/>
          <p:nvPr/>
        </p:nvSpPr>
        <p:spPr>
          <a:xfrm>
            <a:off x="3355107" y="4145161"/>
            <a:ext cx="300038" cy="300038"/>
          </a:xfrm>
          <a:prstGeom prst="ellipse">
            <a:avLst/>
          </a:prstGeom>
          <a:solidFill>
            <a:srgbClr val="C96442"/>
          </a:solidFill>
          <a:ln/>
        </p:spPr>
      </p:sp>
      <p:sp>
        <p:nvSpPr>
          <p:cNvPr id="5" name="Text 3"/>
          <p:cNvSpPr/>
          <p:nvPr/>
        </p:nvSpPr>
        <p:spPr>
          <a:xfrm>
            <a:off x="4354060" y="685800"/>
            <a:ext cx="435769" cy="150019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96442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FINIS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43238" y="1007938"/>
            <a:ext cx="3057525" cy="564356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40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恳请立项支持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57250" y="1958727"/>
            <a:ext cx="7429500" cy="471488"/>
          </a:xfrm>
          <a:prstGeom prst="rect">
            <a:avLst/>
          </a:prstGeom>
          <a:ln/>
        </p:spPr>
        <p:txBody>
          <a:bodyPr wrap="none" lIns="0" tIns="0" rIns="0" bIns="0" rtlCol="0" anchor="ctr">
            <a:no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让百年竹编技艺薪火相传，让乡亲们在家门口增收致富 —— 恳请县文旅局、县乡村振兴办对非遗竹编工坊产业扶持项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E5D59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目予以立项支持。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68328" y="4132659"/>
            <a:ext cx="2021681" cy="171450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41413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项目申报单位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68328" y="4316611"/>
            <a:ext cx="2021681" cy="142875"/>
          </a:xfrm>
          <a:prstGeom prst="rect">
            <a:avLst/>
          </a:prstGeom>
          <a:ln/>
        </p:spPr>
        <p:txBody>
          <a:bodyPr wrap="non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87867F"/>
                </a:solidFill>
                <a:latin typeface="WenJin Mincho Plane 0" pitchFamily="34" charset="0"/>
                <a:ea typeface="WenJin Mincho Plane 0" pitchFamily="34" charset="-122"/>
                <a:cs typeface="WenJin Mincho Plane 0" pitchFamily="34" charset="-120"/>
              </a:rPr>
              <a:t>2026年9月 · 非遗竹编工坊产业扶持项目评审汇报</a:t>
            </a:r>
            <a:endParaRPr lang="en-US" sz="700" dirty="0"/>
          </a:p>
        </p:txBody>
      </p:sp>
      <p:sp>
        <p:nvSpPr>
          <p:cNvPr id="65535" name="wm:hwcld:2026-09-23T06:43:07:6d421bef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2026-09-23T06:43:21Z</dcterms:created>
  <dcterms:modified xsi:type="dcterms:W3CDTF">2026-09-23T06:43:21Z</dcterms:modified>
</cp:coreProperties>
</file>