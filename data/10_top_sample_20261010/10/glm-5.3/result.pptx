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WenYuan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98004"/>
            <a:ext cx="42863" cy="4000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485" y="311668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197" y="311668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0910" y="311668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242" y="257175"/>
            <a:ext cx="66436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2026年6月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338542" y="267891"/>
            <a:ext cx="5929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管理层决策会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1475" y="1026579"/>
            <a:ext cx="1700213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本次汇报目标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1475" y="1217675"/>
            <a:ext cx="17002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形成可执行的危机应对与分级授权方案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313" y="1539478"/>
            <a:ext cx="8715375" cy="5286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产品安全舆情危机应对与管理层决策汇报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182360"/>
            <a:ext cx="9238298" cy="400050"/>
          </a:xfrm>
          <a:prstGeom prst="rect">
            <a:avLst/>
          </a:prstGeom>
          <a:ln/>
        </p:spPr>
        <p:txBody>
          <a:bodyPr wrap="none" lIns="0" tIns="18217" rIns="0" bIns="18217" rtlCol="0" anchor="ctr">
            <a:no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48小时决策窗口内的</a:t>
            </a:r>
            <a:pPr algn="l" indent="0" marL="0">
              <a:buNone/>
            </a:pPr>
            <a:r>
              <a:rPr lang="en-US" sz="2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事实、影响、声明与行动路线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313" y="2696654"/>
            <a:ext cx="9238298" cy="2214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本次汇报目标是形成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可执行的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危机应对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与分级授权方案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336" y="3238128"/>
            <a:ext cx="421481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44972" y="3359572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503" y="3673897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决策窗口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873922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事实、影响、声明与行动路线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7100" y="3238128"/>
            <a:ext cx="6858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060106" y="3359572"/>
            <a:ext cx="3429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影响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216" y="3673897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声明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873922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48小时决策窗口内的事实、影响、声明与行动路线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69813" y="3238128"/>
            <a:ext cx="13716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危机应对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698618" y="3359572"/>
            <a:ext cx="68580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分级授权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0929" y="3673897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可执行方案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873922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本次汇报目标是形成可执行的危机应对与分级授权方案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3978" y="4743450"/>
            <a:ext cx="450056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2026年6月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92355" y="4743450"/>
            <a:ext cx="557213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管理层决策会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72307" y="4750594"/>
            <a:ext cx="14573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形成可执行的危机应对与分级授权方案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3196" y="1031714"/>
            <a:ext cx="4457700" cy="607219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196" y="1031714"/>
            <a:ext cx="4457700" cy="6072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3196" y="1727113"/>
            <a:ext cx="4457700" cy="607219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196" y="1727113"/>
            <a:ext cx="4457700" cy="6072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3196" y="2422513"/>
            <a:ext cx="4457700" cy="607219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196" y="2422513"/>
            <a:ext cx="4457700" cy="6072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13196" y="3117912"/>
            <a:ext cx="4457700" cy="607219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196" y="3117912"/>
            <a:ext cx="4457700" cy="60721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899440" y="771525"/>
            <a:ext cx="4029075" cy="7143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4899440" y="1596628"/>
            <a:ext cx="4029075" cy="8786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899440" y="2586038"/>
            <a:ext cx="4029075" cy="8786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214313" y="3841998"/>
            <a:ext cx="8715375" cy="728663"/>
          </a:xfrm>
          <a:prstGeom prst="rect">
            <a:avLst/>
          </a:prstGeom>
          <a:solidFill>
            <a:srgbClr val="FFF1EF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313" y="3841998"/>
            <a:ext cx="8715375" cy="7286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厘清事实与传播链，锁定48小时防升级窗口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213196" y="773311"/>
            <a:ext cx="4457700" cy="257175"/>
          </a:xfrm>
          <a:prstGeom prst="rect">
            <a:avLst/>
          </a:prstGeom>
          <a:ln/>
        </p:spPr>
        <p:txBody>
          <a:bodyPr wrap="none" lIns="0" tIns="0" rIns="0" bIns="72866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时间线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56071" y="1119225"/>
            <a:ext cx="42291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6月10日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356071" y="1344253"/>
            <a:ext cx="422910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测评博主发布视频质疑产品有安全隐患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356071" y="1814624"/>
            <a:ext cx="42291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T+24小时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56071" y="2039652"/>
            <a:ext cx="422910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转发破万；评论区负面情绪约72%；已有3个垂类KOL转发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56071" y="2510024"/>
            <a:ext cx="42291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T+36小时（预计）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56071" y="2735052"/>
            <a:ext cx="422910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技术复核结论预计进入可得窗口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56071" y="3205423"/>
            <a:ext cx="42291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T+48小时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56071" y="3430451"/>
            <a:ext cx="422910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如无有效回应，可能升级为抵制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020884" y="864394"/>
            <a:ext cx="37861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传播链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019880" y="1148358"/>
            <a:ext cx="357187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触发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434329" y="1184077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605890" y="1148358"/>
            <a:ext cx="357187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扩散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020340" y="1184077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191901" y="1148358"/>
            <a:ext cx="4714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待复核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720650" y="1184077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892212" y="1148358"/>
            <a:ext cx="4714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防升级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020884" y="1689497"/>
            <a:ext cx="37861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已核实事实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020884" y="1973461"/>
            <a:ext cx="3786188" cy="4071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24小时内转发破万；评论区负面情绪约72%；已有3个垂类KOL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转发；尚无权威媒体跟进。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5020884" y="2678906"/>
            <a:ext cx="3786188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待复核事项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020884" y="2962870"/>
            <a:ext cx="3786188" cy="4071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技术复核预计还需36小时；指控逐句真伪、检测证据、批次核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对结果、产品参数核对结果、客服与退换数据待复核。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85763" y="3972371"/>
            <a:ext cx="8905113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当前处于扩散前夜的质疑期：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若48小时内无有效回应，风险可能从质疑升级为抵制。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85763" y="4233118"/>
            <a:ext cx="840105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前12小时应完成事实边界确认、统一口径、优先客服通道和监测看板，不能等待复核完成后才回应。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来源：[核心材料]；数据有限，基于用户素材；用户素材数值均待业务系统复核。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2527" y="772585"/>
            <a:ext cx="2107406" cy="7643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16373" y="772585"/>
            <a:ext cx="2107406" cy="7643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20220" y="772585"/>
            <a:ext cx="2107406" cy="7643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4067" y="772585"/>
            <a:ext cx="2107406" cy="7643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313" y="1622134"/>
            <a:ext cx="4429125" cy="678656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313" y="2387910"/>
            <a:ext cx="4429125" cy="914400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3389486"/>
            <a:ext cx="4429125" cy="678656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43450" y="1623585"/>
            <a:ext cx="4186238" cy="24431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68741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33059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90234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4553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8872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3191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7068741" y="2204182"/>
            <a:ext cx="0" cy="137160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7803" y="3340039"/>
            <a:ext cx="179022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电商退单量较平时增加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5700006" y="2997138"/>
            <a:ext cx="130802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要官方说明诉求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5860740" y="2654238"/>
            <a:ext cx="114728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退货退款诉求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5860740" y="2311338"/>
            <a:ext cx="114728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舆情负面情绪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673699" y="362293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0.0%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861578" y="362293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20.0%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7124466" y="362293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40.0%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7387355" y="362293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60.0%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7650243" y="3622931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80.0%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7065177" y="3311464"/>
            <a:ext cx="197166" cy="185738"/>
          </a:xfrm>
          <a:custGeom>
            <a:avLst/>
            <a:gdLst/>
            <a:ahLst/>
            <a:cxnLst/>
            <a:rect l="l" t="t" r="r" b="b"/>
            <a:pathLst>
              <a:path w="197166" h="185738">
                <a:moveTo>
                  <a:pt x="0" y="0"/>
                </a:moveTo>
                <a:lnTo>
                  <a:pt x="197166" y="0"/>
                </a:lnTo>
                <a:lnTo>
                  <a:pt x="197166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28" name="Shape 26"/>
          <p:cNvSpPr/>
          <p:nvPr/>
        </p:nvSpPr>
        <p:spPr>
          <a:xfrm>
            <a:off x="7065177" y="2968563"/>
            <a:ext cx="460055" cy="185738"/>
          </a:xfrm>
          <a:custGeom>
            <a:avLst/>
            <a:gdLst/>
            <a:ahLst/>
            <a:cxnLst/>
            <a:rect l="l" t="t" r="r" b="b"/>
            <a:pathLst>
              <a:path w="460055" h="185738">
                <a:moveTo>
                  <a:pt x="0" y="0"/>
                </a:moveTo>
                <a:lnTo>
                  <a:pt x="460055" y="0"/>
                </a:lnTo>
                <a:lnTo>
                  <a:pt x="46005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65177" y="2625663"/>
            <a:ext cx="788666" cy="185738"/>
          </a:xfrm>
          <a:custGeom>
            <a:avLst/>
            <a:gdLst/>
            <a:ahLst/>
            <a:cxnLst/>
            <a:rect l="l" t="t" r="r" b="b"/>
            <a:pathLst>
              <a:path w="788666" h="185738">
                <a:moveTo>
                  <a:pt x="0" y="0"/>
                </a:moveTo>
                <a:lnTo>
                  <a:pt x="788666" y="0"/>
                </a:lnTo>
                <a:lnTo>
                  <a:pt x="788666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30" name="Shape 28"/>
          <p:cNvSpPr/>
          <p:nvPr/>
        </p:nvSpPr>
        <p:spPr>
          <a:xfrm>
            <a:off x="7065177" y="2282763"/>
            <a:ext cx="946398" cy="185738"/>
          </a:xfrm>
          <a:custGeom>
            <a:avLst/>
            <a:gdLst/>
            <a:ahLst/>
            <a:cxnLst/>
            <a:rect l="l" t="t" r="r" b="b"/>
            <a:pathLst>
              <a:path w="946398" h="185738">
                <a:moveTo>
                  <a:pt x="0" y="0"/>
                </a:moveTo>
                <a:lnTo>
                  <a:pt x="946398" y="0"/>
                </a:lnTo>
                <a:lnTo>
                  <a:pt x="94639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31" name="Text 29"/>
          <p:cNvSpPr/>
          <p:nvPr/>
        </p:nvSpPr>
        <p:spPr>
          <a:xfrm>
            <a:off x="7298061" y="3340039"/>
            <a:ext cx="9865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15.0%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7560950" y="2997138"/>
            <a:ext cx="9865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35.0%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7889560" y="2654238"/>
            <a:ext cx="9865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60.0%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8047294" y="2311338"/>
            <a:ext cx="98655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72.0%</a:t>
            </a:r>
            <a:endParaRPr lang="en-US" sz="844" dirty="0"/>
          </a:p>
        </p:txBody>
      </p:sp>
      <p:sp>
        <p:nvSpPr>
          <p:cNvPr id="35" name="Shape 33"/>
          <p:cNvSpPr/>
          <p:nvPr/>
        </p:nvSpPr>
        <p:spPr>
          <a:xfrm>
            <a:off x="214313" y="4152305"/>
            <a:ext cx="8715375" cy="421481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打通舆情与客服退单数据，量化影响并联动预警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19683" y="880467"/>
            <a:ext cx="1893094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破万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319683" y="1279792"/>
            <a:ext cx="18930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视频在24小时内转发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23530" y="880467"/>
            <a:ext cx="200667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</a:t>
            </a:r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个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2523530" y="1279792"/>
            <a:ext cx="18930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KOL转发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27377" y="880467"/>
            <a:ext cx="200667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</a:t>
            </a:r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通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4727377" y="1279792"/>
            <a:ext cx="18930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近三天相关来电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31223" y="880467"/>
            <a:ext cx="200667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15</a:t>
            </a:r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6931223" y="1279792"/>
            <a:ext cx="18930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电商退单量较平时增加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06232" y="1723876"/>
            <a:ext cx="3729038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舆情侧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06232" y="1991767"/>
            <a:ext cx="3729038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视频传播破万、负面情绪约72%、3个KOL转发，风险仍在扩散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07181" y="2505782"/>
            <a:ext cx="4243388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客服侧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07181" y="2775458"/>
            <a:ext cx="4243388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近三天相关来电约40通，其中退货退款约60%、要求官方说明约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35%，且部分用户直接引用视频说法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06344" y="3491285"/>
            <a:ext cx="2021681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经营侧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06344" y="3759175"/>
            <a:ext cx="2021681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电商渠道退单量较平时增加约15%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64894" y="1741624"/>
            <a:ext cx="3943350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影响量化指标（%）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1469" y="4259461"/>
            <a:ext cx="901112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联动看板指标：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转发、负面情绪、来电量、退款量、话题热度和权威媒体信号；管理层每2小时确认一次趋势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数据有限，基于用户素材；用户素材，待验证。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2306"/>
            <a:ext cx="2857500" cy="16430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1469" y="1663936"/>
            <a:ext cx="2643188" cy="642938"/>
          </a:xfrm>
          <a:prstGeom prst="rect">
            <a:avLst/>
          </a:prstGeom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9" y="1663936"/>
            <a:ext cx="2643188" cy="6429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43250" y="772306"/>
            <a:ext cx="2857500" cy="16430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50406" y="1663936"/>
            <a:ext cx="2643188" cy="642938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406" y="1663936"/>
            <a:ext cx="2643188" cy="6429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72188" y="772306"/>
            <a:ext cx="2857500" cy="164306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79344" y="1465529"/>
            <a:ext cx="2643188" cy="842962"/>
          </a:xfrm>
          <a:prstGeom prst="rect">
            <a:avLst/>
          </a:prstGeom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9344" y="1465529"/>
            <a:ext cx="2643188" cy="84296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8625" y="3639517"/>
            <a:ext cx="4500563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28305" y="4260309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首报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681996" y="4260309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进展更新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807137" y="4260309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932277" y="4260309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后续跟进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991195" y="3635946"/>
            <a:ext cx="3375422" cy="0"/>
          </a:xfrm>
          <a:custGeom>
            <a:avLst/>
            <a:gdLst/>
            <a:ahLst/>
            <a:cxnLst/>
            <a:rect l="l" t="t" r="r" b="b"/>
            <a:pathLst>
              <a:path w="3375422" h="0">
                <a:moveTo>
                  <a:pt x="0" y="0"/>
                </a:moveTo>
                <a:lnTo>
                  <a:pt x="1125141" y="0"/>
                </a:lnTo>
                <a:lnTo>
                  <a:pt x="2250281" y="0"/>
                </a:lnTo>
                <a:lnTo>
                  <a:pt x="3375422" y="0"/>
                </a:lnTo>
              </a:path>
            </a:pathLst>
          </a:cu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48333" y="3593083"/>
            <a:ext cx="85725" cy="85725"/>
          </a:xfrm>
          <a:prstGeom prst="ellipse">
            <a:avLst/>
          </a:prstGeom>
          <a:solidFill>
            <a:srgbClr val="D33941"/>
          </a:solidFill>
          <a:ln/>
        </p:spPr>
      </p:sp>
      <p:sp>
        <p:nvSpPr>
          <p:cNvPr id="19" name="Shape 14"/>
          <p:cNvSpPr/>
          <p:nvPr/>
        </p:nvSpPr>
        <p:spPr>
          <a:xfrm>
            <a:off x="2073473" y="3593083"/>
            <a:ext cx="85725" cy="85725"/>
          </a:xfrm>
          <a:prstGeom prst="ellipse">
            <a:avLst/>
          </a:prstGeom>
          <a:solidFill>
            <a:srgbClr val="D33941"/>
          </a:solidFill>
          <a:ln/>
        </p:spPr>
      </p:sp>
      <p:sp>
        <p:nvSpPr>
          <p:cNvPr id="20" name="Shape 15"/>
          <p:cNvSpPr/>
          <p:nvPr/>
        </p:nvSpPr>
        <p:spPr>
          <a:xfrm>
            <a:off x="3198614" y="3593083"/>
            <a:ext cx="85725" cy="85725"/>
          </a:xfrm>
          <a:prstGeom prst="ellipse">
            <a:avLst/>
          </a:prstGeom>
          <a:solidFill>
            <a:srgbClr val="D33941"/>
          </a:solidFill>
          <a:ln/>
        </p:spPr>
      </p:sp>
      <p:sp>
        <p:nvSpPr>
          <p:cNvPr id="21" name="Shape 16"/>
          <p:cNvSpPr/>
          <p:nvPr/>
        </p:nvSpPr>
        <p:spPr>
          <a:xfrm>
            <a:off x="4323755" y="3593083"/>
            <a:ext cx="85725" cy="85725"/>
          </a:xfrm>
          <a:prstGeom prst="ellipse">
            <a:avLst/>
          </a:prstGeom>
          <a:solidFill>
            <a:srgbClr val="D33941"/>
          </a:solidFill>
          <a:ln/>
        </p:spPr>
      </p:sp>
      <p:sp>
        <p:nvSpPr>
          <p:cNvPr id="22" name="Shape 17"/>
          <p:cNvSpPr/>
          <p:nvPr/>
        </p:nvSpPr>
        <p:spPr>
          <a:xfrm>
            <a:off x="485519" y="3221608"/>
            <a:ext cx="1011353" cy="285750"/>
          </a:xfrm>
          <a:custGeom>
            <a:avLst/>
            <a:gdLst/>
            <a:ahLst/>
            <a:cxnLst/>
            <a:rect l="l" t="t" r="r" b="b"/>
            <a:pathLst>
              <a:path w="1011353" h="285750">
                <a:moveTo>
                  <a:pt x="0" y="0"/>
                </a:moveTo>
                <a:lnTo>
                  <a:pt x="1011353" y="0"/>
                </a:lnTo>
                <a:lnTo>
                  <a:pt x="1011353" y="285750"/>
                </a:lnTo>
                <a:lnTo>
                  <a:pt x="0" y="285750"/>
                </a:lnTo>
                <a:close/>
              </a:path>
            </a:pathLst>
          </a:custGeom>
          <a:noFill/>
          <a:ln/>
        </p:spPr>
      </p:sp>
      <p:sp>
        <p:nvSpPr>
          <p:cNvPr id="23" name="Text 18"/>
          <p:cNvSpPr/>
          <p:nvPr/>
        </p:nvSpPr>
        <p:spPr>
          <a:xfrm>
            <a:off x="299680" y="3233038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已关注、已复核、</a:t>
            </a:r>
            <a:endParaRPr lang="en-US" sz="788" dirty="0"/>
          </a:p>
        </p:txBody>
      </p:sp>
      <p:sp>
        <p:nvSpPr>
          <p:cNvPr id="24" name="Text 19"/>
          <p:cNvSpPr/>
          <p:nvPr/>
        </p:nvSpPr>
        <p:spPr>
          <a:xfrm>
            <a:off x="74652" y="3375913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预计36小时、客服入口</a:t>
            </a:r>
            <a:endParaRPr lang="en-US" sz="788" dirty="0"/>
          </a:p>
        </p:txBody>
      </p:sp>
      <p:sp>
        <p:nvSpPr>
          <p:cNvPr id="25" name="Shape 20"/>
          <p:cNvSpPr/>
          <p:nvPr/>
        </p:nvSpPr>
        <p:spPr>
          <a:xfrm>
            <a:off x="1616276" y="3764533"/>
            <a:ext cx="1000121" cy="285750"/>
          </a:xfrm>
          <a:custGeom>
            <a:avLst/>
            <a:gdLst/>
            <a:ahLst/>
            <a:cxnLst/>
            <a:rect l="l" t="t" r="r" b="b"/>
            <a:pathLst>
              <a:path w="1000121" h="285750">
                <a:moveTo>
                  <a:pt x="0" y="0"/>
                </a:moveTo>
                <a:lnTo>
                  <a:pt x="1000121" y="0"/>
                </a:lnTo>
                <a:lnTo>
                  <a:pt x="1000121" y="285750"/>
                </a:lnTo>
                <a:lnTo>
                  <a:pt x="0" y="285750"/>
                </a:lnTo>
                <a:close/>
              </a:path>
            </a:pathLst>
          </a:custGeom>
          <a:noFill/>
          <a:ln/>
        </p:spPr>
      </p:sp>
      <p:sp>
        <p:nvSpPr>
          <p:cNvPr id="26" name="Text 21"/>
          <p:cNvSpPr/>
          <p:nvPr/>
        </p:nvSpPr>
        <p:spPr>
          <a:xfrm>
            <a:off x="1274802" y="3775963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已完成项、未完成项、</a:t>
            </a:r>
            <a:endParaRPr lang="en-US" sz="788" dirty="0"/>
          </a:p>
        </p:txBody>
      </p:sp>
      <p:sp>
        <p:nvSpPr>
          <p:cNvPr id="27" name="Text 22"/>
          <p:cNvSpPr/>
          <p:nvPr/>
        </p:nvSpPr>
        <p:spPr>
          <a:xfrm>
            <a:off x="1574840" y="3918838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预计完成时间</a:t>
            </a:r>
            <a:endParaRPr lang="en-US" sz="788" dirty="0"/>
          </a:p>
        </p:txBody>
      </p:sp>
      <p:sp>
        <p:nvSpPr>
          <p:cNvPr id="28" name="Shape 23"/>
          <p:cNvSpPr/>
          <p:nvPr/>
        </p:nvSpPr>
        <p:spPr>
          <a:xfrm>
            <a:off x="2541392" y="3221608"/>
            <a:ext cx="1400169" cy="285750"/>
          </a:xfrm>
          <a:custGeom>
            <a:avLst/>
            <a:gdLst/>
            <a:ahLst/>
            <a:cxnLst/>
            <a:rect l="l" t="t" r="r" b="b"/>
            <a:pathLst>
              <a:path w="1400169" h="285750">
                <a:moveTo>
                  <a:pt x="0" y="0"/>
                </a:moveTo>
                <a:lnTo>
                  <a:pt x="1400169" y="0"/>
                </a:lnTo>
                <a:lnTo>
                  <a:pt x="1400169" y="285750"/>
                </a:lnTo>
                <a:lnTo>
                  <a:pt x="0" y="285750"/>
                </a:lnTo>
                <a:close/>
              </a:path>
            </a:pathLst>
          </a:custGeom>
          <a:noFill/>
          <a:ln/>
        </p:spPr>
      </p:sp>
      <p:sp>
        <p:nvSpPr>
          <p:cNvPr id="29" name="Text 24"/>
          <p:cNvSpPr/>
          <p:nvPr/>
        </p:nvSpPr>
        <p:spPr>
          <a:xfrm>
            <a:off x="2099905" y="3233038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按证据发布结论；如存在问题，</a:t>
            </a:r>
            <a:endParaRPr lang="en-US" sz="788" dirty="0"/>
          </a:p>
        </p:txBody>
      </p:sp>
      <p:sp>
        <p:nvSpPr>
          <p:cNvPr id="30" name="Text 25"/>
          <p:cNvSpPr/>
          <p:nvPr/>
        </p:nvSpPr>
        <p:spPr>
          <a:xfrm>
            <a:off x="2174915" y="3375913"/>
            <a:ext cx="213312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说明范围、原因、影响和补救</a:t>
            </a:r>
            <a:endParaRPr lang="en-US" sz="788" dirty="0"/>
          </a:p>
        </p:txBody>
      </p:sp>
      <p:sp>
        <p:nvSpPr>
          <p:cNvPr id="31" name="Shape 26"/>
          <p:cNvSpPr/>
          <p:nvPr/>
        </p:nvSpPr>
        <p:spPr>
          <a:xfrm>
            <a:off x="3766545" y="3764533"/>
            <a:ext cx="1200145" cy="285750"/>
          </a:xfrm>
          <a:custGeom>
            <a:avLst/>
            <a:gdLst/>
            <a:ahLst/>
            <a:cxnLst/>
            <a:rect l="l" t="t" r="r" b="b"/>
            <a:pathLst>
              <a:path w="1200145" h="285750">
                <a:moveTo>
                  <a:pt x="0" y="0"/>
                </a:moveTo>
                <a:lnTo>
                  <a:pt x="1200145" y="0"/>
                </a:lnTo>
                <a:lnTo>
                  <a:pt x="1200145" y="285750"/>
                </a:lnTo>
                <a:lnTo>
                  <a:pt x="0" y="285750"/>
                </a:lnTo>
                <a:close/>
              </a:path>
            </a:pathLst>
          </a:custGeom>
          <a:noFill/>
          <a:ln/>
        </p:spPr>
      </p:sp>
      <p:sp>
        <p:nvSpPr>
          <p:cNvPr id="32" name="Text 27"/>
          <p:cNvSpPr/>
          <p:nvPr/>
        </p:nvSpPr>
        <p:spPr>
          <a:xfrm>
            <a:off x="3375065" y="3775963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公布处理进度和客服通道，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3975140" y="3918838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避免沉默</a:t>
            </a:r>
            <a:endParaRPr lang="en-US" sz="788" dirty="0"/>
          </a:p>
        </p:txBody>
      </p:sp>
      <p:sp>
        <p:nvSpPr>
          <p:cNvPr id="34" name="Shape 29"/>
          <p:cNvSpPr/>
          <p:nvPr/>
        </p:nvSpPr>
        <p:spPr>
          <a:xfrm>
            <a:off x="285750" y="2542952"/>
            <a:ext cx="728663" cy="235744"/>
          </a:xfrm>
          <a:custGeom>
            <a:avLst/>
            <a:gdLst/>
            <a:ahLst/>
            <a:cxnLst/>
            <a:rect l="l" t="t" r="r" b="b"/>
            <a:pathLst>
              <a:path w="728663" h="235744">
                <a:moveTo>
                  <a:pt x="0" y="0"/>
                </a:moveTo>
                <a:lnTo>
                  <a:pt x="728663" y="0"/>
                </a:lnTo>
                <a:lnTo>
                  <a:pt x="728663" y="235744"/>
                </a:lnTo>
                <a:lnTo>
                  <a:pt x="0" y="235744"/>
                </a:lnTo>
                <a:close/>
              </a:path>
            </a:pathLst>
          </a:custGeom>
          <a:noFill/>
          <a:ln/>
        </p:spPr>
      </p:sp>
      <p:sp>
        <p:nvSpPr>
          <p:cNvPr id="35" name="Text 30"/>
          <p:cNvSpPr/>
          <p:nvPr/>
        </p:nvSpPr>
        <p:spPr>
          <a:xfrm>
            <a:off x="321469" y="2562240"/>
            <a:ext cx="1168718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94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发布节奏</a:t>
            </a:r>
            <a:endParaRPr lang="en-US" sz="1294" dirty="0"/>
          </a:p>
        </p:txBody>
      </p:sp>
      <p:sp>
        <p:nvSpPr>
          <p:cNvPr id="36" name="Shape 31"/>
          <p:cNvSpPr/>
          <p:nvPr/>
        </p:nvSpPr>
        <p:spPr>
          <a:xfrm>
            <a:off x="5214938" y="2485913"/>
            <a:ext cx="3714750" cy="2085975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322094" y="3259113"/>
            <a:ext cx="3500437" cy="2071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2094" y="3259113"/>
            <a:ext cx="3500437" cy="207169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5322094" y="3508753"/>
            <a:ext cx="3500437" cy="2071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2094" y="3508753"/>
            <a:ext cx="3500437" cy="207169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5322094" y="3758450"/>
            <a:ext cx="3500437" cy="2071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22094" y="3758450"/>
            <a:ext cx="3500437" cy="207169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322094" y="4008146"/>
            <a:ext cx="3500437" cy="2071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22094" y="4008146"/>
            <a:ext cx="3500437" cy="207169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5322094" y="4257842"/>
            <a:ext cx="3500437" cy="2071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22094" y="4257842"/>
            <a:ext cx="3500437" cy="207169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重写声明先稳预期，避免话说过满与追责激化</a:t>
            </a:r>
            <a:endParaRPr lang="en-US" sz="2000" dirty="0"/>
          </a:p>
        </p:txBody>
      </p:sp>
      <p:sp>
        <p:nvSpPr>
          <p:cNvPr id="48" name="Text 38"/>
          <p:cNvSpPr/>
          <p:nvPr/>
        </p:nvSpPr>
        <p:spPr>
          <a:xfrm>
            <a:off x="321469" y="881862"/>
            <a:ext cx="2643188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“我司产品均符合国家标准”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321469" y="1083283"/>
            <a:ext cx="2643188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全称结论过满，复核未完成时缺乏完整证据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链。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321469" y="1727895"/>
            <a:ext cx="26431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建议改写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321469" y="1913967"/>
            <a:ext cx="2643188" cy="3929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已启动全链路技术复核，预计还需36小时；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复核完成后披露核查范围、方法和结果。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3250406" y="881862"/>
            <a:ext cx="2643188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“视频内容与事实不符”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3250406" y="1083283"/>
            <a:ext cx="2643188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提前否定争议内容，若复核发现问题会造成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立场反转。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3250406" y="1727895"/>
            <a:ext cx="26431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建议改写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3250406" y="1913967"/>
            <a:ext cx="2643188" cy="3929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已关注视频所反映的情况，已调取相关记录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复核，并将根据结果更新说明。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6179344" y="881862"/>
            <a:ext cx="2643188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“我司保留追究法律责任的权利”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6179344" y="1081497"/>
            <a:ext cx="2643188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易被解读为施压和对抗，激化消费者情绪。</a:t>
            </a:r>
            <a:endParaRPr lang="en-US" sz="1000" dirty="0"/>
          </a:p>
        </p:txBody>
      </p:sp>
      <p:sp>
        <p:nvSpPr>
          <p:cNvPr id="58" name="Text 48"/>
          <p:cNvSpPr/>
          <p:nvPr/>
        </p:nvSpPr>
        <p:spPr>
          <a:xfrm>
            <a:off x="6179344" y="1531107"/>
            <a:ext cx="26431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建议改写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6179344" y="1715560"/>
            <a:ext cx="2643188" cy="5929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已购买相关产品或有使用疑虑，可通过官方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客服渠道联系我们；法律行动待事实确认后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另行评估。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5322094" y="2591172"/>
            <a:ext cx="3500437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签核机制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5322094" y="2867211"/>
            <a:ext cx="3500437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重点检查是否存在全称判断、未验证事实、不可履行承诺和情绪化威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慑。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5414739" y="3273400"/>
            <a:ext cx="2693194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事实确认：技术/质量负责人 → 事实边界清单</a:t>
            </a:r>
            <a:endParaRPr lang="en-US" sz="1000" dirty="0"/>
          </a:p>
        </p:txBody>
      </p:sp>
      <p:sp>
        <p:nvSpPr>
          <p:cNvPr id="63" name="Text 53"/>
          <p:cNvSpPr/>
          <p:nvPr/>
        </p:nvSpPr>
        <p:spPr>
          <a:xfrm>
            <a:off x="5416693" y="3522985"/>
            <a:ext cx="2364581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法律边界：法务负责人 → 法务修改意见</a:t>
            </a:r>
            <a:endParaRPr lang="en-US" sz="1000" dirty="0"/>
          </a:p>
        </p:txBody>
      </p:sp>
      <p:sp>
        <p:nvSpPr>
          <p:cNvPr id="64" name="Text 54"/>
          <p:cNvSpPr/>
          <p:nvPr/>
        </p:nvSpPr>
        <p:spPr>
          <a:xfrm>
            <a:off x="5416693" y="3772681"/>
            <a:ext cx="2771775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用户出口：客服负责人 → 客服口径与处理流程</a:t>
            </a:r>
            <a:endParaRPr lang="en-US" sz="1000" dirty="0"/>
          </a:p>
        </p:txBody>
      </p:sp>
      <p:sp>
        <p:nvSpPr>
          <p:cNvPr id="65" name="Text 55"/>
          <p:cNvSpPr/>
          <p:nvPr/>
        </p:nvSpPr>
        <p:spPr>
          <a:xfrm>
            <a:off x="5416693" y="4022378"/>
            <a:ext cx="2228850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对外表达：传播负责人 → 待签声明稿</a:t>
            </a:r>
            <a:endParaRPr lang="en-US" sz="1000" dirty="0"/>
          </a:p>
        </p:txBody>
      </p:sp>
      <p:sp>
        <p:nvSpPr>
          <p:cNvPr id="66" name="Text 56"/>
          <p:cNvSpPr/>
          <p:nvPr/>
        </p:nvSpPr>
        <p:spPr>
          <a:xfrm>
            <a:off x="5416693" y="4272074"/>
            <a:ext cx="3043238" cy="17859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终审发布：公司授权决策人 → 签核记录与发布版本</a:t>
            </a:r>
            <a:endParaRPr lang="en-US" sz="1000" dirty="0"/>
          </a:p>
        </p:txBody>
      </p:sp>
      <p:sp>
        <p:nvSpPr>
          <p:cNvPr id="67" name="Text 57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数据来源：用户核心材料；数据有限，待相关部门确认后补充。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311"/>
            <a:ext cx="2357438" cy="9144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313" y="1772543"/>
            <a:ext cx="2357438" cy="28003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39428" y="2248495"/>
            <a:ext cx="0" cy="2100263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76" y="3930134"/>
            <a:ext cx="10401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KOL转发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576" y="3230047"/>
            <a:ext cx="10401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退单量变化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026" y="2529959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负面情绪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35856" y="3905845"/>
            <a:ext cx="20574" cy="185738"/>
          </a:xfrm>
          <a:custGeom>
            <a:avLst/>
            <a:gdLst/>
            <a:ahLst/>
            <a:cxnLst/>
            <a:rect l="l" t="t" r="r" b="b"/>
            <a:pathLst>
              <a:path w="20574" h="185738">
                <a:moveTo>
                  <a:pt x="0" y="0"/>
                </a:moveTo>
                <a:lnTo>
                  <a:pt x="20574" y="0"/>
                </a:lnTo>
                <a:lnTo>
                  <a:pt x="20574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10" name="Shape 8"/>
          <p:cNvSpPr/>
          <p:nvPr/>
        </p:nvSpPr>
        <p:spPr>
          <a:xfrm>
            <a:off x="1135856" y="3205758"/>
            <a:ext cx="102870" cy="185738"/>
          </a:xfrm>
          <a:custGeom>
            <a:avLst/>
            <a:gdLst/>
            <a:ahLst/>
            <a:cxnLst/>
            <a:rect l="l" t="t" r="r" b="b"/>
            <a:pathLst>
              <a:path w="102870" h="185738">
                <a:moveTo>
                  <a:pt x="0" y="0"/>
                </a:moveTo>
                <a:lnTo>
                  <a:pt x="102870" y="0"/>
                </a:lnTo>
                <a:lnTo>
                  <a:pt x="10287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11" name="Shape 9"/>
          <p:cNvSpPr/>
          <p:nvPr/>
        </p:nvSpPr>
        <p:spPr>
          <a:xfrm>
            <a:off x="1135856" y="2505670"/>
            <a:ext cx="493776" cy="185738"/>
          </a:xfrm>
          <a:custGeom>
            <a:avLst/>
            <a:gdLst/>
            <a:ahLst/>
            <a:cxnLst/>
            <a:rect l="l" t="t" r="r" b="b"/>
            <a:pathLst>
              <a:path w="493776" h="185738">
                <a:moveTo>
                  <a:pt x="0" y="0"/>
                </a:moveTo>
                <a:lnTo>
                  <a:pt x="493776" y="0"/>
                </a:lnTo>
                <a:lnTo>
                  <a:pt x="493776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12" name="Text 10"/>
          <p:cNvSpPr/>
          <p:nvPr/>
        </p:nvSpPr>
        <p:spPr>
          <a:xfrm>
            <a:off x="1192149" y="3917275"/>
            <a:ext cx="590074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9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3个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1274445" y="3217188"/>
            <a:ext cx="201525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9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较平时增加约15%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1665351" y="2517100"/>
            <a:ext cx="997268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9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约72%</a:t>
            </a:r>
            <a:endParaRPr lang="en-US" sz="1069" dirty="0"/>
          </a:p>
        </p:txBody>
      </p:sp>
      <p:sp>
        <p:nvSpPr>
          <p:cNvPr id="15" name="Shape 13"/>
          <p:cNvSpPr/>
          <p:nvPr/>
        </p:nvSpPr>
        <p:spPr>
          <a:xfrm>
            <a:off x="2671763" y="1454646"/>
            <a:ext cx="3057525" cy="11287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2163" y="1454646"/>
            <a:ext cx="3057525" cy="1128713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1763" y="2722662"/>
            <a:ext cx="3057525" cy="1471612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2163" y="2722662"/>
            <a:ext cx="3057525" cy="13001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四级动态授权：让风险证据决定响应级别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0044" y="887611"/>
            <a:ext cx="20859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当前建议判定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044" y="1059061"/>
            <a:ext cx="2085975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扩散期中风险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50044" y="1401961"/>
            <a:ext cx="208597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当前建议进入二级（扩散期）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756" y="1878806"/>
            <a:ext cx="2114550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当前二级触发证据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1763" y="771525"/>
            <a:ext cx="985838" cy="25003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四级动态授权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58032" y="810816"/>
            <a:ext cx="13716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升级触发条件绑定五类证据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93206" y="1561802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一级：关注期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50525" y="1590377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稳态监测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93206" y="1788616"/>
            <a:ext cx="281463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无权威媒体跟进；客诉与退单平稳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93206" y="1960066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持续舆情监测；统一客服口径；准备FAQ；留存证据与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93206" y="2302966"/>
            <a:ext cx="281463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职能负责人启动；部门负责人复核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93606" y="1561802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85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二级：扩散期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50925" y="1590377"/>
            <a:ext cx="8001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85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控扩散、稳用户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93606" y="1788616"/>
            <a:ext cx="281463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3个KOL转发；负面情绪约72%；退单较平时增加约15%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93606" y="1960066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成立跨部门响应小组；发布事实边界内声明；开通优先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客服通道；建立五类证据看板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93606" y="2302966"/>
            <a:ext cx="281463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管理层批准响应等级、对外口径、优先通道与小组授权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93206" y="2829818"/>
            <a:ext cx="9001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三级：升级期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50525" y="2858393"/>
            <a:ext cx="8001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降放大、扩承接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93206" y="3056632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权威媒体跟进；平台话题外溢；客诉或退单持续攀升；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监管或电商平台介入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93206" y="3399532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暂停营销投放；高管出面；扩大退款受理；准备批次隔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离；同步平台与监管沟通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93206" y="3742432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更高管理层授权暂停投放、高管发声、扩大退款与隔离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准备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93606" y="2829818"/>
            <a:ext cx="120015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四级：风险确认期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50962" y="2858393"/>
            <a:ext cx="4572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处置闭环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93606" y="3056632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技术复核确认问题；批次、影响范围、责任与整改路径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形成依据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93606" y="3399532"/>
            <a:ext cx="2814637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按批次召回、维修、退换、补偿；监管沟通；整改与问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责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93606" y="3742432"/>
            <a:ext cx="281463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最高管理层或授权决策人批准处置方案与资源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数据来源：用户提供素材；权威媒体跟进、客诉基线与持续变化阈值、技术复核结论数据有限。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311"/>
            <a:ext cx="8715375" cy="17145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853" y="1362670"/>
            <a:ext cx="0" cy="70723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6797" y="1362670"/>
            <a:ext cx="0" cy="70723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82741" y="1362670"/>
            <a:ext cx="0" cy="70723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8684" y="1362670"/>
            <a:ext cx="0" cy="70723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4628" y="1362670"/>
            <a:ext cx="0" cy="70723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853" y="1362670"/>
            <a:ext cx="0" cy="707231"/>
          </a:xfrm>
          <a:prstGeom prst="line">
            <a:avLst/>
          </a:prstGeom>
          <a:noFill/>
          <a:ln w="6350">
            <a:solidFill>
              <a:srgbClr val="55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58213" y="200989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小时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117158" y="137338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0—4小时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117158" y="1514832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4—8小时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32861" y="1656278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8—24小时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182880" y="1797725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24—36小时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182880" y="1939171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36—48小时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940832" y="210990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701766" y="210990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537710" y="210990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373654" y="210990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8209598" y="210990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1107281" y="1362670"/>
            <a:ext cx="611981" cy="163592"/>
          </a:xfrm>
          <a:custGeom>
            <a:avLst/>
            <a:gdLst/>
            <a:ahLst/>
            <a:cxnLst/>
            <a:rect l="l" t="t" r="r" b="b"/>
            <a:pathLst>
              <a:path w="611981" h="163592">
                <a:moveTo>
                  <a:pt x="0" y="0"/>
                </a:moveTo>
                <a:lnTo>
                  <a:pt x="611981" y="0"/>
                </a:lnTo>
                <a:lnTo>
                  <a:pt x="611981" y="163592"/>
                </a:lnTo>
                <a:lnTo>
                  <a:pt x="0" y="163592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7281" y="1481971"/>
            <a:ext cx="611981" cy="185738"/>
          </a:xfrm>
          <a:custGeom>
            <a:avLst/>
            <a:gdLst/>
            <a:ahLst/>
            <a:cxnLst/>
            <a:rect l="l" t="t" r="r" b="b"/>
            <a:pathLst>
              <a:path w="611981" h="185738">
                <a:moveTo>
                  <a:pt x="0" y="0"/>
                </a:moveTo>
                <a:lnTo>
                  <a:pt x="611981" y="0"/>
                </a:lnTo>
                <a:lnTo>
                  <a:pt x="611981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7281" y="1623417"/>
            <a:ext cx="2447925" cy="185738"/>
          </a:xfrm>
          <a:custGeom>
            <a:avLst/>
            <a:gdLst/>
            <a:ahLst/>
            <a:cxnLst/>
            <a:rect l="l" t="t" r="r" b="b"/>
            <a:pathLst>
              <a:path w="2447925" h="185738">
                <a:moveTo>
                  <a:pt x="0" y="0"/>
                </a:moveTo>
                <a:lnTo>
                  <a:pt x="2447925" y="0"/>
                </a:lnTo>
                <a:lnTo>
                  <a:pt x="244792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7281" y="1764863"/>
            <a:ext cx="1835944" cy="185738"/>
          </a:xfrm>
          <a:custGeom>
            <a:avLst/>
            <a:gdLst/>
            <a:ahLst/>
            <a:cxnLst/>
            <a:rect l="l" t="t" r="r" b="b"/>
            <a:pathLst>
              <a:path w="1835944" h="185738">
                <a:moveTo>
                  <a:pt x="0" y="0"/>
                </a:moveTo>
                <a:lnTo>
                  <a:pt x="1835944" y="0"/>
                </a:lnTo>
                <a:lnTo>
                  <a:pt x="1835944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7281" y="1906310"/>
            <a:ext cx="1835944" cy="163592"/>
          </a:xfrm>
          <a:custGeom>
            <a:avLst/>
            <a:gdLst/>
            <a:ahLst/>
            <a:cxnLst/>
            <a:rect l="l" t="t" r="r" b="b"/>
            <a:pathLst>
              <a:path w="1835944" h="163592">
                <a:moveTo>
                  <a:pt x="0" y="0"/>
                </a:moveTo>
                <a:lnTo>
                  <a:pt x="1835944" y="0"/>
                </a:lnTo>
                <a:lnTo>
                  <a:pt x="1835944" y="163592"/>
                </a:lnTo>
                <a:lnTo>
                  <a:pt x="0" y="163592"/>
                </a:lnTo>
                <a:close/>
              </a:path>
            </a:pathLst>
          </a:custGeom>
          <a:solidFill>
            <a:srgbClr val="7F0001"/>
          </a:solidFill>
          <a:ln/>
        </p:spPr>
      </p:sp>
      <p:sp>
        <p:nvSpPr>
          <p:cNvPr id="26" name="Text 24"/>
          <p:cNvSpPr/>
          <p:nvPr/>
        </p:nvSpPr>
        <p:spPr>
          <a:xfrm>
            <a:off x="1754981" y="1384459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1754981" y="151483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590925" y="165627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16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2978944" y="179772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2978944" y="192809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12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214982" y="2601218"/>
            <a:ext cx="1650206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0884" y="2601218"/>
            <a:ext cx="1650206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6841" y="2601218"/>
            <a:ext cx="1650206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2798" y="2601218"/>
            <a:ext cx="1650206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78700" y="2601218"/>
            <a:ext cx="1650206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执行48小时路线图，36小时技术复核前不抢跑结论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37319" y="892969"/>
            <a:ext cx="147875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0—48小时五阶段窗口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9288" y="930473"/>
            <a:ext cx="2628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覆盖部门：管理层、公关、技术、客服、电商、法务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9276" y="2664619"/>
            <a:ext cx="15216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0—4小时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276" y="2898577"/>
            <a:ext cx="1521619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管理层确认二级响应，指定总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负责人，成立六部门响应小组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9276" y="3270052"/>
            <a:ext cx="152161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响应决议 · 总负责人 · 小组名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9276" y="3641527"/>
            <a:ext cx="152161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明确指挥链和汇报关系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45177" y="2664619"/>
            <a:ext cx="15216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4—8小时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045177" y="2898577"/>
            <a:ext cx="1521619" cy="4714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批准并发布事实边界内声明，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客服统一口径，建立舆情与退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单看板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45177" y="3427214"/>
            <a:ext cx="152161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临时声明 · 客服话术 · 联动看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45177" y="3798689"/>
            <a:ext cx="152161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不发布过满结论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11135" y="2664619"/>
            <a:ext cx="15216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8—24小时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11135" y="2898577"/>
            <a:ext cx="1521619" cy="4714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持续监测转发、负面情绪、来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电、退单；技术集中复核，准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备媒体问询口径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11135" y="3427214"/>
            <a:ext cx="152161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监测简报 · 复核记录 · 媒体口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11135" y="3798689"/>
            <a:ext cx="152161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以看板统一判断口径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77092" y="2664619"/>
            <a:ext cx="15216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24—36小时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77092" y="2898577"/>
            <a:ext cx="1521619" cy="4714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技术复核进入结论窗口；按发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现/未发现问题分支准备处理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方案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77092" y="3427214"/>
            <a:ext cx="152161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 · 升级或披露预案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77092" y="3627239"/>
            <a:ext cx="152161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复核结论前不定性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42994" y="2664619"/>
            <a:ext cx="1521619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36—48小时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42994" y="2898577"/>
            <a:ext cx="1521619" cy="4714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公布复核进展或最终说明，处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理高优先级客诉与退单，复盘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传播与业务恢复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42994" y="3427214"/>
            <a:ext cx="152161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更新声明 · 客诉处理结果 · 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盘记录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42994" y="3798689"/>
            <a:ext cx="152161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有问题立即升级，无问题避免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攻击性表述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来源：用户核心材料；数据有限，基于用户素材。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5987" y="774036"/>
            <a:ext cx="5379244" cy="34932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3131" y="780455"/>
            <a:ext cx="5364956" cy="314325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23131" y="1095505"/>
            <a:ext cx="5364956" cy="3164681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131" y="1095505"/>
            <a:ext cx="5364956" cy="31646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3131" y="1103486"/>
            <a:ext cx="5364956" cy="628650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131" y="1103486"/>
            <a:ext cx="5364956" cy="6286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3131" y="1735262"/>
            <a:ext cx="5364956" cy="628650"/>
          </a:xfrm>
          <a:prstGeom prst="rect">
            <a:avLst/>
          </a:prstGeom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131" y="1735262"/>
            <a:ext cx="5364956" cy="6286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23131" y="2367037"/>
            <a:ext cx="5364956" cy="628650"/>
          </a:xfrm>
          <a:prstGeom prst="rect">
            <a:avLst/>
          </a:prstGeom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131" y="2367037"/>
            <a:ext cx="5364956" cy="6286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23131" y="2998812"/>
            <a:ext cx="5364956" cy="628650"/>
          </a:xfrm>
          <a:prstGeom prst="rect">
            <a:avLst/>
          </a:prstGeom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3131" y="2998812"/>
            <a:ext cx="5364956" cy="62865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766625" y="774036"/>
            <a:ext cx="3164681" cy="349329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773769" y="778669"/>
            <a:ext cx="3150394" cy="400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73769" y="778669"/>
            <a:ext cx="3150394" cy="40005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4979" y="1248370"/>
            <a:ext cx="1385887" cy="271463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7008" y="1248370"/>
            <a:ext cx="1385887" cy="271463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04979" y="1916757"/>
            <a:ext cx="1385887" cy="271463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07008" y="1916757"/>
            <a:ext cx="1385887" cy="271463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04979" y="2585145"/>
            <a:ext cx="1385887" cy="271463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07008" y="2585145"/>
            <a:ext cx="1385887" cy="271463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04979" y="3253532"/>
            <a:ext cx="1385887" cy="271463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07008" y="3253532"/>
            <a:ext cx="1385887" cy="271463"/>
          </a:xfrm>
          <a:prstGeom prst="rect">
            <a:avLst/>
          </a:prstGeom>
        </p:spPr>
      </p:pic>
      <p:sp>
        <p:nvSpPr>
          <p:cNvPr id="26" name="Shape 10"/>
          <p:cNvSpPr/>
          <p:nvPr/>
        </p:nvSpPr>
        <p:spPr>
          <a:xfrm>
            <a:off x="5773769" y="3596543"/>
            <a:ext cx="3150394" cy="6643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73769" y="3596543"/>
            <a:ext cx="3150394" cy="664369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今晚批准五项决策，用闭环监控守住风险窗口</a:t>
            </a:r>
            <a:endParaRPr lang="en-US" sz="2000" dirty="0"/>
          </a:p>
        </p:txBody>
      </p:sp>
      <p:sp>
        <p:nvSpPr>
          <p:cNvPr id="29" name="Text 12"/>
          <p:cNvSpPr/>
          <p:nvPr/>
        </p:nvSpPr>
        <p:spPr>
          <a:xfrm>
            <a:off x="349597" y="851892"/>
            <a:ext cx="11144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决策</a:t>
            </a:r>
            <a:endParaRPr lang="en-US" sz="900" dirty="0"/>
          </a:p>
        </p:txBody>
      </p:sp>
      <p:sp>
        <p:nvSpPr>
          <p:cNvPr id="30" name="Text 13"/>
          <p:cNvSpPr/>
          <p:nvPr/>
        </p:nvSpPr>
        <p:spPr>
          <a:xfrm>
            <a:off x="1534176" y="851892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今晚批准内容</a:t>
            </a:r>
            <a:endParaRPr lang="en-US" sz="900" dirty="0"/>
          </a:p>
        </p:txBody>
      </p:sp>
      <p:sp>
        <p:nvSpPr>
          <p:cNvPr id="31" name="Text 14"/>
          <p:cNvSpPr/>
          <p:nvPr/>
        </p:nvSpPr>
        <p:spPr>
          <a:xfrm>
            <a:off x="3747232" y="851892"/>
            <a:ext cx="17145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会后需补充的字段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349597" y="1299939"/>
            <a:ext cx="11144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响应组织</a:t>
            </a:r>
            <a:endParaRPr lang="en-US" sz="1100" dirty="0"/>
          </a:p>
        </p:txBody>
      </p:sp>
      <p:sp>
        <p:nvSpPr>
          <p:cNvPr id="33" name="Text 16"/>
          <p:cNvSpPr/>
          <p:nvPr/>
        </p:nvSpPr>
        <p:spPr>
          <a:xfrm>
            <a:off x="1534176" y="1328514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启动二级响应并组建跨部门小组</a:t>
            </a:r>
            <a:endParaRPr lang="en-US" sz="900" dirty="0"/>
          </a:p>
        </p:txBody>
      </p:sp>
      <p:sp>
        <p:nvSpPr>
          <p:cNvPr id="34" name="Text 17"/>
          <p:cNvSpPr/>
          <p:nvPr/>
        </p:nvSpPr>
        <p:spPr>
          <a:xfrm>
            <a:off x="3747232" y="1242789"/>
            <a:ext cx="17145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小组负责人、成员部门、值守时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间、决策权限</a:t>
            </a:r>
            <a:endParaRPr lang="en-US" sz="900" dirty="0"/>
          </a:p>
        </p:txBody>
      </p:sp>
      <p:sp>
        <p:nvSpPr>
          <p:cNvPr id="35" name="Text 18"/>
          <p:cNvSpPr/>
          <p:nvPr/>
        </p:nvSpPr>
        <p:spPr>
          <a:xfrm>
            <a:off x="349597" y="1931715"/>
            <a:ext cx="11144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对外沟通</a:t>
            </a:r>
            <a:endParaRPr lang="en-US" sz="1100" dirty="0"/>
          </a:p>
        </p:txBody>
      </p:sp>
      <p:sp>
        <p:nvSpPr>
          <p:cNvPr id="36" name="Text 19"/>
          <p:cNvSpPr/>
          <p:nvPr/>
        </p:nvSpPr>
        <p:spPr>
          <a:xfrm>
            <a:off x="1534176" y="1960290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事实边界内临时声明，并按36小时更新</a:t>
            </a:r>
            <a:endParaRPr lang="en-US" sz="900" dirty="0"/>
          </a:p>
        </p:txBody>
      </p:sp>
      <p:sp>
        <p:nvSpPr>
          <p:cNvPr id="37" name="Text 20"/>
          <p:cNvSpPr/>
          <p:nvPr/>
        </p:nvSpPr>
        <p:spPr>
          <a:xfrm>
            <a:off x="3747232" y="1874565"/>
            <a:ext cx="17145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声明审批人、事实边界清单、更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新触发条件</a:t>
            </a:r>
            <a:endParaRPr lang="en-US" sz="900" dirty="0"/>
          </a:p>
        </p:txBody>
      </p:sp>
      <p:sp>
        <p:nvSpPr>
          <p:cNvPr id="38" name="Text 21"/>
          <p:cNvSpPr/>
          <p:nvPr/>
        </p:nvSpPr>
        <p:spPr>
          <a:xfrm>
            <a:off x="349597" y="2563490"/>
            <a:ext cx="11144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客户处置</a:t>
            </a:r>
            <a:endParaRPr lang="en-US" sz="1100" dirty="0"/>
          </a:p>
        </p:txBody>
      </p:sp>
      <p:sp>
        <p:nvSpPr>
          <p:cNvPr id="39" name="Text 22"/>
          <p:cNvSpPr/>
          <p:nvPr/>
        </p:nvSpPr>
        <p:spPr>
          <a:xfrm>
            <a:off x="1534176" y="2592065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优先客服与退换方案</a:t>
            </a:r>
            <a:endParaRPr lang="en-US" sz="900" dirty="0"/>
          </a:p>
        </p:txBody>
      </p:sp>
      <p:sp>
        <p:nvSpPr>
          <p:cNvPr id="40" name="Text 23"/>
          <p:cNvSpPr/>
          <p:nvPr/>
        </p:nvSpPr>
        <p:spPr>
          <a:xfrm>
            <a:off x="3747232" y="2506340"/>
            <a:ext cx="17145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客服增援人数、退换适用范围、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预算上限</a:t>
            </a:r>
            <a:endParaRPr lang="en-US" sz="900" dirty="0"/>
          </a:p>
        </p:txBody>
      </p:sp>
      <p:sp>
        <p:nvSpPr>
          <p:cNvPr id="41" name="Text 24"/>
          <p:cNvSpPr/>
          <p:nvPr/>
        </p:nvSpPr>
        <p:spPr>
          <a:xfrm>
            <a:off x="349597" y="3195265"/>
            <a:ext cx="11144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闭环监控</a:t>
            </a:r>
            <a:endParaRPr lang="en-US" sz="1100" dirty="0"/>
          </a:p>
        </p:txBody>
      </p:sp>
      <p:sp>
        <p:nvSpPr>
          <p:cNvPr id="42" name="Text 25"/>
          <p:cNvSpPr/>
          <p:nvPr/>
        </p:nvSpPr>
        <p:spPr>
          <a:xfrm>
            <a:off x="1534176" y="3223840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舆情/客诉/退单联动看板，每2小时汇报</a:t>
            </a:r>
            <a:endParaRPr lang="en-US" sz="900" dirty="0"/>
          </a:p>
        </p:txBody>
      </p:sp>
      <p:sp>
        <p:nvSpPr>
          <p:cNvPr id="43" name="Text 26"/>
          <p:cNvSpPr/>
          <p:nvPr/>
        </p:nvSpPr>
        <p:spPr>
          <a:xfrm>
            <a:off x="3747232" y="3138115"/>
            <a:ext cx="17145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看板责任人、指标阈值、异常触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发动作</a:t>
            </a:r>
            <a:endParaRPr lang="en-US" sz="900" dirty="0"/>
          </a:p>
        </p:txBody>
      </p:sp>
      <p:sp>
        <p:nvSpPr>
          <p:cNvPr id="44" name="Text 27"/>
          <p:cNvSpPr/>
          <p:nvPr/>
        </p:nvSpPr>
        <p:spPr>
          <a:xfrm>
            <a:off x="349597" y="3830613"/>
            <a:ext cx="11144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升级机制</a:t>
            </a:r>
            <a:endParaRPr lang="en-US" sz="1100" dirty="0"/>
          </a:p>
        </p:txBody>
      </p:sp>
      <p:sp>
        <p:nvSpPr>
          <p:cNvPr id="45" name="Text 28"/>
          <p:cNvSpPr/>
          <p:nvPr/>
        </p:nvSpPr>
        <p:spPr>
          <a:xfrm>
            <a:off x="1534176" y="3859188"/>
            <a:ext cx="21431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授权三级与四级升级</a:t>
            </a:r>
            <a:endParaRPr lang="en-US" sz="900" dirty="0"/>
          </a:p>
        </p:txBody>
      </p:sp>
      <p:sp>
        <p:nvSpPr>
          <p:cNvPr id="46" name="Text 29"/>
          <p:cNvSpPr/>
          <p:nvPr/>
        </p:nvSpPr>
        <p:spPr>
          <a:xfrm>
            <a:off x="3747232" y="3773463"/>
            <a:ext cx="1714500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升级触发条件、可授权人员、升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级后资源</a:t>
            </a:r>
            <a:endParaRPr lang="en-US" sz="900" dirty="0"/>
          </a:p>
        </p:txBody>
      </p:sp>
      <p:sp>
        <p:nvSpPr>
          <p:cNvPr id="47" name="Text 30"/>
          <p:cNvSpPr/>
          <p:nvPr/>
        </p:nvSpPr>
        <p:spPr>
          <a:xfrm>
            <a:off x="5902356" y="850106"/>
            <a:ext cx="2893219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风险监控清单</a:t>
            </a:r>
            <a:endParaRPr lang="en-US" sz="1200" dirty="0"/>
          </a:p>
        </p:txBody>
      </p:sp>
      <p:sp>
        <p:nvSpPr>
          <p:cNvPr id="48" name="Text 31"/>
          <p:cNvSpPr/>
          <p:nvPr/>
        </p:nvSpPr>
        <p:spPr>
          <a:xfrm>
            <a:off x="5904979" y="1248370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转发量与负面情绪</a:t>
            </a:r>
            <a:endParaRPr lang="en-US" sz="900" dirty="0"/>
          </a:p>
        </p:txBody>
      </p:sp>
      <p:sp>
        <p:nvSpPr>
          <p:cNvPr id="49" name="Text 32"/>
          <p:cNvSpPr/>
          <p:nvPr/>
        </p:nvSpPr>
        <p:spPr>
          <a:xfrm>
            <a:off x="7407008" y="1248370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权威媒体跟进</a:t>
            </a:r>
            <a:endParaRPr lang="en-US" sz="900" dirty="0"/>
          </a:p>
        </p:txBody>
      </p:sp>
      <p:sp>
        <p:nvSpPr>
          <p:cNvPr id="50" name="Text 33"/>
          <p:cNvSpPr/>
          <p:nvPr/>
        </p:nvSpPr>
        <p:spPr>
          <a:xfrm>
            <a:off x="5904979" y="1916757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KOL扩散</a:t>
            </a:r>
            <a:endParaRPr lang="en-US" sz="900" dirty="0"/>
          </a:p>
        </p:txBody>
      </p:sp>
      <p:sp>
        <p:nvSpPr>
          <p:cNvPr id="51" name="Text 34"/>
          <p:cNvSpPr/>
          <p:nvPr/>
        </p:nvSpPr>
        <p:spPr>
          <a:xfrm>
            <a:off x="7407008" y="1916757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相关来电</a:t>
            </a:r>
            <a:endParaRPr lang="en-US" sz="900" dirty="0"/>
          </a:p>
        </p:txBody>
      </p:sp>
      <p:sp>
        <p:nvSpPr>
          <p:cNvPr id="52" name="Text 35"/>
          <p:cNvSpPr/>
          <p:nvPr/>
        </p:nvSpPr>
        <p:spPr>
          <a:xfrm>
            <a:off x="5904979" y="2585145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退单量</a:t>
            </a:r>
            <a:endParaRPr lang="en-US" sz="900" dirty="0"/>
          </a:p>
        </p:txBody>
      </p:sp>
      <p:sp>
        <p:nvSpPr>
          <p:cNvPr id="53" name="Text 36"/>
          <p:cNvSpPr/>
          <p:nvPr/>
        </p:nvSpPr>
        <p:spPr>
          <a:xfrm>
            <a:off x="7407008" y="2585145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技术复核结论</a:t>
            </a:r>
            <a:endParaRPr lang="en-US" sz="900" dirty="0"/>
          </a:p>
        </p:txBody>
      </p:sp>
      <p:sp>
        <p:nvSpPr>
          <p:cNvPr id="54" name="Text 37"/>
          <p:cNvSpPr/>
          <p:nvPr/>
        </p:nvSpPr>
        <p:spPr>
          <a:xfrm>
            <a:off x="5904979" y="3253532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平台或监管介入</a:t>
            </a:r>
            <a:endParaRPr lang="en-US" sz="900" dirty="0"/>
          </a:p>
        </p:txBody>
      </p:sp>
      <p:sp>
        <p:nvSpPr>
          <p:cNvPr id="55" name="Text 38"/>
          <p:cNvSpPr/>
          <p:nvPr/>
        </p:nvSpPr>
        <p:spPr>
          <a:xfrm>
            <a:off x="7407008" y="3253532"/>
            <a:ext cx="1385887" cy="27146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60722" tIns="42505" rIns="60722" bIns="42505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声明反馈</a:t>
            </a:r>
            <a:endParaRPr lang="en-US" sz="900" dirty="0"/>
          </a:p>
        </p:txBody>
      </p:sp>
      <p:sp>
        <p:nvSpPr>
          <p:cNvPr id="56" name="Text 39"/>
          <p:cNvSpPr/>
          <p:nvPr/>
        </p:nvSpPr>
        <p:spPr>
          <a:xfrm>
            <a:off x="5902356" y="3675125"/>
            <a:ext cx="2893219" cy="5143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若48小时内无有效回应，风险将从质疑转向抵制；若技术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复核确认问题，必须立即切换至召回、补偿、整改和监管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沟通路径。</a:t>
            </a:r>
            <a:endParaRPr lang="en-US" sz="900" dirty="0"/>
          </a:p>
        </p:txBody>
      </p:sp>
      <p:sp>
        <p:nvSpPr>
          <p:cNvPr id="57" name="Text 40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资料来源：用户素材，待验证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18009"/>
            <a:ext cx="71438" cy="6286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2" y="2246709"/>
            <a:ext cx="285750" cy="1428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56" y="253603"/>
            <a:ext cx="2443163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产品安全舆情危机应对与管理层决策汇报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76728" y="282178"/>
            <a:ext cx="6000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管理层决策会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233116" y="282178"/>
            <a:ext cx="285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B5B5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|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316664" y="282178"/>
            <a:ext cx="614363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第8页 · 共8页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99157" y="1232297"/>
            <a:ext cx="7715250" cy="6000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请求批准并启动48小时响应</a:t>
            </a:r>
            <a:endParaRPr lang="en-US" sz="4700" dirty="0"/>
          </a:p>
        </p:txBody>
      </p:sp>
      <p:sp>
        <p:nvSpPr>
          <p:cNvPr id="13" name="Text 10"/>
          <p:cNvSpPr/>
          <p:nvPr/>
        </p:nvSpPr>
        <p:spPr>
          <a:xfrm>
            <a:off x="584950" y="2103834"/>
            <a:ext cx="5836444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先稳事实、稳用户、稳业务，再基于36小时复核结论升级处置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313" y="25753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48小时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4313" y="28896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响应窗口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14313" y="30968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执行路线图覆盖0—48小时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36019" y="25753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36小时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436019" y="28896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技术复核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436019" y="30968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复核结论公布前进展更新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57725" y="25753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2小时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57725" y="28896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联动看板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57725" y="30968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管理层确认趋势频率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879431" y="2575322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5项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9431" y="2889647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决策请求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879431" y="3096816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今晚批准跨部门方案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REPORTER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危机响应小组联络人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会后指定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跨部门危机小组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公关 · 技术 · 客服 · 电商 · 法务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DATE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2026年6月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管理层决策会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14368" y="4772025"/>
            <a:ext cx="154305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产品安全舆情危机应对与管理层决策汇报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920912" y="4772025"/>
            <a:ext cx="100726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2026年6月 · 管理层决策会</a:t>
            </a:r>
            <a:endParaRPr lang="en-US" sz="700" dirty="0"/>
          </a:p>
        </p:txBody>
      </p:sp>
      <p:sp>
        <p:nvSpPr>
          <p:cNvPr id="65535" name="wm:hwcld:2026-09-22T18:16:44:2ba89f9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2026-09-22T18:16:58Z</dcterms:created>
  <dcterms:modified xsi:type="dcterms:W3CDTF">2026-09-22T18:16:58Z</dcterms:modified>
</cp:coreProperties>
</file>