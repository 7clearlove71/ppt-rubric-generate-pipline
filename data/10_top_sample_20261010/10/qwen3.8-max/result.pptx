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WenYuan Sans SC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317897"/>
            <a:ext cx="228600" cy="21431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16298"/>
            <a:ext cx="42863" cy="4000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5485" y="3198502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197" y="3198502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0910" y="3198502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693" y="257175"/>
            <a:ext cx="1207294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三份内部素材交叉印证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37662" y="267891"/>
            <a:ext cx="492919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明早决策会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3094" y="944873"/>
            <a:ext cx="1864519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48小时响应窗口进行中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3094" y="1135968"/>
            <a:ext cx="186451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6月10日事件起 · 技术复核预计还需36小时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313" y="1429196"/>
            <a:ext cx="8715375" cy="5286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产品安全质疑舆情危机应对方案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313" y="2069567"/>
            <a:ext cx="9238298" cy="4071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管理层决策汇报 · 现状同步 / 风险研判 / 方案建议 / </a:t>
            </a:r>
            <a:pPr algn="l" indent="0" marL="0">
              <a:buNone/>
            </a:pPr>
            <a:r>
              <a:rPr lang="en-US" sz="2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决策请求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14313" y="2562039"/>
            <a:ext cx="8715375" cy="4357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本页全部数值逐字取自三份内部素材：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素材一 舆情监测负面话题摘要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素材二 近三天客服来电统计要点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素材三 公关部连夜赶的声明草稿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；三者交叉印证，构成“视频传播 → 客服来电 → 电商退单”的舆情到经营传导链。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336" y="3319946"/>
            <a:ext cx="421481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44972" y="3441390"/>
            <a:ext cx="3429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503" y="3755715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响应窗口倒计时进行中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503" y="3955740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不做有效回应恐从质疑升级为抵制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17714" y="3319946"/>
            <a:ext cx="414338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3789871" y="3441390"/>
            <a:ext cx="3429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8216" y="3755715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技术复核预计还需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8216" y="3955740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结论未出前只表态度与流程承诺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69143" y="3319946"/>
            <a:ext cx="73580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061653" y="3441390"/>
            <a:ext cx="16430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0929" y="3755715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评论区负面情绪占比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0929" y="3955740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话题集中在是否虚标与售后甩锅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4368" y="4743450"/>
            <a:ext cx="18573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公关部会同客服、电商、技术、法务联合汇报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300455" y="4743450"/>
            <a:ext cx="1671638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数据纪律：不引入外部数据、不编造案例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86389" y="4750594"/>
            <a:ext cx="17430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受众：企业高管/管理层 · 明早决策会当场拍板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01030"/>
            <a:ext cx="2093119" cy="6000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1101030"/>
            <a:ext cx="2093119" cy="600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21731" y="1101030"/>
            <a:ext cx="2093119" cy="6000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1731" y="1101030"/>
            <a:ext cx="2093119" cy="6000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29150" y="1101030"/>
            <a:ext cx="2093119" cy="6000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150" y="1101030"/>
            <a:ext cx="2093119" cy="60007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836569" y="1101030"/>
            <a:ext cx="2093119" cy="6000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6569" y="1101030"/>
            <a:ext cx="2093119" cy="60007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13196" y="1815405"/>
            <a:ext cx="1485900" cy="17145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982670" y="1815405"/>
            <a:ext cx="1485900" cy="17145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3752199" y="1815405"/>
            <a:ext cx="1485900" cy="17145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465304" y="1815405"/>
            <a:ext cx="3464719" cy="17145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305029" y="2183309"/>
            <a:ext cx="0" cy="90011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869385" y="2183309"/>
            <a:ext cx="0" cy="90011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426598" y="2183309"/>
            <a:ext cx="0" cy="90011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990954" y="2183309"/>
            <a:ext cx="0" cy="90011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555310" y="2183309"/>
            <a:ext cx="0" cy="90011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 flipV="1">
            <a:off x="6305029" y="2183309"/>
            <a:ext cx="0" cy="900112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04744" y="3086993"/>
            <a:ext cx="2246994" cy="0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125971" y="302341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788" dirty="0"/>
          </a:p>
        </p:txBody>
      </p:sp>
      <p:sp>
        <p:nvSpPr>
          <p:cNvPr id="23" name="Text 17"/>
          <p:cNvSpPr/>
          <p:nvPr/>
        </p:nvSpPr>
        <p:spPr>
          <a:xfrm>
            <a:off x="4864564" y="2798385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48小时响应窗口</a:t>
            </a:r>
            <a:endParaRPr lang="en-US" sz="788" dirty="0"/>
          </a:p>
        </p:txBody>
      </p:sp>
      <p:sp>
        <p:nvSpPr>
          <p:cNvPr id="24" name="Text 18"/>
          <p:cNvSpPr/>
          <p:nvPr/>
        </p:nvSpPr>
        <p:spPr>
          <a:xfrm>
            <a:off x="5014583" y="2348329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技术复核出结论</a:t>
            </a:r>
            <a:endParaRPr lang="en-US" sz="788" dirty="0"/>
          </a:p>
        </p:txBody>
      </p:sp>
      <p:sp>
        <p:nvSpPr>
          <p:cNvPr id="25" name="Text 19"/>
          <p:cNvSpPr/>
          <p:nvPr/>
        </p:nvSpPr>
        <p:spPr>
          <a:xfrm>
            <a:off x="6138295" y="312342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26" name="Text 20"/>
          <p:cNvSpPr/>
          <p:nvPr/>
        </p:nvSpPr>
        <p:spPr>
          <a:xfrm>
            <a:off x="6625033" y="312342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</a:t>
            </a:r>
            <a:endParaRPr lang="en-US" sz="788" dirty="0"/>
          </a:p>
        </p:txBody>
      </p:sp>
      <p:sp>
        <p:nvSpPr>
          <p:cNvPr id="27" name="Text 21"/>
          <p:cNvSpPr/>
          <p:nvPr/>
        </p:nvSpPr>
        <p:spPr>
          <a:xfrm>
            <a:off x="7186782" y="312342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</a:t>
            </a:r>
            <a:endParaRPr lang="en-US" sz="788" dirty="0"/>
          </a:p>
        </p:txBody>
      </p:sp>
      <p:sp>
        <p:nvSpPr>
          <p:cNvPr id="28" name="Text 22"/>
          <p:cNvSpPr/>
          <p:nvPr/>
        </p:nvSpPr>
        <p:spPr>
          <a:xfrm>
            <a:off x="7748531" y="312342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</a:t>
            </a:r>
            <a:endParaRPr lang="en-US" sz="788" dirty="0"/>
          </a:p>
        </p:txBody>
      </p:sp>
      <p:sp>
        <p:nvSpPr>
          <p:cNvPr id="29" name="Text 23"/>
          <p:cNvSpPr/>
          <p:nvPr/>
        </p:nvSpPr>
        <p:spPr>
          <a:xfrm>
            <a:off x="8310280" y="312342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788" dirty="0"/>
          </a:p>
        </p:txBody>
      </p:sp>
      <p:sp>
        <p:nvSpPr>
          <p:cNvPr id="30" name="Shape 24"/>
          <p:cNvSpPr/>
          <p:nvPr/>
        </p:nvSpPr>
        <p:spPr>
          <a:xfrm>
            <a:off x="7989990" y="2183309"/>
            <a:ext cx="561749" cy="900112"/>
          </a:xfrm>
          <a:custGeom>
            <a:avLst/>
            <a:gdLst/>
            <a:ahLst/>
            <a:cxnLst/>
            <a:rect l="l" t="t" r="r" b="b"/>
            <a:pathLst>
              <a:path w="561749" h="900112">
                <a:moveTo>
                  <a:pt x="0" y="900112"/>
                </a:moveTo>
                <a:lnTo>
                  <a:pt x="561749" y="900112"/>
                </a:lnTo>
                <a:lnTo>
                  <a:pt x="561749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>
              <a:alpha val="14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6304744" y="2751236"/>
            <a:ext cx="2246994" cy="214313"/>
          </a:xfrm>
          <a:custGeom>
            <a:avLst/>
            <a:gdLst/>
            <a:ahLst/>
            <a:cxnLst/>
            <a:rect l="l" t="t" r="r" b="b"/>
            <a:pathLst>
              <a:path w="2246994" h="214313">
                <a:moveTo>
                  <a:pt x="0" y="0"/>
                </a:moveTo>
                <a:lnTo>
                  <a:pt x="2246994" y="0"/>
                </a:lnTo>
                <a:lnTo>
                  <a:pt x="2246994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32" name="Shape 26"/>
          <p:cNvSpPr/>
          <p:nvPr/>
        </p:nvSpPr>
        <p:spPr>
          <a:xfrm>
            <a:off x="6304744" y="2301180"/>
            <a:ext cx="1685246" cy="214313"/>
          </a:xfrm>
          <a:custGeom>
            <a:avLst/>
            <a:gdLst/>
            <a:ahLst/>
            <a:cxnLst/>
            <a:rect l="l" t="t" r="r" b="b"/>
            <a:pathLst>
              <a:path w="1685246" h="214313">
                <a:moveTo>
                  <a:pt x="0" y="0"/>
                </a:moveTo>
                <a:lnTo>
                  <a:pt x="1685246" y="0"/>
                </a:lnTo>
                <a:lnTo>
                  <a:pt x="1685246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33" name="Text 27"/>
          <p:cNvSpPr/>
          <p:nvPr/>
        </p:nvSpPr>
        <p:spPr>
          <a:xfrm>
            <a:off x="8587457" y="279838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788" dirty="0"/>
          </a:p>
        </p:txBody>
      </p:sp>
      <p:sp>
        <p:nvSpPr>
          <p:cNvPr id="34" name="Text 28"/>
          <p:cNvSpPr/>
          <p:nvPr/>
        </p:nvSpPr>
        <p:spPr>
          <a:xfrm>
            <a:off x="8025708" y="234832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</a:t>
            </a:r>
            <a:endParaRPr lang="en-US" sz="788" dirty="0"/>
          </a:p>
        </p:txBody>
      </p:sp>
      <p:sp>
        <p:nvSpPr>
          <p:cNvPr id="35" name="Shape 29"/>
          <p:cNvSpPr/>
          <p:nvPr/>
        </p:nvSpPr>
        <p:spPr>
          <a:xfrm>
            <a:off x="214647" y="3644205"/>
            <a:ext cx="5022056" cy="600075"/>
          </a:xfrm>
          <a:prstGeom prst="rect">
            <a:avLst/>
          </a:prstGeom>
          <a:solidFill>
            <a:srgbClr val="555757"/>
          </a:solidFill>
          <a:ln/>
        </p:spPr>
      </p:sp>
      <p:sp>
        <p:nvSpPr>
          <p:cNvPr id="36" name="Shape 30"/>
          <p:cNvSpPr/>
          <p:nvPr/>
        </p:nvSpPr>
        <p:spPr>
          <a:xfrm>
            <a:off x="5465304" y="3644205"/>
            <a:ext cx="3464719" cy="600075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危机仍处“质疑期”：48小时内不做有效回应，恐从质疑升级为抵制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328613" y="1172468"/>
            <a:ext cx="191452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视频传播量 · 发布后24小时内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328613" y="1343918"/>
            <a:ext cx="1914525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转发破万</a:t>
            </a:r>
            <a:endParaRPr lang="en-US" sz="1800" dirty="0"/>
          </a:p>
        </p:txBody>
      </p:sp>
      <p:sp>
        <p:nvSpPr>
          <p:cNvPr id="40" name="Text 34"/>
          <p:cNvSpPr/>
          <p:nvPr/>
        </p:nvSpPr>
        <p:spPr>
          <a:xfrm>
            <a:off x="2536031" y="1172468"/>
            <a:ext cx="191452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评论区负面情绪占比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2536031" y="1343918"/>
            <a:ext cx="1914525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约72%</a:t>
            </a:r>
            <a:endParaRPr lang="en-US" sz="1800" dirty="0"/>
          </a:p>
        </p:txBody>
      </p:sp>
      <p:sp>
        <p:nvSpPr>
          <p:cNvPr id="42" name="Text 36"/>
          <p:cNvSpPr/>
          <p:nvPr/>
        </p:nvSpPr>
        <p:spPr>
          <a:xfrm>
            <a:off x="4743450" y="1172468"/>
            <a:ext cx="191452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近三天客服相关来电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743450" y="1343918"/>
            <a:ext cx="1914525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大概40通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6950869" y="1172468"/>
            <a:ext cx="191452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电商渠道退单量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950869" y="1343918"/>
            <a:ext cx="1914525" cy="2857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较平时多约15%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305619" y="1906488"/>
            <a:ext cx="150019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511280" y="1906488"/>
            <a:ext cx="542925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视频传播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306065" y="2167235"/>
            <a:ext cx="1300163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24小时内转发破万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306065" y="2415480"/>
            <a:ext cx="1300163" cy="6858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6月10日起某测评博主发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视频质疑产品有安全隐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患，话题集中在“是否虚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标”和“售后甩锅”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306065" y="3251299"/>
            <a:ext cx="1300163" cy="185738"/>
          </a:xfrm>
          <a:prstGeom prst="rect">
            <a:avLst/>
          </a:prstGeom>
          <a:ln/>
        </p:spPr>
        <p:txBody>
          <a:bodyPr wrap="none" lIns="0" tIns="48578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素材一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1755130" y="2569071"/>
            <a:ext cx="17145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2076710" y="1906488"/>
            <a:ext cx="1643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2298334" y="1906488"/>
            <a:ext cx="542925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客服来电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2075538" y="2167235"/>
            <a:ext cx="1300163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近三天大概40通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2075538" y="2415480"/>
            <a:ext cx="1300163" cy="6858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退货退款约60%、要官方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说明约35%；部分用户直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接引用那条视频的说法打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进来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2075538" y="3251299"/>
            <a:ext cx="1300163" cy="185738"/>
          </a:xfrm>
          <a:prstGeom prst="rect">
            <a:avLst/>
          </a:prstGeom>
          <a:ln/>
        </p:spPr>
        <p:txBody>
          <a:bodyPr wrap="none" lIns="0" tIns="48578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素材二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3524659" y="2569071"/>
            <a:ext cx="17145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3845849" y="1906488"/>
            <a:ext cx="1643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4067082" y="1906488"/>
            <a:ext cx="542925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电商退单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3845068" y="2167235"/>
            <a:ext cx="1300163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较平时多约15%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3845068" y="2415480"/>
            <a:ext cx="1300163" cy="5143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舆情已落地为经营损失，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传导链闭环成立，须按经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营事件向管理层汇报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3845068" y="3251299"/>
            <a:ext cx="1300163" cy="185738"/>
          </a:xfrm>
          <a:prstGeom prst="rect">
            <a:avLst/>
          </a:prstGeom>
          <a:ln/>
        </p:spPr>
        <p:txBody>
          <a:bodyPr wrap="none" lIns="0" tIns="48578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素材二</a:t>
            </a:r>
            <a:endParaRPr lang="en-US" sz="700" dirty="0"/>
          </a:p>
        </p:txBody>
      </p:sp>
      <p:sp>
        <p:nvSpPr>
          <p:cNvPr id="63" name="Text 57"/>
          <p:cNvSpPr/>
          <p:nvPr/>
        </p:nvSpPr>
        <p:spPr>
          <a:xfrm>
            <a:off x="5529597" y="1877913"/>
            <a:ext cx="3336131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36小时复核 vs 48小时窗口</a:t>
            </a:r>
            <a:endParaRPr lang="en-US" sz="1000" dirty="0"/>
          </a:p>
        </p:txBody>
      </p:sp>
      <p:sp>
        <p:nvSpPr>
          <p:cNvPr id="64" name="Text 58"/>
          <p:cNvSpPr/>
          <p:nvPr/>
        </p:nvSpPr>
        <p:spPr>
          <a:xfrm>
            <a:off x="5529597" y="3294162"/>
            <a:ext cx="3336131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重叠缺口：等复核再开口＝放弃窗口</a:t>
            </a:r>
            <a:endParaRPr lang="en-US" sz="900" dirty="0"/>
          </a:p>
        </p:txBody>
      </p:sp>
      <p:sp>
        <p:nvSpPr>
          <p:cNvPr id="65" name="Text 59"/>
          <p:cNvSpPr/>
          <p:nvPr/>
        </p:nvSpPr>
        <p:spPr>
          <a:xfrm>
            <a:off x="328668" y="3829943"/>
            <a:ext cx="571500" cy="228600"/>
          </a:xfrm>
          <a:prstGeom prst="rect">
            <a:avLst/>
          </a:prstGeom>
          <a:solidFill>
            <a:srgbClr val="D33941"/>
          </a:solidFill>
          <a:ln/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核心研判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986005" y="3751362"/>
            <a:ext cx="400050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先态度、后结论，48小时内先发第一段</a:t>
            </a:r>
            <a:endParaRPr lang="en-US" sz="1100" dirty="0"/>
          </a:p>
        </p:txBody>
      </p:sp>
      <p:sp>
        <p:nvSpPr>
          <p:cNvPr id="67" name="Text 61"/>
          <p:cNvSpPr/>
          <p:nvPr/>
        </p:nvSpPr>
        <p:spPr>
          <a:xfrm>
            <a:off x="986005" y="3966567"/>
            <a:ext cx="40005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第一段只表态度与流程承诺，不下事实结论；第二段在复核结论出来后立即发布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5587138" y="3858518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口径风险</a:t>
            </a:r>
            <a:endParaRPr lang="en-US" sz="900" dirty="0"/>
          </a:p>
        </p:txBody>
      </p:sp>
      <p:sp>
        <p:nvSpPr>
          <p:cNvPr id="69" name="Text 63"/>
          <p:cNvSpPr/>
          <p:nvPr/>
        </p:nvSpPr>
        <p:spPr>
          <a:xfrm>
            <a:off x="6129728" y="3772793"/>
            <a:ext cx="2678906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草稿中“追究法律责任”在负面情绪占比约72%语境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下可能被解读为店大欺客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数据来源：素材一 舆情监测负面话题摘要、素材二 近三天客服来电统计要点、素材三 公关部连夜赶出的声明草稿；本页数值均为素材原值，不做换算或推算。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757"/>
            <a:ext cx="8715375" cy="3143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3757"/>
            <a:ext cx="8715375" cy="314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01489"/>
            <a:ext cx="5629275" cy="337185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50196" y="1372493"/>
            <a:ext cx="71438" cy="7143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7" name="Text 4"/>
          <p:cNvSpPr/>
          <p:nvPr/>
        </p:nvSpPr>
        <p:spPr>
          <a:xfrm>
            <a:off x="4350209" y="1322487"/>
            <a:ext cx="360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舆情轨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78946" y="1372493"/>
            <a:ext cx="71438" cy="71438"/>
          </a:xfrm>
          <a:prstGeom prst="rect">
            <a:avLst/>
          </a:prstGeom>
          <a:solidFill>
            <a:srgbClr val="555757"/>
          </a:solidFill>
          <a:ln/>
        </p:spPr>
      </p:sp>
      <p:sp>
        <p:nvSpPr>
          <p:cNvPr id="9" name="Text 6"/>
          <p:cNvSpPr/>
          <p:nvPr/>
        </p:nvSpPr>
        <p:spPr>
          <a:xfrm>
            <a:off x="4878958" y="1322487"/>
            <a:ext cx="360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经营轨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7695" y="1372493"/>
            <a:ext cx="71438" cy="71438"/>
          </a:xfrm>
          <a:prstGeom prst="rect">
            <a:avLst/>
          </a:prstGeom>
          <a:solidFill>
            <a:srgbClr val="7F0001"/>
          </a:solidFill>
          <a:ln/>
        </p:spPr>
      </p:sp>
      <p:sp>
        <p:nvSpPr>
          <p:cNvPr id="11" name="Text 8"/>
          <p:cNvSpPr/>
          <p:nvPr/>
        </p:nvSpPr>
        <p:spPr>
          <a:xfrm>
            <a:off x="5407707" y="1322487"/>
            <a:ext cx="360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应对轨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5953" y="2021179"/>
            <a:ext cx="842962" cy="160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953" y="2021179"/>
            <a:ext cx="842962" cy="1600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04671" y="2021179"/>
            <a:ext cx="764381" cy="160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4671" y="2021179"/>
            <a:ext cx="764381" cy="1600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026369" y="2021179"/>
            <a:ext cx="1107281" cy="160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26369" y="2021179"/>
            <a:ext cx="1107281" cy="1600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104951" y="2728243"/>
            <a:ext cx="964406" cy="542925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191191" y="2021179"/>
            <a:ext cx="878681" cy="160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91191" y="2021179"/>
            <a:ext cx="878681" cy="16002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69773" y="2728243"/>
            <a:ext cx="735806" cy="385763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9773" y="2728243"/>
            <a:ext cx="735806" cy="385763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126967" y="2021179"/>
            <a:ext cx="764381" cy="160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26967" y="2021179"/>
            <a:ext cx="764381" cy="16002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949447" y="2021179"/>
            <a:ext cx="800100" cy="160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49447" y="2021179"/>
            <a:ext cx="800100" cy="16002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306177" y="3678864"/>
            <a:ext cx="3764756" cy="528638"/>
          </a:xfrm>
          <a:prstGeom prst="rect">
            <a:avLst/>
          </a:prstGeom>
          <a:solidFill>
            <a:srgbClr val="F5F5F5"/>
          </a:solidFill>
          <a:ln w="6191">
            <a:solidFill>
              <a:srgbClr val="D33941"/>
            </a:solidFill>
            <a:prstDash val="dash"/>
          </a:ln>
        </p:spPr>
      </p:sp>
      <p:sp>
        <p:nvSpPr>
          <p:cNvPr id="28" name="Shape 18"/>
          <p:cNvSpPr/>
          <p:nvPr/>
        </p:nvSpPr>
        <p:spPr>
          <a:xfrm>
            <a:off x="4128027" y="3678864"/>
            <a:ext cx="1621631" cy="528638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072188" y="1202829"/>
            <a:ext cx="2857500" cy="14430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6165056" y="1295698"/>
            <a:ext cx="1278731" cy="8572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558088" y="1295698"/>
            <a:ext cx="1278731" cy="85725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072188" y="2758827"/>
            <a:ext cx="2857500" cy="18145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7025878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311628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7604522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7890272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176022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8468916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7025878" y="3206651"/>
            <a:ext cx="0" cy="108584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5882164" y="3282375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负面情绪占比</a:t>
            </a:r>
            <a:endParaRPr lang="en-US" sz="788" dirty="0"/>
          </a:p>
        </p:txBody>
      </p:sp>
      <p:sp>
        <p:nvSpPr>
          <p:cNvPr id="41" name="Text 31"/>
          <p:cNvSpPr/>
          <p:nvPr/>
        </p:nvSpPr>
        <p:spPr>
          <a:xfrm>
            <a:off x="5732146" y="355383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诉求·退货退款</a:t>
            </a:r>
            <a:endParaRPr lang="en-US" sz="788" dirty="0"/>
          </a:p>
        </p:txBody>
      </p:sp>
      <p:sp>
        <p:nvSpPr>
          <p:cNvPr id="42" name="Text 32"/>
          <p:cNvSpPr/>
          <p:nvPr/>
        </p:nvSpPr>
        <p:spPr>
          <a:xfrm>
            <a:off x="5582127" y="3825299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诉求·要官方说明</a:t>
            </a:r>
            <a:endParaRPr lang="en-US" sz="788" dirty="0"/>
          </a:p>
        </p:txBody>
      </p:sp>
      <p:sp>
        <p:nvSpPr>
          <p:cNvPr id="43" name="Text 33"/>
          <p:cNvSpPr/>
          <p:nvPr/>
        </p:nvSpPr>
        <p:spPr>
          <a:xfrm>
            <a:off x="5582127" y="4096761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退单量较平时增幅</a:t>
            </a:r>
            <a:endParaRPr lang="en-US" sz="788" dirty="0"/>
          </a:p>
        </p:txBody>
      </p:sp>
      <p:sp>
        <p:nvSpPr>
          <p:cNvPr id="44" name="Text 34"/>
          <p:cNvSpPr/>
          <p:nvPr/>
        </p:nvSpPr>
        <p:spPr>
          <a:xfrm>
            <a:off x="6780848" y="43325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0%</a:t>
            </a:r>
            <a:endParaRPr lang="en-US" sz="788" dirty="0"/>
          </a:p>
        </p:txBody>
      </p:sp>
      <p:sp>
        <p:nvSpPr>
          <p:cNvPr id="45" name="Text 35"/>
          <p:cNvSpPr/>
          <p:nvPr/>
        </p:nvSpPr>
        <p:spPr>
          <a:xfrm>
            <a:off x="6994446" y="433250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20%</a:t>
            </a:r>
            <a:endParaRPr lang="en-US" sz="788" dirty="0"/>
          </a:p>
        </p:txBody>
      </p:sp>
      <p:sp>
        <p:nvSpPr>
          <p:cNvPr id="46" name="Text 36"/>
          <p:cNvSpPr/>
          <p:nvPr/>
        </p:nvSpPr>
        <p:spPr>
          <a:xfrm>
            <a:off x="7283054" y="433250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40%</a:t>
            </a:r>
            <a:endParaRPr lang="en-US" sz="788" dirty="0"/>
          </a:p>
        </p:txBody>
      </p:sp>
      <p:sp>
        <p:nvSpPr>
          <p:cNvPr id="47" name="Text 37"/>
          <p:cNvSpPr/>
          <p:nvPr/>
        </p:nvSpPr>
        <p:spPr>
          <a:xfrm>
            <a:off x="7571661" y="433250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60%</a:t>
            </a:r>
            <a:endParaRPr lang="en-US" sz="788" dirty="0"/>
          </a:p>
        </p:txBody>
      </p:sp>
      <p:sp>
        <p:nvSpPr>
          <p:cNvPr id="48" name="Text 38"/>
          <p:cNvSpPr/>
          <p:nvPr/>
        </p:nvSpPr>
        <p:spPr>
          <a:xfrm>
            <a:off x="7860268" y="433250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80%</a:t>
            </a:r>
            <a:endParaRPr lang="en-US" sz="788" dirty="0"/>
          </a:p>
        </p:txBody>
      </p:sp>
      <p:sp>
        <p:nvSpPr>
          <p:cNvPr id="49" name="Text 39"/>
          <p:cNvSpPr/>
          <p:nvPr/>
        </p:nvSpPr>
        <p:spPr>
          <a:xfrm>
            <a:off x="8073866" y="433250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100%</a:t>
            </a:r>
            <a:endParaRPr lang="en-US" sz="788" dirty="0"/>
          </a:p>
        </p:txBody>
      </p:sp>
      <p:sp>
        <p:nvSpPr>
          <p:cNvPr id="50" name="Shape 40"/>
          <p:cNvSpPr/>
          <p:nvPr/>
        </p:nvSpPr>
        <p:spPr>
          <a:xfrm>
            <a:off x="7022307" y="3270945"/>
            <a:ext cx="1038986" cy="142875"/>
          </a:xfrm>
          <a:custGeom>
            <a:avLst/>
            <a:gdLst/>
            <a:ahLst/>
            <a:cxnLst/>
            <a:rect l="l" t="t" r="r" b="b"/>
            <a:pathLst>
              <a:path w="1038986" h="142875">
                <a:moveTo>
                  <a:pt x="0" y="0"/>
                </a:moveTo>
                <a:lnTo>
                  <a:pt x="1038986" y="0"/>
                </a:lnTo>
                <a:lnTo>
                  <a:pt x="1038986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51" name="Shape 41"/>
          <p:cNvSpPr/>
          <p:nvPr/>
        </p:nvSpPr>
        <p:spPr>
          <a:xfrm>
            <a:off x="7022307" y="3542407"/>
            <a:ext cx="865822" cy="142875"/>
          </a:xfrm>
          <a:custGeom>
            <a:avLst/>
            <a:gdLst/>
            <a:ahLst/>
            <a:cxnLst/>
            <a:rect l="l" t="t" r="r" b="b"/>
            <a:pathLst>
              <a:path w="865822" h="142875">
                <a:moveTo>
                  <a:pt x="0" y="0"/>
                </a:moveTo>
                <a:lnTo>
                  <a:pt x="865822" y="0"/>
                </a:lnTo>
                <a:lnTo>
                  <a:pt x="865822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52" name="Shape 42"/>
          <p:cNvSpPr/>
          <p:nvPr/>
        </p:nvSpPr>
        <p:spPr>
          <a:xfrm>
            <a:off x="7022307" y="3813869"/>
            <a:ext cx="505063" cy="142875"/>
          </a:xfrm>
          <a:custGeom>
            <a:avLst/>
            <a:gdLst/>
            <a:ahLst/>
            <a:cxnLst/>
            <a:rect l="l" t="t" r="r" b="b"/>
            <a:pathLst>
              <a:path w="505063" h="142875">
                <a:moveTo>
                  <a:pt x="0" y="0"/>
                </a:moveTo>
                <a:lnTo>
                  <a:pt x="505063" y="0"/>
                </a:lnTo>
                <a:lnTo>
                  <a:pt x="50506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53" name="Shape 43"/>
          <p:cNvSpPr/>
          <p:nvPr/>
        </p:nvSpPr>
        <p:spPr>
          <a:xfrm>
            <a:off x="7022307" y="4085331"/>
            <a:ext cx="216456" cy="142875"/>
          </a:xfrm>
          <a:custGeom>
            <a:avLst/>
            <a:gdLst/>
            <a:ahLst/>
            <a:cxnLst/>
            <a:rect l="l" t="t" r="r" b="b"/>
            <a:pathLst>
              <a:path w="216456" h="142875">
                <a:moveTo>
                  <a:pt x="0" y="0"/>
                </a:moveTo>
                <a:lnTo>
                  <a:pt x="216456" y="0"/>
                </a:lnTo>
                <a:lnTo>
                  <a:pt x="216456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54" name="Text 44"/>
          <p:cNvSpPr/>
          <p:nvPr/>
        </p:nvSpPr>
        <p:spPr>
          <a:xfrm>
            <a:off x="8097012" y="328237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约72%</a:t>
            </a:r>
            <a:endParaRPr lang="en-US" sz="788" dirty="0"/>
          </a:p>
        </p:txBody>
      </p:sp>
      <p:sp>
        <p:nvSpPr>
          <p:cNvPr id="55" name="Text 45"/>
          <p:cNvSpPr/>
          <p:nvPr/>
        </p:nvSpPr>
        <p:spPr>
          <a:xfrm>
            <a:off x="7923848" y="355383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约60%</a:t>
            </a:r>
            <a:endParaRPr lang="en-US" sz="788" dirty="0"/>
          </a:p>
        </p:txBody>
      </p:sp>
      <p:sp>
        <p:nvSpPr>
          <p:cNvPr id="56" name="Text 46"/>
          <p:cNvSpPr/>
          <p:nvPr/>
        </p:nvSpPr>
        <p:spPr>
          <a:xfrm>
            <a:off x="7563089" y="382529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约35%</a:t>
            </a:r>
            <a:endParaRPr lang="en-US" sz="788" dirty="0"/>
          </a:p>
        </p:txBody>
      </p:sp>
      <p:sp>
        <p:nvSpPr>
          <p:cNvPr id="57" name="Text 47"/>
          <p:cNvSpPr/>
          <p:nvPr/>
        </p:nvSpPr>
        <p:spPr>
          <a:xfrm>
            <a:off x="7274481" y="409676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约15%</a:t>
            </a:r>
            <a:endParaRPr lang="en-US" sz="788" dirty="0"/>
          </a:p>
        </p:txBody>
      </p:sp>
      <p:sp>
        <p:nvSpPr>
          <p:cNvPr id="58" name="Text 48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6月10日起事件沿"视频→来电→退单"外溢，官方口径缺位是唯一变量</a:t>
            </a:r>
            <a:endParaRPr lang="en-US" sz="2000" dirty="0"/>
          </a:p>
        </p:txBody>
      </p:sp>
      <p:sp>
        <p:nvSpPr>
          <p:cNvPr id="59" name="Text 49"/>
          <p:cNvSpPr/>
          <p:nvPr/>
        </p:nvSpPr>
        <p:spPr>
          <a:xfrm>
            <a:off x="328613" y="838051"/>
            <a:ext cx="9018699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三泳道中两条已被素材填实，第三条（应对轨）只有"草稿"没有"发布"，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48小时窗口内的口径缺位是当前唯一可被我方改变的变量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306288" y="1293912"/>
            <a:ext cx="267176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事实时间线：以 T0=6月10日对齐三泳道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305953" y="1577987"/>
            <a:ext cx="842962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T0 · 6月10日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1204671" y="1577987"/>
            <a:ext cx="764381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T0+24h</a:t>
            </a:r>
            <a:endParaRPr lang="en-US" sz="900" dirty="0"/>
          </a:p>
        </p:txBody>
      </p:sp>
      <p:sp>
        <p:nvSpPr>
          <p:cNvPr id="63" name="Text 53"/>
          <p:cNvSpPr/>
          <p:nvPr/>
        </p:nvSpPr>
        <p:spPr>
          <a:xfrm>
            <a:off x="2026369" y="1577987"/>
            <a:ext cx="1107281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</a:t>
            </a:r>
            <a:endParaRPr lang="en-US" sz="900" dirty="0"/>
          </a:p>
        </p:txBody>
      </p:sp>
      <p:sp>
        <p:nvSpPr>
          <p:cNvPr id="64" name="Text 54"/>
          <p:cNvSpPr/>
          <p:nvPr/>
        </p:nvSpPr>
        <p:spPr>
          <a:xfrm>
            <a:off x="3191191" y="1577987"/>
            <a:ext cx="878681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</a:t>
            </a:r>
            <a:endParaRPr lang="en-US" sz="900" dirty="0"/>
          </a:p>
        </p:txBody>
      </p:sp>
      <p:sp>
        <p:nvSpPr>
          <p:cNvPr id="65" name="Text 55"/>
          <p:cNvSpPr/>
          <p:nvPr/>
        </p:nvSpPr>
        <p:spPr>
          <a:xfrm>
            <a:off x="4126967" y="1577987"/>
            <a:ext cx="764381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还需36小时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4949447" y="1577987"/>
            <a:ext cx="800100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T0+48h</a:t>
            </a:r>
            <a:endParaRPr lang="en-US" sz="900" dirty="0"/>
          </a:p>
        </p:txBody>
      </p:sp>
      <p:sp>
        <p:nvSpPr>
          <p:cNvPr id="67" name="Text 57"/>
          <p:cNvSpPr/>
          <p:nvPr/>
        </p:nvSpPr>
        <p:spPr>
          <a:xfrm>
            <a:off x="384535" y="2071018"/>
            <a:ext cx="700088" cy="6286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某测评博主发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布视频，质疑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我们产品有安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全隐患</a:t>
            </a:r>
            <a:endParaRPr lang="en-US" sz="900" dirty="0"/>
          </a:p>
        </p:txBody>
      </p:sp>
      <p:sp>
        <p:nvSpPr>
          <p:cNvPr id="68" name="Text 58"/>
          <p:cNvSpPr/>
          <p:nvPr/>
        </p:nvSpPr>
        <p:spPr>
          <a:xfrm>
            <a:off x="384535" y="3185778"/>
            <a:ext cx="700088" cy="3857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全部素材中唯一带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明确日期的节点 ·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[舆情摘要]</a:t>
            </a:r>
            <a:endParaRPr lang="en-US" sz="700" dirty="0"/>
          </a:p>
        </p:txBody>
      </p:sp>
      <p:sp>
        <p:nvSpPr>
          <p:cNvPr id="69" name="Text 59"/>
          <p:cNvSpPr/>
          <p:nvPr/>
        </p:nvSpPr>
        <p:spPr>
          <a:xfrm>
            <a:off x="1283252" y="2071018"/>
            <a:ext cx="621506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24小时内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转发破万</a:t>
            </a:r>
            <a:endParaRPr lang="en-US" sz="900" dirty="0"/>
          </a:p>
        </p:txBody>
      </p:sp>
      <p:sp>
        <p:nvSpPr>
          <p:cNvPr id="70" name="Text 60"/>
          <p:cNvSpPr/>
          <p:nvPr/>
        </p:nvSpPr>
        <p:spPr>
          <a:xfrm>
            <a:off x="1283252" y="2413918"/>
            <a:ext cx="621506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负面情绪占比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约72%</a:t>
            </a:r>
            <a:endParaRPr lang="en-US" sz="900" dirty="0"/>
          </a:p>
        </p:txBody>
      </p:sp>
      <p:sp>
        <p:nvSpPr>
          <p:cNvPr id="71" name="Text 61"/>
          <p:cNvSpPr/>
          <p:nvPr/>
        </p:nvSpPr>
        <p:spPr>
          <a:xfrm>
            <a:off x="1283252" y="3442953"/>
            <a:ext cx="6215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[舆情摘要]</a:t>
            </a:r>
            <a:endParaRPr lang="en-US" sz="700" dirty="0"/>
          </a:p>
        </p:txBody>
      </p:sp>
      <p:sp>
        <p:nvSpPr>
          <p:cNvPr id="72" name="Text 62"/>
          <p:cNvSpPr/>
          <p:nvPr/>
        </p:nvSpPr>
        <p:spPr>
          <a:xfrm>
            <a:off x="2104951" y="2071018"/>
            <a:ext cx="964406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相关来电大概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40通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；退货退款约60%、要官方说明约35%</a:t>
            </a:r>
            <a:endParaRPr lang="en-US" sz="900" dirty="0"/>
          </a:p>
        </p:txBody>
      </p:sp>
      <p:sp>
        <p:nvSpPr>
          <p:cNvPr id="73" name="Text 63"/>
          <p:cNvSpPr/>
          <p:nvPr/>
        </p:nvSpPr>
        <p:spPr>
          <a:xfrm>
            <a:off x="2154957" y="2763962"/>
            <a:ext cx="864394" cy="4714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交叉印证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：部分用户直接引用那条视频的说法</a:t>
            </a:r>
            <a:endParaRPr lang="en-US" sz="900" dirty="0"/>
          </a:p>
        </p:txBody>
      </p:sp>
      <p:sp>
        <p:nvSpPr>
          <p:cNvPr id="74" name="Text 64"/>
          <p:cNvSpPr/>
          <p:nvPr/>
        </p:nvSpPr>
        <p:spPr>
          <a:xfrm>
            <a:off x="2104951" y="3442953"/>
            <a:ext cx="9644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[客服来电][舆情摘要]</a:t>
            </a:r>
            <a:endParaRPr lang="en-US" sz="700" dirty="0"/>
          </a:p>
        </p:txBody>
      </p:sp>
      <p:sp>
        <p:nvSpPr>
          <p:cNvPr id="75" name="Text 65"/>
          <p:cNvSpPr/>
          <p:nvPr/>
        </p:nvSpPr>
        <p:spPr>
          <a:xfrm>
            <a:off x="3269773" y="2071018"/>
            <a:ext cx="735806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3个垂类KOL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开始转发；尚无权威媒体跟进</a:t>
            </a:r>
            <a:endParaRPr lang="en-US" sz="900" dirty="0"/>
          </a:p>
        </p:txBody>
      </p:sp>
      <p:sp>
        <p:nvSpPr>
          <p:cNvPr id="76" name="Text 66"/>
          <p:cNvSpPr/>
          <p:nvPr/>
        </p:nvSpPr>
        <p:spPr>
          <a:xfrm>
            <a:off x="3334066" y="2763962"/>
            <a:ext cx="621506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声明草稿已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成稿未发布</a:t>
            </a:r>
            <a:endParaRPr lang="en-US" sz="900" dirty="0"/>
          </a:p>
        </p:txBody>
      </p:sp>
      <p:sp>
        <p:nvSpPr>
          <p:cNvPr id="77" name="Text 67"/>
          <p:cNvSpPr/>
          <p:nvPr/>
        </p:nvSpPr>
        <p:spPr>
          <a:xfrm>
            <a:off x="3269773" y="3314365"/>
            <a:ext cx="73580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[舆情摘要][声明草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稿]</a:t>
            </a:r>
            <a:endParaRPr lang="en-US" sz="700" dirty="0"/>
          </a:p>
        </p:txBody>
      </p:sp>
      <p:sp>
        <p:nvSpPr>
          <p:cNvPr id="78" name="Text 68"/>
          <p:cNvSpPr/>
          <p:nvPr/>
        </p:nvSpPr>
        <p:spPr>
          <a:xfrm>
            <a:off x="4205548" y="2071018"/>
            <a:ext cx="621506" cy="7858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技术复核还没做完，预计还需要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才能出结论</a:t>
            </a:r>
            <a:endParaRPr lang="en-US" sz="900" dirty="0"/>
          </a:p>
        </p:txBody>
      </p:sp>
      <p:sp>
        <p:nvSpPr>
          <p:cNvPr id="79" name="Text 69"/>
          <p:cNvSpPr/>
          <p:nvPr/>
        </p:nvSpPr>
        <p:spPr>
          <a:xfrm>
            <a:off x="4205548" y="3442953"/>
            <a:ext cx="6215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[声明草稿]</a:t>
            </a:r>
            <a:endParaRPr lang="en-US" sz="700" dirty="0"/>
          </a:p>
        </p:txBody>
      </p:sp>
      <p:sp>
        <p:nvSpPr>
          <p:cNvPr id="80" name="Text 70"/>
          <p:cNvSpPr/>
          <p:nvPr/>
        </p:nvSpPr>
        <p:spPr>
          <a:xfrm>
            <a:off x="5027023" y="2071018"/>
            <a:ext cx="585788" cy="18573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窗口临界</a:t>
            </a:r>
            <a:endParaRPr lang="en-US" sz="900" dirty="0"/>
          </a:p>
        </p:txBody>
      </p:sp>
      <p:sp>
        <p:nvSpPr>
          <p:cNvPr id="81" name="Text 71"/>
          <p:cNvSpPr/>
          <p:nvPr/>
        </p:nvSpPr>
        <p:spPr>
          <a:xfrm>
            <a:off x="5028028" y="2285330"/>
            <a:ext cx="657225" cy="7858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48小时内如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果不做有效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回应，可能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从质疑升级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为抵制</a:t>
            </a:r>
            <a:endParaRPr lang="en-US" sz="900" dirty="0"/>
          </a:p>
        </p:txBody>
      </p:sp>
      <p:sp>
        <p:nvSpPr>
          <p:cNvPr id="82" name="Text 72"/>
          <p:cNvSpPr/>
          <p:nvPr/>
        </p:nvSpPr>
        <p:spPr>
          <a:xfrm>
            <a:off x="5028028" y="3442953"/>
            <a:ext cx="6572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[舆情摘要]</a:t>
            </a:r>
            <a:endParaRPr lang="en-US" sz="700" dirty="0"/>
          </a:p>
        </p:txBody>
      </p:sp>
      <p:sp>
        <p:nvSpPr>
          <p:cNvPr id="83" name="Text 73"/>
          <p:cNvSpPr/>
          <p:nvPr/>
        </p:nvSpPr>
        <p:spPr>
          <a:xfrm>
            <a:off x="370470" y="3714415"/>
            <a:ext cx="3636169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应对轨 T0 → 当前：素材未记载任何对外回应节点，官方口径缺位</a:t>
            </a:r>
            <a:endParaRPr lang="en-US" sz="900" dirty="0"/>
          </a:p>
        </p:txBody>
      </p:sp>
      <p:sp>
        <p:nvSpPr>
          <p:cNvPr id="84" name="Text 74"/>
          <p:cNvSpPr/>
          <p:nvPr/>
        </p:nvSpPr>
        <p:spPr>
          <a:xfrm>
            <a:off x="4192321" y="3714415"/>
            <a:ext cx="1493044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还需36小时与48小时窗口重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叠（推导）</a:t>
            </a:r>
            <a:endParaRPr lang="en-US" sz="900" dirty="0"/>
          </a:p>
        </p:txBody>
      </p:sp>
      <p:sp>
        <p:nvSpPr>
          <p:cNvPr id="85" name="Text 75"/>
          <p:cNvSpPr/>
          <p:nvPr/>
        </p:nvSpPr>
        <p:spPr>
          <a:xfrm>
            <a:off x="307237" y="4264819"/>
            <a:ext cx="928688" cy="214313"/>
          </a:xfrm>
          <a:prstGeom prst="rect">
            <a:avLst/>
          </a:prstGeom>
          <a:solidFill>
            <a:srgbClr val="F5F5F5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情绪：质疑为主</a:t>
            </a:r>
            <a:endParaRPr lang="en-US" sz="900" dirty="0"/>
          </a:p>
        </p:txBody>
      </p:sp>
      <p:sp>
        <p:nvSpPr>
          <p:cNvPr id="86" name="Text 76"/>
          <p:cNvSpPr/>
          <p:nvPr/>
        </p:nvSpPr>
        <p:spPr>
          <a:xfrm>
            <a:off x="1293186" y="4264819"/>
            <a:ext cx="1157288" cy="214313"/>
          </a:xfrm>
          <a:prstGeom prst="rect">
            <a:avLst/>
          </a:prstGeom>
          <a:solidFill>
            <a:srgbClr val="F5F5F5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权威媒体：尚无跟进</a:t>
            </a:r>
            <a:endParaRPr lang="en-US" sz="900" dirty="0"/>
          </a:p>
        </p:txBody>
      </p:sp>
      <p:sp>
        <p:nvSpPr>
          <p:cNvPr id="87" name="Text 77"/>
          <p:cNvSpPr/>
          <p:nvPr/>
        </p:nvSpPr>
        <p:spPr>
          <a:xfrm>
            <a:off x="2508796" y="4264819"/>
            <a:ext cx="1092994" cy="214313"/>
          </a:xfrm>
          <a:prstGeom prst="rect">
            <a:avLst/>
          </a:prstGeom>
          <a:solidFill>
            <a:srgbClr val="F5F5F5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垂类KOL：3个转发</a:t>
            </a:r>
            <a:endParaRPr lang="en-US" sz="900" dirty="0"/>
          </a:p>
        </p:txBody>
      </p:sp>
      <p:sp>
        <p:nvSpPr>
          <p:cNvPr id="88" name="Text 78"/>
          <p:cNvSpPr/>
          <p:nvPr/>
        </p:nvSpPr>
        <p:spPr>
          <a:xfrm>
            <a:off x="3660391" y="4264819"/>
            <a:ext cx="1600200" cy="214313"/>
          </a:xfrm>
          <a:prstGeom prst="rect">
            <a:avLst/>
          </a:prstGeom>
          <a:solidFill>
            <a:srgbClr val="F5F5F5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12144" rIns="48578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话题："是否虚标""售后甩锅"</a:t>
            </a:r>
            <a:endParaRPr lang="en-US" sz="900" dirty="0"/>
          </a:p>
        </p:txBody>
      </p:sp>
      <p:sp>
        <p:nvSpPr>
          <p:cNvPr id="89" name="Text 79"/>
          <p:cNvSpPr/>
          <p:nvPr/>
        </p:nvSpPr>
        <p:spPr>
          <a:xfrm>
            <a:off x="6257925" y="1359991"/>
            <a:ext cx="109299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技术复核收口</a:t>
            </a:r>
            <a:endParaRPr lang="en-US" sz="900" dirty="0"/>
          </a:p>
        </p:txBody>
      </p:sp>
      <p:sp>
        <p:nvSpPr>
          <p:cNvPr id="90" name="Text 80"/>
          <p:cNvSpPr/>
          <p:nvPr/>
        </p:nvSpPr>
        <p:spPr>
          <a:xfrm>
            <a:off x="6258595" y="1531441"/>
            <a:ext cx="414338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</a:t>
            </a:r>
            <a:endParaRPr lang="en-US" sz="2700" dirty="0"/>
          </a:p>
        </p:txBody>
      </p:sp>
      <p:sp>
        <p:nvSpPr>
          <p:cNvPr id="91" name="Text 81"/>
          <p:cNvSpPr/>
          <p:nvPr/>
        </p:nvSpPr>
        <p:spPr>
          <a:xfrm>
            <a:off x="6702233" y="1760041"/>
            <a:ext cx="2286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900" dirty="0"/>
          </a:p>
        </p:txBody>
      </p:sp>
      <p:sp>
        <p:nvSpPr>
          <p:cNvPr id="92" name="Text 82"/>
          <p:cNvSpPr/>
          <p:nvPr/>
        </p:nvSpPr>
        <p:spPr>
          <a:xfrm>
            <a:off x="6257925" y="1960066"/>
            <a:ext cx="109299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当前起算 · [声明草稿]</a:t>
            </a:r>
            <a:endParaRPr lang="en-US" sz="700" dirty="0"/>
          </a:p>
        </p:txBody>
      </p:sp>
      <p:sp>
        <p:nvSpPr>
          <p:cNvPr id="93" name="Text 83"/>
          <p:cNvSpPr/>
          <p:nvPr/>
        </p:nvSpPr>
        <p:spPr>
          <a:xfrm>
            <a:off x="7650956" y="1359991"/>
            <a:ext cx="109299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有效回应窗口</a:t>
            </a:r>
            <a:endParaRPr lang="en-US" sz="900" dirty="0"/>
          </a:p>
        </p:txBody>
      </p:sp>
      <p:sp>
        <p:nvSpPr>
          <p:cNvPr id="94" name="Text 84"/>
          <p:cNvSpPr/>
          <p:nvPr/>
        </p:nvSpPr>
        <p:spPr>
          <a:xfrm>
            <a:off x="7651961" y="1531441"/>
            <a:ext cx="421481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2700" dirty="0"/>
          </a:p>
        </p:txBody>
      </p:sp>
      <p:sp>
        <p:nvSpPr>
          <p:cNvPr id="95" name="Text 85"/>
          <p:cNvSpPr/>
          <p:nvPr/>
        </p:nvSpPr>
        <p:spPr>
          <a:xfrm>
            <a:off x="8103077" y="1760041"/>
            <a:ext cx="2286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900" dirty="0"/>
          </a:p>
        </p:txBody>
      </p:sp>
      <p:sp>
        <p:nvSpPr>
          <p:cNvPr id="96" name="Text 86"/>
          <p:cNvSpPr/>
          <p:nvPr/>
        </p:nvSpPr>
        <p:spPr>
          <a:xfrm>
            <a:off x="7650956" y="1960066"/>
            <a:ext cx="109299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T0+48h · [舆情摘要]</a:t>
            </a:r>
            <a:endParaRPr lang="en-US" sz="700" dirty="0"/>
          </a:p>
        </p:txBody>
      </p:sp>
      <p:sp>
        <p:nvSpPr>
          <p:cNvPr id="97" name="Text 87"/>
          <p:cNvSpPr/>
          <p:nvPr/>
        </p:nvSpPr>
        <p:spPr>
          <a:xfrm>
            <a:off x="6165056" y="2210098"/>
            <a:ext cx="2671763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余量区（推导）＝48小时窗口 − 还需36小时</a:t>
            </a:r>
            <a:endParaRPr lang="en-US" sz="900" dirty="0"/>
          </a:p>
        </p:txBody>
      </p:sp>
      <p:sp>
        <p:nvSpPr>
          <p:cNvPr id="98" name="Text 88"/>
          <p:cNvSpPr/>
          <p:nvPr/>
        </p:nvSpPr>
        <p:spPr>
          <a:xfrm>
            <a:off x="6165056" y="2424410"/>
            <a:ext cx="267176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差值素材未直接给出；落点＝先态度、后结论</a:t>
            </a:r>
            <a:endParaRPr lang="en-US" sz="700" dirty="0"/>
          </a:p>
        </p:txBody>
      </p:sp>
      <p:sp>
        <p:nvSpPr>
          <p:cNvPr id="99" name="Text 89"/>
          <p:cNvSpPr/>
          <p:nvPr/>
        </p:nvSpPr>
        <p:spPr>
          <a:xfrm>
            <a:off x="6165056" y="2851249"/>
            <a:ext cx="1050131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事实层量化节点</a:t>
            </a:r>
            <a:endParaRPr lang="en-US" sz="1100" dirty="0"/>
          </a:p>
        </p:txBody>
      </p:sp>
      <p:sp>
        <p:nvSpPr>
          <p:cNvPr id="100" name="Text 90"/>
          <p:cNvSpPr/>
          <p:nvPr/>
        </p:nvSpPr>
        <p:spPr>
          <a:xfrm>
            <a:off x="7642529" y="2924473"/>
            <a:ext cx="11930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数值逐字取自素材 · 深红为负向</a:t>
            </a:r>
            <a:endParaRPr lang="en-US" sz="700" dirty="0"/>
          </a:p>
        </p:txBody>
      </p:sp>
      <p:sp>
        <p:nvSpPr>
          <p:cNvPr id="101" name="Text 91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数据有限，基于 3 个内部来源（[舆情摘要][客服来电][声明草稿]），素材未给出的时刻一律以相对时点表达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424" y="1093887"/>
            <a:ext cx="2807494" cy="25003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153" y="1493937"/>
            <a:ext cx="0" cy="125015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753" y="1493937"/>
            <a:ext cx="0" cy="125015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82353" y="1493937"/>
            <a:ext cx="0" cy="125015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0953" y="1493937"/>
            <a:ext cx="0" cy="125015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6697" y="1493937"/>
            <a:ext cx="0" cy="125015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5297" y="1493937"/>
            <a:ext cx="0" cy="125015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225153" y="1493937"/>
            <a:ext cx="0" cy="1250156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1583" y="2747665"/>
            <a:ext cx="1150142" cy="0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0092" y="2926973"/>
            <a:ext cx="213312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占近三天来电诉求比例（%）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218597" y="2362973"/>
            <a:ext cx="13830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要官方说明诉求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-47147" y="1737896"/>
            <a:ext cx="12115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退货退款诉求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0124" y="278409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0%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135143" y="278409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20%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1365171" y="278409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40%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1595200" y="278409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60%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1825228" y="278409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80%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1980248" y="278409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100%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1221583" y="2281534"/>
            <a:ext cx="402550" cy="300038"/>
          </a:xfrm>
          <a:custGeom>
            <a:avLst/>
            <a:gdLst/>
            <a:ahLst/>
            <a:cxnLst/>
            <a:rect l="l" t="t" r="r" b="b"/>
            <a:pathLst>
              <a:path w="402550" h="300038">
                <a:moveTo>
                  <a:pt x="0" y="0"/>
                </a:moveTo>
                <a:lnTo>
                  <a:pt x="402550" y="0"/>
                </a:lnTo>
                <a:lnTo>
                  <a:pt x="402550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1583" y="1656457"/>
            <a:ext cx="690086" cy="300038"/>
          </a:xfrm>
          <a:custGeom>
            <a:avLst/>
            <a:gdLst/>
            <a:ahLst/>
            <a:cxnLst/>
            <a:rect l="l" t="t" r="r" b="b"/>
            <a:pathLst>
              <a:path w="690086" h="300038">
                <a:moveTo>
                  <a:pt x="0" y="0"/>
                </a:moveTo>
                <a:lnTo>
                  <a:pt x="690086" y="0"/>
                </a:lnTo>
                <a:lnTo>
                  <a:pt x="690086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3" name="Text 21"/>
          <p:cNvSpPr/>
          <p:nvPr/>
        </p:nvSpPr>
        <p:spPr>
          <a:xfrm>
            <a:off x="1659851" y="2341542"/>
            <a:ext cx="1082993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约35%</a:t>
            </a:r>
            <a:endParaRPr lang="en-US" sz="1181" dirty="0"/>
          </a:p>
        </p:txBody>
      </p:sp>
      <p:sp>
        <p:nvSpPr>
          <p:cNvPr id="24" name="Text 22"/>
          <p:cNvSpPr/>
          <p:nvPr/>
        </p:nvSpPr>
        <p:spPr>
          <a:xfrm>
            <a:off x="1947387" y="1716465"/>
            <a:ext cx="1082993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约60%</a:t>
            </a:r>
            <a:endParaRPr lang="en-US" sz="1181" dirty="0"/>
          </a:p>
        </p:txBody>
      </p:sp>
      <p:sp>
        <p:nvSpPr>
          <p:cNvPr id="25" name="Shape 23"/>
          <p:cNvSpPr/>
          <p:nvPr/>
        </p:nvSpPr>
        <p:spPr>
          <a:xfrm>
            <a:off x="3250797" y="1314450"/>
            <a:ext cx="2807494" cy="5286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43498" y="1471613"/>
            <a:ext cx="71438" cy="71438"/>
          </a:xfrm>
          <a:prstGeom prst="rect">
            <a:avLst/>
          </a:prstGeom>
          <a:solidFill>
            <a:srgbClr val="E1818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50797" y="1898452"/>
            <a:ext cx="2807494" cy="5286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43498" y="2055614"/>
            <a:ext cx="71438" cy="7143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50797" y="2482453"/>
            <a:ext cx="2807494" cy="5286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3498" y="2639616"/>
            <a:ext cx="71438" cy="71438"/>
          </a:xfrm>
          <a:prstGeom prst="rect">
            <a:avLst/>
          </a:prstGeom>
          <a:solidFill>
            <a:srgbClr val="7F0001"/>
          </a:solidFill>
          <a:ln/>
        </p:spPr>
      </p:sp>
      <p:sp>
        <p:nvSpPr>
          <p:cNvPr id="31" name="Shape 29"/>
          <p:cNvSpPr/>
          <p:nvPr/>
        </p:nvSpPr>
        <p:spPr>
          <a:xfrm>
            <a:off x="3250797" y="3066455"/>
            <a:ext cx="2807494" cy="5286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43498" y="3223617"/>
            <a:ext cx="71438" cy="71438"/>
          </a:xfrm>
          <a:prstGeom prst="rect">
            <a:avLst/>
          </a:prstGeom>
          <a:solidFill>
            <a:srgbClr val="FDD351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6779" y="1315343"/>
            <a:ext cx="2643188" cy="72151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779" y="2094012"/>
            <a:ext cx="2643188" cy="72151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86779" y="2872680"/>
            <a:ext cx="2643188" cy="72151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313" y="3708499"/>
            <a:ext cx="8715375" cy="54292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1456" y="3715643"/>
            <a:ext cx="1200150" cy="52863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38" name="Shape 36"/>
          <p:cNvSpPr/>
          <p:nvPr/>
        </p:nvSpPr>
        <p:spPr>
          <a:xfrm>
            <a:off x="1421606" y="3715643"/>
            <a:ext cx="2500313" cy="528638"/>
          </a:xfrm>
          <a:prstGeom prst="rect">
            <a:avLst/>
          </a:prstGeom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606" y="3715643"/>
            <a:ext cx="2500313" cy="528638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3921919" y="3715643"/>
            <a:ext cx="2500313" cy="528638"/>
          </a:xfrm>
          <a:prstGeom prst="rect">
            <a:avLst/>
          </a:prstGeom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1919" y="3715643"/>
            <a:ext cx="2500313" cy="528638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6422231" y="3715643"/>
            <a:ext cx="2500313" cy="528638"/>
          </a:xfrm>
          <a:prstGeom prst="rect">
            <a:avLst/>
          </a:prstGeom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2231" y="3715643"/>
            <a:ext cx="2500313" cy="52863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影响已从舆情穿透到经营：约40通来电与退单量多约15%同时承压</a:t>
            </a:r>
            <a:endParaRPr lang="en-US" sz="2000" dirty="0"/>
          </a:p>
        </p:txBody>
      </p:sp>
      <p:sp>
        <p:nvSpPr>
          <p:cNvPr id="45" name="Text 40"/>
          <p:cNvSpPr/>
          <p:nvPr/>
        </p:nvSpPr>
        <p:spPr>
          <a:xfrm>
            <a:off x="307181" y="1186755"/>
            <a:ext cx="9001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客诉诉求结构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2191848" y="1222474"/>
            <a:ext cx="735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 · [客服来电]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07293" y="3244155"/>
            <a:ext cx="26217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两项均为素材原值，口径存在重叠，按原值分列呈现，不加总、不补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差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3250629" y="1093887"/>
            <a:ext cx="9001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四维影响分级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4686802" y="1129605"/>
            <a:ext cx="13716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官方口径缺位＝当前唯一可自控变量</a:t>
            </a:r>
            <a:endParaRPr lang="en-US" sz="700" dirty="0"/>
          </a:p>
        </p:txBody>
      </p:sp>
      <p:sp>
        <p:nvSpPr>
          <p:cNvPr id="50" name="Text 45"/>
          <p:cNvSpPr/>
          <p:nvPr/>
        </p:nvSpPr>
        <p:spPr>
          <a:xfrm>
            <a:off x="3472142" y="1421606"/>
            <a:ext cx="3429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舆情面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3872303" y="1421606"/>
            <a:ext cx="11430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中等，情绪以质疑为主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3343666" y="1607344"/>
            <a:ext cx="2779062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趋势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上行</a:t>
            </a:r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：3个垂类KOL转发 · [舆情摘要]</a:t>
            </a:r>
            <a:endParaRPr lang="en-US" sz="700" dirty="0"/>
          </a:p>
        </p:txBody>
      </p:sp>
      <p:sp>
        <p:nvSpPr>
          <p:cNvPr id="53" name="Text 48"/>
          <p:cNvSpPr/>
          <p:nvPr/>
        </p:nvSpPr>
        <p:spPr>
          <a:xfrm>
            <a:off x="3472142" y="2005608"/>
            <a:ext cx="3429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客诉面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3872303" y="2005608"/>
            <a:ext cx="10287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已形成实际客诉压力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3343666" y="2191345"/>
            <a:ext cx="2779062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趋势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上行</a:t>
            </a:r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：来电直接引用视频说法 · [客服来电]</a:t>
            </a:r>
            <a:endParaRPr lang="en-US" sz="700" dirty="0"/>
          </a:p>
        </p:txBody>
      </p:sp>
      <p:sp>
        <p:nvSpPr>
          <p:cNvPr id="56" name="Text 51"/>
          <p:cNvSpPr/>
          <p:nvPr/>
        </p:nvSpPr>
        <p:spPr>
          <a:xfrm>
            <a:off x="3472142" y="2589609"/>
            <a:ext cx="5715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渠道经营面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4100903" y="2589609"/>
            <a:ext cx="10287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已出现实际经营敞口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3343666" y="2775347"/>
            <a:ext cx="2779062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趋势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上行</a:t>
            </a:r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：退单量较平时多约15% · [客服来电]</a:t>
            </a:r>
            <a:endParaRPr lang="en-US" sz="700" dirty="0"/>
          </a:p>
        </p:txBody>
      </p:sp>
      <p:sp>
        <p:nvSpPr>
          <p:cNvPr id="59" name="Text 54"/>
          <p:cNvSpPr/>
          <p:nvPr/>
        </p:nvSpPr>
        <p:spPr>
          <a:xfrm>
            <a:off x="3472142" y="3173611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品牌与法务面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4215203" y="3173611"/>
            <a:ext cx="12573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尚未爆发，属预防性风险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3343666" y="3359348"/>
            <a:ext cx="2779062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趋势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上行</a:t>
            </a:r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：复核结论不确定 · [声明草稿]</a:t>
            </a:r>
            <a:endParaRPr lang="en-US" sz="700" dirty="0"/>
          </a:p>
        </p:txBody>
      </p:sp>
      <p:sp>
        <p:nvSpPr>
          <p:cNvPr id="62" name="Text 57"/>
          <p:cNvSpPr/>
          <p:nvPr/>
        </p:nvSpPr>
        <p:spPr>
          <a:xfrm>
            <a:off x="6287058" y="1093887"/>
            <a:ext cx="12001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舆情到经营传导链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8020924" y="1129605"/>
            <a:ext cx="907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已闭环成立 · [客服来电]</a:t>
            </a:r>
            <a:endParaRPr lang="en-US" sz="700" dirty="0"/>
          </a:p>
        </p:txBody>
      </p:sp>
      <p:sp>
        <p:nvSpPr>
          <p:cNvPr id="64" name="Text 59"/>
          <p:cNvSpPr/>
          <p:nvPr/>
        </p:nvSpPr>
        <p:spPr>
          <a:xfrm>
            <a:off x="6379927" y="1425178"/>
            <a:ext cx="142875" cy="142875"/>
          </a:xfrm>
          <a:prstGeom prst="rect">
            <a:avLst/>
          </a:prstGeom>
          <a:solidFill>
            <a:srgbClr val="D3394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Text 60"/>
          <p:cNvSpPr/>
          <p:nvPr/>
        </p:nvSpPr>
        <p:spPr>
          <a:xfrm>
            <a:off x="6580008" y="1410891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视频传播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7094693" y="1432322"/>
            <a:ext cx="400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[舆情摘要]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6379648" y="1611809"/>
            <a:ext cx="2457450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24小时内转发破万</a:t>
            </a:r>
            <a:endParaRPr lang="en-US" sz="1100" dirty="0"/>
          </a:p>
        </p:txBody>
      </p:sp>
      <p:sp>
        <p:nvSpPr>
          <p:cNvPr id="68" name="Text 63"/>
          <p:cNvSpPr/>
          <p:nvPr/>
        </p:nvSpPr>
        <p:spPr>
          <a:xfrm>
            <a:off x="6379648" y="1812727"/>
            <a:ext cx="24574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负面情绪占比约72%，尚无权威媒体跟进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6379927" y="2203847"/>
            <a:ext cx="142875" cy="142875"/>
          </a:xfrm>
          <a:prstGeom prst="rect">
            <a:avLst/>
          </a:prstGeom>
          <a:solidFill>
            <a:srgbClr val="D3394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</a:t>
            </a:r>
            <a:endParaRPr lang="en-US" sz="700" dirty="0"/>
          </a:p>
        </p:txBody>
      </p:sp>
      <p:sp>
        <p:nvSpPr>
          <p:cNvPr id="70" name="Text 65"/>
          <p:cNvSpPr/>
          <p:nvPr/>
        </p:nvSpPr>
        <p:spPr>
          <a:xfrm>
            <a:off x="6580008" y="2189559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客服来电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7094693" y="2210991"/>
            <a:ext cx="400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[客服来电]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6379648" y="2390477"/>
            <a:ext cx="2457450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近三天大概40通</a:t>
            </a:r>
            <a:endParaRPr lang="en-US" sz="1100" dirty="0"/>
          </a:p>
        </p:txBody>
      </p:sp>
      <p:sp>
        <p:nvSpPr>
          <p:cNvPr id="73" name="Text 68"/>
          <p:cNvSpPr/>
          <p:nvPr/>
        </p:nvSpPr>
        <p:spPr>
          <a:xfrm>
            <a:off x="6379648" y="2591395"/>
            <a:ext cx="24574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退货退款约60%、要官方说明约35%</a:t>
            </a:r>
            <a:endParaRPr lang="en-US" sz="700" dirty="0"/>
          </a:p>
        </p:txBody>
      </p:sp>
      <p:sp>
        <p:nvSpPr>
          <p:cNvPr id="74" name="Text 69"/>
          <p:cNvSpPr/>
          <p:nvPr/>
        </p:nvSpPr>
        <p:spPr>
          <a:xfrm>
            <a:off x="6379927" y="2982516"/>
            <a:ext cx="142875" cy="142875"/>
          </a:xfrm>
          <a:prstGeom prst="rect">
            <a:avLst/>
          </a:prstGeom>
          <a:solidFill>
            <a:srgbClr val="D33941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6580008" y="2968228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电商退单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7094693" y="2989659"/>
            <a:ext cx="400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[客服来电]</a:t>
            </a:r>
            <a:endParaRPr lang="en-US" sz="700" dirty="0"/>
          </a:p>
        </p:txBody>
      </p:sp>
      <p:sp>
        <p:nvSpPr>
          <p:cNvPr id="77" name="Text 72"/>
          <p:cNvSpPr/>
          <p:nvPr/>
        </p:nvSpPr>
        <p:spPr>
          <a:xfrm>
            <a:off x="6379648" y="3169146"/>
            <a:ext cx="2457450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退单量比平时多约15%</a:t>
            </a:r>
            <a:endParaRPr lang="en-US" sz="1100" dirty="0"/>
          </a:p>
        </p:txBody>
      </p:sp>
      <p:sp>
        <p:nvSpPr>
          <p:cNvPr id="78" name="Text 73"/>
          <p:cNvSpPr/>
          <p:nvPr/>
        </p:nvSpPr>
        <p:spPr>
          <a:xfrm>
            <a:off x="6379648" y="3370064"/>
            <a:ext cx="24574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与退货退款约60%的诉求结构相互印证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307181" y="3822799"/>
            <a:ext cx="10287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升级触发条件</a:t>
            </a:r>
            <a:endParaRPr lang="en-US" sz="900" dirty="0"/>
          </a:p>
        </p:txBody>
      </p:sp>
      <p:sp>
        <p:nvSpPr>
          <p:cNvPr id="80" name="Text 75"/>
          <p:cNvSpPr/>
          <p:nvPr/>
        </p:nvSpPr>
        <p:spPr>
          <a:xfrm>
            <a:off x="307181" y="4008537"/>
            <a:ext cx="10287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48小时窗口内</a:t>
            </a:r>
            <a:endParaRPr lang="en-US" sz="700" dirty="0"/>
          </a:p>
        </p:txBody>
      </p:sp>
      <p:sp>
        <p:nvSpPr>
          <p:cNvPr id="81" name="Text 76"/>
          <p:cNvSpPr/>
          <p:nvPr/>
        </p:nvSpPr>
        <p:spPr>
          <a:xfrm>
            <a:off x="1514475" y="3822799"/>
            <a:ext cx="23217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权威媒体跟进</a:t>
            </a:r>
            <a:endParaRPr lang="en-US" sz="900" dirty="0"/>
          </a:p>
        </p:txBody>
      </p:sp>
      <p:sp>
        <p:nvSpPr>
          <p:cNvPr id="82" name="Text 77"/>
          <p:cNvSpPr/>
          <p:nvPr/>
        </p:nvSpPr>
        <p:spPr>
          <a:xfrm>
            <a:off x="1514475" y="4008537"/>
            <a:ext cx="23217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一旦跟进，事件从站内讨论跳到公共议题 [舆情摘要]</a:t>
            </a:r>
            <a:endParaRPr lang="en-US" sz="700" dirty="0"/>
          </a:p>
        </p:txBody>
      </p:sp>
      <p:sp>
        <p:nvSpPr>
          <p:cNvPr id="83" name="Text 78"/>
          <p:cNvSpPr/>
          <p:nvPr/>
        </p:nvSpPr>
        <p:spPr>
          <a:xfrm>
            <a:off x="4014788" y="3822799"/>
            <a:ext cx="23217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48小时窗口失守</a:t>
            </a:r>
            <a:endParaRPr lang="en-US" sz="900" dirty="0"/>
          </a:p>
        </p:txBody>
      </p:sp>
      <p:sp>
        <p:nvSpPr>
          <p:cNvPr id="84" name="Text 79"/>
          <p:cNvSpPr/>
          <p:nvPr/>
        </p:nvSpPr>
        <p:spPr>
          <a:xfrm>
            <a:off x="4014788" y="4008537"/>
            <a:ext cx="23217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窗口内不做有效回应，可能从质疑升级为抵制 [舆情摘要]</a:t>
            </a:r>
            <a:endParaRPr lang="en-US" sz="700" dirty="0"/>
          </a:p>
        </p:txBody>
      </p:sp>
      <p:sp>
        <p:nvSpPr>
          <p:cNvPr id="85" name="Text 80"/>
          <p:cNvSpPr/>
          <p:nvPr/>
        </p:nvSpPr>
        <p:spPr>
          <a:xfrm>
            <a:off x="6515100" y="3822799"/>
            <a:ext cx="23217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技术复核发现问题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6515100" y="4008537"/>
            <a:ext cx="23217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复核预计还需36小时，结论前说满将前后矛盾 [声明草稿]</a:t>
            </a:r>
            <a:endParaRPr lang="en-US" sz="700" dirty="0"/>
          </a:p>
        </p:txBody>
      </p:sp>
      <p:sp>
        <p:nvSpPr>
          <p:cNvPr id="87" name="Text 82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数据来源：[舆情摘要] [客服来电] [声明草稿]；退货退款约60%与要官方说明约35%为素材原值、口径重叠，分列不加总；退单绝对件数、GMV损失与历史基线值素材未提供，未作推算。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979587"/>
            <a:ext cx="4300538" cy="5572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29150" y="979587"/>
            <a:ext cx="4300538" cy="5572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313" y="1651099"/>
            <a:ext cx="8715375" cy="131445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456" y="1658243"/>
            <a:ext cx="8701088" cy="2286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56" y="1658243"/>
            <a:ext cx="8701088" cy="2286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2932" y="1697534"/>
            <a:ext cx="2614613" cy="1428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1456" y="1886843"/>
            <a:ext cx="8701088" cy="171450"/>
          </a:xfrm>
          <a:prstGeom prst="rect">
            <a:avLst/>
          </a:prstGeom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456" y="1886843"/>
            <a:ext cx="8701088" cy="1714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21456" y="2059465"/>
            <a:ext cx="8701088" cy="300038"/>
          </a:xfrm>
          <a:prstGeom prst="rect">
            <a:avLst/>
          </a:prstGeom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456" y="2059465"/>
            <a:ext cx="8701088" cy="30003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007394" y="2059465"/>
            <a:ext cx="3457575" cy="292894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7394" y="2059465"/>
            <a:ext cx="3457575" cy="29289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464969" y="2059465"/>
            <a:ext cx="3457575" cy="292894"/>
          </a:xfrm>
          <a:prstGeom prst="rect">
            <a:avLst/>
          </a:prstGeom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64969" y="2059465"/>
            <a:ext cx="3457575" cy="29289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221456" y="2361847"/>
            <a:ext cx="8701088" cy="300038"/>
          </a:xfrm>
          <a:prstGeom prst="rect">
            <a:avLst/>
          </a:prstGeom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1456" y="2361847"/>
            <a:ext cx="8701088" cy="300038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2007394" y="2361847"/>
            <a:ext cx="3457575" cy="292894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07394" y="2361847"/>
            <a:ext cx="3457575" cy="292894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464969" y="2361847"/>
            <a:ext cx="3457575" cy="292894"/>
          </a:xfrm>
          <a:prstGeom prst="rect">
            <a:avLst/>
          </a:prstGeom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64969" y="2361847"/>
            <a:ext cx="3457575" cy="292894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2007394" y="2664228"/>
            <a:ext cx="3457575" cy="292894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07394" y="2664228"/>
            <a:ext cx="3457575" cy="292894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464969" y="2664228"/>
            <a:ext cx="3457575" cy="292894"/>
          </a:xfrm>
          <a:prstGeom prst="rect">
            <a:avLst/>
          </a:prstGeom>
          <a:ln/>
        </p:spPr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64969" y="2664228"/>
            <a:ext cx="3457575" cy="292894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214313" y="3079849"/>
            <a:ext cx="6343650" cy="12858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8" name="Shape 15"/>
          <p:cNvSpPr/>
          <p:nvPr/>
        </p:nvSpPr>
        <p:spPr>
          <a:xfrm>
            <a:off x="2711053" y="3215580"/>
            <a:ext cx="0" cy="80724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16"/>
          <p:cNvSpPr/>
          <p:nvPr/>
        </p:nvSpPr>
        <p:spPr>
          <a:xfrm>
            <a:off x="3604022" y="3215580"/>
            <a:ext cx="0" cy="80724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17"/>
          <p:cNvSpPr/>
          <p:nvPr/>
        </p:nvSpPr>
        <p:spPr>
          <a:xfrm>
            <a:off x="4504134" y="3215580"/>
            <a:ext cx="0" cy="80724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18"/>
          <p:cNvSpPr/>
          <p:nvPr/>
        </p:nvSpPr>
        <p:spPr>
          <a:xfrm>
            <a:off x="5397103" y="3215580"/>
            <a:ext cx="0" cy="80724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19"/>
          <p:cNvSpPr/>
          <p:nvPr/>
        </p:nvSpPr>
        <p:spPr>
          <a:xfrm>
            <a:off x="6297216" y="3215580"/>
            <a:ext cx="0" cy="80724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2711053" y="3215580"/>
            <a:ext cx="0" cy="80724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21"/>
          <p:cNvSpPr/>
          <p:nvPr/>
        </p:nvSpPr>
        <p:spPr>
          <a:xfrm>
            <a:off x="2707458" y="4026396"/>
            <a:ext cx="358618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22"/>
          <p:cNvSpPr/>
          <p:nvPr/>
        </p:nvSpPr>
        <p:spPr>
          <a:xfrm>
            <a:off x="5867876" y="396281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788" dirty="0"/>
          </a:p>
        </p:txBody>
      </p:sp>
      <p:sp>
        <p:nvSpPr>
          <p:cNvPr id="36" name="Text 23"/>
          <p:cNvSpPr/>
          <p:nvPr/>
        </p:nvSpPr>
        <p:spPr>
          <a:xfrm>
            <a:off x="1267278" y="3290113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第一段·态度声明</a:t>
            </a:r>
            <a:endParaRPr lang="en-US" sz="788" dirty="0"/>
          </a:p>
        </p:txBody>
      </p:sp>
      <p:sp>
        <p:nvSpPr>
          <p:cNvPr id="37" name="Text 24"/>
          <p:cNvSpPr/>
          <p:nvPr/>
        </p:nvSpPr>
        <p:spPr>
          <a:xfrm>
            <a:off x="1417296" y="3559195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技术复核出结论</a:t>
            </a:r>
            <a:endParaRPr lang="en-US" sz="788" dirty="0"/>
          </a:p>
        </p:txBody>
      </p:sp>
      <p:sp>
        <p:nvSpPr>
          <p:cNvPr id="38" name="Text 25"/>
          <p:cNvSpPr/>
          <p:nvPr/>
        </p:nvSpPr>
        <p:spPr>
          <a:xfrm>
            <a:off x="1267278" y="3828276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第二段·结论声明</a:t>
            </a:r>
            <a:endParaRPr lang="en-US" sz="788" dirty="0"/>
          </a:p>
        </p:txBody>
      </p:sp>
      <p:sp>
        <p:nvSpPr>
          <p:cNvPr id="39" name="Text 26"/>
          <p:cNvSpPr/>
          <p:nvPr/>
        </p:nvSpPr>
        <p:spPr>
          <a:xfrm>
            <a:off x="2541008" y="405925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40" name="Text 27"/>
          <p:cNvSpPr/>
          <p:nvPr/>
        </p:nvSpPr>
        <p:spPr>
          <a:xfrm>
            <a:off x="3362546" y="405925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</a:t>
            </a:r>
            <a:endParaRPr lang="en-US" sz="788" dirty="0"/>
          </a:p>
        </p:txBody>
      </p:sp>
      <p:sp>
        <p:nvSpPr>
          <p:cNvPr id="41" name="Text 28"/>
          <p:cNvSpPr/>
          <p:nvPr/>
        </p:nvSpPr>
        <p:spPr>
          <a:xfrm>
            <a:off x="4259092" y="405925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</a:t>
            </a:r>
            <a:endParaRPr lang="en-US" sz="788" dirty="0"/>
          </a:p>
        </p:txBody>
      </p:sp>
      <p:sp>
        <p:nvSpPr>
          <p:cNvPr id="42" name="Text 29"/>
          <p:cNvSpPr/>
          <p:nvPr/>
        </p:nvSpPr>
        <p:spPr>
          <a:xfrm>
            <a:off x="5155639" y="405925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</a:t>
            </a:r>
            <a:endParaRPr lang="en-US" sz="788" dirty="0"/>
          </a:p>
        </p:txBody>
      </p:sp>
      <p:sp>
        <p:nvSpPr>
          <p:cNvPr id="43" name="Text 30"/>
          <p:cNvSpPr/>
          <p:nvPr/>
        </p:nvSpPr>
        <p:spPr>
          <a:xfrm>
            <a:off x="6052185" y="405925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788" dirty="0"/>
          </a:p>
        </p:txBody>
      </p:sp>
      <p:sp>
        <p:nvSpPr>
          <p:cNvPr id="44" name="Shape 31"/>
          <p:cNvSpPr/>
          <p:nvPr/>
        </p:nvSpPr>
        <p:spPr>
          <a:xfrm>
            <a:off x="2707458" y="329297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0"/>
                </a:lnTo>
                <a:lnTo>
                  <a:pt x="0" y="114300"/>
                </a:lnTo>
                <a:lnTo>
                  <a:pt x="0" y="114300"/>
                </a:lnTo>
                <a:close/>
              </a:path>
            </a:pathLst>
          </a:custGeom>
          <a:noFill/>
          <a:ln/>
        </p:spPr>
      </p:sp>
      <p:sp>
        <p:nvSpPr>
          <p:cNvPr id="45" name="Shape 32"/>
          <p:cNvSpPr/>
          <p:nvPr/>
        </p:nvSpPr>
        <p:spPr>
          <a:xfrm>
            <a:off x="2707458" y="356205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0"/>
                </a:lnTo>
                <a:lnTo>
                  <a:pt x="0" y="114300"/>
                </a:lnTo>
                <a:lnTo>
                  <a:pt x="0" y="114300"/>
                </a:lnTo>
                <a:close/>
              </a:path>
            </a:pathLst>
          </a:custGeom>
          <a:noFill/>
          <a:ln/>
        </p:spPr>
      </p:sp>
      <p:sp>
        <p:nvSpPr>
          <p:cNvPr id="46" name="Shape 33"/>
          <p:cNvSpPr/>
          <p:nvPr/>
        </p:nvSpPr>
        <p:spPr>
          <a:xfrm>
            <a:off x="2707458" y="3831134"/>
            <a:ext cx="2689639" cy="114300"/>
          </a:xfrm>
          <a:custGeom>
            <a:avLst/>
            <a:gdLst/>
            <a:ahLst/>
            <a:cxnLst/>
            <a:rect l="l" t="t" r="r" b="b"/>
            <a:pathLst>
              <a:path w="2689639" h="114300">
                <a:moveTo>
                  <a:pt x="0" y="0"/>
                </a:moveTo>
                <a:lnTo>
                  <a:pt x="2689639" y="0"/>
                </a:lnTo>
                <a:lnTo>
                  <a:pt x="2689639" y="114300"/>
                </a:lnTo>
                <a:lnTo>
                  <a:pt x="0" y="114300"/>
                </a:lnTo>
                <a:close/>
              </a:path>
            </a:pathLst>
          </a:custGeom>
          <a:noFill/>
          <a:ln/>
        </p:spPr>
      </p:sp>
      <p:sp>
        <p:nvSpPr>
          <p:cNvPr id="47" name="Shape 34"/>
          <p:cNvSpPr/>
          <p:nvPr/>
        </p:nvSpPr>
        <p:spPr>
          <a:xfrm>
            <a:off x="2707458" y="3292971"/>
            <a:ext cx="3586186" cy="114300"/>
          </a:xfrm>
          <a:custGeom>
            <a:avLst/>
            <a:gdLst/>
            <a:ahLst/>
            <a:cxnLst/>
            <a:rect l="l" t="t" r="r" b="b"/>
            <a:pathLst>
              <a:path w="3586186" h="114300">
                <a:moveTo>
                  <a:pt x="0" y="0"/>
                </a:moveTo>
                <a:lnTo>
                  <a:pt x="3586186" y="0"/>
                </a:lnTo>
                <a:lnTo>
                  <a:pt x="3586186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48" name="Shape 35"/>
          <p:cNvSpPr/>
          <p:nvPr/>
        </p:nvSpPr>
        <p:spPr>
          <a:xfrm>
            <a:off x="2707458" y="3562052"/>
            <a:ext cx="2689639" cy="114300"/>
          </a:xfrm>
          <a:custGeom>
            <a:avLst/>
            <a:gdLst/>
            <a:ahLst/>
            <a:cxnLst/>
            <a:rect l="l" t="t" r="r" b="b"/>
            <a:pathLst>
              <a:path w="2689639" h="114300">
                <a:moveTo>
                  <a:pt x="0" y="0"/>
                </a:moveTo>
                <a:lnTo>
                  <a:pt x="2689639" y="0"/>
                </a:lnTo>
                <a:lnTo>
                  <a:pt x="2689639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49" name="Shape 36"/>
          <p:cNvSpPr/>
          <p:nvPr/>
        </p:nvSpPr>
        <p:spPr>
          <a:xfrm>
            <a:off x="5397097" y="3831134"/>
            <a:ext cx="896546" cy="114300"/>
          </a:xfrm>
          <a:custGeom>
            <a:avLst/>
            <a:gdLst/>
            <a:ahLst/>
            <a:cxnLst/>
            <a:rect l="l" t="t" r="r" b="b"/>
            <a:pathLst>
              <a:path w="896546" h="114300">
                <a:moveTo>
                  <a:pt x="0" y="0"/>
                </a:moveTo>
                <a:lnTo>
                  <a:pt x="896546" y="0"/>
                </a:lnTo>
                <a:lnTo>
                  <a:pt x="896546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62B230"/>
          </a:solidFill>
          <a:ln/>
        </p:spPr>
      </p:sp>
      <p:sp>
        <p:nvSpPr>
          <p:cNvPr id="50" name="Text 37"/>
          <p:cNvSpPr/>
          <p:nvPr/>
        </p:nvSpPr>
        <p:spPr>
          <a:xfrm>
            <a:off x="2750320" y="3290113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48小时窗口内先发</a:t>
            </a:r>
            <a:endParaRPr lang="en-US" sz="788" dirty="0"/>
          </a:p>
        </p:txBody>
      </p:sp>
      <p:sp>
        <p:nvSpPr>
          <p:cNvPr id="51" name="Text 38"/>
          <p:cNvSpPr/>
          <p:nvPr/>
        </p:nvSpPr>
        <p:spPr>
          <a:xfrm>
            <a:off x="2750320" y="3559195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预计还需36小时出结论</a:t>
            </a:r>
            <a:endParaRPr lang="en-US" sz="788" dirty="0"/>
          </a:p>
        </p:txBody>
      </p:sp>
      <p:sp>
        <p:nvSpPr>
          <p:cNvPr id="52" name="Text 39"/>
          <p:cNvSpPr/>
          <p:nvPr/>
        </p:nvSpPr>
        <p:spPr>
          <a:xfrm>
            <a:off x="5439960" y="3828276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36小时后发</a:t>
            </a:r>
            <a:endParaRPr lang="en-US" sz="788" dirty="0"/>
          </a:p>
        </p:txBody>
      </p:sp>
      <p:sp>
        <p:nvSpPr>
          <p:cNvPr id="53" name="Shape 40"/>
          <p:cNvSpPr/>
          <p:nvPr/>
        </p:nvSpPr>
        <p:spPr>
          <a:xfrm>
            <a:off x="6786563" y="3079849"/>
            <a:ext cx="2143125" cy="1285875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4" name="Text 41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三处“说满”表述必须撤回：改为“先态度、后结论”两段式</a:t>
            </a:r>
            <a:endParaRPr lang="en-US" sz="2000" dirty="0"/>
          </a:p>
        </p:txBody>
      </p:sp>
      <p:sp>
        <p:nvSpPr>
          <p:cNvPr id="55" name="Text 42"/>
          <p:cNvSpPr/>
          <p:nvPr/>
        </p:nvSpPr>
        <p:spPr>
          <a:xfrm>
            <a:off x="307237" y="1047117"/>
            <a:ext cx="357187" cy="142875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36433" tIns="0" rIns="36433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硬伤一</a:t>
            </a:r>
            <a:endParaRPr lang="en-US" sz="700" dirty="0"/>
          </a:p>
        </p:txBody>
      </p:sp>
      <p:sp>
        <p:nvSpPr>
          <p:cNvPr id="56" name="Text 43"/>
          <p:cNvSpPr/>
          <p:nvPr/>
        </p:nvSpPr>
        <p:spPr>
          <a:xfrm>
            <a:off x="722300" y="1036402"/>
            <a:ext cx="2593181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结论前置、证据未到位：复核还需36小时却已把话说满</a:t>
            </a:r>
            <a:endParaRPr lang="en-US" sz="800" dirty="0"/>
          </a:p>
        </p:txBody>
      </p:sp>
      <p:sp>
        <p:nvSpPr>
          <p:cNvPr id="57" name="Text 44"/>
          <p:cNvSpPr/>
          <p:nvPr/>
        </p:nvSpPr>
        <p:spPr>
          <a:xfrm>
            <a:off x="307181" y="1227832"/>
            <a:ext cx="4114800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技术复核还没做完、预计还需36小时才出结论，草稿却已断言“均符合国家标准”“与事实不符”，属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无证据定性；复核一旦反转，公司从“被质疑方”变“说谎方”，引发二次舆情。</a:t>
            </a:r>
            <a:endParaRPr lang="en-US" sz="700" dirty="0"/>
          </a:p>
        </p:txBody>
      </p:sp>
      <p:sp>
        <p:nvSpPr>
          <p:cNvPr id="58" name="Text 45"/>
          <p:cNvSpPr/>
          <p:nvPr/>
        </p:nvSpPr>
        <p:spPr>
          <a:xfrm>
            <a:off x="4722075" y="1047117"/>
            <a:ext cx="357187" cy="142875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36433" tIns="0" rIns="36433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硬伤二</a:t>
            </a:r>
            <a:endParaRPr lang="en-US" sz="700" dirty="0"/>
          </a:p>
        </p:txBody>
      </p:sp>
      <p:sp>
        <p:nvSpPr>
          <p:cNvPr id="59" name="Text 46"/>
          <p:cNvSpPr/>
          <p:nvPr/>
        </p:nvSpPr>
        <p:spPr>
          <a:xfrm>
            <a:off x="5134849" y="1036402"/>
            <a:ext cx="25860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强硬措辞激化对立：约72%负面情绪下被读成店大欺客</a:t>
            </a:r>
            <a:endParaRPr lang="en-US" sz="800" dirty="0"/>
          </a:p>
        </p:txBody>
      </p:sp>
      <p:sp>
        <p:nvSpPr>
          <p:cNvPr id="60" name="Text 47"/>
          <p:cNvSpPr/>
          <p:nvPr/>
        </p:nvSpPr>
        <p:spPr>
          <a:xfrm>
            <a:off x="4722019" y="1227832"/>
            <a:ext cx="4114800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评论区负面情绪占比约72%，“保留追究法律责任的权利”会被解读为店大欺客、激化对立，把“是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否虚标”的技术争议转成“压制舆论”的立场争议，直接击穿48小时窗口。</a:t>
            </a:r>
            <a:endParaRPr lang="en-US" sz="700" dirty="0"/>
          </a:p>
        </p:txBody>
      </p:sp>
      <p:sp>
        <p:nvSpPr>
          <p:cNvPr id="61" name="Text 48"/>
          <p:cNvSpPr/>
          <p:nvPr/>
        </p:nvSpPr>
        <p:spPr>
          <a:xfrm>
            <a:off x="307237" y="1697534"/>
            <a:ext cx="928688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草稿原文（逐字引用）</a:t>
            </a:r>
            <a:endParaRPr lang="en-US" sz="700" dirty="0"/>
          </a:p>
        </p:txBody>
      </p:sp>
      <p:sp>
        <p:nvSpPr>
          <p:cNvPr id="62" name="Text 49"/>
          <p:cNvSpPr/>
          <p:nvPr/>
        </p:nvSpPr>
        <p:spPr>
          <a:xfrm>
            <a:off x="1321705" y="1693962"/>
            <a:ext cx="3750469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“我司产品均符合国家标准，视频内容与事实不符，我司保留追究法律责任的权利。”</a:t>
            </a:r>
            <a:endParaRPr lang="en-US" sz="700" dirty="0"/>
          </a:p>
        </p:txBody>
      </p:sp>
      <p:sp>
        <p:nvSpPr>
          <p:cNvPr id="63" name="Text 50"/>
          <p:cNvSpPr/>
          <p:nvPr/>
        </p:nvSpPr>
        <p:spPr>
          <a:xfrm>
            <a:off x="6222932" y="1697534"/>
            <a:ext cx="2614613" cy="142875"/>
          </a:xfrm>
          <a:prstGeom prst="rect">
            <a:avLst/>
          </a:prstGeom>
          <a:ln/>
        </p:spPr>
        <p:txBody>
          <a:bodyPr wrap="none" lIns="72866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内部备注：技术复核还没做完，预计还需要36小时才能出结论</a:t>
            </a:r>
            <a:endParaRPr lang="en-US" sz="700" dirty="0"/>
          </a:p>
        </p:txBody>
      </p:sp>
      <p:sp>
        <p:nvSpPr>
          <p:cNvPr id="64" name="Text 51"/>
          <p:cNvSpPr/>
          <p:nvPr/>
        </p:nvSpPr>
        <p:spPr>
          <a:xfrm>
            <a:off x="221456" y="1886843"/>
            <a:ext cx="1785938" cy="164306"/>
          </a:xfrm>
          <a:prstGeom prst="rect">
            <a:avLst/>
          </a:prstGeom>
          <a:solidFill>
            <a:srgbClr val="555757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草稿原句（逐字）</a:t>
            </a:r>
            <a:endParaRPr lang="en-US" sz="700" dirty="0"/>
          </a:p>
        </p:txBody>
      </p:sp>
      <p:sp>
        <p:nvSpPr>
          <p:cNvPr id="65" name="Text 52"/>
          <p:cNvSpPr/>
          <p:nvPr/>
        </p:nvSpPr>
        <p:spPr>
          <a:xfrm>
            <a:off x="2007394" y="1886843"/>
            <a:ext cx="3457575" cy="164306"/>
          </a:xfrm>
          <a:prstGeom prst="rect">
            <a:avLst/>
          </a:prstGeom>
          <a:solidFill>
            <a:srgbClr val="D33941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为什么不能这么说 · 风险诊断</a:t>
            </a:r>
            <a:endParaRPr lang="en-US" sz="700" dirty="0"/>
          </a:p>
        </p:txBody>
      </p:sp>
      <p:sp>
        <p:nvSpPr>
          <p:cNvPr id="66" name="Text 53"/>
          <p:cNvSpPr/>
          <p:nvPr/>
        </p:nvSpPr>
        <p:spPr>
          <a:xfrm>
            <a:off x="5464969" y="1886843"/>
            <a:ext cx="3457575" cy="164306"/>
          </a:xfrm>
          <a:prstGeom prst="rect">
            <a:avLst/>
          </a:prstGeom>
          <a:solidFill>
            <a:srgbClr val="62B230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应该怎么说 · 改写方向</a:t>
            </a:r>
            <a:endParaRPr lang="en-US" sz="700" dirty="0"/>
          </a:p>
        </p:txBody>
      </p:sp>
      <p:sp>
        <p:nvSpPr>
          <p:cNvPr id="67" name="Text 54"/>
          <p:cNvSpPr/>
          <p:nvPr/>
        </p:nvSpPr>
        <p:spPr>
          <a:xfrm>
            <a:off x="278606" y="2082738"/>
            <a:ext cx="1671638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第一句</a:t>
            </a:r>
            <a:endParaRPr lang="en-US" sz="700" dirty="0"/>
          </a:p>
        </p:txBody>
      </p:sp>
      <p:sp>
        <p:nvSpPr>
          <p:cNvPr id="68" name="Text 55"/>
          <p:cNvSpPr/>
          <p:nvPr/>
        </p:nvSpPr>
        <p:spPr>
          <a:xfrm>
            <a:off x="278606" y="2200610"/>
            <a:ext cx="167163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“我司产品均符合国家标准”</a:t>
            </a:r>
            <a:endParaRPr lang="en-US" sz="700" dirty="0"/>
          </a:p>
        </p:txBody>
      </p:sp>
      <p:sp>
        <p:nvSpPr>
          <p:cNvPr id="69" name="Text 56"/>
          <p:cNvSpPr/>
          <p:nvPr/>
        </p:nvSpPr>
        <p:spPr>
          <a:xfrm>
            <a:off x="2071688" y="2087984"/>
            <a:ext cx="3336131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复核还需36小时就下合规结论，属无证据定性；若复核发现确有问题，公司从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“被质疑方”变“说谎方”，引发二次舆情与监管、法务风险。</a:t>
            </a:r>
            <a:endParaRPr lang="en-US" sz="700" dirty="0"/>
          </a:p>
        </p:txBody>
      </p:sp>
      <p:sp>
        <p:nvSpPr>
          <p:cNvPr id="70" name="Text 57"/>
          <p:cNvSpPr/>
          <p:nvPr/>
        </p:nvSpPr>
        <p:spPr>
          <a:xfrm>
            <a:off x="5529263" y="2087984"/>
            <a:ext cx="3336131" cy="2357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改为过程性承诺：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“已启动内部技术复核，预计36小时内公布结论，结论一出第一时间公开，不预设结果，欢迎监督。”</a:t>
            </a:r>
            <a:endParaRPr lang="en-US" sz="700" dirty="0"/>
          </a:p>
        </p:txBody>
      </p:sp>
      <p:sp>
        <p:nvSpPr>
          <p:cNvPr id="71" name="Text 58"/>
          <p:cNvSpPr/>
          <p:nvPr/>
        </p:nvSpPr>
        <p:spPr>
          <a:xfrm>
            <a:off x="278606" y="2385120"/>
            <a:ext cx="1671638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第二句</a:t>
            </a:r>
            <a:endParaRPr lang="en-US" sz="700" dirty="0"/>
          </a:p>
        </p:txBody>
      </p:sp>
      <p:sp>
        <p:nvSpPr>
          <p:cNvPr id="72" name="Text 59"/>
          <p:cNvSpPr/>
          <p:nvPr/>
        </p:nvSpPr>
        <p:spPr>
          <a:xfrm>
            <a:off x="278606" y="2502991"/>
            <a:ext cx="167163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“视频内容与事实不符”</a:t>
            </a:r>
            <a:endParaRPr lang="en-US" sz="700" dirty="0"/>
          </a:p>
        </p:txBody>
      </p:sp>
      <p:sp>
        <p:nvSpPr>
          <p:cNvPr id="73" name="Text 60"/>
          <p:cNvSpPr/>
          <p:nvPr/>
        </p:nvSpPr>
        <p:spPr>
          <a:xfrm>
            <a:off x="2071688" y="2390366"/>
            <a:ext cx="3336131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复核前的提前定性；在负面情绪约72%、“售后甩锅”已成话题的语境下，直接否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认会被解读为否认与甩锅，正好坐实第二个质疑点。</a:t>
            </a:r>
            <a:endParaRPr lang="en-US" sz="700" dirty="0"/>
          </a:p>
        </p:txBody>
      </p:sp>
      <p:sp>
        <p:nvSpPr>
          <p:cNvPr id="74" name="Text 61"/>
          <p:cNvSpPr/>
          <p:nvPr/>
        </p:nvSpPr>
        <p:spPr>
          <a:xfrm>
            <a:off x="5529263" y="2390366"/>
            <a:ext cx="3336131" cy="2357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改为逐项核实：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“我们已注意到视频提出的问题，正在逐项核实‘是否虚标’相关质疑，并同步核对售后处理过程”，不与测评博主公开对撕。</a:t>
            </a:r>
            <a:endParaRPr lang="en-US" sz="700" dirty="0"/>
          </a:p>
        </p:txBody>
      </p:sp>
      <p:sp>
        <p:nvSpPr>
          <p:cNvPr id="75" name="Text 62"/>
          <p:cNvSpPr/>
          <p:nvPr/>
        </p:nvSpPr>
        <p:spPr>
          <a:xfrm>
            <a:off x="278606" y="2687501"/>
            <a:ext cx="1671638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第三句</a:t>
            </a:r>
            <a:endParaRPr lang="en-US" sz="700" dirty="0"/>
          </a:p>
        </p:txBody>
      </p:sp>
      <p:sp>
        <p:nvSpPr>
          <p:cNvPr id="76" name="Text 63"/>
          <p:cNvSpPr/>
          <p:nvPr/>
        </p:nvSpPr>
        <p:spPr>
          <a:xfrm>
            <a:off x="278606" y="2805373"/>
            <a:ext cx="167163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“我司保留追究法律责任的权利”</a:t>
            </a:r>
            <a:endParaRPr lang="en-US" sz="700" dirty="0"/>
          </a:p>
        </p:txBody>
      </p:sp>
      <p:sp>
        <p:nvSpPr>
          <p:cNvPr id="77" name="Text 64"/>
          <p:cNvSpPr/>
          <p:nvPr/>
        </p:nvSpPr>
        <p:spPr>
          <a:xfrm>
            <a:off x="2071688" y="2692747"/>
            <a:ext cx="3336131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最易被截图传播；会被解读为店大欺客、压制舆论，把技术争议转为立场争议，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助推3个垂类KOL之外扩散、引来权威媒体跟进，击穿48小时窗口。</a:t>
            </a:r>
            <a:endParaRPr lang="en-US" sz="700" dirty="0"/>
          </a:p>
        </p:txBody>
      </p:sp>
      <p:sp>
        <p:nvSpPr>
          <p:cNvPr id="78" name="Text 65"/>
          <p:cNvSpPr/>
          <p:nvPr/>
        </p:nvSpPr>
        <p:spPr>
          <a:xfrm>
            <a:off x="5529263" y="2692747"/>
            <a:ext cx="3336131" cy="2357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整句删除、不对外表述：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替换为用户补救通道，承接退货退款约60%、要官方说明约35%两类诉求（受理入口、答复时限）；法务意见仅内部保留。</a:t>
            </a:r>
            <a:endParaRPr lang="en-US" sz="700" dirty="0"/>
          </a:p>
        </p:txBody>
      </p:sp>
      <p:sp>
        <p:nvSpPr>
          <p:cNvPr id="79" name="Text 66"/>
          <p:cNvSpPr/>
          <p:nvPr/>
        </p:nvSpPr>
        <p:spPr>
          <a:xfrm>
            <a:off x="278606" y="3239579"/>
            <a:ext cx="157162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先态度、后结论 · 发布时序</a:t>
            </a:r>
            <a:endParaRPr lang="en-US" sz="900" dirty="0"/>
          </a:p>
        </p:txBody>
      </p:sp>
      <p:sp>
        <p:nvSpPr>
          <p:cNvPr id="80" name="Text 67"/>
          <p:cNvSpPr/>
          <p:nvPr/>
        </p:nvSpPr>
        <p:spPr>
          <a:xfrm>
            <a:off x="278606" y="3424033"/>
            <a:ext cx="1571625" cy="37861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第一段·态度声明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：48小时窗口内先发，只表态度、流程承诺与补救通道，不等复核。</a:t>
            </a:r>
            <a:endParaRPr lang="en-US" sz="700" dirty="0"/>
          </a:p>
        </p:txBody>
      </p:sp>
      <p:sp>
        <p:nvSpPr>
          <p:cNvPr id="81" name="Text 68"/>
          <p:cNvSpPr/>
          <p:nvPr/>
        </p:nvSpPr>
        <p:spPr>
          <a:xfrm>
            <a:off x="278606" y="3828659"/>
            <a:ext cx="1571625" cy="37861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第二段·结论声明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：技术复核预计还需36小时，结论一出即按复核事实定性。</a:t>
            </a:r>
            <a:endParaRPr lang="en-US" sz="700" dirty="0"/>
          </a:p>
        </p:txBody>
      </p:sp>
      <p:sp>
        <p:nvSpPr>
          <p:cNvPr id="82" name="Text 69"/>
          <p:cNvSpPr/>
          <p:nvPr/>
        </p:nvSpPr>
        <p:spPr>
          <a:xfrm>
            <a:off x="6879431" y="3247058"/>
            <a:ext cx="1957388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删句优先于改句</a:t>
            </a:r>
            <a:endParaRPr lang="en-US" sz="900" dirty="0"/>
          </a:p>
        </p:txBody>
      </p:sp>
      <p:sp>
        <p:nvSpPr>
          <p:cNvPr id="83" name="Text 70"/>
          <p:cNvSpPr/>
          <p:nvPr/>
        </p:nvSpPr>
        <p:spPr>
          <a:xfrm>
            <a:off x="6879431" y="3447083"/>
            <a:ext cx="195738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强硬措辞不对外表述</a:t>
            </a:r>
            <a:endParaRPr lang="en-US" sz="700" dirty="0"/>
          </a:p>
        </p:txBody>
      </p:sp>
      <p:sp>
        <p:nvSpPr>
          <p:cNvPr id="84" name="Text 71"/>
          <p:cNvSpPr/>
          <p:nvPr/>
        </p:nvSpPr>
        <p:spPr>
          <a:xfrm>
            <a:off x="6879431" y="3654586"/>
            <a:ext cx="1957388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整句删除“追究法律责任”类表述，法务意见仅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内部保留、不进入对外文本。</a:t>
            </a:r>
            <a:endParaRPr lang="en-US" sz="700" dirty="0"/>
          </a:p>
        </p:txBody>
      </p:sp>
      <p:sp>
        <p:nvSpPr>
          <p:cNvPr id="85" name="Text 72"/>
          <p:cNvSpPr/>
          <p:nvPr/>
        </p:nvSpPr>
        <p:spPr>
          <a:xfrm>
            <a:off x="6879431" y="3948150"/>
            <a:ext cx="1957388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复核结论出来前，不对产品是否合规、视频内容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是否属实作任何定性表态。</a:t>
            </a:r>
            <a:endParaRPr lang="en-US" sz="700" dirty="0"/>
          </a:p>
        </p:txBody>
      </p:sp>
      <p:sp>
        <p:nvSpPr>
          <p:cNvPr id="86" name="Text 73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数据来源：素材三 公关部连夜赶的声明草稿 / 素材一 舆情监测负面话题摘要 / 素材二 近三天客服来电统计要点；数据有限，基于 3 个内部来源，草稿原文逐字引用、未作美化。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311"/>
            <a:ext cx="8715375" cy="2714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313" y="2371892"/>
            <a:ext cx="6958012" cy="1600200"/>
          </a:xfrm>
          <a:prstGeom prst="rect">
            <a:avLst/>
          </a:prstGeom>
          <a:solidFill>
            <a:srgbClr val="FFF1E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456" y="2379148"/>
            <a:ext cx="6943725" cy="542925"/>
          </a:xfrm>
          <a:prstGeom prst="rect">
            <a:avLst/>
          </a:prstGeom>
          <a:solidFill>
            <a:srgbClr val="D339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56" y="2379148"/>
            <a:ext cx="6943725" cy="542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4313" y="3961656"/>
            <a:ext cx="6958012" cy="21002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1456" y="3969693"/>
            <a:ext cx="6943725" cy="52149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456" y="3969693"/>
            <a:ext cx="6943725" cy="5214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4313" y="6053658"/>
            <a:ext cx="6958012" cy="14358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21456" y="6059463"/>
            <a:ext cx="6943725" cy="52149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456" y="6059463"/>
            <a:ext cx="6943725" cy="52149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286625" y="1129605"/>
            <a:ext cx="1643062" cy="344328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3769" y="1135856"/>
            <a:ext cx="1628775" cy="40719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50919" y="1598414"/>
            <a:ext cx="1514475" cy="914400"/>
          </a:xfrm>
          <a:prstGeom prst="rect">
            <a:avLst/>
          </a:prstGeom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0919" y="1598414"/>
            <a:ext cx="1514475" cy="9144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350919" y="2717304"/>
            <a:ext cx="1514475" cy="614363"/>
          </a:xfrm>
          <a:prstGeom prst="rect">
            <a:avLst/>
          </a:prstGeom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50919" y="2717304"/>
            <a:ext cx="1514475" cy="614363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50919" y="3536156"/>
            <a:ext cx="1514475" cy="971550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50919" y="3536156"/>
            <a:ext cx="1514475" cy="9715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三级响应机制以“复核是否发现问题”分流，当前立即执行一级响应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308297" y="823317"/>
            <a:ext cx="2991088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L1 质疑期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（现在在这里）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→ L2 升级响应 → L3 严重响应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5164038" y="823317"/>
            <a:ext cx="3892201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分流主轴：技术复核是否发现问题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（预计还需36小时）</a:t>
            </a:r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｜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次轴：舆情烈度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214313" y="1130498"/>
            <a:ext cx="6958012" cy="250031"/>
          </a:xfrm>
          <a:prstGeom prst="rect">
            <a:avLst/>
          </a:prstGeom>
          <a:solidFill>
            <a:srgbClr val="D33941"/>
          </a:solidFill>
          <a:ln w="6191">
            <a:solidFill>
              <a:srgbClr val="DDDDDD"/>
            </a:solidFill>
            <a:prstDash val="solid"/>
          </a:ln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级别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214313" y="1380530"/>
            <a:ext cx="6958012" cy="250031"/>
          </a:xfrm>
          <a:prstGeom prst="rect">
            <a:avLst/>
          </a:prstGeom>
          <a:solidFill>
            <a:srgbClr val="D33941"/>
          </a:solidFill>
          <a:ln w="6191">
            <a:solidFill>
              <a:srgbClr val="DDDDDD"/>
            </a:solidFill>
            <a:prstDash val="solid"/>
          </a:ln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触发条件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214313" y="1630561"/>
            <a:ext cx="6958012" cy="250031"/>
          </a:xfrm>
          <a:prstGeom prst="rect">
            <a:avLst/>
          </a:prstGeom>
          <a:solidFill>
            <a:srgbClr val="D33941"/>
          </a:solidFill>
          <a:ln w="6191">
            <a:solidFill>
              <a:srgbClr val="DDDDDD"/>
            </a:solidFill>
            <a:prstDash val="solid"/>
          </a:ln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关键动作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214313" y="1880592"/>
            <a:ext cx="6958012" cy="250031"/>
          </a:xfrm>
          <a:prstGeom prst="rect">
            <a:avLst/>
          </a:prstGeom>
          <a:solidFill>
            <a:srgbClr val="D33941"/>
          </a:solidFill>
          <a:ln w="6191">
            <a:solidFill>
              <a:srgbClr val="DDDDDD"/>
            </a:solidFill>
            <a:prstDash val="solid"/>
          </a:ln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责任方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214313" y="2130623"/>
            <a:ext cx="6958012" cy="250031"/>
          </a:xfrm>
          <a:prstGeom prst="rect">
            <a:avLst/>
          </a:prstGeom>
          <a:solidFill>
            <a:srgbClr val="D33941"/>
          </a:solidFill>
          <a:ln w="6191">
            <a:solidFill>
              <a:srgbClr val="DDDDDD"/>
            </a:solidFill>
            <a:prstDash val="solid"/>
          </a:ln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时限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278606" y="2423461"/>
            <a:ext cx="6822281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L1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质疑期响应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278606" y="2721992"/>
            <a:ext cx="571500" cy="157163"/>
          </a:xfrm>
          <a:prstGeom prst="rect">
            <a:avLst/>
          </a:prstGeom>
          <a:solidFill>
            <a:srgbClr val="FFFFFF"/>
          </a:solidFill>
          <a:ln w="6191">
            <a:solidFill>
              <a:srgbClr val="FFFFFF"/>
            </a:solidFill>
            <a:prstDash val="solid"/>
          </a:ln>
        </p:spPr>
        <p:txBody>
          <a:bodyPr wrap="none" lIns="24289" tIns="0" rIns="24289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现在在这里</a:t>
            </a:r>
            <a:endParaRPr lang="en-US" sz="700" dirty="0"/>
          </a:p>
        </p:txBody>
      </p:sp>
      <p:sp>
        <p:nvSpPr>
          <p:cNvPr id="31" name="Text 22"/>
          <p:cNvSpPr/>
          <p:nvPr/>
        </p:nvSpPr>
        <p:spPr>
          <a:xfrm>
            <a:off x="221456" y="2919115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情绪以质疑为主；尚无权威媒体跟进；仅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3个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垂类KOL转发；近三天约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40通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来电；退单量较平时多约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15%</a:t>
            </a:r>
            <a:endParaRPr lang="en-US" sz="700" dirty="0"/>
          </a:p>
        </p:txBody>
      </p:sp>
      <p:sp>
        <p:nvSpPr>
          <p:cNvPr id="32" name="Text 23"/>
          <p:cNvSpPr/>
          <p:nvPr/>
        </p:nvSpPr>
        <p:spPr>
          <a:xfrm>
            <a:off x="221456" y="3146933"/>
            <a:ext cx="6943725" cy="364331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内发第一段态度声明（不含事实结论）；客服统一话术承接退货退款约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60%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、要官方说明约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35%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；建舆情与退单量双看板；对3个垂类KOL一对一沟通；法务意见仅内部保留</a:t>
            </a:r>
            <a:endParaRPr lang="en-US" sz="700" dirty="0"/>
          </a:p>
        </p:txBody>
      </p:sp>
      <p:sp>
        <p:nvSpPr>
          <p:cNvPr id="33" name="Text 24"/>
          <p:cNvSpPr/>
          <p:nvPr/>
        </p:nvSpPr>
        <p:spPr>
          <a:xfrm>
            <a:off x="221456" y="3510483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归口：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；配合：客服部、电商部、技术部、法务部</a:t>
            </a:r>
            <a:endParaRPr lang="en-US" sz="700" dirty="0"/>
          </a:p>
        </p:txBody>
      </p:sp>
      <p:sp>
        <p:nvSpPr>
          <p:cNvPr id="34" name="Text 25"/>
          <p:cNvSpPr/>
          <p:nvPr/>
        </p:nvSpPr>
        <p:spPr>
          <a:xfrm>
            <a:off x="221456" y="3736181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0–48小时完成第一段发布与话术上线；技术复核按预计还需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收口；看板即时建立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278606" y="4013281"/>
            <a:ext cx="6822281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L2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升级响应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278662" y="4312537"/>
            <a:ext cx="1100138" cy="13573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  <p:txBody>
          <a:bodyPr wrap="none" lIns="24289" tIns="0" rIns="24289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需公关部研判＋管理层确认</a:t>
            </a:r>
            <a:endParaRPr lang="en-US" sz="700" dirty="0"/>
          </a:p>
        </p:txBody>
      </p:sp>
      <p:sp>
        <p:nvSpPr>
          <p:cNvPr id="37" name="Text 28"/>
          <p:cNvSpPr/>
          <p:nvPr/>
        </p:nvSpPr>
        <p:spPr>
          <a:xfrm>
            <a:off x="278606" y="4531816"/>
            <a:ext cx="68294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①出现权威媒体跟进；</a:t>
            </a:r>
            <a:endParaRPr lang="en-US" sz="700" dirty="0"/>
          </a:p>
        </p:txBody>
      </p:sp>
      <p:sp>
        <p:nvSpPr>
          <p:cNvPr id="38" name="Text 29"/>
          <p:cNvSpPr/>
          <p:nvPr/>
        </p:nvSpPr>
        <p:spPr>
          <a:xfrm>
            <a:off x="278606" y="4671789"/>
            <a:ext cx="723919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②负面情绪占比高于约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72%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基线并出现抵制号召；</a:t>
            </a:r>
            <a:endParaRPr lang="en-US" sz="700" dirty="0"/>
          </a:p>
        </p:txBody>
      </p:sp>
      <p:sp>
        <p:nvSpPr>
          <p:cNvPr id="39" name="Text 30"/>
          <p:cNvSpPr/>
          <p:nvPr/>
        </p:nvSpPr>
        <p:spPr>
          <a:xfrm>
            <a:off x="278606" y="4812488"/>
            <a:ext cx="6829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建议阈值约85%或出现“抵制/退货潮”话题词，待管理层确认</a:t>
            </a:r>
            <a:endParaRPr lang="en-US" sz="700" dirty="0"/>
          </a:p>
        </p:txBody>
      </p:sp>
      <p:sp>
        <p:nvSpPr>
          <p:cNvPr id="40" name="Text 31"/>
          <p:cNvSpPr/>
          <p:nvPr/>
        </p:nvSpPr>
        <p:spPr>
          <a:xfrm>
            <a:off x="278606" y="4931755"/>
            <a:ext cx="68294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③垂类KOL由3个继续扩散；</a:t>
            </a:r>
            <a:endParaRPr lang="en-US" sz="700" dirty="0"/>
          </a:p>
        </p:txBody>
      </p:sp>
      <p:sp>
        <p:nvSpPr>
          <p:cNvPr id="41" name="Text 32"/>
          <p:cNvSpPr/>
          <p:nvPr/>
        </p:nvSpPr>
        <p:spPr>
          <a:xfrm>
            <a:off x="278606" y="5072453"/>
            <a:ext cx="6829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建议阈值8个以上，待管理层确认</a:t>
            </a:r>
            <a:endParaRPr lang="en-US" sz="700" dirty="0"/>
          </a:p>
        </p:txBody>
      </p:sp>
      <p:sp>
        <p:nvSpPr>
          <p:cNvPr id="42" name="Text 33"/>
          <p:cNvSpPr/>
          <p:nvPr/>
        </p:nvSpPr>
        <p:spPr>
          <a:xfrm>
            <a:off x="278606" y="5191720"/>
            <a:ext cx="68294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④复核发现局部问题</a:t>
            </a:r>
            <a:endParaRPr lang="en-US" sz="700" dirty="0"/>
          </a:p>
        </p:txBody>
      </p:sp>
      <p:sp>
        <p:nvSpPr>
          <p:cNvPr id="43" name="Text 34"/>
          <p:cNvSpPr/>
          <p:nvPr/>
        </p:nvSpPr>
        <p:spPr>
          <a:xfrm>
            <a:off x="221456" y="5374556"/>
            <a:ext cx="6943725" cy="228600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管理层出面任发言人；发布第二段结论声明；开放批量退货退款与专属沟通入口；电商侧同步说明退单处置；按日向管理层回报</a:t>
            </a:r>
            <a:endParaRPr lang="en-US" sz="700" dirty="0"/>
          </a:p>
        </p:txBody>
      </p:sp>
      <p:sp>
        <p:nvSpPr>
          <p:cNvPr id="44" name="Text 35"/>
          <p:cNvSpPr/>
          <p:nvPr/>
        </p:nvSpPr>
        <p:spPr>
          <a:xfrm>
            <a:off x="221456" y="5600254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归口：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（管理层为对外发言人）；配合：客服部、电商部、技术部、法务部</a:t>
            </a:r>
            <a:endParaRPr lang="en-US" sz="700" dirty="0"/>
          </a:p>
        </p:txBody>
      </p:sp>
      <p:sp>
        <p:nvSpPr>
          <p:cNvPr id="45" name="Text 36"/>
          <p:cNvSpPr/>
          <p:nvPr/>
        </p:nvSpPr>
        <p:spPr>
          <a:xfrm>
            <a:off x="221456" y="5825951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触发后即时升级；第二段结论声明随复核收口（预计还需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）当日发布；管理层回报每日一次</a:t>
            </a:r>
            <a:endParaRPr lang="en-US" sz="700" dirty="0"/>
          </a:p>
        </p:txBody>
      </p:sp>
      <p:sp>
        <p:nvSpPr>
          <p:cNvPr id="46" name="Text 37"/>
          <p:cNvSpPr/>
          <p:nvPr/>
        </p:nvSpPr>
        <p:spPr>
          <a:xfrm>
            <a:off x="278606" y="6103051"/>
            <a:ext cx="6822281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L3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严重响应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278662" y="6402307"/>
            <a:ext cx="671513" cy="13573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  <p:txBody>
          <a:bodyPr wrap="none" lIns="24289" tIns="0" rIns="24289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管理层直接决策</a:t>
            </a:r>
            <a:endParaRPr lang="en-US" sz="700" dirty="0"/>
          </a:p>
        </p:txBody>
      </p:sp>
      <p:sp>
        <p:nvSpPr>
          <p:cNvPr id="48" name="Text 39"/>
          <p:cNvSpPr/>
          <p:nvPr/>
        </p:nvSpPr>
        <p:spPr>
          <a:xfrm>
            <a:off x="221456" y="6578724"/>
            <a:ext cx="6943725" cy="228600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技术复核确认产品确有安全隐患/确有问题；或监管介入、集中投诉、大规模抵制</a:t>
            </a:r>
            <a:endParaRPr lang="en-US" sz="700" dirty="0"/>
          </a:p>
        </p:txBody>
      </p:sp>
      <p:sp>
        <p:nvSpPr>
          <p:cNvPr id="49" name="Text 40"/>
          <p:cNvSpPr/>
          <p:nvPr/>
        </p:nvSpPr>
        <p:spPr>
          <a:xfrm>
            <a:off x="221456" y="6804422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正式致歉与整改；启动召回或全量退换；暂停相关宣传口径；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“产品均符合国家标准”“视频内容与事实不符”表述全部作废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；统一归口对外发布</a:t>
            </a:r>
            <a:endParaRPr lang="en-US" sz="700" dirty="0"/>
          </a:p>
        </p:txBody>
      </p:sp>
      <p:sp>
        <p:nvSpPr>
          <p:cNvPr id="50" name="Text 41"/>
          <p:cNvSpPr/>
          <p:nvPr/>
        </p:nvSpPr>
        <p:spPr>
          <a:xfrm>
            <a:off x="221456" y="7030120"/>
            <a:ext cx="6943725" cy="228600"/>
          </a:xfrm>
          <a:prstGeom prst="rect">
            <a:avLst/>
          </a:prstGeom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归口：</a:t>
            </a:r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管理层决策＋公关部统一发布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；配合：技术部（整改依据）、客服部与电商部（全量退换）、法务部（仅内部）</a:t>
            </a:r>
            <a:endParaRPr lang="en-US" sz="700" dirty="0"/>
          </a:p>
        </p:txBody>
      </p:sp>
      <p:sp>
        <p:nvSpPr>
          <p:cNvPr id="51" name="Text 42"/>
          <p:cNvSpPr/>
          <p:nvPr/>
        </p:nvSpPr>
        <p:spPr>
          <a:xfrm>
            <a:off x="221456" y="7255818"/>
            <a:ext cx="6943725" cy="228600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复核结论一出即触发；对外首响应不晚于结论确认当日；召回/全量退换按管理层批准节点执行</a:t>
            </a:r>
            <a:endParaRPr lang="en-US" sz="700" dirty="0"/>
          </a:p>
        </p:txBody>
      </p:sp>
      <p:sp>
        <p:nvSpPr>
          <p:cNvPr id="52" name="Text 43"/>
          <p:cNvSpPr/>
          <p:nvPr/>
        </p:nvSpPr>
        <p:spPr>
          <a:xfrm>
            <a:off x="7293769" y="1135856"/>
            <a:ext cx="1628775" cy="40719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三问判定流程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依次三问，指向对应级别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7429500" y="1598414"/>
            <a:ext cx="14358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第一问 技术复核是否发现问题？</a:t>
            </a:r>
            <a:endParaRPr lang="en-US" sz="700" dirty="0"/>
          </a:p>
        </p:txBody>
      </p:sp>
      <p:sp>
        <p:nvSpPr>
          <p:cNvPr id="54" name="Text 45"/>
          <p:cNvSpPr/>
          <p:nvPr/>
        </p:nvSpPr>
        <p:spPr>
          <a:xfrm>
            <a:off x="7429500" y="1762720"/>
            <a:ext cx="1435894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确有安全隐患/确有问题 → 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直接 L3</a:t>
            </a:r>
            <a:endParaRPr lang="en-US" sz="700" dirty="0"/>
          </a:p>
        </p:txBody>
      </p:sp>
      <p:sp>
        <p:nvSpPr>
          <p:cNvPr id="55" name="Text 46"/>
          <p:cNvSpPr/>
          <p:nvPr/>
        </p:nvSpPr>
        <p:spPr>
          <a:xfrm>
            <a:off x="7429500" y="2062758"/>
            <a:ext cx="1522047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发现局部问题 → 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L2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7429500" y="2212777"/>
            <a:ext cx="1435894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尚未出结论或无问题 → 进入第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二问</a:t>
            </a:r>
            <a:endParaRPr lang="en-US" sz="700" dirty="0"/>
          </a:p>
        </p:txBody>
      </p:sp>
      <p:sp>
        <p:nvSpPr>
          <p:cNvPr id="57" name="Text 48"/>
          <p:cNvSpPr/>
          <p:nvPr/>
        </p:nvSpPr>
        <p:spPr>
          <a:xfrm>
            <a:off x="7429500" y="2717304"/>
            <a:ext cx="14358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第二问 是否有权威媒体跟进？</a:t>
            </a:r>
            <a:endParaRPr lang="en-US" sz="700" dirty="0"/>
          </a:p>
        </p:txBody>
      </p:sp>
      <p:sp>
        <p:nvSpPr>
          <p:cNvPr id="58" name="Text 49"/>
          <p:cNvSpPr/>
          <p:nvPr/>
        </p:nvSpPr>
        <p:spPr>
          <a:xfrm>
            <a:off x="7429500" y="2881610"/>
            <a:ext cx="1435894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有 → 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L2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（叠加抵制号召或大规模投诉 → 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L3</a:t>
            </a:r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）</a:t>
            </a:r>
            <a:endParaRPr lang="en-US" sz="700" dirty="0"/>
          </a:p>
        </p:txBody>
      </p:sp>
      <p:sp>
        <p:nvSpPr>
          <p:cNvPr id="59" name="Text 50"/>
          <p:cNvSpPr/>
          <p:nvPr/>
        </p:nvSpPr>
        <p:spPr>
          <a:xfrm>
            <a:off x="7429500" y="3181648"/>
            <a:ext cx="14358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尚无 → 进入第三问</a:t>
            </a:r>
            <a:endParaRPr lang="en-US" sz="700" dirty="0"/>
          </a:p>
        </p:txBody>
      </p:sp>
      <p:sp>
        <p:nvSpPr>
          <p:cNvPr id="60" name="Text 51"/>
          <p:cNvSpPr/>
          <p:nvPr/>
        </p:nvSpPr>
        <p:spPr>
          <a:xfrm>
            <a:off x="7429500" y="3564731"/>
            <a:ext cx="1435894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第三问 48小时内是否已有效回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应？</a:t>
            </a:r>
            <a:endParaRPr lang="en-US" sz="700" dirty="0"/>
          </a:p>
        </p:txBody>
      </p:sp>
      <p:sp>
        <p:nvSpPr>
          <p:cNvPr id="61" name="Text 52"/>
          <p:cNvSpPr/>
          <p:nvPr/>
        </p:nvSpPr>
        <p:spPr>
          <a:xfrm>
            <a:off x="7429500" y="3879056"/>
            <a:ext cx="1435894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已发第一段态度声明且话术统一 → 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维持 L1（现在在这里）</a:t>
            </a:r>
            <a:endParaRPr lang="en-US" sz="700" dirty="0"/>
          </a:p>
        </p:txBody>
      </p:sp>
      <p:sp>
        <p:nvSpPr>
          <p:cNvPr id="62" name="Text 53"/>
          <p:cNvSpPr/>
          <p:nvPr/>
        </p:nvSpPr>
        <p:spPr>
          <a:xfrm>
            <a:off x="7429500" y="4179094"/>
            <a:ext cx="1435894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未有效回应、情绪由质疑转向抵制 → </a:t>
            </a:r>
            <a:pPr algn="l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 L2</a:t>
            </a:r>
            <a:endParaRPr lang="en-US" sz="700" dirty="0"/>
          </a:p>
        </p:txBody>
      </p:sp>
      <p:sp>
        <p:nvSpPr>
          <p:cNvPr id="63" name="Text 54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数据来源：素材一·舆情监测负面话题摘要、素材二·近三天客服来电统计要点、素材三·公关部连夜赶的声明草稿；分级四栏与升降级授权为本页机制设计，括注阈值为内部设定的建议阈值（待管理层确认）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581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07444" y="10581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00575" y="10581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93706" y="1058168"/>
            <a:ext cx="2135981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313" y="15153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07444" y="15153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0575" y="15153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93706" y="15153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313" y="19725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7444" y="19725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0575" y="19725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93706" y="1972568"/>
            <a:ext cx="2135981" cy="38576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313" y="24297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7444" y="24297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0575" y="2429768"/>
            <a:ext cx="2135981" cy="3857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706" y="2429768"/>
            <a:ext cx="2135981" cy="38576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313" y="2886968"/>
            <a:ext cx="2135981" cy="1457325"/>
          </a:xfrm>
          <a:prstGeom prst="rect">
            <a:avLst/>
          </a:prstGeom>
          <a:solidFill>
            <a:srgbClr val="FFFFFF"/>
          </a:solidFill>
          <a:ln w="12383">
            <a:solidFill>
              <a:srgbClr val="D339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038" y="2958405"/>
            <a:ext cx="1964531" cy="185738"/>
          </a:xfrm>
          <a:prstGeom prst="rect">
            <a:avLst/>
          </a:prstGeom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8" y="2958405"/>
            <a:ext cx="1964531" cy="18573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68946" y="2959522"/>
            <a:ext cx="2001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同意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759595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16757" y="2959522"/>
            <a:ext cx="29019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不同意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193131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07444" y="2886968"/>
            <a:ext cx="2135981" cy="1457325"/>
          </a:xfrm>
          <a:prstGeom prst="rect">
            <a:avLst/>
          </a:prstGeom>
          <a:solidFill>
            <a:srgbClr val="FFFFFF"/>
          </a:solidFill>
          <a:ln w="12383">
            <a:solidFill>
              <a:srgbClr val="D3394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93169" y="2958405"/>
            <a:ext cx="1964531" cy="185738"/>
          </a:xfrm>
          <a:prstGeom prst="rect">
            <a:avLst/>
          </a:prstGeom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3169" y="2958405"/>
            <a:ext cx="1964531" cy="18573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62077" y="2959522"/>
            <a:ext cx="2001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同意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3952726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109889" y="2959522"/>
            <a:ext cx="29019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不同意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4386263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600575" y="2886968"/>
            <a:ext cx="2135981" cy="1457325"/>
          </a:xfrm>
          <a:prstGeom prst="rect">
            <a:avLst/>
          </a:prstGeom>
          <a:solidFill>
            <a:srgbClr val="FFFFFF"/>
          </a:solidFill>
          <a:ln w="12383">
            <a:solidFill>
              <a:srgbClr val="D33941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686300" y="2958405"/>
            <a:ext cx="1964531" cy="185738"/>
          </a:xfrm>
          <a:prstGeom prst="rect">
            <a:avLst/>
          </a:prstGeom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6300" y="2958405"/>
            <a:ext cx="1964531" cy="18573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955209" y="2959522"/>
            <a:ext cx="2001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同意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6145857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03020" y="2959522"/>
            <a:ext cx="29019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不同意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579394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793706" y="2886968"/>
            <a:ext cx="2135981" cy="1457325"/>
          </a:xfrm>
          <a:prstGeom prst="rect">
            <a:avLst/>
          </a:prstGeom>
          <a:solidFill>
            <a:srgbClr val="FFFFFF"/>
          </a:solidFill>
          <a:ln w="12383">
            <a:solidFill>
              <a:srgbClr val="D3394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879431" y="2958405"/>
            <a:ext cx="1964531" cy="185738"/>
          </a:xfrm>
          <a:prstGeom prst="rect">
            <a:avLst/>
          </a:prstGeom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9431" y="2958405"/>
            <a:ext cx="1964531" cy="18573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148340" y="2959522"/>
            <a:ext cx="2001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同意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8338989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496151" y="2959522"/>
            <a:ext cx="29019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不同意</a:t>
            </a:r>
            <a:endParaRPr lang="en-US" sz="700" dirty="0"/>
          </a:p>
        </p:txBody>
      </p:sp>
      <p:sp>
        <p:nvSpPr>
          <p:cNvPr id="46" name="Shape 40"/>
          <p:cNvSpPr/>
          <p:nvPr/>
        </p:nvSpPr>
        <p:spPr>
          <a:xfrm>
            <a:off x="8772525" y="3000152"/>
            <a:ext cx="71438" cy="71438"/>
          </a:xfrm>
          <a:prstGeom prst="rect">
            <a:avLst/>
          </a:prstGeom>
          <a:ln w="6191">
            <a:solidFill>
              <a:srgbClr val="555757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48小时行动清单落到部门与时点，请管理层当场拍板四项决策</a:t>
            </a:r>
            <a:endParaRPr lang="en-US" sz="2000" dirty="0"/>
          </a:p>
        </p:txBody>
      </p:sp>
      <p:sp>
        <p:nvSpPr>
          <p:cNvPr id="48" name="Text 42"/>
          <p:cNvSpPr/>
          <p:nvPr/>
        </p:nvSpPr>
        <p:spPr>
          <a:xfrm>
            <a:off x="285750" y="861715"/>
            <a:ext cx="86010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0–6小时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285750" y="1032272"/>
            <a:ext cx="86010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3条·态度与流程</a:t>
            </a:r>
            <a:endParaRPr lang="en-US" sz="700" dirty="0"/>
          </a:p>
        </p:txBody>
      </p:sp>
      <p:sp>
        <p:nvSpPr>
          <p:cNvPr id="50" name="Text 44"/>
          <p:cNvSpPr/>
          <p:nvPr/>
        </p:nvSpPr>
        <p:spPr>
          <a:xfrm>
            <a:off x="278606" y="10795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A1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改写声明第一段，删净3处“说满”表述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2471738" y="10795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A2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法务部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强硬措辞不对外，法务手段转内部保留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4664869" y="10795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A3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当场拍板D1–D4，勾选“同意·不同意”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6858000" y="1079599"/>
            <a:ext cx="2007394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A1–A3散会即启动，否则A4发布时点逼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近48小时窗口临界点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285750" y="1318915"/>
            <a:ext cx="86010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6–24小时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285750" y="1489472"/>
            <a:ext cx="86010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4条·发声与承接</a:t>
            </a:r>
            <a:endParaRPr lang="en-US" sz="700" dirty="0"/>
          </a:p>
        </p:txBody>
      </p:sp>
      <p:sp>
        <p:nvSpPr>
          <p:cNvPr id="56" name="Text 50"/>
          <p:cNvSpPr/>
          <p:nvPr/>
        </p:nvSpPr>
        <p:spPr>
          <a:xfrm>
            <a:off x="278606" y="15367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A4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48小时窗口内发布第一段态度声明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2471738" y="15367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A5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话术上线，约40通来电按约60%／约35%分流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4664869" y="15367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A6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退单量看板上线，基线较平时多约15%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6858000" y="15367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A7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定发言人归口（建议值，待管理层确认）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285750" y="1776115"/>
            <a:ext cx="86010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24–36小时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285750" y="1946672"/>
            <a:ext cx="86010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3条·复核收口</a:t>
            </a:r>
            <a:endParaRPr lang="en-US" sz="700" dirty="0"/>
          </a:p>
        </p:txBody>
      </p:sp>
      <p:sp>
        <p:nvSpPr>
          <p:cNvPr id="62" name="Text 56"/>
          <p:cNvSpPr/>
          <p:nvPr/>
        </p:nvSpPr>
        <p:spPr>
          <a:xfrm>
            <a:off x="278606" y="19939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A8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技术复核收口，预计还需36小时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2471738" y="19939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A9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备好第二段两版口径，含致歉整改版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4664869" y="19939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A10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法务部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两版口径发布前合规预审（建议值，待管理层确认）</a:t>
            </a:r>
            <a:endParaRPr lang="en-US" sz="900" dirty="0"/>
          </a:p>
        </p:txBody>
      </p:sp>
      <p:sp>
        <p:nvSpPr>
          <p:cNvPr id="65" name="Text 59"/>
          <p:cNvSpPr/>
          <p:nvPr/>
        </p:nvSpPr>
        <p:spPr>
          <a:xfrm>
            <a:off x="6858000" y="2079724"/>
            <a:ext cx="2007394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关键节点一 · 技术复核预计还需36小时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285750" y="2233315"/>
            <a:ext cx="86010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36–48小时</a:t>
            </a:r>
            <a:endParaRPr lang="en-US" sz="1000" dirty="0"/>
          </a:p>
        </p:txBody>
      </p:sp>
      <p:sp>
        <p:nvSpPr>
          <p:cNvPr id="67" name="Text 61"/>
          <p:cNvSpPr/>
          <p:nvPr/>
        </p:nvSpPr>
        <p:spPr>
          <a:xfrm>
            <a:off x="285750" y="2403872"/>
            <a:ext cx="86010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3条·结论落地</a:t>
            </a:r>
            <a:endParaRPr lang="en-US" sz="700" dirty="0"/>
          </a:p>
        </p:txBody>
      </p:sp>
      <p:sp>
        <p:nvSpPr>
          <p:cNvPr id="68" name="Text 62"/>
          <p:cNvSpPr/>
          <p:nvPr/>
        </p:nvSpPr>
        <p:spPr>
          <a:xfrm>
            <a:off x="278606" y="24511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A11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公关部+管理层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结论一出即发布第二段结论声明</a:t>
            </a:r>
            <a:endParaRPr lang="en-US" sz="900" dirty="0"/>
          </a:p>
        </p:txBody>
      </p:sp>
      <p:sp>
        <p:nvSpPr>
          <p:cNvPr id="69" name="Text 63"/>
          <p:cNvSpPr/>
          <p:nvPr/>
        </p:nvSpPr>
        <p:spPr>
          <a:xfrm>
            <a:off x="2471738" y="24511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A12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3个垂类KOL一对一沟通，监测权威媒体跟进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4664869" y="2451199"/>
            <a:ext cx="2007394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A13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管理层+公关部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按P6判定是否由L1升至L2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6858000" y="2451199"/>
            <a:ext cx="2007394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关键节点二 · 48小时窗口临界点，或从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质疑升级为抵制</a:t>
            </a:r>
            <a:endParaRPr lang="en-US" sz="900" dirty="0"/>
          </a:p>
        </p:txBody>
      </p:sp>
      <p:sp>
        <p:nvSpPr>
          <p:cNvPr id="72" name="Text 66"/>
          <p:cNvSpPr/>
          <p:nvPr/>
        </p:nvSpPr>
        <p:spPr>
          <a:xfrm>
            <a:off x="300317" y="2958405"/>
            <a:ext cx="157163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D1</a:t>
            </a:r>
            <a:endParaRPr lang="en-US" sz="1000" dirty="0"/>
          </a:p>
        </p:txBody>
      </p:sp>
      <p:sp>
        <p:nvSpPr>
          <p:cNvPr id="73" name="Text 67"/>
          <p:cNvSpPr/>
          <p:nvPr/>
        </p:nvSpPr>
        <p:spPr>
          <a:xfrm>
            <a:off x="300038" y="3201293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事项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采用两段式，不等复核还需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先发第一段态度声明</a:t>
            </a:r>
            <a:endParaRPr lang="en-US" sz="900" dirty="0"/>
          </a:p>
        </p:txBody>
      </p:sp>
      <p:sp>
        <p:nvSpPr>
          <p:cNvPr id="74" name="Text 68"/>
          <p:cNvSpPr/>
          <p:nvPr/>
        </p:nvSpPr>
        <p:spPr>
          <a:xfrm>
            <a:off x="300038" y="3565624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同意；公关部先发第一段，只表态度不下事实结论</a:t>
            </a:r>
            <a:endParaRPr lang="en-US" sz="900" dirty="0"/>
          </a:p>
        </p:txBody>
      </p:sp>
      <p:sp>
        <p:nvSpPr>
          <p:cNvPr id="75" name="Text 69"/>
          <p:cNvSpPr/>
          <p:nvPr/>
        </p:nvSpPr>
        <p:spPr>
          <a:xfrm>
            <a:off x="300038" y="3929955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后果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窗口失守：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内未有效回应，或从质疑升级为抵制</a:t>
            </a:r>
            <a:endParaRPr lang="en-US" sz="900" dirty="0"/>
          </a:p>
        </p:txBody>
      </p:sp>
      <p:sp>
        <p:nvSpPr>
          <p:cNvPr id="76" name="Text 70"/>
          <p:cNvSpPr/>
          <p:nvPr/>
        </p:nvSpPr>
        <p:spPr>
          <a:xfrm>
            <a:off x="2492108" y="2958405"/>
            <a:ext cx="1785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D2</a:t>
            </a:r>
            <a:endParaRPr lang="en-US" sz="1000" dirty="0"/>
          </a:p>
        </p:txBody>
      </p:sp>
      <p:sp>
        <p:nvSpPr>
          <p:cNvPr id="77" name="Text 71"/>
          <p:cNvSpPr/>
          <p:nvPr/>
        </p:nvSpPr>
        <p:spPr>
          <a:xfrm>
            <a:off x="2493169" y="3201293"/>
            <a:ext cx="2082403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事项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删除草稿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3处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“说满”与强硬表述</a:t>
            </a:r>
            <a:endParaRPr lang="en-US" sz="900" dirty="0"/>
          </a:p>
        </p:txBody>
      </p:sp>
      <p:sp>
        <p:nvSpPr>
          <p:cNvPr id="78" name="Text 72"/>
          <p:cNvSpPr/>
          <p:nvPr/>
        </p:nvSpPr>
        <p:spPr>
          <a:xfrm>
            <a:off x="2493169" y="3479899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同意删除；措辞不对外，法务手段转内部保留</a:t>
            </a:r>
            <a:endParaRPr lang="en-US" sz="900" dirty="0"/>
          </a:p>
        </p:txBody>
      </p:sp>
      <p:sp>
        <p:nvSpPr>
          <p:cNvPr id="79" name="Text 73"/>
          <p:cNvSpPr/>
          <p:nvPr/>
        </p:nvSpPr>
        <p:spPr>
          <a:xfrm>
            <a:off x="2493169" y="3929955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后果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复核若有问题极度被动；负面情绪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约72%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下易被指店大欺客</a:t>
            </a:r>
            <a:endParaRPr lang="en-US" sz="900" dirty="0"/>
          </a:p>
        </p:txBody>
      </p:sp>
      <p:sp>
        <p:nvSpPr>
          <p:cNvPr id="80" name="Text 74"/>
          <p:cNvSpPr/>
          <p:nvPr/>
        </p:nvSpPr>
        <p:spPr>
          <a:xfrm>
            <a:off x="4685240" y="2958405"/>
            <a:ext cx="1785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D3</a:t>
            </a:r>
            <a:endParaRPr lang="en-US" sz="1000" dirty="0"/>
          </a:p>
        </p:txBody>
      </p:sp>
      <p:sp>
        <p:nvSpPr>
          <p:cNvPr id="81" name="Text 75"/>
          <p:cNvSpPr/>
          <p:nvPr/>
        </p:nvSpPr>
        <p:spPr>
          <a:xfrm>
            <a:off x="4686300" y="3201293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事项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授权开放退货退款通道并定统一答复时限</a:t>
            </a:r>
            <a:endParaRPr lang="en-US" sz="900" dirty="0"/>
          </a:p>
        </p:txBody>
      </p:sp>
      <p:sp>
        <p:nvSpPr>
          <p:cNvPr id="82" name="Text 76"/>
          <p:cNvSpPr/>
          <p:nvPr/>
        </p:nvSpPr>
        <p:spPr>
          <a:xfrm>
            <a:off x="4686300" y="3565624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同意；承接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约60%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诉求，对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约35%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要说明者定时限</a:t>
            </a:r>
            <a:endParaRPr lang="en-US" sz="900" dirty="0"/>
          </a:p>
        </p:txBody>
      </p:sp>
      <p:sp>
        <p:nvSpPr>
          <p:cNvPr id="83" name="Text 77"/>
          <p:cNvSpPr/>
          <p:nvPr/>
        </p:nvSpPr>
        <p:spPr>
          <a:xfrm>
            <a:off x="4686300" y="3929955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后果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约40通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来电延续引用视频，退单多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约15%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缺口扩大</a:t>
            </a:r>
            <a:endParaRPr lang="en-US" sz="900" dirty="0"/>
          </a:p>
        </p:txBody>
      </p:sp>
      <p:sp>
        <p:nvSpPr>
          <p:cNvPr id="84" name="Text 78"/>
          <p:cNvSpPr/>
          <p:nvPr/>
        </p:nvSpPr>
        <p:spPr>
          <a:xfrm>
            <a:off x="6880603" y="2958405"/>
            <a:ext cx="1785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D4</a:t>
            </a:r>
            <a:endParaRPr lang="en-US" sz="1000" dirty="0"/>
          </a:p>
        </p:txBody>
      </p:sp>
      <p:sp>
        <p:nvSpPr>
          <p:cNvPr id="85" name="Text 79"/>
          <p:cNvSpPr/>
          <p:nvPr/>
        </p:nvSpPr>
        <p:spPr>
          <a:xfrm>
            <a:off x="6879431" y="3201293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事项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预置L2／L3升级授权，明确发言人归口</a:t>
            </a:r>
            <a:endParaRPr lang="en-US" sz="900" dirty="0"/>
          </a:p>
        </p:txBody>
      </p:sp>
      <p:sp>
        <p:nvSpPr>
          <p:cNvPr id="86" name="Text 80"/>
          <p:cNvSpPr/>
          <p:nvPr/>
        </p:nvSpPr>
        <p:spPr>
          <a:xfrm>
            <a:off x="6879431" y="3565624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同意；L2管理层出面，L3致歉整改口径归口公关部</a:t>
            </a:r>
            <a:endParaRPr lang="en-US" sz="900" dirty="0"/>
          </a:p>
        </p:txBody>
      </p:sp>
      <p:sp>
        <p:nvSpPr>
          <p:cNvPr id="87" name="Text 81"/>
          <p:cNvSpPr/>
          <p:nvPr/>
        </p:nvSpPr>
        <p:spPr>
          <a:xfrm>
            <a:off x="6879431" y="3929955"/>
            <a:ext cx="196453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后果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升级需再上会致二次延误；权威媒体或</a:t>
            </a:r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3个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KOL扩散即落后</a:t>
            </a:r>
            <a:endParaRPr lang="en-US" sz="900" dirty="0"/>
          </a:p>
        </p:txBody>
      </p:sp>
      <p:sp>
        <p:nvSpPr>
          <p:cNvPr id="88" name="Text 82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数据来源：舆情摘要 / 客服来电 / 声明草稿（3个内部来源）；时间块划分、部门分工、答复时限与发言人归口均为建议值（待管理层确认），素材未给出的钟点与日期一律不补造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271462"/>
            <a:ext cx="42863" cy="1714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775097"/>
            <a:ext cx="71438" cy="6286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5764" y="2268141"/>
            <a:ext cx="242888" cy="1428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3" y="3886200"/>
            <a:ext cx="8715375" cy="857250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3886200"/>
            <a:ext cx="8715375" cy="857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56" y="253603"/>
            <a:ext cx="190023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产品安全质疑舆情危机应对方案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8349" y="282178"/>
            <a:ext cx="70008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管理层决策汇报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444750" y="282178"/>
            <a:ext cx="285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B5B5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|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529638" y="282178"/>
            <a:ext cx="40005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感谢与会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5637" y="575072"/>
            <a:ext cx="7650956" cy="1028700"/>
          </a:xfrm>
          <a:prstGeom prst="rect">
            <a:avLst/>
          </a:prstGeom>
          <a:ln/>
        </p:spPr>
        <p:txBody>
          <a:bodyPr wrap="none" lIns="0" tIns="145733" rIns="0" bIns="145733" rtlCol="0" anchor="t">
            <a:no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请拍板：48小时倒计时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44376" y="1975247"/>
            <a:ext cx="8386763" cy="6000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四项决策当场拍板后，第一段态度声明在48小时窗口内发出，技术复核预计还需36小时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后发布结论声明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313" y="30325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4313" y="33468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响应窗口进行中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14313" y="35540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第一段态度声明在窗口内发出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36019" y="30325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436019" y="33468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技术复核预计还需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436019" y="35540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复核结论一出即发布结论声明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57725" y="30325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57725" y="33468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评论区负面情绪占比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657725" y="35540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尚无权威媒体跟进，3个垂类KOL转发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879431" y="30325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约15%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79431" y="33468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电商渠道退单量较平时多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879431" y="3554016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近三天约40通来电，退货退款约60%、要官方说明约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35%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15485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REPORTER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15485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公关部牵头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15485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归口联系方，牵头对外回应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96772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196772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客服部 电商部 技术部 法务部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196772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按48小时行动清单分工配合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78116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DATE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78116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明早决策会当日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78116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下一次同步节点：技术复核结论出来时立即向管理层回报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215596" y="4772025"/>
            <a:ext cx="239315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公关部会同客服、电商、技术、法务联合汇报 · 明早决策会当日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937461" y="4772025"/>
            <a:ext cx="2993231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数据来源：舆情监测负面话题摘要 · 近三天客服来电统计要点 · 公关部声明草稿</a:t>
            </a:r>
            <a:endParaRPr lang="en-US" sz="700" dirty="0"/>
          </a:p>
        </p:txBody>
      </p:sp>
      <p:sp>
        <p:nvSpPr>
          <p:cNvPr id="65535" name="wm:hwcld:2026-09-22T19:13:27:7cf9d66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2026-09-22T19:13:41Z</dcterms:created>
  <dcterms:modified xsi:type="dcterms:W3CDTF">2026-09-22T19:13:41Z</dcterms:modified>
</cp:coreProperties>
</file>